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009" r:id="rId1"/>
    <p:sldMasterId id="2147485030" r:id="rId2"/>
    <p:sldMasterId id="2147485034" r:id="rId3"/>
  </p:sldMasterIdLst>
  <p:notesMasterIdLst>
    <p:notesMasterId r:id="rId15"/>
  </p:notesMasterIdLst>
  <p:handoutMasterIdLst>
    <p:handoutMasterId r:id="rId16"/>
  </p:handoutMasterIdLst>
  <p:sldIdLst>
    <p:sldId id="262" r:id="rId4"/>
    <p:sldId id="275" r:id="rId5"/>
    <p:sldId id="366" r:id="rId6"/>
    <p:sldId id="380" r:id="rId7"/>
    <p:sldId id="393" r:id="rId8"/>
    <p:sldId id="397" r:id="rId9"/>
    <p:sldId id="404" r:id="rId10"/>
    <p:sldId id="394" r:id="rId11"/>
    <p:sldId id="368" r:id="rId12"/>
    <p:sldId id="407" r:id="rId13"/>
    <p:sldId id="401" r:id="rId14"/>
  </p:sldIdLst>
  <p:sldSz cx="12192000" cy="6858000"/>
  <p:notesSz cx="6807200" cy="9939338"/>
  <p:embeddedFontLst>
    <p:embeddedFont>
      <p:font typeface="나눔고딕코딩" panose="020D0009000000000000" pitchFamily="49" charset="-127"/>
      <p:regular r:id="rId17"/>
      <p:bold r:id="rId18"/>
    </p:embeddedFont>
    <p:embeddedFont>
      <p:font typeface="Trebuchet MS" panose="020B0603020202020204" pitchFamily="34" charset="0"/>
      <p:regular r:id="rId19"/>
      <p:bold r:id="rId20"/>
      <p:italic r:id="rId21"/>
      <p:boldItalic r:id="rId22"/>
    </p:embeddedFont>
    <p:embeddedFont>
      <p:font typeface="HY견고딕" panose="02030600000101010101" pitchFamily="18" charset="-127"/>
      <p:regular r:id="rId23"/>
    </p:embeddedFont>
    <p:embeddedFont>
      <p:font typeface="나눔고딕" panose="020D0604000000000000" pitchFamily="50" charset="-127"/>
      <p:regular r:id="rId24"/>
      <p:bold r:id="rId25"/>
    </p:embeddedFont>
    <p:embeddedFont>
      <p:font typeface="Tw Cen MT" panose="020B0602020104020603" pitchFamily="34" charset="0"/>
      <p:regular r:id="rId26"/>
      <p:bold r:id="rId27"/>
      <p:italic r:id="rId28"/>
      <p:boldItalic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  <p:embeddedFont>
      <p:font typeface="맑은 고딕" panose="020B0503020000020004" pitchFamily="50" charset="-127"/>
      <p:regular r:id="rId34"/>
      <p:bold r:id="rId35"/>
    </p:embeddedFont>
    <p:embeddedFont>
      <p:font typeface="Segoe UI" panose="020B0502040204020203" pitchFamily="34" charset="0"/>
      <p:regular r:id="rId36"/>
      <p:bold r:id="rId37"/>
      <p:italic r:id="rId38"/>
      <p:boldItalic r:id="rId39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7B2F5CB-46CC-41F4-B2C2-A62C1864818A}">
          <p14:sldIdLst>
            <p14:sldId id="262"/>
            <p14:sldId id="275"/>
            <p14:sldId id="366"/>
            <p14:sldId id="380"/>
            <p14:sldId id="393"/>
            <p14:sldId id="397"/>
            <p14:sldId id="404"/>
            <p14:sldId id="394"/>
            <p14:sldId id="368"/>
            <p14:sldId id="407"/>
            <p14:sldId id="401"/>
          </p14:sldIdLst>
        </p14:section>
      </p14:sectionLst>
    </p:ext>
    <p:ext uri="{EFAFB233-063F-42B5-8137-9DF3F51BA10A}">
      <p15:sldGuideLst xmlns:p15="http://schemas.microsoft.com/office/powerpoint/2012/main">
        <p15:guide id="7" pos="1644" userDrawn="1">
          <p15:clr>
            <a:srgbClr val="A4A3A4"/>
          </p15:clr>
        </p15:guide>
        <p15:guide id="8" pos="7470" userDrawn="1">
          <p15:clr>
            <a:srgbClr val="A4A3A4"/>
          </p15:clr>
        </p15:guide>
        <p15:guide id="9" orient="horz" pos="14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FFFFFF"/>
    <a:srgbClr val="0066FF"/>
    <a:srgbClr val="4F81BD"/>
    <a:srgbClr val="66FF33"/>
    <a:srgbClr val="292929"/>
    <a:srgbClr val="FF6600"/>
    <a:srgbClr val="FF0000"/>
    <a:srgbClr val="BF9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122" autoAdjust="0"/>
  </p:normalViewPr>
  <p:slideViewPr>
    <p:cSldViewPr>
      <p:cViewPr>
        <p:scale>
          <a:sx n="82" d="100"/>
          <a:sy n="82" d="100"/>
        </p:scale>
        <p:origin x="643" y="-14"/>
      </p:cViewPr>
      <p:guideLst>
        <p:guide pos="1644"/>
        <p:guide pos="7470"/>
        <p:guide orient="horz" pos="1480"/>
      </p:guideLst>
    </p:cSldViewPr>
  </p:slideViewPr>
  <p:outlineViewPr>
    <p:cViewPr>
      <p:scale>
        <a:sx n="33" d="100"/>
        <a:sy n="33" d="100"/>
      </p:scale>
      <p:origin x="0" y="89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-3954" y="-96"/>
      </p:cViewPr>
      <p:guideLst>
        <p:guide orient="horz" pos="3130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7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1B664AD-C4EC-484B-B50A-8C6F83EF08F0}" type="datetimeFigureOut">
              <a:rPr lang="ko-KR" altLang="en-US"/>
              <a:pPr>
                <a:defRPr/>
              </a:pPr>
              <a:t>2017-09-25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FAF0397-1E63-4BEE-AE82-6522F530A70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2656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71ED8-3809-4B06-9EAD-C3D980C23EBE}" type="datetimeFigureOut">
              <a:rPr lang="ko-KR" altLang="en-US" smtClean="0"/>
              <a:pPr/>
              <a:t>2017-09-25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C340E-E18C-4A02-9B44-DBDB315C4D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652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3778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56793" y="352425"/>
            <a:ext cx="548346" cy="6316933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900" smtClean="0">
                <a:solidFill>
                  <a:srgbClr val="5F5F5F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LNB</a:t>
            </a:r>
            <a:endParaRPr lang="ko-KR" alt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3" name="직사각형 2"/>
          <p:cNvSpPr/>
          <p:nvPr userDrawn="1"/>
        </p:nvSpPr>
        <p:spPr>
          <a:xfrm>
            <a:off x="52602" y="352426"/>
            <a:ext cx="9173460" cy="33743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900" smtClean="0">
                <a:solidFill>
                  <a:srgbClr val="5F5F5F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GNB</a:t>
            </a:r>
            <a:endParaRPr lang="ko-KR" alt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1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584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8736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974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91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44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19961058"/>
              </p:ext>
            </p:extLst>
          </p:nvPr>
        </p:nvGraphicFramePr>
        <p:xfrm>
          <a:off x="66251" y="83132"/>
          <a:ext cx="9173409" cy="213360"/>
        </p:xfrm>
        <a:graphic>
          <a:graphicData uri="http://schemas.openxmlformats.org/drawingml/2006/table">
            <a:tbl>
              <a:tblPr/>
              <a:tblGrid>
                <a:gridCol w="1170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4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0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화면경로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Group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79071592"/>
              </p:ext>
            </p:extLst>
          </p:nvPr>
        </p:nvGraphicFramePr>
        <p:xfrm>
          <a:off x="9290533" y="83132"/>
          <a:ext cx="2835141" cy="648072"/>
        </p:xfrm>
        <a:graphic>
          <a:graphicData uri="http://schemas.openxmlformats.org/drawingml/2006/table">
            <a:tbl>
              <a:tblPr/>
              <a:tblGrid>
                <a:gridCol w="82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PROJECT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EGW UI/UX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개선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화면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ID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작성자</a:t>
                      </a: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나눔고딕" panose="020B0600000101010101" charset="-127"/>
                <a:ea typeface="나눔고딕" panose="020B0600000101010101" charset="-127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나눔고딕" panose="020B0600000101010101" charset="-127"/>
              <a:ea typeface="나눔고딕" panose="020B0600000101010101" charset="-127"/>
              <a:cs typeface="Verdana" panose="020B0604030504040204" pitchFamily="34" charset="0"/>
            </a:endParaRPr>
          </a:p>
        </p:txBody>
      </p:sp>
      <p:sp>
        <p:nvSpPr>
          <p:cNvPr id="12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4"/>
            </p:custDataLst>
          </p:nvPr>
        </p:nvSpPr>
        <p:spPr>
          <a:xfrm>
            <a:off x="52602" y="347472"/>
            <a:ext cx="9173460" cy="632188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3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5"/>
            </p:custDataLst>
          </p:nvPr>
        </p:nvSpPr>
        <p:spPr>
          <a:xfrm>
            <a:off x="52602" y="74712"/>
            <a:ext cx="9173460" cy="211038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4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6"/>
            </p:custDataLst>
          </p:nvPr>
        </p:nvSpPr>
        <p:spPr>
          <a:xfrm>
            <a:off x="9273877" y="74712"/>
            <a:ext cx="2851448" cy="65871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6" name="Window Body" descr="&lt;SmartSettings&gt;&lt;SmartResize anchorLeft=&quot;Absolute&quot; anchorTop=&quot;Absolute&quot; anchorRight=&quot;Absolute&quot; anchorBottom=&quot;Absolute&quot; /&gt;&lt;/SmartSettings&gt;"/>
          <p:cNvSpPr/>
          <p:nvPr userDrawn="1">
            <p:custDataLst>
              <p:tags r:id="rId7"/>
            </p:custDataLst>
          </p:nvPr>
        </p:nvSpPr>
        <p:spPr>
          <a:xfrm>
            <a:off x="9273877" y="790574"/>
            <a:ext cx="2851448" cy="5878783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534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27" r:id="rId1"/>
    <p:sldLayoutId id="2147485032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867">
          <a:solidFill>
            <a:srgbClr val="595959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371464" indent="-371464" algn="l" rtl="0" eaLnBrk="0" fontAlgn="base" latinLnBrk="1" hangingPunct="0">
        <a:spcBef>
          <a:spcPct val="20000"/>
        </a:spcBef>
        <a:spcAft>
          <a:spcPct val="0"/>
        </a:spcAft>
        <a:defRPr sz="867" kern="1200">
          <a:solidFill>
            <a:srgbClr val="595959"/>
          </a:solidFill>
          <a:latin typeface="나눔고딕" pitchFamily="50" charset="-127"/>
          <a:ea typeface="나눔고딕" pitchFamily="50" charset="-127"/>
          <a:cs typeface="+mn-cs"/>
        </a:defRPr>
      </a:lvl1pPr>
      <a:lvl2pPr marL="804838" indent="-309553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2pPr>
      <a:lvl3pPr marL="1238212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3pPr>
      <a:lvl4pPr marL="1733497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4pPr>
      <a:lvl5pPr marL="2228781" indent="-247642" algn="l" rtl="0" eaLnBrk="0" fontAlgn="base" latinLnBrk="1" hangingPunct="0">
        <a:spcBef>
          <a:spcPct val="20000"/>
        </a:spcBef>
        <a:spcAft>
          <a:spcPct val="0"/>
        </a:spcAft>
        <a:defRPr sz="975" kern="1200">
          <a:solidFill>
            <a:schemeClr val="tx1"/>
          </a:solidFill>
          <a:latin typeface="나눔고딕" pitchFamily="50" charset="-127"/>
          <a:ea typeface="나눔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+mn-ea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+mn-ea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2398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1" r:id="rId1"/>
    <p:sldLayoutId id="2147485033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순서도: 처리 6"/>
          <p:cNvSpPr/>
          <p:nvPr userDrawn="1"/>
        </p:nvSpPr>
        <p:spPr>
          <a:xfrm>
            <a:off x="0" y="4394"/>
            <a:ext cx="12192000" cy="6853606"/>
          </a:xfrm>
          <a:prstGeom prst="flowChart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1352584" y="6669360"/>
            <a:ext cx="648072" cy="18864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pPr algn="r"/>
            <a:fld id="{209D9B70-5658-42EA-A7C8-1D839C7DC5C0}" type="slidenum">
              <a:rPr lang="ko-KR" altLang="en-US" sz="10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ea typeface="+mn-ea"/>
              </a:rPr>
              <a:t>‹#›</a:t>
            </a:fld>
            <a:endParaRPr lang="ko-KR" altLang="en-US" sz="1000" b="0" smtClean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ea typeface="+mn-ea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55277" y="6658139"/>
            <a:ext cx="3287207" cy="190904"/>
          </a:xfrm>
          <a:prstGeom prst="rect">
            <a:avLst/>
          </a:prstGeom>
          <a:noFill/>
        </p:spPr>
        <p:txBody>
          <a:bodyPr wrap="none" lIns="36000" rIns="36000" rtlCol="0">
            <a:noAutofit/>
          </a:bodyPr>
          <a:lstStyle/>
          <a:p>
            <a:pPr marL="0" marR="0" lvl="0" indent="0" algn="l" defTabSz="107240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HANDYSOFT, INC. –  A DASAN Group Company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굴림" pitchFamily="50" charset="-127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23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35" r:id="rId1"/>
    <p:sldLayoutId id="2147485036" r:id="rId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8.xml"/><Relationship Id="rId7" Type="http://schemas.openxmlformats.org/officeDocument/2006/relationships/image" Target="../media/image3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3" Type="http://schemas.openxmlformats.org/officeDocument/2006/relationships/tags" Target="../tags/tag11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image" Target="../media/image3.png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image" Target="../media/image4.png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image" Target="../media/image2.png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tags" Target="../tags/tag54.xml"/><Relationship Id="rId21" Type="http://schemas.openxmlformats.org/officeDocument/2006/relationships/tags" Target="../tags/tag49.xml"/><Relationship Id="rId42" Type="http://schemas.openxmlformats.org/officeDocument/2006/relationships/tags" Target="../tags/tag70.xml"/><Relationship Id="rId47" Type="http://schemas.openxmlformats.org/officeDocument/2006/relationships/tags" Target="../tags/tag75.xml"/><Relationship Id="rId63" Type="http://schemas.openxmlformats.org/officeDocument/2006/relationships/tags" Target="../tags/tag91.xml"/><Relationship Id="rId68" Type="http://schemas.openxmlformats.org/officeDocument/2006/relationships/tags" Target="../tags/tag96.xml"/><Relationship Id="rId16" Type="http://schemas.openxmlformats.org/officeDocument/2006/relationships/tags" Target="../tags/tag44.xml"/><Relationship Id="rId11" Type="http://schemas.openxmlformats.org/officeDocument/2006/relationships/tags" Target="../tags/tag39.xml"/><Relationship Id="rId32" Type="http://schemas.openxmlformats.org/officeDocument/2006/relationships/tags" Target="../tags/tag60.xml"/><Relationship Id="rId37" Type="http://schemas.openxmlformats.org/officeDocument/2006/relationships/tags" Target="../tags/tag65.xml"/><Relationship Id="rId53" Type="http://schemas.openxmlformats.org/officeDocument/2006/relationships/tags" Target="../tags/tag81.xml"/><Relationship Id="rId58" Type="http://schemas.openxmlformats.org/officeDocument/2006/relationships/tags" Target="../tags/tag86.xml"/><Relationship Id="rId74" Type="http://schemas.openxmlformats.org/officeDocument/2006/relationships/tags" Target="../tags/tag102.xml"/><Relationship Id="rId79" Type="http://schemas.openxmlformats.org/officeDocument/2006/relationships/image" Target="../media/image2.png"/><Relationship Id="rId5" Type="http://schemas.openxmlformats.org/officeDocument/2006/relationships/tags" Target="../tags/tag33.xml"/><Relationship Id="rId61" Type="http://schemas.openxmlformats.org/officeDocument/2006/relationships/tags" Target="../tags/tag89.xml"/><Relationship Id="rId19" Type="http://schemas.openxmlformats.org/officeDocument/2006/relationships/tags" Target="../tags/tag47.xml"/><Relationship Id="rId14" Type="http://schemas.openxmlformats.org/officeDocument/2006/relationships/tags" Target="../tags/tag42.xml"/><Relationship Id="rId22" Type="http://schemas.openxmlformats.org/officeDocument/2006/relationships/tags" Target="../tags/tag50.xml"/><Relationship Id="rId27" Type="http://schemas.openxmlformats.org/officeDocument/2006/relationships/tags" Target="../tags/tag55.xml"/><Relationship Id="rId30" Type="http://schemas.openxmlformats.org/officeDocument/2006/relationships/tags" Target="../tags/tag58.xml"/><Relationship Id="rId35" Type="http://schemas.openxmlformats.org/officeDocument/2006/relationships/tags" Target="../tags/tag63.xml"/><Relationship Id="rId43" Type="http://schemas.openxmlformats.org/officeDocument/2006/relationships/tags" Target="../tags/tag71.xml"/><Relationship Id="rId48" Type="http://schemas.openxmlformats.org/officeDocument/2006/relationships/tags" Target="../tags/tag76.xml"/><Relationship Id="rId56" Type="http://schemas.openxmlformats.org/officeDocument/2006/relationships/tags" Target="../tags/tag84.xml"/><Relationship Id="rId64" Type="http://schemas.openxmlformats.org/officeDocument/2006/relationships/tags" Target="../tags/tag92.xml"/><Relationship Id="rId69" Type="http://schemas.openxmlformats.org/officeDocument/2006/relationships/tags" Target="../tags/tag97.xml"/><Relationship Id="rId77" Type="http://schemas.openxmlformats.org/officeDocument/2006/relationships/slideLayout" Target="../slideLayouts/slideLayout2.xml"/><Relationship Id="rId8" Type="http://schemas.openxmlformats.org/officeDocument/2006/relationships/tags" Target="../tags/tag36.xml"/><Relationship Id="rId51" Type="http://schemas.openxmlformats.org/officeDocument/2006/relationships/tags" Target="../tags/tag79.xml"/><Relationship Id="rId72" Type="http://schemas.openxmlformats.org/officeDocument/2006/relationships/tags" Target="../tags/tag100.xml"/><Relationship Id="rId80" Type="http://schemas.openxmlformats.org/officeDocument/2006/relationships/image" Target="../media/image4.png"/><Relationship Id="rId3" Type="http://schemas.openxmlformats.org/officeDocument/2006/relationships/tags" Target="../tags/tag31.xml"/><Relationship Id="rId12" Type="http://schemas.openxmlformats.org/officeDocument/2006/relationships/tags" Target="../tags/tag40.xml"/><Relationship Id="rId17" Type="http://schemas.openxmlformats.org/officeDocument/2006/relationships/tags" Target="../tags/tag45.xml"/><Relationship Id="rId25" Type="http://schemas.openxmlformats.org/officeDocument/2006/relationships/tags" Target="../tags/tag53.xml"/><Relationship Id="rId33" Type="http://schemas.openxmlformats.org/officeDocument/2006/relationships/tags" Target="../tags/tag61.xml"/><Relationship Id="rId38" Type="http://schemas.openxmlformats.org/officeDocument/2006/relationships/tags" Target="../tags/tag66.xml"/><Relationship Id="rId46" Type="http://schemas.openxmlformats.org/officeDocument/2006/relationships/tags" Target="../tags/tag74.xml"/><Relationship Id="rId59" Type="http://schemas.openxmlformats.org/officeDocument/2006/relationships/tags" Target="../tags/tag87.xml"/><Relationship Id="rId67" Type="http://schemas.openxmlformats.org/officeDocument/2006/relationships/tags" Target="../tags/tag95.xml"/><Relationship Id="rId20" Type="http://schemas.openxmlformats.org/officeDocument/2006/relationships/tags" Target="../tags/tag48.xml"/><Relationship Id="rId41" Type="http://schemas.openxmlformats.org/officeDocument/2006/relationships/tags" Target="../tags/tag69.xml"/><Relationship Id="rId54" Type="http://schemas.openxmlformats.org/officeDocument/2006/relationships/tags" Target="../tags/tag82.xml"/><Relationship Id="rId62" Type="http://schemas.openxmlformats.org/officeDocument/2006/relationships/tags" Target="../tags/tag90.xml"/><Relationship Id="rId70" Type="http://schemas.openxmlformats.org/officeDocument/2006/relationships/tags" Target="../tags/tag98.xml"/><Relationship Id="rId75" Type="http://schemas.openxmlformats.org/officeDocument/2006/relationships/tags" Target="../tags/tag103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5" Type="http://schemas.openxmlformats.org/officeDocument/2006/relationships/tags" Target="../tags/tag43.xml"/><Relationship Id="rId23" Type="http://schemas.openxmlformats.org/officeDocument/2006/relationships/tags" Target="../tags/tag51.xml"/><Relationship Id="rId28" Type="http://schemas.openxmlformats.org/officeDocument/2006/relationships/tags" Target="../tags/tag56.xml"/><Relationship Id="rId36" Type="http://schemas.openxmlformats.org/officeDocument/2006/relationships/tags" Target="../tags/tag64.xml"/><Relationship Id="rId49" Type="http://schemas.openxmlformats.org/officeDocument/2006/relationships/tags" Target="../tags/tag77.xml"/><Relationship Id="rId57" Type="http://schemas.openxmlformats.org/officeDocument/2006/relationships/tags" Target="../tags/tag85.xml"/><Relationship Id="rId10" Type="http://schemas.openxmlformats.org/officeDocument/2006/relationships/tags" Target="../tags/tag38.xml"/><Relationship Id="rId31" Type="http://schemas.openxmlformats.org/officeDocument/2006/relationships/tags" Target="../tags/tag59.xml"/><Relationship Id="rId44" Type="http://schemas.openxmlformats.org/officeDocument/2006/relationships/tags" Target="../tags/tag72.xml"/><Relationship Id="rId52" Type="http://schemas.openxmlformats.org/officeDocument/2006/relationships/tags" Target="../tags/tag80.xml"/><Relationship Id="rId60" Type="http://schemas.openxmlformats.org/officeDocument/2006/relationships/tags" Target="../tags/tag88.xml"/><Relationship Id="rId65" Type="http://schemas.openxmlformats.org/officeDocument/2006/relationships/tags" Target="../tags/tag93.xml"/><Relationship Id="rId73" Type="http://schemas.openxmlformats.org/officeDocument/2006/relationships/tags" Target="../tags/tag101.xml"/><Relationship Id="rId78" Type="http://schemas.openxmlformats.org/officeDocument/2006/relationships/image" Target="../media/image1.png"/><Relationship Id="rId81" Type="http://schemas.openxmlformats.org/officeDocument/2006/relationships/image" Target="../media/image3.png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3" Type="http://schemas.openxmlformats.org/officeDocument/2006/relationships/tags" Target="../tags/tag41.xml"/><Relationship Id="rId18" Type="http://schemas.openxmlformats.org/officeDocument/2006/relationships/tags" Target="../tags/tag46.xml"/><Relationship Id="rId39" Type="http://schemas.openxmlformats.org/officeDocument/2006/relationships/tags" Target="../tags/tag67.xml"/><Relationship Id="rId34" Type="http://schemas.openxmlformats.org/officeDocument/2006/relationships/tags" Target="../tags/tag62.xml"/><Relationship Id="rId50" Type="http://schemas.openxmlformats.org/officeDocument/2006/relationships/tags" Target="../tags/tag78.xml"/><Relationship Id="rId55" Type="http://schemas.openxmlformats.org/officeDocument/2006/relationships/tags" Target="../tags/tag83.xml"/><Relationship Id="rId76" Type="http://schemas.openxmlformats.org/officeDocument/2006/relationships/tags" Target="../tags/tag104.xml"/><Relationship Id="rId7" Type="http://schemas.openxmlformats.org/officeDocument/2006/relationships/tags" Target="../tags/tag35.xml"/><Relationship Id="rId71" Type="http://schemas.openxmlformats.org/officeDocument/2006/relationships/tags" Target="../tags/tag99.xml"/><Relationship Id="rId2" Type="http://schemas.openxmlformats.org/officeDocument/2006/relationships/tags" Target="../tags/tag30.xml"/><Relationship Id="rId29" Type="http://schemas.openxmlformats.org/officeDocument/2006/relationships/tags" Target="../tags/tag57.xml"/><Relationship Id="rId24" Type="http://schemas.openxmlformats.org/officeDocument/2006/relationships/tags" Target="../tags/tag52.xml"/><Relationship Id="rId40" Type="http://schemas.openxmlformats.org/officeDocument/2006/relationships/tags" Target="../tags/tag68.xml"/><Relationship Id="rId45" Type="http://schemas.openxmlformats.org/officeDocument/2006/relationships/tags" Target="../tags/tag73.xml"/><Relationship Id="rId66" Type="http://schemas.openxmlformats.org/officeDocument/2006/relationships/tags" Target="../tags/tag94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17.xml"/><Relationship Id="rId18" Type="http://schemas.openxmlformats.org/officeDocument/2006/relationships/tags" Target="../tags/tag122.xml"/><Relationship Id="rId26" Type="http://schemas.openxmlformats.org/officeDocument/2006/relationships/tags" Target="../tags/tag130.xml"/><Relationship Id="rId39" Type="http://schemas.openxmlformats.org/officeDocument/2006/relationships/image" Target="../media/image2.png"/><Relationship Id="rId21" Type="http://schemas.openxmlformats.org/officeDocument/2006/relationships/tags" Target="../tags/tag125.xml"/><Relationship Id="rId34" Type="http://schemas.openxmlformats.org/officeDocument/2006/relationships/tags" Target="../tags/tag138.xml"/><Relationship Id="rId7" Type="http://schemas.openxmlformats.org/officeDocument/2006/relationships/tags" Target="../tags/tag111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20" Type="http://schemas.openxmlformats.org/officeDocument/2006/relationships/tags" Target="../tags/tag124.xml"/><Relationship Id="rId29" Type="http://schemas.openxmlformats.org/officeDocument/2006/relationships/tags" Target="../tags/tag133.xml"/><Relationship Id="rId41" Type="http://schemas.openxmlformats.org/officeDocument/2006/relationships/image" Target="../media/image3.png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24" Type="http://schemas.openxmlformats.org/officeDocument/2006/relationships/tags" Target="../tags/tag128.xml"/><Relationship Id="rId32" Type="http://schemas.openxmlformats.org/officeDocument/2006/relationships/tags" Target="../tags/tag136.xml"/><Relationship Id="rId37" Type="http://schemas.openxmlformats.org/officeDocument/2006/relationships/slideLayout" Target="../slideLayouts/slideLayout1.xml"/><Relationship Id="rId40" Type="http://schemas.openxmlformats.org/officeDocument/2006/relationships/image" Target="../media/image8.png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23" Type="http://schemas.openxmlformats.org/officeDocument/2006/relationships/tags" Target="../tags/tag127.xml"/><Relationship Id="rId28" Type="http://schemas.openxmlformats.org/officeDocument/2006/relationships/tags" Target="../tags/tag132.xml"/><Relationship Id="rId36" Type="http://schemas.openxmlformats.org/officeDocument/2006/relationships/tags" Target="../tags/tag140.xml"/><Relationship Id="rId10" Type="http://schemas.openxmlformats.org/officeDocument/2006/relationships/tags" Target="../tags/tag114.xml"/><Relationship Id="rId19" Type="http://schemas.openxmlformats.org/officeDocument/2006/relationships/tags" Target="../tags/tag123.xml"/><Relationship Id="rId31" Type="http://schemas.openxmlformats.org/officeDocument/2006/relationships/tags" Target="../tags/tag135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Relationship Id="rId22" Type="http://schemas.openxmlformats.org/officeDocument/2006/relationships/tags" Target="../tags/tag126.xml"/><Relationship Id="rId27" Type="http://schemas.openxmlformats.org/officeDocument/2006/relationships/tags" Target="../tags/tag131.xml"/><Relationship Id="rId30" Type="http://schemas.openxmlformats.org/officeDocument/2006/relationships/tags" Target="../tags/tag134.xml"/><Relationship Id="rId35" Type="http://schemas.openxmlformats.org/officeDocument/2006/relationships/tags" Target="../tags/tag139.xml"/><Relationship Id="rId8" Type="http://schemas.openxmlformats.org/officeDocument/2006/relationships/tags" Target="../tags/tag112.xml"/><Relationship Id="rId3" Type="http://schemas.openxmlformats.org/officeDocument/2006/relationships/tags" Target="../tags/tag107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5" Type="http://schemas.openxmlformats.org/officeDocument/2006/relationships/tags" Target="../tags/tag129.xml"/><Relationship Id="rId33" Type="http://schemas.openxmlformats.org/officeDocument/2006/relationships/tags" Target="../tags/tag137.xml"/><Relationship Id="rId3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990124" y="1793965"/>
            <a:ext cx="8533160" cy="77031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54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kumimoji="0" lang="en-US" altLang="ko-KR" sz="4400" b="1" smtClean="0">
                <a:solidFill>
                  <a:schemeClr val="bg1">
                    <a:lumMod val="65000"/>
                  </a:schemeClr>
                </a:solidFill>
                <a:latin typeface="Trebuchet MS" panose="020B0603020202020204" pitchFamily="34" charset="0"/>
                <a:ea typeface="+mn-ea"/>
              </a:rPr>
              <a:t>EGW Admin</a:t>
            </a:r>
            <a:r>
              <a:rPr kumimoji="0" lang="en-US" altLang="ko-KR" sz="4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_</a:t>
            </a:r>
            <a:r>
              <a:rPr kumimoji="0" lang="en-US" altLang="ko-KR" sz="4400" b="1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코딩" panose="020D0009000000000000" pitchFamily="49" charset="-127"/>
              </a:rPr>
              <a:t>COP</a:t>
            </a:r>
            <a:r>
              <a:rPr kumimoji="0" lang="ko-KR" altLang="en-US" sz="4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코딩" panose="020D0009000000000000" pitchFamily="49" charset="-127"/>
                <a:ea typeface="나눔고딕코딩" panose="020D0009000000000000" pitchFamily="49" charset="-127"/>
              </a:rPr>
              <a:t>게시판</a:t>
            </a:r>
            <a:endParaRPr kumimoji="0" lang="ko-KR" alt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나눔고딕코딩" panose="020D0009000000000000" pitchFamily="49" charset="-127"/>
              <a:ea typeface="나눔고딕코딩" panose="020D0009000000000000" pitchFamily="49" charset="-127"/>
            </a:endParaRPr>
          </a:p>
        </p:txBody>
      </p:sp>
      <p:sp>
        <p:nvSpPr>
          <p:cNvPr id="8" name="텍스트 개체 틀 21"/>
          <p:cNvSpPr txBox="1">
            <a:spLocks/>
          </p:cNvSpPr>
          <p:nvPr/>
        </p:nvSpPr>
        <p:spPr>
          <a:xfrm>
            <a:off x="1001450" y="2473846"/>
            <a:ext cx="2736304" cy="90300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ko-KR" altLang="en-US" sz="2400" b="1" kern="1200" smtClean="0">
                <a:solidFill>
                  <a:schemeClr val="bg1">
                    <a:lumMod val="65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  <a:lvl2pPr marL="596646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ko-KR" alt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Ver :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0.2</a:t>
            </a:r>
            <a:endParaRPr kumimoji="0" lang="en-US" altLang="ko-KR" sz="11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작성일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2017.09.25</a:t>
            </a:r>
            <a:endParaRPr kumimoji="0" lang="en-US" altLang="ko-KR" sz="11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pPr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작성자 </a:t>
            </a:r>
            <a:r>
              <a:rPr kumimoji="0" lang="en-US" altLang="ko-KR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: </a:t>
            </a:r>
            <a:r>
              <a:rPr kumimoji="0" lang="ko-KR" altLang="en-US" sz="11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정규용</a:t>
            </a:r>
            <a:endParaRPr kumimoji="0" lang="en-US" altLang="ko-KR" sz="1100" b="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1383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3"/>
          <p:cNvSpPr txBox="1">
            <a:spLocks/>
          </p:cNvSpPr>
          <p:nvPr/>
        </p:nvSpPr>
        <p:spPr>
          <a:xfrm>
            <a:off x="990126" y="404664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Archive</a:t>
            </a:r>
            <a:endParaRPr kumimoji="0" lang="ko-KR" altLang="en-US" sz="1600" b="0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343656"/>
              </p:ext>
            </p:extLst>
          </p:nvPr>
        </p:nvGraphicFramePr>
        <p:xfrm>
          <a:off x="990126" y="836712"/>
          <a:ext cx="10218441" cy="4947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3426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1094341974"/>
                    </a:ext>
                  </a:extLst>
                </a:gridCol>
                <a:gridCol w="864095">
                  <a:extLst>
                    <a:ext uri="{9D8B030D-6E8A-4147-A177-3AD203B41FA5}">
                      <a16:colId xmlns:a16="http://schemas.microsoft.com/office/drawing/2014/main" val="179082165"/>
                    </a:ext>
                  </a:extLst>
                </a:gridCol>
              </a:tblGrid>
              <a:tr h="2545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작성일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메뉴명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메뉴명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내용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화면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ID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832114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smtClean="0">
                          <a:latin typeface="나눔고딕" panose="020B0600000101010101" charset="-127"/>
                          <a:ea typeface="나눔고딕" panose="020B0600000101010101" charset="-127"/>
                        </a:rPr>
                        <a:t>2017-09-19</a:t>
                      </a:r>
                      <a:endParaRPr lang="ko-KR" altLang="en-US" sz="90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smtClean="0">
                          <a:latin typeface="나눔고딕" panose="020B0600000101010101" charset="-127"/>
                          <a:ea typeface="나눔고딕" panose="020B0600000101010101" charset="-127"/>
                        </a:rPr>
                        <a:t>최초 작성</a:t>
                      </a:r>
                      <a:endParaRPr lang="ko-KR" altLang="en-US" sz="900"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2017-09-25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관리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정보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게시자 노출 설정 항목 내 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‘</a:t>
                      </a: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닉네임</a:t>
                      </a: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’</a:t>
                      </a: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삭제</a:t>
                      </a:r>
                      <a:endParaRPr lang="en-US" altLang="ko-KR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보안 설정 항목 삭제</a:t>
                      </a: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BH4.1.1</a:t>
                      </a:r>
                      <a:endParaRPr lang="ko-KR" altLang="en-US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953634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969914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238650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215384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110434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034237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957134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412440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603917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356896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74078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446668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255367"/>
                  </a:ext>
                </a:extLst>
              </a:tr>
              <a:tr h="254547"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183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503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2337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# TREE VIEW</a:t>
            </a:r>
            <a:endParaRPr lang="ko-KR" altLang="en-US" sz="2800" b="1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041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Tree View_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기본 구조</a:t>
            </a:r>
          </a:p>
        </p:txBody>
      </p:sp>
      <p:sp>
        <p:nvSpPr>
          <p:cNvPr id="40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623392" y="1268760"/>
            <a:ext cx="1738031" cy="488431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623392" y="859185"/>
            <a:ext cx="1738031" cy="5293890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737164" y="950929"/>
            <a:ext cx="1262481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50" y="1004642"/>
            <a:ext cx="125049" cy="125049"/>
          </a:xfrm>
          <a:prstGeom prst="rect">
            <a:avLst/>
          </a:prstGeom>
        </p:spPr>
      </p:pic>
      <p:sp>
        <p:nvSpPr>
          <p:cNvPr id="51" name="모서리가 둥근 직사각형 50"/>
          <p:cNvSpPr/>
          <p:nvPr/>
        </p:nvSpPr>
        <p:spPr>
          <a:xfrm>
            <a:off x="1994156" y="950929"/>
            <a:ext cx="278539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52" name="그림 5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070" y="994217"/>
            <a:ext cx="148907" cy="148907"/>
          </a:xfrm>
          <a:prstGeom prst="rect">
            <a:avLst/>
          </a:prstGeom>
        </p:spPr>
      </p:pic>
      <p:grpSp>
        <p:nvGrpSpPr>
          <p:cNvPr id="53" name="그룹 52"/>
          <p:cNvGrpSpPr/>
          <p:nvPr/>
        </p:nvGrpSpPr>
        <p:grpSpPr>
          <a:xfrm>
            <a:off x="722646" y="6009059"/>
            <a:ext cx="1558687" cy="59708"/>
            <a:chOff x="807286" y="6780684"/>
            <a:chExt cx="1558687" cy="59708"/>
          </a:xfrm>
        </p:grpSpPr>
        <p:sp>
          <p:nvSpPr>
            <p:cNvPr id="55" name="모서리가 둥근 직사각형 54"/>
            <p:cNvSpPr/>
            <p:nvPr/>
          </p:nvSpPr>
          <p:spPr>
            <a:xfrm>
              <a:off x="807286" y="6780684"/>
              <a:ext cx="1558687" cy="59708"/>
            </a:xfrm>
            <a:prstGeom prst="roundRect">
              <a:avLst>
                <a:gd name="adj" fmla="val 48244"/>
              </a:avLst>
            </a:prstGeom>
            <a:solidFill>
              <a:schemeClr val="bg1">
                <a:lumMod val="65000"/>
                <a:alpha val="49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73" name="모서리가 둥근 직사각형 72"/>
            <p:cNvSpPr/>
            <p:nvPr/>
          </p:nvSpPr>
          <p:spPr>
            <a:xfrm>
              <a:off x="1438558" y="6780684"/>
              <a:ext cx="600942" cy="59708"/>
            </a:xfrm>
            <a:prstGeom prst="roundRect">
              <a:avLst>
                <a:gd name="adj" fmla="val 48244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926510" y="2045676"/>
            <a:ext cx="1218126" cy="288032"/>
            <a:chOff x="821804" y="4376889"/>
            <a:chExt cx="1218126" cy="288032"/>
          </a:xfrm>
        </p:grpSpPr>
        <p:sp>
          <p:nvSpPr>
            <p:cNvPr id="86" name="TextBox 85"/>
            <p:cNvSpPr txBox="1"/>
            <p:nvPr/>
          </p:nvSpPr>
          <p:spPr>
            <a:xfrm>
              <a:off x="1125530" y="4376889"/>
              <a:ext cx="914400" cy="288032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게시판 그룹</a:t>
              </a: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2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21804" y="4446078"/>
              <a:ext cx="125001" cy="12629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-</a:t>
              </a:r>
              <a:endParaRPr lang="ko-KR" altLang="en-US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1145907" y="2263876"/>
            <a:ext cx="1003006" cy="852709"/>
            <a:chOff x="1056221" y="2135443"/>
            <a:chExt cx="1003006" cy="852709"/>
          </a:xfrm>
        </p:grpSpPr>
        <p:cxnSp>
          <p:nvCxnSpPr>
            <p:cNvPr id="89" name="꺾인 연결선 88"/>
            <p:cNvCxnSpPr/>
            <p:nvPr/>
          </p:nvCxnSpPr>
          <p:spPr>
            <a:xfrm rot="16200000" flipH="1">
              <a:off x="1000873" y="2200317"/>
              <a:ext cx="214198" cy="103502"/>
            </a:xfrm>
            <a:prstGeom prst="bentConnector2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/>
            <p:nvPr/>
          </p:nvCxnSpPr>
          <p:spPr>
            <a:xfrm rot="16200000" flipH="1">
              <a:off x="860129" y="2331536"/>
              <a:ext cx="495687" cy="103502"/>
            </a:xfrm>
            <a:prstGeom prst="bentConnector2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그룹 90"/>
            <p:cNvGrpSpPr/>
            <p:nvPr/>
          </p:nvGrpSpPr>
          <p:grpSpPr>
            <a:xfrm>
              <a:off x="1144827" y="2270952"/>
              <a:ext cx="914400" cy="717200"/>
              <a:chOff x="1144827" y="2270952"/>
              <a:chExt cx="914400" cy="717200"/>
            </a:xfrm>
          </p:grpSpPr>
          <p:sp>
            <p:nvSpPr>
              <p:cNvPr id="93" name="TextBox 92"/>
              <p:cNvSpPr txBox="1"/>
              <p:nvPr/>
            </p:nvSpPr>
            <p:spPr>
              <a:xfrm>
                <a:off x="1144827" y="2270952"/>
                <a:ext cx="914400" cy="171426"/>
              </a:xfrm>
              <a:prstGeom prst="rect">
                <a:avLst/>
              </a:prstGeom>
              <a:noFill/>
            </p:spPr>
            <p:txBody>
              <a:bodyPr wrap="none" lIns="72000" rIns="72000" rtlCol="0" anchor="ctr">
                <a:noAutofit/>
              </a:bodyPr>
              <a:lstStyle/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A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게시판</a:t>
                </a:r>
              </a:p>
            </p:txBody>
          </p:sp>
          <p:sp>
            <p:nvSpPr>
              <p:cNvPr id="94" name="TextBox 93"/>
              <p:cNvSpPr txBox="1"/>
              <p:nvPr/>
            </p:nvSpPr>
            <p:spPr>
              <a:xfrm>
                <a:off x="1144827" y="2543839"/>
                <a:ext cx="914400" cy="171426"/>
              </a:xfrm>
              <a:prstGeom prst="rect">
                <a:avLst/>
              </a:prstGeom>
              <a:noFill/>
            </p:spPr>
            <p:txBody>
              <a:bodyPr wrap="none" lIns="72000" rIns="72000" rtlCol="0" anchor="ctr">
                <a:noAutofit/>
              </a:bodyPr>
              <a:lstStyle/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B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게시판</a:t>
                </a:r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1144827" y="2816726"/>
                <a:ext cx="914400" cy="171426"/>
              </a:xfrm>
              <a:prstGeom prst="rect">
                <a:avLst/>
              </a:prstGeom>
              <a:noFill/>
            </p:spPr>
            <p:txBody>
              <a:bodyPr wrap="none" lIns="72000" rIns="72000" rtlCol="0" anchor="ctr">
                <a:noAutofit/>
              </a:bodyPr>
              <a:lstStyle/>
              <a:p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C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게시판</a:t>
                </a:r>
              </a:p>
            </p:txBody>
          </p:sp>
        </p:grpSp>
        <p:cxnSp>
          <p:nvCxnSpPr>
            <p:cNvPr id="92" name="꺾인 연결선 91"/>
            <p:cNvCxnSpPr/>
            <p:nvPr/>
          </p:nvCxnSpPr>
          <p:spPr>
            <a:xfrm rot="16200000" flipH="1">
              <a:off x="860130" y="2605855"/>
              <a:ext cx="495687" cy="103502"/>
            </a:xfrm>
            <a:prstGeom prst="bentConnector2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7" name="그림 9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782" y="2114650"/>
            <a:ext cx="123607" cy="123607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926510" y="4484737"/>
            <a:ext cx="1218126" cy="288032"/>
            <a:chOff x="737164" y="3046160"/>
            <a:chExt cx="1218126" cy="288032"/>
          </a:xfrm>
        </p:grpSpPr>
        <p:grpSp>
          <p:nvGrpSpPr>
            <p:cNvPr id="142" name="그룹 141"/>
            <p:cNvGrpSpPr/>
            <p:nvPr/>
          </p:nvGrpSpPr>
          <p:grpSpPr>
            <a:xfrm>
              <a:off x="737164" y="3046160"/>
              <a:ext cx="1218126" cy="288032"/>
              <a:chOff x="737164" y="1710288"/>
              <a:chExt cx="1218126" cy="288032"/>
            </a:xfrm>
          </p:grpSpPr>
          <p:sp>
            <p:nvSpPr>
              <p:cNvPr id="143" name="TextBox 142"/>
              <p:cNvSpPr txBox="1"/>
              <p:nvPr/>
            </p:nvSpPr>
            <p:spPr>
              <a:xfrm>
                <a:off x="1040890" y="1710288"/>
                <a:ext cx="914400" cy="288032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no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게시판 그룹</a:t>
                </a:r>
                <a:r>
                  <a:rPr lang="en-US" altLang="ko-KR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34567 ..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144" name="TextBox 143"/>
              <p:cNvSpPr txBox="1"/>
              <p:nvPr/>
            </p:nvSpPr>
            <p:spPr>
              <a:xfrm>
                <a:off x="737164" y="1778043"/>
                <a:ext cx="125001" cy="12629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72000" rIns="72000" rtlCol="0" anchor="ctr">
                <a:noAutofit/>
              </a:bodyPr>
              <a:lstStyle/>
              <a:p>
                <a:pPr algn="ctr"/>
                <a:r>
                  <a:rPr lang="en-US" altLang="ko-KR" sz="1100" smtClean="0">
                    <a:solidFill>
                      <a:schemeClr val="bg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rPr>
                  <a:t>+</a:t>
                </a:r>
                <a:endParaRPr lang="ko-KR" altLang="en-US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endParaRPr>
              </a:p>
            </p:txBody>
          </p:sp>
        </p:grpSp>
        <p:pic>
          <p:nvPicPr>
            <p:cNvPr id="146" name="그림 14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344" y="3127247"/>
              <a:ext cx="110241" cy="110241"/>
            </a:xfrm>
            <a:prstGeom prst="rect">
              <a:avLst/>
            </a:prstGeom>
          </p:spPr>
        </p:pic>
      </p:grpSp>
      <p:grpSp>
        <p:nvGrpSpPr>
          <p:cNvPr id="3" name="그룹 2"/>
          <p:cNvGrpSpPr/>
          <p:nvPr/>
        </p:nvGrpSpPr>
        <p:grpSpPr>
          <a:xfrm>
            <a:off x="926509" y="1647287"/>
            <a:ext cx="1218126" cy="288032"/>
            <a:chOff x="737164" y="2150740"/>
            <a:chExt cx="1218126" cy="288032"/>
          </a:xfrm>
        </p:grpSpPr>
        <p:grpSp>
          <p:nvGrpSpPr>
            <p:cNvPr id="2" name="그룹 1"/>
            <p:cNvGrpSpPr/>
            <p:nvPr/>
          </p:nvGrpSpPr>
          <p:grpSpPr>
            <a:xfrm>
              <a:off x="737164" y="2150740"/>
              <a:ext cx="1218126" cy="288032"/>
              <a:chOff x="737164" y="1715204"/>
              <a:chExt cx="1218126" cy="288032"/>
            </a:xfrm>
          </p:grpSpPr>
          <p:sp>
            <p:nvSpPr>
              <p:cNvPr id="74" name="TextBox 73"/>
              <p:cNvSpPr txBox="1"/>
              <p:nvPr/>
            </p:nvSpPr>
            <p:spPr>
              <a:xfrm>
                <a:off x="1040890" y="1715204"/>
                <a:ext cx="914400" cy="288032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no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게시판 그룹</a:t>
                </a:r>
                <a:r>
                  <a:rPr lang="en-US" altLang="ko-KR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737164" y="1788129"/>
                <a:ext cx="125001" cy="12629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72000" rIns="72000" rtlCol="0" anchor="ctr">
                <a:noAutofit/>
              </a:bodyPr>
              <a:lstStyle/>
              <a:p>
                <a:pPr algn="ctr"/>
                <a:r>
                  <a:rPr lang="en-US" altLang="ko-KR" sz="1100" smtClean="0">
                    <a:solidFill>
                      <a:schemeClr val="bg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rPr>
                  <a:t>+</a:t>
                </a:r>
                <a:endParaRPr lang="ko-KR" altLang="en-US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endParaRPr>
              </a:p>
            </p:txBody>
          </p:sp>
        </p:grpSp>
        <p:pic>
          <p:nvPicPr>
            <p:cNvPr id="147" name="그림 146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344" y="2239237"/>
              <a:ext cx="110241" cy="110241"/>
            </a:xfrm>
            <a:prstGeom prst="rect">
              <a:avLst/>
            </a:prstGeom>
          </p:spPr>
        </p:pic>
      </p:grpSp>
      <p:graphicFrame>
        <p:nvGraphicFramePr>
          <p:cNvPr id="16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666504"/>
              </p:ext>
            </p:extLst>
          </p:nvPr>
        </p:nvGraphicFramePr>
        <p:xfrm>
          <a:off x="9290533" y="786383"/>
          <a:ext cx="2835141" cy="4089416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  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가상 루트로 이동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삭제 불가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속성이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‘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폴더 게시판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’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일 경우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 폴더형 아이콘 사용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6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2-1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하위 레벨 그룹으로 생성 개수 제한은 없음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.</a:t>
                      </a:r>
                    </a:p>
                  </a:txBody>
                  <a:tcPr marL="36000" marR="36000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291284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3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그룹에 속한 게시판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516968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4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도는 그룹명이 정해지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width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값을 초과할 경우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말줄임표 처리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155316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5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게시판명 또는 그룹명 마우스 오버시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해당 명칭 툴팁으로 제공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52303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6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진입 시 최초 초화면은 최상단의 게시판 정보를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출력시키고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이후 진입시 이전에 접근했던 게시판</a:t>
                      </a:r>
                      <a:endParaRPr kumimoji="1" lang="en-US" altLang="ko-KR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정보를 출력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536169"/>
                  </a:ext>
                </a:extLst>
              </a:tr>
            </a:tbl>
          </a:graphicData>
        </a:graphic>
      </p:graphicFrame>
      <p:grpSp>
        <p:nvGrpSpPr>
          <p:cNvPr id="84" name="그룹 83"/>
          <p:cNvGrpSpPr/>
          <p:nvPr/>
        </p:nvGrpSpPr>
        <p:grpSpPr>
          <a:xfrm>
            <a:off x="727639" y="1312540"/>
            <a:ext cx="1218126" cy="288032"/>
            <a:chOff x="737164" y="1715204"/>
            <a:chExt cx="1218126" cy="288032"/>
          </a:xfrm>
        </p:grpSpPr>
        <p:sp>
          <p:nvSpPr>
            <p:cNvPr id="102" name="TextBox 101"/>
            <p:cNvSpPr txBox="1"/>
            <p:nvPr/>
          </p:nvSpPr>
          <p:spPr>
            <a:xfrm>
              <a:off x="1040890" y="1715204"/>
              <a:ext cx="914400" cy="288032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ko-KR" altLang="en-US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핸디소프트 게시판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737164" y="1788129"/>
              <a:ext cx="125001" cy="12629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72000" rIns="72000" rtlCol="0" anchor="ctr">
              <a:noAutofit/>
            </a:bodyPr>
            <a:lstStyle/>
            <a:p>
              <a:pPr algn="ctr"/>
              <a:r>
                <a:rPr lang="en-US" altLang="ko-KR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-</a:t>
              </a:r>
              <a:endParaRPr lang="ko-KR" altLang="en-US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pic>
        <p:nvPicPr>
          <p:cNvPr id="104" name="그림 10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91" y="1388815"/>
            <a:ext cx="123607" cy="123607"/>
          </a:xfrm>
          <a:prstGeom prst="rect">
            <a:avLst/>
          </a:prstGeom>
        </p:spPr>
      </p:pic>
      <p:grpSp>
        <p:nvGrpSpPr>
          <p:cNvPr id="105" name="그룹 104"/>
          <p:cNvGrpSpPr/>
          <p:nvPr/>
        </p:nvGrpSpPr>
        <p:grpSpPr>
          <a:xfrm>
            <a:off x="1117602" y="3169772"/>
            <a:ext cx="1222403" cy="1070909"/>
            <a:chOff x="737164" y="2539041"/>
            <a:chExt cx="1222403" cy="1070909"/>
          </a:xfrm>
        </p:grpSpPr>
        <p:grpSp>
          <p:nvGrpSpPr>
            <p:cNvPr id="106" name="그룹 105"/>
            <p:cNvGrpSpPr/>
            <p:nvPr/>
          </p:nvGrpSpPr>
          <p:grpSpPr>
            <a:xfrm>
              <a:off x="737164" y="2539041"/>
              <a:ext cx="1218126" cy="288032"/>
              <a:chOff x="821804" y="4376889"/>
              <a:chExt cx="1218126" cy="288032"/>
            </a:xfrm>
          </p:grpSpPr>
          <p:sp>
            <p:nvSpPr>
              <p:cNvPr id="145" name="TextBox 144"/>
              <p:cNvSpPr txBox="1"/>
              <p:nvPr/>
            </p:nvSpPr>
            <p:spPr>
              <a:xfrm>
                <a:off x="1125530" y="4376889"/>
                <a:ext cx="914400" cy="288032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no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게시판 그룹</a:t>
                </a:r>
                <a:r>
                  <a:rPr lang="en-US" altLang="ko-KR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2-1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821804" y="4446078"/>
                <a:ext cx="125001" cy="12629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72000" rIns="72000" rtlCol="0" anchor="ctr">
                <a:noAutofit/>
              </a:bodyPr>
              <a:lstStyle/>
              <a:p>
                <a:pPr algn="ctr"/>
                <a:r>
                  <a:rPr lang="en-US" altLang="ko-KR" sz="1100" smtClean="0">
                    <a:solidFill>
                      <a:schemeClr val="bg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rPr>
                  <a:t>-</a:t>
                </a:r>
                <a:endParaRPr lang="ko-KR" altLang="en-US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endParaRPr>
              </a:p>
            </p:txBody>
          </p:sp>
        </p:grpSp>
        <p:grpSp>
          <p:nvGrpSpPr>
            <p:cNvPr id="107" name="그룹 106"/>
            <p:cNvGrpSpPr/>
            <p:nvPr/>
          </p:nvGrpSpPr>
          <p:grpSpPr>
            <a:xfrm>
              <a:off x="956561" y="2757241"/>
              <a:ext cx="1003006" cy="852709"/>
              <a:chOff x="1056221" y="2135443"/>
              <a:chExt cx="1003006" cy="852709"/>
            </a:xfrm>
          </p:grpSpPr>
          <p:cxnSp>
            <p:nvCxnSpPr>
              <p:cNvPr id="111" name="꺾인 연결선 110"/>
              <p:cNvCxnSpPr/>
              <p:nvPr/>
            </p:nvCxnSpPr>
            <p:spPr>
              <a:xfrm rot="16200000" flipH="1">
                <a:off x="1000873" y="2200317"/>
                <a:ext cx="214198" cy="103502"/>
              </a:xfrm>
              <a:prstGeom prst="bentConnector2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꺾인 연결선 111"/>
              <p:cNvCxnSpPr/>
              <p:nvPr/>
            </p:nvCxnSpPr>
            <p:spPr>
              <a:xfrm rot="16200000" flipH="1">
                <a:off x="860129" y="2331536"/>
                <a:ext cx="495687" cy="103502"/>
              </a:xfrm>
              <a:prstGeom prst="bentConnector2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3" name="그룹 112"/>
              <p:cNvGrpSpPr/>
              <p:nvPr/>
            </p:nvGrpSpPr>
            <p:grpSpPr>
              <a:xfrm>
                <a:off x="1144827" y="2270952"/>
                <a:ext cx="914400" cy="717200"/>
                <a:chOff x="1144827" y="2270952"/>
                <a:chExt cx="914400" cy="717200"/>
              </a:xfrm>
            </p:grpSpPr>
            <p:sp>
              <p:nvSpPr>
                <p:cNvPr id="115" name="TextBox 114"/>
                <p:cNvSpPr txBox="1"/>
                <p:nvPr/>
              </p:nvSpPr>
              <p:spPr>
                <a:xfrm>
                  <a:off x="1144827" y="2270952"/>
                  <a:ext cx="914400" cy="171426"/>
                </a:xfrm>
                <a:prstGeom prst="rect">
                  <a:avLst/>
                </a:prstGeom>
                <a:noFill/>
              </p:spPr>
              <p:txBody>
                <a:bodyPr wrap="none" lIns="72000" rIns="72000" rtlCol="0" anchor="ctr">
                  <a:noAutofit/>
                </a:bodyPr>
                <a:lstStyle/>
                <a:p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A</a:t>
                  </a:r>
                  <a:r>
                    <a:rPr lang="ko-KR" altLang="en-US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게시판</a:t>
                  </a:r>
                </a:p>
              </p:txBody>
            </p:sp>
            <p:sp>
              <p:nvSpPr>
                <p:cNvPr id="116" name="TextBox 115"/>
                <p:cNvSpPr txBox="1"/>
                <p:nvPr/>
              </p:nvSpPr>
              <p:spPr>
                <a:xfrm>
                  <a:off x="1144827" y="2543839"/>
                  <a:ext cx="914400" cy="171426"/>
                </a:xfrm>
                <a:prstGeom prst="rect">
                  <a:avLst/>
                </a:prstGeom>
                <a:noFill/>
              </p:spPr>
              <p:txBody>
                <a:bodyPr wrap="none" lIns="72000" rIns="72000" rtlCol="0" anchor="ctr">
                  <a:noAutofit/>
                </a:bodyPr>
                <a:lstStyle/>
                <a:p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B</a:t>
                  </a:r>
                  <a:r>
                    <a:rPr lang="ko-KR" altLang="en-US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게시판</a:t>
                  </a:r>
                </a:p>
              </p:txBody>
            </p:sp>
            <p:sp>
              <p:nvSpPr>
                <p:cNvPr id="117" name="TextBox 116"/>
                <p:cNvSpPr txBox="1"/>
                <p:nvPr/>
              </p:nvSpPr>
              <p:spPr>
                <a:xfrm>
                  <a:off x="1144827" y="2816726"/>
                  <a:ext cx="914400" cy="171426"/>
                </a:xfrm>
                <a:prstGeom prst="rect">
                  <a:avLst/>
                </a:prstGeom>
                <a:noFill/>
              </p:spPr>
              <p:txBody>
                <a:bodyPr wrap="none" lIns="72000" rIns="72000" rtlCol="0" anchor="ctr">
                  <a:noAutofit/>
                </a:bodyPr>
                <a:lstStyle/>
                <a:p>
                  <a:r>
                    <a:rPr lang="en-US" altLang="ko-KR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C</a:t>
                  </a:r>
                  <a:r>
                    <a:rPr lang="ko-KR" altLang="en-US" sz="800" smtClean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나눔고딕" panose="020B0600000101010101" charset="-127"/>
                      <a:ea typeface="나눔고딕" panose="020B0600000101010101" charset="-127"/>
                    </a:rPr>
                    <a:t>게시판</a:t>
                  </a:r>
                </a:p>
              </p:txBody>
            </p:sp>
          </p:grpSp>
          <p:cxnSp>
            <p:nvCxnSpPr>
              <p:cNvPr id="114" name="꺾인 연결선 113"/>
              <p:cNvCxnSpPr/>
              <p:nvPr/>
            </p:nvCxnSpPr>
            <p:spPr>
              <a:xfrm rot="16200000" flipH="1">
                <a:off x="860130" y="2605855"/>
                <a:ext cx="495687" cy="103502"/>
              </a:xfrm>
              <a:prstGeom prst="bentConnector2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8" name="그림 10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3436" y="2608015"/>
              <a:ext cx="123607" cy="123607"/>
            </a:xfrm>
            <a:prstGeom prst="rect">
              <a:avLst/>
            </a:prstGeom>
          </p:spPr>
        </p:pic>
      </p:grpSp>
      <p:cxnSp>
        <p:nvCxnSpPr>
          <p:cNvPr id="10" name="꺾인 연결선 9"/>
          <p:cNvCxnSpPr>
            <a:stCxn id="103" idx="2"/>
            <a:endCxn id="144" idx="1"/>
          </p:cNvCxnSpPr>
          <p:nvPr/>
        </p:nvCxnSpPr>
        <p:spPr>
          <a:xfrm rot="16200000" flipH="1">
            <a:off x="-693616" y="2995512"/>
            <a:ext cx="3103882" cy="136370"/>
          </a:xfrm>
          <a:prstGeom prst="bentConnector2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103" idx="2"/>
            <a:endCxn id="75" idx="1"/>
          </p:cNvCxnSpPr>
          <p:nvPr/>
        </p:nvCxnSpPr>
        <p:spPr>
          <a:xfrm rot="16200000" flipH="1">
            <a:off x="722523" y="1579372"/>
            <a:ext cx="271602" cy="136369"/>
          </a:xfrm>
          <a:prstGeom prst="bentConnector2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103" idx="2"/>
            <a:endCxn id="87" idx="1"/>
          </p:cNvCxnSpPr>
          <p:nvPr/>
        </p:nvCxnSpPr>
        <p:spPr>
          <a:xfrm rot="16200000" flipH="1">
            <a:off x="525198" y="1776698"/>
            <a:ext cx="666255" cy="136370"/>
          </a:xfrm>
          <a:prstGeom prst="bentConnector2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03" idx="2"/>
          </p:cNvCxnSpPr>
          <p:nvPr/>
        </p:nvCxnSpPr>
        <p:spPr>
          <a:xfrm rot="5400000">
            <a:off x="-420510" y="2722406"/>
            <a:ext cx="2421300" cy="1"/>
          </a:xfrm>
          <a:prstGeom prst="bentConnector3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그룹 148"/>
          <p:cNvGrpSpPr/>
          <p:nvPr/>
        </p:nvGrpSpPr>
        <p:grpSpPr>
          <a:xfrm>
            <a:off x="2227426" y="1408630"/>
            <a:ext cx="58192" cy="4337685"/>
            <a:chOff x="11566625" y="2097680"/>
            <a:chExt cx="58192" cy="3258967"/>
          </a:xfrm>
        </p:grpSpPr>
        <p:sp>
          <p:nvSpPr>
            <p:cNvPr id="150" name="모서리가 둥근 직사각형 149"/>
            <p:cNvSpPr/>
            <p:nvPr/>
          </p:nvSpPr>
          <p:spPr>
            <a:xfrm>
              <a:off x="11566625" y="2097680"/>
              <a:ext cx="58192" cy="325896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  <a:alpha val="49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51" name="모서리가 둥근 직사각형 150"/>
            <p:cNvSpPr/>
            <p:nvPr/>
          </p:nvSpPr>
          <p:spPr>
            <a:xfrm>
              <a:off x="11566625" y="3424015"/>
              <a:ext cx="58192" cy="85819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152" name="타원 151"/>
          <p:cNvSpPr/>
          <p:nvPr/>
        </p:nvSpPr>
        <p:spPr>
          <a:xfrm>
            <a:off x="521511" y="1351567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1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7" name="타원 166"/>
          <p:cNvSpPr/>
          <p:nvPr/>
        </p:nvSpPr>
        <p:spPr>
          <a:xfrm>
            <a:off x="731061" y="2075467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8" name="타원 167"/>
          <p:cNvSpPr/>
          <p:nvPr/>
        </p:nvSpPr>
        <p:spPr>
          <a:xfrm>
            <a:off x="921561" y="3218467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2-1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9" name="타원 168"/>
          <p:cNvSpPr/>
          <p:nvPr/>
        </p:nvSpPr>
        <p:spPr>
          <a:xfrm>
            <a:off x="1235326" y="352348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3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1204" y="1741175"/>
            <a:ext cx="2035021" cy="1543809"/>
          </a:xfrm>
          <a:prstGeom prst="rect">
            <a:avLst/>
          </a:prstGeom>
        </p:spPr>
      </p:pic>
      <p:sp>
        <p:nvSpPr>
          <p:cNvPr id="158" name="타원 157"/>
          <p:cNvSpPr/>
          <p:nvPr/>
        </p:nvSpPr>
        <p:spPr>
          <a:xfrm>
            <a:off x="1130551" y="4380731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4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05768" y="4733157"/>
            <a:ext cx="1627981" cy="23889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그룹 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345678901234</a:t>
            </a:r>
            <a:endParaRPr lang="ko-KR" altLang="en-US" sz="800" b="1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59" name="그림 158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666" y="4666391"/>
            <a:ext cx="153260" cy="153260"/>
          </a:xfrm>
          <a:prstGeom prst="rect">
            <a:avLst/>
          </a:prstGeom>
        </p:spPr>
      </p:pic>
      <p:sp>
        <p:nvSpPr>
          <p:cNvPr id="160" name="타원 159"/>
          <p:cNvSpPr/>
          <p:nvPr/>
        </p:nvSpPr>
        <p:spPr>
          <a:xfrm>
            <a:off x="1635376" y="4866506"/>
            <a:ext cx="168861" cy="174728"/>
          </a:xfrm>
          <a:prstGeom prst="ellipse">
            <a:avLst/>
          </a:prstGeom>
          <a:solidFill>
            <a:srgbClr val="FF0000"/>
          </a:solidFill>
          <a:ln w="3175">
            <a:solidFill>
              <a:srgbClr val="C00000"/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b="1" smtClean="0">
                <a:solidFill>
                  <a:schemeClr val="bg1"/>
                </a:solidFill>
                <a:latin typeface="나눔고딕" panose="020B0600000101010101" charset="-127"/>
                <a:ea typeface="나눔고딕" panose="020B0600000101010101" charset="-127"/>
              </a:rPr>
              <a:t>5</a:t>
            </a:r>
            <a:endParaRPr lang="ko-KR" altLang="en-US" sz="800" b="1" dirty="0">
              <a:solidFill>
                <a:schemeClr val="bg1"/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68" name="그룹 67"/>
          <p:cNvGrpSpPr/>
          <p:nvPr/>
        </p:nvGrpSpPr>
        <p:grpSpPr>
          <a:xfrm>
            <a:off x="3951644" y="851493"/>
            <a:ext cx="1512168" cy="1850198"/>
            <a:chOff x="2855640" y="580704"/>
            <a:chExt cx="1512168" cy="1850198"/>
          </a:xfrm>
        </p:grpSpPr>
        <p:sp>
          <p:nvSpPr>
            <p:cNvPr id="69" name="Window Body" descr="&lt;SmartSettings&gt;&lt;SmartResize anchorLeft=&quot;Absolute&quot; anchorTop=&quot;Absolute&quot; anchorRight=&quot;Absolute&quot; anchorBottom=&quot;Absolute&quot; /&gt;&lt;/SmartSettings&gt;"/>
            <p:cNvSpPr/>
            <p:nvPr>
              <p:custDataLst>
                <p:tags r:id="rId3"/>
              </p:custDataLst>
            </p:nvPr>
          </p:nvSpPr>
          <p:spPr>
            <a:xfrm>
              <a:off x="2855640" y="580704"/>
              <a:ext cx="1512168" cy="1443057"/>
            </a:xfrm>
            <a:prstGeom prst="rect">
              <a:avLst/>
            </a:pr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순서도: 문서 69"/>
            <p:cNvSpPr/>
            <p:nvPr/>
          </p:nvSpPr>
          <p:spPr>
            <a:xfrm>
              <a:off x="2855640" y="990278"/>
              <a:ext cx="1512168" cy="1440624"/>
            </a:xfrm>
            <a:prstGeom prst="flowChartDocumen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dirty="0">
                <a:solidFill>
                  <a:srgbClr val="5F5F5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grpSp>
          <p:nvGrpSpPr>
            <p:cNvPr id="71" name="그룹 70"/>
            <p:cNvGrpSpPr/>
            <p:nvPr/>
          </p:nvGrpSpPr>
          <p:grpSpPr>
            <a:xfrm>
              <a:off x="2926172" y="672447"/>
              <a:ext cx="1365325" cy="226648"/>
              <a:chOff x="387392" y="672447"/>
              <a:chExt cx="1365325" cy="226648"/>
            </a:xfrm>
          </p:grpSpPr>
          <p:sp>
            <p:nvSpPr>
              <p:cNvPr id="76" name="모서리가 둥근 직사각형 75"/>
              <p:cNvSpPr/>
              <p:nvPr/>
            </p:nvSpPr>
            <p:spPr>
              <a:xfrm>
                <a:off x="387392" y="672448"/>
                <a:ext cx="1149726" cy="22664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 </a:t>
                </a:r>
                <a:r>
                  <a:rPr lang="ko-KR" altLang="en-US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개발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pic>
            <p:nvPicPr>
              <p:cNvPr id="77" name="그림 7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88347" y="719811"/>
                <a:ext cx="125049" cy="125049"/>
              </a:xfrm>
              <a:prstGeom prst="rect">
                <a:avLst/>
              </a:prstGeom>
            </p:spPr>
          </p:pic>
          <p:sp>
            <p:nvSpPr>
              <p:cNvPr id="78" name="모서리가 둥근 직사각형 77"/>
              <p:cNvSpPr/>
              <p:nvPr/>
            </p:nvSpPr>
            <p:spPr>
              <a:xfrm>
                <a:off x="1537118" y="672447"/>
                <a:ext cx="215599" cy="226647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  <a:effectLst/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altLang="ko-KR" sz="800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 </a:t>
                </a: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pic>
            <p:nvPicPr>
              <p:cNvPr id="79" name="그림 78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1488" y="720046"/>
                <a:ext cx="133285" cy="133285"/>
              </a:xfrm>
              <a:prstGeom prst="rect">
                <a:avLst/>
              </a:prstGeom>
            </p:spPr>
          </p:pic>
        </p:grpSp>
        <p:sp>
          <p:nvSpPr>
            <p:cNvPr id="72" name="TextBox 71"/>
            <p:cNvSpPr txBox="1"/>
            <p:nvPr/>
          </p:nvSpPr>
          <p:spPr>
            <a:xfrm>
              <a:off x="2999656" y="939661"/>
              <a:ext cx="914400" cy="660539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표준개발실</a:t>
              </a:r>
              <a:endPara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표준개발팀</a:t>
              </a:r>
            </a:p>
          </p:txBody>
        </p:sp>
      </p:grpSp>
      <p:sp>
        <p:nvSpPr>
          <p:cNvPr id="131" name="직사각형 130"/>
          <p:cNvSpPr/>
          <p:nvPr/>
        </p:nvSpPr>
        <p:spPr>
          <a:xfrm>
            <a:off x="615179" y="859684"/>
            <a:ext cx="1743961" cy="415429"/>
          </a:xfrm>
          <a:prstGeom prst="rect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32" name="직선 화살표 연결선 131"/>
          <p:cNvCxnSpPr/>
          <p:nvPr/>
        </p:nvCxnSpPr>
        <p:spPr>
          <a:xfrm>
            <a:off x="2363745" y="1063112"/>
            <a:ext cx="1475977" cy="0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타원 135"/>
          <p:cNvSpPr/>
          <p:nvPr/>
        </p:nvSpPr>
        <p:spPr>
          <a:xfrm>
            <a:off x="5129386" y="885826"/>
            <a:ext cx="328439" cy="323850"/>
          </a:xfrm>
          <a:prstGeom prst="ellipse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37" name="꺾인 연결선 136"/>
          <p:cNvCxnSpPr>
            <a:stCxn id="136" idx="0"/>
          </p:cNvCxnSpPr>
          <p:nvPr/>
        </p:nvCxnSpPr>
        <p:spPr>
          <a:xfrm rot="16200000" flipH="1" flipV="1">
            <a:off x="3300550" y="-1048602"/>
            <a:ext cx="58629" cy="3927483"/>
          </a:xfrm>
          <a:prstGeom prst="bentConnector3">
            <a:avLst>
              <a:gd name="adj1" fmla="val -487387"/>
            </a:avLst>
          </a:prstGeom>
          <a:ln w="19050">
            <a:solidFill>
              <a:srgbClr val="FF0000"/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/>
          <p:cNvSpPr/>
          <p:nvPr/>
        </p:nvSpPr>
        <p:spPr>
          <a:xfrm>
            <a:off x="1028700" y="2047875"/>
            <a:ext cx="295275" cy="276225"/>
          </a:xfrm>
          <a:prstGeom prst="ellipse">
            <a:avLst/>
          </a:prstGeom>
          <a:ln w="19050">
            <a:solidFill>
              <a:srgbClr val="FF0000"/>
            </a:solidFill>
            <a:prstDash val="sysDot"/>
            <a:headEnd type="none" w="med" len="med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76526" y="1856607"/>
            <a:ext cx="1181273" cy="181743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검색결과가 없습니다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.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34036" y="2068646"/>
            <a:ext cx="1309514" cy="169729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검색결과가 없을 경우 출력</a:t>
            </a:r>
          </a:p>
        </p:txBody>
      </p:sp>
    </p:spTree>
    <p:extLst>
      <p:ext uri="{BB962C8B-B14F-4D97-AF65-F5344CB8AC3E}">
        <p14:creationId xmlns:p14="http://schemas.microsoft.com/office/powerpoint/2010/main" val="101599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6976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COP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게시판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게시판 관리 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게시판 정보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77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 txBox="1">
            <a:spLocks/>
          </p:cNvSpPr>
          <p:nvPr/>
        </p:nvSpPr>
        <p:spPr>
          <a:xfrm>
            <a:off x="990126" y="404664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Location</a:t>
            </a:r>
            <a:endParaRPr kumimoji="0" lang="ko-KR" altLang="en-US" sz="1600" b="0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020052"/>
              </p:ext>
            </p:extLst>
          </p:nvPr>
        </p:nvGraphicFramePr>
        <p:xfrm>
          <a:off x="990126" y="1050330"/>
          <a:ext cx="6582781" cy="1048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512">
                  <a:extLst>
                    <a:ext uri="{9D8B030D-6E8A-4147-A177-3AD203B41FA5}">
                      <a16:colId xmlns:a16="http://schemas.microsoft.com/office/drawing/2014/main" val="1349838453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3375671333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148483404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632755251"/>
                    </a:ext>
                  </a:extLst>
                </a:gridCol>
                <a:gridCol w="1336733">
                  <a:extLst>
                    <a:ext uri="{9D8B030D-6E8A-4147-A177-3AD203B41FA5}">
                      <a16:colId xmlns:a16="http://schemas.microsoft.com/office/drawing/2014/main" val="1469623920"/>
                    </a:ext>
                  </a:extLst>
                </a:gridCol>
              </a:tblGrid>
              <a:tr h="26221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 smtClean="0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COP</a:t>
                      </a:r>
                      <a:r>
                        <a:rPr lang="ko-KR" altLang="en-US" sz="900" u="none" strike="noStrike" smtClean="0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7593"/>
                  </a:ext>
                </a:extLst>
              </a:tr>
              <a:tr h="2622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관리</a:t>
                      </a:r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279901"/>
                  </a:ext>
                </a:extLst>
              </a:tr>
              <a:tr h="2622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정보</a:t>
                      </a:r>
                      <a:endParaRPr lang="ko-KR" altLang="en-US" sz="900" b="1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085347"/>
                  </a:ext>
                </a:extLst>
              </a:tr>
              <a:tr h="262213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정보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23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998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표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920643"/>
              </p:ext>
            </p:extLst>
          </p:nvPr>
        </p:nvGraphicFramePr>
        <p:xfrm>
          <a:off x="2612145" y="4000872"/>
          <a:ext cx="6432364" cy="63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8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5256583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</a:tblGrid>
              <a:tr h="315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게시자 노출 설정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     실명                     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익명</a:t>
                      </a: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767756"/>
                  </a:ext>
                </a:extLst>
              </a:tr>
              <a:tr h="315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보안  설정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635518"/>
                  </a:ext>
                </a:extLst>
              </a:tr>
            </a:tbl>
          </a:graphicData>
        </a:graphic>
      </p:graphicFrame>
      <p:sp>
        <p:nvSpPr>
          <p:cNvPr id="96" name="타원 95"/>
          <p:cNvSpPr/>
          <p:nvPr/>
        </p:nvSpPr>
        <p:spPr>
          <a:xfrm>
            <a:off x="3865616" y="3800624"/>
            <a:ext cx="132600" cy="132850"/>
          </a:xfrm>
          <a:prstGeom prst="ellipse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144000" tIns="36000" rIns="36000" bIns="36000" rtlCol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7" name="자유형 96"/>
          <p:cNvSpPr/>
          <p:nvPr/>
        </p:nvSpPr>
        <p:spPr>
          <a:xfrm>
            <a:off x="3883460" y="3809157"/>
            <a:ext cx="123825" cy="100482"/>
          </a:xfrm>
          <a:custGeom>
            <a:avLst/>
            <a:gdLst>
              <a:gd name="connsiteX0" fmla="*/ 0 w 190500"/>
              <a:gd name="connsiteY0" fmla="*/ 95250 h 209550"/>
              <a:gd name="connsiteX1" fmla="*/ 76200 w 190500"/>
              <a:gd name="connsiteY1" fmla="*/ 209550 h 209550"/>
              <a:gd name="connsiteX2" fmla="*/ 190500 w 190500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0500" h="209550">
                <a:moveTo>
                  <a:pt x="0" y="95250"/>
                </a:moveTo>
                <a:lnTo>
                  <a:pt x="76200" y="209550"/>
                </a:lnTo>
                <a:lnTo>
                  <a:pt x="190500" y="0"/>
                </a:lnTo>
              </a:path>
            </a:pathLst>
          </a:cu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>
            <a:off x="4679014" y="3800624"/>
            <a:ext cx="132600" cy="132850"/>
          </a:xfrm>
          <a:prstGeom prst="ellipse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144000" tIns="36000" rIns="36000" bIns="36000" rtlCol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11" name="그룹 110"/>
          <p:cNvGrpSpPr/>
          <p:nvPr/>
        </p:nvGrpSpPr>
        <p:grpSpPr>
          <a:xfrm>
            <a:off x="3876076" y="4367083"/>
            <a:ext cx="1362732" cy="170093"/>
            <a:chOff x="3876076" y="1745258"/>
            <a:chExt cx="1362732" cy="170093"/>
          </a:xfrm>
        </p:grpSpPr>
        <p:sp>
          <p:nvSpPr>
            <p:cNvPr id="112" name="타원 111"/>
            <p:cNvSpPr/>
            <p:nvPr/>
          </p:nvSpPr>
          <p:spPr>
            <a:xfrm>
              <a:off x="3876076" y="1773307"/>
              <a:ext cx="132600" cy="13285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144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3" name="자유형 112"/>
            <p:cNvSpPr/>
            <p:nvPr/>
          </p:nvSpPr>
          <p:spPr>
            <a:xfrm>
              <a:off x="3889845" y="1777547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4679014" y="1773307"/>
              <a:ext cx="132600" cy="13285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144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3990439" y="1745258"/>
              <a:ext cx="439620" cy="17009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사용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799188" y="1745258"/>
              <a:ext cx="439620" cy="17009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사용 안함</a:t>
              </a:r>
            </a:p>
          </p:txBody>
        </p:sp>
      </p:grpSp>
      <p:graphicFrame>
        <p:nvGraphicFramePr>
          <p:cNvPr id="183" name="표 18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273045"/>
              </p:ext>
            </p:extLst>
          </p:nvPr>
        </p:nvGraphicFramePr>
        <p:xfrm>
          <a:off x="2612145" y="4613478"/>
          <a:ext cx="6432364" cy="63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8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5256583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</a:tblGrid>
              <a:tr h="315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게시물 목록 </a:t>
                      </a:r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유형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767756"/>
                  </a:ext>
                </a:extLst>
              </a:tr>
              <a:tr h="315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게시물 답변 작성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63551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관리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3766746" y="1371279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schemeClr val="bg1">
                    <a:lumMod val="7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구성원 정보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2612145" y="1665759"/>
            <a:ext cx="6436183" cy="0"/>
          </a:xfrm>
          <a:prstGeom prst="line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538403"/>
              </p:ext>
            </p:extLst>
          </p:nvPr>
        </p:nvGraphicFramePr>
        <p:xfrm>
          <a:off x="2612145" y="2126063"/>
          <a:ext cx="6432364" cy="945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81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5256583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</a:tblGrid>
              <a:tr h="315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게시판명</a:t>
                      </a:r>
                      <a:r>
                        <a:rPr lang="en-US" altLang="ko-KR" sz="800" b="0" smtClean="0">
                          <a:solidFill>
                            <a:srgbClr val="FF0000"/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* </a:t>
                      </a:r>
                      <a:endParaRPr lang="ko-KR" altLang="en-US" sz="800" b="0">
                        <a:solidFill>
                          <a:srgbClr val="FF0000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A</a:t>
                      </a:r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315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위치</a:t>
                      </a:r>
                      <a:endParaRPr lang="ko-KR" altLang="en-US" sz="800" b="0">
                        <a:solidFill>
                          <a:srgbClr val="FF0000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일반 게시판</a:t>
                      </a:r>
                      <a:r>
                        <a:rPr lang="en-US" altLang="ko-KR" sz="800" b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A</a:t>
                      </a:r>
                      <a:endParaRPr lang="ko-KR" altLang="en-US" sz="8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666221"/>
                  </a:ext>
                </a:extLst>
              </a:tr>
              <a:tr h="315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유형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     </a:t>
                      </a:r>
                      <a:endParaRPr lang="ko-KR" altLang="en-US" sz="800" b="0">
                        <a:solidFill>
                          <a:srgbClr val="FF0000"/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735779"/>
                  </a:ext>
                </a:extLst>
              </a:tr>
            </a:tbl>
          </a:graphicData>
        </a:graphic>
      </p:graphicFrame>
      <p:sp>
        <p:nvSpPr>
          <p:cNvPr id="263" name="TextBox 26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관리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정보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정보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3828846" y="2206773"/>
            <a:ext cx="4211370" cy="16725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일반 게시판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A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458178"/>
              </p:ext>
            </p:extLst>
          </p:nvPr>
        </p:nvGraphicFramePr>
        <p:xfrm>
          <a:off x="2612145" y="3067497"/>
          <a:ext cx="6432364" cy="945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781">
                  <a:extLst>
                    <a:ext uri="{9D8B030D-6E8A-4147-A177-3AD203B41FA5}">
                      <a16:colId xmlns:a16="http://schemas.microsoft.com/office/drawing/2014/main" val="170658125"/>
                    </a:ext>
                  </a:extLst>
                </a:gridCol>
                <a:gridCol w="5256583">
                  <a:extLst>
                    <a:ext uri="{9D8B030D-6E8A-4147-A177-3AD203B41FA5}">
                      <a16:colId xmlns:a16="http://schemas.microsoft.com/office/drawing/2014/main" val="2751832217"/>
                    </a:ext>
                  </a:extLst>
                </a:gridCol>
              </a:tblGrid>
              <a:tr h="3152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권한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     글쓰기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959449"/>
                  </a:ext>
                </a:extLst>
              </a:tr>
              <a:tr h="315270"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     제목 읽기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141905"/>
                  </a:ext>
                </a:extLst>
              </a:tr>
              <a:tr h="315270">
                <a:tc>
                  <a:txBody>
                    <a:bodyPr/>
                    <a:lstStyle/>
                    <a:p>
                      <a:pPr latinLnBrk="1"/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B0600000101010101" charset="-127"/>
                          <a:ea typeface="나눔고딕" panose="020B0600000101010101" charset="-127"/>
                        </a:rPr>
                        <a:t>      본문 읽기</a:t>
                      </a:r>
                      <a:endParaRPr lang="ko-KR" altLang="en-US" sz="800" b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004544"/>
                  </a:ext>
                </a:extLst>
              </a:tr>
            </a:tbl>
          </a:graphicData>
        </a:graphic>
      </p:graphicFrame>
      <p:graphicFrame>
        <p:nvGraphicFramePr>
          <p:cNvPr id="212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145276"/>
              </p:ext>
            </p:extLst>
          </p:nvPr>
        </p:nvGraphicFramePr>
        <p:xfrm>
          <a:off x="9290533" y="786383"/>
          <a:ext cx="2835141" cy="46922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각 항목별 기능은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(RM)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기능과 동일</a:t>
                      </a:r>
                      <a:endParaRPr lang="ko-KR" altLang="en-US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01058"/>
                  </a:ext>
                </a:extLst>
              </a:tr>
            </a:tbl>
          </a:graphicData>
        </a:graphic>
      </p:graphicFrame>
      <p:sp>
        <p:nvSpPr>
          <p:cNvPr id="114" name="TextBox 113"/>
          <p:cNvSpPr txBox="1"/>
          <p:nvPr/>
        </p:nvSpPr>
        <p:spPr>
          <a:xfrm>
            <a:off x="8028053" y="2233073"/>
            <a:ext cx="914400" cy="140953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0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/00 Byte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51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699746" y="1779295"/>
            <a:ext cx="1738031" cy="488431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3"/>
            </p:custDataLst>
          </p:nvPr>
        </p:nvSpPr>
        <p:spPr>
          <a:xfrm>
            <a:off x="699746" y="1369720"/>
            <a:ext cx="1738031" cy="409575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813518" y="1461464"/>
            <a:ext cx="1262481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54" name="그림 153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4" y="1515177"/>
            <a:ext cx="125049" cy="125049"/>
          </a:xfrm>
          <a:prstGeom prst="rect">
            <a:avLst/>
          </a:prstGeom>
        </p:spPr>
      </p:pic>
      <p:sp>
        <p:nvSpPr>
          <p:cNvPr id="155" name="모서리가 둥근 직사각형 154"/>
          <p:cNvSpPr/>
          <p:nvPr/>
        </p:nvSpPr>
        <p:spPr>
          <a:xfrm>
            <a:off x="2070510" y="1461464"/>
            <a:ext cx="278539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56" name="그림 155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424" y="1504752"/>
            <a:ext cx="148907" cy="148907"/>
          </a:xfrm>
          <a:prstGeom prst="rect">
            <a:avLst/>
          </a:prstGeom>
        </p:spPr>
      </p:pic>
      <p:grpSp>
        <p:nvGrpSpPr>
          <p:cNvPr id="157" name="그룹 156"/>
          <p:cNvGrpSpPr/>
          <p:nvPr/>
        </p:nvGrpSpPr>
        <p:grpSpPr>
          <a:xfrm>
            <a:off x="813518" y="2115289"/>
            <a:ext cx="1218126" cy="288032"/>
            <a:chOff x="813518" y="1923311"/>
            <a:chExt cx="1218126" cy="288032"/>
          </a:xfrm>
        </p:grpSpPr>
        <p:grpSp>
          <p:nvGrpSpPr>
            <p:cNvPr id="158" name="그룹 157"/>
            <p:cNvGrpSpPr/>
            <p:nvPr/>
          </p:nvGrpSpPr>
          <p:grpSpPr>
            <a:xfrm>
              <a:off x="813518" y="1923311"/>
              <a:ext cx="1218126" cy="288032"/>
              <a:chOff x="737164" y="1715204"/>
              <a:chExt cx="1218126" cy="288032"/>
            </a:xfrm>
          </p:grpSpPr>
          <p:sp>
            <p:nvSpPr>
              <p:cNvPr id="166" name="TextBox 165"/>
              <p:cNvSpPr txBox="1"/>
              <p:nvPr/>
            </p:nvSpPr>
            <p:spPr>
              <a:xfrm>
                <a:off x="1040890" y="1715204"/>
                <a:ext cx="914400" cy="288032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no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폴더 게시판</a:t>
                </a:r>
                <a:r>
                  <a:rPr lang="en-US" altLang="ko-KR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167" name="TextBox 166"/>
              <p:cNvSpPr txBox="1"/>
              <p:nvPr/>
            </p:nvSpPr>
            <p:spPr>
              <a:xfrm>
                <a:off x="737164" y="1788129"/>
                <a:ext cx="125001" cy="12629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72000" rIns="72000" rtlCol="0" anchor="ctr">
                <a:noAutofit/>
              </a:bodyPr>
              <a:lstStyle/>
              <a:p>
                <a:pPr algn="ctr"/>
                <a:r>
                  <a:rPr lang="en-US" altLang="ko-KR" sz="1100" smtClean="0">
                    <a:solidFill>
                      <a:schemeClr val="bg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rPr>
                  <a:t>+</a:t>
                </a:r>
                <a:endParaRPr lang="ko-KR" altLang="en-US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endParaRPr>
              </a:p>
            </p:txBody>
          </p:sp>
        </p:grpSp>
        <p:pic>
          <p:nvPicPr>
            <p:cNvPr id="159" name="그림 158"/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698" y="2011808"/>
              <a:ext cx="110241" cy="110241"/>
            </a:xfrm>
            <a:prstGeom prst="rect">
              <a:avLst/>
            </a:prstGeom>
          </p:spPr>
        </p:pic>
      </p:grpSp>
      <p:sp>
        <p:nvSpPr>
          <p:cNvPr id="168" name="TextBox 167"/>
          <p:cNvSpPr txBox="1"/>
          <p:nvPr/>
        </p:nvSpPr>
        <p:spPr>
          <a:xfrm>
            <a:off x="1117935" y="2383978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폴더 게시판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814209" y="2453167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-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170" name="꺾인 연결선 169"/>
          <p:cNvCxnSpPr/>
          <p:nvPr/>
        </p:nvCxnSpPr>
        <p:spPr>
          <a:xfrm rot="16200000" flipH="1">
            <a:off x="978258" y="2667052"/>
            <a:ext cx="214198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/>
          <p:nvPr/>
        </p:nvCxnSpPr>
        <p:spPr>
          <a:xfrm rot="16200000" flipH="1">
            <a:off x="837514" y="2798271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그룹 171"/>
          <p:cNvGrpSpPr/>
          <p:nvPr/>
        </p:nvGrpSpPr>
        <p:grpSpPr>
          <a:xfrm>
            <a:off x="1122212" y="2737687"/>
            <a:ext cx="914400" cy="717200"/>
            <a:chOff x="1144827" y="2270952"/>
            <a:chExt cx="914400" cy="717200"/>
          </a:xfrm>
        </p:grpSpPr>
        <p:sp>
          <p:nvSpPr>
            <p:cNvPr id="173" name="TextBox 172"/>
            <p:cNvSpPr txBox="1"/>
            <p:nvPr/>
          </p:nvSpPr>
          <p:spPr>
            <a:xfrm>
              <a:off x="1144827" y="2270952"/>
              <a:ext cx="914400" cy="17142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A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게시판</a:t>
              </a: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144827" y="2543839"/>
              <a:ext cx="914400" cy="17142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일반 게시판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B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144827" y="2816726"/>
              <a:ext cx="914400" cy="17142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일반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게시판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C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cxnSp>
        <p:nvCxnSpPr>
          <p:cNvPr id="176" name="꺾인 연결선 175"/>
          <p:cNvCxnSpPr/>
          <p:nvPr/>
        </p:nvCxnSpPr>
        <p:spPr>
          <a:xfrm rot="16200000" flipH="1">
            <a:off x="837515" y="3072590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" name="그림 179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81" y="2452952"/>
            <a:ext cx="123607" cy="123607"/>
          </a:xfrm>
          <a:prstGeom prst="rect">
            <a:avLst/>
          </a:prstGeom>
        </p:spPr>
      </p:pic>
      <p:pic>
        <p:nvPicPr>
          <p:cNvPr id="184" name="그림 183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04" y="3628826"/>
            <a:ext cx="123607" cy="123607"/>
          </a:xfrm>
          <a:prstGeom prst="rect">
            <a:avLst/>
          </a:prstGeom>
        </p:spPr>
      </p:pic>
      <p:sp>
        <p:nvSpPr>
          <p:cNvPr id="185" name="모서리가 둥근 직사각형 184"/>
          <p:cNvSpPr/>
          <p:nvPr/>
        </p:nvSpPr>
        <p:spPr>
          <a:xfrm>
            <a:off x="1326627" y="3608089"/>
            <a:ext cx="947463" cy="180951"/>
          </a:xfrm>
          <a:prstGeom prst="roundRect">
            <a:avLst/>
          </a:prstGeom>
          <a:noFill/>
          <a:ln w="3175">
            <a:noFill/>
          </a:ln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폴더 게시판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2-1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1013635" y="3629695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+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187" name="꺾인 연결선 186"/>
          <p:cNvCxnSpPr>
            <a:stCxn id="169" idx="2"/>
            <a:endCxn id="186" idx="1"/>
          </p:cNvCxnSpPr>
          <p:nvPr/>
        </p:nvCxnSpPr>
        <p:spPr>
          <a:xfrm rot="16200000" flipH="1">
            <a:off x="388481" y="3067686"/>
            <a:ext cx="1113383" cy="136925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모서리가 둥근 직사각형 212"/>
          <p:cNvSpPr/>
          <p:nvPr/>
        </p:nvSpPr>
        <p:spPr>
          <a:xfrm>
            <a:off x="1151284" y="2736617"/>
            <a:ext cx="690335" cy="180951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일반 게시판</a:t>
            </a:r>
            <a:r>
              <a:rPr lang="en-US" altLang="ko-KR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A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0222328" y="308595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BH4.1.1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396511" y="1845626"/>
            <a:ext cx="914400" cy="2839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b="1" smtClean="0">
                <a:solidFill>
                  <a:srgbClr val="FF0000"/>
                </a:solidFill>
                <a:latin typeface="나눔고딕" panose="020B0600000101010101" charset="-127"/>
                <a:ea typeface="나눔고딕" panose="020B0600000101010101" charset="-127"/>
              </a:rPr>
              <a:t>* </a:t>
            </a:r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필수 입력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71986" y="1843621"/>
            <a:ext cx="914400" cy="2839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endParaRPr lang="ko-KR" altLang="en-US" sz="900" b="1" smtClean="0">
              <a:solidFill>
                <a:schemeClr val="tx1">
                  <a:lumMod val="95000"/>
                  <a:lumOff val="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32" name="그룹 131"/>
          <p:cNvGrpSpPr/>
          <p:nvPr/>
        </p:nvGrpSpPr>
        <p:grpSpPr>
          <a:xfrm>
            <a:off x="3843054" y="5722173"/>
            <a:ext cx="3732666" cy="277391"/>
            <a:chOff x="3310065" y="2551956"/>
            <a:chExt cx="3732666" cy="277391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5916247" y="2551956"/>
              <a:ext cx="1126484" cy="277391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 smtClean="0">
                  <a:solidFill>
                    <a:schemeClr val="bg1"/>
                  </a:solidFill>
                  <a:latin typeface="+mj-ea"/>
                  <a:ea typeface="+mj-ea"/>
                </a:rPr>
                <a:t>저장</a:t>
              </a:r>
              <a:endParaRPr lang="ko-KR" altLang="en-US" sz="9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34" name="모서리가 둥근 직사각형 133"/>
            <p:cNvSpPr/>
            <p:nvPr/>
          </p:nvSpPr>
          <p:spPr>
            <a:xfrm>
              <a:off x="4610105" y="2551956"/>
              <a:ext cx="1126484" cy="27739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rebuchet MS" panose="020B0603020202020204" pitchFamily="34" charset="0"/>
                  <a:ea typeface="나눔고딕" pitchFamily="50" charset="-127"/>
                </a:rPr>
                <a:t>취소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35" name="모서리가 둥근 직사각형 134"/>
            <p:cNvSpPr/>
            <p:nvPr/>
          </p:nvSpPr>
          <p:spPr>
            <a:xfrm>
              <a:off x="3310065" y="2551956"/>
              <a:ext cx="1126484" cy="27739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rebuchet MS" panose="020B0603020202020204" pitchFamily="34" charset="0"/>
                  <a:ea typeface="나눔고딕" pitchFamily="50" charset="-127"/>
                </a:rPr>
                <a:t>삭제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2612145" y="1844824"/>
            <a:ext cx="914400" cy="28390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기본 정보</a:t>
            </a:r>
          </a:p>
        </p:txBody>
      </p:sp>
      <p:sp>
        <p:nvSpPr>
          <p:cNvPr id="2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4"/>
            </p:custDataLst>
          </p:nvPr>
        </p:nvSpPr>
        <p:spPr>
          <a:xfrm>
            <a:off x="2762006" y="1371279"/>
            <a:ext cx="1021484" cy="294480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b="1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게시판 정보</a:t>
            </a:r>
            <a:endParaRPr 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grpSp>
        <p:nvGrpSpPr>
          <p:cNvPr id="12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3883948" y="3176813"/>
            <a:ext cx="107839" cy="109736"/>
            <a:chOff x="554563" y="2632644"/>
            <a:chExt cx="131556" cy="131556"/>
          </a:xfrm>
        </p:grpSpPr>
        <p:sp>
          <p:nvSpPr>
            <p:cNvPr id="12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4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3883948" y="3492291"/>
            <a:ext cx="107839" cy="109736"/>
            <a:chOff x="554563" y="2632644"/>
            <a:chExt cx="131556" cy="131556"/>
          </a:xfrm>
        </p:grpSpPr>
        <p:sp>
          <p:nvSpPr>
            <p:cNvPr id="12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7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3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3883948" y="3806798"/>
            <a:ext cx="107839" cy="109736"/>
            <a:chOff x="554563" y="2632644"/>
            <a:chExt cx="131556" cy="131556"/>
          </a:xfrm>
        </p:grpSpPr>
        <p:sp>
          <p:nvSpPr>
            <p:cNvPr id="14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2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3" name="그룹 92"/>
          <p:cNvGrpSpPr/>
          <p:nvPr/>
        </p:nvGrpSpPr>
        <p:grpSpPr>
          <a:xfrm>
            <a:off x="3819321" y="2840757"/>
            <a:ext cx="1494155" cy="183428"/>
            <a:chOff x="4055390" y="4077083"/>
            <a:chExt cx="1494155" cy="183428"/>
          </a:xfrm>
        </p:grpSpPr>
        <p:sp>
          <p:nvSpPr>
            <p:cNvPr id="95" name="직사각형 94"/>
            <p:cNvSpPr/>
            <p:nvPr/>
          </p:nvSpPr>
          <p:spPr>
            <a:xfrm>
              <a:off x="4055390" y="4077083"/>
              <a:ext cx="1465679" cy="167253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lIns="36000" tIns="36000" rIns="36000" bIns="36000" rtlCol="0" anchor="ctr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itchFamily="50" charset="-127"/>
                  <a:ea typeface="나눔고딕" pitchFamily="50" charset="-127"/>
                </a:rPr>
                <a:t>공개 게시판</a:t>
              </a: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 rot="5400000">
              <a:off x="5352546" y="4063513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102" name="모서리가 둥근 직사각형 101"/>
          <p:cNvSpPr/>
          <p:nvPr/>
        </p:nvSpPr>
        <p:spPr>
          <a:xfrm>
            <a:off x="1594976" y="1863602"/>
            <a:ext cx="754479" cy="2082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게시판 </a:t>
            </a:r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 rot="5400000">
            <a:off x="5311307" y="2505473"/>
            <a:ext cx="155817" cy="238180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&gt;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108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8"/>
            </p:custDataLst>
          </p:nvPr>
        </p:nvSpPr>
        <p:spPr>
          <a:xfrm>
            <a:off x="4533538" y="2504339"/>
            <a:ext cx="986398" cy="198631"/>
          </a:xfrm>
          <a:prstGeom prst="rect">
            <a:avLst/>
          </a:prstGeom>
          <a:noFill/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smtClean="0">
                <a:solidFill>
                  <a:srgbClr val="5F5F5F"/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하위로 이동</a:t>
            </a:r>
            <a:endParaRPr lang="en-US" sz="800" dirty="0">
              <a:solidFill>
                <a:srgbClr val="5F5F5F"/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5541640" y="2515238"/>
            <a:ext cx="914400" cy="19368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//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위로 이동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,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아래로 이동</a:t>
            </a: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2628899" y="2432696"/>
            <a:ext cx="6429375" cy="323850"/>
          </a:xfrm>
          <a:prstGeom prst="roundRect">
            <a:avLst>
              <a:gd name="adj" fmla="val 8975"/>
            </a:avLst>
          </a:prstGeom>
          <a:noFill/>
          <a:ln>
            <a:solidFill>
              <a:srgbClr val="0000FF"/>
            </a:solidFill>
            <a:prstDash val="sysDot"/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17592" y="2775178"/>
            <a:ext cx="2602607" cy="524292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ko-KR" altLang="en-US" sz="800" smtClean="0">
                <a:solidFill>
                  <a:srgbClr val="0000FF"/>
                </a:solidFill>
                <a:latin typeface="나눔고딕" panose="020B0600000101010101" charset="-127"/>
                <a:ea typeface="나눔고딕" panose="020B0600000101010101" charset="-127"/>
              </a:rPr>
              <a:t>게시판 위치 지정은 신규 게시판 최초 생성시에만 출력</a:t>
            </a:r>
            <a:endParaRPr lang="en-US" altLang="ko-KR" sz="800" smtClean="0">
              <a:solidFill>
                <a:srgbClr val="0000FF"/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smtClean="0">
                <a:solidFill>
                  <a:srgbClr val="0000FF"/>
                </a:solidFill>
                <a:latin typeface="나눔고딕" panose="020B0600000101010101" charset="-127"/>
                <a:ea typeface="나눔고딕" panose="020B0600000101010101" charset="-127"/>
              </a:rPr>
              <a:t>수정시에는 출력하지 않음</a:t>
            </a:r>
            <a:endParaRPr lang="en-US" altLang="ko-KR" sz="800" smtClean="0">
              <a:solidFill>
                <a:srgbClr val="0000FF"/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endParaRPr lang="en-US" altLang="ko-KR" sz="800">
              <a:solidFill>
                <a:srgbClr val="0000FF"/>
              </a:solidFill>
              <a:latin typeface="나눔고딕" panose="020B0600000101010101" charset="-127"/>
              <a:ea typeface="나눔고딕" panose="020B0600000101010101" charset="-127"/>
            </a:endParaRPr>
          </a:p>
          <a:p>
            <a:r>
              <a:rPr lang="ko-KR" altLang="en-US" sz="800" smtClean="0">
                <a:solidFill>
                  <a:srgbClr val="0000FF"/>
                </a:solidFill>
                <a:latin typeface="나눔고딕" panose="020B0600000101010101" charset="-127"/>
                <a:ea typeface="나눔고딕" panose="020B0600000101010101" charset="-127"/>
              </a:rPr>
              <a:t>기준게시판 지정 방식은 </a:t>
            </a:r>
            <a:r>
              <a:rPr lang="en-US" altLang="ko-KR" sz="800" smtClean="0">
                <a:solidFill>
                  <a:srgbClr val="0000FF"/>
                </a:solidFill>
                <a:latin typeface="나눔고딕" panose="020B0600000101010101" charset="-127"/>
                <a:ea typeface="나눔고딕" panose="020B0600000101010101" charset="-127"/>
              </a:rPr>
              <a:t>as-is </a:t>
            </a:r>
            <a:r>
              <a:rPr lang="ko-KR" altLang="en-US" sz="800" smtClean="0">
                <a:solidFill>
                  <a:srgbClr val="0000FF"/>
                </a:solidFill>
                <a:latin typeface="나눔고딕" panose="020B0600000101010101" charset="-127"/>
                <a:ea typeface="나눔고딕" panose="020B0600000101010101" charset="-127"/>
              </a:rPr>
              <a:t>동일</a:t>
            </a:r>
          </a:p>
        </p:txBody>
      </p:sp>
      <p:grpSp>
        <p:nvGrpSpPr>
          <p:cNvPr id="149" name="그룹 148"/>
          <p:cNvGrpSpPr/>
          <p:nvPr/>
        </p:nvGrpSpPr>
        <p:grpSpPr>
          <a:xfrm>
            <a:off x="3868528" y="4687587"/>
            <a:ext cx="1362732" cy="170093"/>
            <a:chOff x="4001187" y="5097524"/>
            <a:chExt cx="1362732" cy="170093"/>
          </a:xfrm>
        </p:grpSpPr>
        <p:sp>
          <p:nvSpPr>
            <p:cNvPr id="150" name="타원 149"/>
            <p:cNvSpPr/>
            <p:nvPr/>
          </p:nvSpPr>
          <p:spPr>
            <a:xfrm>
              <a:off x="4001187" y="5125573"/>
              <a:ext cx="132600" cy="13285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144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60" name="자유형 159"/>
            <p:cNvSpPr/>
            <p:nvPr/>
          </p:nvSpPr>
          <p:spPr>
            <a:xfrm>
              <a:off x="4014956" y="5129813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1" name="타원 160"/>
            <p:cNvSpPr/>
            <p:nvPr/>
          </p:nvSpPr>
          <p:spPr>
            <a:xfrm>
              <a:off x="4804125" y="5125573"/>
              <a:ext cx="132600" cy="13285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144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4115550" y="5097524"/>
              <a:ext cx="439620" cy="17009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순차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924299" y="5097524"/>
              <a:ext cx="439620" cy="17009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쓰레드</a:t>
              </a:r>
            </a:p>
          </p:txBody>
        </p:sp>
      </p:grpSp>
      <p:grpSp>
        <p:nvGrpSpPr>
          <p:cNvPr id="164" name="그룹 163"/>
          <p:cNvGrpSpPr/>
          <p:nvPr/>
        </p:nvGrpSpPr>
        <p:grpSpPr>
          <a:xfrm>
            <a:off x="3868528" y="5004194"/>
            <a:ext cx="1362732" cy="170093"/>
            <a:chOff x="3849478" y="2886176"/>
            <a:chExt cx="1362732" cy="170093"/>
          </a:xfrm>
        </p:grpSpPr>
        <p:sp>
          <p:nvSpPr>
            <p:cNvPr id="165" name="타원 164"/>
            <p:cNvSpPr/>
            <p:nvPr/>
          </p:nvSpPr>
          <p:spPr>
            <a:xfrm>
              <a:off x="3849478" y="2914225"/>
              <a:ext cx="132600" cy="13285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144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77" name="자유형 176"/>
            <p:cNvSpPr/>
            <p:nvPr/>
          </p:nvSpPr>
          <p:spPr>
            <a:xfrm>
              <a:off x="3863247" y="2918465"/>
              <a:ext cx="123825" cy="100482"/>
            </a:xfrm>
            <a:custGeom>
              <a:avLst/>
              <a:gdLst>
                <a:gd name="connsiteX0" fmla="*/ 0 w 190500"/>
                <a:gd name="connsiteY0" fmla="*/ 95250 h 209550"/>
                <a:gd name="connsiteX1" fmla="*/ 76200 w 190500"/>
                <a:gd name="connsiteY1" fmla="*/ 209550 h 209550"/>
                <a:gd name="connsiteX2" fmla="*/ 190500 w 190500"/>
                <a:gd name="connsiteY2" fmla="*/ 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0500" h="209550">
                  <a:moveTo>
                    <a:pt x="0" y="95250"/>
                  </a:moveTo>
                  <a:lnTo>
                    <a:pt x="76200" y="209550"/>
                  </a:lnTo>
                  <a:lnTo>
                    <a:pt x="190500" y="0"/>
                  </a:lnTo>
                </a:path>
              </a:pathLst>
            </a:custGeom>
            <a:no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타원 177"/>
            <p:cNvSpPr/>
            <p:nvPr/>
          </p:nvSpPr>
          <p:spPr>
            <a:xfrm>
              <a:off x="4652416" y="2914225"/>
              <a:ext cx="132600" cy="132850"/>
            </a:xfrm>
            <a:prstGeom prst="ellipse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lIns="144000" tIns="36000" rIns="36000" bIns="36000" rtlCol="0" anchor="ctr">
              <a:noAutofit/>
            </a:bodyPr>
            <a:lstStyle/>
            <a:p>
              <a:pPr algn="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3963841" y="2886176"/>
              <a:ext cx="439620" cy="17009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사용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4772590" y="2886176"/>
              <a:ext cx="439620" cy="170093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사용 안함</a:t>
              </a:r>
            </a:p>
          </p:txBody>
        </p:sp>
      </p:grpSp>
      <p:grpSp>
        <p:nvGrpSpPr>
          <p:cNvPr id="10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3883460" y="4107591"/>
            <a:ext cx="107839" cy="109736"/>
            <a:chOff x="554563" y="2632644"/>
            <a:chExt cx="131556" cy="131556"/>
          </a:xfrm>
        </p:grpSpPr>
        <p:sp>
          <p:nvSpPr>
            <p:cNvPr id="10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1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4689613" y="4107591"/>
            <a:ext cx="107839" cy="109736"/>
            <a:chOff x="554563" y="2632644"/>
            <a:chExt cx="131556" cy="131556"/>
          </a:xfrm>
        </p:grpSpPr>
        <p:sp>
          <p:nvSpPr>
            <p:cNvPr id="12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788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5400" y="1340768"/>
            <a:ext cx="67474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COP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게시판 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게시판 관리 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&gt;</a:t>
            </a:r>
            <a:r>
              <a:rPr kumimoji="1" lang="en-US" altLang="ko-KR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1" lang="ko-KR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구성원 정보</a:t>
            </a:r>
            <a:endParaRPr kumimoji="1" lang="ko-KR" altLang="en-US" sz="28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75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3"/>
          <p:cNvSpPr txBox="1">
            <a:spLocks/>
          </p:cNvSpPr>
          <p:nvPr/>
        </p:nvSpPr>
        <p:spPr>
          <a:xfrm>
            <a:off x="990126" y="404664"/>
            <a:ext cx="8568952" cy="3332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spc="-100" baseline="0">
                <a:solidFill>
                  <a:srgbClr val="0B55B5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kumimoji="0" lang="en-US" altLang="ko-KR" sz="1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anose="020B0600000101010101" charset="-127"/>
              </a:rPr>
              <a:t>Location</a:t>
            </a:r>
            <a:endParaRPr kumimoji="0" lang="ko-KR" altLang="en-US" sz="1600" b="0" dirty="0" smtClean="0">
              <a:solidFill>
                <a:schemeClr val="tx1">
                  <a:lumMod val="75000"/>
                  <a:lumOff val="25000"/>
                </a:schemeClr>
              </a:solidFill>
              <a:latin typeface="Trebuchet MS" panose="020B0603020202020204" pitchFamily="34" charset="0"/>
              <a:ea typeface="나눔고딕" panose="020B0600000101010101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011629"/>
              </p:ext>
            </p:extLst>
          </p:nvPr>
        </p:nvGraphicFramePr>
        <p:xfrm>
          <a:off x="990126" y="1050330"/>
          <a:ext cx="6582781" cy="10488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1512">
                  <a:extLst>
                    <a:ext uri="{9D8B030D-6E8A-4147-A177-3AD203B41FA5}">
                      <a16:colId xmlns:a16="http://schemas.microsoft.com/office/drawing/2014/main" val="1349838453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3375671333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148483404"/>
                    </a:ext>
                  </a:extLst>
                </a:gridCol>
                <a:gridCol w="1311512">
                  <a:extLst>
                    <a:ext uri="{9D8B030D-6E8A-4147-A177-3AD203B41FA5}">
                      <a16:colId xmlns:a16="http://schemas.microsoft.com/office/drawing/2014/main" val="632755251"/>
                    </a:ext>
                  </a:extLst>
                </a:gridCol>
                <a:gridCol w="1336733">
                  <a:extLst>
                    <a:ext uri="{9D8B030D-6E8A-4147-A177-3AD203B41FA5}">
                      <a16:colId xmlns:a16="http://schemas.microsoft.com/office/drawing/2014/main" val="1469623920"/>
                    </a:ext>
                  </a:extLst>
                </a:gridCol>
              </a:tblGrid>
              <a:tr h="26221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u="none" strike="noStrike" smtClean="0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COP</a:t>
                      </a:r>
                      <a:r>
                        <a:rPr lang="ko-KR" altLang="en-US" sz="900" u="none" strike="noStrike" smtClean="0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7593"/>
                  </a:ext>
                </a:extLst>
              </a:tr>
              <a:tr h="2622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관리</a:t>
                      </a:r>
                      <a:endParaRPr lang="ko-KR" altLang="en-US" sz="900" b="0" i="0" u="none" strike="noStrike">
                        <a:solidFill>
                          <a:srgbClr val="0D0D0D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5279901"/>
                  </a:ext>
                </a:extLst>
              </a:tr>
              <a:tr h="2622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　</a:t>
                      </a:r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정보</a:t>
                      </a:r>
                      <a:endParaRPr lang="ko-KR" altLang="en-US" sz="9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085347"/>
                  </a:ext>
                </a:extLst>
              </a:tr>
              <a:tr h="262213"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smtClean="0">
                          <a:solidFill>
                            <a:srgbClr val="FFFF00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구성원 정보</a:t>
                      </a:r>
                      <a:endParaRPr lang="ko-KR" altLang="en-US" sz="900" b="1" i="0" u="none" strike="noStrike">
                        <a:solidFill>
                          <a:srgbClr val="FFFF00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72000" marR="72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236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95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표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2710"/>
              </p:ext>
            </p:extLst>
          </p:nvPr>
        </p:nvGraphicFramePr>
        <p:xfrm>
          <a:off x="2612145" y="1916832"/>
          <a:ext cx="6436183" cy="3125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880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996727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2003648">
                  <a:extLst>
                    <a:ext uri="{9D8B030D-6E8A-4147-A177-3AD203B41FA5}">
                      <a16:colId xmlns:a16="http://schemas.microsoft.com/office/drawing/2014/main" val="3890456588"/>
                    </a:ext>
                  </a:extLst>
                </a:gridCol>
                <a:gridCol w="795232">
                  <a:extLst>
                    <a:ext uri="{9D8B030D-6E8A-4147-A177-3AD203B41FA5}">
                      <a16:colId xmlns:a16="http://schemas.microsoft.com/office/drawing/2014/main" val="2754967103"/>
                    </a:ext>
                  </a:extLst>
                </a:gridCol>
                <a:gridCol w="795232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795232">
                  <a:extLst>
                    <a:ext uri="{9D8B030D-6E8A-4147-A177-3AD203B41FA5}">
                      <a16:colId xmlns:a16="http://schemas.microsoft.com/office/drawing/2014/main" val="3472260161"/>
                    </a:ext>
                  </a:extLst>
                </a:gridCol>
                <a:gridCol w="795232">
                  <a:extLst>
                    <a:ext uri="{9D8B030D-6E8A-4147-A177-3AD203B41FA5}">
                      <a16:colId xmlns:a16="http://schemas.microsoft.com/office/drawing/2014/main" val="964459476"/>
                    </a:ext>
                  </a:extLst>
                </a:gridCol>
              </a:tblGrid>
              <a:tr h="432050">
                <a:tc gridSpan="7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80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80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marL="180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91398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사용자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관리자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글쓰기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     제목 읽기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     본문 읽기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전체 사용자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이길수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제품기획팀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0115677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233551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315949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657543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255715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232417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anchor="ctr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972474"/>
                  </a:ext>
                </a:extLst>
              </a:tr>
            </a:tbl>
          </a:graphicData>
        </a:graphic>
      </p:graphicFrame>
      <p:sp>
        <p:nvSpPr>
          <p:cNvPr id="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"/>
            </p:custDataLst>
          </p:nvPr>
        </p:nvSpPr>
        <p:spPr>
          <a:xfrm>
            <a:off x="2762006" y="1371279"/>
            <a:ext cx="1021484" cy="29448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schemeClr val="bg1">
                    <a:lumMod val="7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게시판 정보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sp>
        <p:nvSpPr>
          <p:cNvPr id="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2"/>
            </p:custDataLst>
          </p:nvPr>
        </p:nvSpPr>
        <p:spPr>
          <a:xfrm>
            <a:off x="3766746" y="1371279"/>
            <a:ext cx="1021484" cy="294480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lang="ko-KR" altLang="en-US" sz="800" smtClean="0">
                <a:solidFill>
                  <a:schemeClr val="tx1">
                    <a:lumMod val="95000"/>
                    <a:lumOff val="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rPr>
              <a:t>구성원 정보</a:t>
            </a:r>
            <a:endParaRPr lang="en-US" sz="800" dirty="0">
              <a:solidFill>
                <a:schemeClr val="tx1">
                  <a:lumMod val="95000"/>
                  <a:lumOff val="5000"/>
                </a:schemeClr>
              </a:solidFill>
              <a:latin typeface="나눔고딕" panose="020B0600000101010101" charset="-127"/>
              <a:ea typeface="나눔고딕" panose="020B0600000101010101" charset="-127"/>
              <a:cs typeface="Segoe UI" panose="020B0502040204020203" pitchFamily="34" charset="0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2612145" y="1665759"/>
            <a:ext cx="6436183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0" name="모서리가 둥근 직사각형 129"/>
          <p:cNvSpPr/>
          <p:nvPr/>
        </p:nvSpPr>
        <p:spPr>
          <a:xfrm>
            <a:off x="2677388" y="2015829"/>
            <a:ext cx="966607" cy="2266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+mj-ea"/>
                <a:ea typeface="+mj-ea"/>
              </a:rPr>
              <a:t>구성원 </a:t>
            </a:r>
            <a:r>
              <a:rPr lang="ko-KR" altLang="en-US" sz="800">
                <a:solidFill>
                  <a:schemeClr val="bg1"/>
                </a:solidFill>
                <a:latin typeface="+mj-ea"/>
                <a:ea typeface="+mj-ea"/>
              </a:rPr>
              <a:t>추가</a:t>
            </a:r>
            <a:endParaRPr lang="ko-KR" altLang="en-US" sz="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관리 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&gt;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구성원 정보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구성원 정보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0573" y="870836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게시판 관리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38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3"/>
            </p:custDataLst>
          </p:nvPr>
        </p:nvGrpSpPr>
        <p:grpSpPr>
          <a:xfrm>
            <a:off x="6760420" y="2409675"/>
            <a:ext cx="107839" cy="109736"/>
            <a:chOff x="554563" y="2632644"/>
            <a:chExt cx="131556" cy="131556"/>
          </a:xfrm>
        </p:grpSpPr>
        <p:sp>
          <p:nvSpPr>
            <p:cNvPr id="38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7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4"/>
            </p:custDataLst>
          </p:nvPr>
        </p:nvGrpSpPr>
        <p:grpSpPr>
          <a:xfrm>
            <a:off x="7570068" y="2409675"/>
            <a:ext cx="107839" cy="109736"/>
            <a:chOff x="554563" y="2632644"/>
            <a:chExt cx="131556" cy="131556"/>
          </a:xfrm>
        </p:grpSpPr>
        <p:sp>
          <p:nvSpPr>
            <p:cNvPr id="39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7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3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9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8362156" y="2409675"/>
            <a:ext cx="107839" cy="109736"/>
            <a:chOff x="554563" y="2632644"/>
            <a:chExt cx="131556" cy="131556"/>
          </a:xfrm>
        </p:grpSpPr>
        <p:sp>
          <p:nvSpPr>
            <p:cNvPr id="39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7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9" name="모서리가 둥근 직사각형 288"/>
          <p:cNvSpPr/>
          <p:nvPr/>
        </p:nvSpPr>
        <p:spPr>
          <a:xfrm>
            <a:off x="3763169" y="2015829"/>
            <a:ext cx="470511" cy="22664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Trebuchet MS" panose="020B0603020202020204" pitchFamily="34" charset="0"/>
                <a:ea typeface="나눔고딕" pitchFamily="50" charset="-127"/>
              </a:rPr>
              <a:t>삭제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50" name="모서리가 둥근 직사각형 349"/>
          <p:cNvSpPr/>
          <p:nvPr/>
        </p:nvSpPr>
        <p:spPr>
          <a:xfrm>
            <a:off x="4334431" y="2015829"/>
            <a:ext cx="470511" cy="2266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  <a:prstDash val="solid"/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>
                <a:solidFill>
                  <a:schemeClr val="bg1"/>
                </a:solidFill>
                <a:latin typeface="+mj-ea"/>
                <a:ea typeface="+mj-ea"/>
              </a:rPr>
              <a:t>저장</a:t>
            </a:r>
            <a:endParaRPr lang="ko-KR" altLang="en-US" sz="8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2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2682652" y="2409675"/>
            <a:ext cx="107839" cy="109736"/>
            <a:chOff x="554563" y="2632644"/>
            <a:chExt cx="131556" cy="131556"/>
          </a:xfrm>
        </p:grpSpPr>
        <p:sp>
          <p:nvSpPr>
            <p:cNvPr id="42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0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7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7"/>
            </p:custDataLst>
          </p:nvPr>
        </p:nvGrpSpPr>
        <p:grpSpPr>
          <a:xfrm>
            <a:off x="2682652" y="2652058"/>
            <a:ext cx="107839" cy="109736"/>
            <a:chOff x="554563" y="2632644"/>
            <a:chExt cx="131556" cy="131556"/>
          </a:xfrm>
          <a:solidFill>
            <a:schemeClr val="bg1">
              <a:lumMod val="95000"/>
            </a:schemeClr>
          </a:solidFill>
        </p:grpSpPr>
        <p:sp>
          <p:nvSpPr>
            <p:cNvPr id="9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6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2682652" y="2884019"/>
            <a:ext cx="107839" cy="109736"/>
            <a:chOff x="554563" y="2632644"/>
            <a:chExt cx="131556" cy="131556"/>
          </a:xfrm>
        </p:grpSpPr>
        <p:sp>
          <p:nvSpPr>
            <p:cNvPr id="9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7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6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7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9"/>
            </p:custDataLst>
          </p:nvPr>
        </p:nvGrpSpPr>
        <p:grpSpPr>
          <a:xfrm>
            <a:off x="2682652" y="3146909"/>
            <a:ext cx="107839" cy="109736"/>
            <a:chOff x="554563" y="2632644"/>
            <a:chExt cx="131556" cy="131556"/>
          </a:xfrm>
        </p:grpSpPr>
        <p:sp>
          <p:nvSpPr>
            <p:cNvPr id="9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6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2682652" y="3394559"/>
            <a:ext cx="107839" cy="109736"/>
            <a:chOff x="554563" y="2632644"/>
            <a:chExt cx="131556" cy="131556"/>
          </a:xfrm>
        </p:grpSpPr>
        <p:sp>
          <p:nvSpPr>
            <p:cNvPr id="16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6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6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2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1"/>
            </p:custDataLst>
          </p:nvPr>
        </p:nvSpPr>
        <p:spPr>
          <a:xfrm>
            <a:off x="699746" y="1779295"/>
            <a:ext cx="1738031" cy="488431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3" name="Window Body" descr="&lt;SmartSettings&gt;&lt;SmartResize anchorLeft=&quot;Absolute&quot; anchorTop=&quot;Absolute&quot; anchorRight=&quot;Absolute&quot; anchorBottom=&quot;Absolute&quot; /&gt;&lt;/SmartSettings&gt;"/>
          <p:cNvSpPr/>
          <p:nvPr>
            <p:custDataLst>
              <p:tags r:id="rId12"/>
            </p:custDataLst>
          </p:nvPr>
        </p:nvSpPr>
        <p:spPr>
          <a:xfrm>
            <a:off x="699746" y="1369720"/>
            <a:ext cx="1738031" cy="409575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4" name="모서리가 둥근 직사각형 183"/>
          <p:cNvSpPr/>
          <p:nvPr/>
        </p:nvSpPr>
        <p:spPr>
          <a:xfrm>
            <a:off x="813518" y="1461464"/>
            <a:ext cx="1262481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/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85" name="그림 184"/>
          <p:cNvPicPr>
            <a:picLocks noChangeAspect="1"/>
          </p:cNvPicPr>
          <p:nvPr/>
        </p:nvPicPr>
        <p:blipFill>
          <a:blip r:embed="rId7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04" y="1515177"/>
            <a:ext cx="125049" cy="125049"/>
          </a:xfrm>
          <a:prstGeom prst="rect">
            <a:avLst/>
          </a:prstGeom>
        </p:spPr>
      </p:pic>
      <p:sp>
        <p:nvSpPr>
          <p:cNvPr id="186" name="모서리가 둥근 직사각형 185"/>
          <p:cNvSpPr/>
          <p:nvPr/>
        </p:nvSpPr>
        <p:spPr>
          <a:xfrm>
            <a:off x="2070510" y="1461464"/>
            <a:ext cx="278539" cy="22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 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pic>
        <p:nvPicPr>
          <p:cNvPr id="187" name="그림 186"/>
          <p:cNvPicPr>
            <a:picLocks noChangeAspect="1"/>
          </p:cNvPicPr>
          <p:nvPr/>
        </p:nvPicPr>
        <p:blipFill>
          <a:blip r:embed="rId7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424" y="1504752"/>
            <a:ext cx="148907" cy="148907"/>
          </a:xfrm>
          <a:prstGeom prst="rect">
            <a:avLst/>
          </a:prstGeom>
        </p:spPr>
      </p:pic>
      <p:grpSp>
        <p:nvGrpSpPr>
          <p:cNvPr id="188" name="그룹 187"/>
          <p:cNvGrpSpPr/>
          <p:nvPr/>
        </p:nvGrpSpPr>
        <p:grpSpPr>
          <a:xfrm>
            <a:off x="813518" y="2115289"/>
            <a:ext cx="1218126" cy="288032"/>
            <a:chOff x="813518" y="1923311"/>
            <a:chExt cx="1218126" cy="288032"/>
          </a:xfrm>
        </p:grpSpPr>
        <p:grpSp>
          <p:nvGrpSpPr>
            <p:cNvPr id="189" name="그룹 188"/>
            <p:cNvGrpSpPr/>
            <p:nvPr/>
          </p:nvGrpSpPr>
          <p:grpSpPr>
            <a:xfrm>
              <a:off x="813518" y="1923311"/>
              <a:ext cx="1218126" cy="288032"/>
              <a:chOff x="737164" y="1715204"/>
              <a:chExt cx="1218126" cy="288032"/>
            </a:xfrm>
          </p:grpSpPr>
          <p:sp>
            <p:nvSpPr>
              <p:cNvPr id="198" name="TextBox 197"/>
              <p:cNvSpPr txBox="1"/>
              <p:nvPr/>
            </p:nvSpPr>
            <p:spPr>
              <a:xfrm>
                <a:off x="1040890" y="1715204"/>
                <a:ext cx="914400" cy="288032"/>
              </a:xfrm>
              <a:prstGeom prst="rect">
                <a:avLst/>
              </a:prstGeom>
              <a:noFill/>
            </p:spPr>
            <p:txBody>
              <a:bodyPr wrap="none" lIns="36000" rIns="36000" rtlCol="0" anchor="ctr">
                <a:noAutofit/>
              </a:bodyPr>
              <a:lstStyle/>
              <a:p>
                <a:r>
                  <a:rPr lang="ko-KR" altLang="en-US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폴더 게시판</a:t>
                </a:r>
                <a:r>
                  <a:rPr lang="en-US" altLang="ko-KR" sz="800" b="1" smtClean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나눔고딕" panose="020B0600000101010101" charset="-127"/>
                    <a:ea typeface="나눔고딕" panose="020B0600000101010101" charset="-127"/>
                  </a:rPr>
                  <a:t>1</a:t>
                </a:r>
                <a:endPara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737164" y="1788129"/>
                <a:ext cx="125001" cy="12629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lIns="72000" rIns="72000" rtlCol="0" anchor="ctr">
                <a:noAutofit/>
              </a:bodyPr>
              <a:lstStyle/>
              <a:p>
                <a:pPr algn="ctr"/>
                <a:r>
                  <a:rPr lang="en-US" altLang="ko-KR" sz="1100" smtClean="0">
                    <a:solidFill>
                      <a:schemeClr val="bg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rPr>
                  <a:t>+</a:t>
                </a:r>
                <a:endParaRPr lang="ko-KR" altLang="en-US" sz="1100" smtClean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endParaRPr>
              </a:p>
            </p:txBody>
          </p:sp>
        </p:grpSp>
        <p:pic>
          <p:nvPicPr>
            <p:cNvPr id="190" name="그림 189"/>
            <p:cNvPicPr>
              <a:picLocks noChangeAspect="1"/>
            </p:cNvPicPr>
            <p:nvPr/>
          </p:nvPicPr>
          <p:blipFill>
            <a:blip r:embed="rId8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698" y="2011808"/>
              <a:ext cx="110241" cy="110241"/>
            </a:xfrm>
            <a:prstGeom prst="rect">
              <a:avLst/>
            </a:prstGeom>
          </p:spPr>
        </p:pic>
      </p:grpSp>
      <p:sp>
        <p:nvSpPr>
          <p:cNvPr id="200" name="TextBox 199"/>
          <p:cNvSpPr txBox="1"/>
          <p:nvPr/>
        </p:nvSpPr>
        <p:spPr>
          <a:xfrm>
            <a:off x="1117935" y="2383978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폴더 게시판</a:t>
            </a:r>
            <a:r>
              <a:rPr lang="en-US" altLang="ko-KR" sz="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2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814209" y="2453167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-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202" name="꺾인 연결선 201"/>
          <p:cNvCxnSpPr/>
          <p:nvPr/>
        </p:nvCxnSpPr>
        <p:spPr>
          <a:xfrm rot="16200000" flipH="1">
            <a:off x="978258" y="2667052"/>
            <a:ext cx="214198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꺾인 연결선 202"/>
          <p:cNvCxnSpPr/>
          <p:nvPr/>
        </p:nvCxnSpPr>
        <p:spPr>
          <a:xfrm rot="16200000" flipH="1">
            <a:off x="837514" y="2798271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4" name="그룹 203"/>
          <p:cNvGrpSpPr/>
          <p:nvPr/>
        </p:nvGrpSpPr>
        <p:grpSpPr>
          <a:xfrm>
            <a:off x="1122212" y="2737687"/>
            <a:ext cx="914400" cy="717200"/>
            <a:chOff x="1144827" y="2270952"/>
            <a:chExt cx="914400" cy="717200"/>
          </a:xfrm>
        </p:grpSpPr>
        <p:sp>
          <p:nvSpPr>
            <p:cNvPr id="205" name="TextBox 204"/>
            <p:cNvSpPr txBox="1"/>
            <p:nvPr/>
          </p:nvSpPr>
          <p:spPr>
            <a:xfrm>
              <a:off x="1144827" y="2270952"/>
              <a:ext cx="914400" cy="17142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A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게시판</a:t>
              </a:r>
            </a:p>
          </p:txBody>
        </p:sp>
        <p:sp>
          <p:nvSpPr>
            <p:cNvPr id="206" name="TextBox 205"/>
            <p:cNvSpPr txBox="1"/>
            <p:nvPr/>
          </p:nvSpPr>
          <p:spPr>
            <a:xfrm>
              <a:off x="1144827" y="2543839"/>
              <a:ext cx="914400" cy="17142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일반 게시판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B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144827" y="2816726"/>
              <a:ext cx="914400" cy="171426"/>
            </a:xfrm>
            <a:prstGeom prst="rect">
              <a:avLst/>
            </a:prstGeom>
            <a:noFill/>
          </p:spPr>
          <p:txBody>
            <a:bodyPr wrap="none" lIns="72000" rIns="72000" rtlCol="0" anchor="ctr">
              <a:noAutofit/>
            </a:bodyPr>
            <a:lstStyle/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일반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 </a:t>
              </a:r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게시판</a:t>
              </a:r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C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cxnSp>
        <p:nvCxnSpPr>
          <p:cNvPr id="208" name="꺾인 연결선 207"/>
          <p:cNvCxnSpPr/>
          <p:nvPr/>
        </p:nvCxnSpPr>
        <p:spPr>
          <a:xfrm rot="16200000" flipH="1">
            <a:off x="837515" y="3072590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" name="그림 208"/>
          <p:cNvPicPr>
            <a:picLocks noChangeAspect="1"/>
          </p:cNvPicPr>
          <p:nvPr/>
        </p:nvPicPr>
        <p:blipFill>
          <a:blip r:embed="rId8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81" y="2452952"/>
            <a:ext cx="123607" cy="123607"/>
          </a:xfrm>
          <a:prstGeom prst="rect">
            <a:avLst/>
          </a:prstGeom>
        </p:spPr>
      </p:pic>
      <p:pic>
        <p:nvPicPr>
          <p:cNvPr id="210" name="그림 209"/>
          <p:cNvPicPr>
            <a:picLocks noChangeAspect="1"/>
          </p:cNvPicPr>
          <p:nvPr/>
        </p:nvPicPr>
        <p:blipFill>
          <a:blip r:embed="rId8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04" y="3628826"/>
            <a:ext cx="123607" cy="123607"/>
          </a:xfrm>
          <a:prstGeom prst="rect">
            <a:avLst/>
          </a:prstGeom>
        </p:spPr>
      </p:pic>
      <p:sp>
        <p:nvSpPr>
          <p:cNvPr id="211" name="모서리가 둥근 직사각형 210"/>
          <p:cNvSpPr/>
          <p:nvPr/>
        </p:nvSpPr>
        <p:spPr>
          <a:xfrm>
            <a:off x="1326627" y="3608089"/>
            <a:ext cx="947463" cy="180951"/>
          </a:xfrm>
          <a:prstGeom prst="roundRect">
            <a:avLst/>
          </a:prstGeom>
          <a:noFill/>
          <a:ln w="3175">
            <a:noFill/>
          </a:ln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폴더 게시판</a:t>
            </a:r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rPr>
              <a:t>2-1</a:t>
            </a:r>
            <a:endParaRPr lang="ko-KR" altLang="en-US" sz="800" dirty="0" smtClean="0">
              <a:solidFill>
                <a:schemeClr val="tx1">
                  <a:lumMod val="75000"/>
                  <a:lumOff val="25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013635" y="3629695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+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cxnSp>
        <p:nvCxnSpPr>
          <p:cNvPr id="213" name="꺾인 연결선 212"/>
          <p:cNvCxnSpPr>
            <a:stCxn id="201" idx="2"/>
            <a:endCxn id="212" idx="1"/>
          </p:cNvCxnSpPr>
          <p:nvPr/>
        </p:nvCxnSpPr>
        <p:spPr>
          <a:xfrm rot="16200000" flipH="1">
            <a:off x="388481" y="3067686"/>
            <a:ext cx="1113383" cy="136925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모서리가 둥근 직사각형 213"/>
          <p:cNvSpPr/>
          <p:nvPr/>
        </p:nvSpPr>
        <p:spPr>
          <a:xfrm>
            <a:off x="1151284" y="2736617"/>
            <a:ext cx="690335" cy="180951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일반 게시판</a:t>
            </a:r>
            <a:r>
              <a:rPr lang="en-US" altLang="ko-KR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A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10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3"/>
            </p:custDataLst>
          </p:nvPr>
        </p:nvGrpSpPr>
        <p:grpSpPr>
          <a:xfrm>
            <a:off x="6183654" y="2656387"/>
            <a:ext cx="107839" cy="109736"/>
            <a:chOff x="554563" y="2632644"/>
            <a:chExt cx="131556" cy="131556"/>
          </a:xfrm>
          <a:solidFill>
            <a:schemeClr val="bg1">
              <a:lumMod val="95000"/>
            </a:schemeClr>
          </a:solidFill>
        </p:grpSpPr>
        <p:sp>
          <p:nvSpPr>
            <p:cNvPr id="10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5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6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4"/>
            </p:custDataLst>
          </p:nvPr>
        </p:nvGrpSpPr>
        <p:grpSpPr>
          <a:xfrm>
            <a:off x="6996273" y="2656387"/>
            <a:ext cx="107839" cy="109736"/>
            <a:chOff x="554563" y="2632644"/>
            <a:chExt cx="131556" cy="131556"/>
          </a:xfrm>
          <a:solidFill>
            <a:schemeClr val="bg1">
              <a:lumMod val="95000"/>
            </a:schemeClr>
          </a:solidFill>
        </p:grpSpPr>
        <p:sp>
          <p:nvSpPr>
            <p:cNvPr id="12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5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1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5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5"/>
            </p:custDataLst>
          </p:nvPr>
        </p:nvGrpSpPr>
        <p:grpSpPr>
          <a:xfrm>
            <a:off x="7824192" y="2656387"/>
            <a:ext cx="107839" cy="109736"/>
            <a:chOff x="554563" y="2632644"/>
            <a:chExt cx="131556" cy="131556"/>
          </a:xfrm>
          <a:solidFill>
            <a:schemeClr val="bg1">
              <a:lumMod val="95000"/>
            </a:schemeClr>
          </a:solidFill>
        </p:grpSpPr>
        <p:sp>
          <p:nvSpPr>
            <p:cNvPr id="21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5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4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5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6"/>
            </p:custDataLst>
          </p:nvPr>
        </p:nvGrpSpPr>
        <p:grpSpPr>
          <a:xfrm>
            <a:off x="8580449" y="2656387"/>
            <a:ext cx="107839" cy="109736"/>
            <a:chOff x="554563" y="2632644"/>
            <a:chExt cx="131556" cy="131556"/>
          </a:xfrm>
          <a:solidFill>
            <a:schemeClr val="bg1">
              <a:lumMod val="95000"/>
            </a:schemeClr>
          </a:solidFill>
        </p:grpSpPr>
        <p:sp>
          <p:nvSpPr>
            <p:cNvPr id="23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5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33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5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7"/>
            </p:custDataLst>
          </p:nvPr>
        </p:nvGrpSpPr>
        <p:grpSpPr>
          <a:xfrm>
            <a:off x="6183654" y="2905769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54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5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5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5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8"/>
            </p:custDataLst>
          </p:nvPr>
        </p:nvGrpSpPr>
        <p:grpSpPr>
          <a:xfrm>
            <a:off x="6996273" y="2905769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5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3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5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4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9"/>
            </p:custDataLst>
          </p:nvPr>
        </p:nvGrpSpPr>
        <p:grpSpPr>
          <a:xfrm>
            <a:off x="7824192" y="2905769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4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9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4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4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0"/>
            </p:custDataLst>
          </p:nvPr>
        </p:nvGrpSpPr>
        <p:grpSpPr>
          <a:xfrm>
            <a:off x="8580449" y="2905769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4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7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5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1"/>
            </p:custDataLst>
          </p:nvPr>
        </p:nvGrpSpPr>
        <p:grpSpPr>
          <a:xfrm>
            <a:off x="6183654" y="3155151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7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4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58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2"/>
            </p:custDataLst>
          </p:nvPr>
        </p:nvGrpSpPr>
        <p:grpSpPr>
          <a:xfrm>
            <a:off x="6996273" y="3155151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7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4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72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4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60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3"/>
            </p:custDataLst>
          </p:nvPr>
        </p:nvGrpSpPr>
        <p:grpSpPr>
          <a:xfrm>
            <a:off x="7824192" y="3155151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6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8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4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4"/>
            </p:custDataLst>
          </p:nvPr>
        </p:nvGrpSpPr>
        <p:grpSpPr>
          <a:xfrm>
            <a:off x="8580449" y="3155151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6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6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3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3524314" y="3381548"/>
            <a:ext cx="381000" cy="1295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부서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78" name="직사각형 277"/>
          <p:cNvSpPr/>
          <p:nvPr/>
        </p:nvSpPr>
        <p:spPr>
          <a:xfrm>
            <a:off x="3524314" y="2903567"/>
            <a:ext cx="381000" cy="12954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</a:rPr>
              <a:t>관리자</a:t>
            </a:r>
            <a:endParaRPr lang="ko-KR" altLang="en-US" sz="800" dirty="0" smtClean="0">
              <a:solidFill>
                <a:schemeClr val="bg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grpSp>
        <p:nvGrpSpPr>
          <p:cNvPr id="29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5"/>
            </p:custDataLst>
          </p:nvPr>
        </p:nvGrpSpPr>
        <p:grpSpPr>
          <a:xfrm>
            <a:off x="6183654" y="3404532"/>
            <a:ext cx="107839" cy="109736"/>
            <a:chOff x="554563" y="2632644"/>
            <a:chExt cx="131556" cy="131556"/>
          </a:xfrm>
          <a:solidFill>
            <a:schemeClr val="bg1">
              <a:lumMod val="95000"/>
            </a:schemeClr>
          </a:solidFill>
        </p:grpSpPr>
        <p:sp>
          <p:nvSpPr>
            <p:cNvPr id="30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75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9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6"/>
            </p:custDataLst>
          </p:nvPr>
        </p:nvGrpSpPr>
        <p:grpSpPr>
          <a:xfrm>
            <a:off x="6996273" y="3404532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30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6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9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7"/>
            </p:custDataLst>
          </p:nvPr>
        </p:nvGrpSpPr>
        <p:grpSpPr>
          <a:xfrm>
            <a:off x="7824192" y="3404532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30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2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9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28"/>
            </p:custDataLst>
          </p:nvPr>
        </p:nvGrpSpPr>
        <p:grpSpPr>
          <a:xfrm>
            <a:off x="8580449" y="3404532"/>
            <a:ext cx="107839" cy="109736"/>
            <a:chOff x="554563" y="2632644"/>
            <a:chExt cx="131556" cy="131556"/>
          </a:xfrm>
          <a:solidFill>
            <a:schemeClr val="bg1"/>
          </a:solidFill>
        </p:grpSpPr>
        <p:sp>
          <p:nvSpPr>
            <p:cNvPr id="299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0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grpFill/>
            <a:ln w="6350" cap="flat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35041"/>
              </p:ext>
            </p:extLst>
          </p:nvPr>
        </p:nvGraphicFramePr>
        <p:xfrm>
          <a:off x="2612145" y="5414293"/>
          <a:ext cx="6436183" cy="734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6183">
                  <a:extLst>
                    <a:ext uri="{9D8B030D-6E8A-4147-A177-3AD203B41FA5}">
                      <a16:colId xmlns:a16="http://schemas.microsoft.com/office/drawing/2014/main" val="2752972171"/>
                    </a:ext>
                  </a:extLst>
                </a:gridCol>
              </a:tblGrid>
              <a:tr h="7344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게시판 구성원이 없습니다</a:t>
                      </a:r>
                      <a:r>
                        <a:rPr kumimoji="0" lang="en-US" altLang="ko-KR" sz="800" b="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339878"/>
                  </a:ext>
                </a:extLst>
              </a:tr>
            </a:tbl>
          </a:graphicData>
        </a:graphic>
      </p:graphicFrame>
      <p:sp>
        <p:nvSpPr>
          <p:cNvPr id="237" name="모서리가 둥근 직사각형 236"/>
          <p:cNvSpPr/>
          <p:nvPr/>
        </p:nvSpPr>
        <p:spPr>
          <a:xfrm>
            <a:off x="1594976" y="1863602"/>
            <a:ext cx="754479" cy="20827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outerShdw blurRad="127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txBody>
          <a:bodyPr wrap="none" lIns="36000" tIns="36000" rIns="36000" bIns="36000" rtlCol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ko-KR" altLang="en-US" sz="80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게시판 </a:t>
            </a:r>
            <a:r>
              <a:rPr lang="ko-KR" altLang="en-US" sz="80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10222328" y="308595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BH4.1.2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4174" y="6207621"/>
            <a:ext cx="2066975" cy="221754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// </a:t>
            </a: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추가된 구성원이 없을 경우 출력되는 문구</a:t>
            </a:r>
          </a:p>
        </p:txBody>
      </p:sp>
      <p:graphicFrame>
        <p:nvGraphicFramePr>
          <p:cNvPr id="29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78106"/>
              </p:ext>
            </p:extLst>
          </p:nvPr>
        </p:nvGraphicFramePr>
        <p:xfrm>
          <a:off x="9290533" y="786383"/>
          <a:ext cx="2835141" cy="46922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각 항목별 기능은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(RM)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기능과 동일</a:t>
                      </a:r>
                      <a:endParaRPr lang="ko-KR" altLang="en-US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01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24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1"/>
            </p:custDataLst>
          </p:nvPr>
        </p:nvSpPr>
        <p:spPr>
          <a:xfrm>
            <a:off x="436712" y="620688"/>
            <a:ext cx="5544988" cy="5446737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8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2"/>
            </p:custDataLst>
          </p:nvPr>
        </p:nvSpPr>
        <p:spPr>
          <a:xfrm>
            <a:off x="717787" y="1666782"/>
            <a:ext cx="1724855" cy="34558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771440" y="1359818"/>
            <a:ext cx="1621615" cy="191715"/>
            <a:chOff x="771440" y="1618979"/>
            <a:chExt cx="1621615" cy="191715"/>
          </a:xfrm>
        </p:grpSpPr>
        <p:sp>
          <p:nvSpPr>
            <p:cNvPr id="235" name="Modal Dialog Overlay"/>
            <p:cNvSpPr>
              <a:spLocks/>
            </p:cNvSpPr>
            <p:nvPr/>
          </p:nvSpPr>
          <p:spPr bwMode="auto">
            <a:xfrm>
              <a:off x="771440" y="1618979"/>
              <a:ext cx="1327478" cy="19171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50000"/>
                </a:schemeClr>
              </a:solidFill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 i="1" dirty="0">
                <a:solidFill>
                  <a:schemeClr val="bg1">
                    <a:lumMod val="6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pic>
          <p:nvPicPr>
            <p:cNvPr id="236" name="그림 235"/>
            <p:cNvPicPr>
              <a:picLocks noChangeAspect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27160" y="1666839"/>
              <a:ext cx="115280" cy="115280"/>
            </a:xfrm>
            <a:prstGeom prst="rect">
              <a:avLst/>
            </a:prstGeom>
          </p:spPr>
        </p:pic>
        <p:sp>
          <p:nvSpPr>
            <p:cNvPr id="237" name="모서리가 둥근 직사각형 236"/>
            <p:cNvSpPr/>
            <p:nvPr/>
          </p:nvSpPr>
          <p:spPr>
            <a:xfrm>
              <a:off x="2138458" y="1618979"/>
              <a:ext cx="254597" cy="191715"/>
            </a:xfrm>
            <a:prstGeom prst="roundRect">
              <a:avLst>
                <a:gd name="adj" fmla="val 23266"/>
              </a:avLst>
            </a:prstGeom>
            <a:solidFill>
              <a:schemeClr val="bg1"/>
            </a:solidFill>
            <a:ln w="3175"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pic>
          <p:nvPicPr>
            <p:cNvPr id="238" name="그림 237"/>
            <p:cNvPicPr>
              <a:picLocks noChangeAspect="1"/>
            </p:cNvPicPr>
            <p:nvPr/>
          </p:nvPicPr>
          <p:blipFill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1675" y="1642737"/>
              <a:ext cx="148907" cy="148907"/>
            </a:xfrm>
            <a:prstGeom prst="rect">
              <a:avLst/>
            </a:prstGeom>
          </p:spPr>
        </p:pic>
      </p:grpSp>
      <p:grpSp>
        <p:nvGrpSpPr>
          <p:cNvPr id="239" name="그룹 238"/>
          <p:cNvGrpSpPr/>
          <p:nvPr/>
        </p:nvGrpSpPr>
        <p:grpSpPr>
          <a:xfrm>
            <a:off x="2299980" y="2032273"/>
            <a:ext cx="58192" cy="2962697"/>
            <a:chOff x="2238375" y="1813543"/>
            <a:chExt cx="58192" cy="3943350"/>
          </a:xfrm>
        </p:grpSpPr>
        <p:sp>
          <p:nvSpPr>
            <p:cNvPr id="240" name="모서리가 둥근 직사각형 239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241" name="모서리가 둥근 직사각형 240"/>
            <p:cNvSpPr/>
            <p:nvPr/>
          </p:nvSpPr>
          <p:spPr>
            <a:xfrm>
              <a:off x="2238375" y="3418408"/>
              <a:ext cx="58192" cy="10384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sp>
        <p:nvSpPr>
          <p:cNvPr id="242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3"/>
            </p:custDataLst>
          </p:nvPr>
        </p:nvSpPr>
        <p:spPr>
          <a:xfrm>
            <a:off x="717787" y="1253763"/>
            <a:ext cx="1724855" cy="41301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0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4"/>
            </p:custDataLst>
          </p:nvPr>
        </p:nvSpPr>
        <p:spPr>
          <a:xfrm>
            <a:off x="3001912" y="1253764"/>
            <a:ext cx="2662039" cy="38453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80" name="표 1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405352"/>
              </p:ext>
            </p:extLst>
          </p:nvPr>
        </p:nvGraphicFramePr>
        <p:xfrm>
          <a:off x="2998167" y="1658516"/>
          <a:ext cx="2665785" cy="3107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898">
                  <a:extLst>
                    <a:ext uri="{9D8B030D-6E8A-4147-A177-3AD203B41FA5}">
                      <a16:colId xmlns:a16="http://schemas.microsoft.com/office/drawing/2014/main" val="2455209323"/>
                    </a:ext>
                  </a:extLst>
                </a:gridCol>
                <a:gridCol w="1085241">
                  <a:extLst>
                    <a:ext uri="{9D8B030D-6E8A-4147-A177-3AD203B41FA5}">
                      <a16:colId xmlns:a16="http://schemas.microsoft.com/office/drawing/2014/main" val="3789796816"/>
                    </a:ext>
                  </a:extLst>
                </a:gridCol>
                <a:gridCol w="542620">
                  <a:extLst>
                    <a:ext uri="{9D8B030D-6E8A-4147-A177-3AD203B41FA5}">
                      <a16:colId xmlns:a16="http://schemas.microsoft.com/office/drawing/2014/main" val="1655089939"/>
                    </a:ext>
                  </a:extLst>
                </a:gridCol>
                <a:gridCol w="801026">
                  <a:extLst>
                    <a:ext uri="{9D8B030D-6E8A-4147-A177-3AD203B41FA5}">
                      <a16:colId xmlns:a16="http://schemas.microsoft.com/office/drawing/2014/main" val="1094341974"/>
                    </a:ext>
                  </a:extLst>
                </a:gridCol>
              </a:tblGrid>
              <a:tr h="28252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성명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직위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부서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651868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385041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홍길동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과장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B0600000101010101" charset="-127"/>
                          <a:ea typeface="나눔고딕" panose="020B0600000101010101" charset="-127"/>
                          <a:cs typeface="+mn-cs"/>
                        </a:rPr>
                        <a:t>표준개발실</a:t>
                      </a: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306640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481431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707145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218671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575809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28020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025242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472524"/>
                  </a:ext>
                </a:extLst>
              </a:tr>
              <a:tr h="2825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B0600000101010101" charset="-127"/>
                        <a:ea typeface="나눔고딕" panose="020B0600000101010101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6049"/>
                  </a:ext>
                </a:extLst>
              </a:tr>
            </a:tbl>
          </a:graphicData>
        </a:graphic>
      </p:graphicFrame>
      <p:grpSp>
        <p:nvGrpSpPr>
          <p:cNvPr id="183" name="그룹 182"/>
          <p:cNvGrpSpPr/>
          <p:nvPr/>
        </p:nvGrpSpPr>
        <p:grpSpPr>
          <a:xfrm>
            <a:off x="3390976" y="1341809"/>
            <a:ext cx="2220414" cy="195579"/>
            <a:chOff x="2495600" y="1341809"/>
            <a:chExt cx="2220414" cy="195579"/>
          </a:xfrm>
        </p:grpSpPr>
        <p:grpSp>
          <p:nvGrpSpPr>
            <p:cNvPr id="184" name="그룹 183"/>
            <p:cNvGrpSpPr/>
            <p:nvPr/>
          </p:nvGrpSpPr>
          <p:grpSpPr>
            <a:xfrm>
              <a:off x="3094399" y="1341810"/>
              <a:ext cx="1621615" cy="191715"/>
              <a:chOff x="608374" y="1341810"/>
              <a:chExt cx="1621615" cy="191715"/>
            </a:xfrm>
          </p:grpSpPr>
          <p:sp>
            <p:nvSpPr>
              <p:cNvPr id="187" name="Modal Dialog Overlay"/>
              <p:cNvSpPr>
                <a:spLocks/>
              </p:cNvSpPr>
              <p:nvPr/>
            </p:nvSpPr>
            <p:spPr bwMode="auto">
              <a:xfrm>
                <a:off x="608374" y="1341810"/>
                <a:ext cx="1327478" cy="191715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50000"/>
                  </a:schemeClr>
                </a:solidFill>
                <a:prstDash val="solid"/>
              </a:ln>
              <a:effectLst/>
              <a:ex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800" i="1" dirty="0">
                  <a:solidFill>
                    <a:schemeClr val="bg1">
                      <a:lumMod val="6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endParaRPr>
              </a:p>
            </p:txBody>
          </p:sp>
          <p:pic>
            <p:nvPicPr>
              <p:cNvPr id="188" name="그림 187"/>
              <p:cNvPicPr>
                <a:picLocks noChangeAspect="1"/>
              </p:cNvPicPr>
              <p:nvPr/>
            </p:nvPicPr>
            <p:blipFill>
              <a:blip r:embed="rId3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64094" y="1389670"/>
                <a:ext cx="115280" cy="115280"/>
              </a:xfrm>
              <a:prstGeom prst="rect">
                <a:avLst/>
              </a:prstGeom>
            </p:spPr>
          </p:pic>
          <p:sp>
            <p:nvSpPr>
              <p:cNvPr id="189" name="모서리가 둥근 직사각형 188"/>
              <p:cNvSpPr/>
              <p:nvPr/>
            </p:nvSpPr>
            <p:spPr>
              <a:xfrm>
                <a:off x="1975392" y="1341810"/>
                <a:ext cx="254597" cy="191715"/>
              </a:xfrm>
              <a:prstGeom prst="roundRect">
                <a:avLst>
                  <a:gd name="adj" fmla="val 23266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  <a:effectLst>
                <a:outerShdw blurRad="12700" dist="38100" dir="2700000" algn="tl" rotWithShape="0">
                  <a:schemeClr val="bg1">
                    <a:lumMod val="75000"/>
                    <a:alpha val="40000"/>
                  </a:schemeClr>
                </a:outerShdw>
              </a:effectLst>
            </p:spPr>
            <p:txBody>
              <a:bodyPr wrap="none" lIns="36000" tIns="36000" rIns="36000" bIns="3600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endPara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endParaRPr>
              </a:p>
            </p:txBody>
          </p:sp>
        </p:grpSp>
        <p:sp>
          <p:nvSpPr>
            <p:cNvPr id="185" name="Modal Dialog Overlay"/>
            <p:cNvSpPr>
              <a:spLocks/>
            </p:cNvSpPr>
            <p:nvPr/>
          </p:nvSpPr>
          <p:spPr bwMode="auto">
            <a:xfrm>
              <a:off x="2495600" y="1341809"/>
              <a:ext cx="613570" cy="191715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50000"/>
                </a:schemeClr>
              </a:solidFill>
              <a:prstDash val="solid"/>
            </a:ln>
            <a:effectLst/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  <a:cs typeface="Segoe UI" panose="020B0502040204020203" pitchFamily="34" charset="0"/>
                </a:rPr>
                <a:t>성명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  <a:cs typeface="Segoe UI" panose="020B0502040204020203" pitchFamily="34" charset="0"/>
              </a:endParaRPr>
            </a:p>
          </p:txBody>
        </p:sp>
        <p:sp>
          <p:nvSpPr>
            <p:cNvPr id="186" name="TextBox 185"/>
            <p:cNvSpPr txBox="1"/>
            <p:nvPr/>
          </p:nvSpPr>
          <p:spPr>
            <a:xfrm rot="5400000">
              <a:off x="2950000" y="1340390"/>
              <a:ext cx="155817" cy="238180"/>
            </a:xfrm>
            <a:prstGeom prst="rect">
              <a:avLst/>
            </a:prstGeom>
            <a:noFill/>
          </p:spPr>
          <p:txBody>
            <a:bodyPr wrap="none" lIns="36000" rIns="36000" rtlCol="0" anchor="ctr">
              <a:noAutofit/>
            </a:bodyPr>
            <a:lstStyle/>
            <a:p>
              <a:r>
                <a:rPr lang="en-US" altLang="ko-KR" sz="8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pic>
        <p:nvPicPr>
          <p:cNvPr id="190" name="그림 189"/>
          <p:cNvPicPr>
            <a:picLocks noChangeAspect="1"/>
          </p:cNvPicPr>
          <p:nvPr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229" y="1365568"/>
            <a:ext cx="148907" cy="148907"/>
          </a:xfrm>
          <a:prstGeom prst="rect">
            <a:avLst/>
          </a:prstGeom>
        </p:spPr>
      </p:pic>
      <p:grpSp>
        <p:nvGrpSpPr>
          <p:cNvPr id="19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5"/>
            </p:custDataLst>
          </p:nvPr>
        </p:nvGrpSpPr>
        <p:grpSpPr>
          <a:xfrm>
            <a:off x="3073655" y="2017421"/>
            <a:ext cx="107839" cy="109736"/>
            <a:chOff x="554563" y="2632644"/>
            <a:chExt cx="131556" cy="131556"/>
          </a:xfrm>
        </p:grpSpPr>
        <p:sp>
          <p:nvSpPr>
            <p:cNvPr id="19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6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3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9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6"/>
            </p:custDataLst>
          </p:nvPr>
        </p:nvGrpSpPr>
        <p:grpSpPr>
          <a:xfrm>
            <a:off x="3073655" y="1731671"/>
            <a:ext cx="107839" cy="109736"/>
            <a:chOff x="554563" y="2632644"/>
            <a:chExt cx="131556" cy="131556"/>
          </a:xfrm>
        </p:grpSpPr>
        <p:sp>
          <p:nvSpPr>
            <p:cNvPr id="19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3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08" name="그룹 207"/>
          <p:cNvGrpSpPr/>
          <p:nvPr/>
        </p:nvGrpSpPr>
        <p:grpSpPr>
          <a:xfrm>
            <a:off x="2627813" y="2726664"/>
            <a:ext cx="219780" cy="982270"/>
            <a:chOff x="2609145" y="2484830"/>
            <a:chExt cx="219780" cy="982270"/>
          </a:xfrm>
        </p:grpSpPr>
        <p:sp>
          <p:nvSpPr>
            <p:cNvPr id="206" name="모서리가 둥근 직사각형 205"/>
            <p:cNvSpPr/>
            <p:nvPr/>
          </p:nvSpPr>
          <p:spPr>
            <a:xfrm>
              <a:off x="2609145" y="2484830"/>
              <a:ext cx="219780" cy="42029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&gt;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2609145" y="3046805"/>
              <a:ext cx="219780" cy="420295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ko-KR" sz="800" b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B0600000101010101" charset="-127"/>
                  <a:ea typeface="나눔고딕" panose="020B0600000101010101" charset="-127"/>
                </a:rPr>
                <a:t>&lt;</a:t>
              </a:r>
              <a:endPara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endParaRPr>
            </a:p>
          </p:txBody>
        </p:sp>
      </p:grpSp>
      <p:sp>
        <p:nvSpPr>
          <p:cNvPr id="205" name="Title Bar" descr="&lt;SmartSettings&gt;&lt;SmartResize anchorLeft=&quot;Absolute&quot; anchorTop=&quot;Absolute&quot; anchorRight=&quot;Absolute&quot; anchorBottom=&quot;None&quot; /&gt;&lt;/SmartSettings&gt;"/>
          <p:cNvSpPr/>
          <p:nvPr>
            <p:custDataLst>
              <p:tags r:id="rId7"/>
            </p:custDataLst>
          </p:nvPr>
        </p:nvSpPr>
        <p:spPr>
          <a:xfrm>
            <a:off x="3001912" y="1253764"/>
            <a:ext cx="2662039" cy="3868829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2286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1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8"/>
            </p:custDataLst>
          </p:nvPr>
        </p:nvGrpSpPr>
        <p:grpSpPr>
          <a:xfrm>
            <a:off x="3073655" y="2303171"/>
            <a:ext cx="107839" cy="109736"/>
            <a:chOff x="554563" y="2632644"/>
            <a:chExt cx="131556" cy="131556"/>
          </a:xfrm>
        </p:grpSpPr>
        <p:sp>
          <p:nvSpPr>
            <p:cNvPr id="212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3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3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70" name="직선 연결선 69"/>
          <p:cNvCxnSpPr/>
          <p:nvPr/>
        </p:nvCxnSpPr>
        <p:spPr>
          <a:xfrm>
            <a:off x="659916" y="1006896"/>
            <a:ext cx="509509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59916" y="727482"/>
            <a:ext cx="661742" cy="195956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12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구성원 추가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72" name="Close Button" descr="&lt;SmartSettings&gt;&lt;SmartResize anchorLeft=&quot;None&quot; anchorTop=&quot;Absolute&quot; anchorRight=&quot;Absolute&quot; anchorBottom=&quot;None&quot; /&gt;&lt;/SmartSettings&gt;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5631957" y="772110"/>
            <a:ext cx="123053" cy="116625"/>
          </a:xfrm>
          <a:custGeom>
            <a:avLst/>
            <a:gdLst>
              <a:gd name="T0" fmla="*/ 254 w 254"/>
              <a:gd name="T1" fmla="*/ 0 h 254"/>
              <a:gd name="T2" fmla="*/ 0 w 254"/>
              <a:gd name="T3" fmla="*/ 254 h 254"/>
              <a:gd name="T4" fmla="*/ 0 w 254"/>
              <a:gd name="T5" fmla="*/ 0 h 254"/>
              <a:gd name="T6" fmla="*/ 254 w 254"/>
              <a:gd name="T7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254">
                <a:moveTo>
                  <a:pt x="254" y="0"/>
                </a:moveTo>
                <a:lnTo>
                  <a:pt x="0" y="254"/>
                </a:lnTo>
                <a:moveTo>
                  <a:pt x="0" y="0"/>
                </a:moveTo>
                <a:lnTo>
                  <a:pt x="254" y="254"/>
                </a:lnTo>
              </a:path>
            </a:pathLst>
          </a:custGeom>
          <a:noFill/>
          <a:ln w="9525" cap="flat">
            <a:solidFill>
              <a:srgbClr val="80808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3" name="그룹 72"/>
          <p:cNvGrpSpPr/>
          <p:nvPr/>
        </p:nvGrpSpPr>
        <p:grpSpPr>
          <a:xfrm>
            <a:off x="1739551" y="5402148"/>
            <a:ext cx="2913963" cy="324717"/>
            <a:chOff x="4610105" y="2551956"/>
            <a:chExt cx="2432626" cy="277391"/>
          </a:xfrm>
        </p:grpSpPr>
        <p:sp>
          <p:nvSpPr>
            <p:cNvPr id="74" name="모서리가 둥근 직사각형 73"/>
            <p:cNvSpPr/>
            <p:nvPr/>
          </p:nvSpPr>
          <p:spPr>
            <a:xfrm>
              <a:off x="5916247" y="2551956"/>
              <a:ext cx="1126484" cy="277391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 smtClean="0">
                  <a:solidFill>
                    <a:schemeClr val="bg1"/>
                  </a:solidFill>
                  <a:latin typeface="+mj-ea"/>
                  <a:ea typeface="+mj-ea"/>
                </a:rPr>
                <a:t>완료</a:t>
              </a:r>
              <a:endParaRPr lang="ko-KR" altLang="en-US" sz="9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75" name="모서리가 둥근 직사각형 74"/>
            <p:cNvSpPr/>
            <p:nvPr/>
          </p:nvSpPr>
          <p:spPr>
            <a:xfrm>
              <a:off x="4610105" y="2551956"/>
              <a:ext cx="1126484" cy="277391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  <a:effectLst>
              <a:outerShdw blurRad="12700" dist="381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ko-KR" altLang="en-US" sz="90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rebuchet MS" panose="020B0603020202020204" pitchFamily="34" charset="0"/>
                  <a:ea typeface="나눔고딕" pitchFamily="50" charset="-127"/>
                </a:rPr>
                <a:t>취소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1260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구성원 추가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51276" y="73521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-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5548005" y="1707484"/>
            <a:ext cx="58192" cy="3258967"/>
            <a:chOff x="2238375" y="1813543"/>
            <a:chExt cx="58192" cy="3943350"/>
          </a:xfrm>
        </p:grpSpPr>
        <p:sp>
          <p:nvSpPr>
            <p:cNvPr id="96" name="모서리가 둥근 직사각형 95"/>
            <p:cNvSpPr/>
            <p:nvPr/>
          </p:nvSpPr>
          <p:spPr>
            <a:xfrm>
              <a:off x="2238375" y="1813543"/>
              <a:ext cx="58192" cy="394335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12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  <p:sp>
          <p:nvSpPr>
            <p:cNvPr id="97" name="모서리가 둥근 직사각형 96"/>
            <p:cNvSpPr/>
            <p:nvPr/>
          </p:nvSpPr>
          <p:spPr>
            <a:xfrm>
              <a:off x="2238375" y="3418408"/>
              <a:ext cx="58192" cy="10384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  <a:alpha val="37000"/>
              </a:schemeClr>
            </a:solidFill>
          </p:spPr>
          <p:txBody>
            <a:bodyPr wrap="none" lIns="36000" tIns="36000" rIns="36000" bIns="36000" rtlCol="0" anchor="ctr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endParaRPr lang="ko-KR" altLang="en-US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itchFamily="50" charset="-127"/>
                <a:ea typeface="나눔고딕" pitchFamily="50" charset="-127"/>
              </a:endParaRPr>
            </a:p>
          </p:txBody>
        </p:sp>
      </p:grpSp>
      <p:cxnSp>
        <p:nvCxnSpPr>
          <p:cNvPr id="181" name="꺾인 연결선 180"/>
          <p:cNvCxnSpPr>
            <a:stCxn id="201" idx="1"/>
            <a:endCxn id="227" idx="1"/>
          </p:cNvCxnSpPr>
          <p:nvPr/>
        </p:nvCxnSpPr>
        <p:spPr>
          <a:xfrm rot="10800000" flipV="1">
            <a:off x="1608193" y="2732343"/>
            <a:ext cx="12700" cy="247650"/>
          </a:xfrm>
          <a:prstGeom prst="bentConnector3">
            <a:avLst>
              <a:gd name="adj1" fmla="val 766669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218" idx="2"/>
            <a:endCxn id="231" idx="1"/>
          </p:cNvCxnSpPr>
          <p:nvPr/>
        </p:nvCxnSpPr>
        <p:spPr>
          <a:xfrm rot="16200000" flipH="1">
            <a:off x="934016" y="2823263"/>
            <a:ext cx="756005" cy="137527"/>
          </a:xfrm>
          <a:prstGeom prst="bentConnector2">
            <a:avLst/>
          </a:prstGeom>
          <a:ln w="3175">
            <a:solidFill>
              <a:schemeClr val="bg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꺾인 연결선 190"/>
          <p:cNvCxnSpPr>
            <a:stCxn id="218" idx="2"/>
            <a:endCxn id="234" idx="1"/>
          </p:cNvCxnSpPr>
          <p:nvPr/>
        </p:nvCxnSpPr>
        <p:spPr>
          <a:xfrm rot="16200000" flipH="1">
            <a:off x="801531" y="2955748"/>
            <a:ext cx="1020974" cy="137527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687072" y="2596014"/>
            <a:ext cx="914400" cy="26061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홍길동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19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0"/>
            </p:custDataLst>
          </p:nvPr>
        </p:nvGrpSpPr>
        <p:grpSpPr>
          <a:xfrm>
            <a:off x="1608193" y="2677475"/>
            <a:ext cx="107839" cy="109736"/>
            <a:chOff x="554563" y="2632644"/>
            <a:chExt cx="131556" cy="131556"/>
          </a:xfrm>
        </p:grpSpPr>
        <p:sp>
          <p:nvSpPr>
            <p:cNvPr id="201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2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3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203" name="그림 202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02" y="2677174"/>
            <a:ext cx="111968" cy="111968"/>
          </a:xfrm>
          <a:prstGeom prst="rect">
            <a:avLst/>
          </a:prstGeom>
        </p:spPr>
      </p:pic>
      <p:cxnSp>
        <p:nvCxnSpPr>
          <p:cNvPr id="204" name="꺾인 연결선 203"/>
          <p:cNvCxnSpPr/>
          <p:nvPr/>
        </p:nvCxnSpPr>
        <p:spPr>
          <a:xfrm rot="16200000" flipH="1">
            <a:off x="1000723" y="2017564"/>
            <a:ext cx="214198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꺾인 연결선 216"/>
          <p:cNvCxnSpPr/>
          <p:nvPr/>
        </p:nvCxnSpPr>
        <p:spPr>
          <a:xfrm rot="16200000" flipH="1">
            <a:off x="859979" y="2158308"/>
            <a:ext cx="495687" cy="103502"/>
          </a:xfrm>
          <a:prstGeom prst="bentConnector2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>
            <a:off x="1180754" y="2387734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-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1180754" y="2122263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+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821654" y="1843188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-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221" name="그림 220"/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81" y="1846626"/>
            <a:ext cx="123607" cy="123607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1520296" y="2332761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표준개발실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1520296" y="2043790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전략기획실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1304272" y="1768624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핸디소프트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25" name="TextBox 224"/>
          <p:cNvSpPr txBox="1"/>
          <p:nvPr/>
        </p:nvSpPr>
        <p:spPr>
          <a:xfrm>
            <a:off x="1687072" y="2843664"/>
            <a:ext cx="914400" cy="260615"/>
          </a:xfrm>
          <a:prstGeom prst="rect">
            <a:avLst/>
          </a:prstGeom>
          <a:noFill/>
        </p:spPr>
        <p:txBody>
          <a:bodyPr wrap="none" lIns="72000" rIns="72000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고길동</a:t>
            </a:r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pSp>
        <p:nvGrpSpPr>
          <p:cNvPr id="226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1"/>
            </p:custDataLst>
          </p:nvPr>
        </p:nvGrpSpPr>
        <p:grpSpPr>
          <a:xfrm>
            <a:off x="1608193" y="2925125"/>
            <a:ext cx="107839" cy="109736"/>
            <a:chOff x="554563" y="2632644"/>
            <a:chExt cx="131556" cy="131556"/>
          </a:xfrm>
        </p:grpSpPr>
        <p:sp>
          <p:nvSpPr>
            <p:cNvPr id="227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28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0" name="TextBox 229"/>
          <p:cNvSpPr txBox="1"/>
          <p:nvPr/>
        </p:nvSpPr>
        <p:spPr>
          <a:xfrm>
            <a:off x="1700744" y="3127791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제품기획팀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1380782" y="3206884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+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700744" y="3392760"/>
            <a:ext cx="914400" cy="288032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ko-KR" altLang="en-US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표준개발팀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1380782" y="3471853"/>
            <a:ext cx="125001" cy="12629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rIns="72000" rtlCol="0" anchor="ctr">
            <a:noAutofit/>
          </a:bodyPr>
          <a:lstStyle/>
          <a:p>
            <a:pPr algn="ctr"/>
            <a:r>
              <a:rPr lang="en-US" altLang="ko-KR" sz="1100" smtClean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rPr>
              <a:t>+</a:t>
            </a:r>
            <a:endParaRPr lang="ko-KR" altLang="en-US" sz="1100" smtClean="0">
              <a:solidFill>
                <a:schemeClr val="bg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grpSp>
        <p:nvGrpSpPr>
          <p:cNvPr id="249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2"/>
            </p:custDataLst>
          </p:nvPr>
        </p:nvGrpSpPr>
        <p:grpSpPr>
          <a:xfrm>
            <a:off x="1170300" y="1857381"/>
            <a:ext cx="107839" cy="109736"/>
            <a:chOff x="554563" y="2632644"/>
            <a:chExt cx="131556" cy="131556"/>
          </a:xfrm>
        </p:grpSpPr>
        <p:sp>
          <p:nvSpPr>
            <p:cNvPr id="250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1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5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3"/>
            </p:custDataLst>
          </p:nvPr>
        </p:nvGrpSpPr>
        <p:grpSpPr>
          <a:xfrm>
            <a:off x="1398352" y="2131481"/>
            <a:ext cx="107839" cy="109736"/>
            <a:chOff x="554563" y="2632644"/>
            <a:chExt cx="131556" cy="131556"/>
          </a:xfrm>
        </p:grpSpPr>
        <p:sp>
          <p:nvSpPr>
            <p:cNvPr id="253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3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4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4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5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4"/>
            </p:custDataLst>
          </p:nvPr>
        </p:nvGrpSpPr>
        <p:grpSpPr>
          <a:xfrm>
            <a:off x="1398352" y="2420933"/>
            <a:ext cx="107839" cy="109736"/>
            <a:chOff x="554563" y="2632644"/>
            <a:chExt cx="131556" cy="131556"/>
          </a:xfrm>
        </p:grpSpPr>
        <p:sp>
          <p:nvSpPr>
            <p:cNvPr id="256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21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7" name="Check" descr="&lt;SmartSettings&gt;&lt;SmartResize anchorLeft=&quot;Absolute&quot; anchorTop=&quot;None&quot; anchorRight=&quot;None&quot; anchorBottom=&quot;None&quot; /&gt;&lt;/SmartSettings&gt;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64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5"/>
            </p:custDataLst>
          </p:nvPr>
        </p:nvGrpSpPr>
        <p:grpSpPr>
          <a:xfrm>
            <a:off x="1582795" y="3218018"/>
            <a:ext cx="107839" cy="109736"/>
            <a:chOff x="554563" y="2632644"/>
            <a:chExt cx="131556" cy="131556"/>
          </a:xfrm>
        </p:grpSpPr>
        <p:sp>
          <p:nvSpPr>
            <p:cNvPr id="265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6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67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/>
          <p:cNvGrpSpPr/>
          <p:nvPr>
            <p:custDataLst>
              <p:tags r:id="rId16"/>
            </p:custDataLst>
          </p:nvPr>
        </p:nvGrpSpPr>
        <p:grpSpPr>
          <a:xfrm>
            <a:off x="1582795" y="3491022"/>
            <a:ext cx="107839" cy="109736"/>
            <a:chOff x="554563" y="2632644"/>
            <a:chExt cx="131556" cy="131556"/>
          </a:xfrm>
        </p:grpSpPr>
        <p:sp>
          <p:nvSpPr>
            <p:cNvPr id="268" name="Box" descr="&lt;SmartSettings&gt;&lt;SmartResize anchorLeft=&quot;Absolute&quot; anchorTop=&quot;None&quot; anchorRight=&quot;None&quot; anchorBottom=&quot;None&quot; /&gt;&lt;/SmartSettings&gt;"/>
            <p:cNvSpPr/>
            <p:nvPr>
              <p:custDataLst>
                <p:tags r:id="rId1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9" name="Check" descr="&lt;SmartSettings&gt;&lt;SmartResize anchorLeft=&quot;Absolute&quot; anchorTop=&quot;None&quot; anchorRight=&quot;None&quot; anchorBottom=&quot;None&quot; /&gt;&lt;/SmartSettings&gt;" hidden="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8" name="TextBox 157"/>
          <p:cNvSpPr txBox="1"/>
          <p:nvPr/>
        </p:nvSpPr>
        <p:spPr>
          <a:xfrm>
            <a:off x="10222328" y="308595"/>
            <a:ext cx="914400" cy="216024"/>
          </a:xfrm>
          <a:prstGeom prst="rect">
            <a:avLst/>
          </a:prstGeom>
          <a:noFill/>
        </p:spPr>
        <p:txBody>
          <a:bodyPr wrap="none" lIns="36000" rIns="36000" rtlCol="0" anchor="ctr">
            <a:noAutofit/>
          </a:bodyPr>
          <a:lstStyle/>
          <a:p>
            <a:r>
              <a:rPr lang="en-US" altLang="ko-KR" sz="8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B0600000101010101" charset="-127"/>
                <a:ea typeface="나눔고딕" panose="020B0600000101010101" charset="-127"/>
              </a:rPr>
              <a:t>BH4.1.2.1</a:t>
            </a:r>
            <a:endParaRPr lang="ko-KR" altLang="en-US" sz="800" smtClean="0">
              <a:solidFill>
                <a:schemeClr val="tx1">
                  <a:lumMod val="75000"/>
                  <a:lumOff val="25000"/>
                </a:schemeClr>
              </a:solidFill>
              <a:latin typeface="나눔고딕" panose="020B0600000101010101" charset="-127"/>
              <a:ea typeface="나눔고딕" panose="020B0600000101010101" charset="-127"/>
            </a:endParaRPr>
          </a:p>
        </p:txBody>
      </p:sp>
      <p:graphicFrame>
        <p:nvGraphicFramePr>
          <p:cNvPr id="15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78106"/>
              </p:ext>
            </p:extLst>
          </p:nvPr>
        </p:nvGraphicFramePr>
        <p:xfrm>
          <a:off x="9290533" y="786383"/>
          <a:ext cx="2835141" cy="469229"/>
        </p:xfrm>
        <a:graphic>
          <a:graphicData uri="http://schemas.openxmlformats.org/drawingml/2006/table">
            <a:tbl>
              <a:tblPr/>
              <a:tblGrid>
                <a:gridCol w="333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1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3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DESCRIPTION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8580" marR="138580" anchor="ctr" horzOverflow="overflow">
                    <a:lnL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#</a:t>
                      </a:r>
                      <a:endParaRPr kumimoji="1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각 항목별 기능은 </a:t>
                      </a:r>
                      <a:r>
                        <a:rPr kumimoji="1" lang="en-US" altLang="ko-KR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(RM)</a:t>
                      </a:r>
                      <a:r>
                        <a:rPr kumimoji="1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anose="020B0600000101010101" charset="-127"/>
                          <a:ea typeface="나눔고딕" panose="020B0600000101010101" charset="-127"/>
                        </a:rPr>
                        <a:t>게시판 기능과 동일</a:t>
                      </a:r>
                      <a:endParaRPr lang="ko-KR" altLang="en-US" sz="80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B0600000101010101" charset="-127"/>
                        <a:ea typeface="나눔고딕" panose="020B0600000101010101" charset="-127"/>
                      </a:endParaRPr>
                    </a:p>
                  </a:txBody>
                  <a:tcPr marL="36000" marR="36000" anchor="ctr" horzOverflow="overflow">
                    <a:lnL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901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376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YO0u/sYg5gU3JG0Yo3+5g7s0ym1OuYKAZj4zMZ406Ik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66"/>
        </a:solidFill>
      </a:spPr>
      <a:bodyPr wrap="none" lIns="36000" tIns="36000" rIns="36000" bIns="36000" rtlCol="0" anchor="ctr">
        <a:noAutofit/>
      </a:bodyPr>
      <a:lstStyle>
        <a:defPPr algn="ctr">
          <a:lnSpc>
            <a:spcPct val="115000"/>
          </a:lnSpc>
          <a:spcAft>
            <a:spcPts val="1000"/>
          </a:spcAft>
          <a:defRPr sz="800" dirty="0" smtClean="0">
            <a:solidFill>
              <a:schemeClr val="tx1">
                <a:lumMod val="75000"/>
                <a:lumOff val="25000"/>
              </a:schemeClr>
            </a:solidFill>
            <a:latin typeface="나눔고딕" pitchFamily="50" charset="-127"/>
            <a:ea typeface="나눔고딕" pitchFamily="50" charset="-127"/>
          </a:defRPr>
        </a:defPPr>
      </a:lstStyle>
    </a:spDef>
    <a:lnDef>
      <a:spPr>
        <a:ln w="3175">
          <a:solidFill>
            <a:schemeClr val="tx1">
              <a:lumMod val="95000"/>
              <a:lumOff val="5000"/>
            </a:schemeClr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rIns="72000" rtlCol="0" anchor="ctr">
        <a:noAutofit/>
      </a:bodyPr>
      <a:lstStyle>
        <a:defPPr>
          <a:defRPr sz="800" smtClean="0">
            <a:solidFill>
              <a:schemeClr val="tx1">
                <a:lumMod val="75000"/>
                <a:lumOff val="25000"/>
              </a:schemeClr>
            </a:solidFill>
            <a:latin typeface="나눔고딕" panose="020B0600000101010101" charset="-127"/>
            <a:ea typeface="나눔고딕" panose="020B0600000101010101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30819</TotalTime>
  <Words>481</Words>
  <Application>Microsoft Office PowerPoint</Application>
  <PresentationFormat>와이드스크린</PresentationFormat>
  <Paragraphs>215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11</vt:i4>
      </vt:variant>
    </vt:vector>
  </HeadingPairs>
  <TitlesOfParts>
    <vt:vector size="25" baseType="lpstr">
      <vt:lpstr>Arial</vt:lpstr>
      <vt:lpstr>나눔고딕코딩</vt:lpstr>
      <vt:lpstr>굴림</vt:lpstr>
      <vt:lpstr>Trebuchet MS</vt:lpstr>
      <vt:lpstr>HY견고딕</vt:lpstr>
      <vt:lpstr>Dotum</vt:lpstr>
      <vt:lpstr>나눔고딕</vt:lpstr>
      <vt:lpstr>Tw Cen MT</vt:lpstr>
      <vt:lpstr>Verdana</vt:lpstr>
      <vt:lpstr>맑은 고딕</vt:lpstr>
      <vt:lpstr>Segoe UI</vt:lpstr>
      <vt:lpstr>3_디자인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vinyl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HSK-rbdyd</dc:creator>
  <cp:lastModifiedBy>HSK-rbdyd</cp:lastModifiedBy>
  <cp:revision>1304</cp:revision>
  <cp:lastPrinted>2011-03-03T06:20:47Z</cp:lastPrinted>
  <dcterms:created xsi:type="dcterms:W3CDTF">2011-02-01T05:54:11Z</dcterms:created>
  <dcterms:modified xsi:type="dcterms:W3CDTF">2017-09-25T01:04:08Z</dcterms:modified>
</cp:coreProperties>
</file>