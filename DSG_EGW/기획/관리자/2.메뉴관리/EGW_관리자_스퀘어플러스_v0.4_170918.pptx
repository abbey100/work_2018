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5009" r:id="rId1"/>
    <p:sldMasterId id="2147485030" r:id="rId2"/>
    <p:sldMasterId id="2147485034" r:id="rId3"/>
    <p:sldMasterId id="2147485037" r:id="rId4"/>
  </p:sldMasterIdLst>
  <p:notesMasterIdLst>
    <p:notesMasterId r:id="rId21"/>
  </p:notesMasterIdLst>
  <p:handoutMasterIdLst>
    <p:handoutMasterId r:id="rId22"/>
  </p:handoutMasterIdLst>
  <p:sldIdLst>
    <p:sldId id="262" r:id="rId5"/>
    <p:sldId id="275" r:id="rId6"/>
    <p:sldId id="399" r:id="rId7"/>
    <p:sldId id="390" r:id="rId8"/>
    <p:sldId id="394" r:id="rId9"/>
    <p:sldId id="410" r:id="rId10"/>
    <p:sldId id="406" r:id="rId11"/>
    <p:sldId id="396" r:id="rId12"/>
    <p:sldId id="397" r:id="rId13"/>
    <p:sldId id="395" r:id="rId14"/>
    <p:sldId id="409" r:id="rId15"/>
    <p:sldId id="407" r:id="rId16"/>
    <p:sldId id="400" r:id="rId17"/>
    <p:sldId id="408" r:id="rId18"/>
    <p:sldId id="401" r:id="rId19"/>
    <p:sldId id="402" r:id="rId20"/>
  </p:sldIdLst>
  <p:sldSz cx="12192000" cy="6858000"/>
  <p:notesSz cx="6807200" cy="9939338"/>
  <p:embeddedFontLst>
    <p:embeddedFont>
      <p:font typeface="Segoe UI" panose="020B0502040204020203" pitchFamily="34" charset="0"/>
      <p:regular r:id="rId23"/>
      <p:bold r:id="rId24"/>
      <p:italic r:id="rId25"/>
      <p:boldItalic r:id="rId26"/>
    </p:embeddedFont>
    <p:embeddedFont>
      <p:font typeface="Tw Cen MT" panose="020B0602020104020603" pitchFamily="34" charset="0"/>
      <p:regular r:id="rId27"/>
      <p:bold r:id="rId28"/>
      <p:italic r:id="rId29"/>
      <p:boldItalic r:id="rId30"/>
    </p:embeddedFont>
    <p:embeddedFont>
      <p:font typeface="맑은 고딕" panose="020B0503020000020004" pitchFamily="50" charset="-127"/>
      <p:regular r:id="rId31"/>
      <p:bold r:id="rId32"/>
    </p:embeddedFont>
    <p:embeddedFont>
      <p:font typeface="HY견고딕" panose="02030600000101010101" pitchFamily="18" charset="-127"/>
      <p:regular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  <p:embeddedFont>
      <p:font typeface="나눔고딕코딩" panose="020D0009000000000000" pitchFamily="49" charset="-127"/>
      <p:regular r:id="rId42"/>
      <p:bold r:id="rId43"/>
    </p:embeddedFont>
    <p:embeddedFont>
      <p:font typeface="Trebuchet MS" panose="020B0603020202020204" pitchFamily="34" charset="0"/>
      <p:regular r:id="rId44"/>
      <p:bold r:id="rId45"/>
      <p:italic r:id="rId46"/>
      <p:boldItalic r:id="rId47"/>
    </p:embeddedFont>
    <p:embeddedFont>
      <p:font typeface="나눔고딕" panose="020D0604000000000000" pitchFamily="50" charset="-127"/>
      <p:regular r:id="rId48"/>
      <p:bold r:id="rId49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7B2F5CB-46CC-41F4-B2C2-A62C1864818A}">
          <p14:sldIdLst>
            <p14:sldId id="262"/>
            <p14:sldId id="275"/>
          </p14:sldIdLst>
        </p14:section>
        <p14:section name="스퀘어" id="{9D8710DC-ABC0-4E23-9164-A8FCE78E9A95}">
          <p14:sldIdLst>
            <p14:sldId id="399"/>
            <p14:sldId id="390"/>
            <p14:sldId id="394"/>
            <p14:sldId id="410"/>
            <p14:sldId id="406"/>
            <p14:sldId id="396"/>
            <p14:sldId id="397"/>
            <p14:sldId id="395"/>
            <p14:sldId id="409"/>
            <p14:sldId id="407"/>
            <p14:sldId id="400"/>
            <p14:sldId id="408"/>
            <p14:sldId id="401"/>
            <p14:sldId id="402"/>
          </p14:sldIdLst>
        </p14:section>
      </p14:sectionLst>
    </p:ext>
    <p:ext uri="{EFAFB233-063F-42B5-8137-9DF3F51BA10A}">
      <p15:sldGuideLst xmlns:p15="http://schemas.microsoft.com/office/powerpoint/2012/main">
        <p15:guide id="7" pos="1644" userDrawn="1">
          <p15:clr>
            <a:srgbClr val="A4A3A4"/>
          </p15:clr>
        </p15:guide>
        <p15:guide id="8" pos="7470" userDrawn="1">
          <p15:clr>
            <a:srgbClr val="A4A3A4"/>
          </p15:clr>
        </p15:guide>
        <p15:guide id="9" orient="horz" pos="13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FF33"/>
    <a:srgbClr val="0066FF"/>
    <a:srgbClr val="FF0066"/>
    <a:srgbClr val="4F81BD"/>
    <a:srgbClr val="292929"/>
    <a:srgbClr val="FF6600"/>
    <a:srgbClr val="FF0000"/>
    <a:srgbClr val="BF90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22" autoAdjust="0"/>
  </p:normalViewPr>
  <p:slideViewPr>
    <p:cSldViewPr>
      <p:cViewPr>
        <p:scale>
          <a:sx n="80" d="100"/>
          <a:sy n="80" d="100"/>
        </p:scale>
        <p:origin x="48" y="53"/>
      </p:cViewPr>
      <p:guideLst>
        <p:guide pos="1644"/>
        <p:guide pos="7470"/>
        <p:guide orient="horz" pos="1338"/>
      </p:guideLst>
    </p:cSldViewPr>
  </p:slideViewPr>
  <p:outlineViewPr>
    <p:cViewPr>
      <p:scale>
        <a:sx n="33" d="100"/>
        <a:sy n="33" d="100"/>
      </p:scale>
      <p:origin x="0" y="89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-3954" y="-96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font" Target="fonts/font25.fntdata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font" Target="fonts/font7.fntdata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font" Target="fonts/font23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font" Target="fonts/font26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font" Target="fonts/font24.fntdata"/><Relationship Id="rId20" Type="http://schemas.openxmlformats.org/officeDocument/2006/relationships/slide" Target="slides/slide16.xml"/><Relationship Id="rId41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openxmlformats.org/officeDocument/2006/relationships/font" Target="fonts/font2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1B664AD-C4EC-484B-B50A-8C6F83EF08F0}" type="datetimeFigureOut">
              <a:rPr lang="ko-KR" altLang="en-US"/>
              <a:pPr>
                <a:defRPr/>
              </a:pPr>
              <a:t>2017-09-18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FAF0397-1E63-4BEE-AE82-6522F530A70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656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71ED8-3809-4B06-9EAD-C3D980C23EBE}" type="datetimeFigureOut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C340E-E18C-4A02-9B44-DBDB315C4D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65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3778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56793" y="352425"/>
            <a:ext cx="548346" cy="6316933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900" smtClean="0">
                <a:solidFill>
                  <a:srgbClr val="5F5F5F"/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LNB</a:t>
            </a:r>
            <a:endParaRPr lang="ko-KR" alt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3" name="직사각형 2"/>
          <p:cNvSpPr/>
          <p:nvPr userDrawn="1"/>
        </p:nvSpPr>
        <p:spPr>
          <a:xfrm>
            <a:off x="52602" y="352426"/>
            <a:ext cx="9173460" cy="33743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900" smtClean="0">
                <a:solidFill>
                  <a:srgbClr val="5F5F5F"/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GNB</a:t>
            </a:r>
            <a:endParaRPr lang="ko-KR" alt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4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1"/>
            </p:custDataLst>
          </p:nvPr>
        </p:nvSpPr>
        <p:spPr>
          <a:xfrm>
            <a:off x="52602" y="347472"/>
            <a:ext cx="9173460" cy="6321886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584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8736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748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91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447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950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19961058"/>
              </p:ext>
            </p:extLst>
          </p:nvPr>
        </p:nvGraphicFramePr>
        <p:xfrm>
          <a:off x="66251" y="83132"/>
          <a:ext cx="9173409" cy="213360"/>
        </p:xfrm>
        <a:graphic>
          <a:graphicData uri="http://schemas.openxmlformats.org/drawingml/2006/table">
            <a:tbl>
              <a:tblPr/>
              <a:tblGrid>
                <a:gridCol w="1170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7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4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0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3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화면경로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79071592"/>
              </p:ext>
            </p:extLst>
          </p:nvPr>
        </p:nvGraphicFramePr>
        <p:xfrm>
          <a:off x="9290533" y="83132"/>
          <a:ext cx="2835141" cy="648072"/>
        </p:xfrm>
        <a:graphic>
          <a:graphicData uri="http://schemas.openxmlformats.org/drawingml/2006/table">
            <a:tbl>
              <a:tblPr/>
              <a:tblGrid>
                <a:gridCol w="82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PROJECT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EGW UI/UX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개선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ID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작성자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 userDrawn="1"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Verdana" panose="020B0604030504040204" pitchFamily="34" charset="0"/>
            </a:endParaRPr>
          </a:p>
        </p:txBody>
      </p:sp>
      <p:sp>
        <p:nvSpPr>
          <p:cNvPr id="12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4"/>
            </p:custDataLst>
          </p:nvPr>
        </p:nvSpPr>
        <p:spPr>
          <a:xfrm>
            <a:off x="52602" y="347472"/>
            <a:ext cx="9173460" cy="632188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3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5"/>
            </p:custDataLst>
          </p:nvPr>
        </p:nvSpPr>
        <p:spPr>
          <a:xfrm>
            <a:off x="52602" y="74712"/>
            <a:ext cx="9173460" cy="211038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4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6"/>
            </p:custDataLst>
          </p:nvPr>
        </p:nvSpPr>
        <p:spPr>
          <a:xfrm>
            <a:off x="9273877" y="74712"/>
            <a:ext cx="2851448" cy="65871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6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7"/>
            </p:custDataLst>
          </p:nvPr>
        </p:nvSpPr>
        <p:spPr>
          <a:xfrm>
            <a:off x="9273877" y="790574"/>
            <a:ext cx="2851448" cy="587878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algn="r"/>
            <a:fld id="{209D9B70-5658-42EA-A7C8-1D839C7DC5C0}" type="slidenum">
              <a:rPr lang="ko-KR" altLang="en-US" sz="10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‹#›</a:t>
            </a:fld>
            <a:endParaRPr lang="ko-KR" altLang="en-US" sz="1000" b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153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27" r:id="rId1"/>
    <p:sldLayoutId id="2147485032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algn="r"/>
            <a:fld id="{209D9B70-5658-42EA-A7C8-1D839C7DC5C0}" type="slidenum">
              <a:rPr lang="ko-KR" altLang="en-US" sz="10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+mn-ea"/>
              </a:rPr>
              <a:t>‹#›</a:t>
            </a:fld>
            <a:endParaRPr lang="ko-KR" altLang="en-US" sz="1000" b="0" smtClean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+mn-ea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굴림" pitchFamily="50" charset="-127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39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1" r:id="rId1"/>
    <p:sldLayoutId id="2147485033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처리 6"/>
          <p:cNvSpPr/>
          <p:nvPr userDrawn="1"/>
        </p:nvSpPr>
        <p:spPr>
          <a:xfrm>
            <a:off x="0" y="4394"/>
            <a:ext cx="12192000" cy="685360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algn="r"/>
            <a:fld id="{209D9B70-5658-42EA-A7C8-1D839C7DC5C0}" type="slidenum">
              <a:rPr lang="ko-KR" altLang="en-US" sz="10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+mn-ea"/>
              </a:rPr>
              <a:t>‹#›</a:t>
            </a:fld>
            <a:endParaRPr lang="ko-KR" altLang="en-US" sz="1000" b="0" smtClean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+mn-ea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굴림" pitchFamily="50" charset="-127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230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5" r:id="rId1"/>
    <p:sldLayoutId id="2147485036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3"/>
          <p:cNvGraphicFramePr>
            <a:graphicFrameLocks noGrp="1"/>
          </p:cNvGraphicFramePr>
          <p:nvPr userDrawn="1">
            <p:extLst/>
          </p:nvPr>
        </p:nvGraphicFramePr>
        <p:xfrm>
          <a:off x="66251" y="83132"/>
          <a:ext cx="9173409" cy="213360"/>
        </p:xfrm>
        <a:graphic>
          <a:graphicData uri="http://schemas.openxmlformats.org/drawingml/2006/table">
            <a:tbl>
              <a:tblPr/>
              <a:tblGrid>
                <a:gridCol w="1170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7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4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0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3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화면경로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3"/>
          <p:cNvGraphicFramePr>
            <a:graphicFrameLocks noGrp="1"/>
          </p:cNvGraphicFramePr>
          <p:nvPr userDrawn="1">
            <p:extLst/>
          </p:nvPr>
        </p:nvGraphicFramePr>
        <p:xfrm>
          <a:off x="9290533" y="83132"/>
          <a:ext cx="2835141" cy="648072"/>
        </p:xfrm>
        <a:graphic>
          <a:graphicData uri="http://schemas.openxmlformats.org/drawingml/2006/table">
            <a:tbl>
              <a:tblPr/>
              <a:tblGrid>
                <a:gridCol w="82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PROJECT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EGW UI/UX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개선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 userDrawn="1"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Verdana" panose="020B0604030504040204" pitchFamily="34" charset="0"/>
              <a:ea typeface="굴림" pitchFamily="50" charset="-127"/>
              <a:cs typeface="Verdana" panose="020B0604030504040204" pitchFamily="34" charset="0"/>
            </a:endParaRPr>
          </a:p>
        </p:txBody>
      </p:sp>
      <p:sp>
        <p:nvSpPr>
          <p:cNvPr id="12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3"/>
            </p:custDataLst>
          </p:nvPr>
        </p:nvSpPr>
        <p:spPr>
          <a:xfrm>
            <a:off x="52602" y="347472"/>
            <a:ext cx="9173460" cy="632188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4"/>
            </p:custDataLst>
          </p:nvPr>
        </p:nvSpPr>
        <p:spPr>
          <a:xfrm>
            <a:off x="52602" y="74712"/>
            <a:ext cx="9173460" cy="211038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4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5"/>
            </p:custDataLst>
          </p:nvPr>
        </p:nvSpPr>
        <p:spPr>
          <a:xfrm>
            <a:off x="9273877" y="74712"/>
            <a:ext cx="2851448" cy="65871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6"/>
            </p:custDataLst>
          </p:nvPr>
        </p:nvSpPr>
        <p:spPr>
          <a:xfrm>
            <a:off x="9273877" y="790574"/>
            <a:ext cx="2851448" cy="587878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9D9B70-5658-42EA-A7C8-1D839C7DC5C0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w Cen MT" panose="020B0602020104020603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w Cen MT" panose="020B0602020104020603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2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26" Type="http://schemas.openxmlformats.org/officeDocument/2006/relationships/tags" Target="../tags/tag35.xml"/><Relationship Id="rId3" Type="http://schemas.openxmlformats.org/officeDocument/2006/relationships/tags" Target="../tags/tag12.xml"/><Relationship Id="rId21" Type="http://schemas.openxmlformats.org/officeDocument/2006/relationships/tags" Target="../tags/tag30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5" Type="http://schemas.openxmlformats.org/officeDocument/2006/relationships/tags" Target="../tags/tag34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tags" Target="../tags/tag29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tags" Target="../tags/tag33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tags" Target="../tags/tag32.xml"/><Relationship Id="rId28" Type="http://schemas.openxmlformats.org/officeDocument/2006/relationships/image" Target="../media/image1.png"/><Relationship Id="rId10" Type="http://schemas.openxmlformats.org/officeDocument/2006/relationships/tags" Target="../tags/tag19.xml"/><Relationship Id="rId19" Type="http://schemas.openxmlformats.org/officeDocument/2006/relationships/tags" Target="../tags/tag28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tags" Target="../tags/tag31.xml"/><Relationship Id="rId27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tags" Target="../tags/tag50.xml"/><Relationship Id="rId18" Type="http://schemas.openxmlformats.org/officeDocument/2006/relationships/tags" Target="../tags/tag55.xml"/><Relationship Id="rId26" Type="http://schemas.openxmlformats.org/officeDocument/2006/relationships/tags" Target="../tags/tag63.xml"/><Relationship Id="rId3" Type="http://schemas.openxmlformats.org/officeDocument/2006/relationships/tags" Target="../tags/tag40.xml"/><Relationship Id="rId21" Type="http://schemas.openxmlformats.org/officeDocument/2006/relationships/tags" Target="../tags/tag58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tags" Target="../tags/tag54.xml"/><Relationship Id="rId25" Type="http://schemas.openxmlformats.org/officeDocument/2006/relationships/tags" Target="../tags/tag62.xml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20" Type="http://schemas.openxmlformats.org/officeDocument/2006/relationships/tags" Target="../tags/tag57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24" Type="http://schemas.openxmlformats.org/officeDocument/2006/relationships/tags" Target="../tags/tag61.xml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23" Type="http://schemas.openxmlformats.org/officeDocument/2006/relationships/tags" Target="../tags/tag60.xml"/><Relationship Id="rId28" Type="http://schemas.openxmlformats.org/officeDocument/2006/relationships/image" Target="../media/image1.png"/><Relationship Id="rId10" Type="http://schemas.openxmlformats.org/officeDocument/2006/relationships/tags" Target="../tags/tag47.xml"/><Relationship Id="rId19" Type="http://schemas.openxmlformats.org/officeDocument/2006/relationships/tags" Target="../tags/tag56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Relationship Id="rId22" Type="http://schemas.openxmlformats.org/officeDocument/2006/relationships/tags" Target="../tags/tag59.xml"/><Relationship Id="rId27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7" Type="http://schemas.openxmlformats.org/officeDocument/2006/relationships/image" Target="../media/image1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1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5" Type="http://schemas.openxmlformats.org/officeDocument/2006/relationships/tags" Target="../tags/tag78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tags" Target="../tags/tag100.xml"/><Relationship Id="rId18" Type="http://schemas.openxmlformats.org/officeDocument/2006/relationships/tags" Target="../tags/tag105.xml"/><Relationship Id="rId26" Type="http://schemas.openxmlformats.org/officeDocument/2006/relationships/image" Target="../media/image2.png"/><Relationship Id="rId3" Type="http://schemas.openxmlformats.org/officeDocument/2006/relationships/tags" Target="../tags/tag90.xml"/><Relationship Id="rId21" Type="http://schemas.openxmlformats.org/officeDocument/2006/relationships/tags" Target="../tags/tag108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17" Type="http://schemas.openxmlformats.org/officeDocument/2006/relationships/tags" Target="../tags/tag104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89.xml"/><Relationship Id="rId16" Type="http://schemas.openxmlformats.org/officeDocument/2006/relationships/tags" Target="../tags/tag103.xml"/><Relationship Id="rId20" Type="http://schemas.openxmlformats.org/officeDocument/2006/relationships/tags" Target="../tags/tag107.xml"/><Relationship Id="rId29" Type="http://schemas.openxmlformats.org/officeDocument/2006/relationships/image" Target="../media/image4.png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24" Type="http://schemas.openxmlformats.org/officeDocument/2006/relationships/tags" Target="../tags/tag111.xml"/><Relationship Id="rId5" Type="http://schemas.openxmlformats.org/officeDocument/2006/relationships/tags" Target="../tags/tag92.xml"/><Relationship Id="rId15" Type="http://schemas.openxmlformats.org/officeDocument/2006/relationships/tags" Target="../tags/tag102.xml"/><Relationship Id="rId23" Type="http://schemas.openxmlformats.org/officeDocument/2006/relationships/tags" Target="../tags/tag110.xml"/><Relationship Id="rId28" Type="http://schemas.openxmlformats.org/officeDocument/2006/relationships/image" Target="../media/image1.png"/><Relationship Id="rId10" Type="http://schemas.openxmlformats.org/officeDocument/2006/relationships/tags" Target="../tags/tag97.xml"/><Relationship Id="rId19" Type="http://schemas.openxmlformats.org/officeDocument/2006/relationships/tags" Target="../tags/tag106.xml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tags" Target="../tags/tag101.xml"/><Relationship Id="rId22" Type="http://schemas.openxmlformats.org/officeDocument/2006/relationships/tags" Target="../tags/tag109.xml"/><Relationship Id="rId27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6.xml"/><Relationship Id="rId4" Type="http://schemas.openxmlformats.org/officeDocument/2006/relationships/tags" Target="../tags/tag1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13" Type="http://schemas.openxmlformats.org/officeDocument/2006/relationships/tags" Target="../tags/tag129.xml"/><Relationship Id="rId18" Type="http://schemas.openxmlformats.org/officeDocument/2006/relationships/tags" Target="../tags/tag134.xml"/><Relationship Id="rId26" Type="http://schemas.openxmlformats.org/officeDocument/2006/relationships/tags" Target="../tags/tag142.xml"/><Relationship Id="rId3" Type="http://schemas.openxmlformats.org/officeDocument/2006/relationships/tags" Target="../tags/tag119.xml"/><Relationship Id="rId21" Type="http://schemas.openxmlformats.org/officeDocument/2006/relationships/tags" Target="../tags/tag137.xml"/><Relationship Id="rId7" Type="http://schemas.openxmlformats.org/officeDocument/2006/relationships/tags" Target="../tags/tag123.xml"/><Relationship Id="rId12" Type="http://schemas.openxmlformats.org/officeDocument/2006/relationships/tags" Target="../tags/tag128.xml"/><Relationship Id="rId17" Type="http://schemas.openxmlformats.org/officeDocument/2006/relationships/tags" Target="../tags/tag133.xml"/><Relationship Id="rId25" Type="http://schemas.openxmlformats.org/officeDocument/2006/relationships/tags" Target="../tags/tag141.xml"/><Relationship Id="rId2" Type="http://schemas.openxmlformats.org/officeDocument/2006/relationships/tags" Target="../tags/tag118.xml"/><Relationship Id="rId16" Type="http://schemas.openxmlformats.org/officeDocument/2006/relationships/tags" Target="../tags/tag132.xml"/><Relationship Id="rId20" Type="http://schemas.openxmlformats.org/officeDocument/2006/relationships/tags" Target="../tags/tag136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tags" Target="../tags/tag127.xml"/><Relationship Id="rId24" Type="http://schemas.openxmlformats.org/officeDocument/2006/relationships/tags" Target="../tags/tag140.xml"/><Relationship Id="rId5" Type="http://schemas.openxmlformats.org/officeDocument/2006/relationships/tags" Target="../tags/tag121.xml"/><Relationship Id="rId15" Type="http://schemas.openxmlformats.org/officeDocument/2006/relationships/tags" Target="../tags/tag131.xml"/><Relationship Id="rId23" Type="http://schemas.openxmlformats.org/officeDocument/2006/relationships/tags" Target="../tags/tag139.xml"/><Relationship Id="rId28" Type="http://schemas.openxmlformats.org/officeDocument/2006/relationships/image" Target="../media/image1.png"/><Relationship Id="rId10" Type="http://schemas.openxmlformats.org/officeDocument/2006/relationships/tags" Target="../tags/tag126.xml"/><Relationship Id="rId19" Type="http://schemas.openxmlformats.org/officeDocument/2006/relationships/tags" Target="../tags/tag135.xml"/><Relationship Id="rId4" Type="http://schemas.openxmlformats.org/officeDocument/2006/relationships/tags" Target="../tags/tag120.xml"/><Relationship Id="rId9" Type="http://schemas.openxmlformats.org/officeDocument/2006/relationships/tags" Target="../tags/tag125.xml"/><Relationship Id="rId14" Type="http://schemas.openxmlformats.org/officeDocument/2006/relationships/tags" Target="../tags/tag130.xml"/><Relationship Id="rId22" Type="http://schemas.openxmlformats.org/officeDocument/2006/relationships/tags" Target="../tags/tag138.xml"/><Relationship Id="rId27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990124" y="1793965"/>
            <a:ext cx="8533160" cy="7703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4400" b="1" smtClean="0">
                <a:solidFill>
                  <a:schemeClr val="bg1">
                    <a:lumMod val="65000"/>
                  </a:schemeClr>
                </a:solidFill>
                <a:latin typeface="Trebuchet MS" panose="020B0603020202020204" pitchFamily="34" charset="0"/>
                <a:ea typeface="+mn-ea"/>
              </a:rPr>
              <a:t>EGW Admin</a:t>
            </a:r>
            <a:r>
              <a:rPr kumimoji="0" lang="en-US" altLang="ko-KR" sz="440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_</a:t>
            </a:r>
            <a:r>
              <a:rPr kumimoji="0" lang="ko-KR" altLang="en-US" sz="44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스퀘어 플러스</a:t>
            </a:r>
            <a:endParaRPr kumimoji="0" lang="ko-KR" altLang="en-US" sz="4400" b="1" dirty="0">
              <a:solidFill>
                <a:schemeClr val="tx1">
                  <a:lumMod val="95000"/>
                  <a:lumOff val="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8" name="텍스트 개체 틀 21"/>
          <p:cNvSpPr txBox="1">
            <a:spLocks/>
          </p:cNvSpPr>
          <p:nvPr/>
        </p:nvSpPr>
        <p:spPr>
          <a:xfrm>
            <a:off x="1001450" y="2473846"/>
            <a:ext cx="2736304" cy="90300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ko-KR" altLang="en-US" sz="2400" b="1" kern="1200" smtClean="0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  <a:lvl2pPr marL="596646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ko-KR" alt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kumimoji="0" lang="en-US" altLang="ko-KR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Ver : </a:t>
            </a:r>
            <a:r>
              <a:rPr kumimoji="0" lang="en-US" altLang="ko-KR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0.4</a:t>
            </a:r>
            <a:endParaRPr lang="ko-KR" altLang="en-US" sz="1100" b="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작성일 </a:t>
            </a:r>
            <a:r>
              <a:rPr kumimoji="0" lang="en-US" altLang="ko-KR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kumimoji="0" lang="en-US" altLang="ko-KR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2017.09.18</a:t>
            </a:r>
            <a:endParaRPr kumimoji="0" lang="en-US" altLang="ko-KR" sz="1100" b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작성자 </a:t>
            </a:r>
            <a:r>
              <a:rPr kumimoji="0" lang="en-US" altLang="ko-KR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kumimoji="0" lang="ko-KR" altLang="en-US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정규용</a:t>
            </a:r>
            <a:endParaRPr kumimoji="0" lang="en-US" altLang="ko-KR" sz="1100" b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138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3"/>
          <p:cNvSpPr txBox="1">
            <a:spLocks/>
          </p:cNvSpPr>
          <p:nvPr/>
        </p:nvSpPr>
        <p:spPr>
          <a:xfrm>
            <a:off x="990126" y="404664"/>
            <a:ext cx="8568952" cy="3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spc="-100" baseline="0">
                <a:solidFill>
                  <a:srgbClr val="0B55B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6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Archive</a:t>
            </a:r>
            <a:endParaRPr kumimoji="0" lang="ko-KR" altLang="en-US" sz="1600" b="0" dirty="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071411"/>
              </p:ext>
            </p:extLst>
          </p:nvPr>
        </p:nvGraphicFramePr>
        <p:xfrm>
          <a:off x="990126" y="1099552"/>
          <a:ext cx="1021844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426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1655089939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1094341974"/>
                    </a:ext>
                  </a:extLst>
                </a:gridCol>
                <a:gridCol w="864095">
                  <a:extLst>
                    <a:ext uri="{9D8B030D-6E8A-4147-A177-3AD203B41FA5}">
                      <a16:colId xmlns:a16="http://schemas.microsoft.com/office/drawing/2014/main" val="179082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작성일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메뉴명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메뉴명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83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2017-07-03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최초 작성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2017-07-17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진행중인 그룹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진행중인 그룹 상세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구성원 추가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관리자 권한 등급 설정 분리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2017-09-05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공통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검색결과가 없을 경우 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이전으로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버튼 삭제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ASG1.1</a:t>
                      </a:r>
                      <a:endParaRPr kumimoji="1" lang="ko-KR" altLang="en-US" sz="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2017-09-18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진행중인 그룹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목록내 관리자 항목 추가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ASG1.1</a:t>
                      </a:r>
                      <a:endParaRPr kumimoji="1" lang="ko-KR" altLang="en-US" sz="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종료된 그룹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목록내 관리자 항목 추가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ASG1.2</a:t>
                      </a:r>
                      <a:endParaRPr kumimoji="1" lang="ko-KR" altLang="en-US" sz="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9699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관리자 목록 팝업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관리자 목록 팝업 신규 추가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ASG1.1.2</a:t>
                      </a:r>
                      <a:endParaRPr lang="ko-KR" altLang="en-US" sz="900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238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215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110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503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1340768"/>
            <a:ext cx="5205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스퀘어 플러스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진행중인 그룹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752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474816"/>
              </p:ext>
            </p:extLst>
          </p:nvPr>
        </p:nvGraphicFramePr>
        <p:xfrm>
          <a:off x="990126" y="1050330"/>
          <a:ext cx="6582781" cy="7950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1512">
                  <a:extLst>
                    <a:ext uri="{9D8B030D-6E8A-4147-A177-3AD203B41FA5}">
                      <a16:colId xmlns:a16="http://schemas.microsoft.com/office/drawing/2014/main" val="1349838453"/>
                    </a:ext>
                  </a:extLst>
                </a:gridCol>
                <a:gridCol w="1311512">
                  <a:extLst>
                    <a:ext uri="{9D8B030D-6E8A-4147-A177-3AD203B41FA5}">
                      <a16:colId xmlns:a16="http://schemas.microsoft.com/office/drawing/2014/main" val="3375671333"/>
                    </a:ext>
                  </a:extLst>
                </a:gridCol>
                <a:gridCol w="1311512">
                  <a:extLst>
                    <a:ext uri="{9D8B030D-6E8A-4147-A177-3AD203B41FA5}">
                      <a16:colId xmlns:a16="http://schemas.microsoft.com/office/drawing/2014/main" val="148483404"/>
                    </a:ext>
                  </a:extLst>
                </a:gridCol>
                <a:gridCol w="1311512">
                  <a:extLst>
                    <a:ext uri="{9D8B030D-6E8A-4147-A177-3AD203B41FA5}">
                      <a16:colId xmlns:a16="http://schemas.microsoft.com/office/drawing/2014/main" val="632755251"/>
                    </a:ext>
                  </a:extLst>
                </a:gridCol>
                <a:gridCol w="1336733">
                  <a:extLst>
                    <a:ext uri="{9D8B030D-6E8A-4147-A177-3AD203B41FA5}">
                      <a16:colId xmlns:a16="http://schemas.microsoft.com/office/drawing/2014/main" val="1469623920"/>
                    </a:ext>
                  </a:extLst>
                </a:gridCol>
              </a:tblGrid>
              <a:tr h="2622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smtClean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 그룹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407593"/>
                  </a:ext>
                </a:extLst>
              </a:tr>
              <a:tr h="262213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smtClean="0">
                          <a:solidFill>
                            <a:srgbClr val="FFFF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진행중인 그룹</a:t>
                      </a:r>
                      <a:endParaRPr lang="ko-KR" altLang="en-US" sz="900" b="1" i="0" u="none" strike="noStrike">
                        <a:solidFill>
                          <a:srgbClr val="FFFF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279901"/>
                  </a:ext>
                </a:extLst>
              </a:tr>
              <a:tr h="270672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종료된 그룹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C6591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348893"/>
                  </a:ext>
                </a:extLst>
              </a:tr>
            </a:tbl>
          </a:graphicData>
        </a:graphic>
      </p:graphicFrame>
      <p:sp>
        <p:nvSpPr>
          <p:cNvPr id="4" name="텍스트 개체 틀 3"/>
          <p:cNvSpPr txBox="1">
            <a:spLocks/>
          </p:cNvSpPr>
          <p:nvPr/>
        </p:nvSpPr>
        <p:spPr>
          <a:xfrm>
            <a:off x="1008246" y="383810"/>
            <a:ext cx="8568952" cy="3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spc="-100" baseline="0">
                <a:solidFill>
                  <a:srgbClr val="0B55B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6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Location</a:t>
            </a:r>
            <a:endParaRPr kumimoji="0" lang="ko-KR" altLang="en-US" sz="1600" b="0" dirty="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910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진행중인 그룹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진행중인 그룹</a:t>
            </a: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96636"/>
              </p:ext>
            </p:extLst>
          </p:nvPr>
        </p:nvGraphicFramePr>
        <p:xfrm>
          <a:off x="1000573" y="2396339"/>
          <a:ext cx="7671785" cy="3192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71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347356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2369468">
                  <a:extLst>
                    <a:ext uri="{9D8B030D-6E8A-4147-A177-3AD203B41FA5}">
                      <a16:colId xmlns:a16="http://schemas.microsoft.com/office/drawing/2014/main" val="78043009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986197">
                  <a:extLst>
                    <a:ext uri="{9D8B030D-6E8A-4147-A177-3AD203B41FA5}">
                      <a16:colId xmlns:a16="http://schemas.microsoft.com/office/drawing/2014/main" val="806056156"/>
                    </a:ext>
                  </a:extLst>
                </a:gridCol>
                <a:gridCol w="886011">
                  <a:extLst>
                    <a:ext uri="{9D8B030D-6E8A-4147-A177-3AD203B41FA5}">
                      <a16:colId xmlns:a16="http://schemas.microsoft.com/office/drawing/2014/main" val="4275985075"/>
                    </a:ext>
                  </a:extLst>
                </a:gridCol>
                <a:gridCol w="964143">
                  <a:extLst>
                    <a:ext uri="{9D8B030D-6E8A-4147-A177-3AD203B41FA5}">
                      <a16:colId xmlns:a16="http://schemas.microsoft.com/office/drawing/2014/main" val="2660714960"/>
                    </a:ext>
                  </a:extLst>
                </a:gridCol>
                <a:gridCol w="964143">
                  <a:extLst>
                    <a:ext uri="{9D8B030D-6E8A-4147-A177-3AD203B41FA5}">
                      <a16:colId xmlns:a16="http://schemas.microsoft.com/office/drawing/2014/main" val="2372415010"/>
                    </a:ext>
                  </a:extLst>
                </a:gridCol>
              </a:tblGrid>
              <a:tr h="386368"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666363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No</a:t>
                      </a: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관리자</a:t>
                      </a: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개설자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개설일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최근 접속일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비공개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이길수</a:t>
                      </a: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2016-07-04</a:t>
                      </a: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전사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이길수 외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82597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이길수 외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850647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비공개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이길수 외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462058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전사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이길수 외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95181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이길수 외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97899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비공개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이길수 외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94928"/>
                  </a:ext>
                </a:extLst>
              </a:tr>
            </a:tbl>
          </a:graphicData>
        </a:graphic>
      </p:graphicFrame>
      <p:grpSp>
        <p:nvGrpSpPr>
          <p:cNvPr id="4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091617" y="2878244"/>
            <a:ext cx="107839" cy="109736"/>
            <a:chOff x="554563" y="2632644"/>
            <a:chExt cx="131556" cy="131556"/>
          </a:xfrm>
        </p:grpSpPr>
        <p:sp>
          <p:nvSpPr>
            <p:cNvPr id="4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4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96" name="모서리가 둥근 직사각형 95"/>
          <p:cNvSpPr/>
          <p:nvPr/>
        </p:nvSpPr>
        <p:spPr>
          <a:xfrm>
            <a:off x="1088985" y="2468347"/>
            <a:ext cx="830551" cy="22664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itchFamily="50" charset="-127"/>
                <a:cs typeface="+mn-cs"/>
              </a:rPr>
              <a:t>그룹 종료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</p:txBody>
      </p:sp>
      <p:grpSp>
        <p:nvGrpSpPr>
          <p:cNvPr id="101" name="그룹 100"/>
          <p:cNvGrpSpPr/>
          <p:nvPr/>
        </p:nvGrpSpPr>
        <p:grpSpPr>
          <a:xfrm>
            <a:off x="5694917" y="2071613"/>
            <a:ext cx="2944649" cy="227608"/>
            <a:chOff x="5903179" y="2445148"/>
            <a:chExt cx="2944649" cy="227608"/>
          </a:xfrm>
        </p:grpSpPr>
        <p:sp>
          <p:nvSpPr>
            <p:cNvPr id="102" name="모서리가 둥근 직사각형 101"/>
            <p:cNvSpPr/>
            <p:nvPr/>
          </p:nvSpPr>
          <p:spPr>
            <a:xfrm>
              <a:off x="6666292" y="2445148"/>
              <a:ext cx="2181536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03" name="모서리가 둥근 직사각형 102"/>
            <p:cNvSpPr/>
            <p:nvPr/>
          </p:nvSpPr>
          <p:spPr>
            <a:xfrm>
              <a:off x="5903179" y="2446109"/>
              <a:ext cx="683617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그룹명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 rot="5400000">
              <a:off x="6401365" y="2460560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4315" y="2492511"/>
              <a:ext cx="125049" cy="125049"/>
            </a:xfrm>
            <a:prstGeom prst="rect">
              <a:avLst/>
            </a:prstGeom>
          </p:spPr>
        </p:pic>
      </p:grpSp>
      <p:grpSp>
        <p:nvGrpSpPr>
          <p:cNvPr id="3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1091617" y="3221144"/>
            <a:ext cx="107839" cy="109736"/>
            <a:chOff x="554563" y="2632644"/>
            <a:chExt cx="131556" cy="131556"/>
          </a:xfrm>
        </p:grpSpPr>
        <p:sp>
          <p:nvSpPr>
            <p:cNvPr id="3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1091617" y="3573569"/>
            <a:ext cx="107839" cy="109736"/>
            <a:chOff x="554563" y="2632644"/>
            <a:chExt cx="131556" cy="131556"/>
          </a:xfrm>
        </p:grpSpPr>
        <p:sp>
          <p:nvSpPr>
            <p:cNvPr id="3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1091617" y="3906944"/>
            <a:ext cx="107839" cy="109736"/>
            <a:chOff x="554563" y="2632644"/>
            <a:chExt cx="131556" cy="131556"/>
          </a:xfrm>
        </p:grpSpPr>
        <p:sp>
          <p:nvSpPr>
            <p:cNvPr id="3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1091617" y="4287944"/>
            <a:ext cx="107839" cy="109736"/>
            <a:chOff x="554563" y="2632644"/>
            <a:chExt cx="131556" cy="131556"/>
          </a:xfrm>
        </p:grpSpPr>
        <p:sp>
          <p:nvSpPr>
            <p:cNvPr id="4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4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1091617" y="4640369"/>
            <a:ext cx="107839" cy="109736"/>
            <a:chOff x="554563" y="2632644"/>
            <a:chExt cx="131556" cy="131556"/>
          </a:xfrm>
        </p:grpSpPr>
        <p:sp>
          <p:nvSpPr>
            <p:cNvPr id="5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5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1091617" y="4983269"/>
            <a:ext cx="107839" cy="109736"/>
            <a:chOff x="554563" y="2632644"/>
            <a:chExt cx="131556" cy="131556"/>
          </a:xfrm>
        </p:grpSpPr>
        <p:sp>
          <p:nvSpPr>
            <p:cNvPr id="5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5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1091617" y="5354744"/>
            <a:ext cx="107839" cy="109736"/>
            <a:chOff x="554563" y="2632644"/>
            <a:chExt cx="131556" cy="131556"/>
          </a:xfrm>
        </p:grpSpPr>
        <p:sp>
          <p:nvSpPr>
            <p:cNvPr id="5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8112224" y="2468347"/>
            <a:ext cx="468189" cy="226647"/>
            <a:chOff x="8184232" y="2397322"/>
            <a:chExt cx="468189" cy="226647"/>
          </a:xfrm>
        </p:grpSpPr>
        <p:sp>
          <p:nvSpPr>
            <p:cNvPr id="59" name="모서리가 둥근 직사각형 58"/>
            <p:cNvSpPr/>
            <p:nvPr/>
          </p:nvSpPr>
          <p:spPr>
            <a:xfrm>
              <a:off x="8184232" y="2397322"/>
              <a:ext cx="464363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15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7184502" y="2468347"/>
            <a:ext cx="835155" cy="226647"/>
            <a:chOff x="7817266" y="2397322"/>
            <a:chExt cx="835155" cy="226647"/>
          </a:xfrm>
        </p:grpSpPr>
        <p:sp>
          <p:nvSpPr>
            <p:cNvPr id="63" name="모서리가 둥근 직사각형 62"/>
            <p:cNvSpPr/>
            <p:nvPr/>
          </p:nvSpPr>
          <p:spPr>
            <a:xfrm>
              <a:off x="7817266" y="2397322"/>
              <a:ext cx="831329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전체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cxnSp>
        <p:nvCxnSpPr>
          <p:cNvPr id="67" name="직선 연결선 6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186367" y="307726"/>
            <a:ext cx="914400" cy="18757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ASG1.1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7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761760"/>
              </p:ext>
            </p:extLst>
          </p:nvPr>
        </p:nvGraphicFramePr>
        <p:xfrm>
          <a:off x="9290533" y="786383"/>
          <a:ext cx="2835141" cy="3097616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종료시킬 그룹 선택 후 클릭시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&gt;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선택하신 스퀘어 그룹을 종료하시겠습니까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?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 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확인 취소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확인 클릭시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&gt;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 그룹이 종료되었습니다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선택된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스퀘어가 없을 경우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alert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&gt;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종료시킬 스퀘어 그룹을 선택해주세요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신규 스퀘어 그룹 추가 화면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 그룹명 클릭시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상세 정보 화면으로 이동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952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4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개설일 순으로 기본 정렬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39387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5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지정된 관리자가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명이상일 경우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좌측 화면과 같이 출력하며        클릭시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전체 관리자 확인 팝업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en-US" altLang="ko-KR" sz="800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ASG1.1.2)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210710"/>
                  </a:ext>
                </a:extLst>
              </a:tr>
            </a:tbl>
          </a:graphicData>
        </a:graphic>
      </p:graphicFrame>
      <p:grpSp>
        <p:nvGrpSpPr>
          <p:cNvPr id="72" name="그룹 71"/>
          <p:cNvGrpSpPr/>
          <p:nvPr/>
        </p:nvGrpSpPr>
        <p:grpSpPr>
          <a:xfrm>
            <a:off x="1000573" y="1482657"/>
            <a:ext cx="7671785" cy="294480"/>
            <a:chOff x="2612145" y="1195952"/>
            <a:chExt cx="7671785" cy="294480"/>
          </a:xfrm>
        </p:grpSpPr>
        <p:cxnSp>
          <p:nvCxnSpPr>
            <p:cNvPr id="75" name="직선 연결선 74"/>
            <p:cNvCxnSpPr/>
            <p:nvPr/>
          </p:nvCxnSpPr>
          <p:spPr>
            <a:xfrm>
              <a:off x="2612145" y="1490432"/>
              <a:ext cx="7671785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9"/>
              </p:custDataLst>
            </p:nvPr>
          </p:nvSpPr>
          <p:spPr>
            <a:xfrm>
              <a:off x="2762006" y="1195952"/>
              <a:ext cx="1021484" cy="29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b="1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진행중인 그룹</a:t>
              </a:r>
              <a:endPara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77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10"/>
              </p:custDataLst>
            </p:nvPr>
          </p:nvSpPr>
          <p:spPr>
            <a:xfrm>
              <a:off x="3766746" y="1195952"/>
              <a:ext cx="1021484" cy="294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smtClean="0">
                  <a:solidFill>
                    <a:schemeClr val="bg1">
                      <a:lumMod val="7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종료된 그룹</a:t>
              </a:r>
              <a:endParaRPr lang="en-US" sz="800" dirty="0">
                <a:solidFill>
                  <a:schemeClr val="bg1">
                    <a:lumMod val="7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8" name="모서리가 둥근 직사각형 77"/>
          <p:cNvSpPr/>
          <p:nvPr/>
        </p:nvSpPr>
        <p:spPr>
          <a:xfrm>
            <a:off x="2007948" y="2468347"/>
            <a:ext cx="830551" cy="22664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그룹 추가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grpSp>
        <p:nvGrpSpPr>
          <p:cNvPr id="87" name="그룹 86"/>
          <p:cNvGrpSpPr/>
          <p:nvPr/>
        </p:nvGrpSpPr>
        <p:grpSpPr>
          <a:xfrm>
            <a:off x="19050" y="5445224"/>
            <a:ext cx="9201147" cy="262732"/>
            <a:chOff x="19050" y="4795043"/>
            <a:chExt cx="8071075" cy="253207"/>
          </a:xfrm>
        </p:grpSpPr>
        <p:grpSp>
          <p:nvGrpSpPr>
            <p:cNvPr id="88" name="Cutout"/>
            <p:cNvGrpSpPr/>
            <p:nvPr/>
          </p:nvGrpSpPr>
          <p:grpSpPr>
            <a:xfrm rot="16200000">
              <a:off x="1906985" y="2907108"/>
              <a:ext cx="253207" cy="4029078"/>
              <a:chOff x="6402388" y="1584325"/>
              <a:chExt cx="239713" cy="933450"/>
            </a:xfrm>
            <a:solidFill>
              <a:srgbClr val="FFFFFF"/>
            </a:solidFill>
          </p:grpSpPr>
          <p:sp>
            <p:nvSpPr>
              <p:cNvPr id="92" name="Fill"/>
              <p:cNvSpPr>
                <a:spLocks/>
              </p:cNvSpPr>
              <p:nvPr/>
            </p:nvSpPr>
            <p:spPr bwMode="auto">
              <a:xfrm>
                <a:off x="6402388" y="1584325"/>
                <a:ext cx="239713" cy="933450"/>
              </a:xfrm>
              <a:custGeom>
                <a:avLst/>
                <a:gdLst>
                  <a:gd name="T0" fmla="*/ 74 w 151"/>
                  <a:gd name="T1" fmla="*/ 588 h 588"/>
                  <a:gd name="T2" fmla="*/ 151 w 151"/>
                  <a:gd name="T3" fmla="*/ 518 h 588"/>
                  <a:gd name="T4" fmla="*/ 74 w 151"/>
                  <a:gd name="T5" fmla="*/ 441 h 588"/>
                  <a:gd name="T6" fmla="*/ 151 w 151"/>
                  <a:gd name="T7" fmla="*/ 375 h 588"/>
                  <a:gd name="T8" fmla="*/ 74 w 151"/>
                  <a:gd name="T9" fmla="*/ 294 h 588"/>
                  <a:gd name="T10" fmla="*/ 151 w 151"/>
                  <a:gd name="T11" fmla="*/ 231 h 588"/>
                  <a:gd name="T12" fmla="*/ 74 w 151"/>
                  <a:gd name="T13" fmla="*/ 147 h 588"/>
                  <a:gd name="T14" fmla="*/ 151 w 151"/>
                  <a:gd name="T15" fmla="*/ 88 h 588"/>
                  <a:gd name="T16" fmla="*/ 74 w 151"/>
                  <a:gd name="T17" fmla="*/ 0 h 588"/>
                  <a:gd name="T18" fmla="*/ 0 w 151"/>
                  <a:gd name="T19" fmla="*/ 0 h 588"/>
                  <a:gd name="T20" fmla="*/ 78 w 151"/>
                  <a:gd name="T21" fmla="*/ 88 h 588"/>
                  <a:gd name="T22" fmla="*/ 0 w 151"/>
                  <a:gd name="T23" fmla="*/ 147 h 588"/>
                  <a:gd name="T24" fmla="*/ 78 w 151"/>
                  <a:gd name="T25" fmla="*/ 231 h 588"/>
                  <a:gd name="T26" fmla="*/ 0 w 151"/>
                  <a:gd name="T27" fmla="*/ 294 h 588"/>
                  <a:gd name="T28" fmla="*/ 78 w 151"/>
                  <a:gd name="T29" fmla="*/ 375 h 588"/>
                  <a:gd name="T30" fmla="*/ 0 w 151"/>
                  <a:gd name="T31" fmla="*/ 441 h 588"/>
                  <a:gd name="T32" fmla="*/ 78 w 151"/>
                  <a:gd name="T33" fmla="*/ 518 h 588"/>
                  <a:gd name="T34" fmla="*/ 0 w 151"/>
                  <a:gd name="T35" fmla="*/ 588 h 588"/>
                  <a:gd name="T36" fmla="*/ 74 w 151"/>
                  <a:gd name="T37" fmla="*/ 588 h 5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1" h="588">
                    <a:moveTo>
                      <a:pt x="74" y="588"/>
                    </a:moveTo>
                    <a:lnTo>
                      <a:pt x="151" y="518"/>
                    </a:lnTo>
                    <a:lnTo>
                      <a:pt x="74" y="441"/>
                    </a:lnTo>
                    <a:lnTo>
                      <a:pt x="151" y="375"/>
                    </a:lnTo>
                    <a:lnTo>
                      <a:pt x="74" y="294"/>
                    </a:lnTo>
                    <a:lnTo>
                      <a:pt x="151" y="231"/>
                    </a:lnTo>
                    <a:lnTo>
                      <a:pt x="74" y="147"/>
                    </a:lnTo>
                    <a:lnTo>
                      <a:pt x="151" y="88"/>
                    </a:lnTo>
                    <a:lnTo>
                      <a:pt x="74" y="0"/>
                    </a:lnTo>
                    <a:lnTo>
                      <a:pt x="0" y="0"/>
                    </a:lnTo>
                    <a:lnTo>
                      <a:pt x="78" y="88"/>
                    </a:lnTo>
                    <a:lnTo>
                      <a:pt x="0" y="147"/>
                    </a:lnTo>
                    <a:lnTo>
                      <a:pt x="78" y="231"/>
                    </a:lnTo>
                    <a:lnTo>
                      <a:pt x="0" y="294"/>
                    </a:lnTo>
                    <a:lnTo>
                      <a:pt x="78" y="375"/>
                    </a:lnTo>
                    <a:lnTo>
                      <a:pt x="0" y="441"/>
                    </a:lnTo>
                    <a:lnTo>
                      <a:pt x="78" y="518"/>
                    </a:lnTo>
                    <a:lnTo>
                      <a:pt x="0" y="588"/>
                    </a:lnTo>
                    <a:lnTo>
                      <a:pt x="74" y="588"/>
                    </a:lnTo>
                    <a:close/>
                  </a:path>
                </a:pathLst>
              </a:custGeom>
              <a:grp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3" name="Border"/>
              <p:cNvSpPr>
                <a:spLocks noEditPoints="1"/>
              </p:cNvSpPr>
              <p:nvPr/>
            </p:nvSpPr>
            <p:spPr bwMode="auto">
              <a:xfrm>
                <a:off x="6402388" y="1584325"/>
                <a:ext cx="239713" cy="933450"/>
              </a:xfrm>
              <a:custGeom>
                <a:avLst/>
                <a:gdLst>
                  <a:gd name="T0" fmla="*/ 0 w 909"/>
                  <a:gd name="T1" fmla="*/ 0 h 3585"/>
                  <a:gd name="T2" fmla="*/ 467 w 909"/>
                  <a:gd name="T3" fmla="*/ 535 h 3585"/>
                  <a:gd name="T4" fmla="*/ 0 w 909"/>
                  <a:gd name="T5" fmla="*/ 896 h 3585"/>
                  <a:gd name="T6" fmla="*/ 467 w 909"/>
                  <a:gd name="T7" fmla="*/ 1409 h 3585"/>
                  <a:gd name="T8" fmla="*/ 0 w 909"/>
                  <a:gd name="T9" fmla="*/ 1793 h 3585"/>
                  <a:gd name="T10" fmla="*/ 467 w 909"/>
                  <a:gd name="T11" fmla="*/ 2284 h 3585"/>
                  <a:gd name="T12" fmla="*/ 0 w 909"/>
                  <a:gd name="T13" fmla="*/ 2689 h 3585"/>
                  <a:gd name="T14" fmla="*/ 467 w 909"/>
                  <a:gd name="T15" fmla="*/ 3158 h 3585"/>
                  <a:gd name="T16" fmla="*/ 0 w 909"/>
                  <a:gd name="T17" fmla="*/ 3585 h 3585"/>
                  <a:gd name="T18" fmla="*/ 442 w 909"/>
                  <a:gd name="T19" fmla="*/ 3585 h 3585"/>
                  <a:gd name="T20" fmla="*/ 909 w 909"/>
                  <a:gd name="T21" fmla="*/ 3158 h 3585"/>
                  <a:gd name="T22" fmla="*/ 442 w 909"/>
                  <a:gd name="T23" fmla="*/ 2689 h 3585"/>
                  <a:gd name="T24" fmla="*/ 909 w 909"/>
                  <a:gd name="T25" fmla="*/ 2284 h 3585"/>
                  <a:gd name="T26" fmla="*/ 442 w 909"/>
                  <a:gd name="T27" fmla="*/ 1793 h 3585"/>
                  <a:gd name="T28" fmla="*/ 909 w 909"/>
                  <a:gd name="T29" fmla="*/ 1409 h 3585"/>
                  <a:gd name="T30" fmla="*/ 442 w 909"/>
                  <a:gd name="T31" fmla="*/ 896 h 3585"/>
                  <a:gd name="T32" fmla="*/ 909 w 909"/>
                  <a:gd name="T33" fmla="*/ 535 h 3585"/>
                  <a:gd name="T34" fmla="*/ 442 w 909"/>
                  <a:gd name="T35" fmla="*/ 0 h 3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09" h="3585">
                    <a:moveTo>
                      <a:pt x="0" y="0"/>
                    </a:moveTo>
                    <a:lnTo>
                      <a:pt x="467" y="535"/>
                    </a:lnTo>
                    <a:lnTo>
                      <a:pt x="0" y="896"/>
                    </a:lnTo>
                    <a:lnTo>
                      <a:pt x="467" y="1409"/>
                    </a:lnTo>
                    <a:lnTo>
                      <a:pt x="0" y="1793"/>
                    </a:lnTo>
                    <a:lnTo>
                      <a:pt x="467" y="2284"/>
                    </a:lnTo>
                    <a:lnTo>
                      <a:pt x="0" y="2689"/>
                    </a:lnTo>
                    <a:lnTo>
                      <a:pt x="467" y="3158"/>
                    </a:lnTo>
                    <a:lnTo>
                      <a:pt x="0" y="3585"/>
                    </a:lnTo>
                    <a:moveTo>
                      <a:pt x="442" y="3585"/>
                    </a:moveTo>
                    <a:lnTo>
                      <a:pt x="909" y="3158"/>
                    </a:lnTo>
                    <a:lnTo>
                      <a:pt x="442" y="2689"/>
                    </a:lnTo>
                    <a:lnTo>
                      <a:pt x="909" y="2284"/>
                    </a:lnTo>
                    <a:lnTo>
                      <a:pt x="442" y="1793"/>
                    </a:lnTo>
                    <a:lnTo>
                      <a:pt x="909" y="1409"/>
                    </a:lnTo>
                    <a:lnTo>
                      <a:pt x="442" y="896"/>
                    </a:lnTo>
                    <a:lnTo>
                      <a:pt x="909" y="535"/>
                    </a:lnTo>
                    <a:lnTo>
                      <a:pt x="442" y="0"/>
                    </a:lnTo>
                  </a:path>
                </a:pathLst>
              </a:custGeom>
              <a:no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89" name="Cutout"/>
            <p:cNvGrpSpPr/>
            <p:nvPr/>
          </p:nvGrpSpPr>
          <p:grpSpPr>
            <a:xfrm rot="16200000">
              <a:off x="5936450" y="2894574"/>
              <a:ext cx="253206" cy="4054145"/>
              <a:chOff x="6402388" y="1578517"/>
              <a:chExt cx="239713" cy="939258"/>
            </a:xfrm>
            <a:solidFill>
              <a:srgbClr val="FFFFFF"/>
            </a:solidFill>
          </p:grpSpPr>
          <p:sp>
            <p:nvSpPr>
              <p:cNvPr id="90" name="Fill"/>
              <p:cNvSpPr>
                <a:spLocks/>
              </p:cNvSpPr>
              <p:nvPr/>
            </p:nvSpPr>
            <p:spPr bwMode="auto">
              <a:xfrm>
                <a:off x="6402388" y="1578517"/>
                <a:ext cx="239713" cy="933450"/>
              </a:xfrm>
              <a:custGeom>
                <a:avLst/>
                <a:gdLst>
                  <a:gd name="T0" fmla="*/ 74 w 151"/>
                  <a:gd name="T1" fmla="*/ 588 h 588"/>
                  <a:gd name="T2" fmla="*/ 151 w 151"/>
                  <a:gd name="T3" fmla="*/ 518 h 588"/>
                  <a:gd name="T4" fmla="*/ 74 w 151"/>
                  <a:gd name="T5" fmla="*/ 441 h 588"/>
                  <a:gd name="T6" fmla="*/ 151 w 151"/>
                  <a:gd name="T7" fmla="*/ 375 h 588"/>
                  <a:gd name="T8" fmla="*/ 74 w 151"/>
                  <a:gd name="T9" fmla="*/ 294 h 588"/>
                  <a:gd name="T10" fmla="*/ 151 w 151"/>
                  <a:gd name="T11" fmla="*/ 231 h 588"/>
                  <a:gd name="T12" fmla="*/ 74 w 151"/>
                  <a:gd name="T13" fmla="*/ 147 h 588"/>
                  <a:gd name="T14" fmla="*/ 151 w 151"/>
                  <a:gd name="T15" fmla="*/ 88 h 588"/>
                  <a:gd name="T16" fmla="*/ 74 w 151"/>
                  <a:gd name="T17" fmla="*/ 0 h 588"/>
                  <a:gd name="T18" fmla="*/ 0 w 151"/>
                  <a:gd name="T19" fmla="*/ 0 h 588"/>
                  <a:gd name="T20" fmla="*/ 78 w 151"/>
                  <a:gd name="T21" fmla="*/ 88 h 588"/>
                  <a:gd name="T22" fmla="*/ 0 w 151"/>
                  <a:gd name="T23" fmla="*/ 147 h 588"/>
                  <a:gd name="T24" fmla="*/ 78 w 151"/>
                  <a:gd name="T25" fmla="*/ 231 h 588"/>
                  <a:gd name="T26" fmla="*/ 0 w 151"/>
                  <a:gd name="T27" fmla="*/ 294 h 588"/>
                  <a:gd name="T28" fmla="*/ 78 w 151"/>
                  <a:gd name="T29" fmla="*/ 375 h 588"/>
                  <a:gd name="T30" fmla="*/ 0 w 151"/>
                  <a:gd name="T31" fmla="*/ 441 h 588"/>
                  <a:gd name="T32" fmla="*/ 78 w 151"/>
                  <a:gd name="T33" fmla="*/ 518 h 588"/>
                  <a:gd name="T34" fmla="*/ 0 w 151"/>
                  <a:gd name="T35" fmla="*/ 588 h 588"/>
                  <a:gd name="T36" fmla="*/ 74 w 151"/>
                  <a:gd name="T37" fmla="*/ 588 h 5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1" h="588">
                    <a:moveTo>
                      <a:pt x="74" y="588"/>
                    </a:moveTo>
                    <a:lnTo>
                      <a:pt x="151" y="518"/>
                    </a:lnTo>
                    <a:lnTo>
                      <a:pt x="74" y="441"/>
                    </a:lnTo>
                    <a:lnTo>
                      <a:pt x="151" y="375"/>
                    </a:lnTo>
                    <a:lnTo>
                      <a:pt x="74" y="294"/>
                    </a:lnTo>
                    <a:lnTo>
                      <a:pt x="151" y="231"/>
                    </a:lnTo>
                    <a:lnTo>
                      <a:pt x="74" y="147"/>
                    </a:lnTo>
                    <a:lnTo>
                      <a:pt x="151" y="88"/>
                    </a:lnTo>
                    <a:lnTo>
                      <a:pt x="74" y="0"/>
                    </a:lnTo>
                    <a:lnTo>
                      <a:pt x="0" y="0"/>
                    </a:lnTo>
                    <a:lnTo>
                      <a:pt x="78" y="88"/>
                    </a:lnTo>
                    <a:lnTo>
                      <a:pt x="0" y="147"/>
                    </a:lnTo>
                    <a:lnTo>
                      <a:pt x="78" y="231"/>
                    </a:lnTo>
                    <a:lnTo>
                      <a:pt x="0" y="294"/>
                    </a:lnTo>
                    <a:lnTo>
                      <a:pt x="78" y="375"/>
                    </a:lnTo>
                    <a:lnTo>
                      <a:pt x="0" y="441"/>
                    </a:lnTo>
                    <a:lnTo>
                      <a:pt x="78" y="518"/>
                    </a:lnTo>
                    <a:lnTo>
                      <a:pt x="0" y="588"/>
                    </a:lnTo>
                    <a:lnTo>
                      <a:pt x="74" y="588"/>
                    </a:lnTo>
                    <a:close/>
                  </a:path>
                </a:pathLst>
              </a:custGeom>
              <a:grp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1" name="Border"/>
              <p:cNvSpPr>
                <a:spLocks noEditPoints="1"/>
              </p:cNvSpPr>
              <p:nvPr/>
            </p:nvSpPr>
            <p:spPr bwMode="auto">
              <a:xfrm>
                <a:off x="6402388" y="1584325"/>
                <a:ext cx="239713" cy="933450"/>
              </a:xfrm>
              <a:custGeom>
                <a:avLst/>
                <a:gdLst>
                  <a:gd name="T0" fmla="*/ 0 w 909"/>
                  <a:gd name="T1" fmla="*/ 0 h 3585"/>
                  <a:gd name="T2" fmla="*/ 467 w 909"/>
                  <a:gd name="T3" fmla="*/ 535 h 3585"/>
                  <a:gd name="T4" fmla="*/ 0 w 909"/>
                  <a:gd name="T5" fmla="*/ 896 h 3585"/>
                  <a:gd name="T6" fmla="*/ 467 w 909"/>
                  <a:gd name="T7" fmla="*/ 1409 h 3585"/>
                  <a:gd name="T8" fmla="*/ 0 w 909"/>
                  <a:gd name="T9" fmla="*/ 1793 h 3585"/>
                  <a:gd name="T10" fmla="*/ 467 w 909"/>
                  <a:gd name="T11" fmla="*/ 2284 h 3585"/>
                  <a:gd name="T12" fmla="*/ 0 w 909"/>
                  <a:gd name="T13" fmla="*/ 2689 h 3585"/>
                  <a:gd name="T14" fmla="*/ 467 w 909"/>
                  <a:gd name="T15" fmla="*/ 3158 h 3585"/>
                  <a:gd name="T16" fmla="*/ 0 w 909"/>
                  <a:gd name="T17" fmla="*/ 3585 h 3585"/>
                  <a:gd name="T18" fmla="*/ 442 w 909"/>
                  <a:gd name="T19" fmla="*/ 3585 h 3585"/>
                  <a:gd name="T20" fmla="*/ 909 w 909"/>
                  <a:gd name="T21" fmla="*/ 3158 h 3585"/>
                  <a:gd name="T22" fmla="*/ 442 w 909"/>
                  <a:gd name="T23" fmla="*/ 2689 h 3585"/>
                  <a:gd name="T24" fmla="*/ 909 w 909"/>
                  <a:gd name="T25" fmla="*/ 2284 h 3585"/>
                  <a:gd name="T26" fmla="*/ 442 w 909"/>
                  <a:gd name="T27" fmla="*/ 1793 h 3585"/>
                  <a:gd name="T28" fmla="*/ 909 w 909"/>
                  <a:gd name="T29" fmla="*/ 1409 h 3585"/>
                  <a:gd name="T30" fmla="*/ 442 w 909"/>
                  <a:gd name="T31" fmla="*/ 896 h 3585"/>
                  <a:gd name="T32" fmla="*/ 909 w 909"/>
                  <a:gd name="T33" fmla="*/ 535 h 3585"/>
                  <a:gd name="T34" fmla="*/ 442 w 909"/>
                  <a:gd name="T35" fmla="*/ 0 h 3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09" h="3585">
                    <a:moveTo>
                      <a:pt x="0" y="0"/>
                    </a:moveTo>
                    <a:lnTo>
                      <a:pt x="467" y="535"/>
                    </a:lnTo>
                    <a:lnTo>
                      <a:pt x="0" y="896"/>
                    </a:lnTo>
                    <a:lnTo>
                      <a:pt x="467" y="1409"/>
                    </a:lnTo>
                    <a:lnTo>
                      <a:pt x="0" y="1793"/>
                    </a:lnTo>
                    <a:lnTo>
                      <a:pt x="467" y="2284"/>
                    </a:lnTo>
                    <a:lnTo>
                      <a:pt x="0" y="2689"/>
                    </a:lnTo>
                    <a:lnTo>
                      <a:pt x="467" y="3158"/>
                    </a:lnTo>
                    <a:lnTo>
                      <a:pt x="0" y="3585"/>
                    </a:lnTo>
                    <a:moveTo>
                      <a:pt x="442" y="3585"/>
                    </a:moveTo>
                    <a:lnTo>
                      <a:pt x="909" y="3158"/>
                    </a:lnTo>
                    <a:lnTo>
                      <a:pt x="442" y="2689"/>
                    </a:lnTo>
                    <a:lnTo>
                      <a:pt x="909" y="2284"/>
                    </a:lnTo>
                    <a:lnTo>
                      <a:pt x="442" y="1793"/>
                    </a:lnTo>
                    <a:lnTo>
                      <a:pt x="909" y="1409"/>
                    </a:lnTo>
                    <a:lnTo>
                      <a:pt x="442" y="896"/>
                    </a:lnTo>
                    <a:lnTo>
                      <a:pt x="909" y="535"/>
                    </a:lnTo>
                    <a:lnTo>
                      <a:pt x="442" y="0"/>
                    </a:lnTo>
                  </a:path>
                </a:pathLst>
              </a:custGeom>
              <a:no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4" name="타원 93"/>
          <p:cNvSpPr/>
          <p:nvPr/>
        </p:nvSpPr>
        <p:spPr>
          <a:xfrm>
            <a:off x="996484" y="2406869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7" name="타원 96"/>
          <p:cNvSpPr/>
          <p:nvPr/>
        </p:nvSpPr>
        <p:spPr>
          <a:xfrm>
            <a:off x="1968034" y="2406869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89795" y="3181350"/>
            <a:ext cx="1330644" cy="1905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0" name="타원 99"/>
          <p:cNvSpPr/>
          <p:nvPr/>
        </p:nvSpPr>
        <p:spPr>
          <a:xfrm>
            <a:off x="3053293" y="3178394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74" name="그룹 73"/>
          <p:cNvGrpSpPr/>
          <p:nvPr/>
        </p:nvGrpSpPr>
        <p:grpSpPr>
          <a:xfrm>
            <a:off x="3791744" y="6165304"/>
            <a:ext cx="1700363" cy="360040"/>
            <a:chOff x="3947422" y="6021288"/>
            <a:chExt cx="1700363" cy="360040"/>
          </a:xfrm>
        </p:grpSpPr>
        <p:sp>
          <p:nvSpPr>
            <p:cNvPr id="98" name="TextBox 97"/>
            <p:cNvSpPr txBox="1"/>
            <p:nvPr/>
          </p:nvSpPr>
          <p:spPr>
            <a:xfrm>
              <a:off x="4025146" y="6021288"/>
              <a:ext cx="1622639" cy="36004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&lt;&lt;  &lt; </a:t>
              </a:r>
              <a:r>
                <a:rPr lang="en-US" altLang="ko-KR" sz="10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1</a:t>
              </a:r>
              <a:r>
                <a:rPr lang="en-US" altLang="ko-KR" sz="1000" smtClean="0">
                  <a:solidFill>
                    <a:schemeClr val="bg1">
                      <a:lumMod val="6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2   3   4   5   6   7   8   9   10    </a:t>
              </a:r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  &gt;&gt;</a:t>
              </a:r>
              <a:endPara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cxnSp>
          <p:nvCxnSpPr>
            <p:cNvPr id="107" name="직선 연결선 106"/>
            <p:cNvCxnSpPr/>
            <p:nvPr/>
          </p:nvCxnSpPr>
          <p:spPr>
            <a:xfrm>
              <a:off x="3947422" y="6305996"/>
              <a:ext cx="102789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직각 삼각형 1"/>
          <p:cNvSpPr/>
          <p:nvPr/>
        </p:nvSpPr>
        <p:spPr>
          <a:xfrm flipH="1">
            <a:off x="7570140" y="2973096"/>
            <a:ext cx="130924" cy="117990"/>
          </a:xfrm>
          <a:prstGeom prst="rtTriangle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5" name="타원 64"/>
          <p:cNvSpPr/>
          <p:nvPr/>
        </p:nvSpPr>
        <p:spPr>
          <a:xfrm>
            <a:off x="7434793" y="2854544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5640711" y="3570182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82" name="타원 81"/>
          <p:cNvSpPr/>
          <p:nvPr/>
        </p:nvSpPr>
        <p:spPr>
          <a:xfrm>
            <a:off x="5521527" y="3399956"/>
            <a:ext cx="168861" cy="174728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4859464" y="2797443"/>
            <a:ext cx="1000316" cy="2789695"/>
          </a:xfrm>
          <a:prstGeom prst="roundRect">
            <a:avLst>
              <a:gd name="adj" fmla="val 3955"/>
            </a:avLst>
          </a:prstGeom>
          <a:noFill/>
          <a:ln w="12700">
            <a:solidFill>
              <a:srgbClr val="0000FF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5640711" y="3920702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5640711" y="4271222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5640711" y="4629362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99" name="모서리가 둥근 직사각형 98"/>
          <p:cNvSpPr/>
          <p:nvPr/>
        </p:nvSpPr>
        <p:spPr>
          <a:xfrm>
            <a:off x="5640711" y="4987502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5640711" y="5353262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10860411" y="3528272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109" name="직각 삼각형 108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3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1"/>
            </p:custDataLst>
          </p:nvPr>
        </p:nvSpPr>
        <p:spPr>
          <a:xfrm>
            <a:off x="436712" y="620688"/>
            <a:ext cx="3283024" cy="360039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lose Button" descr="&lt;SmartSettings&gt;&lt;SmartResize anchorLeft=&quot;None&quot; anchorTop=&quot;Absolute&quot; anchorRight=&quot;Absolute&quot; anchorBottom=&quot;None&quot; /&gt;&lt;/SmartSettings&gt;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3459178" y="755480"/>
            <a:ext cx="123053" cy="116625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noFill/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4721" y="727482"/>
            <a:ext cx="661742" cy="195956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관리자 목록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546892" y="1006896"/>
            <a:ext cx="306152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/>
          <p:cNvSpPr/>
          <p:nvPr/>
        </p:nvSpPr>
        <p:spPr>
          <a:xfrm>
            <a:off x="1488333" y="3462858"/>
            <a:ext cx="1126484" cy="27739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altLang="en-US" sz="900" smtClean="0">
                <a:solidFill>
                  <a:schemeClr val="bg1"/>
                </a:solidFill>
                <a:latin typeface="+mj-ea"/>
                <a:ea typeface="+mj-ea"/>
              </a:rPr>
              <a:t>확인</a:t>
            </a:r>
            <a:endParaRPr lang="ko-KR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789809"/>
              </p:ext>
            </p:extLst>
          </p:nvPr>
        </p:nvGraphicFramePr>
        <p:xfrm>
          <a:off x="581499" y="1209188"/>
          <a:ext cx="2994222" cy="1888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4021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1800201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</a:tblGrid>
              <a:tr h="3148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성명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148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홍길동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454043"/>
                  </a:ext>
                </a:extLst>
              </a:tr>
              <a:tr h="3148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홍길동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585931"/>
                  </a:ext>
                </a:extLst>
              </a:tr>
              <a:tr h="3148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홍길동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64383"/>
                  </a:ext>
                </a:extLst>
              </a:tr>
              <a:tr h="3148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홍길동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367791"/>
                  </a:ext>
                </a:extLst>
              </a:tr>
              <a:tr h="3148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홍길동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620420"/>
                  </a:ext>
                </a:extLst>
              </a:tr>
            </a:tbl>
          </a:graphicData>
        </a:graphic>
      </p:graphicFrame>
      <p:grpSp>
        <p:nvGrpSpPr>
          <p:cNvPr id="10" name="그룹 9"/>
          <p:cNvGrpSpPr/>
          <p:nvPr/>
        </p:nvGrpSpPr>
        <p:grpSpPr>
          <a:xfrm>
            <a:off x="3471555" y="1230660"/>
            <a:ext cx="58192" cy="1839602"/>
            <a:chOff x="2238375" y="1813543"/>
            <a:chExt cx="58192" cy="3943350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2238375" y="1813543"/>
              <a:ext cx="58192" cy="394335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12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2238375" y="3017807"/>
              <a:ext cx="58192" cy="1839621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관리자 목록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진행중인 그룹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6367" y="307726"/>
            <a:ext cx="914400" cy="18757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lvl="0"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ASG1.1.2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6" name="직각 삼각형 15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53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표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551210"/>
              </p:ext>
            </p:extLst>
          </p:nvPr>
        </p:nvGraphicFramePr>
        <p:xfrm>
          <a:off x="1000573" y="2396339"/>
          <a:ext cx="7671785" cy="3192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71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347356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2945532">
                  <a:extLst>
                    <a:ext uri="{9D8B030D-6E8A-4147-A177-3AD203B41FA5}">
                      <a16:colId xmlns:a16="http://schemas.microsoft.com/office/drawing/2014/main" val="78043009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275985075"/>
                    </a:ext>
                  </a:extLst>
                </a:gridCol>
                <a:gridCol w="964143">
                  <a:extLst>
                    <a:ext uri="{9D8B030D-6E8A-4147-A177-3AD203B41FA5}">
                      <a16:colId xmlns:a16="http://schemas.microsoft.com/office/drawing/2014/main" val="2660714960"/>
                    </a:ext>
                  </a:extLst>
                </a:gridCol>
                <a:gridCol w="964143">
                  <a:extLst>
                    <a:ext uri="{9D8B030D-6E8A-4147-A177-3AD203B41FA5}">
                      <a16:colId xmlns:a16="http://schemas.microsoft.com/office/drawing/2014/main" val="2372415010"/>
                    </a:ext>
                  </a:extLst>
                </a:gridCol>
              </a:tblGrid>
              <a:tr h="386368"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666363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No</a:t>
                      </a: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개설자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개설일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최근 접속일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비공개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2016-07-04</a:t>
                      </a: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전사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82597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850647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비공개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462058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전사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95181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97899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비공개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94928"/>
                  </a:ext>
                </a:extLst>
              </a:tr>
            </a:tbl>
          </a:graphicData>
        </a:graphic>
      </p:graphicFrame>
      <p:grpSp>
        <p:nvGrpSpPr>
          <p:cNvPr id="9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091617" y="2878244"/>
            <a:ext cx="107839" cy="109736"/>
            <a:chOff x="554563" y="2632644"/>
            <a:chExt cx="131556" cy="131556"/>
          </a:xfrm>
        </p:grpSpPr>
        <p:sp>
          <p:nvSpPr>
            <p:cNvPr id="10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9" name="모서리가 둥근 직사각형 108"/>
          <p:cNvSpPr/>
          <p:nvPr/>
        </p:nvSpPr>
        <p:spPr>
          <a:xfrm>
            <a:off x="1088985" y="2468347"/>
            <a:ext cx="830551" cy="22664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itchFamily="50" charset="-127"/>
                <a:cs typeface="+mn-cs"/>
              </a:rPr>
              <a:t>그룹 종료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6458030" y="2071613"/>
            <a:ext cx="2181536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pic>
        <p:nvPicPr>
          <p:cNvPr id="114" name="그림 113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053" y="2118976"/>
            <a:ext cx="125049" cy="125049"/>
          </a:xfrm>
          <a:prstGeom prst="rect">
            <a:avLst/>
          </a:prstGeom>
        </p:spPr>
      </p:pic>
      <p:grpSp>
        <p:nvGrpSpPr>
          <p:cNvPr id="11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1091617" y="3221144"/>
            <a:ext cx="107839" cy="109736"/>
            <a:chOff x="554563" y="2632644"/>
            <a:chExt cx="131556" cy="131556"/>
          </a:xfrm>
        </p:grpSpPr>
        <p:sp>
          <p:nvSpPr>
            <p:cNvPr id="11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1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1091617" y="3573569"/>
            <a:ext cx="107839" cy="109736"/>
            <a:chOff x="554563" y="2632644"/>
            <a:chExt cx="131556" cy="131556"/>
          </a:xfrm>
        </p:grpSpPr>
        <p:sp>
          <p:nvSpPr>
            <p:cNvPr id="11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20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2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1091617" y="3906944"/>
            <a:ext cx="107839" cy="109736"/>
            <a:chOff x="554563" y="2632644"/>
            <a:chExt cx="131556" cy="131556"/>
          </a:xfrm>
        </p:grpSpPr>
        <p:sp>
          <p:nvSpPr>
            <p:cNvPr id="12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23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2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1091617" y="4287944"/>
            <a:ext cx="107839" cy="109736"/>
            <a:chOff x="554563" y="2632644"/>
            <a:chExt cx="131556" cy="131556"/>
          </a:xfrm>
        </p:grpSpPr>
        <p:sp>
          <p:nvSpPr>
            <p:cNvPr id="12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26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2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1091617" y="4640369"/>
            <a:ext cx="107839" cy="109736"/>
            <a:chOff x="554563" y="2632644"/>
            <a:chExt cx="131556" cy="131556"/>
          </a:xfrm>
        </p:grpSpPr>
        <p:sp>
          <p:nvSpPr>
            <p:cNvPr id="12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2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3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1091617" y="4983269"/>
            <a:ext cx="107839" cy="109736"/>
            <a:chOff x="554563" y="2632644"/>
            <a:chExt cx="131556" cy="131556"/>
          </a:xfrm>
        </p:grpSpPr>
        <p:sp>
          <p:nvSpPr>
            <p:cNvPr id="13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32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3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1091617" y="5354744"/>
            <a:ext cx="107839" cy="109736"/>
            <a:chOff x="554563" y="2632644"/>
            <a:chExt cx="131556" cy="131556"/>
          </a:xfrm>
        </p:grpSpPr>
        <p:sp>
          <p:nvSpPr>
            <p:cNvPr id="13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3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8112224" y="2468347"/>
            <a:ext cx="468189" cy="226647"/>
            <a:chOff x="8184232" y="2397322"/>
            <a:chExt cx="468189" cy="226647"/>
          </a:xfrm>
        </p:grpSpPr>
        <p:sp>
          <p:nvSpPr>
            <p:cNvPr id="137" name="모서리가 둥근 직사각형 136"/>
            <p:cNvSpPr/>
            <p:nvPr/>
          </p:nvSpPr>
          <p:spPr>
            <a:xfrm>
              <a:off x="8184232" y="2397322"/>
              <a:ext cx="464363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10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42" name="모서리가 둥근 직사각형 141"/>
          <p:cNvSpPr/>
          <p:nvPr/>
        </p:nvSpPr>
        <p:spPr>
          <a:xfrm>
            <a:off x="2007948" y="2468347"/>
            <a:ext cx="830551" cy="22664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그룹 추가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grpSp>
        <p:nvGrpSpPr>
          <p:cNvPr id="143" name="그룹 142"/>
          <p:cNvGrpSpPr/>
          <p:nvPr/>
        </p:nvGrpSpPr>
        <p:grpSpPr>
          <a:xfrm>
            <a:off x="19050" y="5445224"/>
            <a:ext cx="9201147" cy="262732"/>
            <a:chOff x="19050" y="4795043"/>
            <a:chExt cx="8071075" cy="253207"/>
          </a:xfrm>
        </p:grpSpPr>
        <p:grpSp>
          <p:nvGrpSpPr>
            <p:cNvPr id="144" name="Cutout"/>
            <p:cNvGrpSpPr/>
            <p:nvPr/>
          </p:nvGrpSpPr>
          <p:grpSpPr>
            <a:xfrm rot="16200000">
              <a:off x="1906985" y="2907108"/>
              <a:ext cx="253207" cy="4029078"/>
              <a:chOff x="6402388" y="1584325"/>
              <a:chExt cx="239713" cy="933450"/>
            </a:xfrm>
            <a:solidFill>
              <a:srgbClr val="FFFFFF"/>
            </a:solidFill>
          </p:grpSpPr>
          <p:sp>
            <p:nvSpPr>
              <p:cNvPr id="148" name="Fill"/>
              <p:cNvSpPr>
                <a:spLocks/>
              </p:cNvSpPr>
              <p:nvPr/>
            </p:nvSpPr>
            <p:spPr bwMode="auto">
              <a:xfrm>
                <a:off x="6402388" y="1584325"/>
                <a:ext cx="239713" cy="933450"/>
              </a:xfrm>
              <a:custGeom>
                <a:avLst/>
                <a:gdLst>
                  <a:gd name="T0" fmla="*/ 74 w 151"/>
                  <a:gd name="T1" fmla="*/ 588 h 588"/>
                  <a:gd name="T2" fmla="*/ 151 w 151"/>
                  <a:gd name="T3" fmla="*/ 518 h 588"/>
                  <a:gd name="T4" fmla="*/ 74 w 151"/>
                  <a:gd name="T5" fmla="*/ 441 h 588"/>
                  <a:gd name="T6" fmla="*/ 151 w 151"/>
                  <a:gd name="T7" fmla="*/ 375 h 588"/>
                  <a:gd name="T8" fmla="*/ 74 w 151"/>
                  <a:gd name="T9" fmla="*/ 294 h 588"/>
                  <a:gd name="T10" fmla="*/ 151 w 151"/>
                  <a:gd name="T11" fmla="*/ 231 h 588"/>
                  <a:gd name="T12" fmla="*/ 74 w 151"/>
                  <a:gd name="T13" fmla="*/ 147 h 588"/>
                  <a:gd name="T14" fmla="*/ 151 w 151"/>
                  <a:gd name="T15" fmla="*/ 88 h 588"/>
                  <a:gd name="T16" fmla="*/ 74 w 151"/>
                  <a:gd name="T17" fmla="*/ 0 h 588"/>
                  <a:gd name="T18" fmla="*/ 0 w 151"/>
                  <a:gd name="T19" fmla="*/ 0 h 588"/>
                  <a:gd name="T20" fmla="*/ 78 w 151"/>
                  <a:gd name="T21" fmla="*/ 88 h 588"/>
                  <a:gd name="T22" fmla="*/ 0 w 151"/>
                  <a:gd name="T23" fmla="*/ 147 h 588"/>
                  <a:gd name="T24" fmla="*/ 78 w 151"/>
                  <a:gd name="T25" fmla="*/ 231 h 588"/>
                  <a:gd name="T26" fmla="*/ 0 w 151"/>
                  <a:gd name="T27" fmla="*/ 294 h 588"/>
                  <a:gd name="T28" fmla="*/ 78 w 151"/>
                  <a:gd name="T29" fmla="*/ 375 h 588"/>
                  <a:gd name="T30" fmla="*/ 0 w 151"/>
                  <a:gd name="T31" fmla="*/ 441 h 588"/>
                  <a:gd name="T32" fmla="*/ 78 w 151"/>
                  <a:gd name="T33" fmla="*/ 518 h 588"/>
                  <a:gd name="T34" fmla="*/ 0 w 151"/>
                  <a:gd name="T35" fmla="*/ 588 h 588"/>
                  <a:gd name="T36" fmla="*/ 74 w 151"/>
                  <a:gd name="T37" fmla="*/ 588 h 5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1" h="588">
                    <a:moveTo>
                      <a:pt x="74" y="588"/>
                    </a:moveTo>
                    <a:lnTo>
                      <a:pt x="151" y="518"/>
                    </a:lnTo>
                    <a:lnTo>
                      <a:pt x="74" y="441"/>
                    </a:lnTo>
                    <a:lnTo>
                      <a:pt x="151" y="375"/>
                    </a:lnTo>
                    <a:lnTo>
                      <a:pt x="74" y="294"/>
                    </a:lnTo>
                    <a:lnTo>
                      <a:pt x="151" y="231"/>
                    </a:lnTo>
                    <a:lnTo>
                      <a:pt x="74" y="147"/>
                    </a:lnTo>
                    <a:lnTo>
                      <a:pt x="151" y="88"/>
                    </a:lnTo>
                    <a:lnTo>
                      <a:pt x="74" y="0"/>
                    </a:lnTo>
                    <a:lnTo>
                      <a:pt x="0" y="0"/>
                    </a:lnTo>
                    <a:lnTo>
                      <a:pt x="78" y="88"/>
                    </a:lnTo>
                    <a:lnTo>
                      <a:pt x="0" y="147"/>
                    </a:lnTo>
                    <a:lnTo>
                      <a:pt x="78" y="231"/>
                    </a:lnTo>
                    <a:lnTo>
                      <a:pt x="0" y="294"/>
                    </a:lnTo>
                    <a:lnTo>
                      <a:pt x="78" y="375"/>
                    </a:lnTo>
                    <a:lnTo>
                      <a:pt x="0" y="441"/>
                    </a:lnTo>
                    <a:lnTo>
                      <a:pt x="78" y="518"/>
                    </a:lnTo>
                    <a:lnTo>
                      <a:pt x="0" y="588"/>
                    </a:lnTo>
                    <a:lnTo>
                      <a:pt x="74" y="588"/>
                    </a:lnTo>
                    <a:close/>
                  </a:path>
                </a:pathLst>
              </a:custGeom>
              <a:grp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9" name="Border"/>
              <p:cNvSpPr>
                <a:spLocks noEditPoints="1"/>
              </p:cNvSpPr>
              <p:nvPr/>
            </p:nvSpPr>
            <p:spPr bwMode="auto">
              <a:xfrm>
                <a:off x="6402388" y="1584325"/>
                <a:ext cx="239713" cy="933450"/>
              </a:xfrm>
              <a:custGeom>
                <a:avLst/>
                <a:gdLst>
                  <a:gd name="T0" fmla="*/ 0 w 909"/>
                  <a:gd name="T1" fmla="*/ 0 h 3585"/>
                  <a:gd name="T2" fmla="*/ 467 w 909"/>
                  <a:gd name="T3" fmla="*/ 535 h 3585"/>
                  <a:gd name="T4" fmla="*/ 0 w 909"/>
                  <a:gd name="T5" fmla="*/ 896 h 3585"/>
                  <a:gd name="T6" fmla="*/ 467 w 909"/>
                  <a:gd name="T7" fmla="*/ 1409 h 3585"/>
                  <a:gd name="T8" fmla="*/ 0 w 909"/>
                  <a:gd name="T9" fmla="*/ 1793 h 3585"/>
                  <a:gd name="T10" fmla="*/ 467 w 909"/>
                  <a:gd name="T11" fmla="*/ 2284 h 3585"/>
                  <a:gd name="T12" fmla="*/ 0 w 909"/>
                  <a:gd name="T13" fmla="*/ 2689 h 3585"/>
                  <a:gd name="T14" fmla="*/ 467 w 909"/>
                  <a:gd name="T15" fmla="*/ 3158 h 3585"/>
                  <a:gd name="T16" fmla="*/ 0 w 909"/>
                  <a:gd name="T17" fmla="*/ 3585 h 3585"/>
                  <a:gd name="T18" fmla="*/ 442 w 909"/>
                  <a:gd name="T19" fmla="*/ 3585 h 3585"/>
                  <a:gd name="T20" fmla="*/ 909 w 909"/>
                  <a:gd name="T21" fmla="*/ 3158 h 3585"/>
                  <a:gd name="T22" fmla="*/ 442 w 909"/>
                  <a:gd name="T23" fmla="*/ 2689 h 3585"/>
                  <a:gd name="T24" fmla="*/ 909 w 909"/>
                  <a:gd name="T25" fmla="*/ 2284 h 3585"/>
                  <a:gd name="T26" fmla="*/ 442 w 909"/>
                  <a:gd name="T27" fmla="*/ 1793 h 3585"/>
                  <a:gd name="T28" fmla="*/ 909 w 909"/>
                  <a:gd name="T29" fmla="*/ 1409 h 3585"/>
                  <a:gd name="T30" fmla="*/ 442 w 909"/>
                  <a:gd name="T31" fmla="*/ 896 h 3585"/>
                  <a:gd name="T32" fmla="*/ 909 w 909"/>
                  <a:gd name="T33" fmla="*/ 535 h 3585"/>
                  <a:gd name="T34" fmla="*/ 442 w 909"/>
                  <a:gd name="T35" fmla="*/ 0 h 3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09" h="3585">
                    <a:moveTo>
                      <a:pt x="0" y="0"/>
                    </a:moveTo>
                    <a:lnTo>
                      <a:pt x="467" y="535"/>
                    </a:lnTo>
                    <a:lnTo>
                      <a:pt x="0" y="896"/>
                    </a:lnTo>
                    <a:lnTo>
                      <a:pt x="467" y="1409"/>
                    </a:lnTo>
                    <a:lnTo>
                      <a:pt x="0" y="1793"/>
                    </a:lnTo>
                    <a:lnTo>
                      <a:pt x="467" y="2284"/>
                    </a:lnTo>
                    <a:lnTo>
                      <a:pt x="0" y="2689"/>
                    </a:lnTo>
                    <a:lnTo>
                      <a:pt x="467" y="3158"/>
                    </a:lnTo>
                    <a:lnTo>
                      <a:pt x="0" y="3585"/>
                    </a:lnTo>
                    <a:moveTo>
                      <a:pt x="442" y="3585"/>
                    </a:moveTo>
                    <a:lnTo>
                      <a:pt x="909" y="3158"/>
                    </a:lnTo>
                    <a:lnTo>
                      <a:pt x="442" y="2689"/>
                    </a:lnTo>
                    <a:lnTo>
                      <a:pt x="909" y="2284"/>
                    </a:lnTo>
                    <a:lnTo>
                      <a:pt x="442" y="1793"/>
                    </a:lnTo>
                    <a:lnTo>
                      <a:pt x="909" y="1409"/>
                    </a:lnTo>
                    <a:lnTo>
                      <a:pt x="442" y="896"/>
                    </a:lnTo>
                    <a:lnTo>
                      <a:pt x="909" y="535"/>
                    </a:lnTo>
                    <a:lnTo>
                      <a:pt x="442" y="0"/>
                    </a:lnTo>
                  </a:path>
                </a:pathLst>
              </a:custGeom>
              <a:no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45" name="Cutout"/>
            <p:cNvGrpSpPr/>
            <p:nvPr/>
          </p:nvGrpSpPr>
          <p:grpSpPr>
            <a:xfrm rot="16200000">
              <a:off x="5936450" y="2894574"/>
              <a:ext cx="253206" cy="4054145"/>
              <a:chOff x="6402388" y="1578517"/>
              <a:chExt cx="239713" cy="939258"/>
            </a:xfrm>
            <a:solidFill>
              <a:srgbClr val="FFFFFF"/>
            </a:solidFill>
          </p:grpSpPr>
          <p:sp>
            <p:nvSpPr>
              <p:cNvPr id="146" name="Fill"/>
              <p:cNvSpPr>
                <a:spLocks/>
              </p:cNvSpPr>
              <p:nvPr/>
            </p:nvSpPr>
            <p:spPr bwMode="auto">
              <a:xfrm>
                <a:off x="6402388" y="1578517"/>
                <a:ext cx="239713" cy="933450"/>
              </a:xfrm>
              <a:custGeom>
                <a:avLst/>
                <a:gdLst>
                  <a:gd name="T0" fmla="*/ 74 w 151"/>
                  <a:gd name="T1" fmla="*/ 588 h 588"/>
                  <a:gd name="T2" fmla="*/ 151 w 151"/>
                  <a:gd name="T3" fmla="*/ 518 h 588"/>
                  <a:gd name="T4" fmla="*/ 74 w 151"/>
                  <a:gd name="T5" fmla="*/ 441 h 588"/>
                  <a:gd name="T6" fmla="*/ 151 w 151"/>
                  <a:gd name="T7" fmla="*/ 375 h 588"/>
                  <a:gd name="T8" fmla="*/ 74 w 151"/>
                  <a:gd name="T9" fmla="*/ 294 h 588"/>
                  <a:gd name="T10" fmla="*/ 151 w 151"/>
                  <a:gd name="T11" fmla="*/ 231 h 588"/>
                  <a:gd name="T12" fmla="*/ 74 w 151"/>
                  <a:gd name="T13" fmla="*/ 147 h 588"/>
                  <a:gd name="T14" fmla="*/ 151 w 151"/>
                  <a:gd name="T15" fmla="*/ 88 h 588"/>
                  <a:gd name="T16" fmla="*/ 74 w 151"/>
                  <a:gd name="T17" fmla="*/ 0 h 588"/>
                  <a:gd name="T18" fmla="*/ 0 w 151"/>
                  <a:gd name="T19" fmla="*/ 0 h 588"/>
                  <a:gd name="T20" fmla="*/ 78 w 151"/>
                  <a:gd name="T21" fmla="*/ 88 h 588"/>
                  <a:gd name="T22" fmla="*/ 0 w 151"/>
                  <a:gd name="T23" fmla="*/ 147 h 588"/>
                  <a:gd name="T24" fmla="*/ 78 w 151"/>
                  <a:gd name="T25" fmla="*/ 231 h 588"/>
                  <a:gd name="T26" fmla="*/ 0 w 151"/>
                  <a:gd name="T27" fmla="*/ 294 h 588"/>
                  <a:gd name="T28" fmla="*/ 78 w 151"/>
                  <a:gd name="T29" fmla="*/ 375 h 588"/>
                  <a:gd name="T30" fmla="*/ 0 w 151"/>
                  <a:gd name="T31" fmla="*/ 441 h 588"/>
                  <a:gd name="T32" fmla="*/ 78 w 151"/>
                  <a:gd name="T33" fmla="*/ 518 h 588"/>
                  <a:gd name="T34" fmla="*/ 0 w 151"/>
                  <a:gd name="T35" fmla="*/ 588 h 588"/>
                  <a:gd name="T36" fmla="*/ 74 w 151"/>
                  <a:gd name="T37" fmla="*/ 588 h 5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1" h="588">
                    <a:moveTo>
                      <a:pt x="74" y="588"/>
                    </a:moveTo>
                    <a:lnTo>
                      <a:pt x="151" y="518"/>
                    </a:lnTo>
                    <a:lnTo>
                      <a:pt x="74" y="441"/>
                    </a:lnTo>
                    <a:lnTo>
                      <a:pt x="151" y="375"/>
                    </a:lnTo>
                    <a:lnTo>
                      <a:pt x="74" y="294"/>
                    </a:lnTo>
                    <a:lnTo>
                      <a:pt x="151" y="231"/>
                    </a:lnTo>
                    <a:lnTo>
                      <a:pt x="74" y="147"/>
                    </a:lnTo>
                    <a:lnTo>
                      <a:pt x="151" y="88"/>
                    </a:lnTo>
                    <a:lnTo>
                      <a:pt x="74" y="0"/>
                    </a:lnTo>
                    <a:lnTo>
                      <a:pt x="0" y="0"/>
                    </a:lnTo>
                    <a:lnTo>
                      <a:pt x="78" y="88"/>
                    </a:lnTo>
                    <a:lnTo>
                      <a:pt x="0" y="147"/>
                    </a:lnTo>
                    <a:lnTo>
                      <a:pt x="78" y="231"/>
                    </a:lnTo>
                    <a:lnTo>
                      <a:pt x="0" y="294"/>
                    </a:lnTo>
                    <a:lnTo>
                      <a:pt x="78" y="375"/>
                    </a:lnTo>
                    <a:lnTo>
                      <a:pt x="0" y="441"/>
                    </a:lnTo>
                    <a:lnTo>
                      <a:pt x="78" y="518"/>
                    </a:lnTo>
                    <a:lnTo>
                      <a:pt x="0" y="588"/>
                    </a:lnTo>
                    <a:lnTo>
                      <a:pt x="74" y="588"/>
                    </a:lnTo>
                    <a:close/>
                  </a:path>
                </a:pathLst>
              </a:custGeom>
              <a:grp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7" name="Border"/>
              <p:cNvSpPr>
                <a:spLocks noEditPoints="1"/>
              </p:cNvSpPr>
              <p:nvPr/>
            </p:nvSpPr>
            <p:spPr bwMode="auto">
              <a:xfrm>
                <a:off x="6402388" y="1584325"/>
                <a:ext cx="239713" cy="933450"/>
              </a:xfrm>
              <a:custGeom>
                <a:avLst/>
                <a:gdLst>
                  <a:gd name="T0" fmla="*/ 0 w 909"/>
                  <a:gd name="T1" fmla="*/ 0 h 3585"/>
                  <a:gd name="T2" fmla="*/ 467 w 909"/>
                  <a:gd name="T3" fmla="*/ 535 h 3585"/>
                  <a:gd name="T4" fmla="*/ 0 w 909"/>
                  <a:gd name="T5" fmla="*/ 896 h 3585"/>
                  <a:gd name="T6" fmla="*/ 467 w 909"/>
                  <a:gd name="T7" fmla="*/ 1409 h 3585"/>
                  <a:gd name="T8" fmla="*/ 0 w 909"/>
                  <a:gd name="T9" fmla="*/ 1793 h 3585"/>
                  <a:gd name="T10" fmla="*/ 467 w 909"/>
                  <a:gd name="T11" fmla="*/ 2284 h 3585"/>
                  <a:gd name="T12" fmla="*/ 0 w 909"/>
                  <a:gd name="T13" fmla="*/ 2689 h 3585"/>
                  <a:gd name="T14" fmla="*/ 467 w 909"/>
                  <a:gd name="T15" fmla="*/ 3158 h 3585"/>
                  <a:gd name="T16" fmla="*/ 0 w 909"/>
                  <a:gd name="T17" fmla="*/ 3585 h 3585"/>
                  <a:gd name="T18" fmla="*/ 442 w 909"/>
                  <a:gd name="T19" fmla="*/ 3585 h 3585"/>
                  <a:gd name="T20" fmla="*/ 909 w 909"/>
                  <a:gd name="T21" fmla="*/ 3158 h 3585"/>
                  <a:gd name="T22" fmla="*/ 442 w 909"/>
                  <a:gd name="T23" fmla="*/ 2689 h 3585"/>
                  <a:gd name="T24" fmla="*/ 909 w 909"/>
                  <a:gd name="T25" fmla="*/ 2284 h 3585"/>
                  <a:gd name="T26" fmla="*/ 442 w 909"/>
                  <a:gd name="T27" fmla="*/ 1793 h 3585"/>
                  <a:gd name="T28" fmla="*/ 909 w 909"/>
                  <a:gd name="T29" fmla="*/ 1409 h 3585"/>
                  <a:gd name="T30" fmla="*/ 442 w 909"/>
                  <a:gd name="T31" fmla="*/ 896 h 3585"/>
                  <a:gd name="T32" fmla="*/ 909 w 909"/>
                  <a:gd name="T33" fmla="*/ 535 h 3585"/>
                  <a:gd name="T34" fmla="*/ 442 w 909"/>
                  <a:gd name="T35" fmla="*/ 0 h 3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09" h="3585">
                    <a:moveTo>
                      <a:pt x="0" y="0"/>
                    </a:moveTo>
                    <a:lnTo>
                      <a:pt x="467" y="535"/>
                    </a:lnTo>
                    <a:lnTo>
                      <a:pt x="0" y="896"/>
                    </a:lnTo>
                    <a:lnTo>
                      <a:pt x="467" y="1409"/>
                    </a:lnTo>
                    <a:lnTo>
                      <a:pt x="0" y="1793"/>
                    </a:lnTo>
                    <a:lnTo>
                      <a:pt x="467" y="2284"/>
                    </a:lnTo>
                    <a:lnTo>
                      <a:pt x="0" y="2689"/>
                    </a:lnTo>
                    <a:lnTo>
                      <a:pt x="467" y="3158"/>
                    </a:lnTo>
                    <a:lnTo>
                      <a:pt x="0" y="3585"/>
                    </a:lnTo>
                    <a:moveTo>
                      <a:pt x="442" y="3585"/>
                    </a:moveTo>
                    <a:lnTo>
                      <a:pt x="909" y="3158"/>
                    </a:lnTo>
                    <a:lnTo>
                      <a:pt x="442" y="2689"/>
                    </a:lnTo>
                    <a:lnTo>
                      <a:pt x="909" y="2284"/>
                    </a:lnTo>
                    <a:lnTo>
                      <a:pt x="442" y="1793"/>
                    </a:lnTo>
                    <a:lnTo>
                      <a:pt x="909" y="1409"/>
                    </a:lnTo>
                    <a:lnTo>
                      <a:pt x="442" y="896"/>
                    </a:lnTo>
                    <a:lnTo>
                      <a:pt x="909" y="535"/>
                    </a:lnTo>
                    <a:lnTo>
                      <a:pt x="442" y="0"/>
                    </a:lnTo>
                  </a:path>
                </a:pathLst>
              </a:custGeom>
              <a:no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54" name="그룹 153"/>
          <p:cNvGrpSpPr/>
          <p:nvPr/>
        </p:nvGrpSpPr>
        <p:grpSpPr>
          <a:xfrm>
            <a:off x="3791744" y="6165304"/>
            <a:ext cx="1700363" cy="360040"/>
            <a:chOff x="3947422" y="6021288"/>
            <a:chExt cx="1700363" cy="360040"/>
          </a:xfrm>
        </p:grpSpPr>
        <p:sp>
          <p:nvSpPr>
            <p:cNvPr id="155" name="TextBox 154"/>
            <p:cNvSpPr txBox="1"/>
            <p:nvPr/>
          </p:nvSpPr>
          <p:spPr>
            <a:xfrm>
              <a:off x="4025146" y="6021288"/>
              <a:ext cx="1622639" cy="36004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&lt;&lt;  &lt; </a:t>
              </a:r>
              <a:r>
                <a:rPr lang="en-US" altLang="ko-KR" sz="10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1</a:t>
              </a:r>
              <a:r>
                <a:rPr lang="en-US" altLang="ko-KR" sz="1000" smtClean="0">
                  <a:solidFill>
                    <a:schemeClr val="bg1">
                      <a:lumMod val="6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2   3   4   5   6   7   8   9   10    </a:t>
              </a:r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  &gt;&gt;</a:t>
              </a:r>
              <a:endPara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cxnSp>
          <p:nvCxnSpPr>
            <p:cNvPr id="156" name="직선 연결선 155"/>
            <p:cNvCxnSpPr/>
            <p:nvPr/>
          </p:nvCxnSpPr>
          <p:spPr>
            <a:xfrm>
              <a:off x="3947422" y="6305996"/>
              <a:ext cx="102789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진행중인 그룹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진행중인 그룹</a:t>
            </a:r>
          </a:p>
        </p:txBody>
      </p:sp>
      <p:cxnSp>
        <p:nvCxnSpPr>
          <p:cNvPr id="67" name="직선 연결선 6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186367" y="307726"/>
            <a:ext cx="914400" cy="18757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ASG1.1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7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804474"/>
              </p:ext>
            </p:extLst>
          </p:nvPr>
        </p:nvGraphicFramePr>
        <p:xfrm>
          <a:off x="9290533" y="786383"/>
          <a:ext cx="2835141" cy="1143848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그룹 구분 기준으로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sorting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공개 그룹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: 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비공개 그룹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그룹 구성원만 열람하고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글작성 가능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전사 그룹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: 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동일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516968"/>
                  </a:ext>
                </a:extLst>
              </a:tr>
            </a:tbl>
          </a:graphicData>
        </a:graphic>
      </p:graphicFrame>
      <p:grpSp>
        <p:nvGrpSpPr>
          <p:cNvPr id="72" name="그룹 71"/>
          <p:cNvGrpSpPr/>
          <p:nvPr/>
        </p:nvGrpSpPr>
        <p:grpSpPr>
          <a:xfrm>
            <a:off x="1000573" y="1482657"/>
            <a:ext cx="7671785" cy="294480"/>
            <a:chOff x="2612145" y="1195952"/>
            <a:chExt cx="7671785" cy="294480"/>
          </a:xfrm>
        </p:grpSpPr>
        <p:cxnSp>
          <p:nvCxnSpPr>
            <p:cNvPr id="75" name="직선 연결선 74"/>
            <p:cNvCxnSpPr/>
            <p:nvPr/>
          </p:nvCxnSpPr>
          <p:spPr>
            <a:xfrm>
              <a:off x="2612145" y="1490432"/>
              <a:ext cx="7671785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9"/>
              </p:custDataLst>
            </p:nvPr>
          </p:nvSpPr>
          <p:spPr>
            <a:xfrm>
              <a:off x="2762006" y="1195952"/>
              <a:ext cx="1021484" cy="29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b="1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진행중인 그룹</a:t>
              </a:r>
              <a:endPara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77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10"/>
              </p:custDataLst>
            </p:nvPr>
          </p:nvSpPr>
          <p:spPr>
            <a:xfrm>
              <a:off x="3766746" y="1195952"/>
              <a:ext cx="1021484" cy="294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smtClean="0">
                  <a:solidFill>
                    <a:schemeClr val="bg1">
                      <a:lumMod val="7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종료된 그룹</a:t>
              </a:r>
              <a:endParaRPr lang="en-US" sz="800" dirty="0">
                <a:solidFill>
                  <a:schemeClr val="bg1">
                    <a:lumMod val="7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59" name="직사각형 158"/>
          <p:cNvSpPr/>
          <p:nvPr/>
        </p:nvSpPr>
        <p:spPr>
          <a:xfrm>
            <a:off x="86172" y="363275"/>
            <a:ext cx="9106171" cy="6282076"/>
          </a:xfrm>
          <a:prstGeom prst="rect">
            <a:avLst/>
          </a:prstGeom>
          <a:solidFill>
            <a:schemeClr val="bg1">
              <a:alpha val="68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7184502" y="2698245"/>
            <a:ext cx="831329" cy="118012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전체 </a:t>
            </a:r>
            <a:endParaRPr lang="en-US" altLang="ko-KR" sz="80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공개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그룹</a:t>
            </a:r>
            <a:endParaRPr lang="en-US" altLang="ko-KR" sz="80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비공개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그룹</a:t>
            </a:r>
            <a:endParaRPr lang="en-US" altLang="ko-KR" sz="80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전사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그룹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139" name="그룹 138"/>
          <p:cNvGrpSpPr/>
          <p:nvPr/>
        </p:nvGrpSpPr>
        <p:grpSpPr>
          <a:xfrm>
            <a:off x="7184502" y="2468347"/>
            <a:ext cx="835155" cy="226647"/>
            <a:chOff x="7817266" y="2397322"/>
            <a:chExt cx="835155" cy="226647"/>
          </a:xfrm>
        </p:grpSpPr>
        <p:sp>
          <p:nvSpPr>
            <p:cNvPr id="140" name="모서리가 둥근 직사각형 139"/>
            <p:cNvSpPr/>
            <p:nvPr/>
          </p:nvSpPr>
          <p:spPr>
            <a:xfrm>
              <a:off x="7817266" y="2397322"/>
              <a:ext cx="831329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전체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79" name="모서리가 둥근 직사각형 78"/>
          <p:cNvSpPr/>
          <p:nvPr/>
        </p:nvSpPr>
        <p:spPr>
          <a:xfrm>
            <a:off x="5694917" y="2292074"/>
            <a:ext cx="683617" cy="9136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그룹명</a:t>
            </a:r>
            <a:endParaRPr kumimoji="1" lang="en-US" altLang="ko-KR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  개설자</a:t>
            </a:r>
            <a:endParaRPr lang="en-US" altLang="ko-KR" sz="800" smtClean="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 관리자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5694917" y="2072574"/>
            <a:ext cx="683617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그룹명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13" name="TextBox 112"/>
          <p:cNvSpPr txBox="1"/>
          <p:nvPr/>
        </p:nvSpPr>
        <p:spPr>
          <a:xfrm rot="5400000">
            <a:off x="6193103" y="2087025"/>
            <a:ext cx="155817" cy="23818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60" name="타원 159"/>
          <p:cNvSpPr/>
          <p:nvPr/>
        </p:nvSpPr>
        <p:spPr>
          <a:xfrm>
            <a:off x="7082368" y="2387819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860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/>
          <p:cNvGrpSpPr/>
          <p:nvPr/>
        </p:nvGrpSpPr>
        <p:grpSpPr>
          <a:xfrm>
            <a:off x="1000573" y="1482657"/>
            <a:ext cx="7671785" cy="294480"/>
            <a:chOff x="2612145" y="1195952"/>
            <a:chExt cx="7671785" cy="294480"/>
          </a:xfrm>
        </p:grpSpPr>
        <p:cxnSp>
          <p:nvCxnSpPr>
            <p:cNvPr id="5" name="직선 연결선 4"/>
            <p:cNvCxnSpPr/>
            <p:nvPr/>
          </p:nvCxnSpPr>
          <p:spPr>
            <a:xfrm>
              <a:off x="2612145" y="1490432"/>
              <a:ext cx="7671785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4"/>
              </p:custDataLst>
            </p:nvPr>
          </p:nvSpPr>
          <p:spPr>
            <a:xfrm>
              <a:off x="2762006" y="1195952"/>
              <a:ext cx="1021484" cy="29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b="1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진행중인 그룹</a:t>
              </a:r>
              <a:endPara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7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5"/>
              </p:custDataLst>
            </p:nvPr>
          </p:nvSpPr>
          <p:spPr>
            <a:xfrm>
              <a:off x="3766746" y="1195952"/>
              <a:ext cx="1021484" cy="294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smtClean="0">
                  <a:solidFill>
                    <a:schemeClr val="bg1">
                      <a:lumMod val="7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종료된 그룹</a:t>
              </a:r>
              <a:endParaRPr lang="en-US" sz="800" dirty="0">
                <a:solidFill>
                  <a:schemeClr val="bg1">
                    <a:lumMod val="7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5694917" y="2071613"/>
            <a:ext cx="2944649" cy="227608"/>
            <a:chOff x="5903179" y="2445148"/>
            <a:chExt cx="2944649" cy="227608"/>
          </a:xfrm>
        </p:grpSpPr>
        <p:sp>
          <p:nvSpPr>
            <p:cNvPr id="9" name="모서리가 둥근 직사각형 8"/>
            <p:cNvSpPr/>
            <p:nvPr/>
          </p:nvSpPr>
          <p:spPr>
            <a:xfrm>
              <a:off x="6666292" y="2445148"/>
              <a:ext cx="2181536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903179" y="2446109"/>
              <a:ext cx="683617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그룹명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 rot="5400000">
              <a:off x="6401365" y="2460560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4315" y="2492511"/>
              <a:ext cx="125049" cy="125049"/>
            </a:xfrm>
            <a:prstGeom prst="rect">
              <a:avLst/>
            </a:prstGeom>
          </p:spPr>
        </p:pic>
      </p:grp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095967"/>
              </p:ext>
            </p:extLst>
          </p:nvPr>
        </p:nvGraphicFramePr>
        <p:xfrm>
          <a:off x="1000573" y="2396339"/>
          <a:ext cx="7671785" cy="1968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71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3292888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275985075"/>
                    </a:ext>
                  </a:extLst>
                </a:gridCol>
                <a:gridCol w="964143">
                  <a:extLst>
                    <a:ext uri="{9D8B030D-6E8A-4147-A177-3AD203B41FA5}">
                      <a16:colId xmlns:a16="http://schemas.microsoft.com/office/drawing/2014/main" val="2660714960"/>
                    </a:ext>
                  </a:extLst>
                </a:gridCol>
                <a:gridCol w="964143">
                  <a:extLst>
                    <a:ext uri="{9D8B030D-6E8A-4147-A177-3AD203B41FA5}">
                      <a16:colId xmlns:a16="http://schemas.microsoft.com/office/drawing/2014/main" val="2372415010"/>
                    </a:ext>
                  </a:extLst>
                </a:gridCol>
              </a:tblGrid>
              <a:tr h="38636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666363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개설자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개설일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최근 접속일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1265029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진행중인 스퀘어 그룹이 없습니다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</a:tbl>
          </a:graphicData>
        </a:graphic>
      </p:graphicFrame>
      <p:grpSp>
        <p:nvGrpSpPr>
          <p:cNvPr id="1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091617" y="2878244"/>
            <a:ext cx="107839" cy="109736"/>
            <a:chOff x="554563" y="2632644"/>
            <a:chExt cx="131556" cy="131556"/>
          </a:xfrm>
        </p:grpSpPr>
        <p:sp>
          <p:nvSpPr>
            <p:cNvPr id="1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8" name="모서리가 둥근 직사각형 17"/>
          <p:cNvSpPr/>
          <p:nvPr/>
        </p:nvSpPr>
        <p:spPr>
          <a:xfrm>
            <a:off x="1088985" y="2468347"/>
            <a:ext cx="830551" cy="22664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itchFamily="50" charset="-127"/>
                <a:cs typeface="+mn-cs"/>
              </a:rPr>
              <a:t>그룹 종료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8112224" y="2468347"/>
            <a:ext cx="468189" cy="226647"/>
            <a:chOff x="8184232" y="2397322"/>
            <a:chExt cx="468189" cy="226647"/>
          </a:xfrm>
        </p:grpSpPr>
        <p:sp>
          <p:nvSpPr>
            <p:cNvPr id="41" name="모서리가 둥근 직사각형 40"/>
            <p:cNvSpPr/>
            <p:nvPr/>
          </p:nvSpPr>
          <p:spPr>
            <a:xfrm>
              <a:off x="8184232" y="2397322"/>
              <a:ext cx="464363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15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7184502" y="2468347"/>
            <a:ext cx="835155" cy="226647"/>
            <a:chOff x="7817266" y="2397322"/>
            <a:chExt cx="835155" cy="226647"/>
          </a:xfrm>
        </p:grpSpPr>
        <p:sp>
          <p:nvSpPr>
            <p:cNvPr id="44" name="모서리가 둥근 직사각형 43"/>
            <p:cNvSpPr/>
            <p:nvPr/>
          </p:nvSpPr>
          <p:spPr>
            <a:xfrm>
              <a:off x="7817266" y="2397322"/>
              <a:ext cx="831329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전체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46" name="모서리가 둥근 직사각형 45"/>
          <p:cNvSpPr/>
          <p:nvPr/>
        </p:nvSpPr>
        <p:spPr>
          <a:xfrm>
            <a:off x="2007948" y="2468347"/>
            <a:ext cx="830551" cy="22664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그룹 추가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진행중인 그룹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진행중인 스퀘어 그룹이 없을 경우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진행중인 그룹</a:t>
            </a:r>
          </a:p>
        </p:txBody>
      </p:sp>
      <p:graphicFrame>
        <p:nvGraphicFramePr>
          <p:cNvPr id="5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487012"/>
              </p:ext>
            </p:extLst>
          </p:nvPr>
        </p:nvGraphicFramePr>
        <p:xfrm>
          <a:off x="9290533" y="786383"/>
          <a:ext cx="2835141" cy="72932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진행중인 스퀘어 그룹이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개도 없을 경우 출력되는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가이드 문구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" name="타원 57"/>
          <p:cNvSpPr/>
          <p:nvPr/>
        </p:nvSpPr>
        <p:spPr>
          <a:xfrm>
            <a:off x="3882559" y="3626069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186367" y="307726"/>
            <a:ext cx="914400" cy="18757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ASG1.1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30" name="직각 삼각형 29"/>
          <p:cNvSpPr/>
          <p:nvPr/>
        </p:nvSpPr>
        <p:spPr>
          <a:xfrm flipH="1">
            <a:off x="7570140" y="2973096"/>
            <a:ext cx="130924" cy="117990"/>
          </a:xfrm>
          <a:prstGeom prst="rtTriangle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498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/>
          <p:cNvGrpSpPr/>
          <p:nvPr/>
        </p:nvGrpSpPr>
        <p:grpSpPr>
          <a:xfrm>
            <a:off x="1000573" y="1482657"/>
            <a:ext cx="7671785" cy="294480"/>
            <a:chOff x="2612145" y="1195952"/>
            <a:chExt cx="7671785" cy="294480"/>
          </a:xfrm>
        </p:grpSpPr>
        <p:cxnSp>
          <p:nvCxnSpPr>
            <p:cNvPr id="5" name="직선 연결선 4"/>
            <p:cNvCxnSpPr/>
            <p:nvPr/>
          </p:nvCxnSpPr>
          <p:spPr>
            <a:xfrm>
              <a:off x="2612145" y="1490432"/>
              <a:ext cx="7671785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4"/>
              </p:custDataLst>
            </p:nvPr>
          </p:nvSpPr>
          <p:spPr>
            <a:xfrm>
              <a:off x="2762006" y="1195952"/>
              <a:ext cx="1021484" cy="29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b="1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진행중인 그룹</a:t>
              </a:r>
              <a:endPara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7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5"/>
              </p:custDataLst>
            </p:nvPr>
          </p:nvSpPr>
          <p:spPr>
            <a:xfrm>
              <a:off x="3766746" y="1195952"/>
              <a:ext cx="1021484" cy="294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smtClean="0">
                  <a:solidFill>
                    <a:schemeClr val="bg1">
                      <a:lumMod val="7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종료된 그룹</a:t>
              </a:r>
              <a:endParaRPr lang="en-US" sz="800" dirty="0">
                <a:solidFill>
                  <a:schemeClr val="bg1">
                    <a:lumMod val="7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9" name="모서리가 둥근 직사각형 8"/>
          <p:cNvSpPr/>
          <p:nvPr/>
        </p:nvSpPr>
        <p:spPr>
          <a:xfrm>
            <a:off x="6458030" y="2071613"/>
            <a:ext cx="2181536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ㅇㄹㅇㄹㄷㄷㄷ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5694917" y="2072574"/>
            <a:ext cx="683617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그룹명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 rot="5400000">
            <a:off x="6193103" y="2087025"/>
            <a:ext cx="155817" cy="23818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053" y="2118976"/>
            <a:ext cx="125049" cy="125049"/>
          </a:xfrm>
          <a:prstGeom prst="rect">
            <a:avLst/>
          </a:prstGeom>
        </p:spPr>
      </p:pic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13805"/>
              </p:ext>
            </p:extLst>
          </p:nvPr>
        </p:nvGraphicFramePr>
        <p:xfrm>
          <a:off x="1000573" y="2396339"/>
          <a:ext cx="7671785" cy="1968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71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3292888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275985075"/>
                    </a:ext>
                  </a:extLst>
                </a:gridCol>
                <a:gridCol w="964143">
                  <a:extLst>
                    <a:ext uri="{9D8B030D-6E8A-4147-A177-3AD203B41FA5}">
                      <a16:colId xmlns:a16="http://schemas.microsoft.com/office/drawing/2014/main" val="2660714960"/>
                    </a:ext>
                  </a:extLst>
                </a:gridCol>
                <a:gridCol w="964143">
                  <a:extLst>
                    <a:ext uri="{9D8B030D-6E8A-4147-A177-3AD203B41FA5}">
                      <a16:colId xmlns:a16="http://schemas.microsoft.com/office/drawing/2014/main" val="2372415010"/>
                    </a:ext>
                  </a:extLst>
                </a:gridCol>
              </a:tblGrid>
              <a:tr h="38636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666363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개설자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개설일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최근 접속일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1265029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검색된 스퀘어 그룹이 없습니다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</a:tbl>
          </a:graphicData>
        </a:graphic>
      </p:graphicFrame>
      <p:grpSp>
        <p:nvGrpSpPr>
          <p:cNvPr id="1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091617" y="2878244"/>
            <a:ext cx="107839" cy="109736"/>
            <a:chOff x="554563" y="2632644"/>
            <a:chExt cx="131556" cy="131556"/>
          </a:xfrm>
        </p:grpSpPr>
        <p:sp>
          <p:nvSpPr>
            <p:cNvPr id="1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8" name="모서리가 둥근 직사각형 17"/>
          <p:cNvSpPr/>
          <p:nvPr/>
        </p:nvSpPr>
        <p:spPr>
          <a:xfrm>
            <a:off x="1088985" y="2468347"/>
            <a:ext cx="830551" cy="22664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itchFamily="50" charset="-127"/>
                <a:cs typeface="+mn-cs"/>
              </a:rPr>
              <a:t>그룹 종료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8112224" y="2468347"/>
            <a:ext cx="468189" cy="226647"/>
            <a:chOff x="8184232" y="2397322"/>
            <a:chExt cx="468189" cy="226647"/>
          </a:xfrm>
        </p:grpSpPr>
        <p:sp>
          <p:nvSpPr>
            <p:cNvPr id="41" name="모서리가 둥근 직사각형 40"/>
            <p:cNvSpPr/>
            <p:nvPr/>
          </p:nvSpPr>
          <p:spPr>
            <a:xfrm>
              <a:off x="8184232" y="2397322"/>
              <a:ext cx="464363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15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7184502" y="2468347"/>
            <a:ext cx="835155" cy="226647"/>
            <a:chOff x="7817266" y="2397322"/>
            <a:chExt cx="835155" cy="226647"/>
          </a:xfrm>
        </p:grpSpPr>
        <p:sp>
          <p:nvSpPr>
            <p:cNvPr id="44" name="모서리가 둥근 직사각형 43"/>
            <p:cNvSpPr/>
            <p:nvPr/>
          </p:nvSpPr>
          <p:spPr>
            <a:xfrm>
              <a:off x="7817266" y="2397322"/>
              <a:ext cx="831329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전체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46" name="모서리가 둥근 직사각형 45"/>
          <p:cNvSpPr/>
          <p:nvPr/>
        </p:nvSpPr>
        <p:spPr>
          <a:xfrm>
            <a:off x="2007948" y="2468347"/>
            <a:ext cx="830551" cy="22664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그룹 추가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/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진행중인 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그룹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검색결과가 없을 경우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진행중인 그룹</a:t>
            </a:r>
          </a:p>
        </p:txBody>
      </p:sp>
      <p:graphicFrame>
        <p:nvGraphicFramePr>
          <p:cNvPr id="3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136776"/>
              </p:ext>
            </p:extLst>
          </p:nvPr>
        </p:nvGraphicFramePr>
        <p:xfrm>
          <a:off x="9290533" y="786383"/>
          <a:ext cx="2835141" cy="72932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진행중인 스퀘어 그룹이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개도 없을 경우 출력되는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가이드 문구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타원 30"/>
          <p:cNvSpPr/>
          <p:nvPr/>
        </p:nvSpPr>
        <p:spPr>
          <a:xfrm>
            <a:off x="3958759" y="3559394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4121457" y="3781797"/>
            <a:ext cx="1349558" cy="22518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이전으로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6381750" y="1924050"/>
            <a:ext cx="1123950" cy="514350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35" name="직선 화살표 연결선 34"/>
          <p:cNvCxnSpPr/>
          <p:nvPr/>
        </p:nvCxnSpPr>
        <p:spPr>
          <a:xfrm>
            <a:off x="6940252" y="2454213"/>
            <a:ext cx="0" cy="932495"/>
          </a:xfrm>
          <a:prstGeom prst="straightConnector1">
            <a:avLst/>
          </a:prstGeom>
          <a:noFill/>
          <a:ln w="190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10186367" y="307726"/>
            <a:ext cx="914400" cy="18757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ASG1.1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37" name="직각 삼각형 36"/>
          <p:cNvSpPr/>
          <p:nvPr/>
        </p:nvSpPr>
        <p:spPr>
          <a:xfrm flipH="1">
            <a:off x="7570140" y="2973096"/>
            <a:ext cx="130924" cy="117990"/>
          </a:xfrm>
          <a:prstGeom prst="rtTriangle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958759" y="3734122"/>
            <a:ext cx="1899116" cy="371153"/>
          </a:xfrm>
          <a:prstGeom prst="rect">
            <a:avLst/>
          </a:prstGeom>
          <a:solidFill>
            <a:srgbClr val="0000FF">
              <a:alpha val="51000"/>
            </a:srgb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10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  <a:endParaRPr lang="ko-KR" altLang="en-US" sz="10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8" name="직각 삼각형 37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429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/>
          <p:cNvGrpSpPr/>
          <p:nvPr/>
        </p:nvGrpSpPr>
        <p:grpSpPr>
          <a:xfrm>
            <a:off x="1000573" y="1482657"/>
            <a:ext cx="7671785" cy="294480"/>
            <a:chOff x="2612145" y="1195952"/>
            <a:chExt cx="7671785" cy="294480"/>
          </a:xfrm>
        </p:grpSpPr>
        <p:cxnSp>
          <p:nvCxnSpPr>
            <p:cNvPr id="5" name="직선 연결선 4"/>
            <p:cNvCxnSpPr/>
            <p:nvPr/>
          </p:nvCxnSpPr>
          <p:spPr>
            <a:xfrm>
              <a:off x="2612145" y="1490432"/>
              <a:ext cx="7671785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13"/>
              </p:custDataLst>
            </p:nvPr>
          </p:nvSpPr>
          <p:spPr>
            <a:xfrm>
              <a:off x="2762006" y="1195952"/>
              <a:ext cx="1021484" cy="29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진행중인 그룹</a:t>
              </a:r>
              <a:endPara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7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14"/>
              </p:custDataLst>
            </p:nvPr>
          </p:nvSpPr>
          <p:spPr>
            <a:xfrm>
              <a:off x="3766746" y="1195952"/>
              <a:ext cx="1021484" cy="294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smtClean="0">
                  <a:solidFill>
                    <a:schemeClr val="bg1">
                      <a:lumMod val="7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종료된 그룹</a:t>
              </a:r>
              <a:endParaRPr lang="en-US" sz="800" dirty="0">
                <a:solidFill>
                  <a:schemeClr val="bg1">
                    <a:lumMod val="7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305025"/>
              </p:ext>
            </p:extLst>
          </p:nvPr>
        </p:nvGraphicFramePr>
        <p:xfrm>
          <a:off x="981548" y="2228363"/>
          <a:ext cx="7690811" cy="1903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703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5768108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</a:tblGrid>
              <a:tr h="2659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그룹명</a:t>
                      </a:r>
                      <a:r>
                        <a:rPr lang="en-US" altLang="ko-KR" sz="800" b="1" smtClean="0">
                          <a:solidFill>
                            <a:srgbClr val="FF0000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*</a:t>
                      </a:r>
                      <a:endParaRPr lang="ko-KR" altLang="en-US" sz="800" b="1">
                        <a:solidFill>
                          <a:srgbClr val="FF0000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EGW</a:t>
                      </a:r>
                      <a:r>
                        <a:rPr lang="en-US" altLang="ko-KR" sz="8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 UX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 개선 프로젝트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2659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그룹구분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공개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2659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개설자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홍길동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2659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개설일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2017-07-03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41987"/>
                  </a:ext>
                </a:extLst>
              </a:tr>
              <a:tr h="2659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최근 접속일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2017-07-03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879800"/>
                  </a:ext>
                </a:extLst>
              </a:tr>
              <a:tr h="5743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소개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1548" y="4293096"/>
            <a:ext cx="1296144" cy="22333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900" smtClean="0">
                <a:solidFill>
                  <a:schemeClr val="bg1">
                    <a:lumMod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구성원 정보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163656"/>
              </p:ext>
            </p:extLst>
          </p:nvPr>
        </p:nvGraphicFramePr>
        <p:xfrm>
          <a:off x="981548" y="4594975"/>
          <a:ext cx="7671784" cy="144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71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400306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1880600">
                  <a:extLst>
                    <a:ext uri="{9D8B030D-6E8A-4147-A177-3AD203B41FA5}">
                      <a16:colId xmlns:a16="http://schemas.microsoft.com/office/drawing/2014/main" val="148387054"/>
                    </a:ext>
                  </a:extLst>
                </a:gridCol>
                <a:gridCol w="1700169">
                  <a:extLst>
                    <a:ext uri="{9D8B030D-6E8A-4147-A177-3AD203B41FA5}">
                      <a16:colId xmlns:a16="http://schemas.microsoft.com/office/drawing/2014/main" val="1044581853"/>
                    </a:ext>
                  </a:extLst>
                </a:gridCol>
                <a:gridCol w="1700169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1700169">
                  <a:extLst>
                    <a:ext uri="{9D8B030D-6E8A-4147-A177-3AD203B41FA5}">
                      <a16:colId xmlns:a16="http://schemas.microsoft.com/office/drawing/2014/main" val="4275985075"/>
                    </a:ext>
                  </a:extLst>
                </a:gridCol>
              </a:tblGrid>
              <a:tr h="314276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666363"/>
                  </a:ext>
                </a:extLst>
              </a:tr>
              <a:tr h="2814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NO</a:t>
                      </a: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성명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권한 등급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281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281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82597"/>
                  </a:ext>
                </a:extLst>
              </a:tr>
              <a:tr h="281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850647"/>
                  </a:ext>
                </a:extLst>
              </a:tr>
            </a:tbl>
          </a:graphicData>
        </a:graphic>
      </p:graphicFrame>
      <p:grpSp>
        <p:nvGrpSpPr>
          <p:cNvPr id="1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060301" y="4993247"/>
            <a:ext cx="107839" cy="109736"/>
            <a:chOff x="554563" y="2632644"/>
            <a:chExt cx="131556" cy="131556"/>
          </a:xfrm>
        </p:grpSpPr>
        <p:sp>
          <p:nvSpPr>
            <p:cNvPr id="1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1060301" y="5277170"/>
            <a:ext cx="107839" cy="109736"/>
            <a:chOff x="554563" y="2632644"/>
            <a:chExt cx="131556" cy="131556"/>
          </a:xfrm>
        </p:grpSpPr>
        <p:sp>
          <p:nvSpPr>
            <p:cNvPr id="2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981548" y="1944069"/>
            <a:ext cx="1296144" cy="22333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900" smtClean="0">
                <a:solidFill>
                  <a:schemeClr val="bg1">
                    <a:lumMod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기본 정보</a:t>
            </a:r>
          </a:p>
        </p:txBody>
      </p:sp>
      <p:grpSp>
        <p:nvGrpSpPr>
          <p:cNvPr id="2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1060301" y="5543870"/>
            <a:ext cx="107839" cy="109736"/>
            <a:chOff x="554563" y="2632644"/>
            <a:chExt cx="131556" cy="131556"/>
          </a:xfrm>
        </p:grpSpPr>
        <p:sp>
          <p:nvSpPr>
            <p:cNvPr id="2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2" name="모서리가 둥근 직사각형 31"/>
          <p:cNvSpPr/>
          <p:nvPr/>
        </p:nvSpPr>
        <p:spPr>
          <a:xfrm>
            <a:off x="2962354" y="2271639"/>
            <a:ext cx="2600245" cy="16676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2962353" y="3607421"/>
            <a:ext cx="5005855" cy="4559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EGW UX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개선 작업을 성공적으로 수행하기 위해 협의체 분들과 자료를 공유하고 커뮤니케이션할 수 있는 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채널</a:t>
            </a:r>
            <a:endParaRPr lang="en-US" altLang="ko-KR" sz="800" smtClean="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4763801" y="6227674"/>
            <a:ext cx="1126484" cy="27739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900" smtClean="0">
                <a:solidFill>
                  <a:schemeClr val="bg1"/>
                </a:solidFill>
                <a:latin typeface="+mj-ea"/>
                <a:ea typeface="+mj-ea"/>
              </a:rPr>
              <a:t>저장</a:t>
            </a:r>
            <a:endParaRPr lang="ko-KR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3340164" y="6227674"/>
            <a:ext cx="1126484" cy="2773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itchFamily="50" charset="-127"/>
              </a:rPr>
              <a:t>취소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진행중인 그룹 상세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진행중인 그룹</a:t>
            </a:r>
          </a:p>
        </p:txBody>
      </p:sp>
      <p:sp>
        <p:nvSpPr>
          <p:cNvPr id="46" name="타원 45"/>
          <p:cNvSpPr/>
          <p:nvPr/>
        </p:nvSpPr>
        <p:spPr>
          <a:xfrm>
            <a:off x="825034" y="1959194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4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18713"/>
              </p:ext>
            </p:extLst>
          </p:nvPr>
        </p:nvGraphicFramePr>
        <p:xfrm>
          <a:off x="9290533" y="786383"/>
          <a:ext cx="2835141" cy="4370669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정보구성은 목록 또는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와 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그룹명 및 소개 입력 제한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byte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수도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동일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Calibri" panose="020F0502020204030204" pitchFamily="34" charset="0"/>
                        <a:buChar char="̵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아래의 권한 등급 순서로 기본 정렬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1.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관리자  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2.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구성원  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3.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참관인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Calibri" panose="020F0502020204030204" pitchFamily="34" charset="0"/>
                        <a:buChar char="̵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 그룹에 속한 구성원을 페이징 처리 없이 모두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2-1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Calibri" panose="020F0502020204030204" pitchFamily="34" charset="0"/>
                        <a:buChar char="̵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구성원 선택 후 클릭시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선택하신 구성원을 제외하시겠습니까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?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확인 취소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확인 클릭시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구성원 삭제 처리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Calibri" panose="020F0502020204030204" pitchFamily="34" charset="0"/>
                        <a:buChar char="̵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선택된 구성원이 없을 경우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alert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 그룹에서 제외시킬 구성원을 선택해주세요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  <a:endParaRPr kumimoji="1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2-2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구성원 추가 팝업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516968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2-3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구성원 권한 등급 설정 영역으로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2-2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에서 구성원 추가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‘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구성원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등급으로 기본 세팅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등급 수정 후 저장시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1.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관리자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2.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구성원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3.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참관인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순서로 목록 재정렬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05003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①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② 모두 올바르게 작성되었다면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alert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출력 후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저장 완료 처리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수정하신 정보를 저장하시겠습니까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?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확인 취소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확인 클릭시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저장완료되었습니다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구성원 정보 수정사항도 최종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[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저장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]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버튼을 클릭해야만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반영 처리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952"/>
                  </a:ext>
                </a:extLst>
              </a:tr>
            </a:tbl>
          </a:graphicData>
        </a:graphic>
      </p:graphicFrame>
      <p:sp>
        <p:nvSpPr>
          <p:cNvPr id="48" name="타원 47"/>
          <p:cNvSpPr/>
          <p:nvPr/>
        </p:nvSpPr>
        <p:spPr>
          <a:xfrm>
            <a:off x="825034" y="4321394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5783123" y="6165304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186367" y="307726"/>
            <a:ext cx="914400" cy="18757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ASG1.1.1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1913532" y="4630881"/>
            <a:ext cx="362353" cy="21490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itchFamily="50" charset="-127"/>
                <a:cs typeface="+mn-cs"/>
              </a:rPr>
              <a:t>삭제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1023399" y="4630881"/>
            <a:ext cx="822873" cy="21490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itchFamily="50" charset="-127"/>
                <a:cs typeface="+mn-cs"/>
              </a:rPr>
              <a:t>구성원 추가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554538" y="2288689"/>
            <a:ext cx="914400" cy="13066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0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/ 00 Byte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964363" y="3926989"/>
            <a:ext cx="914400" cy="13066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0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/ 00 Byte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2177584" y="4559519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2-1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910759" y="4559519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2-2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1060301" y="6227674"/>
            <a:ext cx="571203" cy="2773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&lt;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itchFamily="50" charset="-127"/>
              </a:rPr>
              <a:t> 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itchFamily="50" charset="-127"/>
              </a:rPr>
              <a:t>목록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5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1060301" y="5839145"/>
            <a:ext cx="107839" cy="109736"/>
            <a:chOff x="554563" y="2632644"/>
            <a:chExt cx="131556" cy="131556"/>
          </a:xfrm>
        </p:grpSpPr>
        <p:sp>
          <p:nvSpPr>
            <p:cNvPr id="5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6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3647728" y="5238750"/>
            <a:ext cx="1156737" cy="175147"/>
            <a:chOff x="2499692" y="5267325"/>
            <a:chExt cx="1156737" cy="175147"/>
          </a:xfrm>
        </p:grpSpPr>
        <p:sp>
          <p:nvSpPr>
            <p:cNvPr id="63" name="모서리가 둥근 직사각형 62"/>
            <p:cNvSpPr/>
            <p:nvPr/>
          </p:nvSpPr>
          <p:spPr>
            <a:xfrm>
              <a:off x="2499692" y="5267325"/>
              <a:ext cx="1145169" cy="1751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관리자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 rot="5400000">
              <a:off x="3409335" y="5182478"/>
              <a:ext cx="129539" cy="364649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3647728" y="5524500"/>
            <a:ext cx="1156737" cy="175147"/>
            <a:chOff x="2499692" y="5267325"/>
            <a:chExt cx="1156737" cy="175147"/>
          </a:xfrm>
        </p:grpSpPr>
        <p:sp>
          <p:nvSpPr>
            <p:cNvPr id="66" name="모서리가 둥근 직사각형 65"/>
            <p:cNvSpPr/>
            <p:nvPr/>
          </p:nvSpPr>
          <p:spPr>
            <a:xfrm>
              <a:off x="2499692" y="5267325"/>
              <a:ext cx="1145169" cy="1751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 구성원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 rot="5400000">
              <a:off x="3409335" y="5182478"/>
              <a:ext cx="129539" cy="364649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grpSp>
        <p:nvGrpSpPr>
          <p:cNvPr id="68" name="그룹 67"/>
          <p:cNvGrpSpPr/>
          <p:nvPr/>
        </p:nvGrpSpPr>
        <p:grpSpPr>
          <a:xfrm>
            <a:off x="3647728" y="5810250"/>
            <a:ext cx="1156737" cy="175147"/>
            <a:chOff x="2499692" y="5267325"/>
            <a:chExt cx="1156737" cy="175147"/>
          </a:xfrm>
        </p:grpSpPr>
        <p:sp>
          <p:nvSpPr>
            <p:cNvPr id="69" name="모서리가 둥근 직사각형 68"/>
            <p:cNvSpPr/>
            <p:nvPr/>
          </p:nvSpPr>
          <p:spPr>
            <a:xfrm>
              <a:off x="2499692" y="5267325"/>
              <a:ext cx="1145169" cy="1751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참관인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 rot="5400000">
              <a:off x="3409335" y="5182478"/>
              <a:ext cx="129539" cy="364649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71" name="타원 70"/>
          <p:cNvSpPr/>
          <p:nvPr/>
        </p:nvSpPr>
        <p:spPr>
          <a:xfrm>
            <a:off x="3530134" y="5150069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2-3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3647728" y="5981700"/>
            <a:ext cx="1145169" cy="5429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관리자</a:t>
            </a:r>
            <a:endParaRPr kumimoji="1" lang="en-US" altLang="ko-KR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  구성원</a:t>
            </a:r>
            <a:endParaRPr lang="en-US" altLang="ko-KR" sz="800" smtClean="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l" defTabSz="914400" rtl="0" eaLnBrk="1" fontAlgn="base" latinLnBrk="1" hangingPunct="1"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 참관인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072661" y="1944266"/>
            <a:ext cx="914400" cy="2839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* </a:t>
            </a:r>
            <a:r>
              <a:rPr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필수 입력</a:t>
            </a:r>
          </a:p>
        </p:txBody>
      </p:sp>
    </p:spTree>
    <p:extLst>
      <p:ext uri="{BB962C8B-B14F-4D97-AF65-F5344CB8AC3E}">
        <p14:creationId xmlns:p14="http://schemas.microsoft.com/office/powerpoint/2010/main" val="246704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1"/>
            </p:custDataLst>
          </p:nvPr>
        </p:nvSpPr>
        <p:spPr>
          <a:xfrm>
            <a:off x="436712" y="620688"/>
            <a:ext cx="5544988" cy="5446737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0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2"/>
            </p:custDataLst>
          </p:nvPr>
        </p:nvSpPr>
        <p:spPr>
          <a:xfrm>
            <a:off x="3001912" y="1253764"/>
            <a:ext cx="2662039" cy="38453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7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3"/>
            </p:custDataLst>
          </p:nvPr>
        </p:nvSpPr>
        <p:spPr>
          <a:xfrm>
            <a:off x="717787" y="1253764"/>
            <a:ext cx="1724855" cy="38688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9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4"/>
            </p:custDataLst>
          </p:nvPr>
        </p:nvSpPr>
        <p:spPr>
          <a:xfrm>
            <a:off x="717787" y="1253763"/>
            <a:ext cx="1724855" cy="38453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7" name="꺾인 연결선 116"/>
          <p:cNvCxnSpPr>
            <a:stCxn id="162" idx="1"/>
            <a:endCxn id="158" idx="1"/>
          </p:cNvCxnSpPr>
          <p:nvPr/>
        </p:nvCxnSpPr>
        <p:spPr>
          <a:xfrm rot="10800000" flipV="1">
            <a:off x="1582795" y="2653314"/>
            <a:ext cx="12700" cy="247650"/>
          </a:xfrm>
          <a:prstGeom prst="bentConnector3">
            <a:avLst>
              <a:gd name="adj1" fmla="val 620693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꺾인 연결선 119"/>
          <p:cNvCxnSpPr>
            <a:stCxn id="126" idx="2"/>
            <a:endCxn id="155" idx="1"/>
          </p:cNvCxnSpPr>
          <p:nvPr/>
        </p:nvCxnSpPr>
        <p:spPr>
          <a:xfrm rot="16200000" flipH="1">
            <a:off x="934016" y="2744234"/>
            <a:ext cx="756005" cy="137527"/>
          </a:xfrm>
          <a:prstGeom prst="bentConnector2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126" idx="2"/>
            <a:endCxn id="141" idx="1"/>
          </p:cNvCxnSpPr>
          <p:nvPr/>
        </p:nvCxnSpPr>
        <p:spPr>
          <a:xfrm rot="16200000" flipH="1">
            <a:off x="801531" y="2876719"/>
            <a:ext cx="1020974" cy="137527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1663922" y="2516985"/>
            <a:ext cx="914400" cy="26061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홍길동</a:t>
            </a:r>
            <a:endParaRPr lang="en-US" altLang="ko-KR" sz="80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1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1582795" y="2598446"/>
            <a:ext cx="107839" cy="109736"/>
            <a:chOff x="554563" y="2632644"/>
            <a:chExt cx="131556" cy="131556"/>
          </a:xfrm>
        </p:grpSpPr>
        <p:sp>
          <p:nvSpPr>
            <p:cNvPr id="16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3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23" name="그림 122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804" y="2598145"/>
            <a:ext cx="111968" cy="111968"/>
          </a:xfrm>
          <a:prstGeom prst="rect">
            <a:avLst/>
          </a:prstGeom>
        </p:spPr>
      </p:pic>
      <p:cxnSp>
        <p:nvCxnSpPr>
          <p:cNvPr id="124" name="꺾인 연결선 123"/>
          <p:cNvCxnSpPr/>
          <p:nvPr/>
        </p:nvCxnSpPr>
        <p:spPr>
          <a:xfrm rot="16200000" flipH="1">
            <a:off x="1000723" y="1938535"/>
            <a:ext cx="214198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 124"/>
          <p:cNvCxnSpPr/>
          <p:nvPr/>
        </p:nvCxnSpPr>
        <p:spPr>
          <a:xfrm rot="16200000" flipH="1">
            <a:off x="859979" y="2079279"/>
            <a:ext cx="495687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180754" y="2308705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-</a:t>
            </a:r>
            <a:endParaRPr lang="ko-KR" altLang="en-US" sz="110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180754" y="2043234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+</a:t>
            </a:r>
            <a:endParaRPr lang="ko-KR" altLang="en-US" sz="110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1654" y="1764159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-</a:t>
            </a:r>
            <a:endParaRPr lang="ko-KR" altLang="en-US" sz="110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29" name="그림 128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81" y="1767597"/>
            <a:ext cx="123607" cy="123607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350072" y="2241033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표준개발실</a:t>
            </a:r>
            <a:endParaRPr lang="ko-KR" altLang="en-US" sz="800" b="1" dirty="0">
              <a:solidFill>
                <a:schemeClr val="tx1">
                  <a:lumMod val="95000"/>
                  <a:lumOff val="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1350072" y="1964761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전략기획실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1134048" y="1698061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핸디소프트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1663922" y="2764635"/>
            <a:ext cx="914400" cy="26061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고길동</a:t>
            </a:r>
            <a:endParaRPr lang="en-US" altLang="ko-KR" sz="80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1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1582795" y="2846096"/>
            <a:ext cx="107839" cy="109736"/>
            <a:chOff x="554563" y="2632644"/>
            <a:chExt cx="131556" cy="131556"/>
          </a:xfrm>
        </p:grpSpPr>
        <p:sp>
          <p:nvSpPr>
            <p:cNvPr id="15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1380782" y="3048762"/>
            <a:ext cx="1092713" cy="288032"/>
            <a:chOff x="3021305" y="3081349"/>
            <a:chExt cx="1092713" cy="288032"/>
          </a:xfrm>
        </p:grpSpPr>
        <p:sp>
          <p:nvSpPr>
            <p:cNvPr id="154" name="TextBox 153"/>
            <p:cNvSpPr txBox="1"/>
            <p:nvPr/>
          </p:nvSpPr>
          <p:spPr>
            <a:xfrm>
              <a:off x="3199618" y="3081349"/>
              <a:ext cx="914400" cy="288032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제품기획팀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3021305" y="3160442"/>
              <a:ext cx="125001" cy="12629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1100" smtClean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+</a:t>
              </a:r>
              <a:endParaRPr lang="ko-KR" altLang="en-US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1380782" y="3313731"/>
            <a:ext cx="1092713" cy="288032"/>
            <a:chOff x="3021305" y="3081349"/>
            <a:chExt cx="1092713" cy="288032"/>
          </a:xfrm>
        </p:grpSpPr>
        <p:sp>
          <p:nvSpPr>
            <p:cNvPr id="140" name="TextBox 139"/>
            <p:cNvSpPr txBox="1"/>
            <p:nvPr/>
          </p:nvSpPr>
          <p:spPr>
            <a:xfrm>
              <a:off x="3199618" y="3081349"/>
              <a:ext cx="914400" cy="288032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표준개발팀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3021305" y="3160442"/>
              <a:ext cx="125001" cy="12629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1100" smtClean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+</a:t>
              </a:r>
              <a:endParaRPr lang="ko-KR" altLang="en-US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168" name="Modal Dialog Overlay"/>
          <p:cNvSpPr>
            <a:spLocks/>
          </p:cNvSpPr>
          <p:nvPr/>
        </p:nvSpPr>
        <p:spPr bwMode="auto">
          <a:xfrm>
            <a:off x="771440" y="1341810"/>
            <a:ext cx="1327478" cy="19171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i="1" dirty="0">
              <a:solidFill>
                <a:schemeClr val="bg1">
                  <a:lumMod val="65000"/>
                </a:scheme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160" y="1389670"/>
            <a:ext cx="115280" cy="115280"/>
          </a:xfrm>
          <a:prstGeom prst="rect">
            <a:avLst/>
          </a:prstGeom>
        </p:spPr>
      </p:pic>
      <p:sp>
        <p:nvSpPr>
          <p:cNvPr id="170" name="모서리가 둥근 직사각형 169"/>
          <p:cNvSpPr/>
          <p:nvPr/>
        </p:nvSpPr>
        <p:spPr>
          <a:xfrm>
            <a:off x="2138458" y="1341810"/>
            <a:ext cx="254597" cy="191715"/>
          </a:xfrm>
          <a:prstGeom prst="roundRect">
            <a:avLst>
              <a:gd name="adj" fmla="val 23266"/>
            </a:avLst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171" name="그림 170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675" y="1365568"/>
            <a:ext cx="148907" cy="148907"/>
          </a:xfrm>
          <a:prstGeom prst="rect">
            <a:avLst/>
          </a:prstGeom>
        </p:spPr>
      </p:pic>
      <p:grpSp>
        <p:nvGrpSpPr>
          <p:cNvPr id="174" name="그룹 173"/>
          <p:cNvGrpSpPr/>
          <p:nvPr/>
        </p:nvGrpSpPr>
        <p:grpSpPr>
          <a:xfrm>
            <a:off x="2299980" y="1707484"/>
            <a:ext cx="58192" cy="3258967"/>
            <a:chOff x="2238375" y="1813543"/>
            <a:chExt cx="58192" cy="3943350"/>
          </a:xfrm>
        </p:grpSpPr>
        <p:sp>
          <p:nvSpPr>
            <p:cNvPr id="175" name="모서리가 둥근 직사각형 174"/>
            <p:cNvSpPr/>
            <p:nvPr/>
          </p:nvSpPr>
          <p:spPr>
            <a:xfrm>
              <a:off x="2238375" y="1813543"/>
              <a:ext cx="58192" cy="394335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12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76" name="모서리가 둥근 직사각형 175"/>
            <p:cNvSpPr/>
            <p:nvPr/>
          </p:nvSpPr>
          <p:spPr>
            <a:xfrm>
              <a:off x="2238375" y="3418408"/>
              <a:ext cx="58192" cy="103841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aphicFrame>
        <p:nvGraphicFramePr>
          <p:cNvPr id="180" name="표 179"/>
          <p:cNvGraphicFramePr>
            <a:graphicFrameLocks noGrp="1"/>
          </p:cNvGraphicFramePr>
          <p:nvPr>
            <p:extLst/>
          </p:nvPr>
        </p:nvGraphicFramePr>
        <p:xfrm>
          <a:off x="2998167" y="1658516"/>
          <a:ext cx="2665785" cy="3107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98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1085241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542620">
                  <a:extLst>
                    <a:ext uri="{9D8B030D-6E8A-4147-A177-3AD203B41FA5}">
                      <a16:colId xmlns:a16="http://schemas.microsoft.com/office/drawing/2014/main" val="1655089939"/>
                    </a:ext>
                  </a:extLst>
                </a:gridCol>
                <a:gridCol w="801026">
                  <a:extLst>
                    <a:ext uri="{9D8B030D-6E8A-4147-A177-3AD203B41FA5}">
                      <a16:colId xmlns:a16="http://schemas.microsoft.com/office/drawing/2014/main" val="1094341974"/>
                    </a:ext>
                  </a:extLst>
                </a:gridCol>
              </a:tblGrid>
              <a:tr h="2825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성명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고길동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과장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전략기획실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고길동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과장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전략기획실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대리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18671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575809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528020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025242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472524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6049"/>
                  </a:ext>
                </a:extLst>
              </a:tr>
            </a:tbl>
          </a:graphicData>
        </a:graphic>
      </p:graphicFrame>
      <p:grpSp>
        <p:nvGrpSpPr>
          <p:cNvPr id="183" name="그룹 182"/>
          <p:cNvGrpSpPr/>
          <p:nvPr/>
        </p:nvGrpSpPr>
        <p:grpSpPr>
          <a:xfrm>
            <a:off x="3390976" y="1341809"/>
            <a:ext cx="2220414" cy="195579"/>
            <a:chOff x="2495600" y="1341809"/>
            <a:chExt cx="2220414" cy="195579"/>
          </a:xfrm>
        </p:grpSpPr>
        <p:grpSp>
          <p:nvGrpSpPr>
            <p:cNvPr id="184" name="그룹 183"/>
            <p:cNvGrpSpPr/>
            <p:nvPr/>
          </p:nvGrpSpPr>
          <p:grpSpPr>
            <a:xfrm>
              <a:off x="3094399" y="1341810"/>
              <a:ext cx="1621615" cy="191715"/>
              <a:chOff x="608374" y="1341810"/>
              <a:chExt cx="1621615" cy="191715"/>
            </a:xfrm>
          </p:grpSpPr>
          <p:sp>
            <p:nvSpPr>
              <p:cNvPr id="187" name="Modal Dialog Overlay"/>
              <p:cNvSpPr>
                <a:spLocks/>
              </p:cNvSpPr>
              <p:nvPr/>
            </p:nvSpPr>
            <p:spPr bwMode="auto">
              <a:xfrm>
                <a:off x="608374" y="1341810"/>
                <a:ext cx="1327478" cy="191715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50000"/>
                  </a:schemeClr>
                </a:solidFill>
                <a:prstDash val="solid"/>
              </a:ln>
              <a:effectLst/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i="1" dirty="0">
                  <a:solidFill>
                    <a:schemeClr val="bg1">
                      <a:lumMod val="6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187"/>
              <p:cNvPicPr>
                <a:picLocks noChangeAspect="1"/>
              </p:cNvPicPr>
              <p:nvPr/>
            </p:nvPicPr>
            <p:blipFill>
              <a:blip r:embed="rId2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4094" y="1389670"/>
                <a:ext cx="115280" cy="115280"/>
              </a:xfrm>
              <a:prstGeom prst="rect">
                <a:avLst/>
              </a:prstGeom>
            </p:spPr>
          </p:pic>
          <p:sp>
            <p:nvSpPr>
              <p:cNvPr id="189" name="모서리가 둥근 직사각형 188"/>
              <p:cNvSpPr/>
              <p:nvPr/>
            </p:nvSpPr>
            <p:spPr>
              <a:xfrm>
                <a:off x="1975392" y="1341810"/>
                <a:ext cx="254597" cy="191715"/>
              </a:xfrm>
              <a:prstGeom prst="roundRect">
                <a:avLst>
                  <a:gd name="adj" fmla="val 23266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</p:grpSp>
        <p:sp>
          <p:nvSpPr>
            <p:cNvPr id="185" name="Modal Dialog Overlay"/>
            <p:cNvSpPr>
              <a:spLocks/>
            </p:cNvSpPr>
            <p:nvPr/>
          </p:nvSpPr>
          <p:spPr bwMode="auto">
            <a:xfrm>
              <a:off x="2495600" y="1341809"/>
              <a:ext cx="613570" cy="19171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50000"/>
                </a:schemeClr>
              </a:solidFill>
              <a:prstDash val="solid"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성명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 rot="5400000">
              <a:off x="2950000" y="1340390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pic>
        <p:nvPicPr>
          <p:cNvPr id="190" name="그림 189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229" y="1365568"/>
            <a:ext cx="148907" cy="148907"/>
          </a:xfrm>
          <a:prstGeom prst="rect">
            <a:avLst/>
          </a:prstGeom>
        </p:spPr>
      </p:pic>
      <p:sp>
        <p:nvSpPr>
          <p:cNvPr id="191" name="Modal Dialog Overlay"/>
          <p:cNvSpPr>
            <a:spLocks/>
          </p:cNvSpPr>
          <p:nvPr/>
        </p:nvSpPr>
        <p:spPr bwMode="auto">
          <a:xfrm>
            <a:off x="3390976" y="1532849"/>
            <a:ext cx="613570" cy="49915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성명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  <a:p>
            <a:endParaRPr lang="en-US" altLang="ko-KR" sz="80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직위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pSp>
        <p:nvGrpSpPr>
          <p:cNvPr id="19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3073655" y="2017421"/>
            <a:ext cx="107839" cy="109736"/>
            <a:chOff x="554563" y="2632644"/>
            <a:chExt cx="131556" cy="131556"/>
          </a:xfrm>
        </p:grpSpPr>
        <p:sp>
          <p:nvSpPr>
            <p:cNvPr id="19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6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3073655" y="1731671"/>
            <a:ext cx="107839" cy="109736"/>
            <a:chOff x="554563" y="2632644"/>
            <a:chExt cx="131556" cy="131556"/>
          </a:xfrm>
        </p:grpSpPr>
        <p:sp>
          <p:nvSpPr>
            <p:cNvPr id="19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8" name="그룹 207"/>
          <p:cNvGrpSpPr/>
          <p:nvPr/>
        </p:nvGrpSpPr>
        <p:grpSpPr>
          <a:xfrm>
            <a:off x="2627813" y="2726664"/>
            <a:ext cx="219780" cy="982270"/>
            <a:chOff x="2609145" y="2484830"/>
            <a:chExt cx="219780" cy="982270"/>
          </a:xfrm>
        </p:grpSpPr>
        <p:sp>
          <p:nvSpPr>
            <p:cNvPr id="206" name="모서리가 둥근 직사각형 205"/>
            <p:cNvSpPr/>
            <p:nvPr/>
          </p:nvSpPr>
          <p:spPr>
            <a:xfrm>
              <a:off x="2609145" y="2484830"/>
              <a:ext cx="219780" cy="42029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2609145" y="3046805"/>
              <a:ext cx="219780" cy="42029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&lt;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205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9"/>
            </p:custDataLst>
          </p:nvPr>
        </p:nvSpPr>
        <p:spPr>
          <a:xfrm>
            <a:off x="3001912" y="1253764"/>
            <a:ext cx="2662039" cy="3868829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1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0"/>
            </p:custDataLst>
          </p:nvPr>
        </p:nvGrpSpPr>
        <p:grpSpPr>
          <a:xfrm>
            <a:off x="3073655" y="2303171"/>
            <a:ext cx="107839" cy="109736"/>
            <a:chOff x="554563" y="2632644"/>
            <a:chExt cx="131556" cy="131556"/>
          </a:xfrm>
        </p:grpSpPr>
        <p:sp>
          <p:nvSpPr>
            <p:cNvPr id="21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3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1"/>
            </p:custDataLst>
          </p:nvPr>
        </p:nvGrpSpPr>
        <p:grpSpPr>
          <a:xfrm>
            <a:off x="3073655" y="2588921"/>
            <a:ext cx="107839" cy="109736"/>
            <a:chOff x="554563" y="2632644"/>
            <a:chExt cx="131556" cy="131556"/>
          </a:xfrm>
        </p:grpSpPr>
        <p:sp>
          <p:nvSpPr>
            <p:cNvPr id="21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6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70" name="직선 연결선 69"/>
          <p:cNvCxnSpPr/>
          <p:nvPr/>
        </p:nvCxnSpPr>
        <p:spPr>
          <a:xfrm>
            <a:off x="659916" y="1006896"/>
            <a:ext cx="509509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59916" y="727482"/>
            <a:ext cx="661742" cy="195956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구성원 추가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72" name="Close Button" descr="&lt;SmartSettings&gt;&lt;SmartResize anchorLeft=&quot;None&quot; anchorTop=&quot;Absolute&quot; anchorRight=&quot;Absolute&quot; anchorBottom=&quot;None&quot; /&gt;&lt;/SmartSettings&gt;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5631957" y="772110"/>
            <a:ext cx="123053" cy="116625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noFill/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3" name="그룹 72"/>
          <p:cNvGrpSpPr/>
          <p:nvPr/>
        </p:nvGrpSpPr>
        <p:grpSpPr>
          <a:xfrm>
            <a:off x="1739551" y="5402148"/>
            <a:ext cx="2913963" cy="324717"/>
            <a:chOff x="4610105" y="2551956"/>
            <a:chExt cx="2432626" cy="277391"/>
          </a:xfrm>
        </p:grpSpPr>
        <p:sp>
          <p:nvSpPr>
            <p:cNvPr id="74" name="모서리가 둥근 직사각형 73"/>
            <p:cNvSpPr/>
            <p:nvPr/>
          </p:nvSpPr>
          <p:spPr>
            <a:xfrm>
              <a:off x="5916247" y="2551956"/>
              <a:ext cx="1126484" cy="277391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900" b="1" smtClean="0">
                  <a:solidFill>
                    <a:schemeClr val="bg1"/>
                  </a:solidFill>
                  <a:latin typeface="+mj-ea"/>
                  <a:ea typeface="+mj-ea"/>
                </a:rPr>
                <a:t>확인</a:t>
              </a:r>
              <a:endParaRPr lang="ko-KR" altLang="en-US" sz="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5" name="모서리가 둥근 직사각형 74"/>
            <p:cNvSpPr/>
            <p:nvPr/>
          </p:nvSpPr>
          <p:spPr>
            <a:xfrm>
              <a:off x="4610105" y="2551956"/>
              <a:ext cx="1126484" cy="277391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rebuchet MS" panose="020B0603020202020204" pitchFamily="34" charset="0"/>
                  <a:ea typeface="나눔고딕" pitchFamily="50" charset="-127"/>
                </a:rPr>
                <a:t>취소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#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구성원 추가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-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78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246589"/>
              </p:ext>
            </p:extLst>
          </p:nvPr>
        </p:nvGraphicFramePr>
        <p:xfrm>
          <a:off x="9290533" y="786383"/>
          <a:ext cx="2835141" cy="60740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#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조직도 팝업을 사용하하되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타이틀만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&lt;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구성원 추가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로 수정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grpSp>
        <p:nvGrpSpPr>
          <p:cNvPr id="95" name="그룹 94"/>
          <p:cNvGrpSpPr/>
          <p:nvPr/>
        </p:nvGrpSpPr>
        <p:grpSpPr>
          <a:xfrm>
            <a:off x="5548005" y="1707484"/>
            <a:ext cx="58192" cy="3258967"/>
            <a:chOff x="2238375" y="1813543"/>
            <a:chExt cx="58192" cy="3943350"/>
          </a:xfrm>
        </p:grpSpPr>
        <p:sp>
          <p:nvSpPr>
            <p:cNvPr id="96" name="모서리가 둥근 직사각형 95"/>
            <p:cNvSpPr/>
            <p:nvPr/>
          </p:nvSpPr>
          <p:spPr>
            <a:xfrm>
              <a:off x="2238375" y="1813543"/>
              <a:ext cx="58192" cy="394335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12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97" name="모서리가 둥근 직사각형 96"/>
            <p:cNvSpPr/>
            <p:nvPr/>
          </p:nvSpPr>
          <p:spPr>
            <a:xfrm>
              <a:off x="2238375" y="3418408"/>
              <a:ext cx="58192" cy="103841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10222328" y="308595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AA1.1.2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561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/>
          <p:cNvGrpSpPr/>
          <p:nvPr/>
        </p:nvGrpSpPr>
        <p:grpSpPr>
          <a:xfrm>
            <a:off x="1000573" y="1482657"/>
            <a:ext cx="7671785" cy="294480"/>
            <a:chOff x="2612145" y="1195952"/>
            <a:chExt cx="7671785" cy="294480"/>
          </a:xfrm>
        </p:grpSpPr>
        <p:cxnSp>
          <p:nvCxnSpPr>
            <p:cNvPr id="5" name="직선 연결선 4"/>
            <p:cNvCxnSpPr/>
            <p:nvPr/>
          </p:nvCxnSpPr>
          <p:spPr>
            <a:xfrm>
              <a:off x="2612145" y="1490432"/>
              <a:ext cx="7671785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4"/>
              </p:custDataLst>
            </p:nvPr>
          </p:nvSpPr>
          <p:spPr>
            <a:xfrm>
              <a:off x="2762006" y="1195952"/>
              <a:ext cx="1021484" cy="29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b="1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진행중인 그룹</a:t>
              </a:r>
              <a:endPara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7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5"/>
              </p:custDataLst>
            </p:nvPr>
          </p:nvSpPr>
          <p:spPr>
            <a:xfrm>
              <a:off x="3766746" y="1195952"/>
              <a:ext cx="1021484" cy="294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smtClean="0">
                  <a:solidFill>
                    <a:schemeClr val="bg1">
                      <a:lumMod val="7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종료된 그룹</a:t>
              </a:r>
              <a:endParaRPr lang="en-US" sz="800" dirty="0">
                <a:solidFill>
                  <a:schemeClr val="bg1">
                    <a:lumMod val="7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010826"/>
              </p:ext>
            </p:extLst>
          </p:nvPr>
        </p:nvGraphicFramePr>
        <p:xfrm>
          <a:off x="981548" y="2228363"/>
          <a:ext cx="7690811" cy="1106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703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5768108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</a:tblGrid>
              <a:tr h="2659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그룹명</a:t>
                      </a:r>
                      <a:r>
                        <a:rPr lang="en-US" altLang="ko-KR" sz="800" b="1" smtClean="0">
                          <a:solidFill>
                            <a:srgbClr val="FF0000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*</a:t>
                      </a:r>
                      <a:endParaRPr lang="ko-KR" altLang="en-US" sz="800" b="1">
                        <a:solidFill>
                          <a:srgbClr val="FF0000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2659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그룹구분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        공개                      비공개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5743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소개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1548" y="3780299"/>
            <a:ext cx="1296144" cy="22333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900" smtClean="0">
                <a:solidFill>
                  <a:schemeClr val="bg1">
                    <a:lumMod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구성원 정보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55012"/>
              </p:ext>
            </p:extLst>
          </p:nvPr>
        </p:nvGraphicFramePr>
        <p:xfrm>
          <a:off x="981548" y="4082178"/>
          <a:ext cx="7671785" cy="144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71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400306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1831487">
                  <a:extLst>
                    <a:ext uri="{9D8B030D-6E8A-4147-A177-3AD203B41FA5}">
                      <a16:colId xmlns:a16="http://schemas.microsoft.com/office/drawing/2014/main" val="148387054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3637453">
                  <a:extLst>
                    <a:ext uri="{9D8B030D-6E8A-4147-A177-3AD203B41FA5}">
                      <a16:colId xmlns:a16="http://schemas.microsoft.com/office/drawing/2014/main" val="4275985075"/>
                    </a:ext>
                  </a:extLst>
                </a:gridCol>
              </a:tblGrid>
              <a:tr h="314276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666363"/>
                  </a:ext>
                </a:extLst>
              </a:tr>
              <a:tr h="2814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NO</a:t>
                      </a: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성명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844413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구성원을 추가해주세요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981548" y="1944069"/>
            <a:ext cx="1296144" cy="22333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900" smtClean="0">
                <a:solidFill>
                  <a:schemeClr val="bg1">
                    <a:lumMod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기본 정보</a:t>
            </a:r>
          </a:p>
        </p:txBody>
      </p:sp>
      <p:sp>
        <p:nvSpPr>
          <p:cNvPr id="32" name="모서리가 둥근 직사각형 31"/>
          <p:cNvSpPr/>
          <p:nvPr/>
        </p:nvSpPr>
        <p:spPr>
          <a:xfrm>
            <a:off x="2962354" y="2271639"/>
            <a:ext cx="2600245" cy="16676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2962353" y="2819028"/>
            <a:ext cx="5005855" cy="4559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4763801" y="5992586"/>
            <a:ext cx="1126484" cy="27739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900" smtClean="0">
                <a:solidFill>
                  <a:schemeClr val="bg1"/>
                </a:solidFill>
                <a:latin typeface="+mj-ea"/>
                <a:ea typeface="+mj-ea"/>
              </a:rPr>
              <a:t>저장</a:t>
            </a:r>
            <a:endParaRPr lang="ko-KR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3340164" y="5992586"/>
            <a:ext cx="1126484" cy="2773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itchFamily="50" charset="-127"/>
              </a:rPr>
              <a:t>취소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스퀘어 그룹 추가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진행중인 그룹</a:t>
            </a:r>
          </a:p>
        </p:txBody>
      </p:sp>
      <p:graphicFrame>
        <p:nvGraphicFramePr>
          <p:cNvPr id="4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938355"/>
              </p:ext>
            </p:extLst>
          </p:nvPr>
        </p:nvGraphicFramePr>
        <p:xfrm>
          <a:off x="9290533" y="786383"/>
          <a:ext cx="2835141" cy="936584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 그룹 추가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생성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하는 화면으로 기본 로직은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상세 수정과 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10186367" y="307726"/>
            <a:ext cx="914400" cy="18757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ASG1.1.1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554538" y="2288689"/>
            <a:ext cx="914400" cy="13066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0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/ 00 Byte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973888" y="3136414"/>
            <a:ext cx="914400" cy="13066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0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/ 00 Byte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2962659" y="2495735"/>
            <a:ext cx="1045443" cy="222101"/>
            <a:chOff x="2162559" y="2009960"/>
            <a:chExt cx="1045443" cy="222101"/>
          </a:xfrm>
        </p:grpSpPr>
        <p:sp>
          <p:nvSpPr>
            <p:cNvPr id="62" name="TextBox 61"/>
            <p:cNvSpPr txBox="1"/>
            <p:nvPr/>
          </p:nvSpPr>
          <p:spPr>
            <a:xfrm>
              <a:off x="2162559" y="2009960"/>
              <a:ext cx="226293" cy="222101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ko-KR" altLang="en-US" sz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○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981709" y="2009960"/>
              <a:ext cx="226293" cy="222101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ko-KR" altLang="en-US" sz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○</a:t>
              </a:r>
            </a:p>
          </p:txBody>
        </p:sp>
        <p:sp>
          <p:nvSpPr>
            <p:cNvPr id="64" name="자유형 63"/>
            <p:cNvSpPr/>
            <p:nvPr/>
          </p:nvSpPr>
          <p:spPr>
            <a:xfrm>
              <a:off x="2225412" y="2067785"/>
              <a:ext cx="123825" cy="100482"/>
            </a:xfrm>
            <a:custGeom>
              <a:avLst/>
              <a:gdLst>
                <a:gd name="connsiteX0" fmla="*/ 0 w 190500"/>
                <a:gd name="connsiteY0" fmla="*/ 95250 h 209550"/>
                <a:gd name="connsiteX1" fmla="*/ 76200 w 190500"/>
                <a:gd name="connsiteY1" fmla="*/ 209550 h 209550"/>
                <a:gd name="connsiteX2" fmla="*/ 190500 w 1905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209550">
                  <a:moveTo>
                    <a:pt x="0" y="95250"/>
                  </a:moveTo>
                  <a:lnTo>
                    <a:pt x="76200" y="209550"/>
                  </a:ln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모서리가 둥근 직사각형 66"/>
          <p:cNvSpPr/>
          <p:nvPr/>
        </p:nvSpPr>
        <p:spPr>
          <a:xfrm>
            <a:off x="1060301" y="5992586"/>
            <a:ext cx="571203" cy="2773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&lt;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itchFamily="50" charset="-127"/>
              </a:rPr>
              <a:t> 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itchFamily="50" charset="-127"/>
              </a:rPr>
              <a:t>목록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110863"/>
              </p:ext>
            </p:extLst>
          </p:nvPr>
        </p:nvGraphicFramePr>
        <p:xfrm>
          <a:off x="981548" y="4082178"/>
          <a:ext cx="7671784" cy="5957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71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400306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1880600">
                  <a:extLst>
                    <a:ext uri="{9D8B030D-6E8A-4147-A177-3AD203B41FA5}">
                      <a16:colId xmlns:a16="http://schemas.microsoft.com/office/drawing/2014/main" val="148387054"/>
                    </a:ext>
                  </a:extLst>
                </a:gridCol>
                <a:gridCol w="1700169">
                  <a:extLst>
                    <a:ext uri="{9D8B030D-6E8A-4147-A177-3AD203B41FA5}">
                      <a16:colId xmlns:a16="http://schemas.microsoft.com/office/drawing/2014/main" val="1044581853"/>
                    </a:ext>
                  </a:extLst>
                </a:gridCol>
                <a:gridCol w="1700169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1700169">
                  <a:extLst>
                    <a:ext uri="{9D8B030D-6E8A-4147-A177-3AD203B41FA5}">
                      <a16:colId xmlns:a16="http://schemas.microsoft.com/office/drawing/2014/main" val="4275985075"/>
                    </a:ext>
                  </a:extLst>
                </a:gridCol>
              </a:tblGrid>
              <a:tr h="314276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666363"/>
                  </a:ext>
                </a:extLst>
              </a:tr>
              <a:tr h="2814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NO</a:t>
                      </a: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성명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권한 등급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</a:tbl>
          </a:graphicData>
        </a:graphic>
      </p:graphicFrame>
      <p:grpSp>
        <p:nvGrpSpPr>
          <p:cNvPr id="1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060301" y="4480450"/>
            <a:ext cx="107839" cy="109736"/>
            <a:chOff x="554563" y="2632644"/>
            <a:chExt cx="131556" cy="131556"/>
          </a:xfrm>
        </p:grpSpPr>
        <p:sp>
          <p:nvSpPr>
            <p:cNvPr id="1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43" name="모서리가 둥근 직사각형 42"/>
          <p:cNvSpPr/>
          <p:nvPr/>
        </p:nvSpPr>
        <p:spPr>
          <a:xfrm>
            <a:off x="1913532" y="4118084"/>
            <a:ext cx="362353" cy="21490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itchFamily="50" charset="-127"/>
                <a:cs typeface="+mn-cs"/>
              </a:rPr>
              <a:t>삭제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1023399" y="4118084"/>
            <a:ext cx="822873" cy="21490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itchFamily="50" charset="-127"/>
                <a:cs typeface="+mn-cs"/>
              </a:rPr>
              <a:t>구성원 추가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72661" y="1944266"/>
            <a:ext cx="914400" cy="2839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* </a:t>
            </a:r>
            <a:r>
              <a:rPr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필수 입력</a:t>
            </a:r>
          </a:p>
        </p:txBody>
      </p:sp>
    </p:spTree>
    <p:extLst>
      <p:ext uri="{BB962C8B-B14F-4D97-AF65-F5344CB8AC3E}">
        <p14:creationId xmlns:p14="http://schemas.microsoft.com/office/powerpoint/2010/main" val="271378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1340768"/>
            <a:ext cx="4846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스퀘어 플러스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종료된 그룹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963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103202"/>
              </p:ext>
            </p:extLst>
          </p:nvPr>
        </p:nvGraphicFramePr>
        <p:xfrm>
          <a:off x="990126" y="1050330"/>
          <a:ext cx="6582781" cy="7950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1512">
                  <a:extLst>
                    <a:ext uri="{9D8B030D-6E8A-4147-A177-3AD203B41FA5}">
                      <a16:colId xmlns:a16="http://schemas.microsoft.com/office/drawing/2014/main" val="1349838453"/>
                    </a:ext>
                  </a:extLst>
                </a:gridCol>
                <a:gridCol w="1311512">
                  <a:extLst>
                    <a:ext uri="{9D8B030D-6E8A-4147-A177-3AD203B41FA5}">
                      <a16:colId xmlns:a16="http://schemas.microsoft.com/office/drawing/2014/main" val="3375671333"/>
                    </a:ext>
                  </a:extLst>
                </a:gridCol>
                <a:gridCol w="1311512">
                  <a:extLst>
                    <a:ext uri="{9D8B030D-6E8A-4147-A177-3AD203B41FA5}">
                      <a16:colId xmlns:a16="http://schemas.microsoft.com/office/drawing/2014/main" val="148483404"/>
                    </a:ext>
                  </a:extLst>
                </a:gridCol>
                <a:gridCol w="1311512">
                  <a:extLst>
                    <a:ext uri="{9D8B030D-6E8A-4147-A177-3AD203B41FA5}">
                      <a16:colId xmlns:a16="http://schemas.microsoft.com/office/drawing/2014/main" val="632755251"/>
                    </a:ext>
                  </a:extLst>
                </a:gridCol>
                <a:gridCol w="1336733">
                  <a:extLst>
                    <a:ext uri="{9D8B030D-6E8A-4147-A177-3AD203B41FA5}">
                      <a16:colId xmlns:a16="http://schemas.microsoft.com/office/drawing/2014/main" val="1469623920"/>
                    </a:ext>
                  </a:extLst>
                </a:gridCol>
              </a:tblGrid>
              <a:tr h="2622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smtClean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 그룹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407593"/>
                  </a:ext>
                </a:extLst>
              </a:tr>
              <a:tr h="262213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진행중인 그룹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279901"/>
                  </a:ext>
                </a:extLst>
              </a:tr>
              <a:tr h="270672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smtClean="0">
                          <a:solidFill>
                            <a:srgbClr val="FFFF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종료된 그룹</a:t>
                      </a:r>
                      <a:endParaRPr lang="ko-KR" altLang="en-US" sz="900" b="1" i="0" u="none" strike="noStrike">
                        <a:solidFill>
                          <a:srgbClr val="FFFF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C6591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348893"/>
                  </a:ext>
                </a:extLst>
              </a:tr>
            </a:tbl>
          </a:graphicData>
        </a:graphic>
      </p:graphicFrame>
      <p:sp>
        <p:nvSpPr>
          <p:cNvPr id="4" name="텍스트 개체 틀 3"/>
          <p:cNvSpPr txBox="1">
            <a:spLocks/>
          </p:cNvSpPr>
          <p:nvPr/>
        </p:nvSpPr>
        <p:spPr>
          <a:xfrm>
            <a:off x="1008246" y="383810"/>
            <a:ext cx="8568952" cy="3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spc="-100" baseline="0">
                <a:solidFill>
                  <a:srgbClr val="0B55B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6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Location</a:t>
            </a:r>
            <a:endParaRPr kumimoji="0" lang="ko-KR" altLang="en-US" sz="1600" b="0" dirty="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291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표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433622"/>
              </p:ext>
            </p:extLst>
          </p:nvPr>
        </p:nvGraphicFramePr>
        <p:xfrm>
          <a:off x="1000573" y="2396339"/>
          <a:ext cx="7671785" cy="3192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71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347356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2369468">
                  <a:extLst>
                    <a:ext uri="{9D8B030D-6E8A-4147-A177-3AD203B41FA5}">
                      <a16:colId xmlns:a16="http://schemas.microsoft.com/office/drawing/2014/main" val="78043009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986197">
                  <a:extLst>
                    <a:ext uri="{9D8B030D-6E8A-4147-A177-3AD203B41FA5}">
                      <a16:colId xmlns:a16="http://schemas.microsoft.com/office/drawing/2014/main" val="806056156"/>
                    </a:ext>
                  </a:extLst>
                </a:gridCol>
                <a:gridCol w="886011">
                  <a:extLst>
                    <a:ext uri="{9D8B030D-6E8A-4147-A177-3AD203B41FA5}">
                      <a16:colId xmlns:a16="http://schemas.microsoft.com/office/drawing/2014/main" val="4275985075"/>
                    </a:ext>
                  </a:extLst>
                </a:gridCol>
                <a:gridCol w="964143">
                  <a:extLst>
                    <a:ext uri="{9D8B030D-6E8A-4147-A177-3AD203B41FA5}">
                      <a16:colId xmlns:a16="http://schemas.microsoft.com/office/drawing/2014/main" val="2660714960"/>
                    </a:ext>
                  </a:extLst>
                </a:gridCol>
                <a:gridCol w="964143">
                  <a:extLst>
                    <a:ext uri="{9D8B030D-6E8A-4147-A177-3AD203B41FA5}">
                      <a16:colId xmlns:a16="http://schemas.microsoft.com/office/drawing/2014/main" val="2372415010"/>
                    </a:ext>
                  </a:extLst>
                </a:gridCol>
              </a:tblGrid>
              <a:tr h="386368"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666363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No</a:t>
                      </a: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관리자</a:t>
                      </a: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개설자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개설일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종료일 </a:t>
                      </a: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비공개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이길수</a:t>
                      </a: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2016-07-04</a:t>
                      </a: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전사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이길수 외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82597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이길수 외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850647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비공개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이길수 외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462058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전사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이길수 외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95181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이길수 외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97899"/>
                  </a:ext>
                </a:extLst>
              </a:tr>
              <a:tr h="355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개선 프로젝트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비공개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이길수 외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2016-07-04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94928"/>
                  </a:ext>
                </a:extLst>
              </a:tr>
            </a:tbl>
          </a:graphicData>
        </a:graphic>
      </p:graphicFrame>
      <p:sp>
        <p:nvSpPr>
          <p:cNvPr id="61" name="TextBox 60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종료된 그룹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종료된 그룹</a:t>
            </a:r>
          </a:p>
        </p:txBody>
      </p:sp>
      <p:grpSp>
        <p:nvGrpSpPr>
          <p:cNvPr id="4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091617" y="2878244"/>
            <a:ext cx="107839" cy="109736"/>
            <a:chOff x="554563" y="2632644"/>
            <a:chExt cx="131556" cy="131556"/>
          </a:xfrm>
        </p:grpSpPr>
        <p:sp>
          <p:nvSpPr>
            <p:cNvPr id="4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4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96" name="모서리가 둥근 직사각형 95"/>
          <p:cNvSpPr/>
          <p:nvPr/>
        </p:nvSpPr>
        <p:spPr>
          <a:xfrm>
            <a:off x="1088985" y="2468347"/>
            <a:ext cx="830551" cy="22664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itchFamily="50" charset="-127"/>
                <a:cs typeface="+mn-cs"/>
              </a:rPr>
              <a:t>재시작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</p:txBody>
      </p:sp>
      <p:grpSp>
        <p:nvGrpSpPr>
          <p:cNvPr id="101" name="그룹 100"/>
          <p:cNvGrpSpPr/>
          <p:nvPr/>
        </p:nvGrpSpPr>
        <p:grpSpPr>
          <a:xfrm>
            <a:off x="5694917" y="2071613"/>
            <a:ext cx="2944649" cy="227608"/>
            <a:chOff x="5903179" y="2445148"/>
            <a:chExt cx="2944649" cy="227608"/>
          </a:xfrm>
        </p:grpSpPr>
        <p:sp>
          <p:nvSpPr>
            <p:cNvPr id="102" name="모서리가 둥근 직사각형 101"/>
            <p:cNvSpPr/>
            <p:nvPr/>
          </p:nvSpPr>
          <p:spPr>
            <a:xfrm>
              <a:off x="6666292" y="2445148"/>
              <a:ext cx="2181536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03" name="모서리가 둥근 직사각형 102"/>
            <p:cNvSpPr/>
            <p:nvPr/>
          </p:nvSpPr>
          <p:spPr>
            <a:xfrm>
              <a:off x="5903179" y="2446109"/>
              <a:ext cx="683617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그룹명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 rot="5400000">
              <a:off x="6401365" y="2460560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4315" y="2492511"/>
              <a:ext cx="125049" cy="125049"/>
            </a:xfrm>
            <a:prstGeom prst="rect">
              <a:avLst/>
            </a:prstGeom>
          </p:spPr>
        </p:pic>
      </p:grpSp>
      <p:grpSp>
        <p:nvGrpSpPr>
          <p:cNvPr id="3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1091617" y="3221144"/>
            <a:ext cx="107839" cy="109736"/>
            <a:chOff x="554563" y="2632644"/>
            <a:chExt cx="131556" cy="131556"/>
          </a:xfrm>
        </p:grpSpPr>
        <p:sp>
          <p:nvSpPr>
            <p:cNvPr id="3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1091617" y="3573569"/>
            <a:ext cx="107839" cy="109736"/>
            <a:chOff x="554563" y="2632644"/>
            <a:chExt cx="131556" cy="131556"/>
          </a:xfrm>
        </p:grpSpPr>
        <p:sp>
          <p:nvSpPr>
            <p:cNvPr id="3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1091617" y="3906944"/>
            <a:ext cx="107839" cy="109736"/>
            <a:chOff x="554563" y="2632644"/>
            <a:chExt cx="131556" cy="131556"/>
          </a:xfrm>
        </p:grpSpPr>
        <p:sp>
          <p:nvSpPr>
            <p:cNvPr id="3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1091617" y="4287944"/>
            <a:ext cx="107839" cy="109736"/>
            <a:chOff x="554563" y="2632644"/>
            <a:chExt cx="131556" cy="131556"/>
          </a:xfrm>
        </p:grpSpPr>
        <p:sp>
          <p:nvSpPr>
            <p:cNvPr id="4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4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1091617" y="4640369"/>
            <a:ext cx="107839" cy="109736"/>
            <a:chOff x="554563" y="2632644"/>
            <a:chExt cx="131556" cy="131556"/>
          </a:xfrm>
        </p:grpSpPr>
        <p:sp>
          <p:nvSpPr>
            <p:cNvPr id="5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5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1091617" y="4983269"/>
            <a:ext cx="107839" cy="109736"/>
            <a:chOff x="554563" y="2632644"/>
            <a:chExt cx="131556" cy="131556"/>
          </a:xfrm>
        </p:grpSpPr>
        <p:sp>
          <p:nvSpPr>
            <p:cNvPr id="5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5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1091617" y="5354744"/>
            <a:ext cx="107839" cy="109736"/>
            <a:chOff x="554563" y="2632644"/>
            <a:chExt cx="131556" cy="131556"/>
          </a:xfrm>
        </p:grpSpPr>
        <p:sp>
          <p:nvSpPr>
            <p:cNvPr id="5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8112224" y="2468347"/>
            <a:ext cx="468189" cy="226647"/>
            <a:chOff x="8184232" y="2397322"/>
            <a:chExt cx="468189" cy="226647"/>
          </a:xfrm>
        </p:grpSpPr>
        <p:sp>
          <p:nvSpPr>
            <p:cNvPr id="59" name="모서리가 둥근 직사각형 58"/>
            <p:cNvSpPr/>
            <p:nvPr/>
          </p:nvSpPr>
          <p:spPr>
            <a:xfrm>
              <a:off x="8184232" y="2397322"/>
              <a:ext cx="464363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15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7184502" y="2468347"/>
            <a:ext cx="835155" cy="226647"/>
            <a:chOff x="7817266" y="2397322"/>
            <a:chExt cx="835155" cy="226647"/>
          </a:xfrm>
        </p:grpSpPr>
        <p:sp>
          <p:nvSpPr>
            <p:cNvPr id="63" name="모서리가 둥근 직사각형 62"/>
            <p:cNvSpPr/>
            <p:nvPr/>
          </p:nvSpPr>
          <p:spPr>
            <a:xfrm>
              <a:off x="7817266" y="2397322"/>
              <a:ext cx="831329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전체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cxnSp>
        <p:nvCxnSpPr>
          <p:cNvPr id="67" name="직선 연결선 6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750897"/>
              </p:ext>
            </p:extLst>
          </p:nvPr>
        </p:nvGraphicFramePr>
        <p:xfrm>
          <a:off x="9290533" y="786383"/>
          <a:ext cx="2835141" cy="2195408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※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전체적인 화면구조는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진행중인 그룹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’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과 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 그룹 종료일 기준으로 기본 정렬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 선택 후 클릭시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alert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선택하신 스퀘어 그룹을 재시작하시겠습니까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?</a:t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확인 취소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확인 클릭시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진행중인 그룹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으로 이동 처리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지정된 관리자가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명이상일 경우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좌측 화면과 같이 출력하며        클릭시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전체 관리자 확인 팝업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en-US" altLang="ko-KR" sz="800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ASG1.1.2)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762446"/>
                  </a:ext>
                </a:extLst>
              </a:tr>
            </a:tbl>
          </a:graphicData>
        </a:graphic>
      </p:graphicFrame>
      <p:cxnSp>
        <p:nvCxnSpPr>
          <p:cNvPr id="75" name="직선 연결선 74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9"/>
            </p:custDataLst>
          </p:nvPr>
        </p:nvSpPr>
        <p:spPr>
          <a:xfrm>
            <a:off x="1150434" y="1482657"/>
            <a:ext cx="1021484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진행중인 그룹</a:t>
            </a:r>
            <a:endParaRPr lang="en-US" sz="800" dirty="0">
              <a:solidFill>
                <a:prstClr val="white">
                  <a:lumMod val="7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77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0"/>
            </p:custDataLst>
          </p:nvPr>
        </p:nvSpPr>
        <p:spPr>
          <a:xfrm>
            <a:off x="2155174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b="1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종료된 그룹</a:t>
            </a:r>
            <a:endParaRPr lang="en-US" sz="800" b="1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3928372" y="5782022"/>
            <a:ext cx="1719413" cy="360040"/>
            <a:chOff x="3928372" y="5589240"/>
            <a:chExt cx="1719413" cy="360040"/>
          </a:xfrm>
        </p:grpSpPr>
        <p:sp>
          <p:nvSpPr>
            <p:cNvPr id="83" name="TextBox 82"/>
            <p:cNvSpPr txBox="1"/>
            <p:nvPr/>
          </p:nvSpPr>
          <p:spPr>
            <a:xfrm>
              <a:off x="4025146" y="5589240"/>
              <a:ext cx="1622639" cy="36004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&lt; </a:t>
              </a:r>
              <a:r>
                <a:rPr kumimoji="1" lang="en-US" altLang="ko-KR" sz="1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  1</a:t>
              </a:r>
              <a:r>
                <a:rPr kumimoji="1" lang="en-US" altLang="ko-KR" sz="1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  2   3   4   5   6   7   8   9   10    </a:t>
              </a:r>
              <a:r>
                <a:rPr kumimoji="1" lang="en-US" altLang="ko-KR" sz="1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cxnSp>
          <p:nvCxnSpPr>
            <p:cNvPr id="84" name="직선 연결선 83"/>
            <p:cNvCxnSpPr/>
            <p:nvPr/>
          </p:nvCxnSpPr>
          <p:spPr>
            <a:xfrm>
              <a:off x="3928372" y="5877272"/>
              <a:ext cx="102789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그룹 86"/>
          <p:cNvGrpSpPr/>
          <p:nvPr/>
        </p:nvGrpSpPr>
        <p:grpSpPr>
          <a:xfrm>
            <a:off x="19050" y="5445224"/>
            <a:ext cx="9201147" cy="262732"/>
            <a:chOff x="19050" y="4795043"/>
            <a:chExt cx="8071075" cy="253207"/>
          </a:xfrm>
        </p:grpSpPr>
        <p:grpSp>
          <p:nvGrpSpPr>
            <p:cNvPr id="88" name="Cutout"/>
            <p:cNvGrpSpPr/>
            <p:nvPr/>
          </p:nvGrpSpPr>
          <p:grpSpPr>
            <a:xfrm rot="16200000">
              <a:off x="1906985" y="2907108"/>
              <a:ext cx="253207" cy="4029078"/>
              <a:chOff x="6402388" y="1584325"/>
              <a:chExt cx="239713" cy="933450"/>
            </a:xfrm>
            <a:solidFill>
              <a:srgbClr val="FFFFFF"/>
            </a:solidFill>
          </p:grpSpPr>
          <p:sp>
            <p:nvSpPr>
              <p:cNvPr id="92" name="Fill"/>
              <p:cNvSpPr>
                <a:spLocks/>
              </p:cNvSpPr>
              <p:nvPr/>
            </p:nvSpPr>
            <p:spPr bwMode="auto">
              <a:xfrm>
                <a:off x="6402388" y="1584325"/>
                <a:ext cx="239713" cy="933450"/>
              </a:xfrm>
              <a:custGeom>
                <a:avLst/>
                <a:gdLst>
                  <a:gd name="T0" fmla="*/ 74 w 151"/>
                  <a:gd name="T1" fmla="*/ 588 h 588"/>
                  <a:gd name="T2" fmla="*/ 151 w 151"/>
                  <a:gd name="T3" fmla="*/ 518 h 588"/>
                  <a:gd name="T4" fmla="*/ 74 w 151"/>
                  <a:gd name="T5" fmla="*/ 441 h 588"/>
                  <a:gd name="T6" fmla="*/ 151 w 151"/>
                  <a:gd name="T7" fmla="*/ 375 h 588"/>
                  <a:gd name="T8" fmla="*/ 74 w 151"/>
                  <a:gd name="T9" fmla="*/ 294 h 588"/>
                  <a:gd name="T10" fmla="*/ 151 w 151"/>
                  <a:gd name="T11" fmla="*/ 231 h 588"/>
                  <a:gd name="T12" fmla="*/ 74 w 151"/>
                  <a:gd name="T13" fmla="*/ 147 h 588"/>
                  <a:gd name="T14" fmla="*/ 151 w 151"/>
                  <a:gd name="T15" fmla="*/ 88 h 588"/>
                  <a:gd name="T16" fmla="*/ 74 w 151"/>
                  <a:gd name="T17" fmla="*/ 0 h 588"/>
                  <a:gd name="T18" fmla="*/ 0 w 151"/>
                  <a:gd name="T19" fmla="*/ 0 h 588"/>
                  <a:gd name="T20" fmla="*/ 78 w 151"/>
                  <a:gd name="T21" fmla="*/ 88 h 588"/>
                  <a:gd name="T22" fmla="*/ 0 w 151"/>
                  <a:gd name="T23" fmla="*/ 147 h 588"/>
                  <a:gd name="T24" fmla="*/ 78 w 151"/>
                  <a:gd name="T25" fmla="*/ 231 h 588"/>
                  <a:gd name="T26" fmla="*/ 0 w 151"/>
                  <a:gd name="T27" fmla="*/ 294 h 588"/>
                  <a:gd name="T28" fmla="*/ 78 w 151"/>
                  <a:gd name="T29" fmla="*/ 375 h 588"/>
                  <a:gd name="T30" fmla="*/ 0 w 151"/>
                  <a:gd name="T31" fmla="*/ 441 h 588"/>
                  <a:gd name="T32" fmla="*/ 78 w 151"/>
                  <a:gd name="T33" fmla="*/ 518 h 588"/>
                  <a:gd name="T34" fmla="*/ 0 w 151"/>
                  <a:gd name="T35" fmla="*/ 588 h 588"/>
                  <a:gd name="T36" fmla="*/ 74 w 151"/>
                  <a:gd name="T37" fmla="*/ 588 h 5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1" h="588">
                    <a:moveTo>
                      <a:pt x="74" y="588"/>
                    </a:moveTo>
                    <a:lnTo>
                      <a:pt x="151" y="518"/>
                    </a:lnTo>
                    <a:lnTo>
                      <a:pt x="74" y="441"/>
                    </a:lnTo>
                    <a:lnTo>
                      <a:pt x="151" y="375"/>
                    </a:lnTo>
                    <a:lnTo>
                      <a:pt x="74" y="294"/>
                    </a:lnTo>
                    <a:lnTo>
                      <a:pt x="151" y="231"/>
                    </a:lnTo>
                    <a:lnTo>
                      <a:pt x="74" y="147"/>
                    </a:lnTo>
                    <a:lnTo>
                      <a:pt x="151" y="88"/>
                    </a:lnTo>
                    <a:lnTo>
                      <a:pt x="74" y="0"/>
                    </a:lnTo>
                    <a:lnTo>
                      <a:pt x="0" y="0"/>
                    </a:lnTo>
                    <a:lnTo>
                      <a:pt x="78" y="88"/>
                    </a:lnTo>
                    <a:lnTo>
                      <a:pt x="0" y="147"/>
                    </a:lnTo>
                    <a:lnTo>
                      <a:pt x="78" y="231"/>
                    </a:lnTo>
                    <a:lnTo>
                      <a:pt x="0" y="294"/>
                    </a:lnTo>
                    <a:lnTo>
                      <a:pt x="78" y="375"/>
                    </a:lnTo>
                    <a:lnTo>
                      <a:pt x="0" y="441"/>
                    </a:lnTo>
                    <a:lnTo>
                      <a:pt x="78" y="518"/>
                    </a:lnTo>
                    <a:lnTo>
                      <a:pt x="0" y="588"/>
                    </a:lnTo>
                    <a:lnTo>
                      <a:pt x="74" y="588"/>
                    </a:lnTo>
                    <a:close/>
                  </a:path>
                </a:pathLst>
              </a:custGeom>
              <a:grp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93" name="Border"/>
              <p:cNvSpPr>
                <a:spLocks noEditPoints="1"/>
              </p:cNvSpPr>
              <p:nvPr/>
            </p:nvSpPr>
            <p:spPr bwMode="auto">
              <a:xfrm>
                <a:off x="6402388" y="1584325"/>
                <a:ext cx="239713" cy="933450"/>
              </a:xfrm>
              <a:custGeom>
                <a:avLst/>
                <a:gdLst>
                  <a:gd name="T0" fmla="*/ 0 w 909"/>
                  <a:gd name="T1" fmla="*/ 0 h 3585"/>
                  <a:gd name="T2" fmla="*/ 467 w 909"/>
                  <a:gd name="T3" fmla="*/ 535 h 3585"/>
                  <a:gd name="T4" fmla="*/ 0 w 909"/>
                  <a:gd name="T5" fmla="*/ 896 h 3585"/>
                  <a:gd name="T6" fmla="*/ 467 w 909"/>
                  <a:gd name="T7" fmla="*/ 1409 h 3585"/>
                  <a:gd name="T8" fmla="*/ 0 w 909"/>
                  <a:gd name="T9" fmla="*/ 1793 h 3585"/>
                  <a:gd name="T10" fmla="*/ 467 w 909"/>
                  <a:gd name="T11" fmla="*/ 2284 h 3585"/>
                  <a:gd name="T12" fmla="*/ 0 w 909"/>
                  <a:gd name="T13" fmla="*/ 2689 h 3585"/>
                  <a:gd name="T14" fmla="*/ 467 w 909"/>
                  <a:gd name="T15" fmla="*/ 3158 h 3585"/>
                  <a:gd name="T16" fmla="*/ 0 w 909"/>
                  <a:gd name="T17" fmla="*/ 3585 h 3585"/>
                  <a:gd name="T18" fmla="*/ 442 w 909"/>
                  <a:gd name="T19" fmla="*/ 3585 h 3585"/>
                  <a:gd name="T20" fmla="*/ 909 w 909"/>
                  <a:gd name="T21" fmla="*/ 3158 h 3585"/>
                  <a:gd name="T22" fmla="*/ 442 w 909"/>
                  <a:gd name="T23" fmla="*/ 2689 h 3585"/>
                  <a:gd name="T24" fmla="*/ 909 w 909"/>
                  <a:gd name="T25" fmla="*/ 2284 h 3585"/>
                  <a:gd name="T26" fmla="*/ 442 w 909"/>
                  <a:gd name="T27" fmla="*/ 1793 h 3585"/>
                  <a:gd name="T28" fmla="*/ 909 w 909"/>
                  <a:gd name="T29" fmla="*/ 1409 h 3585"/>
                  <a:gd name="T30" fmla="*/ 442 w 909"/>
                  <a:gd name="T31" fmla="*/ 896 h 3585"/>
                  <a:gd name="T32" fmla="*/ 909 w 909"/>
                  <a:gd name="T33" fmla="*/ 535 h 3585"/>
                  <a:gd name="T34" fmla="*/ 442 w 909"/>
                  <a:gd name="T35" fmla="*/ 0 h 3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09" h="3585">
                    <a:moveTo>
                      <a:pt x="0" y="0"/>
                    </a:moveTo>
                    <a:lnTo>
                      <a:pt x="467" y="535"/>
                    </a:lnTo>
                    <a:lnTo>
                      <a:pt x="0" y="896"/>
                    </a:lnTo>
                    <a:lnTo>
                      <a:pt x="467" y="1409"/>
                    </a:lnTo>
                    <a:lnTo>
                      <a:pt x="0" y="1793"/>
                    </a:lnTo>
                    <a:lnTo>
                      <a:pt x="467" y="2284"/>
                    </a:lnTo>
                    <a:lnTo>
                      <a:pt x="0" y="2689"/>
                    </a:lnTo>
                    <a:lnTo>
                      <a:pt x="467" y="3158"/>
                    </a:lnTo>
                    <a:lnTo>
                      <a:pt x="0" y="3585"/>
                    </a:lnTo>
                    <a:moveTo>
                      <a:pt x="442" y="3585"/>
                    </a:moveTo>
                    <a:lnTo>
                      <a:pt x="909" y="3158"/>
                    </a:lnTo>
                    <a:lnTo>
                      <a:pt x="442" y="2689"/>
                    </a:lnTo>
                    <a:lnTo>
                      <a:pt x="909" y="2284"/>
                    </a:lnTo>
                    <a:lnTo>
                      <a:pt x="442" y="1793"/>
                    </a:lnTo>
                    <a:lnTo>
                      <a:pt x="909" y="1409"/>
                    </a:lnTo>
                    <a:lnTo>
                      <a:pt x="442" y="896"/>
                    </a:lnTo>
                    <a:lnTo>
                      <a:pt x="909" y="535"/>
                    </a:lnTo>
                    <a:lnTo>
                      <a:pt x="442" y="0"/>
                    </a:lnTo>
                  </a:path>
                </a:pathLst>
              </a:custGeom>
              <a:no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89" name="Cutout"/>
            <p:cNvGrpSpPr/>
            <p:nvPr/>
          </p:nvGrpSpPr>
          <p:grpSpPr>
            <a:xfrm rot="16200000">
              <a:off x="5936450" y="2894574"/>
              <a:ext cx="253206" cy="4054145"/>
              <a:chOff x="6402388" y="1578517"/>
              <a:chExt cx="239713" cy="939258"/>
            </a:xfrm>
            <a:solidFill>
              <a:srgbClr val="FFFFFF"/>
            </a:solidFill>
          </p:grpSpPr>
          <p:sp>
            <p:nvSpPr>
              <p:cNvPr id="90" name="Fill"/>
              <p:cNvSpPr>
                <a:spLocks/>
              </p:cNvSpPr>
              <p:nvPr/>
            </p:nvSpPr>
            <p:spPr bwMode="auto">
              <a:xfrm>
                <a:off x="6402388" y="1578517"/>
                <a:ext cx="239713" cy="933450"/>
              </a:xfrm>
              <a:custGeom>
                <a:avLst/>
                <a:gdLst>
                  <a:gd name="T0" fmla="*/ 74 w 151"/>
                  <a:gd name="T1" fmla="*/ 588 h 588"/>
                  <a:gd name="T2" fmla="*/ 151 w 151"/>
                  <a:gd name="T3" fmla="*/ 518 h 588"/>
                  <a:gd name="T4" fmla="*/ 74 w 151"/>
                  <a:gd name="T5" fmla="*/ 441 h 588"/>
                  <a:gd name="T6" fmla="*/ 151 w 151"/>
                  <a:gd name="T7" fmla="*/ 375 h 588"/>
                  <a:gd name="T8" fmla="*/ 74 w 151"/>
                  <a:gd name="T9" fmla="*/ 294 h 588"/>
                  <a:gd name="T10" fmla="*/ 151 w 151"/>
                  <a:gd name="T11" fmla="*/ 231 h 588"/>
                  <a:gd name="T12" fmla="*/ 74 w 151"/>
                  <a:gd name="T13" fmla="*/ 147 h 588"/>
                  <a:gd name="T14" fmla="*/ 151 w 151"/>
                  <a:gd name="T15" fmla="*/ 88 h 588"/>
                  <a:gd name="T16" fmla="*/ 74 w 151"/>
                  <a:gd name="T17" fmla="*/ 0 h 588"/>
                  <a:gd name="T18" fmla="*/ 0 w 151"/>
                  <a:gd name="T19" fmla="*/ 0 h 588"/>
                  <a:gd name="T20" fmla="*/ 78 w 151"/>
                  <a:gd name="T21" fmla="*/ 88 h 588"/>
                  <a:gd name="T22" fmla="*/ 0 w 151"/>
                  <a:gd name="T23" fmla="*/ 147 h 588"/>
                  <a:gd name="T24" fmla="*/ 78 w 151"/>
                  <a:gd name="T25" fmla="*/ 231 h 588"/>
                  <a:gd name="T26" fmla="*/ 0 w 151"/>
                  <a:gd name="T27" fmla="*/ 294 h 588"/>
                  <a:gd name="T28" fmla="*/ 78 w 151"/>
                  <a:gd name="T29" fmla="*/ 375 h 588"/>
                  <a:gd name="T30" fmla="*/ 0 w 151"/>
                  <a:gd name="T31" fmla="*/ 441 h 588"/>
                  <a:gd name="T32" fmla="*/ 78 w 151"/>
                  <a:gd name="T33" fmla="*/ 518 h 588"/>
                  <a:gd name="T34" fmla="*/ 0 w 151"/>
                  <a:gd name="T35" fmla="*/ 588 h 588"/>
                  <a:gd name="T36" fmla="*/ 74 w 151"/>
                  <a:gd name="T37" fmla="*/ 588 h 5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1" h="588">
                    <a:moveTo>
                      <a:pt x="74" y="588"/>
                    </a:moveTo>
                    <a:lnTo>
                      <a:pt x="151" y="518"/>
                    </a:lnTo>
                    <a:lnTo>
                      <a:pt x="74" y="441"/>
                    </a:lnTo>
                    <a:lnTo>
                      <a:pt x="151" y="375"/>
                    </a:lnTo>
                    <a:lnTo>
                      <a:pt x="74" y="294"/>
                    </a:lnTo>
                    <a:lnTo>
                      <a:pt x="151" y="231"/>
                    </a:lnTo>
                    <a:lnTo>
                      <a:pt x="74" y="147"/>
                    </a:lnTo>
                    <a:lnTo>
                      <a:pt x="151" y="88"/>
                    </a:lnTo>
                    <a:lnTo>
                      <a:pt x="74" y="0"/>
                    </a:lnTo>
                    <a:lnTo>
                      <a:pt x="0" y="0"/>
                    </a:lnTo>
                    <a:lnTo>
                      <a:pt x="78" y="88"/>
                    </a:lnTo>
                    <a:lnTo>
                      <a:pt x="0" y="147"/>
                    </a:lnTo>
                    <a:lnTo>
                      <a:pt x="78" y="231"/>
                    </a:lnTo>
                    <a:lnTo>
                      <a:pt x="0" y="294"/>
                    </a:lnTo>
                    <a:lnTo>
                      <a:pt x="78" y="375"/>
                    </a:lnTo>
                    <a:lnTo>
                      <a:pt x="0" y="441"/>
                    </a:lnTo>
                    <a:lnTo>
                      <a:pt x="78" y="518"/>
                    </a:lnTo>
                    <a:lnTo>
                      <a:pt x="0" y="588"/>
                    </a:lnTo>
                    <a:lnTo>
                      <a:pt x="74" y="588"/>
                    </a:lnTo>
                    <a:close/>
                  </a:path>
                </a:pathLst>
              </a:custGeom>
              <a:grp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91" name="Border"/>
              <p:cNvSpPr>
                <a:spLocks noEditPoints="1"/>
              </p:cNvSpPr>
              <p:nvPr/>
            </p:nvSpPr>
            <p:spPr bwMode="auto">
              <a:xfrm>
                <a:off x="6402388" y="1584325"/>
                <a:ext cx="239713" cy="933450"/>
              </a:xfrm>
              <a:custGeom>
                <a:avLst/>
                <a:gdLst>
                  <a:gd name="T0" fmla="*/ 0 w 909"/>
                  <a:gd name="T1" fmla="*/ 0 h 3585"/>
                  <a:gd name="T2" fmla="*/ 467 w 909"/>
                  <a:gd name="T3" fmla="*/ 535 h 3585"/>
                  <a:gd name="T4" fmla="*/ 0 w 909"/>
                  <a:gd name="T5" fmla="*/ 896 h 3585"/>
                  <a:gd name="T6" fmla="*/ 467 w 909"/>
                  <a:gd name="T7" fmla="*/ 1409 h 3585"/>
                  <a:gd name="T8" fmla="*/ 0 w 909"/>
                  <a:gd name="T9" fmla="*/ 1793 h 3585"/>
                  <a:gd name="T10" fmla="*/ 467 w 909"/>
                  <a:gd name="T11" fmla="*/ 2284 h 3585"/>
                  <a:gd name="T12" fmla="*/ 0 w 909"/>
                  <a:gd name="T13" fmla="*/ 2689 h 3585"/>
                  <a:gd name="T14" fmla="*/ 467 w 909"/>
                  <a:gd name="T15" fmla="*/ 3158 h 3585"/>
                  <a:gd name="T16" fmla="*/ 0 w 909"/>
                  <a:gd name="T17" fmla="*/ 3585 h 3585"/>
                  <a:gd name="T18" fmla="*/ 442 w 909"/>
                  <a:gd name="T19" fmla="*/ 3585 h 3585"/>
                  <a:gd name="T20" fmla="*/ 909 w 909"/>
                  <a:gd name="T21" fmla="*/ 3158 h 3585"/>
                  <a:gd name="T22" fmla="*/ 442 w 909"/>
                  <a:gd name="T23" fmla="*/ 2689 h 3585"/>
                  <a:gd name="T24" fmla="*/ 909 w 909"/>
                  <a:gd name="T25" fmla="*/ 2284 h 3585"/>
                  <a:gd name="T26" fmla="*/ 442 w 909"/>
                  <a:gd name="T27" fmla="*/ 1793 h 3585"/>
                  <a:gd name="T28" fmla="*/ 909 w 909"/>
                  <a:gd name="T29" fmla="*/ 1409 h 3585"/>
                  <a:gd name="T30" fmla="*/ 442 w 909"/>
                  <a:gd name="T31" fmla="*/ 896 h 3585"/>
                  <a:gd name="T32" fmla="*/ 909 w 909"/>
                  <a:gd name="T33" fmla="*/ 535 h 3585"/>
                  <a:gd name="T34" fmla="*/ 442 w 909"/>
                  <a:gd name="T35" fmla="*/ 0 h 3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09" h="3585">
                    <a:moveTo>
                      <a:pt x="0" y="0"/>
                    </a:moveTo>
                    <a:lnTo>
                      <a:pt x="467" y="535"/>
                    </a:lnTo>
                    <a:lnTo>
                      <a:pt x="0" y="896"/>
                    </a:lnTo>
                    <a:lnTo>
                      <a:pt x="467" y="1409"/>
                    </a:lnTo>
                    <a:lnTo>
                      <a:pt x="0" y="1793"/>
                    </a:lnTo>
                    <a:lnTo>
                      <a:pt x="467" y="2284"/>
                    </a:lnTo>
                    <a:lnTo>
                      <a:pt x="0" y="2689"/>
                    </a:lnTo>
                    <a:lnTo>
                      <a:pt x="467" y="3158"/>
                    </a:lnTo>
                    <a:lnTo>
                      <a:pt x="0" y="3585"/>
                    </a:lnTo>
                    <a:moveTo>
                      <a:pt x="442" y="3585"/>
                    </a:moveTo>
                    <a:lnTo>
                      <a:pt x="909" y="3158"/>
                    </a:lnTo>
                    <a:lnTo>
                      <a:pt x="442" y="2689"/>
                    </a:lnTo>
                    <a:lnTo>
                      <a:pt x="909" y="2284"/>
                    </a:lnTo>
                    <a:lnTo>
                      <a:pt x="442" y="1793"/>
                    </a:lnTo>
                    <a:lnTo>
                      <a:pt x="909" y="1409"/>
                    </a:lnTo>
                    <a:lnTo>
                      <a:pt x="442" y="896"/>
                    </a:lnTo>
                    <a:lnTo>
                      <a:pt x="909" y="535"/>
                    </a:lnTo>
                    <a:lnTo>
                      <a:pt x="442" y="0"/>
                    </a:lnTo>
                  </a:path>
                </a:pathLst>
              </a:custGeom>
              <a:no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8" name="타원 97"/>
          <p:cNvSpPr/>
          <p:nvPr/>
        </p:nvSpPr>
        <p:spPr>
          <a:xfrm>
            <a:off x="1006009" y="2406869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0186367" y="307726"/>
            <a:ext cx="914400" cy="18757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ASG1.2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5" name="직각 삼각형 64"/>
          <p:cNvSpPr/>
          <p:nvPr/>
        </p:nvSpPr>
        <p:spPr>
          <a:xfrm flipH="1">
            <a:off x="8541434" y="2973096"/>
            <a:ext cx="130924" cy="117990"/>
          </a:xfrm>
          <a:prstGeom prst="rtTriangle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5640711" y="3570182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4859464" y="2797443"/>
            <a:ext cx="1000316" cy="2789695"/>
          </a:xfrm>
          <a:prstGeom prst="roundRect">
            <a:avLst>
              <a:gd name="adj" fmla="val 3955"/>
            </a:avLst>
          </a:prstGeom>
          <a:noFill/>
          <a:ln w="12700">
            <a:solidFill>
              <a:srgbClr val="0000FF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5640711" y="3920702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5640711" y="4271222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5640711" y="4629362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5640711" y="4987502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5640711" y="5353262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79" name="직각 삼각형 78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4806484" y="2711669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10860411" y="2627207"/>
            <a:ext cx="144010" cy="13245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altLang="ko-KR" sz="12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+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939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종료된 그룹 상세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 그룹 관리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진행중인 그룹</a:t>
            </a:r>
          </a:p>
        </p:txBody>
      </p:sp>
      <p:graphicFrame>
        <p:nvGraphicFramePr>
          <p:cNvPr id="4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729400"/>
              </p:ext>
            </p:extLst>
          </p:nvPr>
        </p:nvGraphicFramePr>
        <p:xfrm>
          <a:off x="9290533" y="786383"/>
          <a:ext cx="2835141" cy="72932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#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전체적인 정보 구조는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진행중인 그룹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과 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수정은 불가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0" name="직선 연결선 49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150434" y="1482657"/>
            <a:ext cx="1021484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진행중인 그룹</a:t>
            </a:r>
            <a:endParaRPr lang="en-US" sz="800" dirty="0">
              <a:solidFill>
                <a:prstClr val="white">
                  <a:lumMod val="7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58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2155174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b="1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종료된 그룹</a:t>
            </a:r>
            <a:endParaRPr lang="en-US" sz="800" b="1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186367" y="307726"/>
            <a:ext cx="914400" cy="18757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ASG1.2.1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861205"/>
              </p:ext>
            </p:extLst>
          </p:nvPr>
        </p:nvGraphicFramePr>
        <p:xfrm>
          <a:off x="981548" y="2228363"/>
          <a:ext cx="7690811" cy="1591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703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5768108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</a:tblGrid>
              <a:tr h="2659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그룹명</a:t>
                      </a:r>
                      <a:endParaRPr lang="ko-KR" altLang="en-US" sz="800" b="1">
                        <a:solidFill>
                          <a:srgbClr val="FF0000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EGW</a:t>
                      </a:r>
                      <a:r>
                        <a:rPr lang="en-US" altLang="ko-KR" sz="8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 UX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 개선 프로젝트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2659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그룹구분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비공개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2659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개설자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홍길동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2659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개설일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2017-07-03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41987"/>
                  </a:ext>
                </a:extLst>
              </a:tr>
              <a:tr h="2659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종료일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2017-07-03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879800"/>
                  </a:ext>
                </a:extLst>
              </a:tr>
              <a:tr h="2615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소개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EGW UX </a:t>
                      </a:r>
                      <a:r>
                        <a:rPr lang="ko-KR" altLang="en-US" sz="800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개선 작업을 성공적으로 수행하기 위해 협의체 분들과 자료를 공유하고 커뮤니케이션할 수 있는 채널</a:t>
                      </a:r>
                      <a:endParaRPr lang="en-US" altLang="ko-KR" sz="800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81548" y="4293096"/>
            <a:ext cx="1296144" cy="22333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900" smtClean="0">
                <a:solidFill>
                  <a:schemeClr val="bg1">
                    <a:lumMod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구성원 정보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948030"/>
              </p:ext>
            </p:extLst>
          </p:nvPr>
        </p:nvGraphicFramePr>
        <p:xfrm>
          <a:off x="981548" y="4594975"/>
          <a:ext cx="7671785" cy="112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932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148387054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3637453">
                  <a:extLst>
                    <a:ext uri="{9D8B030D-6E8A-4147-A177-3AD203B41FA5}">
                      <a16:colId xmlns:a16="http://schemas.microsoft.com/office/drawing/2014/main" val="4275985075"/>
                    </a:ext>
                  </a:extLst>
                </a:gridCol>
              </a:tblGrid>
              <a:tr h="28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NO</a:t>
                      </a: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성명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28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28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82597"/>
                  </a:ext>
                </a:extLst>
              </a:tr>
              <a:tr h="28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850647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981548" y="1944069"/>
            <a:ext cx="1296144" cy="22333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900" smtClean="0">
                <a:solidFill>
                  <a:schemeClr val="bg1">
                    <a:lumMod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기본 정보</a:t>
            </a:r>
          </a:p>
        </p:txBody>
      </p:sp>
      <p:sp>
        <p:nvSpPr>
          <p:cNvPr id="34" name="모서리가 둥근 직사각형 33"/>
          <p:cNvSpPr/>
          <p:nvPr/>
        </p:nvSpPr>
        <p:spPr>
          <a:xfrm>
            <a:off x="2962354" y="2271639"/>
            <a:ext cx="2600245" cy="166762"/>
          </a:xfrm>
          <a:prstGeom prst="roundRect">
            <a:avLst>
              <a:gd name="adj" fmla="val 0"/>
            </a:avLst>
          </a:prstGeom>
          <a:noFill/>
          <a:ln w="3175">
            <a:noFill/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60301" y="5949280"/>
            <a:ext cx="571203" cy="2773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&lt;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itchFamily="50" charset="-127"/>
              </a:rPr>
              <a:t> 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itchFamily="50" charset="-127"/>
              </a:rPr>
              <a:t>목록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3898920" y="5949280"/>
            <a:ext cx="1837040" cy="27739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900">
                <a:solidFill>
                  <a:schemeClr val="bg1"/>
                </a:solidFill>
                <a:latin typeface="+mj-ea"/>
                <a:ea typeface="+mj-ea"/>
              </a:rPr>
              <a:t>재시작</a:t>
            </a:r>
            <a:endParaRPr lang="ko-KR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537928"/>
              </p:ext>
            </p:extLst>
          </p:nvPr>
        </p:nvGraphicFramePr>
        <p:xfrm>
          <a:off x="981548" y="4594975"/>
          <a:ext cx="7671784" cy="112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677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1880600">
                  <a:extLst>
                    <a:ext uri="{9D8B030D-6E8A-4147-A177-3AD203B41FA5}">
                      <a16:colId xmlns:a16="http://schemas.microsoft.com/office/drawing/2014/main" val="148387054"/>
                    </a:ext>
                  </a:extLst>
                </a:gridCol>
                <a:gridCol w="1700169">
                  <a:extLst>
                    <a:ext uri="{9D8B030D-6E8A-4147-A177-3AD203B41FA5}">
                      <a16:colId xmlns:a16="http://schemas.microsoft.com/office/drawing/2014/main" val="1044581853"/>
                    </a:ext>
                  </a:extLst>
                </a:gridCol>
                <a:gridCol w="1700169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1700169">
                  <a:extLst>
                    <a:ext uri="{9D8B030D-6E8A-4147-A177-3AD203B41FA5}">
                      <a16:colId xmlns:a16="http://schemas.microsoft.com/office/drawing/2014/main" val="4275985075"/>
                    </a:ext>
                  </a:extLst>
                </a:gridCol>
              </a:tblGrid>
              <a:tr h="28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NO</a:t>
                      </a: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성명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권한 등급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28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관리자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28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구성원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82597"/>
                  </a:ext>
                </a:extLst>
              </a:tr>
              <a:tr h="28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참관인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제품기획팀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850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73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66"/>
        </a:solidFill>
      </a:spPr>
      <a:bodyPr wrap="none" lIns="36000" tIns="36000" rIns="36000" bIns="36000" rtlCol="0" anchor="ctr">
        <a:noAutofit/>
      </a:bodyPr>
      <a:lstStyle>
        <a:defPPr algn="ctr">
          <a:lnSpc>
            <a:spcPct val="115000"/>
          </a:lnSpc>
          <a:spcAft>
            <a:spcPts val="1000"/>
          </a:spcAft>
          <a:defRPr sz="800" dirty="0" smtClean="0">
            <a:solidFill>
              <a:schemeClr val="tx1">
                <a:lumMod val="75000"/>
                <a:lumOff val="25000"/>
              </a:schemeClr>
            </a:solidFill>
            <a:latin typeface="나눔고딕" pitchFamily="50" charset="-127"/>
            <a:ea typeface="나눔고딕" pitchFamily="50" charset="-127"/>
          </a:defRPr>
        </a:defPPr>
      </a:lstStyle>
    </a:spDef>
    <a:lnDef>
      <a:spPr>
        <a:ln w="3175">
          <a:solidFill>
            <a:schemeClr val="tx1">
              <a:lumMod val="95000"/>
              <a:lumOff val="5000"/>
            </a:schemeClr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72000" rIns="72000" rtlCol="0" anchor="ctr">
        <a:noAutofit/>
      </a:bodyPr>
      <a:lstStyle>
        <a:defPPr>
          <a:defRPr sz="800" smtClean="0">
            <a:solidFill>
              <a:schemeClr val="tx1">
                <a:lumMod val="75000"/>
                <a:lumOff val="25000"/>
              </a:schemeClr>
            </a:solidFill>
            <a:latin typeface="나눔고딕" panose="020B0600000101010101" charset="-127"/>
            <a:ea typeface="나눔고딕" panose="020B0600000101010101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66"/>
        </a:solidFill>
      </a:spPr>
      <a:bodyPr wrap="none" lIns="36000" tIns="36000" rIns="36000" bIns="36000" rtlCol="0" anchor="ctr">
        <a:noAutofit/>
      </a:bodyPr>
      <a:lstStyle>
        <a:defPPr algn="ctr">
          <a:lnSpc>
            <a:spcPct val="115000"/>
          </a:lnSpc>
          <a:spcAft>
            <a:spcPts val="1000"/>
          </a:spcAft>
          <a:defRPr sz="800" dirty="0" smtClean="0">
            <a:solidFill>
              <a:schemeClr val="tx1">
                <a:lumMod val="75000"/>
                <a:lumOff val="25000"/>
              </a:schemeClr>
            </a:solidFill>
            <a:latin typeface="나눔고딕" pitchFamily="50" charset="-127"/>
            <a:ea typeface="나눔고딕" pitchFamily="50" charset="-127"/>
          </a:defRPr>
        </a:defPPr>
      </a:lstStyle>
    </a:spDef>
    <a:txDef>
      <a:spPr>
        <a:noFill/>
      </a:spPr>
      <a:bodyPr wrap="none" lIns="72000" rIns="72000" rtlCol="0" anchor="ctr">
        <a:noAutofit/>
      </a:bodyPr>
      <a:lstStyle>
        <a:defPPr>
          <a:defRPr sz="800" smtClean="0">
            <a:solidFill>
              <a:schemeClr val="tx1">
                <a:lumMod val="75000"/>
                <a:lumOff val="25000"/>
              </a:schemeClr>
            </a:solidFill>
            <a:latin typeface="나눔고딕" panose="020B0600000101010101" charset="-127"/>
            <a:ea typeface="나눔고딕" panose="020B0600000101010101" charset="-127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27905</TotalTime>
  <Words>1271</Words>
  <Application>Microsoft Office PowerPoint</Application>
  <PresentationFormat>와이드스크린</PresentationFormat>
  <Paragraphs>614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16</vt:i4>
      </vt:variant>
    </vt:vector>
  </HeadingPairs>
  <TitlesOfParts>
    <vt:vector size="33" baseType="lpstr">
      <vt:lpstr>Segoe UI</vt:lpstr>
      <vt:lpstr>굴림</vt:lpstr>
      <vt:lpstr>Tw Cen MT</vt:lpstr>
      <vt:lpstr>맑은 고딕</vt:lpstr>
      <vt:lpstr>Wingdings</vt:lpstr>
      <vt:lpstr>HY견고딕</vt:lpstr>
      <vt:lpstr>Calibri</vt:lpstr>
      <vt:lpstr>Arial</vt:lpstr>
      <vt:lpstr>Verdana</vt:lpstr>
      <vt:lpstr>돋움</vt:lpstr>
      <vt:lpstr>나눔고딕코딩</vt:lpstr>
      <vt:lpstr>Trebuchet MS</vt:lpstr>
      <vt:lpstr>나눔고딕</vt:lpstr>
      <vt:lpstr>3_디자인 사용자 지정</vt:lpstr>
      <vt:lpstr>1_디자인 사용자 지정</vt:lpstr>
      <vt:lpstr>디자인 사용자 지정</vt:lpstr>
      <vt:lpstr>4_디자인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vinyl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HSK-rbdyd</dc:creator>
  <cp:lastModifiedBy>HSK-rbdyd</cp:lastModifiedBy>
  <cp:revision>1107</cp:revision>
  <cp:lastPrinted>2011-03-03T06:20:47Z</cp:lastPrinted>
  <dcterms:created xsi:type="dcterms:W3CDTF">2011-02-01T05:54:11Z</dcterms:created>
  <dcterms:modified xsi:type="dcterms:W3CDTF">2017-09-18T10:38:26Z</dcterms:modified>
</cp:coreProperties>
</file>