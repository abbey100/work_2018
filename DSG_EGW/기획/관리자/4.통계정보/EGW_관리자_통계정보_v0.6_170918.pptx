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5009" r:id="rId1"/>
    <p:sldMasterId id="2147485030" r:id="rId2"/>
    <p:sldMasterId id="2147485034" r:id="rId3"/>
    <p:sldMasterId id="2147485037" r:id="rId4"/>
    <p:sldMasterId id="2147485039" r:id="rId5"/>
  </p:sldMasterIdLst>
  <p:notesMasterIdLst>
    <p:notesMasterId r:id="rId72"/>
  </p:notesMasterIdLst>
  <p:handoutMasterIdLst>
    <p:handoutMasterId r:id="rId73"/>
  </p:handoutMasterIdLst>
  <p:sldIdLst>
    <p:sldId id="262" r:id="rId6"/>
    <p:sldId id="275" r:id="rId7"/>
    <p:sldId id="459" r:id="rId8"/>
    <p:sldId id="468" r:id="rId9"/>
    <p:sldId id="469" r:id="rId10"/>
    <p:sldId id="513" r:id="rId11"/>
    <p:sldId id="460" r:id="rId12"/>
    <p:sldId id="461" r:id="rId13"/>
    <p:sldId id="462" r:id="rId14"/>
    <p:sldId id="463" r:id="rId15"/>
    <p:sldId id="464" r:id="rId16"/>
    <p:sldId id="465" r:id="rId17"/>
    <p:sldId id="466" r:id="rId18"/>
    <p:sldId id="467" r:id="rId19"/>
    <p:sldId id="435" r:id="rId20"/>
    <p:sldId id="498" r:id="rId21"/>
    <p:sldId id="444" r:id="rId22"/>
    <p:sldId id="445" r:id="rId23"/>
    <p:sldId id="447" r:id="rId24"/>
    <p:sldId id="458" r:id="rId25"/>
    <p:sldId id="442" r:id="rId26"/>
    <p:sldId id="448" r:id="rId27"/>
    <p:sldId id="449" r:id="rId28"/>
    <p:sldId id="452" r:id="rId29"/>
    <p:sldId id="453" r:id="rId30"/>
    <p:sldId id="454" r:id="rId31"/>
    <p:sldId id="455" r:id="rId32"/>
    <p:sldId id="456" r:id="rId33"/>
    <p:sldId id="499" r:id="rId34"/>
    <p:sldId id="500" r:id="rId35"/>
    <p:sldId id="514" r:id="rId36"/>
    <p:sldId id="501" r:id="rId37"/>
    <p:sldId id="502" r:id="rId38"/>
    <p:sldId id="471" r:id="rId39"/>
    <p:sldId id="472" r:id="rId40"/>
    <p:sldId id="473" r:id="rId41"/>
    <p:sldId id="474" r:id="rId42"/>
    <p:sldId id="503" r:id="rId43"/>
    <p:sldId id="504" r:id="rId44"/>
    <p:sldId id="505" r:id="rId45"/>
    <p:sldId id="506" r:id="rId46"/>
    <p:sldId id="478" r:id="rId47"/>
    <p:sldId id="479" r:id="rId48"/>
    <p:sldId id="480" r:id="rId49"/>
    <p:sldId id="481" r:id="rId50"/>
    <p:sldId id="507" r:id="rId51"/>
    <p:sldId id="482" r:id="rId52"/>
    <p:sldId id="508" r:id="rId53"/>
    <p:sldId id="483" r:id="rId54"/>
    <p:sldId id="484" r:id="rId55"/>
    <p:sldId id="509" r:id="rId56"/>
    <p:sldId id="486" r:id="rId57"/>
    <p:sldId id="487" r:id="rId58"/>
    <p:sldId id="488" r:id="rId59"/>
    <p:sldId id="489" r:id="rId60"/>
    <p:sldId id="510" r:id="rId61"/>
    <p:sldId id="490" r:id="rId62"/>
    <p:sldId id="491" r:id="rId63"/>
    <p:sldId id="493" r:id="rId64"/>
    <p:sldId id="492" r:id="rId65"/>
    <p:sldId id="511" r:id="rId66"/>
    <p:sldId id="494" r:id="rId67"/>
    <p:sldId id="495" r:id="rId68"/>
    <p:sldId id="497" r:id="rId69"/>
    <p:sldId id="496" r:id="rId70"/>
    <p:sldId id="512" r:id="rId71"/>
  </p:sldIdLst>
  <p:sldSz cx="12192000" cy="6858000"/>
  <p:notesSz cx="6807200" cy="9939338"/>
  <p:embeddedFontLst>
    <p:embeddedFont>
      <p:font typeface="나눔고딕" panose="020D0604000000000000" pitchFamily="50" charset="-127"/>
      <p:regular r:id="rId74"/>
      <p:bold r:id="rId75"/>
    </p:embeddedFont>
    <p:embeddedFont>
      <p:font typeface="Trebuchet MS" panose="020B0603020202020204" pitchFamily="34" charset="0"/>
      <p:regular r:id="rId76"/>
      <p:bold r:id="rId77"/>
      <p:italic r:id="rId78"/>
      <p:boldItalic r:id="rId79"/>
    </p:embeddedFont>
    <p:embeddedFont>
      <p:font typeface="HY견고딕" panose="02030600000101010101" pitchFamily="18" charset="-127"/>
      <p:regular r:id="rId80"/>
    </p:embeddedFont>
    <p:embeddedFont>
      <p:font typeface="Tw Cen MT" panose="020B0602020104020603" pitchFamily="34" charset="0"/>
      <p:regular r:id="rId81"/>
      <p:bold r:id="rId82"/>
      <p:italic r:id="rId83"/>
      <p:boldItalic r:id="rId84"/>
    </p:embeddedFont>
    <p:embeddedFont>
      <p:font typeface="Verdana" panose="020B0604030504040204" pitchFamily="34" charset="0"/>
      <p:regular r:id="rId85"/>
      <p:bold r:id="rId86"/>
      <p:italic r:id="rId87"/>
      <p:boldItalic r:id="rId88"/>
    </p:embeddedFont>
    <p:embeddedFont>
      <p:font typeface="맑은 고딕" panose="020B0503020000020004" pitchFamily="50" charset="-127"/>
      <p:regular r:id="rId89"/>
      <p:bold r:id="rId90"/>
    </p:embeddedFont>
    <p:embeddedFont>
      <p:font typeface="Segoe UI" panose="020B0502040204020203" pitchFamily="34" charset="0"/>
      <p:regular r:id="rId91"/>
      <p:bold r:id="rId92"/>
      <p:italic r:id="rId93"/>
      <p:boldItalic r:id="rId94"/>
    </p:embeddedFont>
    <p:embeddedFont>
      <p:font typeface="나눔고딕코딩" panose="020D0009000000000000" pitchFamily="49" charset="-127"/>
      <p:regular r:id="rId95"/>
      <p:bold r:id="rId96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7B2F5CB-46CC-41F4-B2C2-A62C1864818A}">
          <p14:sldIdLst>
            <p14:sldId id="262"/>
            <p14:sldId id="275"/>
          </p14:sldIdLst>
        </p14:section>
        <p14:section name="결재 통계" id="{E4DF67CF-6241-4DAE-8690-475D0E2A89C7}">
          <p14:sldIdLst>
            <p14:sldId id="459"/>
            <p14:sldId id="468"/>
            <p14:sldId id="469"/>
            <p14:sldId id="513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</p14:sldIdLst>
        </p14:section>
        <p14:section name="웹메일 통계" id="{EF0795B1-6F51-4011-9707-E937BAFD0E3F}">
          <p14:sldIdLst>
            <p14:sldId id="435"/>
            <p14:sldId id="498"/>
            <p14:sldId id="444"/>
            <p14:sldId id="445"/>
            <p14:sldId id="447"/>
            <p14:sldId id="458"/>
            <p14:sldId id="442"/>
          </p14:sldIdLst>
        </p14:section>
        <p14:section name="웹폴더 통계" id="{D651D249-7DE4-4735-9FE1-DE72F6ED47AB}">
          <p14:sldIdLst>
            <p14:sldId id="448"/>
            <p14:sldId id="449"/>
            <p14:sldId id="452"/>
            <p14:sldId id="453"/>
            <p14:sldId id="454"/>
            <p14:sldId id="455"/>
            <p14:sldId id="456"/>
          </p14:sldIdLst>
        </p14:section>
        <p14:section name="동호회 통계" id="{0443D4B8-03AA-4D45-815B-1EE4FBAB1BF4}">
          <p14:sldIdLst>
            <p14:sldId id="499"/>
            <p14:sldId id="500"/>
            <p14:sldId id="514"/>
            <p14:sldId id="501"/>
            <p14:sldId id="502"/>
          </p14:sldIdLst>
        </p14:section>
        <p14:section name="액션로그" id="{6C9126AF-6543-4361-BC99-34CFCF152D82}">
          <p14:sldIdLst>
            <p14:sldId id="471"/>
            <p14:sldId id="472"/>
            <p14:sldId id="473"/>
            <p14:sldId id="474"/>
            <p14:sldId id="503"/>
            <p14:sldId id="504"/>
            <p14:sldId id="505"/>
            <p14:sldId id="506"/>
            <p14:sldId id="478"/>
            <p14:sldId id="479"/>
            <p14:sldId id="480"/>
            <p14:sldId id="481"/>
            <p14:sldId id="507"/>
            <p14:sldId id="482"/>
            <p14:sldId id="508"/>
            <p14:sldId id="483"/>
            <p14:sldId id="484"/>
            <p14:sldId id="509"/>
            <p14:sldId id="486"/>
            <p14:sldId id="487"/>
            <p14:sldId id="488"/>
            <p14:sldId id="489"/>
            <p14:sldId id="510"/>
            <p14:sldId id="490"/>
            <p14:sldId id="491"/>
            <p14:sldId id="493"/>
            <p14:sldId id="492"/>
            <p14:sldId id="511"/>
            <p14:sldId id="494"/>
            <p14:sldId id="495"/>
            <p14:sldId id="497"/>
            <p14:sldId id="496"/>
            <p14:sldId id="512"/>
          </p14:sldIdLst>
        </p14:section>
      </p14:sectionLst>
    </p:ext>
    <p:ext uri="{EFAFB233-063F-42B5-8137-9DF3F51BA10A}">
      <p15:sldGuideLst xmlns:p15="http://schemas.microsoft.com/office/powerpoint/2012/main">
        <p15:guide id="7" pos="1644" userDrawn="1">
          <p15:clr>
            <a:srgbClr val="A4A3A4"/>
          </p15:clr>
        </p15:guide>
        <p15:guide id="8" pos="7470" userDrawn="1">
          <p15:clr>
            <a:srgbClr val="A4A3A4"/>
          </p15:clr>
        </p15:guide>
        <p15:guide id="9" orient="horz" pos="13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FF0066"/>
    <a:srgbClr val="66FF33"/>
    <a:srgbClr val="4F81BD"/>
    <a:srgbClr val="292929"/>
    <a:srgbClr val="FF6600"/>
    <a:srgbClr val="FF0000"/>
    <a:srgbClr val="BF90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6" autoAdjust="0"/>
    <p:restoredTop sz="95122" autoAdjust="0"/>
  </p:normalViewPr>
  <p:slideViewPr>
    <p:cSldViewPr>
      <p:cViewPr varScale="1">
        <p:scale>
          <a:sx n="80" d="100"/>
          <a:sy n="80" d="100"/>
        </p:scale>
        <p:origin x="816" y="48"/>
      </p:cViewPr>
      <p:guideLst>
        <p:guide pos="1644"/>
        <p:guide pos="7470"/>
        <p:guide orient="horz" pos="1338"/>
      </p:guideLst>
    </p:cSldViewPr>
  </p:slideViewPr>
  <p:outlineViewPr>
    <p:cViewPr>
      <p:scale>
        <a:sx n="33" d="100"/>
        <a:sy n="33" d="100"/>
      </p:scale>
      <p:origin x="0" y="89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-3954" y="-96"/>
      </p:cViewPr>
      <p:guideLst>
        <p:guide orient="horz" pos="3130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font" Target="fonts/font11.fntdata"/><Relationship Id="rId89" Type="http://schemas.openxmlformats.org/officeDocument/2006/relationships/font" Target="fonts/font16.fntdata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font" Target="fonts/font1.fntdata"/><Relationship Id="rId79" Type="http://schemas.openxmlformats.org/officeDocument/2006/relationships/font" Target="fonts/font6.fntdata"/><Relationship Id="rId5" Type="http://schemas.openxmlformats.org/officeDocument/2006/relationships/slideMaster" Target="slideMasters/slideMaster5.xml"/><Relationship Id="rId90" Type="http://schemas.openxmlformats.org/officeDocument/2006/relationships/font" Target="fonts/font17.fntdata"/><Relationship Id="rId95" Type="http://schemas.openxmlformats.org/officeDocument/2006/relationships/font" Target="fonts/font22.fntdata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0" Type="http://schemas.openxmlformats.org/officeDocument/2006/relationships/font" Target="fonts/font7.fntdata"/><Relationship Id="rId85" Type="http://schemas.openxmlformats.org/officeDocument/2006/relationships/font" Target="fonts/font12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font" Target="fonts/font2.fntdata"/><Relationship Id="rId83" Type="http://schemas.openxmlformats.org/officeDocument/2006/relationships/font" Target="fonts/font10.fntdata"/><Relationship Id="rId88" Type="http://schemas.openxmlformats.org/officeDocument/2006/relationships/font" Target="fonts/font15.fntdata"/><Relationship Id="rId91" Type="http://schemas.openxmlformats.org/officeDocument/2006/relationships/font" Target="fonts/font18.fntdata"/><Relationship Id="rId96" Type="http://schemas.openxmlformats.org/officeDocument/2006/relationships/font" Target="fonts/font2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handoutMaster" Target="handoutMasters/handoutMaster1.xml"/><Relationship Id="rId78" Type="http://schemas.openxmlformats.org/officeDocument/2006/relationships/font" Target="fonts/font5.fntdata"/><Relationship Id="rId81" Type="http://schemas.openxmlformats.org/officeDocument/2006/relationships/font" Target="fonts/font8.fntdata"/><Relationship Id="rId86" Type="http://schemas.openxmlformats.org/officeDocument/2006/relationships/font" Target="fonts/font13.fntdata"/><Relationship Id="rId94" Type="http://schemas.openxmlformats.org/officeDocument/2006/relationships/font" Target="fonts/font21.fntdata"/><Relationship Id="rId9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font" Target="fonts/font3.fntdata"/><Relationship Id="rId97" Type="http://schemas.openxmlformats.org/officeDocument/2006/relationships/presProps" Target="presProp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font" Target="fonts/font19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font" Target="fonts/font14.fntdata"/><Relationship Id="rId61" Type="http://schemas.openxmlformats.org/officeDocument/2006/relationships/slide" Target="slides/slide56.xml"/><Relationship Id="rId82" Type="http://schemas.openxmlformats.org/officeDocument/2006/relationships/font" Target="fonts/font9.fntdata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font" Target="fonts/font4.fntdata"/><Relationship Id="rId100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notesMaster" Target="notesMasters/notesMaster1.xml"/><Relationship Id="rId93" Type="http://schemas.openxmlformats.org/officeDocument/2006/relationships/font" Target="fonts/font20.fntdata"/><Relationship Id="rId9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1B664AD-C4EC-484B-B50A-8C6F83EF08F0}" type="datetimeFigureOut">
              <a:rPr lang="ko-KR" altLang="en-US"/>
              <a:pPr>
                <a:defRPr/>
              </a:pPr>
              <a:t>2018-03-30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FAF0397-1E63-4BEE-AE82-6522F530A70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656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71ED8-3809-4B06-9EAD-C3D980C23EBE}" type="datetimeFigureOut">
              <a:rPr lang="ko-KR" altLang="en-US" smtClean="0"/>
              <a:pPr/>
              <a:t>2018-03-30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C340E-E18C-4A02-9B44-DBDB315C4D6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65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1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9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3778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56793" y="352425"/>
            <a:ext cx="548346" cy="6316933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900" smtClean="0">
                <a:solidFill>
                  <a:srgbClr val="5F5F5F"/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LNB</a:t>
            </a:r>
            <a:endParaRPr lang="ko-KR" alt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3" name="직사각형 2"/>
          <p:cNvSpPr/>
          <p:nvPr userDrawn="1"/>
        </p:nvSpPr>
        <p:spPr>
          <a:xfrm>
            <a:off x="52602" y="352426"/>
            <a:ext cx="9173460" cy="33743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900" smtClean="0">
                <a:solidFill>
                  <a:srgbClr val="5F5F5F"/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GNB</a:t>
            </a:r>
            <a:endParaRPr lang="ko-KR" alt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4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1"/>
            </p:custDataLst>
          </p:nvPr>
        </p:nvSpPr>
        <p:spPr>
          <a:xfrm>
            <a:off x="52602" y="347472"/>
            <a:ext cx="9173460" cy="6321886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5847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8736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748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917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447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29501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56793" y="352425"/>
            <a:ext cx="548346" cy="631693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Segoe UI" panose="020B0502040204020203" pitchFamily="34" charset="0"/>
              </a:rPr>
              <a:t>GNB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4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1"/>
            </p:custDataLst>
          </p:nvPr>
        </p:nvSpPr>
        <p:spPr>
          <a:xfrm>
            <a:off x="52602" y="347472"/>
            <a:ext cx="9173460" cy="6321886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4710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56793" y="352425"/>
            <a:ext cx="548346" cy="6316933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LNB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3" name="직사각형 2"/>
          <p:cNvSpPr/>
          <p:nvPr userDrawn="1"/>
        </p:nvSpPr>
        <p:spPr>
          <a:xfrm>
            <a:off x="52602" y="352426"/>
            <a:ext cx="9173460" cy="33743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GNB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4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1"/>
            </p:custDataLst>
          </p:nvPr>
        </p:nvSpPr>
        <p:spPr>
          <a:xfrm>
            <a:off x="52602" y="347472"/>
            <a:ext cx="9173460" cy="6321886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2"/>
            </p:custDataLst>
          </p:nvPr>
        </p:nvSpPr>
        <p:spPr>
          <a:xfrm>
            <a:off x="3176658" y="1482657"/>
            <a:ext cx="1021484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8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3"/>
            </p:custDataLst>
          </p:nvPr>
        </p:nvSpPr>
        <p:spPr>
          <a:xfrm>
            <a:off x="1150434" y="1482657"/>
            <a:ext cx="1021484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로그인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9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4"/>
            </p:custDataLst>
          </p:nvPr>
        </p:nvSpPr>
        <p:spPr>
          <a:xfrm>
            <a:off x="2155174" y="1482657"/>
            <a:ext cx="1021484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게시판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0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5"/>
            </p:custDataLst>
          </p:nvPr>
        </p:nvSpPr>
        <p:spPr>
          <a:xfrm>
            <a:off x="4195511" y="1482656"/>
            <a:ext cx="1021484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권한</a:t>
            </a:r>
            <a:endParaRPr kumimoji="1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1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6"/>
            </p:custDataLst>
          </p:nvPr>
        </p:nvSpPr>
        <p:spPr>
          <a:xfrm>
            <a:off x="5216995" y="1482657"/>
            <a:ext cx="1021484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업무넷</a:t>
            </a:r>
            <a:endParaRPr kumimoji="1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2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7"/>
            </p:custDataLst>
          </p:nvPr>
        </p:nvSpPr>
        <p:spPr>
          <a:xfrm>
            <a:off x="6238479" y="1482657"/>
            <a:ext cx="1021484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스퀘어 플러스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14" name="모서리가 둥근 직사각형 13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 userDrawn="1"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5936251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모서리가 둥근 직사각형 17"/>
          <p:cNvSpPr/>
          <p:nvPr userDrawn="1"/>
        </p:nvSpPr>
        <p:spPr>
          <a:xfrm>
            <a:off x="3378000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9" name="모서리가 둥근 직사각형 18"/>
          <p:cNvSpPr/>
          <p:nvPr userDrawn="1"/>
        </p:nvSpPr>
        <p:spPr>
          <a:xfrm>
            <a:off x="4658509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49529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slideLayout" Target="../slideLayouts/slideLayout10.xml"/><Relationship Id="rId7" Type="http://schemas.openxmlformats.org/officeDocument/2006/relationships/tags" Target="../tags/tag1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19961058"/>
              </p:ext>
            </p:extLst>
          </p:nvPr>
        </p:nvGraphicFramePr>
        <p:xfrm>
          <a:off x="66251" y="83132"/>
          <a:ext cx="9173409" cy="213360"/>
        </p:xfrm>
        <a:graphic>
          <a:graphicData uri="http://schemas.openxmlformats.org/drawingml/2006/table">
            <a:tbl>
              <a:tblPr/>
              <a:tblGrid>
                <a:gridCol w="1170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7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4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0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3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화면경로</a:t>
                      </a: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79071592"/>
              </p:ext>
            </p:extLst>
          </p:nvPr>
        </p:nvGraphicFramePr>
        <p:xfrm>
          <a:off x="9290533" y="83132"/>
          <a:ext cx="2835141" cy="648072"/>
        </p:xfrm>
        <a:graphic>
          <a:graphicData uri="http://schemas.openxmlformats.org/drawingml/2006/table">
            <a:tbl>
              <a:tblPr/>
              <a:tblGrid>
                <a:gridCol w="824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PROJECT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EGW UI/UX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개선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화면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ID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작성자</a:t>
                      </a: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 userDrawn="1"/>
        </p:nvSpPr>
        <p:spPr>
          <a:xfrm>
            <a:off x="55277" y="6658139"/>
            <a:ext cx="3287207" cy="190904"/>
          </a:xfrm>
          <a:prstGeom prst="rect">
            <a:avLst/>
          </a:prstGeom>
          <a:noFill/>
        </p:spPr>
        <p:txBody>
          <a:bodyPr wrap="none" lIns="36000" rIns="36000" rtlCol="0">
            <a:noAutofit/>
          </a:bodyPr>
          <a:lstStyle/>
          <a:p>
            <a:pPr marL="0" marR="0" lvl="0" indent="0" algn="l" defTabSz="107240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Verdana" panose="020B0604030504040204" pitchFamily="34" charset="0"/>
              </a:rPr>
              <a:t>HANDYSOFT, INC. –  A DASAN Group Company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Verdana" panose="020B0604030504040204" pitchFamily="34" charset="0"/>
            </a:endParaRPr>
          </a:p>
        </p:txBody>
      </p:sp>
      <p:sp>
        <p:nvSpPr>
          <p:cNvPr id="12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4"/>
            </p:custDataLst>
          </p:nvPr>
        </p:nvSpPr>
        <p:spPr>
          <a:xfrm>
            <a:off x="52602" y="347472"/>
            <a:ext cx="9173460" cy="632188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3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5"/>
            </p:custDataLst>
          </p:nvPr>
        </p:nvSpPr>
        <p:spPr>
          <a:xfrm>
            <a:off x="52602" y="74712"/>
            <a:ext cx="9173460" cy="211038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4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6"/>
            </p:custDataLst>
          </p:nvPr>
        </p:nvSpPr>
        <p:spPr>
          <a:xfrm>
            <a:off x="9273877" y="74712"/>
            <a:ext cx="2851448" cy="658713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6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7"/>
            </p:custDataLst>
          </p:nvPr>
        </p:nvSpPr>
        <p:spPr>
          <a:xfrm>
            <a:off x="9273877" y="790574"/>
            <a:ext cx="2851448" cy="5878783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352584" y="6669360"/>
            <a:ext cx="648072" cy="18864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algn="r"/>
            <a:fld id="{209D9B70-5658-42EA-A7C8-1D839C7DC5C0}" type="slidenum">
              <a:rPr lang="ko-KR" altLang="en-US" sz="10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‹#›</a:t>
            </a:fld>
            <a:endParaRPr lang="ko-KR" altLang="en-US" sz="1000" b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153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27" r:id="rId1"/>
    <p:sldLayoutId id="2147485032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867" kern="1200">
          <a:solidFill>
            <a:srgbClr val="595959"/>
          </a:solidFill>
          <a:latin typeface="나눔고딕" pitchFamily="50" charset="-127"/>
          <a:ea typeface="나눔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5pPr>
      <a:lvl6pPr marL="495285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6pPr>
      <a:lvl7pPr marL="990570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7pPr>
      <a:lvl8pPr marL="1485854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8pPr>
      <a:lvl9pPr marL="1981139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9pPr>
    </p:titleStyle>
    <p:bodyStyle>
      <a:lvl1pPr marL="371464" indent="-371464" algn="l" rtl="0" eaLnBrk="0" fontAlgn="base" latinLnBrk="1" hangingPunct="0">
        <a:spcBef>
          <a:spcPct val="20000"/>
        </a:spcBef>
        <a:spcAft>
          <a:spcPct val="0"/>
        </a:spcAft>
        <a:defRPr sz="867" kern="1200">
          <a:solidFill>
            <a:srgbClr val="595959"/>
          </a:solidFill>
          <a:latin typeface="나눔고딕" pitchFamily="50" charset="-127"/>
          <a:ea typeface="나눔고딕" pitchFamily="50" charset="-127"/>
          <a:cs typeface="+mn-cs"/>
        </a:defRPr>
      </a:lvl1pPr>
      <a:lvl2pPr marL="804838" indent="-309553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2pPr>
      <a:lvl3pPr marL="1238212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3pPr>
      <a:lvl4pPr marL="1733497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4pPr>
      <a:lvl5pPr marL="2228781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11352584" y="6669360"/>
            <a:ext cx="648072" cy="18864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algn="r"/>
            <a:fld id="{209D9B70-5658-42EA-A7C8-1D839C7DC5C0}" type="slidenum">
              <a:rPr lang="ko-KR" altLang="en-US" sz="10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+mn-ea"/>
              </a:rPr>
              <a:t>‹#›</a:t>
            </a:fld>
            <a:endParaRPr lang="ko-KR" altLang="en-US" sz="1000" b="0" smtClean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+mn-ea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55277" y="6658139"/>
            <a:ext cx="3287207" cy="190904"/>
          </a:xfrm>
          <a:prstGeom prst="rect">
            <a:avLst/>
          </a:prstGeom>
          <a:noFill/>
        </p:spPr>
        <p:txBody>
          <a:bodyPr wrap="none" lIns="36000" rIns="36000" rtlCol="0">
            <a:noAutofit/>
          </a:bodyPr>
          <a:lstStyle/>
          <a:p>
            <a:pPr marL="0" marR="0" lvl="0" indent="0" algn="l" defTabSz="107240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HANDYSOFT, INC. –  A DASAN Group Company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굴림" pitchFamily="50" charset="-127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398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1" r:id="rId1"/>
    <p:sldLayoutId id="2147485033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처리 6"/>
          <p:cNvSpPr/>
          <p:nvPr userDrawn="1"/>
        </p:nvSpPr>
        <p:spPr>
          <a:xfrm>
            <a:off x="0" y="4394"/>
            <a:ext cx="12192000" cy="6853606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1352584" y="6669360"/>
            <a:ext cx="648072" cy="18864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algn="r"/>
            <a:fld id="{209D9B70-5658-42EA-A7C8-1D839C7DC5C0}" type="slidenum">
              <a:rPr lang="ko-KR" altLang="en-US" sz="10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+mn-ea"/>
              </a:rPr>
              <a:t>‹#›</a:t>
            </a:fld>
            <a:endParaRPr lang="ko-KR" altLang="en-US" sz="1000" b="0" smtClean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+mn-ea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55277" y="6658139"/>
            <a:ext cx="3287207" cy="190904"/>
          </a:xfrm>
          <a:prstGeom prst="rect">
            <a:avLst/>
          </a:prstGeom>
          <a:noFill/>
        </p:spPr>
        <p:txBody>
          <a:bodyPr wrap="none" lIns="36000" rIns="36000" rtlCol="0">
            <a:noAutofit/>
          </a:bodyPr>
          <a:lstStyle/>
          <a:p>
            <a:pPr marL="0" marR="0" lvl="0" indent="0" algn="l" defTabSz="107240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HANDYSOFT, INC. –  A DASAN Group Company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굴림" pitchFamily="50" charset="-127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230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5" r:id="rId1"/>
    <p:sldLayoutId id="2147485036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3"/>
          <p:cNvGraphicFramePr>
            <a:graphicFrameLocks noGrp="1"/>
          </p:cNvGraphicFramePr>
          <p:nvPr userDrawn="1">
            <p:extLst/>
          </p:nvPr>
        </p:nvGraphicFramePr>
        <p:xfrm>
          <a:off x="66251" y="83132"/>
          <a:ext cx="9173409" cy="213360"/>
        </p:xfrm>
        <a:graphic>
          <a:graphicData uri="http://schemas.openxmlformats.org/drawingml/2006/table">
            <a:tbl>
              <a:tblPr/>
              <a:tblGrid>
                <a:gridCol w="1170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7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4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0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3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화면경로</a:t>
                      </a: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3"/>
          <p:cNvGraphicFramePr>
            <a:graphicFrameLocks noGrp="1"/>
          </p:cNvGraphicFramePr>
          <p:nvPr userDrawn="1">
            <p:extLst/>
          </p:nvPr>
        </p:nvGraphicFramePr>
        <p:xfrm>
          <a:off x="9290533" y="83132"/>
          <a:ext cx="2835141" cy="648072"/>
        </p:xfrm>
        <a:graphic>
          <a:graphicData uri="http://schemas.openxmlformats.org/drawingml/2006/table">
            <a:tbl>
              <a:tblPr/>
              <a:tblGrid>
                <a:gridCol w="824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PROJECT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EGW UI/UX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개선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 userDrawn="1"/>
        </p:nvSpPr>
        <p:spPr>
          <a:xfrm>
            <a:off x="55277" y="6658139"/>
            <a:ext cx="3287207" cy="190904"/>
          </a:xfrm>
          <a:prstGeom prst="rect">
            <a:avLst/>
          </a:prstGeom>
          <a:noFill/>
        </p:spPr>
        <p:txBody>
          <a:bodyPr wrap="none" lIns="36000" rIns="36000" rtlCol="0">
            <a:noAutofit/>
          </a:bodyPr>
          <a:lstStyle/>
          <a:p>
            <a:pPr marL="0" marR="0" lvl="0" indent="0" algn="l" defTabSz="107240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HANDYSOFT, INC. –  A DASAN Group Company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Verdana" panose="020B0604030504040204" pitchFamily="34" charset="0"/>
              <a:ea typeface="굴림" pitchFamily="50" charset="-127"/>
              <a:cs typeface="Verdana" panose="020B0604030504040204" pitchFamily="34" charset="0"/>
            </a:endParaRPr>
          </a:p>
        </p:txBody>
      </p:sp>
      <p:sp>
        <p:nvSpPr>
          <p:cNvPr id="12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3"/>
            </p:custDataLst>
          </p:nvPr>
        </p:nvSpPr>
        <p:spPr>
          <a:xfrm>
            <a:off x="52602" y="347472"/>
            <a:ext cx="9173460" cy="632188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4"/>
            </p:custDataLst>
          </p:nvPr>
        </p:nvSpPr>
        <p:spPr>
          <a:xfrm>
            <a:off x="52602" y="74712"/>
            <a:ext cx="9173460" cy="211038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4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5"/>
            </p:custDataLst>
          </p:nvPr>
        </p:nvSpPr>
        <p:spPr>
          <a:xfrm>
            <a:off x="9273877" y="74712"/>
            <a:ext cx="2851448" cy="658713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6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6"/>
            </p:custDataLst>
          </p:nvPr>
        </p:nvSpPr>
        <p:spPr>
          <a:xfrm>
            <a:off x="9273877" y="790574"/>
            <a:ext cx="2851448" cy="5878783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352584" y="6669360"/>
            <a:ext cx="648072" cy="18864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09D9B70-5658-42EA-A7C8-1D839C7DC5C0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w Cen MT" panose="020B0602020104020603" pitchFamily="34" charset="0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w Cen MT" panose="020B0602020104020603" pitchFamily="34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02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8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867" kern="1200">
          <a:solidFill>
            <a:srgbClr val="595959"/>
          </a:solidFill>
          <a:latin typeface="나눔고딕" pitchFamily="50" charset="-127"/>
          <a:ea typeface="나눔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5pPr>
      <a:lvl6pPr marL="495285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6pPr>
      <a:lvl7pPr marL="990570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7pPr>
      <a:lvl8pPr marL="1485854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8pPr>
      <a:lvl9pPr marL="1981139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9pPr>
    </p:titleStyle>
    <p:bodyStyle>
      <a:lvl1pPr marL="371464" indent="-371464" algn="l" rtl="0" eaLnBrk="0" fontAlgn="base" latinLnBrk="1" hangingPunct="0">
        <a:spcBef>
          <a:spcPct val="20000"/>
        </a:spcBef>
        <a:spcAft>
          <a:spcPct val="0"/>
        </a:spcAft>
        <a:defRPr sz="867" kern="1200">
          <a:solidFill>
            <a:srgbClr val="595959"/>
          </a:solidFill>
          <a:latin typeface="나눔고딕" pitchFamily="50" charset="-127"/>
          <a:ea typeface="나눔고딕" pitchFamily="50" charset="-127"/>
          <a:cs typeface="+mn-cs"/>
        </a:defRPr>
      </a:lvl1pPr>
      <a:lvl2pPr marL="804838" indent="-309553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2pPr>
      <a:lvl3pPr marL="1238212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3pPr>
      <a:lvl4pPr marL="1733497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4pPr>
      <a:lvl5pPr marL="2228781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3"/>
          <p:cNvGraphicFramePr>
            <a:graphicFrameLocks noGrp="1"/>
          </p:cNvGraphicFramePr>
          <p:nvPr userDrawn="1">
            <p:extLst/>
          </p:nvPr>
        </p:nvGraphicFramePr>
        <p:xfrm>
          <a:off x="66251" y="83132"/>
          <a:ext cx="9173409" cy="213360"/>
        </p:xfrm>
        <a:graphic>
          <a:graphicData uri="http://schemas.openxmlformats.org/drawingml/2006/table">
            <a:tbl>
              <a:tblPr/>
              <a:tblGrid>
                <a:gridCol w="1170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7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4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0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3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화면경로</a:t>
                      </a: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3"/>
          <p:cNvGraphicFramePr>
            <a:graphicFrameLocks noGrp="1"/>
          </p:cNvGraphicFramePr>
          <p:nvPr userDrawn="1">
            <p:extLst/>
          </p:nvPr>
        </p:nvGraphicFramePr>
        <p:xfrm>
          <a:off x="9290533" y="83132"/>
          <a:ext cx="2835141" cy="648072"/>
        </p:xfrm>
        <a:graphic>
          <a:graphicData uri="http://schemas.openxmlformats.org/drawingml/2006/table">
            <a:tbl>
              <a:tblPr/>
              <a:tblGrid>
                <a:gridCol w="824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PROJECT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EGW UI/UX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개선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화면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ID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작성자</a:t>
                      </a: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 userDrawn="1"/>
        </p:nvSpPr>
        <p:spPr>
          <a:xfrm>
            <a:off x="55277" y="6658139"/>
            <a:ext cx="3287207" cy="190904"/>
          </a:xfrm>
          <a:prstGeom prst="rect">
            <a:avLst/>
          </a:prstGeom>
          <a:noFill/>
        </p:spPr>
        <p:txBody>
          <a:bodyPr wrap="none" lIns="36000" rIns="36000" rtlCol="0">
            <a:noAutofit/>
          </a:bodyPr>
          <a:lstStyle/>
          <a:p>
            <a:pPr marL="0" marR="0" lvl="0" indent="0" algn="l" defTabSz="107240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Verdana" panose="020B0604030504040204" pitchFamily="34" charset="0"/>
              </a:rPr>
              <a:t>HANDYSOFT, INC. –  A DASAN Group Company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Verdana" panose="020B0604030504040204" pitchFamily="34" charset="0"/>
            </a:endParaRPr>
          </a:p>
        </p:txBody>
      </p:sp>
      <p:sp>
        <p:nvSpPr>
          <p:cNvPr id="12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5"/>
            </p:custDataLst>
          </p:nvPr>
        </p:nvSpPr>
        <p:spPr>
          <a:xfrm>
            <a:off x="52602" y="347472"/>
            <a:ext cx="9173460" cy="632188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3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6"/>
            </p:custDataLst>
          </p:nvPr>
        </p:nvSpPr>
        <p:spPr>
          <a:xfrm>
            <a:off x="52602" y="74712"/>
            <a:ext cx="9173460" cy="211038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4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7"/>
            </p:custDataLst>
          </p:nvPr>
        </p:nvSpPr>
        <p:spPr>
          <a:xfrm>
            <a:off x="9273877" y="74712"/>
            <a:ext cx="2851448" cy="658713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6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8"/>
            </p:custDataLst>
          </p:nvPr>
        </p:nvSpPr>
        <p:spPr>
          <a:xfrm>
            <a:off x="9273877" y="790574"/>
            <a:ext cx="2851448" cy="5878783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352584" y="6669360"/>
            <a:ext cx="648072" cy="18864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09D9B70-5658-42EA-A7C8-1D839C7DC5C0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3139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0" r:id="rId1"/>
    <p:sldLayoutId id="2147485041" r:id="rId2"/>
    <p:sldLayoutId id="2147485042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867" kern="1200">
          <a:solidFill>
            <a:srgbClr val="595959"/>
          </a:solidFill>
          <a:latin typeface="나눔고딕" pitchFamily="50" charset="-127"/>
          <a:ea typeface="나눔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5pPr>
      <a:lvl6pPr marL="495285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6pPr>
      <a:lvl7pPr marL="990570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7pPr>
      <a:lvl8pPr marL="1485854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8pPr>
      <a:lvl9pPr marL="1981139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9pPr>
    </p:titleStyle>
    <p:bodyStyle>
      <a:lvl1pPr marL="371464" indent="-371464" algn="l" rtl="0" eaLnBrk="0" fontAlgn="base" latinLnBrk="1" hangingPunct="0">
        <a:spcBef>
          <a:spcPct val="20000"/>
        </a:spcBef>
        <a:spcAft>
          <a:spcPct val="0"/>
        </a:spcAft>
        <a:defRPr sz="867" kern="1200">
          <a:solidFill>
            <a:srgbClr val="595959"/>
          </a:solidFill>
          <a:latin typeface="나눔고딕" pitchFamily="50" charset="-127"/>
          <a:ea typeface="나눔고딕" pitchFamily="50" charset="-127"/>
          <a:cs typeface="+mn-cs"/>
        </a:defRPr>
      </a:lvl1pPr>
      <a:lvl2pPr marL="804838" indent="-309553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2pPr>
      <a:lvl3pPr marL="1238212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3pPr>
      <a:lvl4pPr marL="1733497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4pPr>
      <a:lvl5pPr marL="2228781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26.xml"/><Relationship Id="rId7" Type="http://schemas.openxmlformats.org/officeDocument/2006/relationships/image" Target="../media/image4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8.png"/><Relationship Id="rId5" Type="http://schemas.openxmlformats.org/officeDocument/2006/relationships/tags" Target="../tags/tag28.xml"/><Relationship Id="rId10" Type="http://schemas.openxmlformats.org/officeDocument/2006/relationships/image" Target="../media/image7.png"/><Relationship Id="rId4" Type="http://schemas.openxmlformats.org/officeDocument/2006/relationships/tags" Target="../tags/tag27.xml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52.xml"/><Relationship Id="rId7" Type="http://schemas.openxmlformats.org/officeDocument/2006/relationships/image" Target="../media/image9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55.xml"/><Relationship Id="rId7" Type="http://schemas.openxmlformats.org/officeDocument/2006/relationships/image" Target="../media/image9.pn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63.xml"/><Relationship Id="rId7" Type="http://schemas.openxmlformats.org/officeDocument/2006/relationships/image" Target="../media/image9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66.xml"/><Relationship Id="rId7" Type="http://schemas.openxmlformats.org/officeDocument/2006/relationships/image" Target="../media/image9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4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4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7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80.xml"/><Relationship Id="rId7" Type="http://schemas.openxmlformats.org/officeDocument/2006/relationships/image" Target="../media/image4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slideLayout" Target="../slideLayouts/slideLayout9.xml"/><Relationship Id="rId11" Type="http://schemas.openxmlformats.org/officeDocument/2006/relationships/image" Target="../media/image8.png"/><Relationship Id="rId5" Type="http://schemas.openxmlformats.org/officeDocument/2006/relationships/tags" Target="../tags/tag82.xml"/><Relationship Id="rId10" Type="http://schemas.openxmlformats.org/officeDocument/2006/relationships/image" Target="../media/image7.png"/><Relationship Id="rId4" Type="http://schemas.openxmlformats.org/officeDocument/2006/relationships/tags" Target="../tags/tag81.xml"/><Relationship Id="rId9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3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4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5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6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7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8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9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0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3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4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5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6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7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8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9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0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3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4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5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6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990124" y="1793965"/>
            <a:ext cx="8533160" cy="7703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4400" b="1">
                <a:solidFill>
                  <a:schemeClr val="bg1">
                    <a:lumMod val="65000"/>
                  </a:schemeClr>
                </a:solidFill>
                <a:latin typeface="Trebuchet MS" panose="020B0603020202020204" pitchFamily="34" charset="0"/>
                <a:ea typeface="나눔고딕코딩" panose="020D0009000000000000" pitchFamily="49" charset="-127"/>
              </a:rPr>
              <a:t>EGW </a:t>
            </a:r>
            <a:r>
              <a:rPr kumimoji="0" lang="en-US" altLang="ko-KR" sz="4400" b="1" smtClean="0">
                <a:solidFill>
                  <a:schemeClr val="bg1">
                    <a:lumMod val="65000"/>
                  </a:schemeClr>
                </a:solidFill>
                <a:latin typeface="Trebuchet MS" panose="020B0603020202020204" pitchFamily="34" charset="0"/>
                <a:ea typeface="나눔고딕코딩" panose="020D0009000000000000" pitchFamily="49" charset="-127"/>
              </a:rPr>
              <a:t>Admin</a:t>
            </a:r>
            <a:r>
              <a:rPr kumimoji="0" lang="en-US" altLang="ko-KR" sz="44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_</a:t>
            </a:r>
            <a:r>
              <a:rPr kumimoji="0" lang="ko-KR" altLang="en-US" sz="44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통계 </a:t>
            </a:r>
            <a:r>
              <a:rPr kumimoji="0" lang="ko-KR" altLang="en-US" sz="4400" b="1">
                <a:solidFill>
                  <a:schemeClr val="tx1">
                    <a:lumMod val="95000"/>
                    <a:lumOff val="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정보</a:t>
            </a:r>
            <a:endParaRPr kumimoji="0" lang="ko-KR" altLang="en-US" sz="4400" b="1" dirty="0">
              <a:solidFill>
                <a:schemeClr val="tx1">
                  <a:lumMod val="95000"/>
                  <a:lumOff val="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8" name="텍스트 개체 틀 21"/>
          <p:cNvSpPr txBox="1">
            <a:spLocks/>
          </p:cNvSpPr>
          <p:nvPr/>
        </p:nvSpPr>
        <p:spPr>
          <a:xfrm>
            <a:off x="1001450" y="2473846"/>
            <a:ext cx="2736304" cy="90300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ko-KR" altLang="en-US" sz="2400" b="1" kern="1200" smtClean="0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  <a:lvl2pPr marL="596646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ko-KR" alt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ko-KR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Ver : 0.5</a:t>
            </a:r>
          </a:p>
          <a:p>
            <a:pPr fontAlgn="auto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작성일 </a:t>
            </a:r>
            <a:r>
              <a:rPr kumimoji="0" lang="en-US" altLang="ko-KR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: 2017.09.18</a:t>
            </a:r>
          </a:p>
          <a:p>
            <a:pPr fontAlgn="auto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작성자 </a:t>
            </a:r>
            <a:r>
              <a:rPr kumimoji="0" lang="en-US" altLang="ko-KR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: </a:t>
            </a:r>
            <a:r>
              <a:rPr kumimoji="0" lang="ko-KR" altLang="en-US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정규용</a:t>
            </a:r>
            <a:endParaRPr kumimoji="0" lang="en-US" altLang="ko-KR" sz="1100" b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138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380492"/>
              </p:ext>
            </p:extLst>
          </p:nvPr>
        </p:nvGraphicFramePr>
        <p:xfrm>
          <a:off x="990126" y="1099552"/>
          <a:ext cx="10218441" cy="346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426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1655089939"/>
                    </a:ext>
                  </a:extLst>
                </a:gridCol>
                <a:gridCol w="4896544">
                  <a:extLst>
                    <a:ext uri="{9D8B030D-6E8A-4147-A177-3AD203B41FA5}">
                      <a16:colId xmlns:a16="http://schemas.microsoft.com/office/drawing/2014/main" val="1094341974"/>
                    </a:ext>
                  </a:extLst>
                </a:gridCol>
                <a:gridCol w="864095">
                  <a:extLst>
                    <a:ext uri="{9D8B030D-6E8A-4147-A177-3AD203B41FA5}">
                      <a16:colId xmlns:a16="http://schemas.microsoft.com/office/drawing/2014/main" val="179082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작성일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메뉴명</a:t>
                      </a: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메뉴명</a:t>
                      </a: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83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2017-07-31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최초 작성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2017-08-15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액션 로그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액션로그 메뉴 추가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2017-08-30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통계 정보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동호회 통계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동호회 통계 메뉴 추가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5.1</a:t>
                      </a:r>
                    </a:p>
                    <a:p>
                      <a:pPr latinLnBrk="1"/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5.2</a:t>
                      </a:r>
                    </a:p>
                    <a:p>
                      <a:pPr latinLnBrk="1"/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5.2.1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81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2017-09-06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전체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개발 리뷰 수정사항 반영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2017-09-18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통계 정보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웹메일 통계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월별 발송 현황 </a:t>
                      </a: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: </a:t>
                      </a:r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그래프내 최다 발송 일수 및 건수 정보 추가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DA3.2.2</a:t>
                      </a:r>
                      <a:endParaRPr kumimoji="1" lang="ko-KR" altLang="en-US" sz="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9699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통계 정보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웹폴더 통계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월별 발송 현황 </a:t>
                      </a: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: </a:t>
                      </a:r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그래프내 최다 업로드</a:t>
                      </a: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다운로드 일수 및 건수 정보 추가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DA4.2.2</a:t>
                      </a:r>
                      <a:endParaRPr kumimoji="1" lang="ko-KR" altLang="en-US" sz="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238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215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110434"/>
                  </a:ext>
                </a:extLst>
              </a:tr>
            </a:tbl>
          </a:graphicData>
        </a:graphic>
      </p:graphicFrame>
      <p:sp>
        <p:nvSpPr>
          <p:cNvPr id="6" name="텍스트 개체 틀 3"/>
          <p:cNvSpPr txBox="1">
            <a:spLocks/>
          </p:cNvSpPr>
          <p:nvPr/>
        </p:nvSpPr>
        <p:spPr>
          <a:xfrm>
            <a:off x="990126" y="404664"/>
            <a:ext cx="8568952" cy="3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spc="-100" baseline="0">
                <a:solidFill>
                  <a:srgbClr val="0B55B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sz="16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Archive</a:t>
            </a:r>
            <a:endParaRPr kumimoji="0" lang="ko-KR" altLang="en-US" sz="1600" b="0" dirty="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3503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95400" y="1340768"/>
            <a:ext cx="37689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mtClean="0">
                <a:solidFill>
                  <a:prstClr val="white">
                    <a:lumMod val="7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통계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정보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결재 통계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8293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686680"/>
              </p:ext>
            </p:extLst>
          </p:nvPr>
        </p:nvGraphicFramePr>
        <p:xfrm>
          <a:off x="990126" y="1050330"/>
          <a:ext cx="5249892" cy="3416478"/>
        </p:xfrm>
        <a:graphic>
          <a:graphicData uri="http://schemas.openxmlformats.org/drawingml/2006/table">
            <a:tbl>
              <a:tblPr/>
              <a:tblGrid>
                <a:gridCol w="1312473">
                  <a:extLst>
                    <a:ext uri="{9D8B030D-6E8A-4147-A177-3AD203B41FA5}">
                      <a16:colId xmlns:a16="http://schemas.microsoft.com/office/drawing/2014/main" val="2905596105"/>
                    </a:ext>
                  </a:extLst>
                </a:gridCol>
                <a:gridCol w="1312473">
                  <a:extLst>
                    <a:ext uri="{9D8B030D-6E8A-4147-A177-3AD203B41FA5}">
                      <a16:colId xmlns:a16="http://schemas.microsoft.com/office/drawing/2014/main" val="832508854"/>
                    </a:ext>
                  </a:extLst>
                </a:gridCol>
                <a:gridCol w="1312473">
                  <a:extLst>
                    <a:ext uri="{9D8B030D-6E8A-4147-A177-3AD203B41FA5}">
                      <a16:colId xmlns:a16="http://schemas.microsoft.com/office/drawing/2014/main" val="3041841285"/>
                    </a:ext>
                  </a:extLst>
                </a:gridCol>
                <a:gridCol w="1312473">
                  <a:extLst>
                    <a:ext uri="{9D8B030D-6E8A-4147-A177-3AD203B41FA5}">
                      <a16:colId xmlns:a16="http://schemas.microsoft.com/office/drawing/2014/main" val="1359020298"/>
                    </a:ext>
                  </a:extLst>
                </a:gridCol>
              </a:tblGrid>
              <a:tr h="26280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통계 정보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D0D0D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D0D0D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0492198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smtClean="0"/>
                        <a:t>통계</a:t>
                      </a:r>
                      <a:endParaRPr lang="ko-KR" altLang="en-US" sz="900"/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2721406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　</a:t>
                      </a: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900"/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900" b="1" i="0" u="none" strike="noStrike" kern="1200" smtClean="0">
                          <a:solidFill>
                            <a:srgbClr val="FFFF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 통계</a:t>
                      </a:r>
                      <a:endParaRPr lang="ko-KR" altLang="en-US" sz="900" b="1" i="0" u="none" strike="noStrike" kern="1200">
                        <a:solidFill>
                          <a:srgbClr val="FFFF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2231621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　</a:t>
                      </a: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900"/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900" b="0" i="0" u="none" strike="noStrike" kern="1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웹메일 통계</a:t>
                      </a:r>
                      <a:endParaRPr lang="ko-KR" altLang="en-US" sz="900" b="0" i="0" u="none" strike="noStrike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388384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웹폴더 통계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3726967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동호회 통계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9790593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액션로그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0814916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40404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로그인</a:t>
                      </a:r>
                      <a:endParaRPr lang="en-US" altLang="ko-KR" sz="900" b="0" i="0" u="none" strike="noStrike" smtClean="0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3803983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40404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</a:t>
                      </a:r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7209817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40404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결재</a:t>
                      </a:r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8120801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40404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권한</a:t>
                      </a:r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7850870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40404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업무넷</a:t>
                      </a:r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6421378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40404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스퀘어</a:t>
                      </a:r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4328276"/>
                  </a:ext>
                </a:extLst>
              </a:tr>
            </a:tbl>
          </a:graphicData>
        </a:graphic>
      </p:graphicFrame>
      <p:sp>
        <p:nvSpPr>
          <p:cNvPr id="4" name="텍스트 개체 틀 3"/>
          <p:cNvSpPr txBox="1">
            <a:spLocks/>
          </p:cNvSpPr>
          <p:nvPr/>
        </p:nvSpPr>
        <p:spPr>
          <a:xfrm>
            <a:off x="1008246" y="383810"/>
            <a:ext cx="8568952" cy="3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spc="-100" baseline="0">
                <a:solidFill>
                  <a:srgbClr val="0B55B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Location</a:t>
            </a:r>
            <a:endParaRPr kumimoji="0" lang="ko-KR" altLang="en-US" sz="1600" b="0" i="0" u="none" strike="noStrike" kern="1200" cap="none" spc="-10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357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결재 통계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통계 정보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결재 통계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결재 통계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결재 통계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 전</a:t>
            </a:r>
          </a:p>
        </p:txBody>
      </p:sp>
      <p:sp>
        <p:nvSpPr>
          <p:cNvPr id="9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2464825" y="1482657"/>
            <a:ext cx="1326919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 성과 통계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cxnSp>
        <p:nvCxnSpPr>
          <p:cNvPr id="40" name="직선 연결선 39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2"/>
            </p:custDataLst>
          </p:nvPr>
        </p:nvSpPr>
        <p:spPr>
          <a:xfrm>
            <a:off x="1150433" y="1482657"/>
            <a:ext cx="1326919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mtClean="0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 통계</a:t>
            </a:r>
            <a:endParaRPr lang="en-US" sz="800" dirty="0">
              <a:solidFill>
                <a:prstClr val="black">
                  <a:lumMod val="95000"/>
                  <a:lumOff val="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aphicFrame>
        <p:nvGraphicFramePr>
          <p:cNvPr id="114" name="표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179331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문서 생산 건수           문서 발송 건수            문서 수신 건수              개인별 결재 지연시간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31509"/>
                  </a:ext>
                </a:extLst>
              </a:tr>
            </a:tbl>
          </a:graphicData>
        </a:graphic>
      </p:graphicFrame>
      <p:sp>
        <p:nvSpPr>
          <p:cNvPr id="115" name="TextBox 114"/>
          <p:cNvSpPr txBox="1"/>
          <p:nvPr/>
        </p:nvSpPr>
        <p:spPr>
          <a:xfrm>
            <a:off x="346159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grpSp>
        <p:nvGrpSpPr>
          <p:cNvPr id="116" name="그룹 115"/>
          <p:cNvGrpSpPr/>
          <p:nvPr/>
        </p:nvGrpSpPr>
        <p:grpSpPr>
          <a:xfrm>
            <a:off x="2553841" y="2598823"/>
            <a:ext cx="2271308" cy="191630"/>
            <a:chOff x="6240016" y="3620013"/>
            <a:chExt cx="2271308" cy="191630"/>
          </a:xfrm>
        </p:grpSpPr>
        <p:grpSp>
          <p:nvGrpSpPr>
            <p:cNvPr id="128" name="그룹 127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130" name="그룹 129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34" name="그림 133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35" name="직사각형 134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2017-06-29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31" name="그룹 130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32" name="그림 131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33" name="직사각형 132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129" name="TextBox 128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37" name="TextBox 136"/>
          <p:cNvSpPr txBox="1"/>
          <p:nvPr/>
        </p:nvSpPr>
        <p:spPr>
          <a:xfrm>
            <a:off x="2516855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39" name="모서리가 둥근 직사각형 138"/>
          <p:cNvSpPr/>
          <p:nvPr/>
        </p:nvSpPr>
        <p:spPr>
          <a:xfrm>
            <a:off x="2553841" y="2317916"/>
            <a:ext cx="3686176" cy="18271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140" name="그룹 139"/>
          <p:cNvGrpSpPr/>
          <p:nvPr/>
        </p:nvGrpSpPr>
        <p:grpSpPr>
          <a:xfrm>
            <a:off x="5951985" y="2317916"/>
            <a:ext cx="600118" cy="182715"/>
            <a:chOff x="5936741" y="2511868"/>
            <a:chExt cx="600118" cy="171371"/>
          </a:xfrm>
        </p:grpSpPr>
        <p:sp>
          <p:nvSpPr>
            <p:cNvPr id="141" name="모서리가 둥근 직사각형 140"/>
            <p:cNvSpPr/>
            <p:nvPr/>
          </p:nvSpPr>
          <p:spPr>
            <a:xfrm>
              <a:off x="5936741" y="2511868"/>
              <a:ext cx="600118" cy="17137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pic>
          <p:nvPicPr>
            <p:cNvPr id="142" name="그림 14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6516" y="2522170"/>
              <a:ext cx="147005" cy="147005"/>
            </a:xfrm>
            <a:prstGeom prst="rect">
              <a:avLst/>
            </a:prstGeom>
          </p:spPr>
        </p:pic>
      </p:grpSp>
      <p:sp>
        <p:nvSpPr>
          <p:cNvPr id="143" name="TextBox 142"/>
          <p:cNvSpPr txBox="1"/>
          <p:nvPr/>
        </p:nvSpPr>
        <p:spPr>
          <a:xfrm>
            <a:off x="4861941" y="2632695"/>
            <a:ext cx="1567433" cy="14860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최대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개월 이내 조회 가능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43314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3865823" y="3068960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5471368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DA1.1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908312" y="1922316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38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906014"/>
              </p:ext>
            </p:extLst>
          </p:nvPr>
        </p:nvGraphicFramePr>
        <p:xfrm>
          <a:off x="9290533" y="786383"/>
          <a:ext cx="2835141" cy="988913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조회 구분의 디자인은 결재통계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결재성과통계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모두 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구분에 따른 출력되는 로직 및 데이터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as-is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94668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1-1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클릭시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부서 선택 팝업 출력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자동완성 적용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X)</a:t>
                      </a: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127216"/>
                  </a:ext>
                </a:extLst>
              </a:tr>
            </a:tbl>
          </a:graphicData>
        </a:graphic>
      </p:graphicFrame>
      <p:sp>
        <p:nvSpPr>
          <p:cNvPr id="39" name="타원 38"/>
          <p:cNvSpPr/>
          <p:nvPr/>
        </p:nvSpPr>
        <p:spPr>
          <a:xfrm>
            <a:off x="6518537" y="2236641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1-1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728539"/>
              </p:ext>
            </p:extLst>
          </p:nvPr>
        </p:nvGraphicFramePr>
        <p:xfrm>
          <a:off x="1000573" y="3725345"/>
          <a:ext cx="7671788" cy="1652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3827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995211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</a:tblGrid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총 생산문서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전자결재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비전자결재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전자결재율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133534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조회하실 구분 및 부서를 선택해주세요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</a:tbl>
          </a:graphicData>
        </a:graphic>
      </p:graphicFrame>
      <p:sp>
        <p:nvSpPr>
          <p:cNvPr id="43" name="자유형 42"/>
          <p:cNvSpPr/>
          <p:nvPr/>
        </p:nvSpPr>
        <p:spPr>
          <a:xfrm>
            <a:off x="2580507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527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46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#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 선택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B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-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0222328" y="308595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AA1.2.1.1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60" name="Group 3"/>
          <p:cNvGraphicFramePr>
            <a:graphicFrameLocks noGrp="1"/>
          </p:cNvGraphicFramePr>
          <p:nvPr>
            <p:extLst/>
          </p:nvPr>
        </p:nvGraphicFramePr>
        <p:xfrm>
          <a:off x="9290533" y="786383"/>
          <a:ext cx="2835141" cy="980780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디자인은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AA1.2.1.1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와 동일하고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부서 선택에 따른 로직만 다름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선택된 부서에 하위 부서가 있을 경우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부서까지 포함하여 결과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732766"/>
                  </a:ext>
                </a:extLst>
              </a:tr>
            </a:tbl>
          </a:graphicData>
        </a:graphic>
      </p:graphicFrame>
      <p:sp>
        <p:nvSpPr>
          <p:cNvPr id="70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1"/>
            </p:custDataLst>
          </p:nvPr>
        </p:nvSpPr>
        <p:spPr>
          <a:xfrm>
            <a:off x="436712" y="620689"/>
            <a:ext cx="3283024" cy="5003944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1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2"/>
            </p:custDataLst>
          </p:nvPr>
        </p:nvSpPr>
        <p:spPr>
          <a:xfrm>
            <a:off x="567508" y="1196752"/>
            <a:ext cx="3053699" cy="314159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2" name="Close Button" descr="&lt;SmartSettings&gt;&lt;SmartResize anchorLeft=&quot;None&quot; anchorTop=&quot;Absolute&quot; anchorRight=&quot;Absolute&quot; anchorBottom=&quot;None&quot; /&gt;&lt;/SmartSettings&gt;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3459178" y="755480"/>
            <a:ext cx="123053" cy="116625"/>
          </a:xfrm>
          <a:custGeom>
            <a:avLst/>
            <a:gdLst>
              <a:gd name="T0" fmla="*/ 254 w 254"/>
              <a:gd name="T1" fmla="*/ 0 h 254"/>
              <a:gd name="T2" fmla="*/ 0 w 254"/>
              <a:gd name="T3" fmla="*/ 254 h 254"/>
              <a:gd name="T4" fmla="*/ 0 w 254"/>
              <a:gd name="T5" fmla="*/ 0 h 254"/>
              <a:gd name="T6" fmla="*/ 254 w 254"/>
              <a:gd name="T7" fmla="*/ 254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4" h="254">
                <a:moveTo>
                  <a:pt x="254" y="0"/>
                </a:moveTo>
                <a:lnTo>
                  <a:pt x="0" y="254"/>
                </a:lnTo>
                <a:moveTo>
                  <a:pt x="0" y="0"/>
                </a:moveTo>
                <a:lnTo>
                  <a:pt x="254" y="254"/>
                </a:lnTo>
              </a:path>
            </a:pathLst>
          </a:custGeom>
          <a:noFill/>
          <a:ln w="9525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54721" y="727482"/>
            <a:ext cx="661742" cy="195956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 선택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74" name="직선 연결선 73"/>
          <p:cNvCxnSpPr/>
          <p:nvPr/>
        </p:nvCxnSpPr>
        <p:spPr>
          <a:xfrm>
            <a:off x="546892" y="1006896"/>
            <a:ext cx="306152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모서리가 둥근 직사각형 75"/>
          <p:cNvSpPr/>
          <p:nvPr/>
        </p:nvSpPr>
        <p:spPr>
          <a:xfrm>
            <a:off x="2176997" y="4985676"/>
            <a:ext cx="1126484" cy="27739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완료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870855" y="4985676"/>
            <a:ext cx="1126484" cy="2773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itchFamily="50" charset="-127"/>
                <a:cs typeface="+mn-cs"/>
              </a:rPr>
              <a:t>취소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</p:txBody>
      </p:sp>
      <p:sp>
        <p:nvSpPr>
          <p:cNvPr id="94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4"/>
            </p:custDataLst>
          </p:nvPr>
        </p:nvSpPr>
        <p:spPr>
          <a:xfrm>
            <a:off x="567509" y="4508286"/>
            <a:ext cx="3053698" cy="292962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표준전략실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pSp>
        <p:nvGrpSpPr>
          <p:cNvPr id="95" name="그룹 94"/>
          <p:cNvGrpSpPr/>
          <p:nvPr/>
        </p:nvGrpSpPr>
        <p:grpSpPr>
          <a:xfrm>
            <a:off x="3474617" y="1741528"/>
            <a:ext cx="58192" cy="2448510"/>
            <a:chOff x="2238375" y="1813543"/>
            <a:chExt cx="58192" cy="3943350"/>
          </a:xfrm>
        </p:grpSpPr>
        <p:sp>
          <p:nvSpPr>
            <p:cNvPr id="97" name="모서리가 둥근 직사각형 96"/>
            <p:cNvSpPr/>
            <p:nvPr/>
          </p:nvSpPr>
          <p:spPr>
            <a:xfrm>
              <a:off x="2238375" y="1813543"/>
              <a:ext cx="58192" cy="394335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12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99" name="모서리가 둥근 직사각형 98"/>
            <p:cNvSpPr/>
            <p:nvPr/>
          </p:nvSpPr>
          <p:spPr>
            <a:xfrm>
              <a:off x="2238375" y="3418408"/>
              <a:ext cx="58192" cy="1038419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37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</p:grpSp>
      <p:grpSp>
        <p:nvGrpSpPr>
          <p:cNvPr id="101" name="그룹 100"/>
          <p:cNvGrpSpPr/>
          <p:nvPr/>
        </p:nvGrpSpPr>
        <p:grpSpPr>
          <a:xfrm>
            <a:off x="567508" y="1197716"/>
            <a:ext cx="3053699" cy="429460"/>
            <a:chOff x="554721" y="1196752"/>
            <a:chExt cx="3053699" cy="429460"/>
          </a:xfrm>
        </p:grpSpPr>
        <p:sp>
          <p:nvSpPr>
            <p:cNvPr id="103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5"/>
              </p:custDataLst>
            </p:nvPr>
          </p:nvSpPr>
          <p:spPr>
            <a:xfrm>
              <a:off x="554721" y="1196752"/>
              <a:ext cx="3053699" cy="42946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04" name="Modal Dialog Overlay"/>
            <p:cNvSpPr>
              <a:spLocks/>
            </p:cNvSpPr>
            <p:nvPr/>
          </p:nvSpPr>
          <p:spPr bwMode="auto">
            <a:xfrm>
              <a:off x="709951" y="1293826"/>
              <a:ext cx="2481427" cy="24536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50000"/>
                </a:schemeClr>
              </a:solidFill>
              <a:prstDash val="solid"/>
            </a:ln>
            <a:effectLst/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  <p:pic>
          <p:nvPicPr>
            <p:cNvPr id="107" name="그림 10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7421" y="1341686"/>
              <a:ext cx="182222" cy="182222"/>
            </a:xfrm>
            <a:prstGeom prst="rect">
              <a:avLst/>
            </a:prstGeom>
          </p:spPr>
        </p:pic>
        <p:grpSp>
          <p:nvGrpSpPr>
            <p:cNvPr id="108" name="그룹 107"/>
            <p:cNvGrpSpPr/>
            <p:nvPr/>
          </p:nvGrpSpPr>
          <p:grpSpPr>
            <a:xfrm>
              <a:off x="3238596" y="1293826"/>
              <a:ext cx="254597" cy="239977"/>
              <a:chOff x="3238596" y="1293826"/>
              <a:chExt cx="254597" cy="239977"/>
            </a:xfrm>
          </p:grpSpPr>
          <p:sp>
            <p:nvSpPr>
              <p:cNvPr id="109" name="모서리가 둥근 직사각형 108"/>
              <p:cNvSpPr/>
              <p:nvPr/>
            </p:nvSpPr>
            <p:spPr>
              <a:xfrm>
                <a:off x="3238596" y="1293826"/>
                <a:ext cx="254597" cy="239977"/>
              </a:xfrm>
              <a:prstGeom prst="roundRect">
                <a:avLst>
                  <a:gd name="adj" fmla="val 23266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110" name="그림 10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94155" y="1332371"/>
                <a:ext cx="148907" cy="148907"/>
              </a:xfrm>
              <a:prstGeom prst="rect">
                <a:avLst/>
              </a:prstGeom>
            </p:spPr>
          </p:pic>
        </p:grpSp>
      </p:grpSp>
      <p:cxnSp>
        <p:nvCxnSpPr>
          <p:cNvPr id="113" name="꺾인 연결선 112"/>
          <p:cNvCxnSpPr/>
          <p:nvPr/>
        </p:nvCxnSpPr>
        <p:spPr>
          <a:xfrm rot="16200000" flipH="1">
            <a:off x="925290" y="2017096"/>
            <a:ext cx="214198" cy="103502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꺾인 연결선 113"/>
          <p:cNvCxnSpPr/>
          <p:nvPr/>
        </p:nvCxnSpPr>
        <p:spPr>
          <a:xfrm rot="16200000" flipH="1">
            <a:off x="784546" y="2157840"/>
            <a:ext cx="495687" cy="103502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꺾인 연결선 114"/>
          <p:cNvCxnSpPr/>
          <p:nvPr/>
        </p:nvCxnSpPr>
        <p:spPr>
          <a:xfrm rot="16200000" flipH="1">
            <a:off x="1273485" y="2600547"/>
            <a:ext cx="214198" cy="103502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/>
          <p:nvPr/>
        </p:nvCxnSpPr>
        <p:spPr>
          <a:xfrm rot="16200000" flipH="1">
            <a:off x="1132741" y="2741291"/>
            <a:ext cx="495687" cy="103502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1105321" y="2387266"/>
            <a:ext cx="125001" cy="1262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  <a:cs typeface="+mn-cs"/>
              </a:rPr>
              <a:t>-</a:t>
            </a:r>
            <a:endParaRPr kumimoji="1" lang="ko-KR" altLang="en-US" sz="11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  <a:cs typeface="+mn-cs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105321" y="2121795"/>
            <a:ext cx="125001" cy="1262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  <a:cs typeface="+mn-cs"/>
              </a:rPr>
              <a:t>+</a:t>
            </a:r>
            <a:endParaRPr kumimoji="1" lang="ko-KR" altLang="en-US" sz="11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  <a:cs typeface="+mn-cs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746221" y="1842720"/>
            <a:ext cx="125001" cy="1262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  <a:cs typeface="+mn-cs"/>
              </a:rPr>
              <a:t>-</a:t>
            </a:r>
            <a:endParaRPr kumimoji="1" lang="ko-KR" altLang="en-US" sz="11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  <a:cs typeface="+mn-cs"/>
            </a:endParaRPr>
          </a:p>
        </p:txBody>
      </p:sp>
      <p:pic>
        <p:nvPicPr>
          <p:cNvPr id="120" name="그림 11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648" y="1846158"/>
            <a:ext cx="123607" cy="123607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1784401" y="2893681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제품기획팀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22" name="타원 121"/>
          <p:cNvSpPr/>
          <p:nvPr/>
        </p:nvSpPr>
        <p:spPr>
          <a:xfrm>
            <a:off x="1642949" y="2974948"/>
            <a:ext cx="118737" cy="12035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784401" y="2611694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신뢰성기술팀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25" name="타원 124"/>
          <p:cNvSpPr/>
          <p:nvPr/>
        </p:nvSpPr>
        <p:spPr>
          <a:xfrm>
            <a:off x="1642949" y="2689198"/>
            <a:ext cx="118737" cy="12035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1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581200" y="2325944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표준전략실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27" name="타원 126"/>
          <p:cNvSpPr/>
          <p:nvPr/>
        </p:nvSpPr>
        <p:spPr>
          <a:xfrm>
            <a:off x="1449273" y="2403448"/>
            <a:ext cx="118737" cy="12035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1581200" y="2049672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전략기획실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30" name="타원 129"/>
          <p:cNvSpPr/>
          <p:nvPr/>
        </p:nvSpPr>
        <p:spPr>
          <a:xfrm>
            <a:off x="1449273" y="2127176"/>
            <a:ext cx="118737" cy="12035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1225640" y="1782972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핸디소프트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32" name="타원 131"/>
          <p:cNvSpPr/>
          <p:nvPr/>
        </p:nvSpPr>
        <p:spPr>
          <a:xfrm>
            <a:off x="1093713" y="1860476"/>
            <a:ext cx="118737" cy="12035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33" name="자유형 132"/>
          <p:cNvSpPr/>
          <p:nvPr/>
        </p:nvSpPr>
        <p:spPr>
          <a:xfrm>
            <a:off x="1456592" y="2406268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35" name="타원 134"/>
          <p:cNvSpPr/>
          <p:nvPr/>
        </p:nvSpPr>
        <p:spPr>
          <a:xfrm>
            <a:off x="344432" y="520236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012" y="2386144"/>
            <a:ext cx="123607" cy="123607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82" y="2133831"/>
            <a:ext cx="109643" cy="109643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138" y="2685105"/>
            <a:ext cx="109643" cy="109643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138" y="2971090"/>
            <a:ext cx="109643" cy="109643"/>
          </a:xfrm>
          <a:prstGeom prst="rect">
            <a:avLst/>
          </a:prstGeom>
        </p:spPr>
      </p:pic>
      <p:sp>
        <p:nvSpPr>
          <p:cNvPr id="49" name="타원 48"/>
          <p:cNvSpPr/>
          <p:nvPr/>
        </p:nvSpPr>
        <p:spPr>
          <a:xfrm>
            <a:off x="2135132" y="2387136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7" name="꺾인 연결선 6"/>
          <p:cNvCxnSpPr>
            <a:stCxn id="49" idx="6"/>
          </p:cNvCxnSpPr>
          <p:nvPr/>
        </p:nvCxnSpPr>
        <p:spPr>
          <a:xfrm>
            <a:off x="2303993" y="2474500"/>
            <a:ext cx="436246" cy="2033786"/>
          </a:xfrm>
          <a:prstGeom prst="bentConnector2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3303481" y="5128495"/>
            <a:ext cx="1244384" cy="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8362" y="4622234"/>
            <a:ext cx="5602938" cy="98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8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641223"/>
              </p:ext>
            </p:extLst>
          </p:nvPr>
        </p:nvGraphicFramePr>
        <p:xfrm>
          <a:off x="9290533" y="786383"/>
          <a:ext cx="2835141" cy="2073503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부서 선택됐을 경우 선택된 부서명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94668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조회 구분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부서별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사용자별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월별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일별에 따라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출력되는 각 정보는 모두 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부서는 하위부서까지 포함하여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부서 정보의 경우 하위 부서가 여러 개 위치될 수 있으니 디자인 작업시 영역 확보 필요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127216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영역에 출력되는 각 정보는 조회 구분에 따라 다름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93291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4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다운로드 버튼 및 기능은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as-is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63546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5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리스트는 페이지네이션 및 목록 개수 설정없이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화면 스크롤 처리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634218"/>
                  </a:ext>
                </a:extLst>
              </a:tr>
            </a:tbl>
          </a:graphicData>
        </a:graphic>
      </p:graphicFrame>
      <p:graphicFrame>
        <p:nvGraphicFramePr>
          <p:cNvPr id="46" name="표 45"/>
          <p:cNvGraphicFramePr>
            <a:graphicFrameLocks noGrp="1"/>
          </p:cNvGraphicFramePr>
          <p:nvPr>
            <p:extLst/>
          </p:nvPr>
        </p:nvGraphicFramePr>
        <p:xfrm>
          <a:off x="1000573" y="3725345"/>
          <a:ext cx="7671788" cy="2034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3827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995211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</a:tblGrid>
              <a:tr h="381408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총 생산문서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전자결재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비전자결재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전자결재율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99 %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99 %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99 %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마케팅팀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99 %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</a:tbl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통계 정보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결재 통계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결재 통계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문서 생산 건수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결재 통계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83" name="표 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098027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문서 생산 건수           문서 발송 건수            문서 수신 건수              개인별 결재 지연시간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표준개발실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31509"/>
                  </a:ext>
                </a:extLst>
              </a:tr>
            </a:tbl>
          </a:graphicData>
        </a:graphic>
      </p:graphicFrame>
      <p:cxnSp>
        <p:nvCxnSpPr>
          <p:cNvPr id="84" name="직선 연결선 83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2464825" y="1482657"/>
            <a:ext cx="1326919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 성과 통계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cxnSp>
        <p:nvCxnSpPr>
          <p:cNvPr id="86" name="직선 연결선 85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7" name="TextBox 86"/>
          <p:cNvSpPr txBox="1"/>
          <p:nvPr/>
        </p:nvSpPr>
        <p:spPr>
          <a:xfrm>
            <a:off x="346159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grpSp>
        <p:nvGrpSpPr>
          <p:cNvPr id="88" name="그룹 87"/>
          <p:cNvGrpSpPr/>
          <p:nvPr/>
        </p:nvGrpSpPr>
        <p:grpSpPr>
          <a:xfrm>
            <a:off x="2553841" y="2598823"/>
            <a:ext cx="2271308" cy="191630"/>
            <a:chOff x="6240016" y="3620013"/>
            <a:chExt cx="2271308" cy="191630"/>
          </a:xfrm>
        </p:grpSpPr>
        <p:grpSp>
          <p:nvGrpSpPr>
            <p:cNvPr id="89" name="그룹 88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91" name="그룹 90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95" name="그림 9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96" name="직사각형 95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2017-06-29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92" name="그룹 91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93" name="그림 9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94" name="직사각형 93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90" name="TextBox 89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grpSp>
        <p:nvGrpSpPr>
          <p:cNvPr id="97" name="그룹 96"/>
          <p:cNvGrpSpPr/>
          <p:nvPr/>
        </p:nvGrpSpPr>
        <p:grpSpPr>
          <a:xfrm>
            <a:off x="2516855" y="2000950"/>
            <a:ext cx="226293" cy="222101"/>
            <a:chOff x="4359942" y="3596387"/>
            <a:chExt cx="226293" cy="222101"/>
          </a:xfrm>
        </p:grpSpPr>
        <p:sp>
          <p:nvSpPr>
            <p:cNvPr id="98" name="TextBox 97"/>
            <p:cNvSpPr txBox="1"/>
            <p:nvPr/>
          </p:nvSpPr>
          <p:spPr>
            <a:xfrm>
              <a:off x="4359942" y="3596387"/>
              <a:ext cx="226293" cy="222101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○</a:t>
              </a:r>
            </a:p>
          </p:txBody>
        </p:sp>
        <p:sp>
          <p:nvSpPr>
            <p:cNvPr id="99" name="자유형 98"/>
            <p:cNvSpPr/>
            <p:nvPr/>
          </p:nvSpPr>
          <p:spPr>
            <a:xfrm>
              <a:off x="4416162" y="3647344"/>
              <a:ext cx="123825" cy="100482"/>
            </a:xfrm>
            <a:custGeom>
              <a:avLst/>
              <a:gdLst>
                <a:gd name="connsiteX0" fmla="*/ 0 w 190500"/>
                <a:gd name="connsiteY0" fmla="*/ 95250 h 209550"/>
                <a:gd name="connsiteX1" fmla="*/ 76200 w 190500"/>
                <a:gd name="connsiteY1" fmla="*/ 209550 h 209550"/>
                <a:gd name="connsiteX2" fmla="*/ 190500 w 190500"/>
                <a:gd name="connsiteY2" fmla="*/ 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0" h="209550">
                  <a:moveTo>
                    <a:pt x="0" y="95250"/>
                  </a:moveTo>
                  <a:lnTo>
                    <a:pt x="76200" y="209550"/>
                  </a:lnTo>
                  <a:lnTo>
                    <a:pt x="190500" y="0"/>
                  </a:lnTo>
                </a:path>
              </a:pathLst>
            </a:cu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</p:grpSp>
      <p:sp>
        <p:nvSpPr>
          <p:cNvPr id="100" name="모서리가 둥근 직사각형 99"/>
          <p:cNvSpPr/>
          <p:nvPr/>
        </p:nvSpPr>
        <p:spPr>
          <a:xfrm>
            <a:off x="2553841" y="2317916"/>
            <a:ext cx="3686176" cy="18271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101" name="그룹 100"/>
          <p:cNvGrpSpPr/>
          <p:nvPr/>
        </p:nvGrpSpPr>
        <p:grpSpPr>
          <a:xfrm>
            <a:off x="5951985" y="2317916"/>
            <a:ext cx="600118" cy="182715"/>
            <a:chOff x="5936741" y="2511868"/>
            <a:chExt cx="600118" cy="171371"/>
          </a:xfrm>
        </p:grpSpPr>
        <p:sp>
          <p:nvSpPr>
            <p:cNvPr id="102" name="모서리가 둥근 직사각형 101"/>
            <p:cNvSpPr/>
            <p:nvPr/>
          </p:nvSpPr>
          <p:spPr>
            <a:xfrm>
              <a:off x="5936741" y="2511868"/>
              <a:ext cx="600118" cy="17137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pic>
          <p:nvPicPr>
            <p:cNvPr id="103" name="그림 10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6516" y="2522170"/>
              <a:ext cx="147005" cy="147005"/>
            </a:xfrm>
            <a:prstGeom prst="rect">
              <a:avLst/>
            </a:prstGeom>
          </p:spPr>
        </p:pic>
      </p:grpSp>
      <p:sp>
        <p:nvSpPr>
          <p:cNvPr id="104" name="TextBox 103"/>
          <p:cNvSpPr txBox="1"/>
          <p:nvPr/>
        </p:nvSpPr>
        <p:spPr>
          <a:xfrm>
            <a:off x="4861941" y="2632695"/>
            <a:ext cx="1567433" cy="14860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최대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개월 이내 조회 가능</a:t>
            </a:r>
          </a:p>
        </p:txBody>
      </p:sp>
      <p:sp>
        <p:nvSpPr>
          <p:cNvPr id="105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2"/>
            </p:custDataLst>
          </p:nvPr>
        </p:nvSpPr>
        <p:spPr>
          <a:xfrm>
            <a:off x="1150433" y="1482657"/>
            <a:ext cx="1326919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mtClean="0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 통계</a:t>
            </a:r>
            <a:endParaRPr lang="en-US" sz="800" dirty="0">
              <a:solidFill>
                <a:prstClr val="black">
                  <a:lumMod val="95000"/>
                  <a:lumOff val="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443314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7" name="모서리가 둥근 직사각형 106"/>
          <p:cNvSpPr/>
          <p:nvPr/>
        </p:nvSpPr>
        <p:spPr>
          <a:xfrm>
            <a:off x="3865823" y="3068960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471368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cxnSp>
        <p:nvCxnSpPr>
          <p:cNvPr id="109" name="직선 연결선 108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DA1.1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57" name="그룹 56"/>
          <p:cNvGrpSpPr/>
          <p:nvPr/>
        </p:nvGrpSpPr>
        <p:grpSpPr>
          <a:xfrm>
            <a:off x="7397105" y="3798565"/>
            <a:ext cx="1126484" cy="229245"/>
            <a:chOff x="1098673" y="4143102"/>
            <a:chExt cx="1126484" cy="229245"/>
          </a:xfrm>
        </p:grpSpPr>
        <p:sp>
          <p:nvSpPr>
            <p:cNvPr id="58" name="모서리가 둥근 직사각형 57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59" name="그림 5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60" name="직사각형 59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214939" y="3817717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62" name="모서리가 둥근 직사각형 61"/>
          <p:cNvSpPr/>
          <p:nvPr/>
        </p:nvSpPr>
        <p:spPr>
          <a:xfrm>
            <a:off x="5936251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3378000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4658509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65" name="그룹 64"/>
          <p:cNvGrpSpPr/>
          <p:nvPr/>
        </p:nvGrpSpPr>
        <p:grpSpPr>
          <a:xfrm>
            <a:off x="8886458" y="836712"/>
            <a:ext cx="58192" cy="5773459"/>
            <a:chOff x="2238375" y="1813543"/>
            <a:chExt cx="58192" cy="3943350"/>
          </a:xfrm>
        </p:grpSpPr>
        <p:sp>
          <p:nvSpPr>
            <p:cNvPr id="66" name="모서리가 둥근 직사각형 65"/>
            <p:cNvSpPr/>
            <p:nvPr/>
          </p:nvSpPr>
          <p:spPr>
            <a:xfrm>
              <a:off x="2238375" y="1813543"/>
              <a:ext cx="58192" cy="394335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12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70" name="모서리가 둥근 직사각형 69"/>
            <p:cNvSpPr/>
            <p:nvPr/>
          </p:nvSpPr>
          <p:spPr>
            <a:xfrm>
              <a:off x="2238375" y="3418408"/>
              <a:ext cx="58192" cy="1038419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37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72" name="타원 71"/>
          <p:cNvSpPr/>
          <p:nvPr/>
        </p:nvSpPr>
        <p:spPr>
          <a:xfrm>
            <a:off x="908312" y="4082787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73" name="타원 72"/>
          <p:cNvSpPr/>
          <p:nvPr/>
        </p:nvSpPr>
        <p:spPr>
          <a:xfrm>
            <a:off x="2423592" y="2236389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3171039" y="3816350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4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75" name="타원 74"/>
          <p:cNvSpPr/>
          <p:nvPr/>
        </p:nvSpPr>
        <p:spPr>
          <a:xfrm>
            <a:off x="4573532" y="4082787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3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8832304" y="4178037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5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8845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표 45"/>
          <p:cNvGraphicFramePr>
            <a:graphicFrameLocks noGrp="1"/>
          </p:cNvGraphicFramePr>
          <p:nvPr>
            <p:extLst/>
          </p:nvPr>
        </p:nvGraphicFramePr>
        <p:xfrm>
          <a:off x="1000573" y="3725345"/>
          <a:ext cx="7671788" cy="2034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3827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995211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</a:tblGrid>
              <a:tr h="381408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총 문서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대내 전자결재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대외 전자결재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비전자결재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마케팅팀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</a:tbl>
          </a:graphicData>
        </a:graphic>
      </p:graphicFrame>
      <p:sp>
        <p:nvSpPr>
          <p:cNvPr id="84" name="TextBox 83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통계 정보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결재 통계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결재 통계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문서 발송 건수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결재 통계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104843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문서 생산 건수           문서 발송 건수            문서 수신 건수              개인별 결재 지연시간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표준개발실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31509"/>
                  </a:ext>
                </a:extLst>
              </a:tr>
            </a:tbl>
          </a:graphicData>
        </a:graphic>
      </p:graphicFrame>
      <p:cxnSp>
        <p:nvCxnSpPr>
          <p:cNvPr id="63" name="직선 연결선 62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4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2464825" y="1482657"/>
            <a:ext cx="1326919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 성과 통계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cxnSp>
        <p:nvCxnSpPr>
          <p:cNvPr id="65" name="직선 연결선 64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6" name="TextBox 65"/>
          <p:cNvSpPr txBox="1"/>
          <p:nvPr/>
        </p:nvSpPr>
        <p:spPr>
          <a:xfrm>
            <a:off x="346159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grpSp>
        <p:nvGrpSpPr>
          <p:cNvPr id="67" name="그룹 66"/>
          <p:cNvGrpSpPr/>
          <p:nvPr/>
        </p:nvGrpSpPr>
        <p:grpSpPr>
          <a:xfrm>
            <a:off x="2553841" y="2598823"/>
            <a:ext cx="2271308" cy="191630"/>
            <a:chOff x="6240016" y="3620013"/>
            <a:chExt cx="2271308" cy="191630"/>
          </a:xfrm>
        </p:grpSpPr>
        <p:grpSp>
          <p:nvGrpSpPr>
            <p:cNvPr id="68" name="그룹 67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70" name="그룹 69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88" name="그림 8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89" name="직사각형 88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2017-06-29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71" name="그룹 70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86" name="그림 85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87" name="직사각형 86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2516855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93" name="모서리가 둥근 직사각형 92"/>
          <p:cNvSpPr/>
          <p:nvPr/>
        </p:nvSpPr>
        <p:spPr>
          <a:xfrm>
            <a:off x="2553841" y="2317916"/>
            <a:ext cx="3686176" cy="18271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94" name="그룹 93"/>
          <p:cNvGrpSpPr/>
          <p:nvPr/>
        </p:nvGrpSpPr>
        <p:grpSpPr>
          <a:xfrm>
            <a:off x="5951985" y="2317916"/>
            <a:ext cx="600118" cy="182715"/>
            <a:chOff x="5936741" y="2511868"/>
            <a:chExt cx="600118" cy="171371"/>
          </a:xfrm>
        </p:grpSpPr>
        <p:sp>
          <p:nvSpPr>
            <p:cNvPr id="95" name="모서리가 둥근 직사각형 94"/>
            <p:cNvSpPr/>
            <p:nvPr/>
          </p:nvSpPr>
          <p:spPr>
            <a:xfrm>
              <a:off x="5936741" y="2511868"/>
              <a:ext cx="600118" cy="17137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pic>
          <p:nvPicPr>
            <p:cNvPr id="96" name="그림 9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6516" y="2522170"/>
              <a:ext cx="147005" cy="147005"/>
            </a:xfrm>
            <a:prstGeom prst="rect">
              <a:avLst/>
            </a:prstGeom>
          </p:spPr>
        </p:pic>
      </p:grpSp>
      <p:sp>
        <p:nvSpPr>
          <p:cNvPr id="97" name="TextBox 96"/>
          <p:cNvSpPr txBox="1"/>
          <p:nvPr/>
        </p:nvSpPr>
        <p:spPr>
          <a:xfrm>
            <a:off x="4861941" y="2632695"/>
            <a:ext cx="1567433" cy="14860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최대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개월 이내 조회 가능</a:t>
            </a:r>
          </a:p>
        </p:txBody>
      </p:sp>
      <p:sp>
        <p:nvSpPr>
          <p:cNvPr id="98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2"/>
            </p:custDataLst>
          </p:nvPr>
        </p:nvSpPr>
        <p:spPr>
          <a:xfrm>
            <a:off x="1150433" y="1482657"/>
            <a:ext cx="1326919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mtClean="0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 통계</a:t>
            </a:r>
            <a:endParaRPr lang="en-US" sz="800" dirty="0">
              <a:solidFill>
                <a:prstClr val="black">
                  <a:lumMod val="95000"/>
                  <a:lumOff val="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43314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0" name="모서리가 둥근 직사각형 99"/>
          <p:cNvSpPr/>
          <p:nvPr/>
        </p:nvSpPr>
        <p:spPr>
          <a:xfrm>
            <a:off x="3865823" y="3068960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471368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cxnSp>
        <p:nvCxnSpPr>
          <p:cNvPr id="102" name="직선 연결선 101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자유형 102"/>
          <p:cNvSpPr/>
          <p:nvPr/>
        </p:nvSpPr>
        <p:spPr>
          <a:xfrm>
            <a:off x="3523903" y="205190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DA1.2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45" name="직사각형 44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72" name="그룹 71"/>
          <p:cNvGrpSpPr/>
          <p:nvPr/>
        </p:nvGrpSpPr>
        <p:grpSpPr>
          <a:xfrm>
            <a:off x="7397105" y="3798565"/>
            <a:ext cx="1126484" cy="229245"/>
            <a:chOff x="1098673" y="4143102"/>
            <a:chExt cx="1126484" cy="229245"/>
          </a:xfrm>
        </p:grpSpPr>
        <p:sp>
          <p:nvSpPr>
            <p:cNvPr id="73" name="모서리가 둥근 직사각형 72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74" name="그림 7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76" name="TextBox 75"/>
          <p:cNvSpPr txBox="1"/>
          <p:nvPr/>
        </p:nvSpPr>
        <p:spPr>
          <a:xfrm>
            <a:off x="7214939" y="3817717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77" name="모서리가 둥근 직사각형 76"/>
          <p:cNvSpPr/>
          <p:nvPr/>
        </p:nvSpPr>
        <p:spPr>
          <a:xfrm>
            <a:off x="5936251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3378000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4658509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4557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표 45"/>
          <p:cNvGraphicFramePr>
            <a:graphicFrameLocks noGrp="1"/>
          </p:cNvGraphicFramePr>
          <p:nvPr>
            <p:extLst/>
          </p:nvPr>
        </p:nvGraphicFramePr>
        <p:xfrm>
          <a:off x="1000573" y="3725345"/>
          <a:ext cx="7671788" cy="2034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3827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995211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</a:tblGrid>
              <a:tr h="381408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총 문서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대내 수신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대외 수신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마케팅팀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</a:tbl>
          </a:graphicData>
        </a:graphic>
      </p:graphicFrame>
      <p:sp>
        <p:nvSpPr>
          <p:cNvPr id="84" name="TextBox 83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통계 정보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결재 통계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결재 통계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문서 수신 건수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결재 통계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051301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문서 생산 건수           문서 발송 건수            문서 수신 건수              개인별 결재 지연시간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핸디소프트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31509"/>
                  </a:ext>
                </a:extLst>
              </a:tr>
            </a:tbl>
          </a:graphicData>
        </a:graphic>
      </p:graphicFrame>
      <p:cxnSp>
        <p:nvCxnSpPr>
          <p:cNvPr id="63" name="직선 연결선 62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4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2464825" y="1482657"/>
            <a:ext cx="1326919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 성과 통계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cxnSp>
        <p:nvCxnSpPr>
          <p:cNvPr id="65" name="직선 연결선 64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6" name="TextBox 65"/>
          <p:cNvSpPr txBox="1"/>
          <p:nvPr/>
        </p:nvSpPr>
        <p:spPr>
          <a:xfrm>
            <a:off x="346159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grpSp>
        <p:nvGrpSpPr>
          <p:cNvPr id="67" name="그룹 66"/>
          <p:cNvGrpSpPr/>
          <p:nvPr/>
        </p:nvGrpSpPr>
        <p:grpSpPr>
          <a:xfrm>
            <a:off x="2553841" y="2598823"/>
            <a:ext cx="2271308" cy="191630"/>
            <a:chOff x="6240016" y="3620013"/>
            <a:chExt cx="2271308" cy="191630"/>
          </a:xfrm>
        </p:grpSpPr>
        <p:grpSp>
          <p:nvGrpSpPr>
            <p:cNvPr id="68" name="그룹 67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70" name="그룹 69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88" name="그림 8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89" name="직사각형 88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2017-06-29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71" name="그룹 70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86" name="그림 85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87" name="직사각형 86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2516855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93" name="모서리가 둥근 직사각형 92"/>
          <p:cNvSpPr/>
          <p:nvPr/>
        </p:nvSpPr>
        <p:spPr>
          <a:xfrm>
            <a:off x="2553841" y="2317916"/>
            <a:ext cx="3686176" cy="18271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94" name="그룹 93"/>
          <p:cNvGrpSpPr/>
          <p:nvPr/>
        </p:nvGrpSpPr>
        <p:grpSpPr>
          <a:xfrm>
            <a:off x="5951985" y="2317916"/>
            <a:ext cx="600118" cy="182715"/>
            <a:chOff x="5936741" y="2511868"/>
            <a:chExt cx="600118" cy="171371"/>
          </a:xfrm>
        </p:grpSpPr>
        <p:sp>
          <p:nvSpPr>
            <p:cNvPr id="95" name="모서리가 둥근 직사각형 94"/>
            <p:cNvSpPr/>
            <p:nvPr/>
          </p:nvSpPr>
          <p:spPr>
            <a:xfrm>
              <a:off x="5936741" y="2511868"/>
              <a:ext cx="600118" cy="17137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pic>
          <p:nvPicPr>
            <p:cNvPr id="96" name="그림 9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6516" y="2522170"/>
              <a:ext cx="147005" cy="147005"/>
            </a:xfrm>
            <a:prstGeom prst="rect">
              <a:avLst/>
            </a:prstGeom>
          </p:spPr>
        </p:pic>
      </p:grpSp>
      <p:sp>
        <p:nvSpPr>
          <p:cNvPr id="97" name="TextBox 96"/>
          <p:cNvSpPr txBox="1"/>
          <p:nvPr/>
        </p:nvSpPr>
        <p:spPr>
          <a:xfrm>
            <a:off x="4861941" y="2632695"/>
            <a:ext cx="1567433" cy="14860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최대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개월 이내 조회 가능</a:t>
            </a:r>
          </a:p>
        </p:txBody>
      </p:sp>
      <p:sp>
        <p:nvSpPr>
          <p:cNvPr id="98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2"/>
            </p:custDataLst>
          </p:nvPr>
        </p:nvSpPr>
        <p:spPr>
          <a:xfrm>
            <a:off x="1150433" y="1482657"/>
            <a:ext cx="1326919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mtClean="0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 통계</a:t>
            </a:r>
            <a:endParaRPr lang="en-US" sz="800" dirty="0">
              <a:solidFill>
                <a:prstClr val="black">
                  <a:lumMod val="95000"/>
                  <a:lumOff val="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43314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0" name="모서리가 둥근 직사각형 99"/>
          <p:cNvSpPr/>
          <p:nvPr/>
        </p:nvSpPr>
        <p:spPr>
          <a:xfrm>
            <a:off x="3865823" y="3068960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471368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cxnSp>
        <p:nvCxnSpPr>
          <p:cNvPr id="102" name="직선 연결선 101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자유형 102"/>
          <p:cNvSpPr/>
          <p:nvPr/>
        </p:nvSpPr>
        <p:spPr>
          <a:xfrm>
            <a:off x="4493915" y="205190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DA1.3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45" name="직사각형 44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4445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표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628364"/>
              </p:ext>
            </p:extLst>
          </p:nvPr>
        </p:nvGraphicFramePr>
        <p:xfrm>
          <a:off x="1000573" y="3725345"/>
          <a:ext cx="7671787" cy="2057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099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1279405915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296617915"/>
                    </a:ext>
                  </a:extLst>
                </a:gridCol>
                <a:gridCol w="414046">
                  <a:extLst>
                    <a:ext uri="{9D8B030D-6E8A-4147-A177-3AD203B41FA5}">
                      <a16:colId xmlns:a16="http://schemas.microsoft.com/office/drawing/2014/main" val="1959225716"/>
                    </a:ext>
                  </a:extLst>
                </a:gridCol>
                <a:gridCol w="414046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414046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414046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414046">
                  <a:extLst>
                    <a:ext uri="{9D8B030D-6E8A-4147-A177-3AD203B41FA5}">
                      <a16:colId xmlns:a16="http://schemas.microsoft.com/office/drawing/2014/main" val="508989000"/>
                    </a:ext>
                  </a:extLst>
                </a:gridCol>
                <a:gridCol w="414046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  <a:gridCol w="414046">
                  <a:extLst>
                    <a:ext uri="{9D8B030D-6E8A-4147-A177-3AD203B41FA5}">
                      <a16:colId xmlns:a16="http://schemas.microsoft.com/office/drawing/2014/main" val="3092841324"/>
                    </a:ext>
                  </a:extLst>
                </a:gridCol>
                <a:gridCol w="414046">
                  <a:extLst>
                    <a:ext uri="{9D8B030D-6E8A-4147-A177-3AD203B41FA5}">
                      <a16:colId xmlns:a16="http://schemas.microsoft.com/office/drawing/2014/main" val="373305520"/>
                    </a:ext>
                  </a:extLst>
                </a:gridCol>
                <a:gridCol w="848168">
                  <a:extLst>
                    <a:ext uri="{9D8B030D-6E8A-4147-A177-3AD203B41FA5}">
                      <a16:colId xmlns:a16="http://schemas.microsoft.com/office/drawing/2014/main" val="3414016585"/>
                    </a:ext>
                  </a:extLst>
                </a:gridCol>
              </a:tblGrid>
              <a:tr h="381408">
                <a:tc gridSpan="1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성명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결재건수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시간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4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시간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8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시간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24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시간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48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시간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72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시간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71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시간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~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평균 처리시간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대리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22d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23h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55m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55m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대리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22d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23h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55m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55m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대리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22d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23h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55m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55m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마케팅팀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대리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22d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23h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55m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55m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통계 정보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결재 통계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결재 통계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개인별 결재 지연 시간</a:t>
            </a:r>
          </a:p>
        </p:txBody>
      </p:sp>
      <p:graphicFrame>
        <p:nvGraphicFramePr>
          <p:cNvPr id="83" name="Group 3"/>
          <p:cNvGraphicFramePr>
            <a:graphicFrameLocks noGrp="1"/>
          </p:cNvGraphicFramePr>
          <p:nvPr>
            <p:extLst/>
          </p:nvPr>
        </p:nvGraphicFramePr>
        <p:xfrm>
          <a:off x="9290533" y="786383"/>
          <a:ext cx="2835141" cy="645500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항목만 개인별 결재 지연 시간 로그와 관련된 정보를 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호출하고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그외 항목들은 동일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결재 통계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63" name="표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336732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문서 생산 건수           문서 발송 건수            문서 수신 건수              개인별 결재 지연시간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핸디소프트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31509"/>
                  </a:ext>
                </a:extLst>
              </a:tr>
            </a:tbl>
          </a:graphicData>
        </a:graphic>
      </p:graphicFrame>
      <p:cxnSp>
        <p:nvCxnSpPr>
          <p:cNvPr id="64" name="직선 연결선 63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2464825" y="1482657"/>
            <a:ext cx="1326919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 성과 통계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cxnSp>
        <p:nvCxnSpPr>
          <p:cNvPr id="66" name="직선 연결선 65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TextBox 66"/>
          <p:cNvSpPr txBox="1"/>
          <p:nvPr/>
        </p:nvSpPr>
        <p:spPr>
          <a:xfrm>
            <a:off x="346159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grpSp>
        <p:nvGrpSpPr>
          <p:cNvPr id="68" name="그룹 67"/>
          <p:cNvGrpSpPr/>
          <p:nvPr/>
        </p:nvGrpSpPr>
        <p:grpSpPr>
          <a:xfrm>
            <a:off x="2553841" y="2598823"/>
            <a:ext cx="2271308" cy="191630"/>
            <a:chOff x="6240016" y="3620013"/>
            <a:chExt cx="2271308" cy="191630"/>
          </a:xfrm>
        </p:grpSpPr>
        <p:grpSp>
          <p:nvGrpSpPr>
            <p:cNvPr id="69" name="그룹 68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71" name="그룹 70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89" name="그림 8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90" name="직사각형 89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2017-06-29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86" name="그룹 85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87" name="그림 86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88" name="직사각형 87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70" name="TextBox 69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92" name="TextBox 91"/>
          <p:cNvSpPr txBox="1"/>
          <p:nvPr/>
        </p:nvSpPr>
        <p:spPr>
          <a:xfrm>
            <a:off x="2516855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94" name="모서리가 둥근 직사각형 93"/>
          <p:cNvSpPr/>
          <p:nvPr/>
        </p:nvSpPr>
        <p:spPr>
          <a:xfrm>
            <a:off x="2553841" y="2317916"/>
            <a:ext cx="3686176" cy="18271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95" name="그룹 94"/>
          <p:cNvGrpSpPr/>
          <p:nvPr/>
        </p:nvGrpSpPr>
        <p:grpSpPr>
          <a:xfrm>
            <a:off x="5951985" y="2317916"/>
            <a:ext cx="600118" cy="182715"/>
            <a:chOff x="5936741" y="2511868"/>
            <a:chExt cx="600118" cy="171371"/>
          </a:xfrm>
        </p:grpSpPr>
        <p:sp>
          <p:nvSpPr>
            <p:cNvPr id="96" name="모서리가 둥근 직사각형 95"/>
            <p:cNvSpPr/>
            <p:nvPr/>
          </p:nvSpPr>
          <p:spPr>
            <a:xfrm>
              <a:off x="5936741" y="2511868"/>
              <a:ext cx="600118" cy="17137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pic>
          <p:nvPicPr>
            <p:cNvPr id="97" name="그림 9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6516" y="2522170"/>
              <a:ext cx="147005" cy="147005"/>
            </a:xfrm>
            <a:prstGeom prst="rect">
              <a:avLst/>
            </a:prstGeom>
          </p:spPr>
        </p:pic>
      </p:grpSp>
      <p:sp>
        <p:nvSpPr>
          <p:cNvPr id="98" name="TextBox 97"/>
          <p:cNvSpPr txBox="1"/>
          <p:nvPr/>
        </p:nvSpPr>
        <p:spPr>
          <a:xfrm>
            <a:off x="4861941" y="2632695"/>
            <a:ext cx="1567433" cy="14860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최대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개월 이내 조회 가능</a:t>
            </a:r>
          </a:p>
        </p:txBody>
      </p:sp>
      <p:sp>
        <p:nvSpPr>
          <p:cNvPr id="99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2"/>
            </p:custDataLst>
          </p:nvPr>
        </p:nvSpPr>
        <p:spPr>
          <a:xfrm>
            <a:off x="1150433" y="1482657"/>
            <a:ext cx="1326919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mtClean="0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 통계</a:t>
            </a:r>
            <a:endParaRPr lang="en-US" sz="800" dirty="0">
              <a:solidFill>
                <a:prstClr val="black">
                  <a:lumMod val="95000"/>
                  <a:lumOff val="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43314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1" name="모서리가 둥근 직사각형 100"/>
          <p:cNvSpPr/>
          <p:nvPr/>
        </p:nvSpPr>
        <p:spPr>
          <a:xfrm>
            <a:off x="3865823" y="3068960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471368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cxnSp>
        <p:nvCxnSpPr>
          <p:cNvPr id="103" name="직선 연결선 102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자유형 103"/>
          <p:cNvSpPr/>
          <p:nvPr/>
        </p:nvSpPr>
        <p:spPr>
          <a:xfrm>
            <a:off x="5536081" y="205190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DA1.4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7397105" y="3798565"/>
            <a:ext cx="1126484" cy="229245"/>
            <a:chOff x="1098673" y="4143102"/>
            <a:chExt cx="1126484" cy="229245"/>
          </a:xfrm>
        </p:grpSpPr>
        <p:sp>
          <p:nvSpPr>
            <p:cNvPr id="56" name="모서리가 둥근 직사각형 55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58" name="직사각형 57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214939" y="3817717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60" name="모서리가 둥근 직사각형 59"/>
          <p:cNvSpPr/>
          <p:nvPr/>
        </p:nvSpPr>
        <p:spPr>
          <a:xfrm>
            <a:off x="5936251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3378000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4658509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053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표 45"/>
          <p:cNvGraphicFramePr>
            <a:graphicFrameLocks noGrp="1"/>
          </p:cNvGraphicFramePr>
          <p:nvPr>
            <p:extLst/>
          </p:nvPr>
        </p:nvGraphicFramePr>
        <p:xfrm>
          <a:off x="1000573" y="3725345"/>
          <a:ext cx="7671793" cy="136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931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913724207"/>
                    </a:ext>
                  </a:extLst>
                </a:gridCol>
                <a:gridCol w="840094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840094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840094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1496244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</a:tblGrid>
              <a:tr h="381408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년도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 건수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총 결재시간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초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평균 결재라인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 라인당 평균  결재시간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초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핸디그룹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핸디소프트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주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</a:tbl>
          </a:graphicData>
        </a:graphic>
      </p:graphicFrame>
      <p:sp>
        <p:nvSpPr>
          <p:cNvPr id="61" name="TextBox 60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통계 정보 </a:t>
            </a: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결재 통계 </a:t>
            </a: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결재 성과 통계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회사별</a:t>
            </a:r>
          </a:p>
        </p:txBody>
      </p:sp>
      <p:graphicFrame>
        <p:nvGraphicFramePr>
          <p:cNvPr id="6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65653"/>
              </p:ext>
            </p:extLst>
          </p:nvPr>
        </p:nvGraphicFramePr>
        <p:xfrm>
          <a:off x="9290533" y="786383"/>
          <a:ext cx="2835141" cy="866993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결재 시간별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&gt;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회사별 을 선택시 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부서 선택 항목은 출력시키지 않음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설정된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기간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’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기준으로 다운로드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687634"/>
                  </a:ext>
                </a:extLst>
              </a:tr>
            </a:tbl>
          </a:graphicData>
        </a:graphic>
      </p:graphicFrame>
      <p:sp>
        <p:nvSpPr>
          <p:cNvPr id="65" name="타원 64"/>
          <p:cNvSpPr/>
          <p:nvPr/>
        </p:nvSpPr>
        <p:spPr>
          <a:xfrm>
            <a:off x="874657" y="4129014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결재 통계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72" name="직선 연결선 71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5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1150433" y="1482657"/>
            <a:ext cx="1326919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>
                <a:solidFill>
                  <a:prstClr val="white">
                    <a:lumMod val="7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 통계</a:t>
            </a:r>
            <a:endParaRPr lang="en-US" sz="800" dirty="0">
              <a:solidFill>
                <a:prstClr val="white">
                  <a:lumMod val="7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aphicFrame>
        <p:nvGraphicFramePr>
          <p:cNvPr id="104" name="표 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490777"/>
              </p:ext>
            </p:extLst>
          </p:nvPr>
        </p:nvGraphicFramePr>
        <p:xfrm>
          <a:off x="1000573" y="1981201"/>
          <a:ext cx="7671785" cy="575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회사별                       부서별                        개인별                          양식별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31509"/>
                  </a:ext>
                </a:extLst>
              </a:tr>
            </a:tbl>
          </a:graphicData>
        </a:graphic>
      </p:graphicFrame>
      <p:sp>
        <p:nvSpPr>
          <p:cNvPr id="105" name="TextBox 104"/>
          <p:cNvSpPr txBox="1"/>
          <p:nvPr/>
        </p:nvSpPr>
        <p:spPr>
          <a:xfrm>
            <a:off x="346159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grpSp>
        <p:nvGrpSpPr>
          <p:cNvPr id="106" name="그룹 105"/>
          <p:cNvGrpSpPr/>
          <p:nvPr/>
        </p:nvGrpSpPr>
        <p:grpSpPr>
          <a:xfrm>
            <a:off x="2553841" y="2320316"/>
            <a:ext cx="2271308" cy="191630"/>
            <a:chOff x="6240016" y="3620013"/>
            <a:chExt cx="2271308" cy="191630"/>
          </a:xfrm>
        </p:grpSpPr>
        <p:grpSp>
          <p:nvGrpSpPr>
            <p:cNvPr id="107" name="그룹 106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109" name="그룹 108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13" name="그림 11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14" name="직사각형 113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2017-06-29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10" name="그룹 109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11" name="그림 110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12" name="직사각형 111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108" name="TextBox 107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grpSp>
        <p:nvGrpSpPr>
          <p:cNvPr id="115" name="그룹 114"/>
          <p:cNvGrpSpPr/>
          <p:nvPr/>
        </p:nvGrpSpPr>
        <p:grpSpPr>
          <a:xfrm>
            <a:off x="2516855" y="2000950"/>
            <a:ext cx="226293" cy="222101"/>
            <a:chOff x="4359942" y="3596387"/>
            <a:chExt cx="226293" cy="222101"/>
          </a:xfrm>
        </p:grpSpPr>
        <p:sp>
          <p:nvSpPr>
            <p:cNvPr id="116" name="TextBox 115"/>
            <p:cNvSpPr txBox="1"/>
            <p:nvPr/>
          </p:nvSpPr>
          <p:spPr>
            <a:xfrm>
              <a:off x="4359942" y="3596387"/>
              <a:ext cx="226293" cy="222101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○</a:t>
              </a:r>
            </a:p>
          </p:txBody>
        </p:sp>
        <p:sp>
          <p:nvSpPr>
            <p:cNvPr id="117" name="자유형 116"/>
            <p:cNvSpPr/>
            <p:nvPr/>
          </p:nvSpPr>
          <p:spPr>
            <a:xfrm>
              <a:off x="4416162" y="3647344"/>
              <a:ext cx="123825" cy="100482"/>
            </a:xfrm>
            <a:custGeom>
              <a:avLst/>
              <a:gdLst>
                <a:gd name="connsiteX0" fmla="*/ 0 w 190500"/>
                <a:gd name="connsiteY0" fmla="*/ 95250 h 209550"/>
                <a:gd name="connsiteX1" fmla="*/ 76200 w 190500"/>
                <a:gd name="connsiteY1" fmla="*/ 209550 h 209550"/>
                <a:gd name="connsiteX2" fmla="*/ 190500 w 190500"/>
                <a:gd name="connsiteY2" fmla="*/ 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0" h="209550">
                  <a:moveTo>
                    <a:pt x="0" y="95250"/>
                  </a:moveTo>
                  <a:lnTo>
                    <a:pt x="76200" y="209550"/>
                  </a:lnTo>
                  <a:lnTo>
                    <a:pt x="190500" y="0"/>
                  </a:lnTo>
                </a:path>
              </a:pathLst>
            </a:cu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</p:grpSp>
      <p:sp>
        <p:nvSpPr>
          <p:cNvPr id="122" name="TextBox 121"/>
          <p:cNvSpPr txBox="1"/>
          <p:nvPr/>
        </p:nvSpPr>
        <p:spPr>
          <a:xfrm>
            <a:off x="4861941" y="2354188"/>
            <a:ext cx="1567433" cy="14860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최대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개월 이내 조회 가능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43314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3865823" y="2708920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5471368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73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2"/>
            </p:custDataLst>
          </p:nvPr>
        </p:nvSpPr>
        <p:spPr>
          <a:xfrm>
            <a:off x="2464825" y="1482657"/>
            <a:ext cx="1326919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 성과 통계</a:t>
            </a:r>
            <a:endParaRPr lang="en-US" sz="800" dirty="0">
              <a:solidFill>
                <a:prstClr val="black">
                  <a:lumMod val="95000"/>
                  <a:lumOff val="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DA2.1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7397105" y="3798565"/>
            <a:ext cx="1126484" cy="229245"/>
            <a:chOff x="1098673" y="4143102"/>
            <a:chExt cx="1126484" cy="229245"/>
          </a:xfrm>
        </p:grpSpPr>
        <p:sp>
          <p:nvSpPr>
            <p:cNvPr id="38" name="모서리가 둥근 직사각형 37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39" name="그림 3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40" name="TextBox 39"/>
          <p:cNvSpPr txBox="1"/>
          <p:nvPr/>
        </p:nvSpPr>
        <p:spPr>
          <a:xfrm>
            <a:off x="7214939" y="3817717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41" name="모서리가 둥근 직사각형 40"/>
          <p:cNvSpPr/>
          <p:nvPr/>
        </p:nvSpPr>
        <p:spPr>
          <a:xfrm>
            <a:off x="5936251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3378000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4658509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551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표 59"/>
          <p:cNvGraphicFramePr>
            <a:graphicFrameLocks noGrp="1"/>
          </p:cNvGraphicFramePr>
          <p:nvPr>
            <p:extLst/>
          </p:nvPr>
        </p:nvGraphicFramePr>
        <p:xfrm>
          <a:off x="1000573" y="3725345"/>
          <a:ext cx="7671793" cy="2034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931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913724207"/>
                    </a:ext>
                  </a:extLst>
                </a:gridCol>
                <a:gridCol w="840094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840094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840094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1496244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</a:tblGrid>
              <a:tr h="381408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년도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 건수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총 결재시간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초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평균 결재라인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 라인당 평균  결재시간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초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마케팅팀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</a:tbl>
          </a:graphicData>
        </a:graphic>
      </p:graphicFrame>
      <p:sp>
        <p:nvSpPr>
          <p:cNvPr id="83" name="직사각형 82"/>
          <p:cNvSpPr/>
          <p:nvPr/>
        </p:nvSpPr>
        <p:spPr>
          <a:xfrm>
            <a:off x="1000125" y="4099738"/>
            <a:ext cx="7669741" cy="16999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918536" y="4025378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85" name="Group 3"/>
          <p:cNvGraphicFramePr>
            <a:graphicFrameLocks noGrp="1"/>
          </p:cNvGraphicFramePr>
          <p:nvPr>
            <p:extLst/>
          </p:nvPr>
        </p:nvGraphicFramePr>
        <p:xfrm>
          <a:off x="9290533" y="786383"/>
          <a:ext cx="2835141" cy="645500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항목만 부서별 로그와 관련된 정보를 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호출하고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그외 항목들은 동일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</a:tbl>
          </a:graphicData>
        </a:graphic>
      </p:graphicFrame>
      <p:sp>
        <p:nvSpPr>
          <p:cNvPr id="86" name="TextBox 85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통계 정보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결재 통계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결재 성과 통계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결재 통계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62" name="직선 연결선 61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1150433" y="1482657"/>
            <a:ext cx="1326919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>
                <a:solidFill>
                  <a:prstClr val="white">
                    <a:lumMod val="7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 통계</a:t>
            </a:r>
            <a:endParaRPr lang="en-US" sz="800" dirty="0">
              <a:solidFill>
                <a:prstClr val="white">
                  <a:lumMod val="7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aphicFrame>
        <p:nvGraphicFramePr>
          <p:cNvPr id="75" name="표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640751"/>
              </p:ext>
            </p:extLst>
          </p:nvPr>
        </p:nvGraphicFramePr>
        <p:xfrm>
          <a:off x="1000573" y="1981201"/>
          <a:ext cx="7671785" cy="575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회사별                       부서별                        개인별                          양식별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31509"/>
                  </a:ext>
                </a:extLst>
              </a:tr>
            </a:tbl>
          </a:graphicData>
        </a:graphic>
      </p:graphicFrame>
      <p:sp>
        <p:nvSpPr>
          <p:cNvPr id="76" name="TextBox 75"/>
          <p:cNvSpPr txBox="1"/>
          <p:nvPr/>
        </p:nvSpPr>
        <p:spPr>
          <a:xfrm>
            <a:off x="346159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grpSp>
        <p:nvGrpSpPr>
          <p:cNvPr id="77" name="그룹 76"/>
          <p:cNvGrpSpPr/>
          <p:nvPr/>
        </p:nvGrpSpPr>
        <p:grpSpPr>
          <a:xfrm>
            <a:off x="2553841" y="2320316"/>
            <a:ext cx="2271308" cy="191630"/>
            <a:chOff x="6240016" y="3620013"/>
            <a:chExt cx="2271308" cy="191630"/>
          </a:xfrm>
        </p:grpSpPr>
        <p:grpSp>
          <p:nvGrpSpPr>
            <p:cNvPr id="78" name="그룹 77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80" name="그룹 79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90" name="그림 89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91" name="직사각형 90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2017-06-29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81" name="그룹 80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88" name="그림 8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89" name="직사각형 88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79" name="TextBox 78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93" name="TextBox 92"/>
          <p:cNvSpPr txBox="1"/>
          <p:nvPr/>
        </p:nvSpPr>
        <p:spPr>
          <a:xfrm>
            <a:off x="2516855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94" name="자유형 93"/>
          <p:cNvSpPr/>
          <p:nvPr/>
        </p:nvSpPr>
        <p:spPr>
          <a:xfrm>
            <a:off x="3523903" y="205190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861941" y="2354188"/>
            <a:ext cx="1567433" cy="14860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최대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개월 이내 조회 가능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3314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97" name="모서리가 둥근 직사각형 96"/>
          <p:cNvSpPr/>
          <p:nvPr/>
        </p:nvSpPr>
        <p:spPr>
          <a:xfrm>
            <a:off x="3865823" y="2708920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471368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99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2"/>
            </p:custDataLst>
          </p:nvPr>
        </p:nvSpPr>
        <p:spPr>
          <a:xfrm>
            <a:off x="2464825" y="1482657"/>
            <a:ext cx="1326919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 성과 통계</a:t>
            </a:r>
            <a:endParaRPr lang="en-US" sz="800" dirty="0">
              <a:solidFill>
                <a:prstClr val="black">
                  <a:lumMod val="95000"/>
                  <a:lumOff val="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DA2.2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41" name="직사각형 40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7397105" y="3798565"/>
            <a:ext cx="1126484" cy="229245"/>
            <a:chOff x="1098673" y="4143102"/>
            <a:chExt cx="1126484" cy="229245"/>
          </a:xfrm>
        </p:grpSpPr>
        <p:sp>
          <p:nvSpPr>
            <p:cNvPr id="43" name="모서리가 둥근 직사각형 42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44" name="그림 4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45" name="TextBox 44"/>
          <p:cNvSpPr txBox="1"/>
          <p:nvPr/>
        </p:nvSpPr>
        <p:spPr>
          <a:xfrm>
            <a:off x="7214939" y="3817717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46" name="모서리가 둥근 직사각형 45"/>
          <p:cNvSpPr/>
          <p:nvPr/>
        </p:nvSpPr>
        <p:spPr>
          <a:xfrm>
            <a:off x="5936251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3378000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4658509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127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표 45"/>
          <p:cNvGraphicFramePr>
            <a:graphicFrameLocks noGrp="1"/>
          </p:cNvGraphicFramePr>
          <p:nvPr>
            <p:extLst/>
          </p:nvPr>
        </p:nvGraphicFramePr>
        <p:xfrm>
          <a:off x="1000573" y="3725345"/>
          <a:ext cx="7671793" cy="2034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931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913724207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3352120059"/>
                    </a:ext>
                  </a:extLst>
                </a:gridCol>
                <a:gridCol w="1656186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1496244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</a:tblGrid>
              <a:tr h="381408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년도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성명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 건수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 라인당 평균  결재시간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초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</a:tbl>
          </a:graphicData>
        </a:graphic>
      </p:graphicFrame>
      <p:sp>
        <p:nvSpPr>
          <p:cNvPr id="62" name="직사각형 61"/>
          <p:cNvSpPr/>
          <p:nvPr/>
        </p:nvSpPr>
        <p:spPr>
          <a:xfrm>
            <a:off x="1000125" y="4099738"/>
            <a:ext cx="7669741" cy="16999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63" name="타원 62"/>
          <p:cNvSpPr/>
          <p:nvPr/>
        </p:nvSpPr>
        <p:spPr>
          <a:xfrm>
            <a:off x="913194" y="4027810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64" name="Group 3"/>
          <p:cNvGraphicFramePr>
            <a:graphicFrameLocks noGrp="1"/>
          </p:cNvGraphicFramePr>
          <p:nvPr>
            <p:extLst/>
          </p:nvPr>
        </p:nvGraphicFramePr>
        <p:xfrm>
          <a:off x="9290533" y="786383"/>
          <a:ext cx="2835141" cy="645500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항목만 개인별 로그와 관련된 정보를 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호출하고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그외 항목들은 동일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통계 정보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결재 통계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결재 성과 통계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개인별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결재 통계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77" name="직선 연결선 7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1150433" y="1482657"/>
            <a:ext cx="1326919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>
                <a:solidFill>
                  <a:prstClr val="white">
                    <a:lumMod val="7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 통계</a:t>
            </a:r>
            <a:endParaRPr lang="en-US" sz="800" dirty="0">
              <a:solidFill>
                <a:prstClr val="white">
                  <a:lumMod val="7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640751"/>
              </p:ext>
            </p:extLst>
          </p:nvPr>
        </p:nvGraphicFramePr>
        <p:xfrm>
          <a:off x="1000573" y="1981201"/>
          <a:ext cx="7671785" cy="575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회사별                       부서별                        개인별                          양식별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31509"/>
                  </a:ext>
                </a:extLst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346159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grpSp>
        <p:nvGrpSpPr>
          <p:cNvPr id="82" name="그룹 81"/>
          <p:cNvGrpSpPr/>
          <p:nvPr/>
        </p:nvGrpSpPr>
        <p:grpSpPr>
          <a:xfrm>
            <a:off x="2553841" y="2320316"/>
            <a:ext cx="2271308" cy="191630"/>
            <a:chOff x="6240016" y="3620013"/>
            <a:chExt cx="2271308" cy="191630"/>
          </a:xfrm>
        </p:grpSpPr>
        <p:grpSp>
          <p:nvGrpSpPr>
            <p:cNvPr id="83" name="그룹 82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85" name="그룹 84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89" name="그림 8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90" name="직사각형 89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2017-06-29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86" name="그룹 85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87" name="그림 86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88" name="직사각형 87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84" name="TextBox 83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92" name="TextBox 91"/>
          <p:cNvSpPr txBox="1"/>
          <p:nvPr/>
        </p:nvSpPr>
        <p:spPr>
          <a:xfrm>
            <a:off x="2516855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61941" y="2354188"/>
            <a:ext cx="1567433" cy="14860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최대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개월 이내 조회 가능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43314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96" name="모서리가 둥근 직사각형 95"/>
          <p:cNvSpPr/>
          <p:nvPr/>
        </p:nvSpPr>
        <p:spPr>
          <a:xfrm>
            <a:off x="3865823" y="2708920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471368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98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2"/>
            </p:custDataLst>
          </p:nvPr>
        </p:nvSpPr>
        <p:spPr>
          <a:xfrm>
            <a:off x="2464825" y="1482657"/>
            <a:ext cx="1326919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 성과 통계</a:t>
            </a:r>
            <a:endParaRPr lang="en-US" sz="800" dirty="0">
              <a:solidFill>
                <a:prstClr val="black">
                  <a:lumMod val="95000"/>
                  <a:lumOff val="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99" name="자유형 98"/>
          <p:cNvSpPr/>
          <p:nvPr/>
        </p:nvSpPr>
        <p:spPr>
          <a:xfrm>
            <a:off x="4493915" y="205190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DA2.3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7397105" y="3798565"/>
            <a:ext cx="1126484" cy="229245"/>
            <a:chOff x="1098673" y="4143102"/>
            <a:chExt cx="1126484" cy="229245"/>
          </a:xfrm>
        </p:grpSpPr>
        <p:sp>
          <p:nvSpPr>
            <p:cNvPr id="41" name="모서리가 둥근 직사각형 40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42" name="그림 4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43" name="TextBox 42"/>
          <p:cNvSpPr txBox="1"/>
          <p:nvPr/>
        </p:nvSpPr>
        <p:spPr>
          <a:xfrm>
            <a:off x="7214939" y="3817717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44" name="모서리가 둥근 직사각형 43"/>
          <p:cNvSpPr/>
          <p:nvPr/>
        </p:nvSpPr>
        <p:spPr>
          <a:xfrm>
            <a:off x="5936251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3378000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4658509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7" name="직사각형 56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7461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145783"/>
              </p:ext>
            </p:extLst>
          </p:nvPr>
        </p:nvGraphicFramePr>
        <p:xfrm>
          <a:off x="1000573" y="3725345"/>
          <a:ext cx="7671793" cy="2034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931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913724207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97992288"/>
                    </a:ext>
                  </a:extLst>
                </a:gridCol>
                <a:gridCol w="840094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840094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840094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1496244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</a:tblGrid>
              <a:tr h="381408"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년도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서식명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회사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 건수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총 결재시간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초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평균 결재라인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 라인당 평균  결재시간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초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휴가신청서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핸디 그룹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휴가신청서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핸디소프트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휴가신청서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핸디소프트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휴가신청서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핸디소프트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</a:tbl>
          </a:graphicData>
        </a:graphic>
      </p:graphicFrame>
      <p:graphicFrame>
        <p:nvGraphicFramePr>
          <p:cNvPr id="64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263331"/>
              </p:ext>
            </p:extLst>
          </p:nvPr>
        </p:nvGraphicFramePr>
        <p:xfrm>
          <a:off x="9290533" y="786383"/>
          <a:ext cx="2835141" cy="645500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항목만 서식별 로그와 관련된 정보를 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호출하고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그외 항목들은 동일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</a:tbl>
          </a:graphicData>
        </a:graphic>
      </p:graphicFrame>
      <p:sp>
        <p:nvSpPr>
          <p:cNvPr id="72" name="TextBox 71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통계 정보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결재 통계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결재 성과 통계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서식별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결재 통계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79" name="직선 연결선 78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1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1150433" y="1482657"/>
            <a:ext cx="1326919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>
                <a:solidFill>
                  <a:prstClr val="white">
                    <a:lumMod val="7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 통계</a:t>
            </a:r>
            <a:endParaRPr lang="en-US" sz="800" dirty="0">
              <a:solidFill>
                <a:prstClr val="white">
                  <a:lumMod val="7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aphicFrame>
        <p:nvGraphicFramePr>
          <p:cNvPr id="82" name="표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640751"/>
              </p:ext>
            </p:extLst>
          </p:nvPr>
        </p:nvGraphicFramePr>
        <p:xfrm>
          <a:off x="1000573" y="1981201"/>
          <a:ext cx="7671785" cy="575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회사별                       부서별                        개인별                          양식별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31509"/>
                  </a:ext>
                </a:extLst>
              </a:tr>
            </a:tbl>
          </a:graphicData>
        </a:graphic>
      </p:graphicFrame>
      <p:sp>
        <p:nvSpPr>
          <p:cNvPr id="83" name="TextBox 82"/>
          <p:cNvSpPr txBox="1"/>
          <p:nvPr/>
        </p:nvSpPr>
        <p:spPr>
          <a:xfrm>
            <a:off x="346159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grpSp>
        <p:nvGrpSpPr>
          <p:cNvPr id="84" name="그룹 83"/>
          <p:cNvGrpSpPr/>
          <p:nvPr/>
        </p:nvGrpSpPr>
        <p:grpSpPr>
          <a:xfrm>
            <a:off x="2553841" y="2320316"/>
            <a:ext cx="2271308" cy="191630"/>
            <a:chOff x="6240016" y="3620013"/>
            <a:chExt cx="2271308" cy="191630"/>
          </a:xfrm>
        </p:grpSpPr>
        <p:grpSp>
          <p:nvGrpSpPr>
            <p:cNvPr id="85" name="그룹 84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87" name="그룹 86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91" name="그림 90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92" name="직사각형 91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2017-06-29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88" name="그룹 87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89" name="그림 8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90" name="직사각형 89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86" name="TextBox 85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94" name="TextBox 93"/>
          <p:cNvSpPr txBox="1"/>
          <p:nvPr/>
        </p:nvSpPr>
        <p:spPr>
          <a:xfrm>
            <a:off x="2516855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61941" y="2354188"/>
            <a:ext cx="1567433" cy="14860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최대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개월 이내 조회 가능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3314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98" name="모서리가 둥근 직사각형 97"/>
          <p:cNvSpPr/>
          <p:nvPr/>
        </p:nvSpPr>
        <p:spPr>
          <a:xfrm>
            <a:off x="3865823" y="2708920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471368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0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2"/>
            </p:custDataLst>
          </p:nvPr>
        </p:nvSpPr>
        <p:spPr>
          <a:xfrm>
            <a:off x="2464825" y="1482657"/>
            <a:ext cx="1326919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 성과 통계</a:t>
            </a:r>
            <a:endParaRPr lang="en-US" sz="800" dirty="0">
              <a:solidFill>
                <a:prstClr val="black">
                  <a:lumMod val="95000"/>
                  <a:lumOff val="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01" name="자유형 100"/>
          <p:cNvSpPr/>
          <p:nvPr/>
        </p:nvSpPr>
        <p:spPr>
          <a:xfrm>
            <a:off x="5536081" y="205190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DA2.4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41" name="그룹 40"/>
          <p:cNvGrpSpPr/>
          <p:nvPr/>
        </p:nvGrpSpPr>
        <p:grpSpPr>
          <a:xfrm>
            <a:off x="7397105" y="3798565"/>
            <a:ext cx="1126484" cy="229245"/>
            <a:chOff x="1098673" y="4143102"/>
            <a:chExt cx="1126484" cy="229245"/>
          </a:xfrm>
        </p:grpSpPr>
        <p:sp>
          <p:nvSpPr>
            <p:cNvPr id="42" name="모서리가 둥근 직사각형 41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43" name="그림 4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44" name="TextBox 43"/>
          <p:cNvSpPr txBox="1"/>
          <p:nvPr/>
        </p:nvSpPr>
        <p:spPr>
          <a:xfrm>
            <a:off x="7214939" y="3817717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45" name="모서리가 둥근 직사각형 44"/>
          <p:cNvSpPr/>
          <p:nvPr/>
        </p:nvSpPr>
        <p:spPr>
          <a:xfrm>
            <a:off x="5936251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3378000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4658509" y="3802823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7" name="직사각형 56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618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5400" y="1340768"/>
            <a:ext cx="3283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mtClean="0">
                <a:solidFill>
                  <a:prstClr val="white">
                    <a:lumMod val="7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통계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정보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웹메일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308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78224"/>
              </p:ext>
            </p:extLst>
          </p:nvPr>
        </p:nvGraphicFramePr>
        <p:xfrm>
          <a:off x="990126" y="1050330"/>
          <a:ext cx="5249892" cy="3153672"/>
        </p:xfrm>
        <a:graphic>
          <a:graphicData uri="http://schemas.openxmlformats.org/drawingml/2006/table">
            <a:tbl>
              <a:tblPr/>
              <a:tblGrid>
                <a:gridCol w="1312473">
                  <a:extLst>
                    <a:ext uri="{9D8B030D-6E8A-4147-A177-3AD203B41FA5}">
                      <a16:colId xmlns:a16="http://schemas.microsoft.com/office/drawing/2014/main" val="2905596105"/>
                    </a:ext>
                  </a:extLst>
                </a:gridCol>
                <a:gridCol w="1312473">
                  <a:extLst>
                    <a:ext uri="{9D8B030D-6E8A-4147-A177-3AD203B41FA5}">
                      <a16:colId xmlns:a16="http://schemas.microsoft.com/office/drawing/2014/main" val="832508854"/>
                    </a:ext>
                  </a:extLst>
                </a:gridCol>
                <a:gridCol w="1312473">
                  <a:extLst>
                    <a:ext uri="{9D8B030D-6E8A-4147-A177-3AD203B41FA5}">
                      <a16:colId xmlns:a16="http://schemas.microsoft.com/office/drawing/2014/main" val="3041841285"/>
                    </a:ext>
                  </a:extLst>
                </a:gridCol>
                <a:gridCol w="1312473">
                  <a:extLst>
                    <a:ext uri="{9D8B030D-6E8A-4147-A177-3AD203B41FA5}">
                      <a16:colId xmlns:a16="http://schemas.microsoft.com/office/drawing/2014/main" val="1359020298"/>
                    </a:ext>
                  </a:extLst>
                </a:gridCol>
              </a:tblGrid>
              <a:tr h="26280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통계 정보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D0D0D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D0D0D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0492198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smtClean="0"/>
                        <a:t>통계</a:t>
                      </a:r>
                      <a:endParaRPr lang="ko-KR" altLang="en-US" sz="900"/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2721406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　</a:t>
                      </a: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900"/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900" b="0" i="0" u="none" strike="noStrike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 통계</a:t>
                      </a:r>
                      <a:endParaRPr lang="ko-KR" altLang="en-US" sz="900" b="0" i="0" u="none" strike="noStrik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2231621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　</a:t>
                      </a: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900"/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900" b="0" i="0" u="none" strike="noStrike" kern="1200" smtClean="0">
                          <a:solidFill>
                            <a:srgbClr val="FFFF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웹메일 통계</a:t>
                      </a:r>
                      <a:endParaRPr lang="ko-KR" altLang="en-US" sz="900" b="0" i="0" u="none" strike="noStrike" kern="1200">
                        <a:solidFill>
                          <a:srgbClr val="FFFF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388384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웹폴더 통계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3726967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액션로그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0814916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40404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로그인</a:t>
                      </a:r>
                      <a:endParaRPr lang="en-US" altLang="ko-KR" sz="900" b="0" i="0" u="none" strike="noStrike" smtClean="0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3803983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40404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</a:t>
                      </a:r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7209817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40404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결재</a:t>
                      </a:r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8120801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40404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권한</a:t>
                      </a:r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7850870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40404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업무넷</a:t>
                      </a:r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6421378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40404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스퀘어</a:t>
                      </a:r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4328276"/>
                  </a:ext>
                </a:extLst>
              </a:tr>
            </a:tbl>
          </a:graphicData>
        </a:graphic>
      </p:graphicFrame>
      <p:sp>
        <p:nvSpPr>
          <p:cNvPr id="4" name="텍스트 개체 틀 3"/>
          <p:cNvSpPr txBox="1">
            <a:spLocks/>
          </p:cNvSpPr>
          <p:nvPr/>
        </p:nvSpPr>
        <p:spPr>
          <a:xfrm>
            <a:off x="1008246" y="383810"/>
            <a:ext cx="8568952" cy="3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spc="-100" baseline="0">
                <a:solidFill>
                  <a:srgbClr val="0B55B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Location</a:t>
            </a:r>
            <a:endParaRPr kumimoji="0" lang="ko-KR" altLang="en-US" sz="1600" b="0" i="0" u="none" strike="noStrike" kern="1200" cap="none" spc="-10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648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웹메일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83065"/>
              </p:ext>
            </p:extLst>
          </p:nvPr>
        </p:nvGraphicFramePr>
        <p:xfrm>
          <a:off x="850416" y="1981201"/>
          <a:ext cx="7981887" cy="575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457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426430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일별 발송 현황          월별 발송 현황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31509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42349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○</a:t>
            </a:r>
          </a:p>
        </p:txBody>
      </p:sp>
      <p:grpSp>
        <p:nvGrpSpPr>
          <p:cNvPr id="31" name="그룹 30"/>
          <p:cNvGrpSpPr/>
          <p:nvPr/>
        </p:nvGrpSpPr>
        <p:grpSpPr>
          <a:xfrm>
            <a:off x="2516855" y="2000950"/>
            <a:ext cx="226293" cy="222101"/>
            <a:chOff x="4359942" y="3596387"/>
            <a:chExt cx="226293" cy="222101"/>
          </a:xfrm>
        </p:grpSpPr>
        <p:sp>
          <p:nvSpPr>
            <p:cNvPr id="32" name="TextBox 31"/>
            <p:cNvSpPr txBox="1"/>
            <p:nvPr/>
          </p:nvSpPr>
          <p:spPr>
            <a:xfrm>
              <a:off x="4359942" y="3596387"/>
              <a:ext cx="226293" cy="222101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ko-KR" altLang="en-US" sz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○</a:t>
              </a: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4416162" y="3647344"/>
              <a:ext cx="123825" cy="100482"/>
            </a:xfrm>
            <a:custGeom>
              <a:avLst/>
              <a:gdLst>
                <a:gd name="connsiteX0" fmla="*/ 0 w 190500"/>
                <a:gd name="connsiteY0" fmla="*/ 95250 h 209550"/>
                <a:gd name="connsiteX1" fmla="*/ 76200 w 190500"/>
                <a:gd name="connsiteY1" fmla="*/ 209550 h 209550"/>
                <a:gd name="connsiteX2" fmla="*/ 190500 w 190500"/>
                <a:gd name="connsiteY2" fmla="*/ 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0" h="209550">
                  <a:moveTo>
                    <a:pt x="0" y="95250"/>
                  </a:moveTo>
                  <a:lnTo>
                    <a:pt x="76200" y="209550"/>
                  </a:lnTo>
                  <a:lnTo>
                    <a:pt x="190500" y="0"/>
                  </a:lnTo>
                </a:path>
              </a:pathLst>
            </a:cu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7389213" y="3280140"/>
            <a:ext cx="1126484" cy="229245"/>
            <a:chOff x="1098673" y="3495030"/>
            <a:chExt cx="1126484" cy="229245"/>
          </a:xfrm>
        </p:grpSpPr>
        <p:sp>
          <p:nvSpPr>
            <p:cNvPr id="56" name="모서리가 둥근 직사각형 55"/>
            <p:cNvSpPr/>
            <p:nvPr/>
          </p:nvSpPr>
          <p:spPr>
            <a:xfrm>
              <a:off x="1098673" y="3495030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ko-KR" sz="9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rebuchet MS" panose="020B0603020202020204" pitchFamily="34" charset="0"/>
                  <a:ea typeface="나눔고딕" pitchFamily="50" charset="-127"/>
                </a:rPr>
                <a:t> DOWNLOAD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174" y="3529537"/>
              <a:ext cx="137302" cy="156072"/>
            </a:xfrm>
            <a:prstGeom prst="rect">
              <a:avLst/>
            </a:prstGeom>
          </p:spPr>
        </p:pic>
      </p:grpSp>
      <p:grpSp>
        <p:nvGrpSpPr>
          <p:cNvPr id="66" name="그룹 65"/>
          <p:cNvGrpSpPr/>
          <p:nvPr/>
        </p:nvGrpSpPr>
        <p:grpSpPr>
          <a:xfrm>
            <a:off x="2553841" y="2301255"/>
            <a:ext cx="2271308" cy="191630"/>
            <a:chOff x="6240016" y="3620013"/>
            <a:chExt cx="2271308" cy="191630"/>
          </a:xfrm>
        </p:grpSpPr>
        <p:grpSp>
          <p:nvGrpSpPr>
            <p:cNvPr id="67" name="그룹 66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69" name="그룹 68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73" name="그림 72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74" name="직사각형 73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altLang="ko-KR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고딕" pitchFamily="50" charset="-127"/>
                      <a:ea typeface="나눔고딕" pitchFamily="50" charset="-127"/>
                    </a:rPr>
                    <a:t>2017-07-30</a:t>
                  </a:r>
                  <a:endPara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itchFamily="50" charset="-127"/>
                    <a:ea typeface="나눔고딕" pitchFamily="50" charset="-127"/>
                  </a:endParaRPr>
                </a:p>
              </p:txBody>
            </p:sp>
          </p:grpSp>
          <p:grpSp>
            <p:nvGrpSpPr>
              <p:cNvPr id="70" name="그룹 69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71" name="그림 70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72" name="직사각형 71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altLang="ko-KR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고딕" pitchFamily="50" charset="-127"/>
                      <a:ea typeface="나눔고딕" pitchFamily="50" charset="-127"/>
                    </a:rPr>
                    <a:t>2017-08-05</a:t>
                  </a:r>
                  <a:endPara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itchFamily="50" charset="-127"/>
                    <a:ea typeface="나눔고딕" pitchFamily="50" charset="-127"/>
                  </a:endParaRPr>
                </a:p>
              </p:txBody>
            </p:sp>
          </p:grpSp>
        </p:grpSp>
        <p:sp>
          <p:nvSpPr>
            <p:cNvPr id="68" name="TextBox 67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~</a:t>
              </a:r>
              <a:endPara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4861941" y="2339355"/>
            <a:ext cx="1567433" cy="14860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주단위로만 조회 가능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 발송 현황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3865823" y="2708920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150433" y="3579038"/>
            <a:ext cx="7393839" cy="284458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2279576" y="5994447"/>
            <a:ext cx="341575" cy="21968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084470" y="4950963"/>
            <a:ext cx="341575" cy="12631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889364" y="3962399"/>
            <a:ext cx="341575" cy="225172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694258" y="3962399"/>
            <a:ext cx="341575" cy="225172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499152" y="3962399"/>
            <a:ext cx="341575" cy="225172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6304046" y="5390325"/>
            <a:ext cx="341575" cy="82380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129730" y="6260926"/>
            <a:ext cx="642045" cy="14897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2017-07-30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934234" y="6260926"/>
            <a:ext cx="642045" cy="14897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2017-07-31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740577" y="6260926"/>
            <a:ext cx="642045" cy="14897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2017-08-01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545081" y="6260926"/>
            <a:ext cx="642045" cy="14897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2017-08-02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49585" y="6260926"/>
            <a:ext cx="642045" cy="14897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2017-08-03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153810" y="6260926"/>
            <a:ext cx="642045" cy="14897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2017-08-04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958035" y="6260926"/>
            <a:ext cx="642045" cy="14897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2017-08-05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925763" y="3739504"/>
            <a:ext cx="208088" cy="23165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50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735388" y="3739504"/>
            <a:ext cx="208088" cy="23165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50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545013" y="3739504"/>
            <a:ext cx="208088" cy="23165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50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144713" y="4738091"/>
            <a:ext cx="208088" cy="23165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28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325563" y="5780111"/>
            <a:ext cx="208088" cy="23165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5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173788" y="5981277"/>
            <a:ext cx="208088" cy="23165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364163" y="5172049"/>
            <a:ext cx="208088" cy="23165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20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091283" y="3347467"/>
            <a:ext cx="1231726" cy="13372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900" smtClean="0">
                <a:solidFill>
                  <a:srgbClr val="0070C0"/>
                </a:solidFill>
                <a:latin typeface="나눔고딕" panose="020B0600000101010101" charset="-127"/>
                <a:ea typeface="나눔고딕" panose="020B0600000101010101" charset="-127"/>
              </a:rPr>
              <a:t>2017-07-30 </a:t>
            </a:r>
            <a:r>
              <a:rPr lang="en-US" altLang="ko-KR" sz="900">
                <a:solidFill>
                  <a:srgbClr val="0070C0"/>
                </a:solidFill>
                <a:latin typeface="나눔고딕" panose="020B0600000101010101" charset="-127"/>
                <a:ea typeface="나눔고딕" panose="020B0600000101010101" charset="-127"/>
              </a:rPr>
              <a:t>~ </a:t>
            </a:r>
            <a:r>
              <a:rPr lang="en-US" altLang="ko-KR" sz="900" smtClean="0">
                <a:solidFill>
                  <a:srgbClr val="0070C0"/>
                </a:solidFill>
                <a:latin typeface="나눔고딕" panose="020B0600000101010101" charset="-127"/>
                <a:ea typeface="나눔고딕" panose="020B0600000101010101" charset="-127"/>
              </a:rPr>
              <a:t>2017-08-05 </a:t>
            </a:r>
            <a:r>
              <a:rPr lang="ko-KR" altLang="en-US" sz="9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일별 </a:t>
            </a:r>
            <a:r>
              <a:rPr lang="ko-KR" altLang="en-US" sz="900" b="1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발송 현황</a:t>
            </a:r>
            <a:endParaRPr lang="ko-KR" altLang="en-US" sz="900" b="1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cxnSp>
        <p:nvCxnSpPr>
          <p:cNvPr id="87" name="직선 연결선 86"/>
          <p:cNvCxnSpPr/>
          <p:nvPr/>
        </p:nvCxnSpPr>
        <p:spPr>
          <a:xfrm>
            <a:off x="1703512" y="6212929"/>
            <a:ext cx="6408712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사각형 설명선 89"/>
          <p:cNvSpPr/>
          <p:nvPr/>
        </p:nvSpPr>
        <p:spPr>
          <a:xfrm>
            <a:off x="5879578" y="4094981"/>
            <a:ext cx="1454671" cy="477020"/>
          </a:xfrm>
          <a:prstGeom prst="wedgeRectCallout">
            <a:avLst>
              <a:gd name="adj1" fmla="val -60712"/>
              <a:gd name="adj2" fmla="val 33486"/>
            </a:avLst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91" name="표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112769"/>
              </p:ext>
            </p:extLst>
          </p:nvPr>
        </p:nvGraphicFramePr>
        <p:xfrm>
          <a:off x="5889520" y="4117441"/>
          <a:ext cx="144360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544">
                  <a:extLst>
                    <a:ext uri="{9D8B030D-6E8A-4147-A177-3AD203B41FA5}">
                      <a16:colId xmlns:a16="http://schemas.microsoft.com/office/drawing/2014/main" val="335030843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713755803"/>
                    </a:ext>
                  </a:extLst>
                </a:gridCol>
              </a:tblGrid>
              <a:tr h="20161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최다 메일 발송 시간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346830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15:00 ~ 15:59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건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807711"/>
                  </a:ext>
                </a:extLst>
              </a:tr>
            </a:tbl>
          </a:graphicData>
        </a:graphic>
      </p:graphicFrame>
      <p:graphicFrame>
        <p:nvGraphicFramePr>
          <p:cNvPr id="92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250734"/>
              </p:ext>
            </p:extLst>
          </p:nvPr>
        </p:nvGraphicFramePr>
        <p:xfrm>
          <a:off x="9290533" y="786383"/>
          <a:ext cx="2835141" cy="1608170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주단위로 설정 가능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기본 세팅은 오늘 날자 기준으로 일주일 이전 날짜로 세팅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(1)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에서 세팅된 기간을 출력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86313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(1)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에서 세팅된 기간내 메일 발송 건수를 그래프화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68763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4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날짜의 그래프를 클릭할 경우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날짜의 최다 메일 발송 시간 및 건수 정보가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313659"/>
                  </a:ext>
                </a:extLst>
              </a:tr>
            </a:tbl>
          </a:graphicData>
        </a:graphic>
      </p:graphicFrame>
      <p:sp>
        <p:nvSpPr>
          <p:cNvPr id="93" name="TextBox 92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DA3.2.1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통계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웹메일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기간별 발송 현황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95" name="타원 94"/>
          <p:cNvSpPr/>
          <p:nvPr/>
        </p:nvSpPr>
        <p:spPr>
          <a:xfrm>
            <a:off x="2409452" y="2217591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7" name="모서리가 둥근 직사각형 96"/>
          <p:cNvSpPr/>
          <p:nvPr/>
        </p:nvSpPr>
        <p:spPr>
          <a:xfrm>
            <a:off x="1114426" y="3286126"/>
            <a:ext cx="1504950" cy="24765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6" name="타원 95"/>
          <p:cNvSpPr/>
          <p:nvPr/>
        </p:nvSpPr>
        <p:spPr>
          <a:xfrm>
            <a:off x="1037852" y="3198666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2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9" name="모서리가 둥근 직사각형 98"/>
          <p:cNvSpPr/>
          <p:nvPr/>
        </p:nvSpPr>
        <p:spPr>
          <a:xfrm>
            <a:off x="1944159" y="3691467"/>
            <a:ext cx="5895973" cy="2712509"/>
          </a:xfrm>
          <a:prstGeom prst="roundRect">
            <a:avLst>
              <a:gd name="adj" fmla="val 1997"/>
            </a:avLst>
          </a:prstGeom>
          <a:noFill/>
          <a:ln>
            <a:solidFill>
              <a:srgbClr val="FF0000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8" name="타원 97"/>
          <p:cNvSpPr/>
          <p:nvPr/>
        </p:nvSpPr>
        <p:spPr>
          <a:xfrm>
            <a:off x="1867585" y="3630467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3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2" name="타원 101"/>
          <p:cNvSpPr/>
          <p:nvPr/>
        </p:nvSpPr>
        <p:spPr>
          <a:xfrm>
            <a:off x="7243919" y="4019933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4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1137906" y="1482657"/>
            <a:ext cx="2653838" cy="294480"/>
            <a:chOff x="2464825" y="1482657"/>
            <a:chExt cx="2653838" cy="294480"/>
          </a:xfrm>
        </p:grpSpPr>
        <p:sp>
          <p:nvSpPr>
            <p:cNvPr id="8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1"/>
              </p:custDataLst>
            </p:nvPr>
          </p:nvSpPr>
          <p:spPr>
            <a:xfrm>
              <a:off x="3791744" y="1482657"/>
              <a:ext cx="1326919" cy="294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>
                  <a:solidFill>
                    <a:prstClr val="white">
                      <a:lumMod val="7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부서 및 사용자별 현황</a:t>
              </a:r>
              <a:endParaRPr lang="en-US" sz="800" dirty="0">
                <a:solidFill>
                  <a:prstClr val="white">
                    <a:lumMod val="7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  <p:sp>
          <p:nvSpPr>
            <p:cNvPr id="6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2464825" y="1482657"/>
              <a:ext cx="1326919" cy="2944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 smtClean="0">
                  <a:solidFill>
                    <a:prstClr val="black">
                      <a:lumMod val="95000"/>
                      <a:lumOff val="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기간별 발송 </a:t>
              </a:r>
              <a:r>
                <a:rPr lang="ko-KR" altLang="en-US" sz="800">
                  <a:solidFill>
                    <a:prstClr val="black">
                      <a:lumMod val="95000"/>
                      <a:lumOff val="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현황</a:t>
              </a:r>
              <a:endParaRPr lang="en-US" sz="8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7050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웹메일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498061"/>
              </p:ext>
            </p:extLst>
          </p:nvPr>
        </p:nvGraphicFramePr>
        <p:xfrm>
          <a:off x="850416" y="1981201"/>
          <a:ext cx="7981887" cy="575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457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426430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일별 발송 현황          월별 발송 현황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31509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42349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○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2516855" y="2000950"/>
            <a:ext cx="1092773" cy="222101"/>
            <a:chOff x="4359942" y="3596387"/>
            <a:chExt cx="1092773" cy="222101"/>
          </a:xfrm>
        </p:grpSpPr>
        <p:sp>
          <p:nvSpPr>
            <p:cNvPr id="12" name="TextBox 11"/>
            <p:cNvSpPr txBox="1"/>
            <p:nvPr/>
          </p:nvSpPr>
          <p:spPr>
            <a:xfrm>
              <a:off x="4359942" y="3596387"/>
              <a:ext cx="226293" cy="222101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ko-KR" altLang="en-US" sz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○</a:t>
              </a:r>
            </a:p>
          </p:txBody>
        </p:sp>
        <p:sp>
          <p:nvSpPr>
            <p:cNvPr id="13" name="자유형 12"/>
            <p:cNvSpPr/>
            <p:nvPr/>
          </p:nvSpPr>
          <p:spPr>
            <a:xfrm>
              <a:off x="5328890" y="3647344"/>
              <a:ext cx="123825" cy="100482"/>
            </a:xfrm>
            <a:custGeom>
              <a:avLst/>
              <a:gdLst>
                <a:gd name="connsiteX0" fmla="*/ 0 w 190500"/>
                <a:gd name="connsiteY0" fmla="*/ 95250 h 209550"/>
                <a:gd name="connsiteX1" fmla="*/ 76200 w 190500"/>
                <a:gd name="connsiteY1" fmla="*/ 209550 h 209550"/>
                <a:gd name="connsiteX2" fmla="*/ 190500 w 190500"/>
                <a:gd name="connsiteY2" fmla="*/ 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0" h="209550">
                  <a:moveTo>
                    <a:pt x="0" y="95250"/>
                  </a:moveTo>
                  <a:lnTo>
                    <a:pt x="76200" y="209550"/>
                  </a:lnTo>
                  <a:lnTo>
                    <a:pt x="190500" y="0"/>
                  </a:lnTo>
                </a:path>
              </a:pathLst>
            </a:cu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" name="모서리가 둥근 직사각형 23"/>
          <p:cNvSpPr/>
          <p:nvPr/>
        </p:nvSpPr>
        <p:spPr>
          <a:xfrm>
            <a:off x="3865823" y="2708920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69" name="그룹 68"/>
          <p:cNvGrpSpPr/>
          <p:nvPr/>
        </p:nvGrpSpPr>
        <p:grpSpPr>
          <a:xfrm>
            <a:off x="7389213" y="3280140"/>
            <a:ext cx="1126484" cy="229245"/>
            <a:chOff x="1098673" y="3495030"/>
            <a:chExt cx="1126484" cy="229245"/>
          </a:xfrm>
        </p:grpSpPr>
        <p:sp>
          <p:nvSpPr>
            <p:cNvPr id="70" name="모서리가 둥근 직사각형 69"/>
            <p:cNvSpPr/>
            <p:nvPr/>
          </p:nvSpPr>
          <p:spPr>
            <a:xfrm>
              <a:off x="1098673" y="3495030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ko-KR" sz="9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rebuchet MS" panose="020B0603020202020204" pitchFamily="34" charset="0"/>
                  <a:ea typeface="나눔고딕" pitchFamily="50" charset="-127"/>
                </a:rPr>
                <a:t> DOWNLOAD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71" name="그림 7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174" y="3529537"/>
              <a:ext cx="137302" cy="156072"/>
            </a:xfrm>
            <a:prstGeom prst="rect">
              <a:avLst/>
            </a:prstGeom>
          </p:spPr>
        </p:pic>
      </p:grpSp>
      <p:sp>
        <p:nvSpPr>
          <p:cNvPr id="73" name="직사각형 72"/>
          <p:cNvSpPr/>
          <p:nvPr/>
        </p:nvSpPr>
        <p:spPr>
          <a:xfrm>
            <a:off x="1150433" y="3579038"/>
            <a:ext cx="7393839" cy="284458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1420813" y="5994447"/>
            <a:ext cx="182605" cy="21968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2025680" y="4950963"/>
            <a:ext cx="182605" cy="12631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2630547" y="3962399"/>
            <a:ext cx="182605" cy="225172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3235414" y="3962399"/>
            <a:ext cx="182605" cy="225172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3840281" y="3962399"/>
            <a:ext cx="182605" cy="225172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4445149" y="5390325"/>
            <a:ext cx="182605" cy="82380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91283" y="3347467"/>
            <a:ext cx="1231726" cy="13372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900" smtClean="0">
                <a:solidFill>
                  <a:srgbClr val="0070C0"/>
                </a:solidFill>
                <a:latin typeface="나눔고딕" panose="020B0600000101010101" charset="-127"/>
                <a:ea typeface="나눔고딕" panose="020B0600000101010101" charset="-127"/>
              </a:rPr>
              <a:t>2016-08 </a:t>
            </a:r>
            <a:r>
              <a:rPr lang="en-US" altLang="ko-KR" sz="900">
                <a:solidFill>
                  <a:srgbClr val="0070C0"/>
                </a:solidFill>
                <a:latin typeface="나눔고딕" panose="020B0600000101010101" charset="-127"/>
                <a:ea typeface="나눔고딕" panose="020B0600000101010101" charset="-127"/>
              </a:rPr>
              <a:t>~ </a:t>
            </a:r>
            <a:r>
              <a:rPr lang="en-US" altLang="ko-KR" sz="900" smtClean="0">
                <a:solidFill>
                  <a:srgbClr val="0070C0"/>
                </a:solidFill>
                <a:latin typeface="나눔고딕" panose="020B0600000101010101" charset="-127"/>
                <a:ea typeface="나눔고딕" panose="020B0600000101010101" charset="-127"/>
              </a:rPr>
              <a:t>2017-07 </a:t>
            </a:r>
            <a:r>
              <a:rPr lang="ko-KR" altLang="en-US" sz="9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월별 </a:t>
            </a:r>
            <a:r>
              <a:rPr lang="ko-KR" altLang="en-US" sz="900" b="1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발송 현황</a:t>
            </a:r>
            <a:endParaRPr lang="ko-KR" altLang="en-US" sz="900" b="1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5021839" y="4495056"/>
            <a:ext cx="182605" cy="171907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5626706" y="4950963"/>
            <a:ext cx="182605" cy="12631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6231573" y="3962399"/>
            <a:ext cx="182605" cy="225172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6836440" y="4495056"/>
            <a:ext cx="182605" cy="171907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7441307" y="4495056"/>
            <a:ext cx="182605" cy="171907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8046175" y="5390325"/>
            <a:ext cx="182605" cy="82380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272108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2016-08</a:t>
            </a:r>
            <a:endParaRPr lang="ko-KR" altLang="en-US" sz="7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900758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2016-09</a:t>
            </a:r>
            <a:endParaRPr lang="ko-KR" altLang="en-US" sz="7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2491128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2016-15</a:t>
            </a:r>
            <a:endParaRPr lang="ko-KR" altLang="en-US" sz="7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3119778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2016-11</a:t>
            </a:r>
            <a:endParaRPr lang="ko-KR" altLang="en-US" sz="7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3700862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2016-12</a:t>
            </a:r>
            <a:endParaRPr lang="ko-KR" altLang="en-US" sz="7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4305730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2017-01</a:t>
            </a:r>
            <a:endParaRPr lang="ko-KR" altLang="en-US" sz="7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886814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2017-02</a:t>
            </a:r>
            <a:endParaRPr lang="ko-KR" altLang="en-US" sz="7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5487287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2017-03</a:t>
            </a:r>
            <a:endParaRPr lang="ko-KR" altLang="en-US" sz="7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096548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2017-04</a:t>
            </a:r>
            <a:endParaRPr lang="ko-KR" altLang="en-US" sz="7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697021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2017-05</a:t>
            </a:r>
            <a:endParaRPr lang="ko-KR" altLang="en-US" sz="7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7306282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2017-06</a:t>
            </a:r>
            <a:endParaRPr lang="ko-KR" altLang="en-US" sz="7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925277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2017-07</a:t>
            </a:r>
            <a:endParaRPr lang="ko-KR" altLang="en-US" sz="7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cxnSp>
        <p:nvCxnSpPr>
          <p:cNvPr id="118" name="직선 연결선 117"/>
          <p:cNvCxnSpPr/>
          <p:nvPr/>
        </p:nvCxnSpPr>
        <p:spPr>
          <a:xfrm>
            <a:off x="1316402" y="6212929"/>
            <a:ext cx="704958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330771" y="5848722"/>
            <a:ext cx="364679" cy="18060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99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1940371" y="4791447"/>
            <a:ext cx="364679" cy="18060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99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2530921" y="3810372"/>
            <a:ext cx="364679" cy="18060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99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3150046" y="3810372"/>
            <a:ext cx="364679" cy="18060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99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3731071" y="3810372"/>
            <a:ext cx="364679" cy="18060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99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4359721" y="5229597"/>
            <a:ext cx="364679" cy="18060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99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950646" y="5229597"/>
            <a:ext cx="364679" cy="18060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99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7350571" y="4353297"/>
            <a:ext cx="364679" cy="18060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99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750496" y="4353297"/>
            <a:ext cx="364679" cy="18060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99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6140896" y="3810372"/>
            <a:ext cx="364679" cy="18060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99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5540821" y="4791447"/>
            <a:ext cx="364679" cy="18060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99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4931221" y="4353297"/>
            <a:ext cx="364679" cy="18060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99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통계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웹메일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월별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발송 현황</a:t>
            </a:r>
          </a:p>
        </p:txBody>
      </p:sp>
      <p:graphicFrame>
        <p:nvGraphicFramePr>
          <p:cNvPr id="1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704584"/>
              </p:ext>
            </p:extLst>
          </p:nvPr>
        </p:nvGraphicFramePr>
        <p:xfrm>
          <a:off x="9290533" y="786383"/>
          <a:ext cx="2835141" cy="1264757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월 기준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년 이전의 날짜로 기본 세팅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날짜 변경은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년 단위로만 지정 가능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(1)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에서 세팅된 기간을 출력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86313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날짜의 그래프를 클릭할 경우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날짜의 최다 메일 발송 일 및 건수 정보가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203631"/>
                  </a:ext>
                </a:extLst>
              </a:tr>
            </a:tbl>
          </a:graphicData>
        </a:graphic>
      </p:graphicFrame>
      <p:sp>
        <p:nvSpPr>
          <p:cNvPr id="134" name="모서리가 접힌 도형 133"/>
          <p:cNvSpPr/>
          <p:nvPr/>
        </p:nvSpPr>
        <p:spPr>
          <a:xfrm>
            <a:off x="9290533" y="6400378"/>
            <a:ext cx="2832541" cy="266700"/>
          </a:xfrm>
          <a:prstGeom prst="foldedCorner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 wrap="none" lIns="36000" tIns="108000" rIns="36000" bIns="360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다음 페이지 계속 ▼</a:t>
            </a:r>
            <a:endParaRPr lang="ko-KR" altLang="en-US" sz="9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5" name="아래쪽 화살표 134"/>
          <p:cNvSpPr/>
          <p:nvPr/>
        </p:nvSpPr>
        <p:spPr>
          <a:xfrm>
            <a:off x="8829912" y="5636235"/>
            <a:ext cx="288032" cy="936104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4628523" y="2280903"/>
            <a:ext cx="215851" cy="228833"/>
          </a:xfrm>
          <a:prstGeom prst="rect">
            <a:avLst/>
          </a:prstGeom>
          <a:solidFill>
            <a:schemeClr val="bg1">
              <a:alpha val="8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DA3.2.2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40" name="모서리가 둥근 직사각형 139"/>
          <p:cNvSpPr/>
          <p:nvPr/>
        </p:nvSpPr>
        <p:spPr>
          <a:xfrm>
            <a:off x="1114426" y="3286126"/>
            <a:ext cx="1132009" cy="24765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1" name="타원 140"/>
          <p:cNvSpPr/>
          <p:nvPr/>
        </p:nvSpPr>
        <p:spPr>
          <a:xfrm>
            <a:off x="1037852" y="3198666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2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80" name="그룹 79"/>
          <p:cNvGrpSpPr/>
          <p:nvPr/>
        </p:nvGrpSpPr>
        <p:grpSpPr>
          <a:xfrm>
            <a:off x="2553841" y="2301255"/>
            <a:ext cx="2271308" cy="191630"/>
            <a:chOff x="6240016" y="3620013"/>
            <a:chExt cx="2271308" cy="191630"/>
          </a:xfrm>
        </p:grpSpPr>
        <p:grpSp>
          <p:nvGrpSpPr>
            <p:cNvPr id="82" name="그룹 81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84" name="그룹 83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88" name="그림 87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89" name="직사각형 88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altLang="ko-KR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고딕" pitchFamily="50" charset="-127"/>
                      <a:ea typeface="나눔고딕" pitchFamily="50" charset="-127"/>
                    </a:rPr>
                    <a:t>2016-08</a:t>
                  </a:r>
                  <a:endPara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itchFamily="50" charset="-127"/>
                    <a:ea typeface="나눔고딕" pitchFamily="50" charset="-127"/>
                  </a:endParaRPr>
                </a:p>
              </p:txBody>
            </p:sp>
          </p:grpSp>
          <p:grpSp>
            <p:nvGrpSpPr>
              <p:cNvPr id="85" name="그룹 84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86" name="그림 85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87" name="직사각형 86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altLang="ko-KR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고딕" pitchFamily="50" charset="-127"/>
                      <a:ea typeface="나눔고딕" pitchFamily="50" charset="-127"/>
                    </a:rPr>
                    <a:t>2017-07</a:t>
                  </a:r>
                  <a:endPara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itchFamily="50" charset="-127"/>
                    <a:ea typeface="나눔고딕" pitchFamily="50" charset="-127"/>
                  </a:endParaRPr>
                </a:p>
              </p:txBody>
            </p:sp>
          </p:grpSp>
        </p:grpSp>
        <p:sp>
          <p:nvSpPr>
            <p:cNvPr id="83" name="TextBox 82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~</a:t>
              </a:r>
              <a:endPara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sp>
        <p:nvSpPr>
          <p:cNvPr id="139" name="타원 138"/>
          <p:cNvSpPr/>
          <p:nvPr/>
        </p:nvSpPr>
        <p:spPr>
          <a:xfrm>
            <a:off x="2409452" y="2217591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0" name="직각 삼각형 89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0000FF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91" name="그룹 90"/>
          <p:cNvGrpSpPr/>
          <p:nvPr/>
        </p:nvGrpSpPr>
        <p:grpSpPr>
          <a:xfrm>
            <a:off x="1137906" y="1482657"/>
            <a:ext cx="2653838" cy="294480"/>
            <a:chOff x="2464825" y="1482657"/>
            <a:chExt cx="2653838" cy="294480"/>
          </a:xfrm>
        </p:grpSpPr>
        <p:sp>
          <p:nvSpPr>
            <p:cNvPr id="92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1"/>
              </p:custDataLst>
            </p:nvPr>
          </p:nvSpPr>
          <p:spPr>
            <a:xfrm>
              <a:off x="3791744" y="1482657"/>
              <a:ext cx="1326919" cy="294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>
                  <a:solidFill>
                    <a:prstClr val="white">
                      <a:lumMod val="7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부서 및 사용자별 현황</a:t>
              </a:r>
              <a:endParaRPr lang="en-US" sz="800" dirty="0">
                <a:solidFill>
                  <a:prstClr val="white">
                    <a:lumMod val="7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  <p:sp>
          <p:nvSpPr>
            <p:cNvPr id="93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2464825" y="1482657"/>
              <a:ext cx="1326919" cy="2944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 smtClean="0">
                  <a:solidFill>
                    <a:prstClr val="black">
                      <a:lumMod val="95000"/>
                      <a:lumOff val="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기간별 발송 </a:t>
              </a:r>
              <a:r>
                <a:rPr lang="ko-KR" altLang="en-US" sz="800">
                  <a:solidFill>
                    <a:prstClr val="black">
                      <a:lumMod val="95000"/>
                      <a:lumOff val="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현황</a:t>
              </a:r>
              <a:endParaRPr lang="en-US" sz="8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81" name="사각형 설명선 80"/>
          <p:cNvSpPr/>
          <p:nvPr/>
        </p:nvSpPr>
        <p:spPr>
          <a:xfrm>
            <a:off x="6489178" y="3818756"/>
            <a:ext cx="1454671" cy="477020"/>
          </a:xfrm>
          <a:prstGeom prst="wedgeRectCallout">
            <a:avLst>
              <a:gd name="adj1" fmla="val -60712"/>
              <a:gd name="adj2" fmla="val 33486"/>
            </a:avLst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94" name="표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241065"/>
              </p:ext>
            </p:extLst>
          </p:nvPr>
        </p:nvGraphicFramePr>
        <p:xfrm>
          <a:off x="6499120" y="3841216"/>
          <a:ext cx="144360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544">
                  <a:extLst>
                    <a:ext uri="{9D8B030D-6E8A-4147-A177-3AD203B41FA5}">
                      <a16:colId xmlns:a16="http://schemas.microsoft.com/office/drawing/2014/main" val="335030843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713755803"/>
                    </a:ext>
                  </a:extLst>
                </a:gridCol>
              </a:tblGrid>
              <a:tr h="20161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최다 메일 발송 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346830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2017-04-08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99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건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807711"/>
                  </a:ext>
                </a:extLst>
              </a:tr>
            </a:tbl>
          </a:graphicData>
        </a:graphic>
      </p:graphicFrame>
      <p:sp>
        <p:nvSpPr>
          <p:cNvPr id="95" name="타원 94"/>
          <p:cNvSpPr/>
          <p:nvPr/>
        </p:nvSpPr>
        <p:spPr>
          <a:xfrm>
            <a:off x="7853519" y="3743708"/>
            <a:ext cx="168861" cy="174728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3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832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9536" y="529630"/>
            <a:ext cx="1231726" cy="13372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9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주간 발송 현황</a:t>
            </a:r>
            <a:endParaRPr lang="ko-KR" altLang="en-US" sz="900" b="1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44704"/>
              </p:ext>
            </p:extLst>
          </p:nvPr>
        </p:nvGraphicFramePr>
        <p:xfrm>
          <a:off x="1091283" y="764704"/>
          <a:ext cx="7741022" cy="190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614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2133928">
                  <a:extLst>
                    <a:ext uri="{9D8B030D-6E8A-4147-A177-3AD203B41FA5}">
                      <a16:colId xmlns:a16="http://schemas.microsoft.com/office/drawing/2014/main" val="1514625099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1655089939"/>
                    </a:ext>
                  </a:extLst>
                </a:gridCol>
              </a:tblGrid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주차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기간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발송 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7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월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주차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2017-07-01 ~ 2017-07-07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7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월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주차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2017-07-08 ~ 2017-07-14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7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월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주차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2017-07-15 ~ 2017-07-21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81431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7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월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4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주차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2017-07-22 ~ 2017-07-28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7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월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주차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2017-07-29 ~ 2017-07-31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457740"/>
                  </a:ext>
                </a:extLst>
              </a:tr>
            </a:tbl>
          </a:graphicData>
        </a:graphic>
      </p:graphicFrame>
      <p:sp>
        <p:nvSpPr>
          <p:cNvPr id="19" name="모서리가 둥근 직사각형 18"/>
          <p:cNvSpPr/>
          <p:nvPr/>
        </p:nvSpPr>
        <p:spPr>
          <a:xfrm>
            <a:off x="1146596" y="481175"/>
            <a:ext cx="724391" cy="2266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2017-07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 rot="5400000">
            <a:off x="1677814" y="498869"/>
            <a:ext cx="155817" cy="23818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&gt;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통계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웹메일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기간별 발송 현황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월별</a:t>
            </a:r>
          </a:p>
        </p:txBody>
      </p:sp>
      <p:graphicFrame>
        <p:nvGraphicFramePr>
          <p:cNvPr id="2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088588"/>
              </p:ext>
            </p:extLst>
          </p:nvPr>
        </p:nvGraphicFramePr>
        <p:xfrm>
          <a:off x="9290533" y="786383"/>
          <a:ext cx="2835141" cy="866993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선택된 월의 주간별 발송 건수 현황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기본세팅은 당월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3-1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(1)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에서 세팅된 범위 기간으로 출력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863137"/>
                  </a:ext>
                </a:extLst>
              </a:tr>
            </a:tbl>
          </a:graphicData>
        </a:graphic>
      </p:graphicFrame>
      <p:sp>
        <p:nvSpPr>
          <p:cNvPr id="28" name="타원 27"/>
          <p:cNvSpPr/>
          <p:nvPr/>
        </p:nvSpPr>
        <p:spPr>
          <a:xfrm>
            <a:off x="1047377" y="388791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3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1146596" y="2870097"/>
            <a:ext cx="724391" cy="2266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2017-07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 rot="5400000">
            <a:off x="1677814" y="2887791"/>
            <a:ext cx="155817" cy="23818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&gt;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146596" y="3084790"/>
            <a:ext cx="724391" cy="15157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2017-07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2017-06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2017-05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 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 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 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2016-08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1037852" y="3198666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3-1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DA3.2.2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5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1093284" y="749232"/>
            <a:ext cx="1278442" cy="1917768"/>
          </a:xfrm>
          <a:prstGeom prst="rect">
            <a:avLst/>
          </a:prstGeom>
          <a:solidFill>
            <a:srgbClr val="FF0000">
              <a:alpha val="46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삭제</a:t>
            </a:r>
            <a:endParaRPr 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820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/>
          <p:cNvGrpSpPr/>
          <p:nvPr/>
        </p:nvGrpSpPr>
        <p:grpSpPr>
          <a:xfrm>
            <a:off x="1137906" y="1482657"/>
            <a:ext cx="2653838" cy="294480"/>
            <a:chOff x="2464825" y="1482657"/>
            <a:chExt cx="2653838" cy="294480"/>
          </a:xfrm>
        </p:grpSpPr>
        <p:sp>
          <p:nvSpPr>
            <p:cNvPr id="9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2464825" y="1482657"/>
              <a:ext cx="1326919" cy="294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 smtClean="0">
                  <a:solidFill>
                    <a:prstClr val="white">
                      <a:lumMod val="7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일별 발송 현황</a:t>
              </a:r>
              <a:endParaRPr lang="en-US" sz="800" dirty="0">
                <a:solidFill>
                  <a:prstClr val="white">
                    <a:lumMod val="7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  <p:sp>
          <p:nvSpPr>
            <p:cNvPr id="10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3791744" y="1482657"/>
              <a:ext cx="1326919" cy="2944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>
                  <a:solidFill>
                    <a:prstClr val="black">
                      <a:lumMod val="95000"/>
                      <a:lumOff val="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부서 및 사용자별 현황</a:t>
              </a:r>
              <a:endParaRPr lang="en-US" sz="8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84582"/>
              </p:ext>
            </p:extLst>
          </p:nvPr>
        </p:nvGraphicFramePr>
        <p:xfrm>
          <a:off x="850416" y="1981201"/>
          <a:ext cx="7981887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457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426430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부서별 현황              사용자별 현황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경영지원팀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신뢰성기술팀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제품기획팀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표준개발팀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UX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디자인팀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315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웹메일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통계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웹메일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 및 사용자별 현황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 현황</a:t>
            </a:r>
          </a:p>
        </p:txBody>
      </p:sp>
      <p:graphicFrame>
        <p:nvGraphicFramePr>
          <p:cNvPr id="3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154292"/>
              </p:ext>
            </p:extLst>
          </p:nvPr>
        </p:nvGraphicFramePr>
        <p:xfrm>
          <a:off x="9290533" y="786383"/>
          <a:ext cx="2835141" cy="1486250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리스트 출력 방식은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as-is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사용량이 높은순으로 기본 정렬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사용량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수신건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발신건 항목은 내림차순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오름차순 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순으로 재정렬 가능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68763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전체 용량 대비 사용량을 그래프로 출력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773356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4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업데이트 날짜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479797"/>
                  </a:ext>
                </a:extLst>
              </a:tr>
            </a:tbl>
          </a:graphicData>
        </a:graphic>
      </p:graphicFrame>
      <p:cxnSp>
        <p:nvCxnSpPr>
          <p:cNvPr id="40" name="직선 연결선 39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TextBox 72"/>
          <p:cNvSpPr txBox="1"/>
          <p:nvPr/>
        </p:nvSpPr>
        <p:spPr>
          <a:xfrm>
            <a:off x="342349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○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2553841" y="2598823"/>
            <a:ext cx="2271308" cy="191630"/>
            <a:chOff x="6240016" y="3620013"/>
            <a:chExt cx="2271308" cy="191630"/>
          </a:xfrm>
        </p:grpSpPr>
        <p:grpSp>
          <p:nvGrpSpPr>
            <p:cNvPr id="75" name="그룹 74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76" name="그룹 75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80" name="그림 79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81" name="직사각형 80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altLang="ko-KR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고딕" pitchFamily="50" charset="-127"/>
                      <a:ea typeface="나눔고딕" pitchFamily="50" charset="-127"/>
                    </a:rPr>
                    <a:t>2017-06-29</a:t>
                  </a:r>
                  <a:endPara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itchFamily="50" charset="-127"/>
                    <a:ea typeface="나눔고딕" pitchFamily="50" charset="-127"/>
                  </a:endParaRPr>
                </a:p>
              </p:txBody>
            </p:sp>
          </p:grpSp>
          <p:grpSp>
            <p:nvGrpSpPr>
              <p:cNvPr id="77" name="그룹 76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78" name="그림 77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79" name="직사각형 78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altLang="ko-KR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고딕" pitchFamily="50" charset="-127"/>
                      <a:ea typeface="나눔고딕" pitchFamily="50" charset="-127"/>
                    </a:rPr>
                    <a:t>2017-07-29</a:t>
                  </a:r>
                  <a:endPara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itchFamily="50" charset="-127"/>
                    <a:ea typeface="나눔고딕" pitchFamily="50" charset="-127"/>
                  </a:endParaRPr>
                </a:p>
              </p:txBody>
            </p:sp>
          </p:grpSp>
        </p:grpSp>
        <p:sp>
          <p:nvSpPr>
            <p:cNvPr id="82" name="TextBox 81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~</a:t>
              </a:r>
              <a:endPara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2516855" y="2000950"/>
            <a:ext cx="226293" cy="222101"/>
            <a:chOff x="4359942" y="3596387"/>
            <a:chExt cx="226293" cy="222101"/>
          </a:xfrm>
        </p:grpSpPr>
        <p:sp>
          <p:nvSpPr>
            <p:cNvPr id="68" name="TextBox 67"/>
            <p:cNvSpPr txBox="1"/>
            <p:nvPr/>
          </p:nvSpPr>
          <p:spPr>
            <a:xfrm>
              <a:off x="4359942" y="3596387"/>
              <a:ext cx="226293" cy="222101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ko-KR" altLang="en-US" sz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○</a:t>
              </a:r>
            </a:p>
          </p:txBody>
        </p:sp>
        <p:sp>
          <p:nvSpPr>
            <p:cNvPr id="84" name="자유형 83"/>
            <p:cNvSpPr/>
            <p:nvPr/>
          </p:nvSpPr>
          <p:spPr>
            <a:xfrm>
              <a:off x="4416162" y="3647344"/>
              <a:ext cx="123825" cy="100482"/>
            </a:xfrm>
            <a:custGeom>
              <a:avLst/>
              <a:gdLst>
                <a:gd name="connsiteX0" fmla="*/ 0 w 190500"/>
                <a:gd name="connsiteY0" fmla="*/ 95250 h 209550"/>
                <a:gd name="connsiteX1" fmla="*/ 76200 w 190500"/>
                <a:gd name="connsiteY1" fmla="*/ 209550 h 209550"/>
                <a:gd name="connsiteX2" fmla="*/ 190500 w 190500"/>
                <a:gd name="connsiteY2" fmla="*/ 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0" h="209550">
                  <a:moveTo>
                    <a:pt x="0" y="95250"/>
                  </a:moveTo>
                  <a:lnTo>
                    <a:pt x="76200" y="209550"/>
                  </a:lnTo>
                  <a:lnTo>
                    <a:pt x="190500" y="0"/>
                  </a:lnTo>
                </a:path>
              </a:pathLst>
            </a:cu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5" name="모서리가 둥근 직사각형 84"/>
          <p:cNvSpPr/>
          <p:nvPr/>
        </p:nvSpPr>
        <p:spPr>
          <a:xfrm>
            <a:off x="2553841" y="2317916"/>
            <a:ext cx="3686176" cy="18271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5951985" y="2317916"/>
            <a:ext cx="600118" cy="182715"/>
            <a:chOff x="5936741" y="2511868"/>
            <a:chExt cx="600118" cy="171371"/>
          </a:xfrm>
        </p:grpSpPr>
        <p:sp>
          <p:nvSpPr>
            <p:cNvPr id="43" name="모서리가 둥근 직사각형 42"/>
            <p:cNvSpPr/>
            <p:nvPr/>
          </p:nvSpPr>
          <p:spPr>
            <a:xfrm>
              <a:off x="5936741" y="2511868"/>
              <a:ext cx="600118" cy="17137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pic>
          <p:nvPicPr>
            <p:cNvPr id="62" name="그림 6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6516" y="2522170"/>
              <a:ext cx="147005" cy="147005"/>
            </a:xfrm>
            <a:prstGeom prst="rect">
              <a:avLst/>
            </a:prstGeom>
          </p:spPr>
        </p:pic>
      </p:grpSp>
      <p:sp>
        <p:nvSpPr>
          <p:cNvPr id="86" name="모서리가 둥근 직사각형 85"/>
          <p:cNvSpPr/>
          <p:nvPr/>
        </p:nvSpPr>
        <p:spPr>
          <a:xfrm>
            <a:off x="3865823" y="2996952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61941" y="2632695"/>
            <a:ext cx="1567433" cy="14860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최대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개월 이내 조회 가능</a:t>
            </a:r>
          </a:p>
        </p:txBody>
      </p:sp>
      <p:graphicFrame>
        <p:nvGraphicFramePr>
          <p:cNvPr id="87" name="표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857045"/>
              </p:ext>
            </p:extLst>
          </p:nvPr>
        </p:nvGraphicFramePr>
        <p:xfrm>
          <a:off x="850417" y="3889623"/>
          <a:ext cx="7981887" cy="225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175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4968552">
                  <a:extLst>
                    <a:ext uri="{9D8B030D-6E8A-4147-A177-3AD203B41FA5}">
                      <a16:colId xmlns:a16="http://schemas.microsoft.com/office/drawing/2014/main" val="165508993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50267742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923602441"/>
                    </a:ext>
                  </a:extLst>
                </a:gridCol>
              </a:tblGrid>
              <a:tr h="352425"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666363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사용량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수신건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발신건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경영지원팀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150GB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150GB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143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150GB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81431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150GB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143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UX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디자인팀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150GB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18671"/>
                  </a:ext>
                </a:extLst>
              </a:tr>
            </a:tbl>
          </a:graphicData>
        </a:graphic>
      </p:graphicFrame>
      <p:grpSp>
        <p:nvGrpSpPr>
          <p:cNvPr id="16" name="그룹 15"/>
          <p:cNvGrpSpPr/>
          <p:nvPr/>
        </p:nvGrpSpPr>
        <p:grpSpPr>
          <a:xfrm>
            <a:off x="2478087" y="4617740"/>
            <a:ext cx="4410001" cy="205333"/>
            <a:chOff x="2478087" y="4242842"/>
            <a:chExt cx="4410001" cy="205333"/>
          </a:xfrm>
        </p:grpSpPr>
        <p:sp>
          <p:nvSpPr>
            <p:cNvPr id="88" name="직사각형 87"/>
            <p:cNvSpPr/>
            <p:nvPr/>
          </p:nvSpPr>
          <p:spPr>
            <a:xfrm>
              <a:off x="2478088" y="4242842"/>
              <a:ext cx="4410000" cy="205333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2478087" y="4242842"/>
              <a:ext cx="4193977" cy="205333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010747" y="4279667"/>
              <a:ext cx="661317" cy="133722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r"/>
              <a:r>
                <a:rPr lang="en-US" altLang="ko-KR" sz="800" smtClean="0">
                  <a:solidFill>
                    <a:schemeClr val="bg1"/>
                  </a:solidFill>
                  <a:latin typeface="나눔고딕" panose="020B0600000101010101" charset="-127"/>
                  <a:ea typeface="나눔고딕" panose="020B0600000101010101" charset="-127"/>
                </a:rPr>
                <a:t>90GB</a:t>
              </a:r>
              <a:endParaRPr lang="ko-KR" altLang="en-US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4825149" y="4242842"/>
              <a:ext cx="0" cy="20533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직사각형 92"/>
          <p:cNvSpPr/>
          <p:nvPr/>
        </p:nvSpPr>
        <p:spPr>
          <a:xfrm>
            <a:off x="2478088" y="4922540"/>
            <a:ext cx="4410000" cy="20533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2478087" y="4922540"/>
            <a:ext cx="2848434" cy="205333"/>
          </a:xfrm>
          <a:prstGeom prst="rect">
            <a:avLst/>
          </a:prstGeom>
          <a:solidFill>
            <a:srgbClr val="0070C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871864" y="4959365"/>
            <a:ext cx="661317" cy="13372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60GB</a:t>
            </a:r>
            <a:endParaRPr lang="ko-KR" altLang="en-US" sz="800" smtClean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cxnSp>
        <p:nvCxnSpPr>
          <p:cNvPr id="96" name="직선 연결선 95"/>
          <p:cNvCxnSpPr/>
          <p:nvPr/>
        </p:nvCxnSpPr>
        <p:spPr>
          <a:xfrm>
            <a:off x="4825149" y="4922540"/>
            <a:ext cx="0" cy="20533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2478088" y="5246390"/>
            <a:ext cx="4410000" cy="20533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2478087" y="5246390"/>
            <a:ext cx="2848434" cy="205333"/>
          </a:xfrm>
          <a:prstGeom prst="rect">
            <a:avLst/>
          </a:prstGeom>
          <a:solidFill>
            <a:srgbClr val="0070C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871864" y="5283215"/>
            <a:ext cx="661317" cy="13372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60GB</a:t>
            </a:r>
            <a:endParaRPr lang="ko-KR" altLang="en-US" sz="800" smtClean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cxnSp>
        <p:nvCxnSpPr>
          <p:cNvPr id="101" name="직선 연결선 100"/>
          <p:cNvCxnSpPr/>
          <p:nvPr/>
        </p:nvCxnSpPr>
        <p:spPr>
          <a:xfrm>
            <a:off x="4825149" y="5246390"/>
            <a:ext cx="0" cy="20533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그룹 101"/>
          <p:cNvGrpSpPr/>
          <p:nvPr/>
        </p:nvGrpSpPr>
        <p:grpSpPr>
          <a:xfrm>
            <a:off x="2478087" y="5570240"/>
            <a:ext cx="4410001" cy="205333"/>
            <a:chOff x="2478087" y="4242842"/>
            <a:chExt cx="4410001" cy="205333"/>
          </a:xfrm>
        </p:grpSpPr>
        <p:sp>
          <p:nvSpPr>
            <p:cNvPr id="103" name="직사각형 102"/>
            <p:cNvSpPr/>
            <p:nvPr/>
          </p:nvSpPr>
          <p:spPr>
            <a:xfrm>
              <a:off x="2478088" y="4242842"/>
              <a:ext cx="4410000" cy="205333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2478087" y="4242842"/>
              <a:ext cx="1889721" cy="205333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379224" y="4279667"/>
              <a:ext cx="661317" cy="133722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40GB</a:t>
              </a:r>
              <a:endPara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cxnSp>
          <p:nvCxnSpPr>
            <p:cNvPr id="106" name="직선 연결선 105"/>
            <p:cNvCxnSpPr/>
            <p:nvPr/>
          </p:nvCxnSpPr>
          <p:spPr>
            <a:xfrm>
              <a:off x="4825149" y="4242842"/>
              <a:ext cx="0" cy="20533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그룹 106"/>
          <p:cNvGrpSpPr/>
          <p:nvPr/>
        </p:nvGrpSpPr>
        <p:grpSpPr>
          <a:xfrm>
            <a:off x="2478087" y="5875040"/>
            <a:ext cx="4410001" cy="205333"/>
            <a:chOff x="2478087" y="4242842"/>
            <a:chExt cx="4410001" cy="205333"/>
          </a:xfrm>
        </p:grpSpPr>
        <p:sp>
          <p:nvSpPr>
            <p:cNvPr id="108" name="직사각형 107"/>
            <p:cNvSpPr/>
            <p:nvPr/>
          </p:nvSpPr>
          <p:spPr>
            <a:xfrm>
              <a:off x="2478088" y="4242842"/>
              <a:ext cx="4410000" cy="205333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2478087" y="4242842"/>
              <a:ext cx="1889721" cy="205333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379224" y="4279667"/>
              <a:ext cx="661317" cy="133722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40GB</a:t>
              </a:r>
              <a:endPara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cxnSp>
          <p:nvCxnSpPr>
            <p:cNvPr id="111" name="직선 연결선 110"/>
            <p:cNvCxnSpPr/>
            <p:nvPr/>
          </p:nvCxnSpPr>
          <p:spPr>
            <a:xfrm>
              <a:off x="4825149" y="4242842"/>
              <a:ext cx="0" cy="20533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그룹 116"/>
          <p:cNvGrpSpPr/>
          <p:nvPr/>
        </p:nvGrpSpPr>
        <p:grpSpPr>
          <a:xfrm>
            <a:off x="3916100" y="6381328"/>
            <a:ext cx="1700363" cy="360040"/>
            <a:chOff x="3947422" y="6021288"/>
            <a:chExt cx="1700363" cy="360040"/>
          </a:xfrm>
        </p:grpSpPr>
        <p:sp>
          <p:nvSpPr>
            <p:cNvPr id="118" name="TextBox 117"/>
            <p:cNvSpPr txBox="1"/>
            <p:nvPr/>
          </p:nvSpPr>
          <p:spPr>
            <a:xfrm>
              <a:off x="4025146" y="6021288"/>
              <a:ext cx="1622639" cy="36004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en-US" altLang="ko-KR" sz="10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&lt;&lt;  &lt; </a:t>
              </a:r>
              <a:r>
                <a:rPr lang="en-US" altLang="ko-KR" sz="10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  1</a:t>
              </a:r>
              <a:r>
                <a:rPr lang="en-US" altLang="ko-KR" sz="1000" smtClean="0">
                  <a:solidFill>
                    <a:schemeClr val="bg1">
                      <a:lumMod val="6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  2   3   4   5   6   7   8   9   15    </a:t>
              </a:r>
              <a:r>
                <a:rPr lang="en-US" altLang="ko-KR" sz="10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&gt;  &gt;&gt;</a:t>
              </a:r>
              <a:endPara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cxnSp>
          <p:nvCxnSpPr>
            <p:cNvPr id="119" name="직선 연결선 118"/>
            <p:cNvCxnSpPr/>
            <p:nvPr/>
          </p:nvCxnSpPr>
          <p:spPr>
            <a:xfrm>
              <a:off x="3947422" y="6305996"/>
              <a:ext cx="102789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0" name="그림 1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" y="6123012"/>
            <a:ext cx="9192343" cy="27317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7" name="직각 삼각형 16"/>
          <p:cNvSpPr/>
          <p:nvPr/>
        </p:nvSpPr>
        <p:spPr>
          <a:xfrm flipH="1">
            <a:off x="7305109" y="4469103"/>
            <a:ext cx="91227" cy="90617"/>
          </a:xfrm>
          <a:prstGeom prst="rtTriangle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21" name="그룹 120"/>
          <p:cNvGrpSpPr/>
          <p:nvPr/>
        </p:nvGrpSpPr>
        <p:grpSpPr>
          <a:xfrm>
            <a:off x="7093938" y="3937365"/>
            <a:ext cx="1126484" cy="229245"/>
            <a:chOff x="1098673" y="3495030"/>
            <a:chExt cx="1126484" cy="229245"/>
          </a:xfrm>
        </p:grpSpPr>
        <p:sp>
          <p:nvSpPr>
            <p:cNvPr id="122" name="모서리가 둥근 직사각형 121"/>
            <p:cNvSpPr/>
            <p:nvPr/>
          </p:nvSpPr>
          <p:spPr>
            <a:xfrm>
              <a:off x="1098673" y="3495030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ko-KR" sz="9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rebuchet MS" panose="020B0603020202020204" pitchFamily="34" charset="0"/>
                  <a:ea typeface="나눔고딕" pitchFamily="50" charset="-127"/>
                </a:rPr>
                <a:t> DOWNLOAD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123" name="그림 122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174" y="3529537"/>
              <a:ext cx="137302" cy="156072"/>
            </a:xfrm>
            <a:prstGeom prst="rect">
              <a:avLst/>
            </a:prstGeom>
          </p:spPr>
        </p:pic>
      </p:grpSp>
      <p:grpSp>
        <p:nvGrpSpPr>
          <p:cNvPr id="124" name="그룹 123"/>
          <p:cNvGrpSpPr/>
          <p:nvPr/>
        </p:nvGrpSpPr>
        <p:grpSpPr>
          <a:xfrm>
            <a:off x="8293199" y="3942173"/>
            <a:ext cx="468189" cy="226647"/>
            <a:chOff x="8184232" y="2397322"/>
            <a:chExt cx="468189" cy="226647"/>
          </a:xfrm>
        </p:grpSpPr>
        <p:sp>
          <p:nvSpPr>
            <p:cNvPr id="125" name="모서리가 둥근 직사각형 124"/>
            <p:cNvSpPr/>
            <p:nvPr/>
          </p:nvSpPr>
          <p:spPr>
            <a:xfrm>
              <a:off x="8184232" y="2397322"/>
              <a:ext cx="464363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15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 rot="5400000">
              <a:off x="8455422" y="2415016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&gt;</a:t>
              </a:r>
              <a:endPara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861247" y="3981450"/>
            <a:ext cx="1444427" cy="1558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UPDATE : 2017-07-31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790136" y="3821536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2" name="타원 71"/>
          <p:cNvSpPr/>
          <p:nvPr/>
        </p:nvSpPr>
        <p:spPr>
          <a:xfrm>
            <a:off x="2380811" y="4526386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3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2980886" y="4316836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2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2809876" y="4251572"/>
            <a:ext cx="285750" cy="276225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3" name="타원 82"/>
          <p:cNvSpPr/>
          <p:nvPr/>
        </p:nvSpPr>
        <p:spPr>
          <a:xfrm>
            <a:off x="5685986" y="3964411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4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DA3.3.1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97" name="그룹 96"/>
          <p:cNvGrpSpPr/>
          <p:nvPr/>
        </p:nvGrpSpPr>
        <p:grpSpPr>
          <a:xfrm>
            <a:off x="5837792" y="3557513"/>
            <a:ext cx="2944649" cy="226647"/>
            <a:chOff x="5903179" y="2445148"/>
            <a:chExt cx="2944649" cy="226647"/>
          </a:xfrm>
        </p:grpSpPr>
        <p:sp>
          <p:nvSpPr>
            <p:cNvPr id="112" name="모서리가 둥근 직사각형 111"/>
            <p:cNvSpPr/>
            <p:nvPr/>
          </p:nvSpPr>
          <p:spPr>
            <a:xfrm>
              <a:off x="6666292" y="2445148"/>
              <a:ext cx="2181536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13" name="모서리가 둥근 직사각형 112"/>
            <p:cNvSpPr/>
            <p:nvPr/>
          </p:nvSpPr>
          <p:spPr>
            <a:xfrm>
              <a:off x="5903179" y="2445149"/>
              <a:ext cx="683617" cy="22342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부서명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 rot="5400000">
              <a:off x="6401365" y="2460560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pic>
          <p:nvPicPr>
            <p:cNvPr id="115" name="그림 114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4315" y="2492511"/>
              <a:ext cx="125049" cy="125049"/>
            </a:xfrm>
            <a:prstGeom prst="rect">
              <a:avLst/>
            </a:prstGeom>
          </p:spPr>
        </p:pic>
      </p:grpSp>
      <p:sp>
        <p:nvSpPr>
          <p:cNvPr id="116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841709" y="2277725"/>
            <a:ext cx="7987965" cy="265450"/>
          </a:xfrm>
          <a:prstGeom prst="rect">
            <a:avLst/>
          </a:prstGeom>
          <a:solidFill>
            <a:srgbClr val="FF0000">
              <a:alpha val="46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삭제</a:t>
            </a:r>
            <a:endParaRPr 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480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364200"/>
              </p:ext>
            </p:extLst>
          </p:nvPr>
        </p:nvGraphicFramePr>
        <p:xfrm>
          <a:off x="850416" y="1981201"/>
          <a:ext cx="7981887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457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426430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부서별 현황              사용자별 현황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제품기획팀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신뢰성기술팀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315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웹메일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aphicFrame>
        <p:nvGraphicFramePr>
          <p:cNvPr id="3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978941"/>
              </p:ext>
            </p:extLst>
          </p:nvPr>
        </p:nvGraphicFramePr>
        <p:xfrm>
          <a:off x="9290533" y="786383"/>
          <a:ext cx="2835141" cy="583016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부서 선택 후 조회 버튼 클릭시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사용량이 높은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사용자순으로 기본 출력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사용량은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%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순으로 정렬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863137"/>
                  </a:ext>
                </a:extLst>
              </a:tr>
            </a:tbl>
          </a:graphicData>
        </a:graphic>
      </p:graphicFrame>
      <p:cxnSp>
        <p:nvCxnSpPr>
          <p:cNvPr id="40" name="직선 연결선 39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TextBox 72"/>
          <p:cNvSpPr txBox="1"/>
          <p:nvPr/>
        </p:nvSpPr>
        <p:spPr>
          <a:xfrm>
            <a:off x="342349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○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2553841" y="2598823"/>
            <a:ext cx="2271308" cy="191630"/>
            <a:chOff x="6240016" y="3620013"/>
            <a:chExt cx="2271308" cy="191630"/>
          </a:xfrm>
        </p:grpSpPr>
        <p:grpSp>
          <p:nvGrpSpPr>
            <p:cNvPr id="75" name="그룹 74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76" name="그룹 75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80" name="그림 79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81" name="직사각형 80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altLang="ko-KR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고딕" pitchFamily="50" charset="-127"/>
                      <a:ea typeface="나눔고딕" pitchFamily="50" charset="-127"/>
                    </a:rPr>
                    <a:t>2017-06-29</a:t>
                  </a:r>
                  <a:endPara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itchFamily="50" charset="-127"/>
                    <a:ea typeface="나눔고딕" pitchFamily="50" charset="-127"/>
                  </a:endParaRPr>
                </a:p>
              </p:txBody>
            </p:sp>
          </p:grpSp>
          <p:grpSp>
            <p:nvGrpSpPr>
              <p:cNvPr id="77" name="그룹 76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78" name="그림 77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79" name="직사각형 78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altLang="ko-KR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고딕" pitchFamily="50" charset="-127"/>
                      <a:ea typeface="나눔고딕" pitchFamily="50" charset="-127"/>
                    </a:rPr>
                    <a:t>2017-07-29</a:t>
                  </a:r>
                  <a:endPara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itchFamily="50" charset="-127"/>
                    <a:ea typeface="나눔고딕" pitchFamily="50" charset="-127"/>
                  </a:endParaRPr>
                </a:p>
              </p:txBody>
            </p:sp>
          </p:grpSp>
        </p:grpSp>
        <p:sp>
          <p:nvSpPr>
            <p:cNvPr id="82" name="TextBox 81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~</a:t>
              </a:r>
              <a:endPara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2516855" y="2000950"/>
            <a:ext cx="1082107" cy="222101"/>
            <a:chOff x="4359942" y="3596387"/>
            <a:chExt cx="1082107" cy="222101"/>
          </a:xfrm>
        </p:grpSpPr>
        <p:sp>
          <p:nvSpPr>
            <p:cNvPr id="68" name="TextBox 67"/>
            <p:cNvSpPr txBox="1"/>
            <p:nvPr/>
          </p:nvSpPr>
          <p:spPr>
            <a:xfrm>
              <a:off x="4359942" y="3596387"/>
              <a:ext cx="226293" cy="222101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ko-KR" altLang="en-US" sz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○</a:t>
              </a:r>
            </a:p>
          </p:txBody>
        </p:sp>
        <p:sp>
          <p:nvSpPr>
            <p:cNvPr id="84" name="자유형 83"/>
            <p:cNvSpPr/>
            <p:nvPr/>
          </p:nvSpPr>
          <p:spPr>
            <a:xfrm>
              <a:off x="5318224" y="3647344"/>
              <a:ext cx="123825" cy="100482"/>
            </a:xfrm>
            <a:custGeom>
              <a:avLst/>
              <a:gdLst>
                <a:gd name="connsiteX0" fmla="*/ 0 w 190500"/>
                <a:gd name="connsiteY0" fmla="*/ 95250 h 209550"/>
                <a:gd name="connsiteX1" fmla="*/ 76200 w 190500"/>
                <a:gd name="connsiteY1" fmla="*/ 209550 h 209550"/>
                <a:gd name="connsiteX2" fmla="*/ 190500 w 190500"/>
                <a:gd name="connsiteY2" fmla="*/ 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0" h="209550">
                  <a:moveTo>
                    <a:pt x="0" y="95250"/>
                  </a:moveTo>
                  <a:lnTo>
                    <a:pt x="76200" y="209550"/>
                  </a:lnTo>
                  <a:lnTo>
                    <a:pt x="190500" y="0"/>
                  </a:lnTo>
                </a:path>
              </a:pathLst>
            </a:cu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5" name="모서리가 둥근 직사각형 84"/>
          <p:cNvSpPr/>
          <p:nvPr/>
        </p:nvSpPr>
        <p:spPr>
          <a:xfrm>
            <a:off x="2553841" y="2317916"/>
            <a:ext cx="3686176" cy="18271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5951985" y="2317916"/>
            <a:ext cx="600118" cy="182715"/>
            <a:chOff x="5936741" y="2511868"/>
            <a:chExt cx="600118" cy="171371"/>
          </a:xfrm>
        </p:grpSpPr>
        <p:sp>
          <p:nvSpPr>
            <p:cNvPr id="43" name="모서리가 둥근 직사각형 42"/>
            <p:cNvSpPr/>
            <p:nvPr/>
          </p:nvSpPr>
          <p:spPr>
            <a:xfrm>
              <a:off x="5936741" y="2511868"/>
              <a:ext cx="600118" cy="17137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pic>
          <p:nvPicPr>
            <p:cNvPr id="62" name="그림 6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6516" y="2522170"/>
              <a:ext cx="147005" cy="147005"/>
            </a:xfrm>
            <a:prstGeom prst="rect">
              <a:avLst/>
            </a:prstGeom>
          </p:spPr>
        </p:pic>
      </p:grpSp>
      <p:sp>
        <p:nvSpPr>
          <p:cNvPr id="86" name="모서리가 둥근 직사각형 85"/>
          <p:cNvSpPr/>
          <p:nvPr/>
        </p:nvSpPr>
        <p:spPr>
          <a:xfrm>
            <a:off x="3865823" y="2996952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61941" y="2632695"/>
            <a:ext cx="1567433" cy="14860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최대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개월 이내 조회 가능</a:t>
            </a:r>
          </a:p>
        </p:txBody>
      </p:sp>
      <p:graphicFrame>
        <p:nvGraphicFramePr>
          <p:cNvPr id="87" name="표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106885"/>
              </p:ext>
            </p:extLst>
          </p:nvPr>
        </p:nvGraphicFramePr>
        <p:xfrm>
          <a:off x="850417" y="3885431"/>
          <a:ext cx="7981888" cy="225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292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1289292">
                  <a:extLst>
                    <a:ext uri="{9D8B030D-6E8A-4147-A177-3AD203B41FA5}">
                      <a16:colId xmlns:a16="http://schemas.microsoft.com/office/drawing/2014/main" val="1655089939"/>
                    </a:ext>
                  </a:extLst>
                </a:gridCol>
                <a:gridCol w="3963144">
                  <a:extLst>
                    <a:ext uri="{9D8B030D-6E8A-4147-A177-3AD203B41FA5}">
                      <a16:colId xmlns:a16="http://schemas.microsoft.com/office/drawing/2014/main" val="149253080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50267742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923602441"/>
                    </a:ext>
                  </a:extLst>
                </a:gridCol>
              </a:tblGrid>
              <a:tr h="352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666363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성명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사용량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수신건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발신건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150GB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150GB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150GB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81431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150GB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150GB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18671"/>
                  </a:ext>
                </a:extLst>
              </a:tr>
            </a:tbl>
          </a:graphicData>
        </a:graphic>
      </p:graphicFrame>
      <p:grpSp>
        <p:nvGrpSpPr>
          <p:cNvPr id="11" name="그룹 10"/>
          <p:cNvGrpSpPr/>
          <p:nvPr/>
        </p:nvGrpSpPr>
        <p:grpSpPr>
          <a:xfrm>
            <a:off x="3475137" y="4613548"/>
            <a:ext cx="3412951" cy="1462633"/>
            <a:chOff x="2478087" y="4242842"/>
            <a:chExt cx="4410001" cy="1462633"/>
          </a:xfrm>
        </p:grpSpPr>
        <p:grpSp>
          <p:nvGrpSpPr>
            <p:cNvPr id="16" name="그룹 15"/>
            <p:cNvGrpSpPr/>
            <p:nvPr/>
          </p:nvGrpSpPr>
          <p:grpSpPr>
            <a:xfrm>
              <a:off x="2478087" y="4242842"/>
              <a:ext cx="4410001" cy="205333"/>
              <a:chOff x="2478087" y="4242842"/>
              <a:chExt cx="4410001" cy="205333"/>
            </a:xfrm>
          </p:grpSpPr>
          <p:sp>
            <p:nvSpPr>
              <p:cNvPr id="88" name="직사각형 87"/>
              <p:cNvSpPr/>
              <p:nvPr/>
            </p:nvSpPr>
            <p:spPr>
              <a:xfrm>
                <a:off x="2478088" y="4242842"/>
                <a:ext cx="4410000" cy="205333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endPara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sp>
            <p:nvSpPr>
              <p:cNvPr id="89" name="직사각형 88"/>
              <p:cNvSpPr/>
              <p:nvPr/>
            </p:nvSpPr>
            <p:spPr>
              <a:xfrm>
                <a:off x="2478087" y="4242842"/>
                <a:ext cx="4193977" cy="20533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endPara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6010747" y="4279667"/>
                <a:ext cx="661317" cy="133722"/>
              </a:xfrm>
              <a:prstGeom prst="rect">
                <a:avLst/>
              </a:prstGeom>
              <a:noFill/>
            </p:spPr>
            <p:txBody>
              <a:bodyPr wrap="none" lIns="72000" rIns="72000" rtlCol="0" anchor="ctr">
                <a:noAutofit/>
              </a:bodyPr>
              <a:lstStyle/>
              <a:p>
                <a:pPr algn="r"/>
                <a:r>
                  <a:rPr lang="en-US" altLang="ko-KR" sz="800" smtClean="0">
                    <a:solidFill>
                      <a:schemeClr val="bg1"/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90GB</a:t>
                </a:r>
                <a:endParaRPr lang="ko-KR" altLang="en-US" sz="800" smtClean="0">
                  <a:solidFill>
                    <a:schemeClr val="bg1"/>
                  </a:solidFill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  <p:cxnSp>
            <p:nvCxnSpPr>
              <p:cNvPr id="15" name="직선 연결선 14"/>
              <p:cNvCxnSpPr/>
              <p:nvPr/>
            </p:nvCxnSpPr>
            <p:spPr>
              <a:xfrm>
                <a:off x="4825149" y="4242842"/>
                <a:ext cx="0" cy="205333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3" name="직사각형 92"/>
            <p:cNvSpPr/>
            <p:nvPr/>
          </p:nvSpPr>
          <p:spPr>
            <a:xfrm>
              <a:off x="2478088" y="4547642"/>
              <a:ext cx="4410000" cy="205333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2478087" y="4547642"/>
              <a:ext cx="2848434" cy="205333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4871864" y="4584467"/>
              <a:ext cx="661317" cy="133722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en-US" altLang="ko-KR" sz="800" smtClean="0">
                  <a:solidFill>
                    <a:schemeClr val="bg1"/>
                  </a:solidFill>
                  <a:latin typeface="나눔고딕" panose="020B0600000101010101" charset="-127"/>
                  <a:ea typeface="나눔고딕" panose="020B0600000101010101" charset="-127"/>
                </a:rPr>
                <a:t>60GB</a:t>
              </a:r>
              <a:endParaRPr lang="ko-KR" altLang="en-US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cxnSp>
          <p:nvCxnSpPr>
            <p:cNvPr id="96" name="직선 연결선 95"/>
            <p:cNvCxnSpPr/>
            <p:nvPr/>
          </p:nvCxnSpPr>
          <p:spPr>
            <a:xfrm>
              <a:off x="4825149" y="4547642"/>
              <a:ext cx="0" cy="20533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직사각형 97"/>
            <p:cNvSpPr/>
            <p:nvPr/>
          </p:nvSpPr>
          <p:spPr>
            <a:xfrm>
              <a:off x="2478088" y="4871492"/>
              <a:ext cx="4410000" cy="205333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2478087" y="4871492"/>
              <a:ext cx="2848434" cy="205333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4871864" y="4908317"/>
              <a:ext cx="661317" cy="133722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en-US" altLang="ko-KR" sz="800" smtClean="0">
                  <a:solidFill>
                    <a:schemeClr val="bg1"/>
                  </a:solidFill>
                  <a:latin typeface="나눔고딕" panose="020B0600000101010101" charset="-127"/>
                  <a:ea typeface="나눔고딕" panose="020B0600000101010101" charset="-127"/>
                </a:rPr>
                <a:t>60GB</a:t>
              </a:r>
              <a:endParaRPr lang="ko-KR" altLang="en-US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cxnSp>
          <p:nvCxnSpPr>
            <p:cNvPr id="101" name="직선 연결선 100"/>
            <p:cNvCxnSpPr/>
            <p:nvPr/>
          </p:nvCxnSpPr>
          <p:spPr>
            <a:xfrm>
              <a:off x="4825149" y="4871492"/>
              <a:ext cx="0" cy="20533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" name="그룹 101"/>
            <p:cNvGrpSpPr/>
            <p:nvPr/>
          </p:nvGrpSpPr>
          <p:grpSpPr>
            <a:xfrm>
              <a:off x="2478087" y="5195342"/>
              <a:ext cx="4410001" cy="205333"/>
              <a:chOff x="2478087" y="4242842"/>
              <a:chExt cx="4410001" cy="205333"/>
            </a:xfrm>
          </p:grpSpPr>
          <p:sp>
            <p:nvSpPr>
              <p:cNvPr id="103" name="직사각형 102"/>
              <p:cNvSpPr/>
              <p:nvPr/>
            </p:nvSpPr>
            <p:spPr>
              <a:xfrm>
                <a:off x="2478088" y="4242842"/>
                <a:ext cx="4410000" cy="205333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endPara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sp>
            <p:nvSpPr>
              <p:cNvPr id="104" name="직사각형 103"/>
              <p:cNvSpPr/>
              <p:nvPr/>
            </p:nvSpPr>
            <p:spPr>
              <a:xfrm>
                <a:off x="2478087" y="4242842"/>
                <a:ext cx="1889721" cy="205333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endPara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4379224" y="4279667"/>
                <a:ext cx="661317" cy="133722"/>
              </a:xfrm>
              <a:prstGeom prst="rect">
                <a:avLst/>
              </a:prstGeom>
              <a:noFill/>
            </p:spPr>
            <p:txBody>
              <a:bodyPr wrap="none" lIns="72000" rIns="72000" rtlCol="0" anchor="ctr">
                <a:noAutofit/>
              </a:bodyPr>
              <a:lstStyle/>
              <a:p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40GB</a:t>
                </a:r>
                <a:endPara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  <p:cxnSp>
            <p:nvCxnSpPr>
              <p:cNvPr id="106" name="직선 연결선 105"/>
              <p:cNvCxnSpPr/>
              <p:nvPr/>
            </p:nvCxnSpPr>
            <p:spPr>
              <a:xfrm>
                <a:off x="4825149" y="4242842"/>
                <a:ext cx="0" cy="205333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7" name="그룹 106"/>
            <p:cNvGrpSpPr/>
            <p:nvPr/>
          </p:nvGrpSpPr>
          <p:grpSpPr>
            <a:xfrm>
              <a:off x="2478087" y="5500142"/>
              <a:ext cx="4410001" cy="205333"/>
              <a:chOff x="2478087" y="4242842"/>
              <a:chExt cx="4410001" cy="205333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2478088" y="4242842"/>
                <a:ext cx="4410000" cy="205333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endPara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sp>
            <p:nvSpPr>
              <p:cNvPr id="109" name="직사각형 108"/>
              <p:cNvSpPr/>
              <p:nvPr/>
            </p:nvSpPr>
            <p:spPr>
              <a:xfrm>
                <a:off x="2478087" y="4242842"/>
                <a:ext cx="1889721" cy="205333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endPara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4379224" y="4279667"/>
                <a:ext cx="661317" cy="133722"/>
              </a:xfrm>
              <a:prstGeom prst="rect">
                <a:avLst/>
              </a:prstGeom>
              <a:noFill/>
            </p:spPr>
            <p:txBody>
              <a:bodyPr wrap="none" lIns="72000" rIns="72000" rtlCol="0" anchor="ctr">
                <a:noAutofit/>
              </a:bodyPr>
              <a:lstStyle/>
              <a:p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40GB</a:t>
                </a:r>
                <a:endPara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  <p:cxnSp>
            <p:nvCxnSpPr>
              <p:cNvPr id="111" name="직선 연결선 110"/>
              <p:cNvCxnSpPr/>
              <p:nvPr/>
            </p:nvCxnSpPr>
            <p:spPr>
              <a:xfrm>
                <a:off x="4825149" y="4242842"/>
                <a:ext cx="0" cy="205333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7" name="그룹 116"/>
          <p:cNvGrpSpPr/>
          <p:nvPr/>
        </p:nvGrpSpPr>
        <p:grpSpPr>
          <a:xfrm>
            <a:off x="3916100" y="6521152"/>
            <a:ext cx="1700363" cy="360040"/>
            <a:chOff x="3947422" y="6021288"/>
            <a:chExt cx="1700363" cy="360040"/>
          </a:xfrm>
        </p:grpSpPr>
        <p:sp>
          <p:nvSpPr>
            <p:cNvPr id="118" name="TextBox 117"/>
            <p:cNvSpPr txBox="1"/>
            <p:nvPr/>
          </p:nvSpPr>
          <p:spPr>
            <a:xfrm>
              <a:off x="4025146" y="6021288"/>
              <a:ext cx="1622639" cy="36004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en-US" altLang="ko-KR" sz="10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&lt;&lt;  &lt; </a:t>
              </a:r>
              <a:r>
                <a:rPr lang="en-US" altLang="ko-KR" sz="10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  1</a:t>
              </a:r>
              <a:r>
                <a:rPr lang="en-US" altLang="ko-KR" sz="1000" smtClean="0">
                  <a:solidFill>
                    <a:schemeClr val="bg1">
                      <a:lumMod val="6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  2   3   4   5   6   7   8   9   15    </a:t>
              </a:r>
              <a:r>
                <a:rPr lang="en-US" altLang="ko-KR" sz="10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&gt;  &gt;&gt;</a:t>
              </a:r>
              <a:endPara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cxnSp>
          <p:nvCxnSpPr>
            <p:cNvPr id="119" name="직선 연결선 118"/>
            <p:cNvCxnSpPr/>
            <p:nvPr/>
          </p:nvCxnSpPr>
          <p:spPr>
            <a:xfrm>
              <a:off x="3947422" y="6305996"/>
              <a:ext cx="102789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0" name="그림 1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" y="6118820"/>
            <a:ext cx="9192343" cy="27317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7" name="직각 삼각형 16"/>
          <p:cNvSpPr/>
          <p:nvPr/>
        </p:nvSpPr>
        <p:spPr>
          <a:xfrm flipH="1">
            <a:off x="7294604" y="4464911"/>
            <a:ext cx="91227" cy="90617"/>
          </a:xfrm>
          <a:prstGeom prst="rtTriangle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21" name="그룹 120"/>
          <p:cNvGrpSpPr/>
          <p:nvPr/>
        </p:nvGrpSpPr>
        <p:grpSpPr>
          <a:xfrm>
            <a:off x="7093938" y="3933173"/>
            <a:ext cx="1126484" cy="229245"/>
            <a:chOff x="1098673" y="3495030"/>
            <a:chExt cx="1126484" cy="229245"/>
          </a:xfrm>
        </p:grpSpPr>
        <p:sp>
          <p:nvSpPr>
            <p:cNvPr id="122" name="모서리가 둥근 직사각형 121"/>
            <p:cNvSpPr/>
            <p:nvPr/>
          </p:nvSpPr>
          <p:spPr>
            <a:xfrm>
              <a:off x="1098673" y="3495030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ko-KR" sz="9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rebuchet MS" panose="020B0603020202020204" pitchFamily="34" charset="0"/>
                  <a:ea typeface="나눔고딕" pitchFamily="50" charset="-127"/>
                </a:rPr>
                <a:t> DOWNLOAD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123" name="그림 122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174" y="3529537"/>
              <a:ext cx="137302" cy="156072"/>
            </a:xfrm>
            <a:prstGeom prst="rect">
              <a:avLst/>
            </a:prstGeom>
          </p:spPr>
        </p:pic>
      </p:grpSp>
      <p:grpSp>
        <p:nvGrpSpPr>
          <p:cNvPr id="124" name="그룹 123"/>
          <p:cNvGrpSpPr/>
          <p:nvPr/>
        </p:nvGrpSpPr>
        <p:grpSpPr>
          <a:xfrm>
            <a:off x="8293199" y="3937981"/>
            <a:ext cx="468189" cy="226647"/>
            <a:chOff x="8184232" y="2397322"/>
            <a:chExt cx="468189" cy="226647"/>
          </a:xfrm>
        </p:grpSpPr>
        <p:sp>
          <p:nvSpPr>
            <p:cNvPr id="125" name="모서리가 둥근 직사각형 124"/>
            <p:cNvSpPr/>
            <p:nvPr/>
          </p:nvSpPr>
          <p:spPr>
            <a:xfrm>
              <a:off x="8184232" y="2397322"/>
              <a:ext cx="464363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15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 rot="5400000">
              <a:off x="8455422" y="2415016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&gt;</a:t>
              </a:r>
              <a:endPara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861247" y="3977258"/>
            <a:ext cx="1444427" cy="1558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UPDATE : 2017-07-31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790136" y="3817344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2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통계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웹메일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 및 사용자별 현황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 현황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DA3.3.2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97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841709" y="2277725"/>
            <a:ext cx="7987965" cy="265450"/>
          </a:xfrm>
          <a:prstGeom prst="rect">
            <a:avLst/>
          </a:prstGeom>
          <a:solidFill>
            <a:srgbClr val="FF0000">
              <a:alpha val="46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삭제</a:t>
            </a:r>
            <a:endParaRPr 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pSp>
        <p:nvGrpSpPr>
          <p:cNvPr id="112" name="그룹 111"/>
          <p:cNvGrpSpPr/>
          <p:nvPr/>
        </p:nvGrpSpPr>
        <p:grpSpPr>
          <a:xfrm>
            <a:off x="5837792" y="3557513"/>
            <a:ext cx="2944649" cy="226647"/>
            <a:chOff x="5903179" y="2445148"/>
            <a:chExt cx="2944649" cy="226647"/>
          </a:xfrm>
        </p:grpSpPr>
        <p:sp>
          <p:nvSpPr>
            <p:cNvPr id="113" name="모서리가 둥근 직사각형 112"/>
            <p:cNvSpPr/>
            <p:nvPr/>
          </p:nvSpPr>
          <p:spPr>
            <a:xfrm>
              <a:off x="6666292" y="2445148"/>
              <a:ext cx="2181536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14" name="모서리가 둥근 직사각형 113"/>
            <p:cNvSpPr/>
            <p:nvPr/>
          </p:nvSpPr>
          <p:spPr>
            <a:xfrm>
              <a:off x="5903179" y="2445149"/>
              <a:ext cx="683617" cy="22342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전체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 rot="5400000">
              <a:off x="6401365" y="2460560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pic>
          <p:nvPicPr>
            <p:cNvPr id="116" name="그림 115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4315" y="2492511"/>
              <a:ext cx="125049" cy="125049"/>
            </a:xfrm>
            <a:prstGeom prst="rect">
              <a:avLst/>
            </a:prstGeom>
          </p:spPr>
        </p:pic>
      </p:grpSp>
      <p:sp>
        <p:nvSpPr>
          <p:cNvPr id="128" name="모서리가 둥근 직사각형 127"/>
          <p:cNvSpPr/>
          <p:nvPr/>
        </p:nvSpPr>
        <p:spPr>
          <a:xfrm>
            <a:off x="5837792" y="3786114"/>
            <a:ext cx="683617" cy="8716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전체</a:t>
            </a:r>
            <a:endParaRPr kumimoji="1" lang="en-US" altLang="ko-KR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부서명</a:t>
            </a:r>
            <a:endParaRPr lang="en-US" altLang="ko-KR" sz="800" smtClean="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pPr marL="0" marR="0" lvl="0" indent="0" algn="l" defTabSz="914400" rtl="0" eaLnBrk="1" fontAlgn="base" latinLnBrk="1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성명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130" name="그룹 129"/>
          <p:cNvGrpSpPr/>
          <p:nvPr/>
        </p:nvGrpSpPr>
        <p:grpSpPr>
          <a:xfrm>
            <a:off x="1137906" y="1482657"/>
            <a:ext cx="2653838" cy="294480"/>
            <a:chOff x="2464825" y="1482657"/>
            <a:chExt cx="2653838" cy="294480"/>
          </a:xfrm>
        </p:grpSpPr>
        <p:sp>
          <p:nvSpPr>
            <p:cNvPr id="131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2464825" y="1482657"/>
              <a:ext cx="1326919" cy="294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 smtClean="0">
                  <a:solidFill>
                    <a:prstClr val="white">
                      <a:lumMod val="7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일별 발송 현황</a:t>
              </a:r>
              <a:endParaRPr lang="en-US" sz="800" dirty="0">
                <a:solidFill>
                  <a:prstClr val="white">
                    <a:lumMod val="7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  <p:sp>
          <p:nvSpPr>
            <p:cNvPr id="132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3791744" y="1482657"/>
              <a:ext cx="1326919" cy="2944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800">
                  <a:solidFill>
                    <a:prstClr val="black">
                      <a:lumMod val="95000"/>
                      <a:lumOff val="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부서 및 사용자별 현황</a:t>
              </a:r>
              <a:endParaRPr lang="en-US" sz="8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2662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5400" y="1340768"/>
            <a:ext cx="3283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 정보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웹폴더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61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 txBox="1">
            <a:spLocks/>
          </p:cNvSpPr>
          <p:nvPr/>
        </p:nvSpPr>
        <p:spPr>
          <a:xfrm>
            <a:off x="1008246" y="383810"/>
            <a:ext cx="8568952" cy="3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spc="-100" baseline="0">
                <a:solidFill>
                  <a:srgbClr val="0B55B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Location</a:t>
            </a:r>
            <a:endParaRPr kumimoji="0" lang="ko-KR" altLang="en-US" sz="1600" b="0" i="0" u="none" strike="noStrike" kern="1200" cap="none" spc="-10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045969"/>
              </p:ext>
            </p:extLst>
          </p:nvPr>
        </p:nvGraphicFramePr>
        <p:xfrm>
          <a:off x="990126" y="1050330"/>
          <a:ext cx="5249892" cy="3153672"/>
        </p:xfrm>
        <a:graphic>
          <a:graphicData uri="http://schemas.openxmlformats.org/drawingml/2006/table">
            <a:tbl>
              <a:tblPr/>
              <a:tblGrid>
                <a:gridCol w="1312473">
                  <a:extLst>
                    <a:ext uri="{9D8B030D-6E8A-4147-A177-3AD203B41FA5}">
                      <a16:colId xmlns:a16="http://schemas.microsoft.com/office/drawing/2014/main" val="2905596105"/>
                    </a:ext>
                  </a:extLst>
                </a:gridCol>
                <a:gridCol w="1312473">
                  <a:extLst>
                    <a:ext uri="{9D8B030D-6E8A-4147-A177-3AD203B41FA5}">
                      <a16:colId xmlns:a16="http://schemas.microsoft.com/office/drawing/2014/main" val="832508854"/>
                    </a:ext>
                  </a:extLst>
                </a:gridCol>
                <a:gridCol w="1312473">
                  <a:extLst>
                    <a:ext uri="{9D8B030D-6E8A-4147-A177-3AD203B41FA5}">
                      <a16:colId xmlns:a16="http://schemas.microsoft.com/office/drawing/2014/main" val="3041841285"/>
                    </a:ext>
                  </a:extLst>
                </a:gridCol>
                <a:gridCol w="1312473">
                  <a:extLst>
                    <a:ext uri="{9D8B030D-6E8A-4147-A177-3AD203B41FA5}">
                      <a16:colId xmlns:a16="http://schemas.microsoft.com/office/drawing/2014/main" val="1359020298"/>
                    </a:ext>
                  </a:extLst>
                </a:gridCol>
              </a:tblGrid>
              <a:tr h="26280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통계 정보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D0D0D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D0D0D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0492198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smtClean="0"/>
                        <a:t>통계</a:t>
                      </a:r>
                      <a:endParaRPr lang="ko-KR" altLang="en-US" sz="900"/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2721406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　</a:t>
                      </a: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900"/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900" b="0" i="0" u="none" strike="noStrike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 통계</a:t>
                      </a:r>
                      <a:endParaRPr lang="ko-KR" altLang="en-US" sz="900" b="0" i="0" u="none" strike="noStrik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2231621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　</a:t>
                      </a: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900"/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900" b="0" i="0" u="none" strike="noStrike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웹메일 통계</a:t>
                      </a:r>
                      <a:endParaRPr lang="ko-KR" altLang="en-US" sz="900" b="0" i="0" u="none" strike="noStrik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388384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FFFF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웹폴더 통계</a:t>
                      </a:r>
                      <a:endParaRPr lang="ko-KR" altLang="en-US" sz="900" b="0" i="0" u="none" strike="noStrike">
                        <a:solidFill>
                          <a:srgbClr val="FFFF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3726967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액션로그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0814916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40404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로그인</a:t>
                      </a:r>
                      <a:endParaRPr lang="en-US" altLang="ko-KR" sz="900" b="0" i="0" u="none" strike="noStrike" smtClean="0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3803983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40404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</a:t>
                      </a:r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7209817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40404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결재</a:t>
                      </a:r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8120801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40404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권한</a:t>
                      </a:r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7850870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40404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업무넷</a:t>
                      </a:r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6421378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40404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스퀘어</a:t>
                      </a:r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4328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902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lang="ko-KR" altLang="en-US" sz="12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웹폴더 통계</a:t>
            </a:r>
            <a:endParaRPr lang="ko-KR" altLang="en-US" sz="1200" b="1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936570"/>
              </p:ext>
            </p:extLst>
          </p:nvPr>
        </p:nvGraphicFramePr>
        <p:xfrm>
          <a:off x="850416" y="1981201"/>
          <a:ext cx="7981887" cy="575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457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426430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일별               월별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31509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143672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grpSp>
        <p:nvGrpSpPr>
          <p:cNvPr id="31" name="그룹 30"/>
          <p:cNvGrpSpPr/>
          <p:nvPr/>
        </p:nvGrpSpPr>
        <p:grpSpPr>
          <a:xfrm>
            <a:off x="2516855" y="2000950"/>
            <a:ext cx="226293" cy="222101"/>
            <a:chOff x="4359942" y="3596387"/>
            <a:chExt cx="226293" cy="222101"/>
          </a:xfrm>
        </p:grpSpPr>
        <p:sp>
          <p:nvSpPr>
            <p:cNvPr id="32" name="TextBox 31"/>
            <p:cNvSpPr txBox="1"/>
            <p:nvPr/>
          </p:nvSpPr>
          <p:spPr>
            <a:xfrm>
              <a:off x="4359942" y="3596387"/>
              <a:ext cx="226293" cy="222101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○</a:t>
              </a: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4416162" y="3647344"/>
              <a:ext cx="123825" cy="100482"/>
            </a:xfrm>
            <a:custGeom>
              <a:avLst/>
              <a:gdLst>
                <a:gd name="connsiteX0" fmla="*/ 0 w 190500"/>
                <a:gd name="connsiteY0" fmla="*/ 95250 h 209550"/>
                <a:gd name="connsiteX1" fmla="*/ 76200 w 190500"/>
                <a:gd name="connsiteY1" fmla="*/ 209550 h 209550"/>
                <a:gd name="connsiteX2" fmla="*/ 190500 w 190500"/>
                <a:gd name="connsiteY2" fmla="*/ 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0" h="209550">
                  <a:moveTo>
                    <a:pt x="0" y="95250"/>
                  </a:moveTo>
                  <a:lnTo>
                    <a:pt x="76200" y="209550"/>
                  </a:lnTo>
                  <a:lnTo>
                    <a:pt x="190500" y="0"/>
                  </a:lnTo>
                </a:path>
              </a:pathLst>
            </a:cu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7389213" y="3280140"/>
            <a:ext cx="1126484" cy="229245"/>
            <a:chOff x="1098673" y="3495030"/>
            <a:chExt cx="1126484" cy="229245"/>
          </a:xfrm>
        </p:grpSpPr>
        <p:sp>
          <p:nvSpPr>
            <p:cNvPr id="56" name="모서리가 둥근 직사각형 55"/>
            <p:cNvSpPr/>
            <p:nvPr/>
          </p:nvSpPr>
          <p:spPr>
            <a:xfrm>
              <a:off x="1098673" y="3495030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 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174" y="3529537"/>
              <a:ext cx="137302" cy="156072"/>
            </a:xfrm>
            <a:prstGeom prst="rect">
              <a:avLst/>
            </a:prstGeom>
          </p:spPr>
        </p:pic>
      </p:grpSp>
      <p:grpSp>
        <p:nvGrpSpPr>
          <p:cNvPr id="66" name="그룹 65"/>
          <p:cNvGrpSpPr/>
          <p:nvPr/>
        </p:nvGrpSpPr>
        <p:grpSpPr>
          <a:xfrm>
            <a:off x="2553841" y="2301255"/>
            <a:ext cx="2271308" cy="191630"/>
            <a:chOff x="6240016" y="3620013"/>
            <a:chExt cx="2271308" cy="191630"/>
          </a:xfrm>
        </p:grpSpPr>
        <p:grpSp>
          <p:nvGrpSpPr>
            <p:cNvPr id="67" name="그룹 66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69" name="그룹 68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73" name="그림 72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74" name="직사각형 73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2017-07-30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70" name="그룹 69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71" name="그림 70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72" name="직사각형 71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2017-08-05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68" name="TextBox 67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4861941" y="2339355"/>
            <a:ext cx="1567433" cy="14860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주단위로만 조회 가능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통계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웹폴더 통계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기간별 현황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 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3865823" y="2708920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150433" y="3579038"/>
            <a:ext cx="7393839" cy="284458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2279576" y="5994447"/>
            <a:ext cx="125329" cy="21968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084470" y="4950963"/>
            <a:ext cx="125329" cy="12631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889364" y="3962399"/>
            <a:ext cx="125329" cy="225172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694258" y="3962399"/>
            <a:ext cx="125329" cy="225172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499152" y="3962399"/>
            <a:ext cx="125329" cy="2251729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noFill/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6304046" y="5390325"/>
            <a:ext cx="125329" cy="82380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129730" y="6260926"/>
            <a:ext cx="642045" cy="14897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2017-07-30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934234" y="6260926"/>
            <a:ext cx="642045" cy="14897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2017-07-31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740577" y="6260926"/>
            <a:ext cx="642045" cy="14897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2017-08-01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545081" y="6260926"/>
            <a:ext cx="642045" cy="14897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2017-08-02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49585" y="6260926"/>
            <a:ext cx="642045" cy="14897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2017-08-03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153810" y="6260926"/>
            <a:ext cx="642045" cy="14897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2017-08-04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958035" y="6260926"/>
            <a:ext cx="642045" cy="14897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2017-08-05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343472" y="4509120"/>
            <a:ext cx="285428" cy="9144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&lt;</a:t>
            </a:r>
            <a:endParaRPr kumimoji="1" lang="ko-KR" altLang="en-US" sz="2400" b="0" i="0" u="none" strike="noStrike" kern="1200" cap="none" spc="0" normalizeH="0" baseline="0" noProof="0" smtClean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925247" y="4509120"/>
            <a:ext cx="285428" cy="9144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&gt;</a:t>
            </a:r>
            <a:endParaRPr kumimoji="1" lang="ko-KR" altLang="en-US" sz="2400" b="0" i="0" u="none" strike="noStrike" kern="1200" cap="none" spc="0" normalizeH="0" baseline="0" noProof="0" smtClean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871688" y="3739504"/>
            <a:ext cx="208088" cy="23165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50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655840" y="3739504"/>
            <a:ext cx="208088" cy="23165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50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447928" y="3739504"/>
            <a:ext cx="208088" cy="23165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50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041500" y="4776191"/>
            <a:ext cx="208088" cy="23165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28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207568" y="5780111"/>
            <a:ext cx="208088" cy="23165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5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173788" y="5981277"/>
            <a:ext cx="208088" cy="23165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0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259066" y="5219674"/>
            <a:ext cx="208088" cy="23165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20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091283" y="3347467"/>
            <a:ext cx="1231726" cy="13372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2016-07-30 </a:t>
            </a: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~ </a:t>
            </a:r>
            <a:r>
              <a:rPr kumimoji="1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2017-08-05 </a:t>
            </a:r>
            <a:r>
              <a:rPr kumimoji="1" lang="ko-KR" alt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 업로드 및 다운로드 </a:t>
            </a:r>
            <a:r>
              <a:rPr kumimoji="1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현황</a:t>
            </a:r>
            <a:endParaRPr kumimoji="1" lang="ko-KR" altLang="en-US" sz="9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87" name="직선 연결선 86"/>
          <p:cNvCxnSpPr/>
          <p:nvPr/>
        </p:nvCxnSpPr>
        <p:spPr>
          <a:xfrm>
            <a:off x="1703512" y="6212929"/>
            <a:ext cx="6408712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2491176" y="5994447"/>
            <a:ext cx="125329" cy="2196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3298039" y="4959754"/>
            <a:ext cx="125329" cy="12631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4120606" y="3962399"/>
            <a:ext cx="125329" cy="22517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4907868" y="3962399"/>
            <a:ext cx="125329" cy="22517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5699209" y="3962399"/>
            <a:ext cx="125329" cy="22517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noFill/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6492058" y="5390325"/>
            <a:ext cx="125329" cy="82380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449566" y="5219674"/>
            <a:ext cx="208088" cy="23165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20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260575" y="4776191"/>
            <a:ext cx="208088" cy="23165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28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90" name="사각형 설명선 89"/>
          <p:cNvSpPr/>
          <p:nvPr/>
        </p:nvSpPr>
        <p:spPr>
          <a:xfrm>
            <a:off x="5937558" y="4236793"/>
            <a:ext cx="1454671" cy="477020"/>
          </a:xfrm>
          <a:prstGeom prst="wedgeRectCallout">
            <a:avLst>
              <a:gd name="adj1" fmla="val -60712"/>
              <a:gd name="adj2" fmla="val 33486"/>
            </a:avLst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graphicFrame>
        <p:nvGraphicFramePr>
          <p:cNvPr id="91" name="표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304859"/>
              </p:ext>
            </p:extLst>
          </p:nvPr>
        </p:nvGraphicFramePr>
        <p:xfrm>
          <a:off x="5947500" y="4259253"/>
          <a:ext cx="144360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544">
                  <a:extLst>
                    <a:ext uri="{9D8B030D-6E8A-4147-A177-3AD203B41FA5}">
                      <a16:colId xmlns:a16="http://schemas.microsoft.com/office/drawing/2014/main" val="335030843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713755803"/>
                    </a:ext>
                  </a:extLst>
                </a:gridCol>
              </a:tblGrid>
              <a:tr h="20161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최다 다운로드 시간대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346830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15:00 ~ 15:59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건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807711"/>
                  </a:ext>
                </a:extLst>
              </a:tr>
            </a:tbl>
          </a:graphicData>
        </a:graphic>
      </p:graphicFrame>
      <p:sp>
        <p:nvSpPr>
          <p:cNvPr id="88" name="직사각형 87"/>
          <p:cNvSpPr/>
          <p:nvPr/>
        </p:nvSpPr>
        <p:spPr>
          <a:xfrm>
            <a:off x="7591551" y="3856303"/>
            <a:ext cx="240487" cy="10609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7591551" y="4008703"/>
            <a:ext cx="240487" cy="1060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99015" y="3848047"/>
            <a:ext cx="914400" cy="11435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업로드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99015" y="4009972"/>
            <a:ext cx="914400" cy="11435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다운로드</a:t>
            </a:r>
          </a:p>
        </p:txBody>
      </p:sp>
      <p:sp>
        <p:nvSpPr>
          <p:cNvPr id="94" name="사각형 설명선 93"/>
          <p:cNvSpPr/>
          <p:nvPr/>
        </p:nvSpPr>
        <p:spPr>
          <a:xfrm>
            <a:off x="6528108" y="5475043"/>
            <a:ext cx="1454671" cy="477020"/>
          </a:xfrm>
          <a:prstGeom prst="wedgeRectCallout">
            <a:avLst>
              <a:gd name="adj1" fmla="val -60712"/>
              <a:gd name="adj2" fmla="val 33486"/>
            </a:avLst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graphicFrame>
        <p:nvGraphicFramePr>
          <p:cNvPr id="95" name="표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757864"/>
              </p:ext>
            </p:extLst>
          </p:nvPr>
        </p:nvGraphicFramePr>
        <p:xfrm>
          <a:off x="6538050" y="5497503"/>
          <a:ext cx="144360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544">
                  <a:extLst>
                    <a:ext uri="{9D8B030D-6E8A-4147-A177-3AD203B41FA5}">
                      <a16:colId xmlns:a16="http://schemas.microsoft.com/office/drawing/2014/main" val="335030843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713755803"/>
                    </a:ext>
                  </a:extLst>
                </a:gridCol>
              </a:tblGrid>
              <a:tr h="20161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최다 업로드 시간대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346830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15:00 ~ 15:59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건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807711"/>
                  </a:ext>
                </a:extLst>
              </a:tr>
            </a:tbl>
          </a:graphicData>
        </a:graphic>
      </p:graphicFrame>
      <p:graphicFrame>
        <p:nvGraphicFramePr>
          <p:cNvPr id="9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413354"/>
              </p:ext>
            </p:extLst>
          </p:nvPr>
        </p:nvGraphicFramePr>
        <p:xfrm>
          <a:off x="9290533" y="786383"/>
          <a:ext cx="2835141" cy="1792574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주단위로 설정 가능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기본 세팅은 오늘 날자 기준으로 일주일 이전 날짜로 세팅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(1)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에서 세팅된 기간을 출력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86313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(1)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에서 세팅된 기간내 업로드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다운로드 건수를 그래프화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68763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4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날짜의 업로드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다운로드 그래프를 클릭할 경우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날짜의 최대로 업로드 또는 다운로드가 된 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시간 정보 및 건수가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313659"/>
                  </a:ext>
                </a:extLst>
              </a:tr>
            </a:tbl>
          </a:graphicData>
        </a:graphic>
      </p:graphicFrame>
      <p:sp>
        <p:nvSpPr>
          <p:cNvPr id="97" name="타원 96"/>
          <p:cNvSpPr/>
          <p:nvPr/>
        </p:nvSpPr>
        <p:spPr>
          <a:xfrm>
            <a:off x="2409452" y="2217591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8" name="모서리가 둥근 직사각형 97"/>
          <p:cNvSpPr/>
          <p:nvPr/>
        </p:nvSpPr>
        <p:spPr>
          <a:xfrm>
            <a:off x="1114426" y="3286126"/>
            <a:ext cx="1504950" cy="24765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9" name="타원 98"/>
          <p:cNvSpPr/>
          <p:nvPr/>
        </p:nvSpPr>
        <p:spPr>
          <a:xfrm>
            <a:off x="1037852" y="3198666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2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0" name="모서리가 둥근 직사각형 99"/>
          <p:cNvSpPr/>
          <p:nvPr/>
        </p:nvSpPr>
        <p:spPr>
          <a:xfrm>
            <a:off x="1944159" y="3691467"/>
            <a:ext cx="5895973" cy="2712509"/>
          </a:xfrm>
          <a:prstGeom prst="roundRect">
            <a:avLst>
              <a:gd name="adj" fmla="val 1997"/>
            </a:avLst>
          </a:prstGeom>
          <a:noFill/>
          <a:ln>
            <a:solidFill>
              <a:srgbClr val="FF0000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1" name="타원 100"/>
          <p:cNvSpPr/>
          <p:nvPr/>
        </p:nvSpPr>
        <p:spPr>
          <a:xfrm>
            <a:off x="1867585" y="3630467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3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2" name="타원 101"/>
          <p:cNvSpPr/>
          <p:nvPr/>
        </p:nvSpPr>
        <p:spPr>
          <a:xfrm>
            <a:off x="7258735" y="4154342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4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DA4.2.1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104" name="그룹 103"/>
          <p:cNvGrpSpPr/>
          <p:nvPr/>
        </p:nvGrpSpPr>
        <p:grpSpPr>
          <a:xfrm>
            <a:off x="1137906" y="1482657"/>
            <a:ext cx="2653838" cy="294480"/>
            <a:chOff x="2464825" y="1482657"/>
            <a:chExt cx="2653838" cy="294480"/>
          </a:xfrm>
        </p:grpSpPr>
        <p:sp>
          <p:nvSpPr>
            <p:cNvPr id="105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1"/>
              </p:custDataLst>
            </p:nvPr>
          </p:nvSpPr>
          <p:spPr>
            <a:xfrm>
              <a:off x="3791744" y="1482657"/>
              <a:ext cx="1326919" cy="294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부서 및 사용자별 현황</a:t>
              </a:r>
              <a:endParaRPr kumimoji="1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  <p:sp>
          <p:nvSpPr>
            <p:cNvPr id="106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2464825" y="1482657"/>
              <a:ext cx="1326919" cy="2944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기간별 현황</a:t>
              </a:r>
              <a:endParaRPr kumimoji="1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596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웹폴더 통계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022401"/>
              </p:ext>
            </p:extLst>
          </p:nvPr>
        </p:nvGraphicFramePr>
        <p:xfrm>
          <a:off x="850416" y="1981201"/>
          <a:ext cx="7981887" cy="575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457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426430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일별               월별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31509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516855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4" name="모서리가 둥근 직사각형 23"/>
          <p:cNvSpPr/>
          <p:nvPr/>
        </p:nvSpPr>
        <p:spPr>
          <a:xfrm>
            <a:off x="3865823" y="2708920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69" name="그룹 68"/>
          <p:cNvGrpSpPr/>
          <p:nvPr/>
        </p:nvGrpSpPr>
        <p:grpSpPr>
          <a:xfrm>
            <a:off x="7389213" y="3280140"/>
            <a:ext cx="1126484" cy="229245"/>
            <a:chOff x="1098673" y="3495030"/>
            <a:chExt cx="1126484" cy="229245"/>
          </a:xfrm>
        </p:grpSpPr>
        <p:sp>
          <p:nvSpPr>
            <p:cNvPr id="70" name="모서리가 둥근 직사각형 69"/>
            <p:cNvSpPr/>
            <p:nvPr/>
          </p:nvSpPr>
          <p:spPr>
            <a:xfrm>
              <a:off x="1098673" y="3495030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 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71" name="그림 7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174" y="3529537"/>
              <a:ext cx="137302" cy="156072"/>
            </a:xfrm>
            <a:prstGeom prst="rect">
              <a:avLst/>
            </a:prstGeom>
          </p:spPr>
        </p:pic>
      </p:grpSp>
      <p:sp>
        <p:nvSpPr>
          <p:cNvPr id="73" name="직사각형 72"/>
          <p:cNvSpPr/>
          <p:nvPr/>
        </p:nvSpPr>
        <p:spPr>
          <a:xfrm>
            <a:off x="1150433" y="3579038"/>
            <a:ext cx="7393839" cy="284458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91283" y="3347467"/>
            <a:ext cx="1231726" cy="13372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2016-08 </a:t>
            </a: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~ </a:t>
            </a:r>
            <a:r>
              <a:rPr kumimoji="1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2017-07 </a:t>
            </a:r>
            <a:r>
              <a:rPr kumimoji="1" lang="ko-KR" altLang="en-US" sz="9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월별</a:t>
            </a: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 </a:t>
            </a:r>
            <a:r>
              <a:rPr kumimoji="1" lang="ko-KR" altLang="en-US" sz="9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업로드 및 다운로드</a:t>
            </a:r>
            <a:r>
              <a:rPr kumimoji="1" lang="ko-KR" alt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 </a:t>
            </a:r>
            <a:r>
              <a:rPr kumimoji="1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현황</a:t>
            </a:r>
            <a:endParaRPr kumimoji="1" lang="ko-KR" altLang="en-US" sz="9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1420813" y="3962399"/>
            <a:ext cx="6700625" cy="2251729"/>
            <a:chOff x="1420813" y="3962399"/>
            <a:chExt cx="6700625" cy="2251729"/>
          </a:xfrm>
        </p:grpSpPr>
        <p:sp>
          <p:nvSpPr>
            <p:cNvPr id="74" name="직사각형 73"/>
            <p:cNvSpPr/>
            <p:nvPr/>
          </p:nvSpPr>
          <p:spPr>
            <a:xfrm>
              <a:off x="1420813" y="5994447"/>
              <a:ext cx="75263" cy="21968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2025680" y="4950963"/>
              <a:ext cx="75263" cy="126316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2630547" y="3962399"/>
              <a:ext cx="75263" cy="225172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3235414" y="3962399"/>
              <a:ext cx="75263" cy="225172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3840281" y="3962399"/>
              <a:ext cx="75263" cy="225172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4445149" y="5390325"/>
              <a:ext cx="75263" cy="82380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5021839" y="4495056"/>
              <a:ext cx="75263" cy="171907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5626706" y="4950963"/>
              <a:ext cx="75263" cy="126316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6231573" y="3962399"/>
              <a:ext cx="75263" cy="225172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6836440" y="4495056"/>
              <a:ext cx="75263" cy="171907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7441307" y="4495056"/>
              <a:ext cx="75263" cy="171907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8046175" y="5390325"/>
              <a:ext cx="75263" cy="82380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8575">
              <a:noFill/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</p:grpSp>
      <p:sp>
        <p:nvSpPr>
          <p:cNvPr id="106" name="TextBox 105"/>
          <p:cNvSpPr txBox="1"/>
          <p:nvPr/>
        </p:nvSpPr>
        <p:spPr>
          <a:xfrm>
            <a:off x="1272108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2016-08</a:t>
            </a:r>
            <a:endParaRPr kumimoji="1" lang="ko-KR" altLang="en-US" sz="7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900758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2016-09</a:t>
            </a:r>
            <a:endParaRPr kumimoji="1" lang="ko-KR" altLang="en-US" sz="7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2491128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2016-15</a:t>
            </a:r>
            <a:endParaRPr kumimoji="1" lang="ko-KR" altLang="en-US" sz="7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3119778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2016-11</a:t>
            </a:r>
            <a:endParaRPr kumimoji="1" lang="ko-KR" altLang="en-US" sz="7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3700862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2016-12</a:t>
            </a:r>
            <a:endParaRPr kumimoji="1" lang="ko-KR" altLang="en-US" sz="7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4305730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2017-01</a:t>
            </a:r>
            <a:endParaRPr kumimoji="1" lang="ko-KR" altLang="en-US" sz="7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886814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2017-02</a:t>
            </a:r>
            <a:endParaRPr kumimoji="1" lang="ko-KR" altLang="en-US" sz="7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5487287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2017-03</a:t>
            </a:r>
            <a:endParaRPr kumimoji="1" lang="ko-KR" altLang="en-US" sz="7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096548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2017-04</a:t>
            </a:r>
            <a:endParaRPr kumimoji="1" lang="ko-KR" altLang="en-US" sz="7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697021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2017-05</a:t>
            </a:r>
            <a:endParaRPr kumimoji="1" lang="ko-KR" altLang="en-US" sz="7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7306282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2017-06</a:t>
            </a:r>
            <a:endParaRPr kumimoji="1" lang="ko-KR" altLang="en-US" sz="7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925277" y="6215261"/>
            <a:ext cx="461442" cy="1664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2017-07</a:t>
            </a:r>
            <a:endParaRPr kumimoji="1" lang="ko-KR" altLang="en-US" sz="7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cxnSp>
        <p:nvCxnSpPr>
          <p:cNvPr id="118" name="직선 연결선 117"/>
          <p:cNvCxnSpPr/>
          <p:nvPr/>
        </p:nvCxnSpPr>
        <p:spPr>
          <a:xfrm>
            <a:off x="1316402" y="6212929"/>
            <a:ext cx="704958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/>
          <p:cNvGrpSpPr/>
          <p:nvPr/>
        </p:nvGrpSpPr>
        <p:grpSpPr>
          <a:xfrm>
            <a:off x="1270898" y="3810372"/>
            <a:ext cx="6984554" cy="2218953"/>
            <a:chOff x="1270898" y="3810372"/>
            <a:chExt cx="6984554" cy="2218953"/>
          </a:xfrm>
        </p:grpSpPr>
        <p:sp>
          <p:nvSpPr>
            <p:cNvPr id="119" name="TextBox 118"/>
            <p:cNvSpPr txBox="1"/>
            <p:nvPr/>
          </p:nvSpPr>
          <p:spPr>
            <a:xfrm>
              <a:off x="1270898" y="5848722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880498" y="4791447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471048" y="3810372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090173" y="3810372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3671198" y="3810372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4299848" y="5229597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7890773" y="5229597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7290698" y="4353297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6690623" y="4353297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081023" y="3810372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5480948" y="4791447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4871348" y="4353297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34" name="모서리가 접힌 도형 133"/>
          <p:cNvSpPr/>
          <p:nvPr/>
        </p:nvSpPr>
        <p:spPr>
          <a:xfrm>
            <a:off x="9290533" y="6400378"/>
            <a:ext cx="2832541" cy="266700"/>
          </a:xfrm>
          <a:prstGeom prst="foldedCorner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effectLst/>
        </p:spPr>
        <p:txBody>
          <a:bodyPr wrap="none" lIns="36000" tIns="108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다음 페이지 계속 ▼</a:t>
            </a:r>
            <a:endParaRPr kumimoji="1" lang="ko-KR" altLang="en-US" sz="9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35" name="아래쪽 화살표 134"/>
          <p:cNvSpPr/>
          <p:nvPr/>
        </p:nvSpPr>
        <p:spPr>
          <a:xfrm>
            <a:off x="8829912" y="5636235"/>
            <a:ext cx="288032" cy="936104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143672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83" name="자유형 82"/>
          <p:cNvSpPr/>
          <p:nvPr/>
        </p:nvSpPr>
        <p:spPr>
          <a:xfrm>
            <a:off x="3197771" y="205190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grpSp>
        <p:nvGrpSpPr>
          <p:cNvPr id="84" name="그룹 83"/>
          <p:cNvGrpSpPr/>
          <p:nvPr/>
        </p:nvGrpSpPr>
        <p:grpSpPr>
          <a:xfrm>
            <a:off x="1535113" y="3956956"/>
            <a:ext cx="6700625" cy="2251729"/>
            <a:chOff x="1420813" y="3962399"/>
            <a:chExt cx="6700625" cy="2251729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5" name="직사각형 84"/>
            <p:cNvSpPr/>
            <p:nvPr/>
          </p:nvSpPr>
          <p:spPr>
            <a:xfrm>
              <a:off x="1420813" y="5994447"/>
              <a:ext cx="75263" cy="219681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2025680" y="4950963"/>
              <a:ext cx="75263" cy="1263165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2630547" y="3962399"/>
              <a:ext cx="75263" cy="2251729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3235414" y="3962399"/>
              <a:ext cx="75263" cy="2251729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3840281" y="3962399"/>
              <a:ext cx="75263" cy="2251729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4445149" y="5390325"/>
              <a:ext cx="75263" cy="823803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5021839" y="4495056"/>
              <a:ext cx="75263" cy="171907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5626706" y="4950963"/>
              <a:ext cx="75263" cy="1263165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6231573" y="3962399"/>
              <a:ext cx="75263" cy="2251729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6836440" y="4495056"/>
              <a:ext cx="75263" cy="171907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7441307" y="4495056"/>
              <a:ext cx="75263" cy="171907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8046175" y="5390325"/>
              <a:ext cx="75263" cy="823803"/>
            </a:xfrm>
            <a:prstGeom prst="rect">
              <a:avLst/>
            </a:prstGeom>
            <a:grpFill/>
            <a:ln w="28575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</p:grpSp>
      <p:grpSp>
        <p:nvGrpSpPr>
          <p:cNvPr id="98" name="그룹 97"/>
          <p:cNvGrpSpPr/>
          <p:nvPr/>
        </p:nvGrpSpPr>
        <p:grpSpPr>
          <a:xfrm>
            <a:off x="1406969" y="3807778"/>
            <a:ext cx="6984554" cy="2218953"/>
            <a:chOff x="1270898" y="3810372"/>
            <a:chExt cx="6984554" cy="2218953"/>
          </a:xfrm>
        </p:grpSpPr>
        <p:sp>
          <p:nvSpPr>
            <p:cNvPr id="99" name="TextBox 98"/>
            <p:cNvSpPr txBox="1"/>
            <p:nvPr/>
          </p:nvSpPr>
          <p:spPr>
            <a:xfrm>
              <a:off x="1270898" y="5848722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1880498" y="4791447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2471048" y="3810372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3090173" y="3810372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3671198" y="3810372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4299848" y="5229597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7890773" y="5229597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290698" y="4353297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690623" y="4353297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081023" y="3810372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5480948" y="4791447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4871348" y="4353297"/>
              <a:ext cx="364679" cy="18060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anose="020B0600000101010101" charset="-127"/>
                  <a:cs typeface="+mn-cs"/>
                </a:rPr>
                <a:t>99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49" name="TextBox 148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통계 정보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웹폴더 통계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기간별 현황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월별 </a:t>
            </a:r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1114426" y="3286126"/>
            <a:ext cx="1132009" cy="24765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4" name="타원 153"/>
          <p:cNvSpPr/>
          <p:nvPr/>
        </p:nvSpPr>
        <p:spPr>
          <a:xfrm>
            <a:off x="1037852" y="3198666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2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4628523" y="2280903"/>
            <a:ext cx="215851" cy="228833"/>
          </a:xfrm>
          <a:prstGeom prst="rect">
            <a:avLst/>
          </a:prstGeom>
          <a:solidFill>
            <a:schemeClr val="bg1">
              <a:alpha val="8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3360888" y="2306843"/>
            <a:ext cx="215851" cy="228833"/>
          </a:xfrm>
          <a:prstGeom prst="rect">
            <a:avLst/>
          </a:prstGeom>
          <a:solidFill>
            <a:schemeClr val="bg1">
              <a:alpha val="8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DA4.2.2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1137906" y="1482657"/>
            <a:ext cx="2653838" cy="294480"/>
            <a:chOff x="2464825" y="1482657"/>
            <a:chExt cx="2653838" cy="294480"/>
          </a:xfrm>
        </p:grpSpPr>
        <p:sp>
          <p:nvSpPr>
            <p:cNvPr id="7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1"/>
              </p:custDataLst>
            </p:nvPr>
          </p:nvSpPr>
          <p:spPr>
            <a:xfrm>
              <a:off x="3791744" y="1482657"/>
              <a:ext cx="1326919" cy="294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부서 및 사용자별 현황</a:t>
              </a:r>
              <a:endParaRPr kumimoji="1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  <p:sp>
          <p:nvSpPr>
            <p:cNvPr id="8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2464825" y="1482657"/>
              <a:ext cx="1326919" cy="2944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기간별 현황</a:t>
              </a:r>
              <a:endParaRPr kumimoji="1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7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438001"/>
              </p:ext>
            </p:extLst>
          </p:nvPr>
        </p:nvGraphicFramePr>
        <p:xfrm>
          <a:off x="9290533" y="786383"/>
          <a:ext cx="2835141" cy="1449161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월 기준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년 이전의 날짜로 기본 세팅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날짜 변경은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년 단위로만 지정 가능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(1)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에서 세팅된 기간을 출력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86313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날짜의 업로드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다운로드 그래프를 클릭할 경우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날짜의 최대로 업로드 또는 다운로드가 된 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일별 및 건수가 출력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814768"/>
                  </a:ext>
                </a:extLst>
              </a:tr>
            </a:tbl>
          </a:graphicData>
        </a:graphic>
      </p:graphicFrame>
      <p:grpSp>
        <p:nvGrpSpPr>
          <p:cNvPr id="174" name="그룹 173"/>
          <p:cNvGrpSpPr/>
          <p:nvPr/>
        </p:nvGrpSpPr>
        <p:grpSpPr>
          <a:xfrm>
            <a:off x="2553841" y="2301255"/>
            <a:ext cx="2271308" cy="191630"/>
            <a:chOff x="6240016" y="3620013"/>
            <a:chExt cx="2271308" cy="191630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177" name="그룹 176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81" name="그림 180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82" name="직사각형 181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altLang="ko-KR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고딕" pitchFamily="50" charset="-127"/>
                      <a:ea typeface="나눔고딕" pitchFamily="50" charset="-127"/>
                    </a:rPr>
                    <a:t>2016-08</a:t>
                  </a:r>
                  <a:endPara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itchFamily="50" charset="-127"/>
                    <a:ea typeface="나눔고딕" pitchFamily="50" charset="-127"/>
                  </a:endParaRPr>
                </a:p>
              </p:txBody>
            </p:sp>
          </p:grpSp>
          <p:grpSp>
            <p:nvGrpSpPr>
              <p:cNvPr id="178" name="그룹 177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79" name="그림 178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80" name="직사각형 179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altLang="ko-KR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고딕" pitchFamily="50" charset="-127"/>
                      <a:ea typeface="나눔고딕" pitchFamily="50" charset="-127"/>
                    </a:rPr>
                    <a:t>2017-07</a:t>
                  </a:r>
                  <a:endPara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itchFamily="50" charset="-127"/>
                    <a:ea typeface="나눔고딕" pitchFamily="50" charset="-127"/>
                  </a:endParaRPr>
                </a:p>
              </p:txBody>
            </p:sp>
          </p:grpSp>
        </p:grpSp>
        <p:sp>
          <p:nvSpPr>
            <p:cNvPr id="176" name="TextBox 175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~</a:t>
              </a:r>
              <a:endPara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sp>
        <p:nvSpPr>
          <p:cNvPr id="152" name="타원 151"/>
          <p:cNvSpPr/>
          <p:nvPr/>
        </p:nvSpPr>
        <p:spPr>
          <a:xfrm>
            <a:off x="2409452" y="2217591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31" name="직각 삼각형 130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0000FF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2" name="사각형 설명선 131"/>
          <p:cNvSpPr/>
          <p:nvPr/>
        </p:nvSpPr>
        <p:spPr>
          <a:xfrm>
            <a:off x="5832783" y="5103568"/>
            <a:ext cx="1454671" cy="477020"/>
          </a:xfrm>
          <a:prstGeom prst="wedgeRectCallout">
            <a:avLst>
              <a:gd name="adj1" fmla="val -60712"/>
              <a:gd name="adj2" fmla="val 33486"/>
            </a:avLst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graphicFrame>
        <p:nvGraphicFramePr>
          <p:cNvPr id="133" name="표 1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327627"/>
              </p:ext>
            </p:extLst>
          </p:nvPr>
        </p:nvGraphicFramePr>
        <p:xfrm>
          <a:off x="5842725" y="5126028"/>
          <a:ext cx="144360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544">
                  <a:extLst>
                    <a:ext uri="{9D8B030D-6E8A-4147-A177-3AD203B41FA5}">
                      <a16:colId xmlns:a16="http://schemas.microsoft.com/office/drawing/2014/main" val="335030843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713755803"/>
                    </a:ext>
                  </a:extLst>
                </a:gridCol>
              </a:tblGrid>
              <a:tr h="20161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최다 업로드 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346830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2017-03-31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99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건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807711"/>
                  </a:ext>
                </a:extLst>
              </a:tr>
            </a:tbl>
          </a:graphicData>
        </a:graphic>
      </p:graphicFrame>
      <p:sp>
        <p:nvSpPr>
          <p:cNvPr id="136" name="직사각형 135"/>
          <p:cNvSpPr/>
          <p:nvPr/>
        </p:nvSpPr>
        <p:spPr>
          <a:xfrm>
            <a:off x="7591551" y="3856303"/>
            <a:ext cx="240487" cy="10609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7591551" y="4008703"/>
            <a:ext cx="240487" cy="1060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7799015" y="3848047"/>
            <a:ext cx="914400" cy="11435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업로드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799015" y="4009972"/>
            <a:ext cx="914400" cy="11435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다운로드</a:t>
            </a:r>
          </a:p>
        </p:txBody>
      </p:sp>
      <p:sp>
        <p:nvSpPr>
          <p:cNvPr id="156" name="사각형 설명선 155"/>
          <p:cNvSpPr/>
          <p:nvPr/>
        </p:nvSpPr>
        <p:spPr>
          <a:xfrm>
            <a:off x="6547158" y="4265368"/>
            <a:ext cx="1454671" cy="477020"/>
          </a:xfrm>
          <a:prstGeom prst="wedgeRectCallout">
            <a:avLst>
              <a:gd name="adj1" fmla="val -60712"/>
              <a:gd name="adj2" fmla="val 33486"/>
            </a:avLst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graphicFrame>
        <p:nvGraphicFramePr>
          <p:cNvPr id="157" name="표 1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611951"/>
              </p:ext>
            </p:extLst>
          </p:nvPr>
        </p:nvGraphicFramePr>
        <p:xfrm>
          <a:off x="6557100" y="4287828"/>
          <a:ext cx="144360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544">
                  <a:extLst>
                    <a:ext uri="{9D8B030D-6E8A-4147-A177-3AD203B41FA5}">
                      <a16:colId xmlns:a16="http://schemas.microsoft.com/office/drawing/2014/main" val="335030843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713755803"/>
                    </a:ext>
                  </a:extLst>
                </a:gridCol>
              </a:tblGrid>
              <a:tr h="20161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최다 다운로드 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346830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2017-04-08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99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건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807711"/>
                  </a:ext>
                </a:extLst>
              </a:tr>
            </a:tbl>
          </a:graphicData>
        </a:graphic>
      </p:graphicFrame>
      <p:sp>
        <p:nvSpPr>
          <p:cNvPr id="158" name="타원 157"/>
          <p:cNvSpPr/>
          <p:nvPr/>
        </p:nvSpPr>
        <p:spPr>
          <a:xfrm>
            <a:off x="7868335" y="4182917"/>
            <a:ext cx="168861" cy="174728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3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508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9536" y="529630"/>
            <a:ext cx="1231726" cy="13372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주간 업로드 및 다운로드 현황</a:t>
            </a:r>
            <a:endParaRPr kumimoji="1" lang="ko-KR" altLang="en-US" sz="9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159243"/>
              </p:ext>
            </p:extLst>
          </p:nvPr>
        </p:nvGraphicFramePr>
        <p:xfrm>
          <a:off x="1091283" y="764704"/>
          <a:ext cx="7741022" cy="190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614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2133928">
                  <a:extLst>
                    <a:ext uri="{9D8B030D-6E8A-4147-A177-3AD203B41FA5}">
                      <a16:colId xmlns:a16="http://schemas.microsoft.com/office/drawing/2014/main" val="1514625099"/>
                    </a:ext>
                  </a:extLst>
                </a:gridCol>
                <a:gridCol w="1631800">
                  <a:extLst>
                    <a:ext uri="{9D8B030D-6E8A-4147-A177-3AD203B41FA5}">
                      <a16:colId xmlns:a16="http://schemas.microsoft.com/office/drawing/2014/main" val="1655089939"/>
                    </a:ext>
                  </a:extLst>
                </a:gridCol>
                <a:gridCol w="2688680">
                  <a:extLst>
                    <a:ext uri="{9D8B030D-6E8A-4147-A177-3AD203B41FA5}">
                      <a16:colId xmlns:a16="http://schemas.microsoft.com/office/drawing/2014/main" val="4269639203"/>
                    </a:ext>
                  </a:extLst>
                </a:gridCol>
              </a:tblGrid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주차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기간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업로드 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다운로드 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7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월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주차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2017-07-01 ~ 2017-07-07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7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월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주차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2017-07-08 ~ 2017-07-14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7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월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주차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2017-07-15 ~ 2017-07-21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81431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7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월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4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주차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2017-07-22 ~ 2017-07-28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7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월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주차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2017-07-29 ~ 2017-07-31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08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457740"/>
                  </a:ext>
                </a:extLst>
              </a:tr>
            </a:tbl>
          </a:graphicData>
        </a:graphic>
      </p:graphicFrame>
      <p:sp>
        <p:nvSpPr>
          <p:cNvPr id="19" name="모서리가 둥근 직사각형 18"/>
          <p:cNvSpPr/>
          <p:nvPr/>
        </p:nvSpPr>
        <p:spPr>
          <a:xfrm>
            <a:off x="1146596" y="481175"/>
            <a:ext cx="724391" cy="2266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 2017-07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 rot="5400000">
            <a:off x="1677814" y="498869"/>
            <a:ext cx="155817" cy="23818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통계 정보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웹폴더 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기간별 현황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월별</a:t>
            </a:r>
          </a:p>
        </p:txBody>
      </p:sp>
      <p:graphicFrame>
        <p:nvGraphicFramePr>
          <p:cNvPr id="10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821414"/>
              </p:ext>
            </p:extLst>
          </p:nvPr>
        </p:nvGraphicFramePr>
        <p:xfrm>
          <a:off x="9290533" y="786383"/>
          <a:ext cx="2835141" cy="866993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선택된 월의 주간별 업로드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다운로드 건수 현황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기본세팅은 당월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3-1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(1)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에서 세팅된 범위 기간으로 출력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863137"/>
                  </a:ext>
                </a:extLst>
              </a:tr>
            </a:tbl>
          </a:graphicData>
        </a:graphic>
      </p:graphicFrame>
      <p:sp>
        <p:nvSpPr>
          <p:cNvPr id="11" name="타원 10"/>
          <p:cNvSpPr/>
          <p:nvPr/>
        </p:nvSpPr>
        <p:spPr>
          <a:xfrm>
            <a:off x="1047377" y="388791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3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1146596" y="2870097"/>
            <a:ext cx="724391" cy="2266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2017-07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 rot="5400000">
            <a:off x="1677814" y="2887791"/>
            <a:ext cx="155817" cy="23818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&gt;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1146596" y="3084790"/>
            <a:ext cx="724391" cy="15157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2017-07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2017-06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2017-05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 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 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 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2016-08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1037852" y="3198666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3-1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DA4.2.2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8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1093284" y="749232"/>
            <a:ext cx="1278442" cy="1917768"/>
          </a:xfrm>
          <a:prstGeom prst="rect">
            <a:avLst/>
          </a:prstGeom>
          <a:solidFill>
            <a:srgbClr val="FF0000">
              <a:alpha val="46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삭제</a:t>
            </a:r>
            <a:endParaRPr 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68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850416" y="1981201"/>
          <a:ext cx="7981887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457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426430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부서별 현황              사용자별 현황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핸디소프트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315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웹폴더 통계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통계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웹폴더 통계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 및 사용자별 현황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 현황</a:t>
            </a:r>
          </a:p>
        </p:txBody>
      </p:sp>
      <p:cxnSp>
        <p:nvCxnSpPr>
          <p:cNvPr id="40" name="직선 연결선 39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TextBox 72"/>
          <p:cNvSpPr txBox="1"/>
          <p:nvPr/>
        </p:nvSpPr>
        <p:spPr>
          <a:xfrm>
            <a:off x="342349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2553841" y="2598823"/>
            <a:ext cx="2271308" cy="191630"/>
            <a:chOff x="6240016" y="3620013"/>
            <a:chExt cx="2271308" cy="191630"/>
          </a:xfrm>
        </p:grpSpPr>
        <p:grpSp>
          <p:nvGrpSpPr>
            <p:cNvPr id="75" name="그룹 74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76" name="그룹 75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80" name="그림 79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81" name="직사각형 80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2017-06-29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77" name="그룹 76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78" name="그림 77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79" name="직사각형 78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82" name="TextBox 81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2516855" y="2000950"/>
            <a:ext cx="226293" cy="222101"/>
            <a:chOff x="4359942" y="3596387"/>
            <a:chExt cx="226293" cy="222101"/>
          </a:xfrm>
        </p:grpSpPr>
        <p:sp>
          <p:nvSpPr>
            <p:cNvPr id="68" name="TextBox 67"/>
            <p:cNvSpPr txBox="1"/>
            <p:nvPr/>
          </p:nvSpPr>
          <p:spPr>
            <a:xfrm>
              <a:off x="4359942" y="3596387"/>
              <a:ext cx="226293" cy="222101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○</a:t>
              </a:r>
            </a:p>
          </p:txBody>
        </p:sp>
        <p:sp>
          <p:nvSpPr>
            <p:cNvPr id="84" name="자유형 83"/>
            <p:cNvSpPr/>
            <p:nvPr/>
          </p:nvSpPr>
          <p:spPr>
            <a:xfrm>
              <a:off x="4416162" y="3647344"/>
              <a:ext cx="123825" cy="100482"/>
            </a:xfrm>
            <a:custGeom>
              <a:avLst/>
              <a:gdLst>
                <a:gd name="connsiteX0" fmla="*/ 0 w 190500"/>
                <a:gd name="connsiteY0" fmla="*/ 95250 h 209550"/>
                <a:gd name="connsiteX1" fmla="*/ 76200 w 190500"/>
                <a:gd name="connsiteY1" fmla="*/ 209550 h 209550"/>
                <a:gd name="connsiteX2" fmla="*/ 190500 w 190500"/>
                <a:gd name="connsiteY2" fmla="*/ 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0" h="209550">
                  <a:moveTo>
                    <a:pt x="0" y="95250"/>
                  </a:moveTo>
                  <a:lnTo>
                    <a:pt x="76200" y="209550"/>
                  </a:lnTo>
                  <a:lnTo>
                    <a:pt x="190500" y="0"/>
                  </a:lnTo>
                </a:path>
              </a:pathLst>
            </a:cu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</p:grpSp>
      <p:sp>
        <p:nvSpPr>
          <p:cNvPr id="85" name="모서리가 둥근 직사각형 84"/>
          <p:cNvSpPr/>
          <p:nvPr/>
        </p:nvSpPr>
        <p:spPr>
          <a:xfrm>
            <a:off x="2553841" y="2317916"/>
            <a:ext cx="3686176" cy="18271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5951985" y="2317916"/>
            <a:ext cx="600118" cy="182715"/>
            <a:chOff x="5936741" y="2511868"/>
            <a:chExt cx="600118" cy="171371"/>
          </a:xfrm>
        </p:grpSpPr>
        <p:sp>
          <p:nvSpPr>
            <p:cNvPr id="43" name="모서리가 둥근 직사각형 42"/>
            <p:cNvSpPr/>
            <p:nvPr/>
          </p:nvSpPr>
          <p:spPr>
            <a:xfrm>
              <a:off x="5936741" y="2511868"/>
              <a:ext cx="600118" cy="17137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pic>
          <p:nvPicPr>
            <p:cNvPr id="62" name="그림 6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6516" y="2522170"/>
              <a:ext cx="147005" cy="147005"/>
            </a:xfrm>
            <a:prstGeom prst="rect">
              <a:avLst/>
            </a:prstGeom>
          </p:spPr>
        </p:pic>
      </p:grpSp>
      <p:sp>
        <p:nvSpPr>
          <p:cNvPr id="86" name="모서리가 둥근 직사각형 85"/>
          <p:cNvSpPr/>
          <p:nvPr/>
        </p:nvSpPr>
        <p:spPr>
          <a:xfrm>
            <a:off x="3865823" y="2996952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87" name="표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849059"/>
              </p:ext>
            </p:extLst>
          </p:nvPr>
        </p:nvGraphicFramePr>
        <p:xfrm>
          <a:off x="850417" y="3817615"/>
          <a:ext cx="7981888" cy="225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319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1323319">
                  <a:extLst>
                    <a:ext uri="{9D8B030D-6E8A-4147-A177-3AD203B41FA5}">
                      <a16:colId xmlns:a16="http://schemas.microsoft.com/office/drawing/2014/main" val="1003703623"/>
                    </a:ext>
                  </a:extLst>
                </a:gridCol>
                <a:gridCol w="1013377">
                  <a:extLst>
                    <a:ext uri="{9D8B030D-6E8A-4147-A177-3AD203B41FA5}">
                      <a16:colId xmlns:a16="http://schemas.microsoft.com/office/drawing/2014/main" val="1655089939"/>
                    </a:ext>
                  </a:extLst>
                </a:gridCol>
                <a:gridCol w="1013377">
                  <a:extLst>
                    <a:ext uri="{9D8B030D-6E8A-4147-A177-3AD203B41FA5}">
                      <a16:colId xmlns:a16="http://schemas.microsoft.com/office/drawing/2014/main" val="293468149"/>
                    </a:ext>
                  </a:extLst>
                </a:gridCol>
                <a:gridCol w="1013377">
                  <a:extLst>
                    <a:ext uri="{9D8B030D-6E8A-4147-A177-3AD203B41FA5}">
                      <a16:colId xmlns:a16="http://schemas.microsoft.com/office/drawing/2014/main" val="4262952475"/>
                    </a:ext>
                  </a:extLst>
                </a:gridCol>
                <a:gridCol w="1013377">
                  <a:extLst>
                    <a:ext uri="{9D8B030D-6E8A-4147-A177-3AD203B41FA5}">
                      <a16:colId xmlns:a16="http://schemas.microsoft.com/office/drawing/2014/main" val="2502677421"/>
                    </a:ext>
                  </a:extLst>
                </a:gridCol>
                <a:gridCol w="1281742">
                  <a:extLst>
                    <a:ext uri="{9D8B030D-6E8A-4147-A177-3AD203B41FA5}">
                      <a16:colId xmlns:a16="http://schemas.microsoft.com/office/drawing/2014/main" val="1923602441"/>
                    </a:ext>
                  </a:extLst>
                </a:gridCol>
              </a:tblGrid>
              <a:tr h="352425"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666363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업로드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다운로드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폴더수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파일수 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현재 사용량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경영지원팀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 GB / 999 GB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 GB / 999 GB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 GB / 999 GB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81431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 GB / 999 GB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UX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디자인팀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 GB / 999 GB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18671"/>
                  </a:ext>
                </a:extLst>
              </a:tr>
            </a:tbl>
          </a:graphicData>
        </a:graphic>
      </p:graphicFrame>
      <p:grpSp>
        <p:nvGrpSpPr>
          <p:cNvPr id="117" name="그룹 116"/>
          <p:cNvGrpSpPr/>
          <p:nvPr/>
        </p:nvGrpSpPr>
        <p:grpSpPr>
          <a:xfrm>
            <a:off x="3916100" y="6381328"/>
            <a:ext cx="1700363" cy="360040"/>
            <a:chOff x="3947422" y="6021288"/>
            <a:chExt cx="1700363" cy="360040"/>
          </a:xfrm>
        </p:grpSpPr>
        <p:sp>
          <p:nvSpPr>
            <p:cNvPr id="118" name="TextBox 117"/>
            <p:cNvSpPr txBox="1"/>
            <p:nvPr/>
          </p:nvSpPr>
          <p:spPr>
            <a:xfrm>
              <a:off x="4025146" y="6021288"/>
              <a:ext cx="1622639" cy="36004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&lt;&lt;  &lt; </a:t>
              </a:r>
              <a:r>
                <a:rPr kumimoji="1" lang="en-US" altLang="ko-KR" sz="1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  1</a:t>
              </a:r>
              <a:r>
                <a:rPr kumimoji="1" lang="en-US" altLang="ko-KR" sz="1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  2   3   4   5   6   7   8   9   15    </a:t>
              </a:r>
              <a:r>
                <a:rPr kumimoji="1" lang="en-US" altLang="ko-KR" sz="1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  &gt;&gt;</a:t>
              </a:r>
              <a:endPara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cxnSp>
          <p:nvCxnSpPr>
            <p:cNvPr id="119" name="직선 연결선 118"/>
            <p:cNvCxnSpPr/>
            <p:nvPr/>
          </p:nvCxnSpPr>
          <p:spPr>
            <a:xfrm>
              <a:off x="3947422" y="6305996"/>
              <a:ext cx="102789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0" name="그림 1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" y="6051004"/>
            <a:ext cx="9192343" cy="27317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7" name="직각 삼각형 16"/>
          <p:cNvSpPr/>
          <p:nvPr/>
        </p:nvSpPr>
        <p:spPr>
          <a:xfrm flipH="1">
            <a:off x="8741078" y="4399341"/>
            <a:ext cx="91227" cy="90617"/>
          </a:xfrm>
          <a:prstGeom prst="rtTriangle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grpSp>
        <p:nvGrpSpPr>
          <p:cNvPr id="121" name="그룹 120"/>
          <p:cNvGrpSpPr/>
          <p:nvPr/>
        </p:nvGrpSpPr>
        <p:grpSpPr>
          <a:xfrm>
            <a:off x="7093938" y="3865357"/>
            <a:ext cx="1126484" cy="229245"/>
            <a:chOff x="1098673" y="3495030"/>
            <a:chExt cx="1126484" cy="229245"/>
          </a:xfrm>
        </p:grpSpPr>
        <p:sp>
          <p:nvSpPr>
            <p:cNvPr id="122" name="모서리가 둥근 직사각형 121"/>
            <p:cNvSpPr/>
            <p:nvPr/>
          </p:nvSpPr>
          <p:spPr>
            <a:xfrm>
              <a:off x="1098673" y="3495030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 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123" name="그림 122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174" y="3529537"/>
              <a:ext cx="137302" cy="156072"/>
            </a:xfrm>
            <a:prstGeom prst="rect">
              <a:avLst/>
            </a:prstGeom>
          </p:spPr>
        </p:pic>
      </p:grpSp>
      <p:grpSp>
        <p:nvGrpSpPr>
          <p:cNvPr id="124" name="그룹 123"/>
          <p:cNvGrpSpPr/>
          <p:nvPr/>
        </p:nvGrpSpPr>
        <p:grpSpPr>
          <a:xfrm>
            <a:off x="8293199" y="3870165"/>
            <a:ext cx="468189" cy="226647"/>
            <a:chOff x="8184232" y="2397322"/>
            <a:chExt cx="468189" cy="226647"/>
          </a:xfrm>
        </p:grpSpPr>
        <p:sp>
          <p:nvSpPr>
            <p:cNvPr id="125" name="모서리가 둥근 직사각형 124"/>
            <p:cNvSpPr/>
            <p:nvPr/>
          </p:nvSpPr>
          <p:spPr>
            <a:xfrm>
              <a:off x="8184232" y="2397322"/>
              <a:ext cx="464363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15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 rot="5400000">
              <a:off x="8455422" y="2415016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DA4.3.1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71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929813"/>
              </p:ext>
            </p:extLst>
          </p:nvPr>
        </p:nvGraphicFramePr>
        <p:xfrm>
          <a:off x="9290533" y="786383"/>
          <a:ext cx="2835141" cy="1043264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리스트 출력 방식은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as-is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사용량이 높은순으로 기본 정렬</a:t>
                      </a: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업로드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다운로드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폴더수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파일수 항목은 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내림차순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오름차순으로 재정렬 가능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687634"/>
                  </a:ext>
                </a:extLst>
              </a:tr>
            </a:tbl>
          </a:graphicData>
        </a:graphic>
      </p:graphicFrame>
      <p:sp>
        <p:nvSpPr>
          <p:cNvPr id="72" name="타원 71"/>
          <p:cNvSpPr/>
          <p:nvPr/>
        </p:nvSpPr>
        <p:spPr>
          <a:xfrm>
            <a:off x="790136" y="3749528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2" name="타원 91"/>
          <p:cNvSpPr/>
          <p:nvPr/>
        </p:nvSpPr>
        <p:spPr>
          <a:xfrm>
            <a:off x="3848101" y="4179564"/>
            <a:ext cx="285750" cy="276225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3" name="타원 82"/>
          <p:cNvSpPr/>
          <p:nvPr/>
        </p:nvSpPr>
        <p:spPr>
          <a:xfrm>
            <a:off x="3990536" y="4073378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2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7" name="타원 96"/>
          <p:cNvSpPr/>
          <p:nvPr/>
        </p:nvSpPr>
        <p:spPr>
          <a:xfrm>
            <a:off x="6447986" y="2236963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3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50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841709" y="2277725"/>
            <a:ext cx="7987965" cy="265450"/>
          </a:xfrm>
          <a:prstGeom prst="rect">
            <a:avLst/>
          </a:prstGeom>
          <a:solidFill>
            <a:srgbClr val="FF0000">
              <a:alpha val="46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삭제</a:t>
            </a:r>
            <a:endParaRPr 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5837792" y="3490838"/>
            <a:ext cx="2944649" cy="226647"/>
            <a:chOff x="5903179" y="2445148"/>
            <a:chExt cx="2944649" cy="226647"/>
          </a:xfrm>
        </p:grpSpPr>
        <p:sp>
          <p:nvSpPr>
            <p:cNvPr id="52" name="모서리가 둥근 직사각형 51"/>
            <p:cNvSpPr/>
            <p:nvPr/>
          </p:nvSpPr>
          <p:spPr>
            <a:xfrm>
              <a:off x="6666292" y="2445148"/>
              <a:ext cx="2181536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53" name="모서리가 둥근 직사각형 52"/>
            <p:cNvSpPr/>
            <p:nvPr/>
          </p:nvSpPr>
          <p:spPr>
            <a:xfrm>
              <a:off x="5903179" y="2445149"/>
              <a:ext cx="683617" cy="22342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부서명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 rot="5400000">
              <a:off x="6401365" y="2460560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4315" y="2492511"/>
              <a:ext cx="125049" cy="125049"/>
            </a:xfrm>
            <a:prstGeom prst="rect">
              <a:avLst/>
            </a:prstGeom>
          </p:spPr>
        </p:pic>
      </p:grpSp>
      <p:sp>
        <p:nvSpPr>
          <p:cNvPr id="56" name="모서리가 둥근 직사각형 55"/>
          <p:cNvSpPr/>
          <p:nvPr/>
        </p:nvSpPr>
        <p:spPr>
          <a:xfrm>
            <a:off x="5772150" y="3419475"/>
            <a:ext cx="3106207" cy="334335"/>
          </a:xfrm>
          <a:prstGeom prst="roundRect">
            <a:avLst>
              <a:gd name="adj" fmla="val 6213"/>
            </a:avLst>
          </a:prstGeom>
          <a:noFill/>
          <a:ln>
            <a:solidFill>
              <a:srgbClr val="0000FF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9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2"/>
            </p:custDataLst>
          </p:nvPr>
        </p:nvSpPr>
        <p:spPr>
          <a:xfrm>
            <a:off x="1137906" y="1482657"/>
            <a:ext cx="1326919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>
                <a:solidFill>
                  <a:prstClr val="white">
                    <a:lumMod val="7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기간별 현황</a:t>
            </a:r>
            <a:endParaRPr lang="en-US" sz="800" dirty="0">
              <a:solidFill>
                <a:prstClr val="white">
                  <a:lumMod val="7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58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3"/>
            </p:custDataLst>
          </p:nvPr>
        </p:nvSpPr>
        <p:spPr>
          <a:xfrm>
            <a:off x="2464825" y="1482657"/>
            <a:ext cx="1326919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부서 및 사용자별 현황</a:t>
            </a:r>
            <a:endParaRPr lang="en-US" sz="800" dirty="0">
              <a:solidFill>
                <a:prstClr val="black">
                  <a:lumMod val="95000"/>
                  <a:lumOff val="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37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850416" y="1981201"/>
          <a:ext cx="7981887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457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426430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부서별 현황              사용자별 현황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제품기획팀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신뢰성기술팀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315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웹메일 통계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423493" y="2000950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2553841" y="2598823"/>
            <a:ext cx="2271308" cy="191630"/>
            <a:chOff x="6240016" y="3620013"/>
            <a:chExt cx="2271308" cy="191630"/>
          </a:xfrm>
        </p:grpSpPr>
        <p:grpSp>
          <p:nvGrpSpPr>
            <p:cNvPr id="75" name="그룹 74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76" name="그룹 75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80" name="그림 79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81" name="직사각형 80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2017-06-29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77" name="그룹 76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78" name="그림 77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79" name="직사각형 78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82" name="TextBox 81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2516855" y="2000950"/>
            <a:ext cx="1082107" cy="222101"/>
            <a:chOff x="4359942" y="3596387"/>
            <a:chExt cx="1082107" cy="222101"/>
          </a:xfrm>
        </p:grpSpPr>
        <p:sp>
          <p:nvSpPr>
            <p:cNvPr id="68" name="TextBox 67"/>
            <p:cNvSpPr txBox="1"/>
            <p:nvPr/>
          </p:nvSpPr>
          <p:spPr>
            <a:xfrm>
              <a:off x="4359942" y="3596387"/>
              <a:ext cx="226293" cy="222101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○</a:t>
              </a:r>
            </a:p>
          </p:txBody>
        </p:sp>
        <p:sp>
          <p:nvSpPr>
            <p:cNvPr id="84" name="자유형 83"/>
            <p:cNvSpPr/>
            <p:nvPr/>
          </p:nvSpPr>
          <p:spPr>
            <a:xfrm>
              <a:off x="5318224" y="3647344"/>
              <a:ext cx="123825" cy="100482"/>
            </a:xfrm>
            <a:custGeom>
              <a:avLst/>
              <a:gdLst>
                <a:gd name="connsiteX0" fmla="*/ 0 w 190500"/>
                <a:gd name="connsiteY0" fmla="*/ 95250 h 209550"/>
                <a:gd name="connsiteX1" fmla="*/ 76200 w 190500"/>
                <a:gd name="connsiteY1" fmla="*/ 209550 h 209550"/>
                <a:gd name="connsiteX2" fmla="*/ 190500 w 190500"/>
                <a:gd name="connsiteY2" fmla="*/ 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0" h="209550">
                  <a:moveTo>
                    <a:pt x="0" y="95250"/>
                  </a:moveTo>
                  <a:lnTo>
                    <a:pt x="76200" y="209550"/>
                  </a:lnTo>
                  <a:lnTo>
                    <a:pt x="190500" y="0"/>
                  </a:lnTo>
                </a:path>
              </a:pathLst>
            </a:cu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</p:grpSp>
      <p:sp>
        <p:nvSpPr>
          <p:cNvPr id="85" name="모서리가 둥근 직사각형 84"/>
          <p:cNvSpPr/>
          <p:nvPr/>
        </p:nvSpPr>
        <p:spPr>
          <a:xfrm>
            <a:off x="2553841" y="2317916"/>
            <a:ext cx="3686176" cy="18271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5951985" y="2317916"/>
            <a:ext cx="600118" cy="182715"/>
            <a:chOff x="5936741" y="2511868"/>
            <a:chExt cx="600118" cy="171371"/>
          </a:xfrm>
        </p:grpSpPr>
        <p:sp>
          <p:nvSpPr>
            <p:cNvPr id="43" name="모서리가 둥근 직사각형 42"/>
            <p:cNvSpPr/>
            <p:nvPr/>
          </p:nvSpPr>
          <p:spPr>
            <a:xfrm>
              <a:off x="5936741" y="2511868"/>
              <a:ext cx="600118" cy="17137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pic>
          <p:nvPicPr>
            <p:cNvPr id="62" name="그림 6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6516" y="2522170"/>
              <a:ext cx="147005" cy="147005"/>
            </a:xfrm>
            <a:prstGeom prst="rect">
              <a:avLst/>
            </a:prstGeom>
          </p:spPr>
        </p:pic>
      </p:grpSp>
      <p:sp>
        <p:nvSpPr>
          <p:cNvPr id="86" name="모서리가 둥근 직사각형 85"/>
          <p:cNvSpPr/>
          <p:nvPr/>
        </p:nvSpPr>
        <p:spPr>
          <a:xfrm>
            <a:off x="3865823" y="2996952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61941" y="2632695"/>
            <a:ext cx="1567433" cy="14860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최대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개월 이내 조회 가능</a:t>
            </a:r>
          </a:p>
        </p:txBody>
      </p:sp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396293"/>
              </p:ext>
            </p:extLst>
          </p:nvPr>
        </p:nvGraphicFramePr>
        <p:xfrm>
          <a:off x="850417" y="3817615"/>
          <a:ext cx="7981888" cy="225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319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1323319">
                  <a:extLst>
                    <a:ext uri="{9D8B030D-6E8A-4147-A177-3AD203B41FA5}">
                      <a16:colId xmlns:a16="http://schemas.microsoft.com/office/drawing/2014/main" val="1003703623"/>
                    </a:ext>
                  </a:extLst>
                </a:gridCol>
                <a:gridCol w="1013377">
                  <a:extLst>
                    <a:ext uri="{9D8B030D-6E8A-4147-A177-3AD203B41FA5}">
                      <a16:colId xmlns:a16="http://schemas.microsoft.com/office/drawing/2014/main" val="1655089939"/>
                    </a:ext>
                  </a:extLst>
                </a:gridCol>
                <a:gridCol w="1013377">
                  <a:extLst>
                    <a:ext uri="{9D8B030D-6E8A-4147-A177-3AD203B41FA5}">
                      <a16:colId xmlns:a16="http://schemas.microsoft.com/office/drawing/2014/main" val="293468149"/>
                    </a:ext>
                  </a:extLst>
                </a:gridCol>
                <a:gridCol w="1013377">
                  <a:extLst>
                    <a:ext uri="{9D8B030D-6E8A-4147-A177-3AD203B41FA5}">
                      <a16:colId xmlns:a16="http://schemas.microsoft.com/office/drawing/2014/main" val="4262952475"/>
                    </a:ext>
                  </a:extLst>
                </a:gridCol>
                <a:gridCol w="1013377">
                  <a:extLst>
                    <a:ext uri="{9D8B030D-6E8A-4147-A177-3AD203B41FA5}">
                      <a16:colId xmlns:a16="http://schemas.microsoft.com/office/drawing/2014/main" val="2502677421"/>
                    </a:ext>
                  </a:extLst>
                </a:gridCol>
                <a:gridCol w="1281742">
                  <a:extLst>
                    <a:ext uri="{9D8B030D-6E8A-4147-A177-3AD203B41FA5}">
                      <a16:colId xmlns:a16="http://schemas.microsoft.com/office/drawing/2014/main" val="1923602441"/>
                    </a:ext>
                  </a:extLst>
                </a:gridCol>
              </a:tblGrid>
              <a:tr h="352425"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666363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성명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업로드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다운로드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폴더수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파일수 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현재 사용량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 GB / 999 GB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 GB / 999 GB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 GB / 999 GB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81431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 GB / 999 GB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999 GB / 999 GB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18671"/>
                  </a:ext>
                </a:extLst>
              </a:tr>
            </a:tbl>
          </a:graphicData>
        </a:graphic>
      </p:graphicFrame>
      <p:grpSp>
        <p:nvGrpSpPr>
          <p:cNvPr id="70" name="그룹 69"/>
          <p:cNvGrpSpPr/>
          <p:nvPr/>
        </p:nvGrpSpPr>
        <p:grpSpPr>
          <a:xfrm>
            <a:off x="3916100" y="6381328"/>
            <a:ext cx="1700363" cy="360040"/>
            <a:chOff x="3947422" y="6021288"/>
            <a:chExt cx="1700363" cy="360040"/>
          </a:xfrm>
        </p:grpSpPr>
        <p:sp>
          <p:nvSpPr>
            <p:cNvPr id="71" name="TextBox 70"/>
            <p:cNvSpPr txBox="1"/>
            <p:nvPr/>
          </p:nvSpPr>
          <p:spPr>
            <a:xfrm>
              <a:off x="4025146" y="6021288"/>
              <a:ext cx="1622639" cy="36004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&lt;&lt;  &lt; </a:t>
              </a:r>
              <a:r>
                <a:rPr kumimoji="1" lang="en-US" altLang="ko-KR" sz="1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  1</a:t>
              </a:r>
              <a:r>
                <a:rPr kumimoji="1" lang="en-US" altLang="ko-KR" sz="1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  2   3   4   5   6   7   8   9   15    </a:t>
              </a:r>
              <a:r>
                <a:rPr kumimoji="1" lang="en-US" altLang="ko-KR" sz="1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  &gt;&gt;</a:t>
              </a:r>
              <a:endPara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cxnSp>
          <p:nvCxnSpPr>
            <p:cNvPr id="72" name="직선 연결선 71"/>
            <p:cNvCxnSpPr/>
            <p:nvPr/>
          </p:nvCxnSpPr>
          <p:spPr>
            <a:xfrm>
              <a:off x="3947422" y="6305996"/>
              <a:ext cx="102789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4" name="그림 7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" y="6051004"/>
            <a:ext cx="9192343" cy="27317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3" name="직각 삼각형 82"/>
          <p:cNvSpPr/>
          <p:nvPr/>
        </p:nvSpPr>
        <p:spPr>
          <a:xfrm flipH="1">
            <a:off x="8741078" y="4399341"/>
            <a:ext cx="91227" cy="90617"/>
          </a:xfrm>
          <a:prstGeom prst="rtTriangle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grpSp>
        <p:nvGrpSpPr>
          <p:cNvPr id="91" name="그룹 90"/>
          <p:cNvGrpSpPr/>
          <p:nvPr/>
        </p:nvGrpSpPr>
        <p:grpSpPr>
          <a:xfrm>
            <a:off x="7093938" y="3865357"/>
            <a:ext cx="1126484" cy="229245"/>
            <a:chOff x="1098673" y="3495030"/>
            <a:chExt cx="1126484" cy="229245"/>
          </a:xfrm>
        </p:grpSpPr>
        <p:sp>
          <p:nvSpPr>
            <p:cNvPr id="92" name="모서리가 둥근 직사각형 91"/>
            <p:cNvSpPr/>
            <p:nvPr/>
          </p:nvSpPr>
          <p:spPr>
            <a:xfrm>
              <a:off x="1098673" y="3495030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 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97" name="그림 96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174" y="3529537"/>
              <a:ext cx="137302" cy="156072"/>
            </a:xfrm>
            <a:prstGeom prst="rect">
              <a:avLst/>
            </a:prstGeom>
          </p:spPr>
        </p:pic>
      </p:grpSp>
      <p:grpSp>
        <p:nvGrpSpPr>
          <p:cNvPr id="112" name="그룹 111"/>
          <p:cNvGrpSpPr/>
          <p:nvPr/>
        </p:nvGrpSpPr>
        <p:grpSpPr>
          <a:xfrm>
            <a:off x="8293199" y="3870165"/>
            <a:ext cx="468189" cy="226647"/>
            <a:chOff x="8184232" y="2397322"/>
            <a:chExt cx="468189" cy="226647"/>
          </a:xfrm>
        </p:grpSpPr>
        <p:sp>
          <p:nvSpPr>
            <p:cNvPr id="113" name="모서리가 둥근 직사각형 112"/>
            <p:cNvSpPr/>
            <p:nvPr/>
          </p:nvSpPr>
          <p:spPr>
            <a:xfrm>
              <a:off x="8184232" y="2397322"/>
              <a:ext cx="464363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15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 rot="5400000">
              <a:off x="8455422" y="2415016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통계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웹폴더 통계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 및 사용자별 현황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 현황</a:t>
            </a:r>
          </a:p>
        </p:txBody>
      </p:sp>
      <p:graphicFrame>
        <p:nvGraphicFramePr>
          <p:cNvPr id="12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012283"/>
              </p:ext>
            </p:extLst>
          </p:nvPr>
        </p:nvGraphicFramePr>
        <p:xfrm>
          <a:off x="9290533" y="786383"/>
          <a:ext cx="2835141" cy="583016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부서 선택 후 조회 버튼 클릭시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사용량이 높은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사용자순으로 기본 출력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사용량은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%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순으로 정렬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863137"/>
                  </a:ext>
                </a:extLst>
              </a:tr>
            </a:tbl>
          </a:graphicData>
        </a:graphic>
      </p:graphicFrame>
      <p:sp>
        <p:nvSpPr>
          <p:cNvPr id="128" name="타원 127"/>
          <p:cNvSpPr/>
          <p:nvPr/>
        </p:nvSpPr>
        <p:spPr>
          <a:xfrm>
            <a:off x="790136" y="3749528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DA4.3.2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47" name="직선 연결선 46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841709" y="2277725"/>
            <a:ext cx="7987965" cy="265450"/>
          </a:xfrm>
          <a:prstGeom prst="rect">
            <a:avLst/>
          </a:prstGeom>
          <a:solidFill>
            <a:srgbClr val="FF0000">
              <a:alpha val="46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삭제</a:t>
            </a:r>
            <a:endParaRPr 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pSp>
        <p:nvGrpSpPr>
          <p:cNvPr id="55" name="그룹 54"/>
          <p:cNvGrpSpPr/>
          <p:nvPr/>
        </p:nvGrpSpPr>
        <p:grpSpPr>
          <a:xfrm>
            <a:off x="5837792" y="3490838"/>
            <a:ext cx="2944649" cy="226647"/>
            <a:chOff x="5903179" y="2445148"/>
            <a:chExt cx="2944649" cy="226647"/>
          </a:xfrm>
        </p:grpSpPr>
        <p:sp>
          <p:nvSpPr>
            <p:cNvPr id="56" name="모서리가 둥근 직사각형 55"/>
            <p:cNvSpPr/>
            <p:nvPr/>
          </p:nvSpPr>
          <p:spPr>
            <a:xfrm>
              <a:off x="6666292" y="2445148"/>
              <a:ext cx="2181536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57" name="모서리가 둥근 직사각형 56"/>
            <p:cNvSpPr/>
            <p:nvPr/>
          </p:nvSpPr>
          <p:spPr>
            <a:xfrm>
              <a:off x="5903179" y="2445149"/>
              <a:ext cx="683617" cy="22342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전체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 rot="5400000">
              <a:off x="6401365" y="2460560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pic>
          <p:nvPicPr>
            <p:cNvPr id="59" name="그림 58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4315" y="2492511"/>
              <a:ext cx="125049" cy="125049"/>
            </a:xfrm>
            <a:prstGeom prst="rect">
              <a:avLst/>
            </a:prstGeom>
          </p:spPr>
        </p:pic>
      </p:grpSp>
      <p:sp>
        <p:nvSpPr>
          <p:cNvPr id="60" name="모서리가 둥근 직사각형 59"/>
          <p:cNvSpPr/>
          <p:nvPr/>
        </p:nvSpPr>
        <p:spPr>
          <a:xfrm>
            <a:off x="5772150" y="3419475"/>
            <a:ext cx="3106207" cy="334335"/>
          </a:xfrm>
          <a:prstGeom prst="roundRect">
            <a:avLst>
              <a:gd name="adj" fmla="val 6213"/>
            </a:avLst>
          </a:prstGeom>
          <a:noFill/>
          <a:ln>
            <a:solidFill>
              <a:srgbClr val="0000FF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5837792" y="3719439"/>
            <a:ext cx="683617" cy="8716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전체</a:t>
            </a:r>
            <a:endParaRPr kumimoji="1" lang="en-US" altLang="ko-KR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부서명</a:t>
            </a:r>
            <a:endParaRPr lang="en-US" altLang="ko-KR" sz="800" smtClean="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pPr marL="0" marR="0" lvl="0" indent="0" algn="l" defTabSz="914400" rtl="0" eaLnBrk="1" fontAlgn="base" latinLnBrk="1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성명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3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2"/>
            </p:custDataLst>
          </p:nvPr>
        </p:nvSpPr>
        <p:spPr>
          <a:xfrm>
            <a:off x="1137906" y="1482657"/>
            <a:ext cx="1326919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>
                <a:solidFill>
                  <a:prstClr val="white">
                    <a:lumMod val="7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기간별 현황</a:t>
            </a:r>
            <a:endParaRPr lang="en-US" sz="800" dirty="0">
              <a:solidFill>
                <a:prstClr val="white">
                  <a:lumMod val="7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64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3"/>
            </p:custDataLst>
          </p:nvPr>
        </p:nvSpPr>
        <p:spPr>
          <a:xfrm>
            <a:off x="2464825" y="1482657"/>
            <a:ext cx="1326919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부서 및 사용자별 현황</a:t>
            </a:r>
            <a:endParaRPr lang="en-US" sz="800" dirty="0">
              <a:solidFill>
                <a:prstClr val="black">
                  <a:lumMod val="95000"/>
                  <a:lumOff val="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97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95400" y="1340768"/>
            <a:ext cx="4972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mtClean="0">
                <a:solidFill>
                  <a:prstClr val="white">
                    <a:lumMod val="7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통계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정보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동호회 활동 통계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44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동호회 통계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각 삼각형 32"/>
          <p:cNvSpPr/>
          <p:nvPr/>
        </p:nvSpPr>
        <p:spPr>
          <a:xfrm flipH="1">
            <a:off x="11458980" y="5953531"/>
            <a:ext cx="669365" cy="710120"/>
          </a:xfrm>
          <a:prstGeom prst="rtTriangle">
            <a:avLst/>
          </a:prstGeom>
          <a:solidFill>
            <a:srgbClr val="FF000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ko-KR" altLang="en-US" sz="9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추가</a:t>
            </a:r>
            <a:endParaRPr lang="ko-KR" altLang="en-US" sz="9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789932"/>
              </p:ext>
            </p:extLst>
          </p:nvPr>
        </p:nvGraphicFramePr>
        <p:xfrm>
          <a:off x="1000573" y="3393196"/>
          <a:ext cx="7671785" cy="2052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3139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732402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739374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739374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739374">
                  <a:extLst>
                    <a:ext uri="{9D8B030D-6E8A-4147-A177-3AD203B41FA5}">
                      <a16:colId xmlns:a16="http://schemas.microsoft.com/office/drawing/2014/main" val="4277053057"/>
                    </a:ext>
                  </a:extLst>
                </a:gridCol>
                <a:gridCol w="739374">
                  <a:extLst>
                    <a:ext uri="{9D8B030D-6E8A-4147-A177-3AD203B41FA5}">
                      <a16:colId xmlns:a16="http://schemas.microsoft.com/office/drawing/2014/main" val="3906194304"/>
                    </a:ext>
                  </a:extLst>
                </a:gridCol>
                <a:gridCol w="739374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  <a:gridCol w="739374">
                  <a:extLst>
                    <a:ext uri="{9D8B030D-6E8A-4147-A177-3AD203B41FA5}">
                      <a16:colId xmlns:a16="http://schemas.microsoft.com/office/drawing/2014/main" val="2882495886"/>
                    </a:ext>
                  </a:extLst>
                </a:gridCol>
              </a:tblGrid>
              <a:tr h="381408"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동호회명 ▲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카테고리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▲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회원가입수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▲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방문횟수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▲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게시물수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▲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</a:t>
                      </a:r>
                      <a:endParaRPr kumimoji="0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조회수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▲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우수동호회 선정수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▲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마일리지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▲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스포츠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스포츠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스포츠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스포츠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</a:tbl>
          </a:graphicData>
        </a:graphic>
      </p:graphicFrame>
      <p:grpSp>
        <p:nvGrpSpPr>
          <p:cNvPr id="39" name="그룹 38"/>
          <p:cNvGrpSpPr/>
          <p:nvPr/>
        </p:nvGrpSpPr>
        <p:grpSpPr>
          <a:xfrm>
            <a:off x="6816080" y="3455679"/>
            <a:ext cx="1126484" cy="229245"/>
            <a:chOff x="1098673" y="4143102"/>
            <a:chExt cx="1126484" cy="229245"/>
          </a:xfrm>
        </p:grpSpPr>
        <p:sp>
          <p:nvSpPr>
            <p:cNvPr id="40" name="모서리가 둥근 직사각형 39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41" name="그림 4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425736"/>
              </p:ext>
            </p:extLst>
          </p:nvPr>
        </p:nvGraphicFramePr>
        <p:xfrm>
          <a:off x="1000573" y="1981201"/>
          <a:ext cx="7671785" cy="575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동호회 카테고리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sp>
        <p:nvSpPr>
          <p:cNvPr id="54" name="모서리가 둥근 직사각형 53"/>
          <p:cNvSpPr/>
          <p:nvPr/>
        </p:nvSpPr>
        <p:spPr>
          <a:xfrm>
            <a:off x="3865823" y="2737495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55" name="그룹 54"/>
          <p:cNvGrpSpPr/>
          <p:nvPr/>
        </p:nvGrpSpPr>
        <p:grpSpPr>
          <a:xfrm>
            <a:off x="2591941" y="2315564"/>
            <a:ext cx="2271308" cy="191630"/>
            <a:chOff x="6240016" y="3620013"/>
            <a:chExt cx="2271308" cy="191630"/>
          </a:xfrm>
        </p:grpSpPr>
        <p:grpSp>
          <p:nvGrpSpPr>
            <p:cNvPr id="56" name="그룹 55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58" name="그룹 57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62" name="그림 61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63" name="직사각형 62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2005-01-30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59" name="그룹 58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60" name="그림 59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61" name="직사각형 60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2017-08-30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57" name="TextBox 56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grpSp>
        <p:nvGrpSpPr>
          <p:cNvPr id="82" name="그룹 81"/>
          <p:cNvGrpSpPr/>
          <p:nvPr/>
        </p:nvGrpSpPr>
        <p:grpSpPr>
          <a:xfrm>
            <a:off x="2602084" y="2022748"/>
            <a:ext cx="2301238" cy="192242"/>
            <a:chOff x="7059784" y="4525321"/>
            <a:chExt cx="2301238" cy="192242"/>
          </a:xfrm>
        </p:grpSpPr>
        <p:sp>
          <p:nvSpPr>
            <p:cNvPr id="83" name="모서리가 둥근 직사각형 82"/>
            <p:cNvSpPr/>
            <p:nvPr/>
          </p:nvSpPr>
          <p:spPr>
            <a:xfrm>
              <a:off x="7059784" y="4525321"/>
              <a:ext cx="2271308" cy="182715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전체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 rot="5400000">
              <a:off x="9164023" y="4520565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cxnSp>
        <p:nvCxnSpPr>
          <p:cNvPr id="47" name="직선 연결선 4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2464825" y="1482657"/>
            <a:ext cx="1326919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현황 통계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cxnSp>
        <p:nvCxnSpPr>
          <p:cNvPr id="51" name="직선 연결선 50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2"/>
            </p:custDataLst>
          </p:nvPr>
        </p:nvSpPr>
        <p:spPr>
          <a:xfrm>
            <a:off x="1150433" y="1482657"/>
            <a:ext cx="1326919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mtClean="0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활동 통계</a:t>
            </a:r>
            <a:endParaRPr lang="en-US" sz="800" dirty="0">
              <a:solidFill>
                <a:prstClr val="black">
                  <a:lumMod val="95000"/>
                  <a:lumOff val="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통계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동호회 통계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활동 통계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DA5.1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6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179744"/>
              </p:ext>
            </p:extLst>
          </p:nvPr>
        </p:nvGraphicFramePr>
        <p:xfrm>
          <a:off x="9290533" y="786383"/>
          <a:ext cx="2835141" cy="1133708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#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As-is :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동호회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&gt;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동호회활동통계 에서 메뉴 이동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동호회 카테고리 선택 항목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68763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날짜 세팅 기준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as-is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773356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기본 세팅된 날짜 기준으로 정보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204399"/>
                  </a:ext>
                </a:extLst>
              </a:tr>
            </a:tbl>
          </a:graphicData>
        </a:graphic>
      </p:graphicFrame>
      <p:sp>
        <p:nvSpPr>
          <p:cNvPr id="67" name="타원 66"/>
          <p:cNvSpPr/>
          <p:nvPr/>
        </p:nvSpPr>
        <p:spPr>
          <a:xfrm>
            <a:off x="2525657" y="1891836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8" name="타원 67"/>
          <p:cNvSpPr/>
          <p:nvPr/>
        </p:nvSpPr>
        <p:spPr>
          <a:xfrm>
            <a:off x="2525657" y="2225211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934982" y="3292011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3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3916100" y="5589240"/>
            <a:ext cx="1700363" cy="360040"/>
            <a:chOff x="3947422" y="6021288"/>
            <a:chExt cx="1700363" cy="360040"/>
          </a:xfrm>
        </p:grpSpPr>
        <p:sp>
          <p:nvSpPr>
            <p:cNvPr id="46" name="TextBox 45"/>
            <p:cNvSpPr txBox="1"/>
            <p:nvPr/>
          </p:nvSpPr>
          <p:spPr>
            <a:xfrm>
              <a:off x="4025146" y="6021288"/>
              <a:ext cx="1622639" cy="36004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en-US" altLang="ko-KR" sz="10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&lt;&lt;  &lt; </a:t>
              </a:r>
              <a:r>
                <a:rPr lang="en-US" altLang="ko-KR" sz="10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  1</a:t>
              </a:r>
              <a:r>
                <a:rPr lang="en-US" altLang="ko-KR" sz="1000" smtClean="0">
                  <a:solidFill>
                    <a:schemeClr val="bg1">
                      <a:lumMod val="6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  2   3   4   5   6   7   8   9   15    </a:t>
              </a:r>
              <a:r>
                <a:rPr lang="en-US" altLang="ko-KR" sz="10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&gt;  &gt;&gt;</a:t>
              </a:r>
              <a:endPara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cxnSp>
          <p:nvCxnSpPr>
            <p:cNvPr id="70" name="직선 연결선 69"/>
            <p:cNvCxnSpPr/>
            <p:nvPr/>
          </p:nvCxnSpPr>
          <p:spPr>
            <a:xfrm>
              <a:off x="3947422" y="6305996"/>
              <a:ext cx="102789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그룹 70"/>
          <p:cNvGrpSpPr/>
          <p:nvPr/>
        </p:nvGrpSpPr>
        <p:grpSpPr>
          <a:xfrm>
            <a:off x="8083649" y="3471256"/>
            <a:ext cx="468189" cy="226647"/>
            <a:chOff x="8184232" y="2397322"/>
            <a:chExt cx="468189" cy="226647"/>
          </a:xfrm>
        </p:grpSpPr>
        <p:sp>
          <p:nvSpPr>
            <p:cNvPr id="72" name="모서리가 둥근 직사각형 71"/>
            <p:cNvSpPr/>
            <p:nvPr/>
          </p:nvSpPr>
          <p:spPr>
            <a:xfrm>
              <a:off x="8184232" y="2397322"/>
              <a:ext cx="464363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15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 rot="5400000">
              <a:off x="8455422" y="2415016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&gt;</a:t>
              </a:r>
              <a:endPara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sp>
        <p:nvSpPr>
          <p:cNvPr id="43" name="직각 삼각형 42"/>
          <p:cNvSpPr/>
          <p:nvPr/>
        </p:nvSpPr>
        <p:spPr>
          <a:xfrm flipH="1">
            <a:off x="4155509" y="4023626"/>
            <a:ext cx="91227" cy="90617"/>
          </a:xfrm>
          <a:prstGeom prst="rtTriangle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8459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동호회 통계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1150433" y="1482657"/>
            <a:ext cx="1326919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>
                <a:solidFill>
                  <a:prstClr val="white">
                    <a:lumMod val="7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활동 통계</a:t>
            </a:r>
            <a:endParaRPr lang="en-US" sz="800" dirty="0">
              <a:solidFill>
                <a:prstClr val="white">
                  <a:lumMod val="7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6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2"/>
            </p:custDataLst>
          </p:nvPr>
        </p:nvSpPr>
        <p:spPr>
          <a:xfrm>
            <a:off x="2464825" y="1482657"/>
            <a:ext cx="1326919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현황 통계</a:t>
            </a:r>
            <a:endParaRPr lang="en-US" sz="800" dirty="0">
              <a:solidFill>
                <a:prstClr val="black">
                  <a:lumMod val="95000"/>
                  <a:lumOff val="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343434"/>
              </p:ext>
            </p:extLst>
          </p:nvPr>
        </p:nvGraphicFramePr>
        <p:xfrm>
          <a:off x="1000573" y="2204864"/>
          <a:ext cx="7671787" cy="3369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3219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824110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824110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824110">
                  <a:extLst>
                    <a:ext uri="{9D8B030D-6E8A-4147-A177-3AD203B41FA5}">
                      <a16:colId xmlns:a16="http://schemas.microsoft.com/office/drawing/2014/main" val="4277053057"/>
                    </a:ext>
                  </a:extLst>
                </a:gridCol>
                <a:gridCol w="824110">
                  <a:extLst>
                    <a:ext uri="{9D8B030D-6E8A-4147-A177-3AD203B41FA5}">
                      <a16:colId xmlns:a16="http://schemas.microsoft.com/office/drawing/2014/main" val="3906194304"/>
                    </a:ext>
                  </a:extLst>
                </a:gridCol>
              </a:tblGrid>
              <a:tr h="381408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동호회명 ▲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카테고리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운영자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회원수 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게시물수 ▲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스포츠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운영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스포츠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폐쇄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스포츠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운영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스포츠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운영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스포츠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운영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104570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스포츠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운영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360550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스포츠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운영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68416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스포츠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운영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54702"/>
                  </a:ext>
                </a:extLst>
              </a:tr>
            </a:tbl>
          </a:graphicData>
        </a:graphic>
      </p:graphicFrame>
      <p:grpSp>
        <p:nvGrpSpPr>
          <p:cNvPr id="10" name="그룹 9"/>
          <p:cNvGrpSpPr/>
          <p:nvPr/>
        </p:nvGrpSpPr>
        <p:grpSpPr>
          <a:xfrm>
            <a:off x="8083649" y="2282924"/>
            <a:ext cx="468189" cy="226647"/>
            <a:chOff x="8184232" y="2397322"/>
            <a:chExt cx="468189" cy="226647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8184232" y="2397322"/>
              <a:ext cx="464363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15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 rot="5400000">
              <a:off x="8455422" y="2415016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&gt;</a:t>
              </a:r>
              <a:endPara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7248127" y="2282924"/>
            <a:ext cx="763409" cy="226647"/>
            <a:chOff x="7889012" y="2397322"/>
            <a:chExt cx="763409" cy="226647"/>
          </a:xfrm>
        </p:grpSpPr>
        <p:sp>
          <p:nvSpPr>
            <p:cNvPr id="14" name="모서리가 둥근 직사각형 13"/>
            <p:cNvSpPr/>
            <p:nvPr/>
          </p:nvSpPr>
          <p:spPr>
            <a:xfrm>
              <a:off x="7889012" y="2397322"/>
              <a:ext cx="759583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전체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 rot="5400000">
              <a:off x="8455422" y="2415016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&gt;</a:t>
              </a:r>
              <a:endPara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5894724" y="2282924"/>
            <a:ext cx="1267463" cy="226647"/>
            <a:chOff x="7384958" y="2397322"/>
            <a:chExt cx="1267463" cy="226647"/>
          </a:xfrm>
        </p:grpSpPr>
        <p:sp>
          <p:nvSpPr>
            <p:cNvPr id="17" name="모서리가 둥근 직사각형 16"/>
            <p:cNvSpPr/>
            <p:nvPr/>
          </p:nvSpPr>
          <p:spPr>
            <a:xfrm>
              <a:off x="7384958" y="2397322"/>
              <a:ext cx="1263638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전체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 rot="5400000">
              <a:off x="8455422" y="2415016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&gt;</a:t>
              </a:r>
              <a:endPara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sp>
        <p:nvSpPr>
          <p:cNvPr id="19" name="직각 삼각형 18"/>
          <p:cNvSpPr/>
          <p:nvPr/>
        </p:nvSpPr>
        <p:spPr>
          <a:xfrm flipH="1">
            <a:off x="4139878" y="2820057"/>
            <a:ext cx="91227" cy="90617"/>
          </a:xfrm>
          <a:prstGeom prst="rtTriangle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3916100" y="5733256"/>
            <a:ext cx="1700363" cy="360040"/>
            <a:chOff x="3947422" y="6021288"/>
            <a:chExt cx="1700363" cy="360040"/>
          </a:xfrm>
        </p:grpSpPr>
        <p:sp>
          <p:nvSpPr>
            <p:cNvPr id="21" name="TextBox 20"/>
            <p:cNvSpPr txBox="1"/>
            <p:nvPr/>
          </p:nvSpPr>
          <p:spPr>
            <a:xfrm>
              <a:off x="4025146" y="6021288"/>
              <a:ext cx="1622639" cy="36004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en-US" altLang="ko-KR" sz="10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&lt;&lt;  &lt; </a:t>
              </a:r>
              <a:r>
                <a:rPr lang="en-US" altLang="ko-KR" sz="10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  1</a:t>
              </a:r>
              <a:r>
                <a:rPr lang="en-US" altLang="ko-KR" sz="1000" smtClean="0">
                  <a:solidFill>
                    <a:schemeClr val="bg1">
                      <a:lumMod val="6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  2   3   4   5   6   7   8   9   15    </a:t>
              </a:r>
              <a:r>
                <a:rPr lang="en-US" altLang="ko-KR" sz="10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&gt;  &gt;&gt;</a:t>
              </a:r>
              <a:endPara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cxnSp>
          <p:nvCxnSpPr>
            <p:cNvPr id="22" name="직선 연결선 21"/>
            <p:cNvCxnSpPr/>
            <p:nvPr/>
          </p:nvCxnSpPr>
          <p:spPr>
            <a:xfrm>
              <a:off x="3947422" y="6305996"/>
              <a:ext cx="102789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460731"/>
              </p:ext>
            </p:extLst>
          </p:nvPr>
        </p:nvGraphicFramePr>
        <p:xfrm>
          <a:off x="9290533" y="786383"/>
          <a:ext cx="2835141" cy="1133708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#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As-is :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동호회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&gt;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동호회활동통계 에서 메뉴 이동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Dropbox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목록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전체 등록된 카테고리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68763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Dropbox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목록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전체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운영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폐쇄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773356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클릭시 해당 동호회 상세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화면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읽기 모드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204399"/>
                  </a:ext>
                </a:extLst>
              </a:tr>
            </a:tbl>
          </a:graphicData>
        </a:graphic>
      </p:graphicFrame>
      <p:sp>
        <p:nvSpPr>
          <p:cNvPr id="24" name="타원 23"/>
          <p:cNvSpPr/>
          <p:nvPr/>
        </p:nvSpPr>
        <p:spPr>
          <a:xfrm>
            <a:off x="5776857" y="2222036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7190790" y="2222036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통계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동호회 통계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noProof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현황 통계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908523" y="2975570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DA5.2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063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1150433" y="1482657"/>
            <a:ext cx="1326919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>
                <a:solidFill>
                  <a:prstClr val="white">
                    <a:lumMod val="7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활동 현황</a:t>
            </a:r>
            <a:endParaRPr lang="en-US" sz="800" dirty="0">
              <a:solidFill>
                <a:prstClr val="white">
                  <a:lumMod val="7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동호회 통계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2"/>
            </p:custDataLst>
          </p:nvPr>
        </p:nvSpPr>
        <p:spPr>
          <a:xfrm>
            <a:off x="2464825" y="1482657"/>
            <a:ext cx="1326919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mtClean="0">
                <a:solidFill>
                  <a:prstClr val="black">
                    <a:lumMod val="95000"/>
                    <a:lumOff val="5000"/>
                  </a:prst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태그 현황</a:t>
            </a:r>
            <a:endParaRPr lang="en-US" sz="800" dirty="0">
              <a:solidFill>
                <a:prstClr val="black">
                  <a:lumMod val="95000"/>
                  <a:lumOff val="5000"/>
                </a:prst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39983"/>
              </p:ext>
            </p:extLst>
          </p:nvPr>
        </p:nvGraphicFramePr>
        <p:xfrm>
          <a:off x="1000573" y="2060848"/>
          <a:ext cx="7671785" cy="4037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5307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3656478">
                  <a:extLst>
                    <a:ext uri="{9D8B030D-6E8A-4147-A177-3AD203B41FA5}">
                      <a16:colId xmlns:a16="http://schemas.microsoft.com/office/drawing/2014/main" val="2882495886"/>
                    </a:ext>
                  </a:extLst>
                </a:gridCol>
              </a:tblGrid>
              <a:tr h="3814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태그명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태그 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태그명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태그명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태그명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태그명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태그명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6144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태그명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51710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태그명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490047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태그명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38955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태그명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07638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태그명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356324"/>
                  </a:ext>
                </a:extLst>
              </a:tr>
            </a:tbl>
          </a:graphicData>
        </a:graphic>
      </p:graphicFrame>
      <p:grpSp>
        <p:nvGrpSpPr>
          <p:cNvPr id="24" name="그룹 23"/>
          <p:cNvGrpSpPr/>
          <p:nvPr/>
        </p:nvGrpSpPr>
        <p:grpSpPr>
          <a:xfrm>
            <a:off x="8074124" y="2130268"/>
            <a:ext cx="468189" cy="226647"/>
            <a:chOff x="8184232" y="2397322"/>
            <a:chExt cx="468189" cy="226647"/>
          </a:xfrm>
        </p:grpSpPr>
        <p:sp>
          <p:nvSpPr>
            <p:cNvPr id="25" name="모서리가 둥근 직사각형 24"/>
            <p:cNvSpPr/>
            <p:nvPr/>
          </p:nvSpPr>
          <p:spPr>
            <a:xfrm>
              <a:off x="8184232" y="2397322"/>
              <a:ext cx="464363" cy="2266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 15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 rot="5400000">
              <a:off x="8455422" y="2415016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통계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동호회 통계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태그 현황</a:t>
            </a:r>
          </a:p>
        </p:txBody>
      </p:sp>
      <p:grpSp>
        <p:nvGrpSpPr>
          <p:cNvPr id="32" name="그룹 31"/>
          <p:cNvGrpSpPr/>
          <p:nvPr/>
        </p:nvGrpSpPr>
        <p:grpSpPr>
          <a:xfrm>
            <a:off x="3916100" y="6174829"/>
            <a:ext cx="1700363" cy="360040"/>
            <a:chOff x="3947422" y="6021288"/>
            <a:chExt cx="1700363" cy="360040"/>
          </a:xfrm>
        </p:grpSpPr>
        <p:sp>
          <p:nvSpPr>
            <p:cNvPr id="33" name="TextBox 32"/>
            <p:cNvSpPr txBox="1"/>
            <p:nvPr/>
          </p:nvSpPr>
          <p:spPr>
            <a:xfrm>
              <a:off x="4025146" y="6021288"/>
              <a:ext cx="1622639" cy="36004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en-US" altLang="ko-KR" sz="10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&lt;&lt;  &lt; </a:t>
              </a:r>
              <a:r>
                <a:rPr lang="en-US" altLang="ko-KR" sz="10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  1</a:t>
              </a:r>
              <a:r>
                <a:rPr lang="en-US" altLang="ko-KR" sz="1000" smtClean="0">
                  <a:solidFill>
                    <a:schemeClr val="bg1">
                      <a:lumMod val="6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  2   3   4   5   6   7   8   9   10    </a:t>
              </a:r>
              <a:r>
                <a:rPr lang="en-US" altLang="ko-KR" sz="10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&gt;  &gt;&gt;</a:t>
              </a:r>
              <a:endPara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cxnSp>
          <p:nvCxnSpPr>
            <p:cNvPr id="34" name="직선 연결선 33"/>
            <p:cNvCxnSpPr/>
            <p:nvPr/>
          </p:nvCxnSpPr>
          <p:spPr>
            <a:xfrm>
              <a:off x="3947422" y="6305996"/>
              <a:ext cx="102789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직각 삼각형 34"/>
          <p:cNvSpPr/>
          <p:nvPr/>
        </p:nvSpPr>
        <p:spPr>
          <a:xfrm flipH="1">
            <a:off x="11458980" y="5953531"/>
            <a:ext cx="669365" cy="710120"/>
          </a:xfrm>
          <a:prstGeom prst="rtTriangle">
            <a:avLst/>
          </a:prstGeom>
          <a:solidFill>
            <a:srgbClr val="FF000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ko-KR" altLang="en-US" sz="9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추가</a:t>
            </a:r>
            <a:endParaRPr lang="ko-KR" altLang="en-US" sz="9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DA5.2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3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343339"/>
              </p:ext>
            </p:extLst>
          </p:nvPr>
        </p:nvGraphicFramePr>
        <p:xfrm>
          <a:off x="9290533" y="786383"/>
          <a:ext cx="2835141" cy="866993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#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As-is :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동호회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&gt;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태그 통계 에서 메뉴 이동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출력 방식은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as-is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와 동일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태그명 클릭시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태그리스트 팝업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DA5.2.1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687634"/>
                  </a:ext>
                </a:extLst>
              </a:tr>
            </a:tbl>
          </a:graphicData>
        </a:graphic>
      </p:graphicFrame>
      <p:sp>
        <p:nvSpPr>
          <p:cNvPr id="38" name="타원 37"/>
          <p:cNvSpPr/>
          <p:nvPr/>
        </p:nvSpPr>
        <p:spPr>
          <a:xfrm>
            <a:off x="830207" y="2834811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27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3"/>
            </p:custDataLst>
          </p:nvPr>
        </p:nvSpPr>
        <p:spPr>
          <a:xfrm>
            <a:off x="0" y="10630"/>
            <a:ext cx="12192000" cy="6847369"/>
          </a:xfrm>
          <a:prstGeom prst="rect">
            <a:avLst/>
          </a:prstGeom>
          <a:solidFill>
            <a:srgbClr val="0000FF">
              <a:alpha val="46000"/>
            </a:srgbClr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60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삭제</a:t>
            </a:r>
            <a:endParaRPr lang="en-US" altLang="ko-KR" sz="6000" b="1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  <a:p>
            <a:pPr algn="ctr" latinLnBrk="0"/>
            <a:r>
              <a:rPr lang="en-US" sz="10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2017-09-06</a:t>
            </a:r>
            <a:endParaRPr lang="en-US" sz="1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586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1"/>
            </p:custDataLst>
          </p:nvPr>
        </p:nvSpPr>
        <p:spPr>
          <a:xfrm>
            <a:off x="436712" y="620688"/>
            <a:ext cx="4554388" cy="533284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lose Button" descr="&lt;SmartSettings&gt;&lt;SmartResize anchorLeft=&quot;None&quot; anchorTop=&quot;Absolute&quot; anchorRight=&quot;Absolute&quot; anchorBottom=&quot;None&quot; /&gt;&lt;/SmartSettings&gt;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4636970" y="755480"/>
            <a:ext cx="123053" cy="116625"/>
          </a:xfrm>
          <a:custGeom>
            <a:avLst/>
            <a:gdLst>
              <a:gd name="T0" fmla="*/ 254 w 254"/>
              <a:gd name="T1" fmla="*/ 0 h 254"/>
              <a:gd name="T2" fmla="*/ 0 w 254"/>
              <a:gd name="T3" fmla="*/ 254 h 254"/>
              <a:gd name="T4" fmla="*/ 0 w 254"/>
              <a:gd name="T5" fmla="*/ 0 h 254"/>
              <a:gd name="T6" fmla="*/ 254 w 254"/>
              <a:gd name="T7" fmla="*/ 254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4" h="254">
                <a:moveTo>
                  <a:pt x="254" y="0"/>
                </a:moveTo>
                <a:lnTo>
                  <a:pt x="0" y="254"/>
                </a:lnTo>
                <a:moveTo>
                  <a:pt x="0" y="0"/>
                </a:moveTo>
                <a:lnTo>
                  <a:pt x="254" y="254"/>
                </a:lnTo>
              </a:path>
            </a:pathLst>
          </a:custGeom>
          <a:noFill/>
          <a:ln w="9525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4721" y="727482"/>
            <a:ext cx="661742" cy="195956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태그 리스트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561656" y="1006896"/>
            <a:ext cx="41983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5"/>
          <p:cNvSpPr/>
          <p:nvPr/>
        </p:nvSpPr>
        <p:spPr>
          <a:xfrm>
            <a:off x="2150664" y="5441007"/>
            <a:ext cx="1126484" cy="2773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확인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131920"/>
              </p:ext>
            </p:extLst>
          </p:nvPr>
        </p:nvGraphicFramePr>
        <p:xfrm>
          <a:off x="600523" y="1321200"/>
          <a:ext cx="4152452" cy="3622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7777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934290640"/>
                    </a:ext>
                  </a:extLst>
                </a:gridCol>
                <a:gridCol w="625252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851123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</a:tblGrid>
              <a:tr h="2696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동호회명</a:t>
                      </a: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등록 게시물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등록자</a:t>
                      </a: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등록일</a:t>
                      </a: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274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2017-08-30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274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2017-08-30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274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2017-08-30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274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2017-08-30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274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2017-08-30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05002"/>
                  </a:ext>
                </a:extLst>
              </a:tr>
              <a:tr h="274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2017-08-30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063277"/>
                  </a:ext>
                </a:extLst>
              </a:tr>
              <a:tr h="274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2017-08-30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002384"/>
                  </a:ext>
                </a:extLst>
              </a:tr>
              <a:tr h="274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2017-08-30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298917"/>
                  </a:ext>
                </a:extLst>
              </a:tr>
              <a:tr h="274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2017-08-30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886845"/>
                  </a:ext>
                </a:extLst>
              </a:tr>
              <a:tr h="274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수영인과 함께하는 놀이터</a:t>
                      </a: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공지사항입니다</a:t>
                      </a:r>
                      <a:r>
                        <a:rPr kumimoji="0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endParaRPr kumimoji="0" lang="ko-KR" altLang="en-US" sz="8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2017-08-30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72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989195"/>
                  </a:ext>
                </a:extLst>
              </a:tr>
            </a:tbl>
          </a:graphicData>
        </a:graphic>
      </p:graphicFrame>
      <p:grpSp>
        <p:nvGrpSpPr>
          <p:cNvPr id="9" name="그룹 8"/>
          <p:cNvGrpSpPr/>
          <p:nvPr/>
        </p:nvGrpSpPr>
        <p:grpSpPr>
          <a:xfrm>
            <a:off x="1826567" y="4951050"/>
            <a:ext cx="1700363" cy="360040"/>
            <a:chOff x="3947422" y="6021288"/>
            <a:chExt cx="1700363" cy="360040"/>
          </a:xfrm>
        </p:grpSpPr>
        <p:sp>
          <p:nvSpPr>
            <p:cNvPr id="10" name="TextBox 9"/>
            <p:cNvSpPr txBox="1"/>
            <p:nvPr/>
          </p:nvSpPr>
          <p:spPr>
            <a:xfrm>
              <a:off x="4025146" y="6021288"/>
              <a:ext cx="1622639" cy="36004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en-US" altLang="ko-KR" sz="10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&lt;&lt;  &lt; </a:t>
              </a:r>
              <a:r>
                <a:rPr lang="en-US" altLang="ko-KR" sz="10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  1</a:t>
              </a:r>
              <a:r>
                <a:rPr lang="en-US" altLang="ko-KR" sz="1000" smtClean="0">
                  <a:solidFill>
                    <a:schemeClr val="bg1">
                      <a:lumMod val="6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  2   3   4   5   6   7   8   9   10    </a:t>
              </a:r>
              <a:r>
                <a:rPr lang="en-US" altLang="ko-KR" sz="10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&gt;  &gt;&gt;</a:t>
              </a:r>
              <a:endPara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cxnSp>
          <p:nvCxnSpPr>
            <p:cNvPr id="11" name="직선 연결선 10"/>
            <p:cNvCxnSpPr/>
            <p:nvPr/>
          </p:nvCxnSpPr>
          <p:spPr>
            <a:xfrm>
              <a:off x="3947422" y="6305996"/>
              <a:ext cx="102789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직각 삼각형 11"/>
          <p:cNvSpPr/>
          <p:nvPr/>
        </p:nvSpPr>
        <p:spPr>
          <a:xfrm flipH="1">
            <a:off x="11458980" y="5953531"/>
            <a:ext cx="669365" cy="710120"/>
          </a:xfrm>
          <a:prstGeom prst="rtTriangle">
            <a:avLst/>
          </a:prstGeom>
          <a:solidFill>
            <a:srgbClr val="FF000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ko-KR" altLang="en-US" sz="9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추가</a:t>
            </a:r>
            <a:endParaRPr lang="ko-KR" altLang="en-US" sz="9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통계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동호회 통계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태그 현황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태그 리스트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DA5.2.1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18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65027"/>
              </p:ext>
            </p:extLst>
          </p:nvPr>
        </p:nvGraphicFramePr>
        <p:xfrm>
          <a:off x="9290533" y="786383"/>
          <a:ext cx="2835141" cy="866993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#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As-is :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동호회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&gt;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태그 통계 에서 메뉴 이동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출력 방식은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as-is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와 동일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클릭시 해당 게시물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사용자단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)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687634"/>
                  </a:ext>
                </a:extLst>
              </a:tr>
            </a:tbl>
          </a:graphicData>
        </a:graphic>
      </p:graphicFrame>
      <p:sp>
        <p:nvSpPr>
          <p:cNvPr id="19" name="타원 18"/>
          <p:cNvSpPr/>
          <p:nvPr/>
        </p:nvSpPr>
        <p:spPr>
          <a:xfrm>
            <a:off x="1506482" y="1653711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20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3"/>
            </p:custDataLst>
          </p:nvPr>
        </p:nvSpPr>
        <p:spPr>
          <a:xfrm>
            <a:off x="0" y="10630"/>
            <a:ext cx="12192000" cy="6847369"/>
          </a:xfrm>
          <a:prstGeom prst="rect">
            <a:avLst/>
          </a:prstGeom>
          <a:solidFill>
            <a:srgbClr val="0000FF">
              <a:alpha val="46000"/>
            </a:srgbClr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60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삭제</a:t>
            </a:r>
            <a:endParaRPr lang="en-US" altLang="ko-KR" sz="6000" b="1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  <a:p>
            <a:pPr algn="ctr" latinLnBrk="0"/>
            <a:r>
              <a:rPr lang="en-US" sz="10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2017-09-06</a:t>
            </a:r>
            <a:endParaRPr lang="en-US" sz="1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656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5400" y="1340768"/>
            <a:ext cx="55899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시스템 정보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액션로그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로그인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9042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 txBox="1">
            <a:spLocks/>
          </p:cNvSpPr>
          <p:nvPr/>
        </p:nvSpPr>
        <p:spPr>
          <a:xfrm>
            <a:off x="1008246" y="383810"/>
            <a:ext cx="8568952" cy="3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spc="-100" baseline="0">
                <a:solidFill>
                  <a:srgbClr val="0B55B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+mn-cs"/>
              </a:rPr>
              <a:t>Location</a:t>
            </a:r>
            <a:endParaRPr kumimoji="0" lang="ko-KR" altLang="en-US" sz="1600" b="0" i="0" u="none" strike="noStrike" kern="1200" cap="none" spc="-10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941649"/>
              </p:ext>
            </p:extLst>
          </p:nvPr>
        </p:nvGraphicFramePr>
        <p:xfrm>
          <a:off x="990126" y="1050330"/>
          <a:ext cx="5249892" cy="3153672"/>
        </p:xfrm>
        <a:graphic>
          <a:graphicData uri="http://schemas.openxmlformats.org/drawingml/2006/table">
            <a:tbl>
              <a:tblPr/>
              <a:tblGrid>
                <a:gridCol w="1312473">
                  <a:extLst>
                    <a:ext uri="{9D8B030D-6E8A-4147-A177-3AD203B41FA5}">
                      <a16:colId xmlns:a16="http://schemas.microsoft.com/office/drawing/2014/main" val="2905596105"/>
                    </a:ext>
                  </a:extLst>
                </a:gridCol>
                <a:gridCol w="1312473">
                  <a:extLst>
                    <a:ext uri="{9D8B030D-6E8A-4147-A177-3AD203B41FA5}">
                      <a16:colId xmlns:a16="http://schemas.microsoft.com/office/drawing/2014/main" val="832508854"/>
                    </a:ext>
                  </a:extLst>
                </a:gridCol>
                <a:gridCol w="1312473">
                  <a:extLst>
                    <a:ext uri="{9D8B030D-6E8A-4147-A177-3AD203B41FA5}">
                      <a16:colId xmlns:a16="http://schemas.microsoft.com/office/drawing/2014/main" val="3041841285"/>
                    </a:ext>
                  </a:extLst>
                </a:gridCol>
                <a:gridCol w="1312473">
                  <a:extLst>
                    <a:ext uri="{9D8B030D-6E8A-4147-A177-3AD203B41FA5}">
                      <a16:colId xmlns:a16="http://schemas.microsoft.com/office/drawing/2014/main" val="1359020298"/>
                    </a:ext>
                  </a:extLst>
                </a:gridCol>
              </a:tblGrid>
              <a:tr h="26280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통계 정보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D0D0D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D0D0D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0492198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smtClean="0"/>
                        <a:t>통계</a:t>
                      </a:r>
                      <a:endParaRPr lang="ko-KR" altLang="en-US" sz="900"/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2721406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　</a:t>
                      </a: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900"/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900" b="0" i="0" u="none" strike="noStrike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 통계</a:t>
                      </a:r>
                      <a:endParaRPr lang="ko-KR" altLang="en-US" sz="900" b="0" i="0" u="none" strike="noStrik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2231621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　</a:t>
                      </a: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900"/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900" b="0" i="0" u="none" strike="noStrike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웹메일 통계</a:t>
                      </a:r>
                      <a:endParaRPr lang="ko-KR" altLang="en-US" sz="900" b="0" i="0" u="none" strike="noStrik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388384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웹폴더 통계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3726967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액션로그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40404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0814916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FFFF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로그인</a:t>
                      </a:r>
                      <a:endParaRPr lang="en-US" altLang="ko-KR" sz="900" b="0" i="0" u="none" strike="noStrike" smtClean="0">
                        <a:solidFill>
                          <a:srgbClr val="FFFF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3803983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FFFF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</a:t>
                      </a:r>
                      <a:endParaRPr lang="en-US" sz="900" b="0" i="0" u="none" strike="noStrike">
                        <a:solidFill>
                          <a:srgbClr val="FFFF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7209817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FFFF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결재</a:t>
                      </a:r>
                      <a:endParaRPr lang="en-US" sz="900" b="0" i="0" u="none" strike="noStrike">
                        <a:solidFill>
                          <a:srgbClr val="FFFF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8120801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FFFF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권한</a:t>
                      </a:r>
                      <a:endParaRPr lang="en-US" sz="900" b="0" i="0" u="none" strike="noStrike">
                        <a:solidFill>
                          <a:srgbClr val="FFFF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7850870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FFFF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업무넷</a:t>
                      </a:r>
                      <a:endParaRPr lang="en-US" sz="900" b="0" i="0" u="none" strike="noStrike">
                        <a:solidFill>
                          <a:srgbClr val="FFFF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6421378"/>
                  </a:ext>
                </a:extLst>
              </a:tr>
              <a:tr h="262806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FFFF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스퀘어 플러스</a:t>
                      </a:r>
                      <a:endParaRPr lang="en-US" sz="900" b="0" i="0" u="none" strike="noStrike">
                        <a:solidFill>
                          <a:srgbClr val="FFFF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3899" marT="3899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4328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0542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041648"/>
              </p:ext>
            </p:extLst>
          </p:nvPr>
        </p:nvGraphicFramePr>
        <p:xfrm>
          <a:off x="1000573" y="3789040"/>
          <a:ext cx="7671788" cy="1986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3827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995211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</a:tblGrid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로그인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로그아웃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로그인 실패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패스워드 초기화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1669175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조회하실 구분 및 부서를 선택해주세요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</a:tbl>
          </a:graphicData>
        </a:graphic>
      </p:graphicFrame>
      <p:graphicFrame>
        <p:nvGraphicFramePr>
          <p:cNvPr id="63" name="표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035854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74" name="그룹 73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75" name="모서리가 둥근 직사각형 74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76" name="그룹 75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77" name="모서리가 둥근 직사각형 76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78" name="그림 77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5" name="TextBox 4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1150434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로그인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로그인</a:t>
            </a:r>
          </a:p>
        </p:txBody>
      </p:sp>
      <p:sp>
        <p:nvSpPr>
          <p:cNvPr id="62" name="모서리가 둥근 직사각형 61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64" name="그룹 63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65" name="그룹 64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67" name="그룹 66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71" name="그림 70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72" name="직사각형 71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68" name="그룹 67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69" name="그림 6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70" name="직사각형 69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66" name="TextBox 65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79" name="TextBox 78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월별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일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110" name="자유형 109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DB1.1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42" name="직각 삼각형 41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0000FF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2524179" y="2009775"/>
            <a:ext cx="3981396" cy="219075"/>
          </a:xfrm>
          <a:prstGeom prst="roundRect">
            <a:avLst/>
          </a:prstGeom>
          <a:noFill/>
          <a:ln>
            <a:solidFill>
              <a:srgbClr val="0000FF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3848154" y="4819650"/>
            <a:ext cx="1971621" cy="219075"/>
          </a:xfrm>
          <a:prstGeom prst="roundRect">
            <a:avLst/>
          </a:prstGeom>
          <a:noFill/>
          <a:ln>
            <a:solidFill>
              <a:srgbClr val="0000FF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908312" y="1922316"/>
            <a:ext cx="168861" cy="174728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4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940116"/>
              </p:ext>
            </p:extLst>
          </p:nvPr>
        </p:nvGraphicFramePr>
        <p:xfrm>
          <a:off x="9290533" y="786383"/>
          <a:ext cx="2835141" cy="988913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조회 구분의 디자인은 로그인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~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스퀘어 플러스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모두 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구분에 따른 출력되는 로직 및 데이터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as-is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94668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1-1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클릭시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부서 선택 팝업 출력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자동완성 적용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X)</a:t>
                      </a: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127216"/>
                  </a:ext>
                </a:extLst>
              </a:tr>
            </a:tbl>
          </a:graphicData>
        </a:graphic>
      </p:graphicFrame>
      <p:sp>
        <p:nvSpPr>
          <p:cNvPr id="47" name="타원 46"/>
          <p:cNvSpPr/>
          <p:nvPr/>
        </p:nvSpPr>
        <p:spPr>
          <a:xfrm>
            <a:off x="6518537" y="2236641"/>
            <a:ext cx="168861" cy="174728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1-1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1113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46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#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 선택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B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-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0222328" y="308595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AA1.2.1.1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60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554303"/>
              </p:ext>
            </p:extLst>
          </p:nvPr>
        </p:nvGraphicFramePr>
        <p:xfrm>
          <a:off x="9290533" y="786383"/>
          <a:ext cx="2835141" cy="980780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디자인은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AA1.2.1.1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와 동일하고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부서 선택에 따른 로직만 다름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선택된 부서에 하위 부서가 있을 경우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부서까지 포함하여 결과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732766"/>
                  </a:ext>
                </a:extLst>
              </a:tr>
            </a:tbl>
          </a:graphicData>
        </a:graphic>
      </p:graphicFrame>
      <p:sp>
        <p:nvSpPr>
          <p:cNvPr id="70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1"/>
            </p:custDataLst>
          </p:nvPr>
        </p:nvSpPr>
        <p:spPr>
          <a:xfrm>
            <a:off x="436712" y="620689"/>
            <a:ext cx="3283024" cy="5003944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1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2"/>
            </p:custDataLst>
          </p:nvPr>
        </p:nvSpPr>
        <p:spPr>
          <a:xfrm>
            <a:off x="567508" y="1196752"/>
            <a:ext cx="3053699" cy="314159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2" name="Close Button" descr="&lt;SmartSettings&gt;&lt;SmartResize anchorLeft=&quot;None&quot; anchorTop=&quot;Absolute&quot; anchorRight=&quot;Absolute&quot; anchorBottom=&quot;None&quot; /&gt;&lt;/SmartSettings&gt;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3459178" y="755480"/>
            <a:ext cx="123053" cy="116625"/>
          </a:xfrm>
          <a:custGeom>
            <a:avLst/>
            <a:gdLst>
              <a:gd name="T0" fmla="*/ 254 w 254"/>
              <a:gd name="T1" fmla="*/ 0 h 254"/>
              <a:gd name="T2" fmla="*/ 0 w 254"/>
              <a:gd name="T3" fmla="*/ 254 h 254"/>
              <a:gd name="T4" fmla="*/ 0 w 254"/>
              <a:gd name="T5" fmla="*/ 0 h 254"/>
              <a:gd name="T6" fmla="*/ 254 w 254"/>
              <a:gd name="T7" fmla="*/ 254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4" h="254">
                <a:moveTo>
                  <a:pt x="254" y="0"/>
                </a:moveTo>
                <a:lnTo>
                  <a:pt x="0" y="254"/>
                </a:lnTo>
                <a:moveTo>
                  <a:pt x="0" y="0"/>
                </a:moveTo>
                <a:lnTo>
                  <a:pt x="254" y="254"/>
                </a:lnTo>
              </a:path>
            </a:pathLst>
          </a:custGeom>
          <a:noFill/>
          <a:ln w="9525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54721" y="727482"/>
            <a:ext cx="661742" cy="195956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 선택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74" name="직선 연결선 73"/>
          <p:cNvCxnSpPr/>
          <p:nvPr/>
        </p:nvCxnSpPr>
        <p:spPr>
          <a:xfrm>
            <a:off x="546892" y="1006896"/>
            <a:ext cx="306152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모서리가 둥근 직사각형 75"/>
          <p:cNvSpPr/>
          <p:nvPr/>
        </p:nvSpPr>
        <p:spPr>
          <a:xfrm>
            <a:off x="2176997" y="4985676"/>
            <a:ext cx="1126484" cy="27739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완료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870855" y="4985676"/>
            <a:ext cx="1126484" cy="2773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itchFamily="50" charset="-127"/>
                <a:cs typeface="+mn-cs"/>
              </a:rPr>
              <a:t>취소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</p:txBody>
      </p:sp>
      <p:sp>
        <p:nvSpPr>
          <p:cNvPr id="94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4"/>
            </p:custDataLst>
          </p:nvPr>
        </p:nvSpPr>
        <p:spPr>
          <a:xfrm>
            <a:off x="567509" y="4508286"/>
            <a:ext cx="3053698" cy="292962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표준전략실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pSp>
        <p:nvGrpSpPr>
          <p:cNvPr id="95" name="그룹 94"/>
          <p:cNvGrpSpPr/>
          <p:nvPr/>
        </p:nvGrpSpPr>
        <p:grpSpPr>
          <a:xfrm>
            <a:off x="3474617" y="1741528"/>
            <a:ext cx="58192" cy="2448510"/>
            <a:chOff x="2238375" y="1813543"/>
            <a:chExt cx="58192" cy="3943350"/>
          </a:xfrm>
        </p:grpSpPr>
        <p:sp>
          <p:nvSpPr>
            <p:cNvPr id="97" name="모서리가 둥근 직사각형 96"/>
            <p:cNvSpPr/>
            <p:nvPr/>
          </p:nvSpPr>
          <p:spPr>
            <a:xfrm>
              <a:off x="2238375" y="1813543"/>
              <a:ext cx="58192" cy="394335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12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99" name="모서리가 둥근 직사각형 98"/>
            <p:cNvSpPr/>
            <p:nvPr/>
          </p:nvSpPr>
          <p:spPr>
            <a:xfrm>
              <a:off x="2238375" y="3418408"/>
              <a:ext cx="58192" cy="1038419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37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</p:grpSp>
      <p:grpSp>
        <p:nvGrpSpPr>
          <p:cNvPr id="101" name="그룹 100"/>
          <p:cNvGrpSpPr/>
          <p:nvPr/>
        </p:nvGrpSpPr>
        <p:grpSpPr>
          <a:xfrm>
            <a:off x="567508" y="1197716"/>
            <a:ext cx="3053699" cy="429460"/>
            <a:chOff x="554721" y="1196752"/>
            <a:chExt cx="3053699" cy="429460"/>
          </a:xfrm>
        </p:grpSpPr>
        <p:sp>
          <p:nvSpPr>
            <p:cNvPr id="103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5"/>
              </p:custDataLst>
            </p:nvPr>
          </p:nvSpPr>
          <p:spPr>
            <a:xfrm>
              <a:off x="554721" y="1196752"/>
              <a:ext cx="3053699" cy="42946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04" name="Modal Dialog Overlay"/>
            <p:cNvSpPr>
              <a:spLocks/>
            </p:cNvSpPr>
            <p:nvPr/>
          </p:nvSpPr>
          <p:spPr bwMode="auto">
            <a:xfrm>
              <a:off x="709951" y="1293826"/>
              <a:ext cx="2481427" cy="24536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50000"/>
                </a:schemeClr>
              </a:solidFill>
              <a:prstDash val="solid"/>
            </a:ln>
            <a:effectLst/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  <p:pic>
          <p:nvPicPr>
            <p:cNvPr id="107" name="그림 10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7421" y="1341686"/>
              <a:ext cx="182222" cy="182222"/>
            </a:xfrm>
            <a:prstGeom prst="rect">
              <a:avLst/>
            </a:prstGeom>
          </p:spPr>
        </p:pic>
        <p:grpSp>
          <p:nvGrpSpPr>
            <p:cNvPr id="108" name="그룹 107"/>
            <p:cNvGrpSpPr/>
            <p:nvPr/>
          </p:nvGrpSpPr>
          <p:grpSpPr>
            <a:xfrm>
              <a:off x="3238596" y="1293826"/>
              <a:ext cx="254597" cy="239977"/>
              <a:chOff x="3238596" y="1293826"/>
              <a:chExt cx="254597" cy="239977"/>
            </a:xfrm>
          </p:grpSpPr>
          <p:sp>
            <p:nvSpPr>
              <p:cNvPr id="109" name="모서리가 둥근 직사각형 108"/>
              <p:cNvSpPr/>
              <p:nvPr/>
            </p:nvSpPr>
            <p:spPr>
              <a:xfrm>
                <a:off x="3238596" y="1293826"/>
                <a:ext cx="254597" cy="239977"/>
              </a:xfrm>
              <a:prstGeom prst="roundRect">
                <a:avLst>
                  <a:gd name="adj" fmla="val 23266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110" name="그림 10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94155" y="1332371"/>
                <a:ext cx="148907" cy="148907"/>
              </a:xfrm>
              <a:prstGeom prst="rect">
                <a:avLst/>
              </a:prstGeom>
            </p:spPr>
          </p:pic>
        </p:grpSp>
      </p:grpSp>
      <p:cxnSp>
        <p:nvCxnSpPr>
          <p:cNvPr id="113" name="꺾인 연결선 112"/>
          <p:cNvCxnSpPr/>
          <p:nvPr/>
        </p:nvCxnSpPr>
        <p:spPr>
          <a:xfrm rot="16200000" flipH="1">
            <a:off x="925290" y="2017096"/>
            <a:ext cx="214198" cy="103502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꺾인 연결선 113"/>
          <p:cNvCxnSpPr/>
          <p:nvPr/>
        </p:nvCxnSpPr>
        <p:spPr>
          <a:xfrm rot="16200000" flipH="1">
            <a:off x="784546" y="2157840"/>
            <a:ext cx="495687" cy="103502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꺾인 연결선 114"/>
          <p:cNvCxnSpPr/>
          <p:nvPr/>
        </p:nvCxnSpPr>
        <p:spPr>
          <a:xfrm rot="16200000" flipH="1">
            <a:off x="1273485" y="2600547"/>
            <a:ext cx="214198" cy="103502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/>
          <p:nvPr/>
        </p:nvCxnSpPr>
        <p:spPr>
          <a:xfrm rot="16200000" flipH="1">
            <a:off x="1132741" y="2741291"/>
            <a:ext cx="495687" cy="103502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1105321" y="2387266"/>
            <a:ext cx="125001" cy="1262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  <a:cs typeface="+mn-cs"/>
              </a:rPr>
              <a:t>-</a:t>
            </a:r>
            <a:endParaRPr kumimoji="1" lang="ko-KR" altLang="en-US" sz="11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  <a:cs typeface="+mn-cs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105321" y="2121795"/>
            <a:ext cx="125001" cy="1262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  <a:cs typeface="+mn-cs"/>
              </a:rPr>
              <a:t>+</a:t>
            </a:r>
            <a:endParaRPr kumimoji="1" lang="ko-KR" altLang="en-US" sz="11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  <a:cs typeface="+mn-cs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746221" y="1842720"/>
            <a:ext cx="125001" cy="1262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  <a:cs typeface="+mn-cs"/>
              </a:rPr>
              <a:t>-</a:t>
            </a:r>
            <a:endParaRPr kumimoji="1" lang="ko-KR" altLang="en-US" sz="11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  <a:cs typeface="+mn-cs"/>
            </a:endParaRPr>
          </a:p>
        </p:txBody>
      </p:sp>
      <p:pic>
        <p:nvPicPr>
          <p:cNvPr id="120" name="그림 11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648" y="1846158"/>
            <a:ext cx="123607" cy="123607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1784401" y="2893681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제품기획팀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22" name="타원 121"/>
          <p:cNvSpPr/>
          <p:nvPr/>
        </p:nvSpPr>
        <p:spPr>
          <a:xfrm>
            <a:off x="1642949" y="2974948"/>
            <a:ext cx="118737" cy="12035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784401" y="2611694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신뢰성기술팀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25" name="타원 124"/>
          <p:cNvSpPr/>
          <p:nvPr/>
        </p:nvSpPr>
        <p:spPr>
          <a:xfrm>
            <a:off x="1642949" y="2689198"/>
            <a:ext cx="118737" cy="12035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1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581200" y="2325944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표준전략실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27" name="타원 126"/>
          <p:cNvSpPr/>
          <p:nvPr/>
        </p:nvSpPr>
        <p:spPr>
          <a:xfrm>
            <a:off x="1449273" y="2403448"/>
            <a:ext cx="118737" cy="12035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1581200" y="2049672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전략기획실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30" name="타원 129"/>
          <p:cNvSpPr/>
          <p:nvPr/>
        </p:nvSpPr>
        <p:spPr>
          <a:xfrm>
            <a:off x="1449273" y="2127176"/>
            <a:ext cx="118737" cy="12035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1225640" y="1782972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핸디소프트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32" name="타원 131"/>
          <p:cNvSpPr/>
          <p:nvPr/>
        </p:nvSpPr>
        <p:spPr>
          <a:xfrm>
            <a:off x="1093713" y="1860476"/>
            <a:ext cx="118737" cy="120359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33" name="자유형 132"/>
          <p:cNvSpPr/>
          <p:nvPr/>
        </p:nvSpPr>
        <p:spPr>
          <a:xfrm>
            <a:off x="1456592" y="2406268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35" name="타원 134"/>
          <p:cNvSpPr/>
          <p:nvPr/>
        </p:nvSpPr>
        <p:spPr>
          <a:xfrm>
            <a:off x="344432" y="520236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012" y="2386144"/>
            <a:ext cx="123607" cy="123607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82" y="2133831"/>
            <a:ext cx="109643" cy="109643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138" y="2685105"/>
            <a:ext cx="109643" cy="109643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138" y="2971090"/>
            <a:ext cx="109643" cy="109643"/>
          </a:xfrm>
          <a:prstGeom prst="rect">
            <a:avLst/>
          </a:prstGeom>
        </p:spPr>
      </p:pic>
      <p:sp>
        <p:nvSpPr>
          <p:cNvPr id="49" name="타원 48"/>
          <p:cNvSpPr/>
          <p:nvPr/>
        </p:nvSpPr>
        <p:spPr>
          <a:xfrm>
            <a:off x="2135132" y="2387136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7" name="꺾인 연결선 6"/>
          <p:cNvCxnSpPr>
            <a:stCxn id="49" idx="6"/>
          </p:cNvCxnSpPr>
          <p:nvPr/>
        </p:nvCxnSpPr>
        <p:spPr>
          <a:xfrm>
            <a:off x="2303993" y="2474500"/>
            <a:ext cx="436246" cy="2033786"/>
          </a:xfrm>
          <a:prstGeom prst="bentConnector2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3303481" y="5128495"/>
            <a:ext cx="1244384" cy="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8362" y="4622234"/>
            <a:ext cx="5602938" cy="98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907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DB1.1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921594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7" name="모서리가 둥근 직사각형 6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8" name="그림 7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cxnSp>
        <p:nvCxnSpPr>
          <p:cNvPr id="10" name="직선 연결선 9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1150434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로그인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14" name="그룹 13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16" name="그룹 15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20" name="그림 19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21" name="직사각형 20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7" name="그룹 16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8" name="그림 1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9" name="직사각형 18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15" name="TextBox 14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30" name="자유형 29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969548"/>
              </p:ext>
            </p:extLst>
          </p:nvPr>
        </p:nvGraphicFramePr>
        <p:xfrm>
          <a:off x="1000573" y="3789040"/>
          <a:ext cx="7671788" cy="2385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5227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660400139"/>
                    </a:ext>
                  </a:extLst>
                </a:gridCol>
                <a:gridCol w="765534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765534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765534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765534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</a:tblGrid>
              <a:tr h="381408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로그인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로그아웃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로그인 실패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패스워드 </a:t>
                      </a:r>
                      <a:endParaRPr kumimoji="0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초기화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마케팅팀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UX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디자인팀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05002"/>
                  </a:ext>
                </a:extLst>
              </a:tr>
            </a:tbl>
          </a:graphicData>
        </a:graphic>
      </p:graphicFrame>
      <p:grpSp>
        <p:nvGrpSpPr>
          <p:cNvPr id="37" name="그룹 36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38" name="모서리가 둥근 직사각형 37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39" name="그림 3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46" name="TextBox 4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47" name="직선 연결선 4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일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로그인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graphicFrame>
        <p:nvGraphicFramePr>
          <p:cNvPr id="5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503236"/>
              </p:ext>
            </p:extLst>
          </p:nvPr>
        </p:nvGraphicFramePr>
        <p:xfrm>
          <a:off x="9290533" y="786383"/>
          <a:ext cx="2835141" cy="2309210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부서 선택됐을 경우 선택된 부서명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94668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조회 구분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부서별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사용자별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월별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일별에 따라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출력되는 각 정보는 로그인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~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스퀘어플러스 모두 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부서는 하위부서까지 포함하여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부서 정보의 경우 하위 부서가 여러 개 위치될 수 있으니 디자인 작업시 영역 확보 필요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127216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조회 구분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부서별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사용자별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월별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일별에 따라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영역에 출력되는 각 정보는 로그인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~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스퀘어플러스에 따라 다름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93291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4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다운로드 버튼 및 기능은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as-is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63546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5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리스트는 페이지네이션 및 목록 개수 설정없이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화면 스크롤 처리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634218"/>
                  </a:ext>
                </a:extLst>
              </a:tr>
            </a:tbl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958155" y="3476625"/>
            <a:ext cx="2937570" cy="38045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제품기획팀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2017-05-29~2017-07-29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 로그 현황입니다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.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76300" y="3581400"/>
            <a:ext cx="3114675" cy="152400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b="1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  <a:endParaRPr lang="ko-KR" altLang="en-US" sz="800" b="1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9" name="직각 삼각형 58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0000FF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009704" y="4177464"/>
            <a:ext cx="1552521" cy="1966162"/>
          </a:xfrm>
          <a:prstGeom prst="roundRect">
            <a:avLst>
              <a:gd name="adj" fmla="val 1943"/>
            </a:avLst>
          </a:prstGeom>
          <a:noFill/>
          <a:ln>
            <a:solidFill>
              <a:srgbClr val="0000FF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50" name="타원 49"/>
          <p:cNvSpPr/>
          <p:nvPr/>
        </p:nvSpPr>
        <p:spPr>
          <a:xfrm>
            <a:off x="908312" y="4092312"/>
            <a:ext cx="168861" cy="174728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5610279" y="4168140"/>
            <a:ext cx="3062079" cy="1975485"/>
          </a:xfrm>
          <a:prstGeom prst="roundRect">
            <a:avLst>
              <a:gd name="adj" fmla="val 1943"/>
            </a:avLst>
          </a:prstGeom>
          <a:noFill/>
          <a:ln>
            <a:solidFill>
              <a:srgbClr val="0000FF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2477073" y="2236389"/>
            <a:ext cx="168861" cy="174728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5936251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3378000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4658509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3106682" y="3854187"/>
            <a:ext cx="168861" cy="174728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4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3324279" y="3796665"/>
            <a:ext cx="5348079" cy="332471"/>
          </a:xfrm>
          <a:prstGeom prst="roundRect">
            <a:avLst>
              <a:gd name="adj" fmla="val 1943"/>
            </a:avLst>
          </a:prstGeom>
          <a:noFill/>
          <a:ln>
            <a:solidFill>
              <a:srgbClr val="0000FF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5526032" y="4092312"/>
            <a:ext cx="168861" cy="174728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3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71" name="그룹 70"/>
          <p:cNvGrpSpPr/>
          <p:nvPr/>
        </p:nvGrpSpPr>
        <p:grpSpPr>
          <a:xfrm>
            <a:off x="8886458" y="836712"/>
            <a:ext cx="58192" cy="5773459"/>
            <a:chOff x="2238375" y="1813543"/>
            <a:chExt cx="58192" cy="3943350"/>
          </a:xfrm>
        </p:grpSpPr>
        <p:sp>
          <p:nvSpPr>
            <p:cNvPr id="72" name="모서리가 둥근 직사각형 71"/>
            <p:cNvSpPr/>
            <p:nvPr/>
          </p:nvSpPr>
          <p:spPr>
            <a:xfrm>
              <a:off x="2238375" y="1813543"/>
              <a:ext cx="58192" cy="394335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12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2238375" y="3418408"/>
              <a:ext cx="58192" cy="1038419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37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74" name="타원 73"/>
          <p:cNvSpPr/>
          <p:nvPr/>
        </p:nvSpPr>
        <p:spPr>
          <a:xfrm>
            <a:off x="8832304" y="4178037"/>
            <a:ext cx="168861" cy="174728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5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9998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192373"/>
              </p:ext>
            </p:extLst>
          </p:nvPr>
        </p:nvGraphicFramePr>
        <p:xfrm>
          <a:off x="1000573" y="3789040"/>
          <a:ext cx="7671788" cy="2385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5227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660400139"/>
                    </a:ext>
                  </a:extLst>
                </a:gridCol>
                <a:gridCol w="765534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765534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765534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765534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</a:tblGrid>
              <a:tr h="381408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사용자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로그인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로그아웃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로그인 실패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패스워드 </a:t>
                      </a:r>
                      <a:endParaRPr kumimoji="0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초기화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마케팅팀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UX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디자인팀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05002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DB1.2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7" name="모서리가 둥근 직사각형 6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8" name="그림 7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cxnSp>
        <p:nvCxnSpPr>
          <p:cNvPr id="10" name="직선 연결선 9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1150434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로그인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14" name="그룹 13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16" name="그룹 15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20" name="그림 19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21" name="직사각형 20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7" name="그룹 16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8" name="그림 1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9" name="직사각형 18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15" name="TextBox 14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30" name="자유형 29"/>
          <p:cNvSpPr/>
          <p:nvPr/>
        </p:nvSpPr>
        <p:spPr>
          <a:xfrm>
            <a:off x="350371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47" name="직선 연결선 4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일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로그인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graphicFrame>
        <p:nvGraphicFramePr>
          <p:cNvPr id="55" name="Group 3"/>
          <p:cNvGraphicFramePr>
            <a:graphicFrameLocks noGrp="1"/>
          </p:cNvGraphicFramePr>
          <p:nvPr>
            <p:extLst/>
          </p:nvPr>
        </p:nvGraphicFramePr>
        <p:xfrm>
          <a:off x="9290533" y="786383"/>
          <a:ext cx="2835141" cy="767420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#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테이블내 출력되는 정보들은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as-is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와 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(1)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은 로그인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~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스퀘어 플러스 공통 적용 사항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결재 건별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시간별은 별도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94668"/>
                  </a:ext>
                </a:extLst>
              </a:tr>
            </a:tbl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958155" y="3476625"/>
            <a:ext cx="2937570" cy="38045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제품기획팀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2017-05-29~2017-07-29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 로그 현황입니다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.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76300" y="3581400"/>
            <a:ext cx="3114675" cy="152400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b="1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  <a:endParaRPr lang="ko-KR" altLang="en-US" sz="800" b="1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9" name="직각 삼각형 58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0000FF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009704" y="4552950"/>
            <a:ext cx="1552521" cy="1590675"/>
          </a:xfrm>
          <a:prstGeom prst="roundRect">
            <a:avLst>
              <a:gd name="adj" fmla="val 1943"/>
            </a:avLst>
          </a:prstGeom>
          <a:noFill/>
          <a:ln>
            <a:solidFill>
              <a:srgbClr val="0000FF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3378000" y="3847827"/>
            <a:ext cx="5145589" cy="233503"/>
            <a:chOff x="3378000" y="3847827"/>
            <a:chExt cx="5145589" cy="233503"/>
          </a:xfrm>
        </p:grpSpPr>
        <p:grpSp>
          <p:nvGrpSpPr>
            <p:cNvPr id="68" name="그룹 67"/>
            <p:cNvGrpSpPr/>
            <p:nvPr/>
          </p:nvGrpSpPr>
          <p:grpSpPr>
            <a:xfrm>
              <a:off x="7397105" y="3847827"/>
              <a:ext cx="1126484" cy="229245"/>
              <a:chOff x="1098673" y="4143102"/>
              <a:chExt cx="1126484" cy="229245"/>
            </a:xfrm>
          </p:grpSpPr>
          <p:sp>
            <p:nvSpPr>
              <p:cNvPr id="69" name="모서리가 둥근 직사각형 68"/>
              <p:cNvSpPr/>
              <p:nvPr/>
            </p:nvSpPr>
            <p:spPr>
              <a:xfrm>
                <a:off x="1098673" y="4143102"/>
                <a:ext cx="1126484" cy="229245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Trebuchet MS" panose="020B0603020202020204" pitchFamily="34" charset="0"/>
                    <a:ea typeface="나눔고딕" pitchFamily="50" charset="-127"/>
                    <a:cs typeface="+mn-cs"/>
                  </a:rPr>
                  <a:t>DOWNLOAD</a:t>
                </a:r>
                <a:endParaRPr kumimoji="1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endParaRPr>
              </a:p>
            </p:txBody>
          </p:sp>
          <p:pic>
            <p:nvPicPr>
              <p:cNvPr id="70" name="그림 69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0124" y="4177609"/>
                <a:ext cx="137302" cy="156072"/>
              </a:xfrm>
              <a:prstGeom prst="rect">
                <a:avLst/>
              </a:prstGeom>
            </p:spPr>
          </p:pic>
        </p:grpSp>
        <p:sp>
          <p:nvSpPr>
            <p:cNvPr id="71" name="TextBox 70"/>
            <p:cNvSpPr txBox="1"/>
            <p:nvPr/>
          </p:nvSpPr>
          <p:spPr>
            <a:xfrm>
              <a:off x="7214939" y="3866979"/>
              <a:ext cx="138361" cy="21009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ㅣ</a:t>
              </a:r>
            </a:p>
          </p:txBody>
        </p:sp>
        <p:sp>
          <p:nvSpPr>
            <p:cNvPr id="72" name="모서리가 둥근 직사각형 71"/>
            <p:cNvSpPr/>
            <p:nvPr/>
          </p:nvSpPr>
          <p:spPr>
            <a:xfrm>
              <a:off x="5936251" y="3852085"/>
              <a:ext cx="1228619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lvl="0" algn="ctr">
                <a:lnSpc>
                  <a:spcPct val="115000"/>
                </a:lnSpc>
                <a:spcAft>
                  <a:spcPts val="1000"/>
                </a:spcAft>
                <a:defRPr/>
              </a:pPr>
              <a:r>
                <a:rPr lang="en-US" altLang="ko-KR"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Trebuchet MS" panose="020B0603020202020204" pitchFamily="34" charset="0"/>
                  <a:ea typeface="나눔고딕" pitchFamily="50" charset="-127"/>
                </a:rPr>
                <a:t>2017-05-29~2017-06-30</a:t>
              </a:r>
              <a:endPara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3378000" y="3852085"/>
              <a:ext cx="1228619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lvl="0" algn="ctr">
                <a:lnSpc>
                  <a:spcPct val="115000"/>
                </a:lnSpc>
                <a:spcAft>
                  <a:spcPts val="1000"/>
                </a:spcAft>
                <a:defRPr/>
              </a:pPr>
              <a:r>
                <a:rPr lang="en-US" altLang="ko-KR"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Trebuchet MS" panose="020B0603020202020204" pitchFamily="34" charset="0"/>
                  <a:ea typeface="나눔고딕" pitchFamily="50" charset="-127"/>
                </a:rPr>
                <a:t>2017-05-29~2017-06-30</a:t>
              </a:r>
              <a:endPara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4" name="모서리가 둥근 직사각형 73"/>
            <p:cNvSpPr/>
            <p:nvPr/>
          </p:nvSpPr>
          <p:spPr>
            <a:xfrm>
              <a:off x="4658509" y="3852085"/>
              <a:ext cx="1228619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lvl="0" algn="ctr">
                <a:lnSpc>
                  <a:spcPct val="115000"/>
                </a:lnSpc>
                <a:spcAft>
                  <a:spcPts val="1000"/>
                </a:spcAft>
                <a:defRPr/>
              </a:pPr>
              <a:r>
                <a:rPr lang="en-US" altLang="ko-KR"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Trebuchet MS" panose="020B0603020202020204" pitchFamily="34" charset="0"/>
                  <a:ea typeface="나눔고딕" pitchFamily="50" charset="-127"/>
                </a:rPr>
                <a:t>2017-05-29~2017-06-30</a:t>
              </a:r>
              <a:endPara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602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DB1.3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7" name="모서리가 둥근 직사각형 6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8" name="그림 7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cxnSp>
        <p:nvCxnSpPr>
          <p:cNvPr id="10" name="직선 연결선 9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1150434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로그인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14" name="그룹 13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16" name="그룹 15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20" name="그림 19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21" name="직사각형 20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7" name="그룹 16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8" name="그림 1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9" name="직사각형 18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15" name="TextBox 14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30" name="자유형 29"/>
          <p:cNvSpPr/>
          <p:nvPr/>
        </p:nvSpPr>
        <p:spPr>
          <a:xfrm>
            <a:off x="4574307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767848"/>
              </p:ext>
            </p:extLst>
          </p:nvPr>
        </p:nvGraphicFramePr>
        <p:xfrm>
          <a:off x="1000573" y="3789040"/>
          <a:ext cx="7671788" cy="17181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5227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660400139"/>
                    </a:ext>
                  </a:extLst>
                </a:gridCol>
                <a:gridCol w="765534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765534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765534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765534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</a:tblGrid>
              <a:tr h="381408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월별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로그인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로그아웃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로그인 실패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패스워드 </a:t>
                      </a:r>
                      <a:endParaRPr kumimoji="0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초기화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2017-06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2017-05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47" name="직선 연결선 4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일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로그인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graphicFrame>
        <p:nvGraphicFramePr>
          <p:cNvPr id="5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758710"/>
              </p:ext>
            </p:extLst>
          </p:nvPr>
        </p:nvGraphicFramePr>
        <p:xfrm>
          <a:off x="9290533" y="786383"/>
          <a:ext cx="2835141" cy="645500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월별일 경우 월단위로만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(3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개월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조회되므로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월별 기준으로 캘린더 및 엑셀 다운로드 버튼 정의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94668"/>
                  </a:ext>
                </a:extLst>
              </a:tr>
            </a:tbl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958155" y="3476625"/>
            <a:ext cx="2937570" cy="38045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제품기획팀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2017-05-29~2017-07-29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 로그 현황입니다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.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76300" y="3581400"/>
            <a:ext cx="3114675" cy="152400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b="1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  <a:endParaRPr lang="ko-KR" altLang="en-US" sz="800" b="1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4" name="직각 삼각형 43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FF000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추가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73" name="그룹 72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78" name="모서리가 둥근 직사각형 77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79" name="그림 7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74" name="TextBox 73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75" name="모서리가 둥근 직사각형 74"/>
          <p:cNvSpPr/>
          <p:nvPr/>
        </p:nvSpPr>
        <p:spPr>
          <a:xfrm>
            <a:off x="6453976" y="3852085"/>
            <a:ext cx="710894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2017-07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4871864" y="3852085"/>
            <a:ext cx="710894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5662920" y="3852085"/>
            <a:ext cx="710894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2017-06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0" name="모서리가 둥근 직사각형 79"/>
          <p:cNvSpPr/>
          <p:nvPr/>
        </p:nvSpPr>
        <p:spPr>
          <a:xfrm>
            <a:off x="2514654" y="2574516"/>
            <a:ext cx="3221306" cy="244050"/>
          </a:xfrm>
          <a:prstGeom prst="roundRect">
            <a:avLst>
              <a:gd name="adj" fmla="val 1943"/>
            </a:avLst>
          </a:prstGeom>
          <a:noFill/>
          <a:ln>
            <a:solidFill>
              <a:srgbClr val="FF0000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4807526" y="3815716"/>
            <a:ext cx="2433383" cy="295300"/>
          </a:xfrm>
          <a:prstGeom prst="roundRect">
            <a:avLst>
              <a:gd name="adj" fmla="val 1943"/>
            </a:avLst>
          </a:prstGeom>
          <a:noFill/>
          <a:ln>
            <a:solidFill>
              <a:srgbClr val="FF0000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2" name="타원 81"/>
          <p:cNvSpPr/>
          <p:nvPr/>
        </p:nvSpPr>
        <p:spPr>
          <a:xfrm>
            <a:off x="5620323" y="2750739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83" name="타원 82"/>
          <p:cNvSpPr/>
          <p:nvPr/>
        </p:nvSpPr>
        <p:spPr>
          <a:xfrm>
            <a:off x="4753548" y="3731814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1490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DB1.4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7" name="모서리가 둥근 직사각형 6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8" name="그림 7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cxnSp>
        <p:nvCxnSpPr>
          <p:cNvPr id="10" name="직선 연결선 9"/>
          <p:cNvCxnSpPr/>
          <p:nvPr/>
        </p:nvCxnSpPr>
        <p:spPr>
          <a:xfrm>
            <a:off x="1000573" y="1777137"/>
            <a:ext cx="7671785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1150434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로그인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14" name="그룹 13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16" name="그룹 15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20" name="그림 19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21" name="직사각형 20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7" name="그룹 16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8" name="그림 1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9" name="직사각형 18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15" name="TextBox 14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30" name="자유형 29"/>
          <p:cNvSpPr/>
          <p:nvPr/>
        </p:nvSpPr>
        <p:spPr>
          <a:xfrm>
            <a:off x="5503183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47" name="직선 연결선 4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일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로그인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일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graphicFrame>
        <p:nvGraphicFramePr>
          <p:cNvPr id="55" name="Group 3"/>
          <p:cNvGraphicFramePr>
            <a:graphicFrameLocks noGrp="1"/>
          </p:cNvGraphicFramePr>
          <p:nvPr>
            <p:extLst/>
          </p:nvPr>
        </p:nvGraphicFramePr>
        <p:xfrm>
          <a:off x="9290533" y="786383"/>
          <a:ext cx="2835141" cy="767420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#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테이블내 출력되는 정보들은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as-is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와 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(1)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은 로그인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~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스퀘어 플러스 공통 적용 사항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</a:b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결재 건별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시간별은 별도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94668"/>
                  </a:ext>
                </a:extLst>
              </a:tr>
            </a:tbl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958155" y="3476625"/>
            <a:ext cx="2937570" cy="38045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제품기획팀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2017-05-29~2017-07-29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 로그 현황입니다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.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76300" y="3581400"/>
            <a:ext cx="3114675" cy="152400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b="1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  <a:endParaRPr lang="ko-KR" altLang="en-US" sz="800" b="1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9" name="직각 삼각형 58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FF000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추가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374014"/>
              </p:ext>
            </p:extLst>
          </p:nvPr>
        </p:nvGraphicFramePr>
        <p:xfrm>
          <a:off x="1000573" y="3789040"/>
          <a:ext cx="7671788" cy="2385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5227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660400139"/>
                    </a:ext>
                  </a:extLst>
                </a:gridCol>
                <a:gridCol w="765534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765534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765534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765534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</a:tblGrid>
              <a:tr h="381408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일별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로그인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로그아웃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로그인 실패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패스워드 </a:t>
                      </a:r>
                      <a:endParaRPr kumimoji="0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초기화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2016-05-29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2016-05-30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2016-05-31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2016-06-01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2016-06-02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05002"/>
                  </a:ext>
                </a:extLst>
              </a:tr>
            </a:tbl>
          </a:graphicData>
        </a:graphic>
      </p:graphicFrame>
      <p:sp>
        <p:nvSpPr>
          <p:cNvPr id="43" name="직사각형 42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61" name="그룹 60"/>
          <p:cNvGrpSpPr/>
          <p:nvPr/>
        </p:nvGrpSpPr>
        <p:grpSpPr>
          <a:xfrm>
            <a:off x="3378000" y="3847827"/>
            <a:ext cx="5145589" cy="233503"/>
            <a:chOff x="3378000" y="3847827"/>
            <a:chExt cx="5145589" cy="233503"/>
          </a:xfrm>
        </p:grpSpPr>
        <p:grpSp>
          <p:nvGrpSpPr>
            <p:cNvPr id="62" name="그룹 61"/>
            <p:cNvGrpSpPr/>
            <p:nvPr/>
          </p:nvGrpSpPr>
          <p:grpSpPr>
            <a:xfrm>
              <a:off x="7397105" y="3847827"/>
              <a:ext cx="1126484" cy="229245"/>
              <a:chOff x="1098673" y="4143102"/>
              <a:chExt cx="1126484" cy="229245"/>
            </a:xfrm>
          </p:grpSpPr>
          <p:sp>
            <p:nvSpPr>
              <p:cNvPr id="67" name="모서리가 둥근 직사각형 66"/>
              <p:cNvSpPr/>
              <p:nvPr/>
            </p:nvSpPr>
            <p:spPr>
              <a:xfrm>
                <a:off x="1098673" y="4143102"/>
                <a:ext cx="1126484" cy="229245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Trebuchet MS" panose="020B0603020202020204" pitchFamily="34" charset="0"/>
                    <a:ea typeface="나눔고딕" pitchFamily="50" charset="-127"/>
                    <a:cs typeface="+mn-cs"/>
                  </a:rPr>
                  <a:t>DOWNLOAD</a:t>
                </a:r>
                <a:endParaRPr kumimoji="1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endParaRPr>
              </a:p>
            </p:txBody>
          </p:sp>
          <p:pic>
            <p:nvPicPr>
              <p:cNvPr id="68" name="그림 6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0124" y="4177609"/>
                <a:ext cx="137302" cy="156072"/>
              </a:xfrm>
              <a:prstGeom prst="rect">
                <a:avLst/>
              </a:prstGeom>
            </p:spPr>
          </p:pic>
        </p:grpSp>
        <p:sp>
          <p:nvSpPr>
            <p:cNvPr id="63" name="TextBox 62"/>
            <p:cNvSpPr txBox="1"/>
            <p:nvPr/>
          </p:nvSpPr>
          <p:spPr>
            <a:xfrm>
              <a:off x="7214939" y="3866979"/>
              <a:ext cx="138361" cy="21009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ㅣ</a:t>
              </a:r>
            </a:p>
          </p:txBody>
        </p:sp>
        <p:sp>
          <p:nvSpPr>
            <p:cNvPr id="64" name="모서리가 둥근 직사각형 63"/>
            <p:cNvSpPr/>
            <p:nvPr/>
          </p:nvSpPr>
          <p:spPr>
            <a:xfrm>
              <a:off x="5936251" y="3852085"/>
              <a:ext cx="1228619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lvl="0" algn="ctr">
                <a:lnSpc>
                  <a:spcPct val="115000"/>
                </a:lnSpc>
                <a:spcAft>
                  <a:spcPts val="1000"/>
                </a:spcAft>
                <a:defRPr/>
              </a:pPr>
              <a:r>
                <a:rPr lang="en-US" altLang="ko-KR"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Trebuchet MS" panose="020B0603020202020204" pitchFamily="34" charset="0"/>
                  <a:ea typeface="나눔고딕" pitchFamily="50" charset="-127"/>
                </a:rPr>
                <a:t>2017-05-29~2017-06-30</a:t>
              </a:r>
              <a:endPara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65" name="모서리가 둥근 직사각형 64"/>
            <p:cNvSpPr/>
            <p:nvPr/>
          </p:nvSpPr>
          <p:spPr>
            <a:xfrm>
              <a:off x="3378000" y="3852085"/>
              <a:ext cx="1228619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lvl="0" algn="ctr">
                <a:lnSpc>
                  <a:spcPct val="115000"/>
                </a:lnSpc>
                <a:spcAft>
                  <a:spcPts val="1000"/>
                </a:spcAft>
                <a:defRPr/>
              </a:pPr>
              <a:r>
                <a:rPr lang="en-US" altLang="ko-KR"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Trebuchet MS" panose="020B0603020202020204" pitchFamily="34" charset="0"/>
                  <a:ea typeface="나눔고딕" pitchFamily="50" charset="-127"/>
                </a:rPr>
                <a:t>2017-05-29~2017-06-30</a:t>
              </a:r>
              <a:endPara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66" name="모서리가 둥근 직사각형 65"/>
            <p:cNvSpPr/>
            <p:nvPr/>
          </p:nvSpPr>
          <p:spPr>
            <a:xfrm>
              <a:off x="4658509" y="3852085"/>
              <a:ext cx="1228619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lvl="0" algn="ctr">
                <a:lnSpc>
                  <a:spcPct val="115000"/>
                </a:lnSpc>
                <a:spcAft>
                  <a:spcPts val="1000"/>
                </a:spcAft>
                <a:defRPr/>
              </a:pPr>
              <a:r>
                <a:rPr lang="en-US" altLang="ko-KR"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Trebuchet MS" panose="020B0603020202020204" pitchFamily="34" charset="0"/>
                  <a:ea typeface="나눔고딕" pitchFamily="50" charset="-127"/>
                </a:rPr>
                <a:t>2017-05-29~2017-06-30</a:t>
              </a:r>
              <a:endPara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038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5400" y="1340768"/>
            <a:ext cx="55370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시스템 정보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액션로그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게시판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9777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095209"/>
              </p:ext>
            </p:extLst>
          </p:nvPr>
        </p:nvGraphicFramePr>
        <p:xfrm>
          <a:off x="1000573" y="3789040"/>
          <a:ext cx="7671787" cy="2367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586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2907753">
                  <a:extLst>
                    <a:ext uri="{9D8B030D-6E8A-4147-A177-3AD203B41FA5}">
                      <a16:colId xmlns:a16="http://schemas.microsoft.com/office/drawing/2014/main" val="934290640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3583031043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3405876730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853571334"/>
                    </a:ext>
                  </a:extLst>
                </a:gridCol>
              </a:tblGrid>
              <a:tr h="381408">
                <a:tc gridSpan="8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쓰기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읽기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저장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인쇄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읽음 표시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마케팅팀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UX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디자인팀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05002"/>
                  </a:ext>
                </a:extLst>
              </a:tr>
            </a:tbl>
          </a:graphicData>
        </a:graphic>
      </p:graphicFrame>
      <p:sp>
        <p:nvSpPr>
          <p:cNvPr id="120" name="직사각형 119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게시판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부서별</a:t>
            </a:r>
          </a:p>
        </p:txBody>
      </p:sp>
      <p:sp>
        <p:nvSpPr>
          <p:cNvPr id="89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2150763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게시판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DB2.1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58" name="표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101691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90" name="그룹 89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91" name="모서리가 둥근 직사각형 90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92" name="그룹 91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93" name="모서리가 둥근 직사각형 92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94" name="그림 93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95" name="모서리가 둥근 직사각형 94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96" name="그룹 95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97" name="그룹 96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99" name="그룹 98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3" name="그림 10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4" name="직사각형 103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00" name="그룹 99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1" name="그림 100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2" name="직사각형 101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98" name="TextBox 97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05" name="TextBox 104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113" name="자유형 112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DB1.1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1009704" y="4237452"/>
            <a:ext cx="7662653" cy="1906174"/>
          </a:xfrm>
          <a:prstGeom prst="roundRect">
            <a:avLst>
              <a:gd name="adj" fmla="val 1943"/>
            </a:avLst>
          </a:prstGeom>
          <a:noFill/>
          <a:ln>
            <a:solidFill>
              <a:srgbClr val="0000FF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5" name="직각 삼각형 124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0000FF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41" name="모서리가 둥근 직사각형 40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42" name="그림 4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43" name="TextBox 42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44" name="모서리가 둥근 직사각형 43"/>
          <p:cNvSpPr/>
          <p:nvPr/>
        </p:nvSpPr>
        <p:spPr>
          <a:xfrm>
            <a:off x="5936251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3378000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4658509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462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게시판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사용자별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4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2150763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게시판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DB2.2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46" name="표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196931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47" name="그룹 46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48" name="모서리가 둥근 직사각형 47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49" name="그룹 48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50" name="모서리가 둥근 직사각형 49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51" name="그림 5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52" name="모서리가 둥근 직사각형 51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54" name="그룹 53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87" name="그룹 86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89" name="그룹 88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97" name="그림 96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98" name="직사각형 97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90" name="그룹 89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95" name="그림 9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96" name="직사각형 95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88" name="TextBox 87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99" name="TextBox 98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107" name="자유형 106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DB1.1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aphicFrame>
        <p:nvGraphicFramePr>
          <p:cNvPr id="111" name="표 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316386"/>
              </p:ext>
            </p:extLst>
          </p:nvPr>
        </p:nvGraphicFramePr>
        <p:xfrm>
          <a:off x="1000573" y="3789040"/>
          <a:ext cx="7671787" cy="2367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1211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934290640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3583031043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3405876730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853571334"/>
                    </a:ext>
                  </a:extLst>
                </a:gridCol>
              </a:tblGrid>
              <a:tr h="381408">
                <a:tc gridSpan="8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사용자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쓰기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읽기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저장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인쇄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읽음 표시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마케팅팀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UX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디자인팀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05002"/>
                  </a:ext>
                </a:extLst>
              </a:tr>
            </a:tbl>
          </a:graphicData>
        </a:graphic>
      </p:graphicFrame>
      <p:sp>
        <p:nvSpPr>
          <p:cNvPr id="112" name="직사각형 111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1009704" y="4237452"/>
            <a:ext cx="7662653" cy="1906174"/>
          </a:xfrm>
          <a:prstGeom prst="roundRect">
            <a:avLst>
              <a:gd name="adj" fmla="val 1943"/>
            </a:avLst>
          </a:prstGeom>
          <a:noFill/>
          <a:ln>
            <a:solidFill>
              <a:srgbClr val="0000FF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5" name="직각 삼각형 114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0000FF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41" name="모서리가 둥근 직사각형 40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42" name="그림 4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44" name="TextBox 43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45" name="모서리가 둥근 직사각형 44"/>
          <p:cNvSpPr/>
          <p:nvPr/>
        </p:nvSpPr>
        <p:spPr>
          <a:xfrm>
            <a:off x="5936251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3378000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4658509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285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게시판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월별</a:t>
            </a:r>
          </a:p>
        </p:txBody>
      </p:sp>
      <p:sp>
        <p:nvSpPr>
          <p:cNvPr id="92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2150763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게시판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DB2.3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57" name="표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118257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88" name="그룹 87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93" name="모서리가 둥근 직사각형 92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94" name="그룹 93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95" name="모서리가 둥근 직사각형 94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96" name="그림 95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97" name="모서리가 둥근 직사각형 96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99" name="그룹 98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101" name="그룹 100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5" name="그림 10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6" name="직사각형 105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02" name="그룹 101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3" name="그림 10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4" name="직사각형 103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100" name="TextBox 99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07" name="TextBox 106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115" name="자유형 114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DB1.3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aphicFrame>
        <p:nvGraphicFramePr>
          <p:cNvPr id="117" name="표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518794"/>
              </p:ext>
            </p:extLst>
          </p:nvPr>
        </p:nvGraphicFramePr>
        <p:xfrm>
          <a:off x="1000573" y="3789040"/>
          <a:ext cx="7671787" cy="1700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1211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934290640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3583031043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3405876730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853571334"/>
                    </a:ext>
                  </a:extLst>
                </a:gridCol>
              </a:tblGrid>
              <a:tr h="381408">
                <a:tc gridSpan="8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월별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쓰기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읽기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저장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인쇄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읽음 표시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2017-06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2017-05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</a:tbl>
          </a:graphicData>
        </a:graphic>
      </p:graphicFrame>
      <p:sp>
        <p:nvSpPr>
          <p:cNvPr id="121" name="직각 삼각형 120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FF000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추가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39" name="모서리가 둥근 직사각형 38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40" name="그림 3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41" name="TextBox 40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42" name="모서리가 둥근 직사각형 41"/>
          <p:cNvSpPr/>
          <p:nvPr/>
        </p:nvSpPr>
        <p:spPr>
          <a:xfrm>
            <a:off x="6453976" y="3852085"/>
            <a:ext cx="710894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2017-07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4871864" y="3852085"/>
            <a:ext cx="710894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5662920" y="3852085"/>
            <a:ext cx="710894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2017-06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82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2150763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게시판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937481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7" name="모서리가 둥근 직사각형 6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8" name="그림 7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9" name="모서리가 둥근 직사각형 8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11" name="그룹 10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13" name="그룹 12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7" name="그림 16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8" name="직사각형 17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4" name="그룹 13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5" name="그림 1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6" name="직사각형 15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12" name="TextBox 11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27" name="자유형 26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DB1.1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0" name="직사각형 29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336186"/>
              </p:ext>
            </p:extLst>
          </p:nvPr>
        </p:nvGraphicFramePr>
        <p:xfrm>
          <a:off x="1000573" y="3789040"/>
          <a:ext cx="7671787" cy="2367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1211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934290640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3583031043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3405876730"/>
                    </a:ext>
                  </a:extLst>
                </a:gridCol>
                <a:gridCol w="561408">
                  <a:extLst>
                    <a:ext uri="{9D8B030D-6E8A-4147-A177-3AD203B41FA5}">
                      <a16:colId xmlns:a16="http://schemas.microsoft.com/office/drawing/2014/main" val="853571334"/>
                    </a:ext>
                  </a:extLst>
                </a:gridCol>
              </a:tblGrid>
              <a:tr h="381408">
                <a:tc gridSpan="8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일별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쓰기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읽기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저장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인쇄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읽음 표시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2016-05-29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2016-05-30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2016-05-31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2016-06-01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2016-06-02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05002"/>
                  </a:ext>
                </a:extLst>
              </a:tr>
            </a:tbl>
          </a:graphicData>
        </a:graphic>
      </p:graphicFrame>
      <p:sp>
        <p:nvSpPr>
          <p:cNvPr id="32" name="직사각형 31"/>
          <p:cNvSpPr/>
          <p:nvPr/>
        </p:nvSpPr>
        <p:spPr>
          <a:xfrm rot="10800000">
            <a:off x="1015900" y="5526394"/>
            <a:ext cx="7968799" cy="1062645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4" name="직각 삼각형 33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FF000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추가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게시판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DB2.4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43" name="모서리가 둥근 직사각형 42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44" name="그림 4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45" name="TextBox 44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46" name="모서리가 둥근 직사각형 45"/>
          <p:cNvSpPr/>
          <p:nvPr/>
        </p:nvSpPr>
        <p:spPr>
          <a:xfrm>
            <a:off x="5936251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3378000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4658509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58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5400" y="1340768"/>
            <a:ext cx="5178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시스템 정보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액션로그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결재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9661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082128"/>
              </p:ext>
            </p:extLst>
          </p:nvPr>
        </p:nvGraphicFramePr>
        <p:xfrm>
          <a:off x="1000573" y="3789040"/>
          <a:ext cx="7687715" cy="2367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586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1683617">
                  <a:extLst>
                    <a:ext uri="{9D8B030D-6E8A-4147-A177-3AD203B41FA5}">
                      <a16:colId xmlns:a16="http://schemas.microsoft.com/office/drawing/2014/main" val="93429064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405876730"/>
                    </a:ext>
                  </a:extLst>
                </a:gridCol>
                <a:gridCol w="781357">
                  <a:extLst>
                    <a:ext uri="{9D8B030D-6E8A-4147-A177-3AD203B41FA5}">
                      <a16:colId xmlns:a16="http://schemas.microsoft.com/office/drawing/2014/main" val="853571334"/>
                    </a:ext>
                  </a:extLst>
                </a:gridCol>
              </a:tblGrid>
              <a:tr h="381408">
                <a:tc gridSpan="8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마케팅팀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UX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디자인팀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05002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255175"/>
              </p:ext>
            </p:extLst>
          </p:nvPr>
        </p:nvGraphicFramePr>
        <p:xfrm>
          <a:off x="4079766" y="4170448"/>
          <a:ext cx="7848882" cy="1986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049">
                  <a:extLst>
                    <a:ext uri="{9D8B030D-6E8A-4147-A177-3AD203B41FA5}">
                      <a16:colId xmlns:a16="http://schemas.microsoft.com/office/drawing/2014/main" val="94049650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28445654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453549341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59434360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696607559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383050160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731527235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3831945331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31017976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668065315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555209682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3226758306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4140360763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2800530376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847107082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59299377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978506159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678271822"/>
                    </a:ext>
                  </a:extLst>
                </a:gridCol>
              </a:tblGrid>
              <a:tr h="3173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기안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접수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반송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반려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보류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공람지정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결재회수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발송회수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문서보기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PC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저장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문서인쇄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발송처리</a:t>
                      </a:r>
                      <a:endParaRPr kumimoji="0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발송반송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문서등록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문서수정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배부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지정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재발송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엑셀다운로드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문서본문수정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817908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55929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3350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710631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94957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291817"/>
                  </a:ext>
                </a:extLst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결재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부서별</a:t>
            </a:r>
          </a:p>
        </p:txBody>
      </p:sp>
      <p:sp>
        <p:nvSpPr>
          <p:cNvPr id="94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3181772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DB3.1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>
            <p:extLst/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53" name="그룹 52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95" name="모서리가 둥근 직사각형 94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96" name="그룹 95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97" name="모서리가 둥근 직사각형 96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98" name="그림 97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99" name="모서리가 둥근 직사각형 98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100" name="그룹 99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101" name="그룹 100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103" name="그룹 102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7" name="그림 106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8" name="직사각형 107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04" name="그룹 103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5" name="그림 10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6" name="직사각형 105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102" name="TextBox 101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09" name="TextBox 108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117" name="자유형 116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DB1.1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21" name="직각 삼각형 120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0000FF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2" name="직사각형 121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1055440" y="6309320"/>
            <a:ext cx="7878336" cy="59708"/>
            <a:chOff x="444139" y="6143625"/>
            <a:chExt cx="1558687" cy="59708"/>
          </a:xfrm>
        </p:grpSpPr>
        <p:sp>
          <p:nvSpPr>
            <p:cNvPr id="61" name="모서리가 둥근 직사각형 60"/>
            <p:cNvSpPr/>
            <p:nvPr/>
          </p:nvSpPr>
          <p:spPr>
            <a:xfrm>
              <a:off x="444139" y="6143625"/>
              <a:ext cx="1558687" cy="59708"/>
            </a:xfrm>
            <a:prstGeom prst="roundRect">
              <a:avLst>
                <a:gd name="adj" fmla="val 48244"/>
              </a:avLst>
            </a:prstGeom>
            <a:solidFill>
              <a:schemeClr val="bg1">
                <a:lumMod val="65000"/>
                <a:alpha val="49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62" name="모서리가 둥근 직사각형 61"/>
            <p:cNvSpPr/>
            <p:nvPr/>
          </p:nvSpPr>
          <p:spPr>
            <a:xfrm>
              <a:off x="1075411" y="6143625"/>
              <a:ext cx="600942" cy="59708"/>
            </a:xfrm>
            <a:prstGeom prst="roundRect">
              <a:avLst>
                <a:gd name="adj" fmla="val 48244"/>
              </a:avLst>
            </a:prstGeom>
            <a:solidFill>
              <a:schemeClr val="tx1">
                <a:lumMod val="75000"/>
                <a:lumOff val="25000"/>
                <a:alpha val="37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47" name="모서리가 둥근 직사각형 46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48" name="그림 4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49" name="TextBox 48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50" name="모서리가 둥근 직사각형 49"/>
          <p:cNvSpPr/>
          <p:nvPr/>
        </p:nvSpPr>
        <p:spPr>
          <a:xfrm>
            <a:off x="5936251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3378000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4658509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774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971989"/>
              </p:ext>
            </p:extLst>
          </p:nvPr>
        </p:nvGraphicFramePr>
        <p:xfrm>
          <a:off x="1000573" y="3789040"/>
          <a:ext cx="7687715" cy="2367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586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1683617">
                  <a:extLst>
                    <a:ext uri="{9D8B030D-6E8A-4147-A177-3AD203B41FA5}">
                      <a16:colId xmlns:a16="http://schemas.microsoft.com/office/drawing/2014/main" val="93429064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405876730"/>
                    </a:ext>
                  </a:extLst>
                </a:gridCol>
                <a:gridCol w="781357">
                  <a:extLst>
                    <a:ext uri="{9D8B030D-6E8A-4147-A177-3AD203B41FA5}">
                      <a16:colId xmlns:a16="http://schemas.microsoft.com/office/drawing/2014/main" val="853571334"/>
                    </a:ext>
                  </a:extLst>
                </a:gridCol>
              </a:tblGrid>
              <a:tr h="381408">
                <a:tc gridSpan="8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사용자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마케팅팀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UX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디자인팀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05002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869904"/>
              </p:ext>
            </p:extLst>
          </p:nvPr>
        </p:nvGraphicFramePr>
        <p:xfrm>
          <a:off x="4079766" y="4170448"/>
          <a:ext cx="7848882" cy="1986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049">
                  <a:extLst>
                    <a:ext uri="{9D8B030D-6E8A-4147-A177-3AD203B41FA5}">
                      <a16:colId xmlns:a16="http://schemas.microsoft.com/office/drawing/2014/main" val="94049650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28445654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453549341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59434360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696607559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383050160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731527235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3831945331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31017976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668065315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555209682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3226758306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4140360763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2800530376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847107082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59299377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978506159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678271822"/>
                    </a:ext>
                  </a:extLst>
                </a:gridCol>
              </a:tblGrid>
              <a:tr h="3173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기안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접수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반송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반려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보류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공람지정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결재회수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발송회수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문서보기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PC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저장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문서인쇄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발송처리</a:t>
                      </a:r>
                      <a:endParaRPr kumimoji="0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발송반송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문서등록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문서수정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배부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지정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재발송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엑셀다운로드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문서본문수정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817908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55929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3350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710631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94957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291817"/>
                  </a:ext>
                </a:extLst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결재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별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4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3181772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DB3.2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156688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53" name="그룹 52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95" name="모서리가 둥근 직사각형 94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96" name="그룹 95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97" name="모서리가 둥근 직사각형 96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98" name="그림 97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99" name="모서리가 둥근 직사각형 98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100" name="그룹 99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101" name="그룹 100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103" name="그룹 102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7" name="그림 106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8" name="직사각형 107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04" name="그룹 103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5" name="그림 10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6" name="직사각형 105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102" name="TextBox 101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09" name="TextBox 108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117" name="자유형 116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DB1.1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21" name="직각 삼각형 120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0000FF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2" name="직사각형 121"/>
          <p:cNvSpPr/>
          <p:nvPr/>
        </p:nvSpPr>
        <p:spPr>
          <a:xfrm rot="10800000">
            <a:off x="942303" y="5361262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1055440" y="6309320"/>
            <a:ext cx="7878336" cy="59708"/>
            <a:chOff x="444139" y="6143625"/>
            <a:chExt cx="1558687" cy="59708"/>
          </a:xfrm>
        </p:grpSpPr>
        <p:sp>
          <p:nvSpPr>
            <p:cNvPr id="61" name="모서리가 둥근 직사각형 60"/>
            <p:cNvSpPr/>
            <p:nvPr/>
          </p:nvSpPr>
          <p:spPr>
            <a:xfrm>
              <a:off x="444139" y="6143625"/>
              <a:ext cx="1558687" cy="59708"/>
            </a:xfrm>
            <a:prstGeom prst="roundRect">
              <a:avLst>
                <a:gd name="adj" fmla="val 48244"/>
              </a:avLst>
            </a:prstGeom>
            <a:solidFill>
              <a:schemeClr val="bg1">
                <a:lumMod val="65000"/>
                <a:alpha val="49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62" name="모서리가 둥근 직사각형 61"/>
            <p:cNvSpPr/>
            <p:nvPr/>
          </p:nvSpPr>
          <p:spPr>
            <a:xfrm>
              <a:off x="1075411" y="6143625"/>
              <a:ext cx="600942" cy="59708"/>
            </a:xfrm>
            <a:prstGeom prst="roundRect">
              <a:avLst>
                <a:gd name="adj" fmla="val 48244"/>
              </a:avLst>
            </a:prstGeom>
            <a:solidFill>
              <a:schemeClr val="tx1">
                <a:lumMod val="75000"/>
                <a:lumOff val="25000"/>
                <a:alpha val="37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</p:grpSp>
      <p:grpSp>
        <p:nvGrpSpPr>
          <p:cNvPr id="123" name="그룹 122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124" name="모서리가 둥근 직사각형 123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126" name="TextBox 125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127" name="모서리가 둥근 직사각형 126"/>
          <p:cNvSpPr/>
          <p:nvPr/>
        </p:nvSpPr>
        <p:spPr>
          <a:xfrm>
            <a:off x="5936251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8" name="모서리가 둥근 직사각형 127"/>
          <p:cNvSpPr/>
          <p:nvPr/>
        </p:nvSpPr>
        <p:spPr>
          <a:xfrm>
            <a:off x="3378000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9" name="모서리가 둥근 직사각형 128"/>
          <p:cNvSpPr/>
          <p:nvPr/>
        </p:nvSpPr>
        <p:spPr>
          <a:xfrm>
            <a:off x="4658509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592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629213"/>
              </p:ext>
            </p:extLst>
          </p:nvPr>
        </p:nvGraphicFramePr>
        <p:xfrm>
          <a:off x="1000573" y="3789040"/>
          <a:ext cx="7671789" cy="1700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9203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40587673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853571334"/>
                    </a:ext>
                  </a:extLst>
                </a:gridCol>
              </a:tblGrid>
              <a:tr h="381408"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월별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쓰기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읽기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저장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인쇄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읽음 표시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2017-06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2017-05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520498"/>
              </p:ext>
            </p:extLst>
          </p:nvPr>
        </p:nvGraphicFramePr>
        <p:xfrm>
          <a:off x="4079766" y="4170448"/>
          <a:ext cx="7848882" cy="1318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049">
                  <a:extLst>
                    <a:ext uri="{9D8B030D-6E8A-4147-A177-3AD203B41FA5}">
                      <a16:colId xmlns:a16="http://schemas.microsoft.com/office/drawing/2014/main" val="94049650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28445654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453549341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59434360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696607559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383050160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731527235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3831945331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31017976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668065315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555209682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3226758306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4140360763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2800530376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847107082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59299377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978506159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678271822"/>
                    </a:ext>
                  </a:extLst>
                </a:gridCol>
              </a:tblGrid>
              <a:tr h="3173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기안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접수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반송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반려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보류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공람지정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결재회수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발송회수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문서보기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PC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저장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문서인쇄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발송처리</a:t>
                      </a:r>
                      <a:endParaRPr kumimoji="0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발송반송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문서등록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문서수정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배부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지정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재발송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엑셀다운로드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문서본문수정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817908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55929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3350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710631"/>
                  </a:ext>
                </a:extLst>
              </a:tr>
            </a:tbl>
          </a:graphicData>
        </a:graphic>
      </p:graphicFrame>
      <p:grpSp>
        <p:nvGrpSpPr>
          <p:cNvPr id="58" name="그룹 57"/>
          <p:cNvGrpSpPr/>
          <p:nvPr/>
        </p:nvGrpSpPr>
        <p:grpSpPr>
          <a:xfrm>
            <a:off x="1055440" y="5508919"/>
            <a:ext cx="7878336" cy="59708"/>
            <a:chOff x="444139" y="6143625"/>
            <a:chExt cx="1558687" cy="59708"/>
          </a:xfrm>
        </p:grpSpPr>
        <p:sp>
          <p:nvSpPr>
            <p:cNvPr id="59" name="모서리가 둥근 직사각형 58"/>
            <p:cNvSpPr/>
            <p:nvPr/>
          </p:nvSpPr>
          <p:spPr>
            <a:xfrm>
              <a:off x="444139" y="6143625"/>
              <a:ext cx="1558687" cy="59708"/>
            </a:xfrm>
            <a:prstGeom prst="roundRect">
              <a:avLst>
                <a:gd name="adj" fmla="val 48244"/>
              </a:avLst>
            </a:prstGeom>
            <a:solidFill>
              <a:schemeClr val="bg1">
                <a:lumMod val="65000"/>
                <a:alpha val="49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60" name="모서리가 둥근 직사각형 59"/>
            <p:cNvSpPr/>
            <p:nvPr/>
          </p:nvSpPr>
          <p:spPr>
            <a:xfrm>
              <a:off x="1075411" y="6143625"/>
              <a:ext cx="600942" cy="59708"/>
            </a:xfrm>
            <a:prstGeom prst="roundRect">
              <a:avLst>
                <a:gd name="adj" fmla="val 48244"/>
              </a:avLst>
            </a:prstGeom>
            <a:solidFill>
              <a:schemeClr val="tx1">
                <a:lumMod val="75000"/>
                <a:lumOff val="25000"/>
                <a:alpha val="37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결재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월별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5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3181772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DB3.3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6889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50" name="그룹 49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51" name="모서리가 둥근 직사각형 50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52" name="그룹 51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54" name="모서리가 둥근 직사각형 53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96" name="그림 95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97" name="모서리가 둥근 직사각형 96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99" name="그룹 98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101" name="그룹 100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5" name="그림 10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6" name="직사각형 105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02" name="그룹 101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3" name="그림 10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4" name="직사각형 103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100" name="TextBox 99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07" name="TextBox 106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115" name="자유형 114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DB1.3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8" name="직각 삼각형 117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FF000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추가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19" name="그룹 118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121" name="그림 12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122" name="TextBox 121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6453976" y="3852085"/>
            <a:ext cx="710894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2017-07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4871864" y="3852085"/>
            <a:ext cx="710894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5662920" y="3852085"/>
            <a:ext cx="710894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2017-06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664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594450"/>
              </p:ext>
            </p:extLst>
          </p:nvPr>
        </p:nvGraphicFramePr>
        <p:xfrm>
          <a:off x="1000573" y="3789040"/>
          <a:ext cx="7671789" cy="2367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586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1683617">
                  <a:extLst>
                    <a:ext uri="{9D8B030D-6E8A-4147-A177-3AD203B41FA5}">
                      <a16:colId xmlns:a16="http://schemas.microsoft.com/office/drawing/2014/main" val="93429064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276657181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40587673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853571334"/>
                    </a:ext>
                  </a:extLst>
                </a:gridCol>
              </a:tblGrid>
              <a:tr h="381408">
                <a:tc gridSpan="8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일별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쓰기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읽기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저장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인쇄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읽음 표시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2016-05-29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2016-05-30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2016-05-31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2016-06-01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2016-06-02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05002"/>
                  </a:ext>
                </a:extLst>
              </a:tr>
            </a:tbl>
          </a:graphicData>
        </a:graphic>
      </p:graphicFrame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960329"/>
              </p:ext>
            </p:extLst>
          </p:nvPr>
        </p:nvGraphicFramePr>
        <p:xfrm>
          <a:off x="4079766" y="4170448"/>
          <a:ext cx="7848882" cy="1986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049">
                  <a:extLst>
                    <a:ext uri="{9D8B030D-6E8A-4147-A177-3AD203B41FA5}">
                      <a16:colId xmlns:a16="http://schemas.microsoft.com/office/drawing/2014/main" val="94049650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28445654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453549341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59434360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696607559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383050160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731527235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3831945331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31017976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668065315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555209682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3226758306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4140360763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2800530376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847107082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592993778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1978506159"/>
                    </a:ext>
                  </a:extLst>
                </a:gridCol>
                <a:gridCol w="436049">
                  <a:extLst>
                    <a:ext uri="{9D8B030D-6E8A-4147-A177-3AD203B41FA5}">
                      <a16:colId xmlns:a16="http://schemas.microsoft.com/office/drawing/2014/main" val="678271822"/>
                    </a:ext>
                  </a:extLst>
                </a:gridCol>
              </a:tblGrid>
              <a:tr h="3173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기안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접수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반송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반려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보류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공람지정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결재회수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발송회수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문서보기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PC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저장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문서인쇄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발송처리</a:t>
                      </a:r>
                      <a:endParaRPr kumimoji="0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발송반송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문서등록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문서수정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배부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지정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재발송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엑셀다운로드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문서본문수정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817908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55929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3350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710631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94957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291817"/>
                  </a:ext>
                </a:extLst>
              </a:tr>
            </a:tbl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결재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일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99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3181772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결재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DB3.4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21" name="직각 삼각형 20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FF000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추가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538897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23" name="그룹 22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24" name="모서리가 둥근 직사각형 23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25" name="그룹 24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26" name="모서리가 둥근 직사각형 25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27" name="그림 26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28" name="모서리가 둥근 직사각형 27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30" name="그룹 29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32" name="그룹 31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36" name="그림 35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37" name="직사각형 36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33" name="그룹 32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34" name="그림 33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35" name="직사각형 34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31" name="TextBox 30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47" name="자유형 46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DB1.1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54" name="직사각형 53"/>
          <p:cNvSpPr/>
          <p:nvPr/>
        </p:nvSpPr>
        <p:spPr>
          <a:xfrm rot="10800000">
            <a:off x="942303" y="5361262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1055440" y="6097283"/>
            <a:ext cx="7878336" cy="59708"/>
            <a:chOff x="444139" y="6143625"/>
            <a:chExt cx="1558687" cy="59708"/>
          </a:xfrm>
        </p:grpSpPr>
        <p:sp>
          <p:nvSpPr>
            <p:cNvPr id="60" name="모서리가 둥근 직사각형 59"/>
            <p:cNvSpPr/>
            <p:nvPr/>
          </p:nvSpPr>
          <p:spPr>
            <a:xfrm>
              <a:off x="444139" y="6143625"/>
              <a:ext cx="1558687" cy="59708"/>
            </a:xfrm>
            <a:prstGeom prst="roundRect">
              <a:avLst>
                <a:gd name="adj" fmla="val 48244"/>
              </a:avLst>
            </a:prstGeom>
            <a:solidFill>
              <a:schemeClr val="bg1">
                <a:lumMod val="65000"/>
                <a:alpha val="49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61" name="모서리가 둥근 직사각형 60"/>
            <p:cNvSpPr/>
            <p:nvPr/>
          </p:nvSpPr>
          <p:spPr>
            <a:xfrm>
              <a:off x="1075411" y="6143625"/>
              <a:ext cx="600942" cy="59708"/>
            </a:xfrm>
            <a:prstGeom prst="roundRect">
              <a:avLst>
                <a:gd name="adj" fmla="val 48244"/>
              </a:avLst>
            </a:prstGeom>
            <a:solidFill>
              <a:schemeClr val="tx1">
                <a:lumMod val="75000"/>
                <a:lumOff val="25000"/>
                <a:alpha val="37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57" name="모서리가 둥근 직사각형 56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58" name="그림 5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62" name="TextBox 61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63" name="모서리가 둥근 직사각형 62"/>
          <p:cNvSpPr/>
          <p:nvPr/>
        </p:nvSpPr>
        <p:spPr>
          <a:xfrm>
            <a:off x="5936251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3378000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4658509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1133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5400" y="1340768"/>
            <a:ext cx="5178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시스템 정보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액션로그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권한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9919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34546"/>
              </p:ext>
            </p:extLst>
          </p:nvPr>
        </p:nvGraphicFramePr>
        <p:xfrm>
          <a:off x="1000573" y="3789040"/>
          <a:ext cx="7671791" cy="2367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586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2979761">
                  <a:extLst>
                    <a:ext uri="{9D8B030D-6E8A-4147-A177-3AD203B41FA5}">
                      <a16:colId xmlns:a16="http://schemas.microsoft.com/office/drawing/2014/main" val="934290640"/>
                    </a:ext>
                  </a:extLst>
                </a:gridCol>
                <a:gridCol w="1648222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1648222">
                  <a:extLst>
                    <a:ext uri="{9D8B030D-6E8A-4147-A177-3AD203B41FA5}">
                      <a16:colId xmlns:a16="http://schemas.microsoft.com/office/drawing/2014/main" val="853571334"/>
                    </a:ext>
                  </a:extLst>
                </a:gridCol>
              </a:tblGrid>
              <a:tr h="381408"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추가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마케팅팀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UX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디자인팀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05002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권한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부서별</a:t>
            </a:r>
          </a:p>
        </p:txBody>
      </p:sp>
      <p:sp>
        <p:nvSpPr>
          <p:cNvPr id="90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4195217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권한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DB4.1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802407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53" name="그룹 52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91" name="모서리가 둥근 직사각형 90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92" name="그룹 91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93" name="모서리가 둥근 직사각형 92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94" name="그림 93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95" name="모서리가 둥근 직사각형 94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96" name="그룹 95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97" name="그룹 96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99" name="그룹 98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3" name="그림 10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4" name="직사각형 103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00" name="그룹 99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1" name="그림 100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2" name="직사각형 101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98" name="TextBox 97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05" name="TextBox 104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113" name="자유형 112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DB1.1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5" name="직각 삼각형 114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0000FF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6" name="직사각형 115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17" name="그룹 116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118" name="모서리가 둥근 직사각형 117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119" name="그림 11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120" name="TextBox 119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121" name="모서리가 둥근 직사각형 120"/>
          <p:cNvSpPr/>
          <p:nvPr/>
        </p:nvSpPr>
        <p:spPr>
          <a:xfrm>
            <a:off x="5936251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3378000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4658509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36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261546"/>
              </p:ext>
            </p:extLst>
          </p:nvPr>
        </p:nvGraphicFramePr>
        <p:xfrm>
          <a:off x="1000573" y="3789040"/>
          <a:ext cx="7671789" cy="1700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3219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1386846">
                  <a:extLst>
                    <a:ext uri="{9D8B030D-6E8A-4147-A177-3AD203B41FA5}">
                      <a16:colId xmlns:a16="http://schemas.microsoft.com/office/drawing/2014/main" val="2668504502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40587673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853571334"/>
                    </a:ext>
                  </a:extLst>
                </a:gridCol>
              </a:tblGrid>
              <a:tr h="381408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사용자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저장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인쇄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읽음 표시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</a:tbl>
          </a:graphicData>
        </a:graphic>
      </p:graphicFrame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170224"/>
              </p:ext>
            </p:extLst>
          </p:nvPr>
        </p:nvGraphicFramePr>
        <p:xfrm>
          <a:off x="5375918" y="4166900"/>
          <a:ext cx="3296444" cy="1318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222">
                  <a:extLst>
                    <a:ext uri="{9D8B030D-6E8A-4147-A177-3AD203B41FA5}">
                      <a16:colId xmlns:a16="http://schemas.microsoft.com/office/drawing/2014/main" val="4068489639"/>
                    </a:ext>
                  </a:extLst>
                </a:gridCol>
                <a:gridCol w="1648222">
                  <a:extLst>
                    <a:ext uri="{9D8B030D-6E8A-4147-A177-3AD203B41FA5}">
                      <a16:colId xmlns:a16="http://schemas.microsoft.com/office/drawing/2014/main" val="781717884"/>
                    </a:ext>
                  </a:extLst>
                </a:gridCol>
              </a:tblGrid>
              <a:tr h="3173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추가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06950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7378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7320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083114"/>
                  </a:ext>
                </a:extLst>
              </a:tr>
            </a:tbl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권한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사용자별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802407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46" name="그룹 45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48" name="모서리가 둥근 직사각형 47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49" name="그룹 48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50" name="모서리가 둥근 직사각형 49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51" name="그림 5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52" name="모서리가 둥근 직사각형 51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54" name="그룹 53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88" name="그룹 87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90" name="그룹 89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98" name="그림 9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99" name="직사각형 98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95" name="그룹 94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96" name="그림 95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97" name="직사각형 96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89" name="TextBox 88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00" name="TextBox 99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108" name="자유형 107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DB1.1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0" name="직각 삼각형 109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0000FF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DB4.2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112" name="직사각형 111"/>
          <p:cNvSpPr/>
          <p:nvPr/>
        </p:nvSpPr>
        <p:spPr>
          <a:xfrm rot="10800000">
            <a:off x="863500" y="5229200"/>
            <a:ext cx="7968799" cy="1363036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3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4195217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권한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pSp>
        <p:nvGrpSpPr>
          <p:cNvPr id="114" name="그룹 113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115" name="모서리가 둥근 직사각형 114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116" name="그림 11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117" name="TextBox 116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5936251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3378000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0" name="모서리가 둥근 직사각형 119"/>
          <p:cNvSpPr/>
          <p:nvPr/>
        </p:nvSpPr>
        <p:spPr>
          <a:xfrm>
            <a:off x="4658509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915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231926"/>
              </p:ext>
            </p:extLst>
          </p:nvPr>
        </p:nvGraphicFramePr>
        <p:xfrm>
          <a:off x="1000573" y="3789040"/>
          <a:ext cx="7671789" cy="1700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586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3214479">
                  <a:extLst>
                    <a:ext uri="{9D8B030D-6E8A-4147-A177-3AD203B41FA5}">
                      <a16:colId xmlns:a16="http://schemas.microsoft.com/office/drawing/2014/main" val="93429064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40587673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853571334"/>
                    </a:ext>
                  </a:extLst>
                </a:gridCol>
              </a:tblGrid>
              <a:tr h="381408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월별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저장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인쇄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읽음 표시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2017-06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2017-05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630988"/>
              </p:ext>
            </p:extLst>
          </p:nvPr>
        </p:nvGraphicFramePr>
        <p:xfrm>
          <a:off x="5375918" y="4166900"/>
          <a:ext cx="3296444" cy="1318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222">
                  <a:extLst>
                    <a:ext uri="{9D8B030D-6E8A-4147-A177-3AD203B41FA5}">
                      <a16:colId xmlns:a16="http://schemas.microsoft.com/office/drawing/2014/main" val="4068489639"/>
                    </a:ext>
                  </a:extLst>
                </a:gridCol>
                <a:gridCol w="1648222">
                  <a:extLst>
                    <a:ext uri="{9D8B030D-6E8A-4147-A177-3AD203B41FA5}">
                      <a16:colId xmlns:a16="http://schemas.microsoft.com/office/drawing/2014/main" val="781717884"/>
                    </a:ext>
                  </a:extLst>
                </a:gridCol>
              </a:tblGrid>
              <a:tr h="3173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추가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06950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7378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7320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083114"/>
                  </a:ext>
                </a:extLst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권한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월별</a:t>
            </a:r>
          </a:p>
        </p:txBody>
      </p:sp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802407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52" name="그룹 51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57" name="모서리가 둥근 직사각형 56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92" name="그룹 91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93" name="모서리가 둥근 직사각형 92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94" name="그림 93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95" name="모서리가 둥근 직사각형 94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96" name="그룹 95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97" name="그룹 96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99" name="그룹 98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3" name="그림 10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4" name="직사각형 103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00" name="그룹 99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1" name="그림 100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2" name="직사각형 101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98" name="TextBox 97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05" name="TextBox 104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113" name="자유형 112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DB1.3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5" name="직각 삼각형 114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FF000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추가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6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4195217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권한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DB4.3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118" name="그룹 117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119" name="모서리가 둥근 직사각형 118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121" name="TextBox 120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6453976" y="3852085"/>
            <a:ext cx="710894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2017-07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4871864" y="3852085"/>
            <a:ext cx="710894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5662920" y="3852085"/>
            <a:ext cx="710894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2017-06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3519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037605"/>
              </p:ext>
            </p:extLst>
          </p:nvPr>
        </p:nvGraphicFramePr>
        <p:xfrm>
          <a:off x="1000573" y="3789040"/>
          <a:ext cx="7671789" cy="2367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586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3214479">
                  <a:extLst>
                    <a:ext uri="{9D8B030D-6E8A-4147-A177-3AD203B41FA5}">
                      <a16:colId xmlns:a16="http://schemas.microsoft.com/office/drawing/2014/main" val="93429064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40587673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853571334"/>
                    </a:ext>
                  </a:extLst>
                </a:gridCol>
              </a:tblGrid>
              <a:tr h="381408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일별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저장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인쇄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읽음 표시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2016-05-29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2016-05-30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2016-05-31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2016-06-01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2016-06-02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05002"/>
                  </a:ext>
                </a:extLst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권한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802407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20" name="그룹 19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22" name="그룹 21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23" name="모서리가 둥근 직사각형 22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24" name="그림 23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25" name="모서리가 둥근 직사각형 24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27" name="그룹 26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29" name="그룹 28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33" name="그림 3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34" name="직사각형 33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30" name="그룹 29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31" name="그림 30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32" name="직사각형 31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28" name="TextBox 27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43" name="자유형 42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DB1.1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47" name="직각 삼각형 46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FF000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추가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1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4195217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권한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247727"/>
              </p:ext>
            </p:extLst>
          </p:nvPr>
        </p:nvGraphicFramePr>
        <p:xfrm>
          <a:off x="5375918" y="4166900"/>
          <a:ext cx="3296444" cy="1986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222">
                  <a:extLst>
                    <a:ext uri="{9D8B030D-6E8A-4147-A177-3AD203B41FA5}">
                      <a16:colId xmlns:a16="http://schemas.microsoft.com/office/drawing/2014/main" val="4068489639"/>
                    </a:ext>
                  </a:extLst>
                </a:gridCol>
                <a:gridCol w="1648222">
                  <a:extLst>
                    <a:ext uri="{9D8B030D-6E8A-4147-A177-3AD203B41FA5}">
                      <a16:colId xmlns:a16="http://schemas.microsoft.com/office/drawing/2014/main" val="781717884"/>
                    </a:ext>
                  </a:extLst>
                </a:gridCol>
              </a:tblGrid>
              <a:tr h="3173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추가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06950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7378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7320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083114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949955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067824"/>
                  </a:ext>
                </a:extLst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DB4.4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3" name="직사각형 52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55" name="그룹 54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56" name="모서리가 둥근 직사각형 55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63" name="TextBox 62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64" name="모서리가 둥근 직사각형 63"/>
          <p:cNvSpPr/>
          <p:nvPr/>
        </p:nvSpPr>
        <p:spPr>
          <a:xfrm>
            <a:off x="5936251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3378000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4658509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364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5400" y="1340768"/>
            <a:ext cx="55370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시스템 정보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액션로그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업무넷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6095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603086"/>
              </p:ext>
            </p:extLst>
          </p:nvPr>
        </p:nvGraphicFramePr>
        <p:xfrm>
          <a:off x="1000573" y="3789040"/>
          <a:ext cx="7671791" cy="2367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586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2979761">
                  <a:extLst>
                    <a:ext uri="{9D8B030D-6E8A-4147-A177-3AD203B41FA5}">
                      <a16:colId xmlns:a16="http://schemas.microsoft.com/office/drawing/2014/main" val="934290640"/>
                    </a:ext>
                  </a:extLst>
                </a:gridCol>
                <a:gridCol w="3296444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</a:tblGrid>
              <a:tr h="381408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업무요청</a:t>
                      </a: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마케팅팀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UX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디자인팀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05002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업무넷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부서별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DB5.1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1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5222379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업무넷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949276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91" name="그룹 90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92" name="모서리가 둥근 직사각형 91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93" name="그룹 92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94" name="모서리가 둥근 직사각형 93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95" name="그림 94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96" name="모서리가 둥근 직사각형 95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97" name="그룹 96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98" name="그룹 97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100" name="그룹 99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4" name="그림 103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5" name="직사각형 104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01" name="그룹 100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2" name="그림 101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3" name="직사각형 102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99" name="TextBox 98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06" name="TextBox 105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114" name="자유형 113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DB1.1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6" name="직사각형 115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7" name="직각 삼각형 116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0000FF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18" name="그룹 117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119" name="모서리가 둥근 직사각형 118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121" name="TextBox 120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5936251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3378000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4658509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778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150241"/>
              </p:ext>
            </p:extLst>
          </p:nvPr>
        </p:nvGraphicFramePr>
        <p:xfrm>
          <a:off x="1000573" y="3789040"/>
          <a:ext cx="7671789" cy="2367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1171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1818894">
                  <a:extLst>
                    <a:ext uri="{9D8B030D-6E8A-4147-A177-3AD203B41FA5}">
                      <a16:colId xmlns:a16="http://schemas.microsoft.com/office/drawing/2014/main" val="93429064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40587673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853571334"/>
                    </a:ext>
                  </a:extLst>
                </a:gridCol>
              </a:tblGrid>
              <a:tr h="381408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사용자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저장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인쇄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읽음 표시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마케팅팀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UX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디자인팀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05002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954122"/>
              </p:ext>
            </p:extLst>
          </p:nvPr>
        </p:nvGraphicFramePr>
        <p:xfrm>
          <a:off x="5375918" y="4169342"/>
          <a:ext cx="3296444" cy="1986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6444">
                  <a:extLst>
                    <a:ext uri="{9D8B030D-6E8A-4147-A177-3AD203B41FA5}">
                      <a16:colId xmlns:a16="http://schemas.microsoft.com/office/drawing/2014/main" val="66451448"/>
                    </a:ext>
                  </a:extLst>
                </a:gridCol>
              </a:tblGrid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업무요청</a:t>
                      </a: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165698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722550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566988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932555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672524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183172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업무넷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DB5.2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949276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57" name="그룹 56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58" name="모서리가 둥근 직사각형 57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93" name="그룹 92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94" name="모서리가 둥근 직사각형 93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95" name="그림 94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96" name="모서리가 둥근 직사각형 95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97" name="그룹 96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98" name="그룹 97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100" name="그룹 99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4" name="그림 103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5" name="직사각형 104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01" name="그룹 100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2" name="그림 101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3" name="직사각형 102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99" name="TextBox 98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06" name="TextBox 105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114" name="자유형 113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DB1.1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6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5222379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업무넷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17" name="직사각형 116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8" name="직각 삼각형 117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0000FF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19" name="그룹 118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121" name="그림 12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122" name="TextBox 121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5936251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3378000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4658509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7730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596240"/>
              </p:ext>
            </p:extLst>
          </p:nvPr>
        </p:nvGraphicFramePr>
        <p:xfrm>
          <a:off x="1000573" y="3789040"/>
          <a:ext cx="7671789" cy="1700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0065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40587673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853571334"/>
                    </a:ext>
                  </a:extLst>
                </a:gridCol>
              </a:tblGrid>
              <a:tr h="381408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월별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저장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인쇄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읽음 표시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2017-06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2017-05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</a:tbl>
          </a:graphicData>
        </a:graphic>
      </p:graphicFrame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28625"/>
              </p:ext>
            </p:extLst>
          </p:nvPr>
        </p:nvGraphicFramePr>
        <p:xfrm>
          <a:off x="5375918" y="4166900"/>
          <a:ext cx="3296444" cy="1318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6444">
                  <a:extLst>
                    <a:ext uri="{9D8B030D-6E8A-4147-A177-3AD203B41FA5}">
                      <a16:colId xmlns:a16="http://schemas.microsoft.com/office/drawing/2014/main" val="4068489639"/>
                    </a:ext>
                  </a:extLst>
                </a:gridCol>
              </a:tblGrid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업무요청</a:t>
                      </a: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06950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7378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7320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083114"/>
                  </a:ext>
                </a:extLst>
              </a:tr>
            </a:tbl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업무넷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lang="ko-KR" altLang="en-US" sz="800" noProof="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월별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DB5.3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98849"/>
              </p:ext>
            </p:extLst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49" name="그룹 48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50" name="모서리가 둥근 직사각형 49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51" name="그룹 50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52" name="모서리가 둥근 직사각형 51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54" name="그림 53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88" name="모서리가 둥근 직사각형 87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90" name="그룹 89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96" name="그룹 95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0" name="그림 99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1" name="직사각형 100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97" name="그룹 96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98" name="그림 9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99" name="직사각형 98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95" name="TextBox 94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110" name="자유형 109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DB1.3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2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5222379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업무넷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13" name="직각 삼각형 112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FF000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추가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14" name="그룹 113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115" name="모서리가 둥근 직사각형 114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116" name="그림 11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117" name="TextBox 116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6453976" y="3852085"/>
            <a:ext cx="710894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2017-07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4871864" y="3852085"/>
            <a:ext cx="710894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0" name="모서리가 둥근 직사각형 119"/>
          <p:cNvSpPr/>
          <p:nvPr/>
        </p:nvSpPr>
        <p:spPr>
          <a:xfrm>
            <a:off x="5662920" y="3852085"/>
            <a:ext cx="710894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2017-06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3424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14695"/>
              </p:ext>
            </p:extLst>
          </p:nvPr>
        </p:nvGraphicFramePr>
        <p:xfrm>
          <a:off x="1000573" y="3789040"/>
          <a:ext cx="7671791" cy="2367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586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2979761">
                  <a:extLst>
                    <a:ext uri="{9D8B030D-6E8A-4147-A177-3AD203B41FA5}">
                      <a16:colId xmlns:a16="http://schemas.microsoft.com/office/drawing/2014/main" val="934290640"/>
                    </a:ext>
                  </a:extLst>
                </a:gridCol>
                <a:gridCol w="3296444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</a:tblGrid>
              <a:tr h="381408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일별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업무요청</a:t>
                      </a: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2017-07-29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2017-07-25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2017-07-24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2017-07-23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2017-07-22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05002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업무넷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별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DB5.4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1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5222379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업무넷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aphicFrame>
        <p:nvGraphicFramePr>
          <p:cNvPr id="53" name="표 52"/>
          <p:cNvGraphicFramePr>
            <a:graphicFrameLocks noGrp="1"/>
          </p:cNvGraphicFramePr>
          <p:nvPr>
            <p:extLst/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91" name="그룹 90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92" name="모서리가 둥근 직사각형 91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93" name="그룹 92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94" name="모서리가 둥근 직사각형 93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95" name="그림 94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96" name="모서리가 둥근 직사각형 95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97" name="그룹 96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98" name="그룹 97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100" name="그룹 99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4" name="그림 103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5" name="직사각형 104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01" name="그룹 100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2" name="그림 101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3" name="직사각형 102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99" name="TextBox 98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06" name="TextBox 105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114" name="자유형 113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DB1.1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6" name="직사각형 35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7" name="직각 삼각형 36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FF000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추가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39" name="모서리가 둥근 직사각형 38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40" name="그림 3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41" name="TextBox 40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42" name="모서리가 둥근 직사각형 41"/>
          <p:cNvSpPr/>
          <p:nvPr/>
        </p:nvSpPr>
        <p:spPr>
          <a:xfrm>
            <a:off x="5936251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3378000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4658509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023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5400" y="1340768"/>
            <a:ext cx="6740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시스템 정보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액션로그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스퀘어 플러스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28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301769"/>
              </p:ext>
            </p:extLst>
          </p:nvPr>
        </p:nvGraphicFramePr>
        <p:xfrm>
          <a:off x="1000573" y="3789040"/>
          <a:ext cx="7671791" cy="2367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586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2979761">
                  <a:extLst>
                    <a:ext uri="{9D8B030D-6E8A-4147-A177-3AD203B41FA5}">
                      <a16:colId xmlns:a16="http://schemas.microsoft.com/office/drawing/2014/main" val="934290640"/>
                    </a:ext>
                  </a:extLst>
                </a:gridCol>
                <a:gridCol w="1098815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1098814">
                  <a:extLst>
                    <a:ext uri="{9D8B030D-6E8A-4147-A177-3AD203B41FA5}">
                      <a16:colId xmlns:a16="http://schemas.microsoft.com/office/drawing/2014/main" val="3844540955"/>
                    </a:ext>
                  </a:extLst>
                </a:gridCol>
                <a:gridCol w="1098815">
                  <a:extLst>
                    <a:ext uri="{9D8B030D-6E8A-4147-A177-3AD203B41FA5}">
                      <a16:colId xmlns:a16="http://schemas.microsoft.com/office/drawing/2014/main" val="763393584"/>
                    </a:ext>
                  </a:extLst>
                </a:gridCol>
              </a:tblGrid>
              <a:tr h="381408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그룹추가</a:t>
                      </a: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컨텐츠추가</a:t>
                      </a: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컨텐츠삭제</a:t>
                      </a: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마케팅팀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UX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디자인팀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05002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스퀘어플러스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DB6.1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1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6240016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스퀘어 플러스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53" name="직사각형 52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54" name="표 53"/>
          <p:cNvGraphicFramePr>
            <a:graphicFrameLocks noGrp="1"/>
          </p:cNvGraphicFramePr>
          <p:nvPr>
            <p:extLst/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92" name="그룹 91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93" name="모서리가 둥근 직사각형 92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94" name="그룹 93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95" name="모서리가 둥근 직사각형 94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96" name="그림 95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97" name="모서리가 둥근 직사각형 96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99" name="그룹 98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101" name="그룹 100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5" name="그림 10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6" name="직사각형 105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02" name="그룹 101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3" name="그림 10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4" name="직사각형 103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100" name="TextBox 99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07" name="TextBox 106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115" name="자유형 114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DB1.1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7" name="직각 삼각형 116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0000FF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18" name="그룹 117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119" name="모서리가 둥근 직사각형 118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121" name="TextBox 120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5936251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3378000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4658509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909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247507"/>
              </p:ext>
            </p:extLst>
          </p:nvPr>
        </p:nvGraphicFramePr>
        <p:xfrm>
          <a:off x="1000573" y="3789040"/>
          <a:ext cx="7671789" cy="2367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7235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1242830">
                  <a:extLst>
                    <a:ext uri="{9D8B030D-6E8A-4147-A177-3AD203B41FA5}">
                      <a16:colId xmlns:a16="http://schemas.microsoft.com/office/drawing/2014/main" val="93429064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40587673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853571334"/>
                    </a:ext>
                  </a:extLst>
                </a:gridCol>
              </a:tblGrid>
              <a:tr h="381408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사용자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저장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인쇄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읽음 표시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신뢰성기술팀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마케팅팀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&gt; UX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디자인팀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05002"/>
                  </a:ext>
                </a:extLst>
              </a:tr>
            </a:tbl>
          </a:graphicData>
        </a:graphic>
      </p:graphicFrame>
      <p:graphicFrame>
        <p:nvGraphicFramePr>
          <p:cNvPr id="66" name="표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093417"/>
              </p:ext>
            </p:extLst>
          </p:nvPr>
        </p:nvGraphicFramePr>
        <p:xfrm>
          <a:off x="5372100" y="4168077"/>
          <a:ext cx="3296444" cy="1986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8815">
                  <a:extLst>
                    <a:ext uri="{9D8B030D-6E8A-4147-A177-3AD203B41FA5}">
                      <a16:colId xmlns:a16="http://schemas.microsoft.com/office/drawing/2014/main" val="2976584752"/>
                    </a:ext>
                  </a:extLst>
                </a:gridCol>
                <a:gridCol w="1098814">
                  <a:extLst>
                    <a:ext uri="{9D8B030D-6E8A-4147-A177-3AD203B41FA5}">
                      <a16:colId xmlns:a16="http://schemas.microsoft.com/office/drawing/2014/main" val="157033187"/>
                    </a:ext>
                  </a:extLst>
                </a:gridCol>
                <a:gridCol w="1098815">
                  <a:extLst>
                    <a:ext uri="{9D8B030D-6E8A-4147-A177-3AD203B41FA5}">
                      <a16:colId xmlns:a16="http://schemas.microsoft.com/office/drawing/2014/main" val="1414823544"/>
                    </a:ext>
                  </a:extLst>
                </a:gridCol>
              </a:tblGrid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그룹추가</a:t>
                      </a: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컨텐츠추가</a:t>
                      </a: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컨텐츠삭제</a:t>
                      </a: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616055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240356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528080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876257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51041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034867"/>
                  </a:ext>
                </a:extLst>
              </a:tr>
            </a:tbl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스퀘어플러스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_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DB6.2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1" name="직사각형 50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2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6240016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스퀘어 플러스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aphicFrame>
        <p:nvGraphicFramePr>
          <p:cNvPr id="53" name="표 52"/>
          <p:cNvGraphicFramePr>
            <a:graphicFrameLocks noGrp="1"/>
          </p:cNvGraphicFramePr>
          <p:nvPr>
            <p:extLst/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59" name="그룹 58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60" name="모서리가 둥근 직사각형 59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61" name="그룹 60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62" name="모서리가 둥근 직사각형 61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63" name="그림 62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64" name="모서리가 둥근 직사각형 63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65" name="그룹 64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101" name="그룹 100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103" name="그룹 102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7" name="그림 106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8" name="직사각형 107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04" name="그룹 103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5" name="그림 10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6" name="직사각형 105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102" name="TextBox 101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09" name="TextBox 108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117" name="자유형 116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DB1.1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9" name="직각 삼각형 118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0000FF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20" name="그룹 119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121" name="모서리가 둥근 직사각형 120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122" name="그림 12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123" name="TextBox 122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5936251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3378000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6" name="모서리가 둥근 직사각형 125"/>
          <p:cNvSpPr/>
          <p:nvPr/>
        </p:nvSpPr>
        <p:spPr>
          <a:xfrm>
            <a:off x="4658509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321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174434"/>
              </p:ext>
            </p:extLst>
          </p:nvPr>
        </p:nvGraphicFramePr>
        <p:xfrm>
          <a:off x="1000573" y="3789040"/>
          <a:ext cx="7671789" cy="1700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0065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163775519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120015189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3405876730"/>
                    </a:ext>
                  </a:extLst>
                </a:gridCol>
                <a:gridCol w="765431">
                  <a:extLst>
                    <a:ext uri="{9D8B030D-6E8A-4147-A177-3AD203B41FA5}">
                      <a16:colId xmlns:a16="http://schemas.microsoft.com/office/drawing/2014/main" val="853571334"/>
                    </a:ext>
                  </a:extLst>
                </a:gridCol>
              </a:tblGrid>
              <a:tr h="381408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월별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삭제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저장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인쇄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게시물 읽음 표시</a:t>
                      </a: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2017-06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2017-05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0" marR="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</a:tbl>
          </a:graphicData>
        </a:graphic>
      </p:graphicFrame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997025"/>
              </p:ext>
            </p:extLst>
          </p:nvPr>
        </p:nvGraphicFramePr>
        <p:xfrm>
          <a:off x="5375918" y="4176425"/>
          <a:ext cx="3296444" cy="1318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6444">
                  <a:extLst>
                    <a:ext uri="{9D8B030D-6E8A-4147-A177-3AD203B41FA5}">
                      <a16:colId xmlns:a16="http://schemas.microsoft.com/office/drawing/2014/main" val="4068489639"/>
                    </a:ext>
                  </a:extLst>
                </a:gridCol>
              </a:tblGrid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업무요청</a:t>
                      </a: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06950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7378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7320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083114"/>
                  </a:ext>
                </a:extLst>
              </a:tr>
            </a:tbl>
          </a:graphicData>
        </a:graphic>
      </p:graphicFrame>
      <p:graphicFrame>
        <p:nvGraphicFramePr>
          <p:cNvPr id="64" name="표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363577"/>
              </p:ext>
            </p:extLst>
          </p:nvPr>
        </p:nvGraphicFramePr>
        <p:xfrm>
          <a:off x="5372100" y="4168077"/>
          <a:ext cx="3296444" cy="1318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8815">
                  <a:extLst>
                    <a:ext uri="{9D8B030D-6E8A-4147-A177-3AD203B41FA5}">
                      <a16:colId xmlns:a16="http://schemas.microsoft.com/office/drawing/2014/main" val="2976584752"/>
                    </a:ext>
                  </a:extLst>
                </a:gridCol>
                <a:gridCol w="1098814">
                  <a:extLst>
                    <a:ext uri="{9D8B030D-6E8A-4147-A177-3AD203B41FA5}">
                      <a16:colId xmlns:a16="http://schemas.microsoft.com/office/drawing/2014/main" val="157033187"/>
                    </a:ext>
                  </a:extLst>
                </a:gridCol>
                <a:gridCol w="1098815">
                  <a:extLst>
                    <a:ext uri="{9D8B030D-6E8A-4147-A177-3AD203B41FA5}">
                      <a16:colId xmlns:a16="http://schemas.microsoft.com/office/drawing/2014/main" val="1414823544"/>
                    </a:ext>
                  </a:extLst>
                </a:gridCol>
              </a:tblGrid>
              <a:tr h="317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그룹추가</a:t>
                      </a: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컨텐츠추가</a:t>
                      </a: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컨텐츠삭제</a:t>
                      </a: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616055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240356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528080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876257"/>
                  </a:ext>
                </a:extLst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스퀘어플러스</a:t>
            </a: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_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월별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DB6.3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58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6240016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스퀘어 플러스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/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61" name="그룹 60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62" name="모서리가 둥근 직사각형 61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63" name="그룹 62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96" name="모서리가 둥근 직사각형 95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97" name="그림 96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98" name="모서리가 둥근 직사각형 97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100" name="그룹 99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101" name="그룹 100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103" name="그룹 102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7" name="그림 106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8" name="직사각형 107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04" name="그룹 103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105" name="그림 10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106" name="직사각형 105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102" name="TextBox 101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09" name="TextBox 108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117" name="자유형 116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DB1.3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9" name="직각 삼각형 118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FF000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추가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20" name="그룹 119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121" name="모서리가 둥근 직사각형 120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122" name="그림 12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123" name="TextBox 122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6453976" y="3852085"/>
            <a:ext cx="710894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2017-07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4871864" y="3852085"/>
            <a:ext cx="710894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6" name="모서리가 둥근 직사각형 125"/>
          <p:cNvSpPr/>
          <p:nvPr/>
        </p:nvSpPr>
        <p:spPr>
          <a:xfrm>
            <a:off x="5662920" y="3852085"/>
            <a:ext cx="710894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2017-06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298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1000573" y="1259235"/>
            <a:ext cx="76717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시스템 정보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액션로그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lvl="0">
              <a:defRPr/>
            </a:pP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스퀘어플러스</a:t>
            </a: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_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B0600000101010101" charset="-127"/>
                <a:ea typeface="나눔고딕" panose="020B0600000101010101" charset="-127"/>
              </a:rPr>
              <a:t>일별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19506" y="292596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DB6.4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991334"/>
              </p:ext>
            </p:extLst>
          </p:nvPr>
        </p:nvGraphicFramePr>
        <p:xfrm>
          <a:off x="1000573" y="3789040"/>
          <a:ext cx="7671791" cy="2367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586">
                  <a:extLst>
                    <a:ext uri="{9D8B030D-6E8A-4147-A177-3AD203B41FA5}">
                      <a16:colId xmlns:a16="http://schemas.microsoft.com/office/drawing/2014/main" val="45051743"/>
                    </a:ext>
                  </a:extLst>
                </a:gridCol>
                <a:gridCol w="2979761">
                  <a:extLst>
                    <a:ext uri="{9D8B030D-6E8A-4147-A177-3AD203B41FA5}">
                      <a16:colId xmlns:a16="http://schemas.microsoft.com/office/drawing/2014/main" val="934290640"/>
                    </a:ext>
                  </a:extLst>
                </a:gridCol>
                <a:gridCol w="1098815">
                  <a:extLst>
                    <a:ext uri="{9D8B030D-6E8A-4147-A177-3AD203B41FA5}">
                      <a16:colId xmlns:a16="http://schemas.microsoft.com/office/drawing/2014/main" val="3754216"/>
                    </a:ext>
                  </a:extLst>
                </a:gridCol>
                <a:gridCol w="1098814">
                  <a:extLst>
                    <a:ext uri="{9D8B030D-6E8A-4147-A177-3AD203B41FA5}">
                      <a16:colId xmlns:a16="http://schemas.microsoft.com/office/drawing/2014/main" val="3844540955"/>
                    </a:ext>
                  </a:extLst>
                </a:gridCol>
                <a:gridCol w="1098815">
                  <a:extLst>
                    <a:ext uri="{9D8B030D-6E8A-4147-A177-3AD203B41FA5}">
                      <a16:colId xmlns:a16="http://schemas.microsoft.com/office/drawing/2014/main" val="763393584"/>
                    </a:ext>
                  </a:extLst>
                </a:gridCol>
              </a:tblGrid>
              <a:tr h="381408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57736"/>
                  </a:ext>
                </a:extLst>
              </a:tr>
              <a:tr h="317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일별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그룹추가</a:t>
                      </a: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컨텐츠추가</a:t>
                      </a: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컨텐츠삭제</a:t>
                      </a: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549323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2017-07-29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5287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2017-07-25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022642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2017-07-24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944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2017-07-23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8999"/>
                  </a:ext>
                </a:extLst>
              </a:tr>
              <a:tr h="33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2017-07-22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99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90000" marR="90000" marT="3600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05002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 rot="10800000">
            <a:off x="863501" y="5373994"/>
            <a:ext cx="7968799" cy="1218242"/>
          </a:xfrm>
          <a:prstGeom prst="rect">
            <a:avLst/>
          </a:prstGeom>
          <a:gradFill>
            <a:gsLst>
              <a:gs pos="0">
                <a:schemeClr val="bg1">
                  <a:alpha val="48000"/>
                </a:schemeClr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3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6240016" y="1482657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스퀘어 플러스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/>
          </p:nvPr>
        </p:nvGraphicFramePr>
        <p:xfrm>
          <a:off x="1000573" y="1981201"/>
          <a:ext cx="7671785" cy="8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26">
                  <a:extLst>
                    <a:ext uri="{9D8B030D-6E8A-4147-A177-3AD203B41FA5}">
                      <a16:colId xmlns:a16="http://schemas.microsoft.com/office/drawing/2014/main" val="20284312"/>
                    </a:ext>
                  </a:extLst>
                </a:gridCol>
                <a:gridCol w="6176759">
                  <a:extLst>
                    <a:ext uri="{9D8B030D-6E8A-4147-A177-3AD203B41FA5}">
                      <a16:colId xmlns:a16="http://schemas.microsoft.com/office/drawing/2014/main" val="4290064157"/>
                    </a:ext>
                  </a:extLst>
                </a:gridCol>
              </a:tblGrid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8079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선택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60305"/>
                  </a:ext>
                </a:extLst>
              </a:tr>
              <a:tr h="2876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79632"/>
                  </a:ext>
                </a:extLst>
              </a:tr>
            </a:tbl>
          </a:graphicData>
        </a:graphic>
      </p:graphicFrame>
      <p:grpSp>
        <p:nvGrpSpPr>
          <p:cNvPr id="25" name="그룹 24"/>
          <p:cNvGrpSpPr/>
          <p:nvPr/>
        </p:nvGrpSpPr>
        <p:grpSpPr>
          <a:xfrm>
            <a:off x="2591941" y="2326020"/>
            <a:ext cx="3998262" cy="182715"/>
            <a:chOff x="2553841" y="3850465"/>
            <a:chExt cx="3998262" cy="182715"/>
          </a:xfrm>
        </p:grpSpPr>
        <p:sp>
          <p:nvSpPr>
            <p:cNvPr id="26" name="모서리가 둥근 직사각형 25"/>
            <p:cNvSpPr/>
            <p:nvPr/>
          </p:nvSpPr>
          <p:spPr>
            <a:xfrm>
              <a:off x="2553841" y="3850465"/>
              <a:ext cx="3686176" cy="18271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5951985" y="3850465"/>
              <a:ext cx="600118" cy="182715"/>
              <a:chOff x="5936741" y="2511868"/>
              <a:chExt cx="600118" cy="171371"/>
            </a:xfrm>
          </p:grpSpPr>
          <p:sp>
            <p:nvSpPr>
              <p:cNvPr id="28" name="모서리가 둥근 직사각형 27"/>
              <p:cNvSpPr/>
              <p:nvPr/>
            </p:nvSpPr>
            <p:spPr>
              <a:xfrm>
                <a:off x="5936741" y="2511868"/>
                <a:ext cx="600118" cy="1713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endParaRPr>
              </a:p>
            </p:txBody>
          </p:sp>
          <p:pic>
            <p:nvPicPr>
              <p:cNvPr id="29" name="그림 28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6516" y="2522170"/>
                <a:ext cx="147005" cy="147005"/>
              </a:xfrm>
              <a:prstGeom prst="rect">
                <a:avLst/>
              </a:prstGeom>
            </p:spPr>
          </p:pic>
        </p:grpSp>
      </p:grpSp>
      <p:sp>
        <p:nvSpPr>
          <p:cNvPr id="30" name="모서리가 둥근 직사각형 29"/>
          <p:cNvSpPr/>
          <p:nvPr/>
        </p:nvSpPr>
        <p:spPr>
          <a:xfrm>
            <a:off x="3865823" y="2994117"/>
            <a:ext cx="1460698" cy="2669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조회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2591941" y="2598812"/>
            <a:ext cx="2271308" cy="191630"/>
            <a:chOff x="6240016" y="3620013"/>
            <a:chExt cx="2271308" cy="191630"/>
          </a:xfrm>
        </p:grpSpPr>
        <p:grpSp>
          <p:nvGrpSpPr>
            <p:cNvPr id="32" name="그룹 31"/>
            <p:cNvGrpSpPr/>
            <p:nvPr/>
          </p:nvGrpSpPr>
          <p:grpSpPr>
            <a:xfrm>
              <a:off x="6240016" y="3620013"/>
              <a:ext cx="2271308" cy="191630"/>
              <a:chOff x="5020497" y="2472355"/>
              <a:chExt cx="2271308" cy="191630"/>
            </a:xfrm>
          </p:grpSpPr>
          <p:grpSp>
            <p:nvGrpSpPr>
              <p:cNvPr id="34" name="그룹 33"/>
              <p:cNvGrpSpPr/>
              <p:nvPr/>
            </p:nvGrpSpPr>
            <p:grpSpPr>
              <a:xfrm>
                <a:off x="5020497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38" name="그림 3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39" name="직사각형 38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2017-05-29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  <p:grpSp>
            <p:nvGrpSpPr>
              <p:cNvPr id="35" name="그룹 34"/>
              <p:cNvGrpSpPr/>
              <p:nvPr/>
            </p:nvGrpSpPr>
            <p:grpSpPr>
              <a:xfrm>
                <a:off x="6288310" y="2472355"/>
                <a:ext cx="1003495" cy="191630"/>
                <a:chOff x="3230895" y="2671028"/>
                <a:chExt cx="1003495" cy="191630"/>
              </a:xfrm>
            </p:grpSpPr>
            <p:pic>
              <p:nvPicPr>
                <p:cNvPr id="36" name="그림 35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42760" y="2671028"/>
                  <a:ext cx="191630" cy="191630"/>
                </a:xfrm>
                <a:prstGeom prst="rect">
                  <a:avLst/>
                </a:prstGeom>
              </p:spPr>
            </p:pic>
            <p:sp>
              <p:nvSpPr>
                <p:cNvPr id="37" name="직사각형 36"/>
                <p:cNvSpPr/>
                <p:nvPr/>
              </p:nvSpPr>
              <p:spPr>
                <a:xfrm>
                  <a:off x="3230895" y="2683090"/>
                  <a:ext cx="786059" cy="173183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marL="0" marR="0" lvl="0" indent="0" algn="l" defTabSz="914400" rtl="0" eaLnBrk="1" fontAlgn="base" latinLnBrk="1" hangingPunct="1">
                    <a:lnSpc>
                      <a:spcPct val="115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나눔고딕" pitchFamily="50" charset="-127"/>
                      <a:ea typeface="나눔고딕" pitchFamily="50" charset="-127"/>
                      <a:cs typeface="+mn-cs"/>
                    </a:rPr>
                    <a:t>2017-07-29</a:t>
                  </a:r>
                  <a:endParaRPr kumimoji="1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나눔고딕" pitchFamily="50" charset="-127"/>
                    <a:ea typeface="나눔고딕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33" name="TextBox 32"/>
            <p:cNvSpPr txBox="1"/>
            <p:nvPr/>
          </p:nvSpPr>
          <p:spPr>
            <a:xfrm>
              <a:off x="7278256" y="3635059"/>
              <a:ext cx="174104" cy="154300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~</a:t>
              </a:r>
              <a:endPara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4516923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72573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일별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2595" y="199105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98245" y="204406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월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3366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19016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부서별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48432" y="1998348"/>
            <a:ext cx="226293" cy="222101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04082" y="2051350"/>
            <a:ext cx="914400" cy="146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사용자별</a:t>
            </a:r>
          </a:p>
        </p:txBody>
      </p:sp>
      <p:sp>
        <p:nvSpPr>
          <p:cNvPr id="55" name="자유형 54"/>
          <p:cNvSpPr/>
          <p:nvPr/>
        </p:nvSpPr>
        <p:spPr>
          <a:xfrm>
            <a:off x="2628132" y="205977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000573" y="1981259"/>
            <a:ext cx="7671784" cy="1375733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defRPr/>
            </a:pPr>
            <a:r>
              <a:rPr lang="en-US" altLang="ko-KR" sz="1200" u="sng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DB1.1</a:t>
            </a:r>
            <a:r>
              <a:rPr lang="ko-KR" altLang="en-US" sz="1200" smtClean="0">
                <a:solidFill>
                  <a:srgbClr val="FFFF00"/>
                </a:solidFill>
                <a:latin typeface="나눔고딕" panose="020B0600000101010101" charset="-127"/>
                <a:ea typeface="나눔고딕" panose="020B0600000101010101" charset="-127"/>
              </a:rPr>
              <a:t>와 동일</a:t>
            </a:r>
            <a:endParaRPr lang="ko-KR" altLang="en-US" sz="1200">
              <a:solidFill>
                <a:srgbClr val="FFFF00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59" name="직각 삼각형 58"/>
          <p:cNvSpPr/>
          <p:nvPr/>
        </p:nvSpPr>
        <p:spPr>
          <a:xfrm flipH="1">
            <a:off x="11440379" y="5924462"/>
            <a:ext cx="684945" cy="743038"/>
          </a:xfrm>
          <a:prstGeom prst="rtTriangle">
            <a:avLst/>
          </a:prstGeom>
          <a:solidFill>
            <a:srgbClr val="FF000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추가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7397105" y="3847827"/>
            <a:ext cx="1126484" cy="229245"/>
            <a:chOff x="1098673" y="4143102"/>
            <a:chExt cx="1126484" cy="229245"/>
          </a:xfrm>
        </p:grpSpPr>
        <p:sp>
          <p:nvSpPr>
            <p:cNvPr id="61" name="모서리가 둥근 직사각형 60"/>
            <p:cNvSpPr/>
            <p:nvPr/>
          </p:nvSpPr>
          <p:spPr>
            <a:xfrm>
              <a:off x="1098673" y="4143102"/>
              <a:ext cx="1126484" cy="22924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 pitchFamily="34" charset="0"/>
                  <a:ea typeface="나눔고딕" pitchFamily="50" charset="-127"/>
                  <a:cs typeface="+mn-cs"/>
                </a:rPr>
                <a:t>DOWNLOAD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pic>
          <p:nvPicPr>
            <p:cNvPr id="62" name="그림 6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24" y="4177609"/>
              <a:ext cx="137302" cy="156072"/>
            </a:xfrm>
            <a:prstGeom prst="rect">
              <a:avLst/>
            </a:prstGeom>
          </p:spPr>
        </p:pic>
      </p:grpSp>
      <p:sp>
        <p:nvSpPr>
          <p:cNvPr id="63" name="TextBox 62"/>
          <p:cNvSpPr txBox="1"/>
          <p:nvPr/>
        </p:nvSpPr>
        <p:spPr>
          <a:xfrm>
            <a:off x="7214939" y="3866979"/>
            <a:ext cx="138361" cy="2100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ㅣ</a:t>
            </a:r>
          </a:p>
        </p:txBody>
      </p:sp>
      <p:sp>
        <p:nvSpPr>
          <p:cNvPr id="70" name="모서리가 둥근 직사각형 69"/>
          <p:cNvSpPr/>
          <p:nvPr/>
        </p:nvSpPr>
        <p:spPr>
          <a:xfrm>
            <a:off x="5936251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3378000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4658509" y="3852085"/>
            <a:ext cx="1228619" cy="2292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나눔고딕" pitchFamily="50" charset="-127"/>
              </a:rPr>
              <a:t>2017-05-29~2017-06-30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6019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heme/theme1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66"/>
        </a:solidFill>
      </a:spPr>
      <a:bodyPr wrap="none" lIns="36000" tIns="36000" rIns="36000" bIns="36000" rtlCol="0" anchor="ctr">
        <a:noAutofit/>
      </a:bodyPr>
      <a:lstStyle>
        <a:defPPr algn="ctr">
          <a:lnSpc>
            <a:spcPct val="115000"/>
          </a:lnSpc>
          <a:spcAft>
            <a:spcPts val="1000"/>
          </a:spcAft>
          <a:defRPr sz="800" dirty="0" smtClean="0">
            <a:solidFill>
              <a:schemeClr val="tx1">
                <a:lumMod val="75000"/>
                <a:lumOff val="25000"/>
              </a:schemeClr>
            </a:solidFill>
            <a:latin typeface="나눔고딕" pitchFamily="50" charset="-127"/>
            <a:ea typeface="나눔고딕" pitchFamily="50" charset="-127"/>
          </a:defRPr>
        </a:defPPr>
      </a:lstStyle>
    </a:spDef>
    <a:lnDef>
      <a:spPr>
        <a:ln w="3175">
          <a:solidFill>
            <a:schemeClr val="tx1">
              <a:lumMod val="95000"/>
              <a:lumOff val="5000"/>
            </a:schemeClr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72000" rIns="72000" rtlCol="0" anchor="ctr">
        <a:noAutofit/>
      </a:bodyPr>
      <a:lstStyle>
        <a:defPPr>
          <a:defRPr sz="800" smtClean="0">
            <a:solidFill>
              <a:schemeClr val="tx1">
                <a:lumMod val="75000"/>
                <a:lumOff val="25000"/>
              </a:schemeClr>
            </a:solidFill>
            <a:latin typeface="나눔고딕" panose="020B0600000101010101" charset="-127"/>
            <a:ea typeface="나눔고딕" panose="020B0600000101010101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66"/>
        </a:solidFill>
      </a:spPr>
      <a:bodyPr wrap="none" lIns="36000" tIns="36000" rIns="36000" bIns="36000" rtlCol="0" anchor="ctr">
        <a:noAutofit/>
      </a:bodyPr>
      <a:lstStyle>
        <a:defPPr algn="ctr">
          <a:lnSpc>
            <a:spcPct val="115000"/>
          </a:lnSpc>
          <a:spcAft>
            <a:spcPts val="1000"/>
          </a:spcAft>
          <a:defRPr sz="800" dirty="0" smtClean="0">
            <a:solidFill>
              <a:schemeClr val="tx1">
                <a:lumMod val="75000"/>
                <a:lumOff val="25000"/>
              </a:schemeClr>
            </a:solidFill>
            <a:latin typeface="나눔고딕" pitchFamily="50" charset="-127"/>
            <a:ea typeface="나눔고딕" pitchFamily="50" charset="-127"/>
          </a:defRPr>
        </a:defPPr>
      </a:lstStyle>
    </a:spDef>
    <a:txDef>
      <a:spPr>
        <a:noFill/>
      </a:spPr>
      <a:bodyPr wrap="none" lIns="72000" rIns="72000" rtlCol="0" anchor="ctr">
        <a:noAutofit/>
      </a:bodyPr>
      <a:lstStyle>
        <a:defPPr>
          <a:defRPr sz="800" smtClean="0">
            <a:solidFill>
              <a:schemeClr val="tx1">
                <a:lumMod val="75000"/>
                <a:lumOff val="25000"/>
              </a:schemeClr>
            </a:solidFill>
            <a:latin typeface="나눔고딕" panose="020B0600000101010101" charset="-127"/>
            <a:ea typeface="나눔고딕" panose="020B0600000101010101" charset="-127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66"/>
        </a:solidFill>
      </a:spPr>
      <a:bodyPr wrap="none" lIns="36000" tIns="36000" rIns="36000" bIns="36000" rtlCol="0" anchor="ctr">
        <a:noAutofit/>
      </a:bodyPr>
      <a:lstStyle>
        <a:defPPr algn="ctr">
          <a:lnSpc>
            <a:spcPct val="115000"/>
          </a:lnSpc>
          <a:spcAft>
            <a:spcPts val="1000"/>
          </a:spcAft>
          <a:defRPr sz="800" dirty="0" smtClean="0">
            <a:solidFill>
              <a:schemeClr val="tx1">
                <a:lumMod val="75000"/>
                <a:lumOff val="25000"/>
              </a:schemeClr>
            </a:solidFill>
            <a:latin typeface="나눔고딕" pitchFamily="50" charset="-127"/>
            <a:ea typeface="나눔고딕" pitchFamily="50" charset="-127"/>
          </a:defRPr>
        </a:defPPr>
      </a:lstStyle>
    </a:spDef>
    <a:lnDef>
      <a:spPr>
        <a:ln w="3175">
          <a:solidFill>
            <a:schemeClr val="tx1">
              <a:lumMod val="95000"/>
              <a:lumOff val="5000"/>
            </a:schemeClr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72000" rIns="72000" rtlCol="0" anchor="ctr">
        <a:noAutofit/>
      </a:bodyPr>
      <a:lstStyle>
        <a:defPPr>
          <a:defRPr sz="800" smtClean="0">
            <a:solidFill>
              <a:schemeClr val="tx1">
                <a:lumMod val="75000"/>
                <a:lumOff val="25000"/>
              </a:schemeClr>
            </a:solidFill>
            <a:latin typeface="나눔고딕" panose="020B0600000101010101" charset="-127"/>
            <a:ea typeface="나눔고딕" panose="020B0600000101010101" charset="-127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29629</TotalTime>
  <Words>5200</Words>
  <Application>Microsoft Office PowerPoint</Application>
  <PresentationFormat>와이드스크린</PresentationFormat>
  <Paragraphs>3094</Paragraphs>
  <Slides>66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66</vt:i4>
      </vt:variant>
    </vt:vector>
  </HeadingPairs>
  <TitlesOfParts>
    <vt:vector size="83" baseType="lpstr">
      <vt:lpstr>나눔고딕</vt:lpstr>
      <vt:lpstr>굴림</vt:lpstr>
      <vt:lpstr>Trebuchet MS</vt:lpstr>
      <vt:lpstr>돋움</vt:lpstr>
      <vt:lpstr>HY견고딕</vt:lpstr>
      <vt:lpstr>Wingdings</vt:lpstr>
      <vt:lpstr>Tw Cen MT</vt:lpstr>
      <vt:lpstr>Verdana</vt:lpstr>
      <vt:lpstr>맑은 고딕</vt:lpstr>
      <vt:lpstr>Segoe UI</vt:lpstr>
      <vt:lpstr>나눔고딕코딩</vt:lpstr>
      <vt:lpstr>Arial</vt:lpstr>
      <vt:lpstr>3_디자인 사용자 지정</vt:lpstr>
      <vt:lpstr>1_디자인 사용자 지정</vt:lpstr>
      <vt:lpstr>디자인 사용자 지정</vt:lpstr>
      <vt:lpstr>4_디자인 사용자 지정</vt:lpstr>
      <vt:lpstr>5_디자인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vinyl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김진호</dc:creator>
  <cp:lastModifiedBy>HSK-rbdyd</cp:lastModifiedBy>
  <cp:revision>1236</cp:revision>
  <cp:lastPrinted>2011-03-03T06:20:47Z</cp:lastPrinted>
  <dcterms:created xsi:type="dcterms:W3CDTF">2011-02-01T05:54:11Z</dcterms:created>
  <dcterms:modified xsi:type="dcterms:W3CDTF">2018-03-30T05:45:16Z</dcterms:modified>
</cp:coreProperties>
</file>