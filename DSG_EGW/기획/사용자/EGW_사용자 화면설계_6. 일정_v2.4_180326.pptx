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34" r:id="rId1"/>
    <p:sldMasterId id="2147485009" r:id="rId2"/>
    <p:sldMasterId id="2147485038" r:id="rId3"/>
    <p:sldMasterId id="2147485043" r:id="rId4"/>
  </p:sldMasterIdLst>
  <p:notesMasterIdLst>
    <p:notesMasterId r:id="rId77"/>
  </p:notesMasterIdLst>
  <p:handoutMasterIdLst>
    <p:handoutMasterId r:id="rId78"/>
  </p:handoutMasterIdLst>
  <p:sldIdLst>
    <p:sldId id="256" r:id="rId5"/>
    <p:sldId id="257" r:id="rId6"/>
    <p:sldId id="507" r:id="rId7"/>
    <p:sldId id="372" r:id="rId8"/>
    <p:sldId id="498" r:id="rId9"/>
    <p:sldId id="380" r:id="rId10"/>
    <p:sldId id="516" r:id="rId11"/>
    <p:sldId id="517" r:id="rId12"/>
    <p:sldId id="515" r:id="rId13"/>
    <p:sldId id="483" r:id="rId14"/>
    <p:sldId id="484" r:id="rId15"/>
    <p:sldId id="453" r:id="rId16"/>
    <p:sldId id="454" r:id="rId17"/>
    <p:sldId id="485" r:id="rId18"/>
    <p:sldId id="486" r:id="rId19"/>
    <p:sldId id="509" r:id="rId20"/>
    <p:sldId id="487" r:id="rId21"/>
    <p:sldId id="488" r:id="rId22"/>
    <p:sldId id="510" r:id="rId23"/>
    <p:sldId id="511" r:id="rId24"/>
    <p:sldId id="512" r:id="rId25"/>
    <p:sldId id="490" r:id="rId26"/>
    <p:sldId id="419" r:id="rId27"/>
    <p:sldId id="387" r:id="rId28"/>
    <p:sldId id="513" r:id="rId29"/>
    <p:sldId id="514" r:id="rId30"/>
    <p:sldId id="491" r:id="rId31"/>
    <p:sldId id="508" r:id="rId32"/>
    <p:sldId id="399" r:id="rId33"/>
    <p:sldId id="459" r:id="rId34"/>
    <p:sldId id="460" r:id="rId35"/>
    <p:sldId id="463" r:id="rId36"/>
    <p:sldId id="472" r:id="rId37"/>
    <p:sldId id="499" r:id="rId38"/>
    <p:sldId id="500" r:id="rId39"/>
    <p:sldId id="501" r:id="rId40"/>
    <p:sldId id="374" r:id="rId41"/>
    <p:sldId id="440" r:id="rId42"/>
    <p:sldId id="427" r:id="rId43"/>
    <p:sldId id="426" r:id="rId44"/>
    <p:sldId id="457" r:id="rId45"/>
    <p:sldId id="518" r:id="rId46"/>
    <p:sldId id="443" r:id="rId47"/>
    <p:sldId id="424" r:id="rId48"/>
    <p:sldId id="492" r:id="rId49"/>
    <p:sldId id="422" r:id="rId50"/>
    <p:sldId id="493" r:id="rId51"/>
    <p:sldId id="448" r:id="rId52"/>
    <p:sldId id="449" r:id="rId53"/>
    <p:sldId id="450" r:id="rId54"/>
    <p:sldId id="451" r:id="rId55"/>
    <p:sldId id="452" r:id="rId56"/>
    <p:sldId id="482" r:id="rId57"/>
    <p:sldId id="505" r:id="rId58"/>
    <p:sldId id="504" r:id="rId59"/>
    <p:sldId id="442" r:id="rId60"/>
    <p:sldId id="429" r:id="rId61"/>
    <p:sldId id="471" r:id="rId62"/>
    <p:sldId id="430" r:id="rId63"/>
    <p:sldId id="431" r:id="rId64"/>
    <p:sldId id="447" r:id="rId65"/>
    <p:sldId id="434" r:id="rId66"/>
    <p:sldId id="474" r:id="rId67"/>
    <p:sldId id="476" r:id="rId68"/>
    <p:sldId id="479" r:id="rId69"/>
    <p:sldId id="481" r:id="rId70"/>
    <p:sldId id="439" r:id="rId71"/>
    <p:sldId id="433" r:id="rId72"/>
    <p:sldId id="496" r:id="rId73"/>
    <p:sldId id="502" r:id="rId74"/>
    <p:sldId id="503" r:id="rId75"/>
    <p:sldId id="506" r:id="rId76"/>
  </p:sldIdLst>
  <p:sldSz cx="12192000" cy="6858000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4D76028-AD71-4528-8F85-50E0D84C89E9}">
          <p14:sldIdLst>
            <p14:sldId id="256"/>
            <p14:sldId id="257"/>
            <p14:sldId id="507"/>
          </p14:sldIdLst>
        </p14:section>
        <p14:section name="일정" id="{42616F57-FFC3-4E21-891E-EBE570DF12EE}">
          <p14:sldIdLst>
            <p14:sldId id="372"/>
            <p14:sldId id="498"/>
            <p14:sldId id="380"/>
            <p14:sldId id="516"/>
            <p14:sldId id="517"/>
            <p14:sldId id="515"/>
            <p14:sldId id="483"/>
            <p14:sldId id="484"/>
            <p14:sldId id="453"/>
            <p14:sldId id="454"/>
          </p14:sldIdLst>
        </p14:section>
        <p14:section name="일정 상세(읽기)" id="{6FB0CAE7-8A03-4095-8C91-89AAD0FB4F77}">
          <p14:sldIdLst>
            <p14:sldId id="485"/>
            <p14:sldId id="486"/>
            <p14:sldId id="509"/>
          </p14:sldIdLst>
        </p14:section>
        <p14:section name="일정 등록" id="{DFD19FCD-7CBE-4092-81D4-3589BAA53C66}">
          <p14:sldIdLst>
            <p14:sldId id="487"/>
            <p14:sldId id="488"/>
            <p14:sldId id="510"/>
            <p14:sldId id="511"/>
            <p14:sldId id="512"/>
            <p14:sldId id="490"/>
            <p14:sldId id="419"/>
            <p14:sldId id="387"/>
            <p14:sldId id="513"/>
            <p14:sldId id="514"/>
          </p14:sldIdLst>
        </p14:section>
        <p14:section name="일정 수정" id="{582D12C7-3CBF-409A-AF6D-3881C562B898}">
          <p14:sldIdLst>
            <p14:sldId id="491"/>
            <p14:sldId id="508"/>
          </p14:sldIdLst>
        </p14:section>
        <p14:section name="달력 추가" id="{A53D6685-D382-4887-A92A-09349E5DB779}">
          <p14:sldIdLst>
            <p14:sldId id="399"/>
          </p14:sldIdLst>
        </p14:section>
        <p14:section name="일정 설정" id="{CC10AD35-FCB7-480B-8883-AE6C875B5205}">
          <p14:sldIdLst>
            <p14:sldId id="459"/>
            <p14:sldId id="460"/>
            <p14:sldId id="463"/>
            <p14:sldId id="472"/>
          </p14:sldIdLst>
        </p14:section>
        <p14:section name="일정 검색" id="{FDCAF0AB-67B4-4333-BD10-4F24B3F6184C}">
          <p14:sldIdLst>
            <p14:sldId id="499"/>
            <p14:sldId id="500"/>
            <p14:sldId id="501"/>
          </p14:sldIdLst>
        </p14:section>
        <p14:section name="설비" id="{ED6610F5-2BBC-4C38-AB86-6F0744D8E1AF}">
          <p14:sldIdLst>
            <p14:sldId id="374"/>
            <p14:sldId id="440"/>
            <p14:sldId id="427"/>
            <p14:sldId id="426"/>
            <p14:sldId id="457"/>
            <p14:sldId id="518"/>
          </p14:sldIdLst>
        </p14:section>
        <p14:section name="예약 정보(상세)" id="{E24DC9E8-5B6E-41BF-B531-6A7DD087B383}">
          <p14:sldIdLst>
            <p14:sldId id="443"/>
            <p14:sldId id="424"/>
          </p14:sldIdLst>
        </p14:section>
        <p14:section name="설비 예약" id="{6572BFE2-C9FE-46AD-81BD-7FB3701723E9}">
          <p14:sldIdLst>
            <p14:sldId id="492"/>
            <p14:sldId id="422"/>
          </p14:sldIdLst>
        </p14:section>
        <p14:section name="설비 수정" id="{58607DC0-6135-480B-BE20-6F9A023EFFF7}">
          <p14:sldIdLst>
            <p14:sldId id="493"/>
          </p14:sldIdLst>
        </p14:section>
        <p14:section name="내가 예약한 설비" id="{683D4FAC-D4AE-4C55-829A-1A65C40993C3}">
          <p14:sldIdLst>
            <p14:sldId id="448"/>
            <p14:sldId id="449"/>
          </p14:sldIdLst>
        </p14:section>
        <p14:section name="승인 대기중인 설비" id="{AF8EC9D1-A001-41A0-979A-05D31C03CB80}">
          <p14:sldIdLst>
            <p14:sldId id="450"/>
            <p14:sldId id="451"/>
            <p14:sldId id="452"/>
            <p14:sldId id="482"/>
            <p14:sldId id="505"/>
            <p14:sldId id="504"/>
          </p14:sldIdLst>
        </p14:section>
        <p14:section name="설비 및 설비 목록 추가" id="{D4C60E57-4ECC-40A4-B96B-56DBBF96E070}">
          <p14:sldIdLst>
            <p14:sldId id="442"/>
            <p14:sldId id="429"/>
            <p14:sldId id="471"/>
            <p14:sldId id="430"/>
            <p14:sldId id="431"/>
            <p14:sldId id="447"/>
            <p14:sldId id="434"/>
          </p14:sldIdLst>
        </p14:section>
        <p14:section name="설비 그룹" id="{5F582BE0-3C3B-4DEE-8E50-065094A9B387}">
          <p14:sldIdLst>
            <p14:sldId id="474"/>
            <p14:sldId id="476"/>
            <p14:sldId id="479"/>
            <p14:sldId id="481"/>
          </p14:sldIdLst>
        </p14:section>
        <p14:section name="설비 설정" id="{7EEA1EC3-95C9-4C5F-B6FB-ACC34591F5BD}">
          <p14:sldIdLst>
            <p14:sldId id="439"/>
            <p14:sldId id="433"/>
            <p14:sldId id="496"/>
          </p14:sldIdLst>
        </p14:section>
        <p14:section name="설비 검색" id="{76A81CBB-6C9E-4FE5-9EDB-02BFB64B375F}">
          <p14:sldIdLst>
            <p14:sldId id="502"/>
            <p14:sldId id="503"/>
            <p14:sldId id="506"/>
          </p14:sldIdLst>
        </p14:section>
      </p14:sectionLst>
    </p:ext>
    <p:ext uri="{EFAFB233-063F-42B5-8137-9DF3F51BA10A}">
      <p15:sldGuideLst xmlns:p15="http://schemas.microsoft.com/office/powerpoint/2012/main">
        <p15:guide id="7" pos="1644" userDrawn="1">
          <p15:clr>
            <a:srgbClr val="A4A3A4"/>
          </p15:clr>
        </p15:guide>
        <p15:guide id="8" pos="3454" userDrawn="1">
          <p15:clr>
            <a:srgbClr val="A4A3A4"/>
          </p15:clr>
        </p15:guide>
        <p15:guide id="9" orient="horz" pos="1338" userDrawn="1">
          <p15:clr>
            <a:srgbClr val="A4A3A4"/>
          </p15:clr>
        </p15:guide>
        <p15:guide id="10" orient="horz" pos="414" userDrawn="1">
          <p15:clr>
            <a:srgbClr val="A4A3A4"/>
          </p15:clr>
        </p15:guide>
        <p15:guide id="11" pos="5700" userDrawn="1">
          <p15:clr>
            <a:srgbClr val="A4A3A4"/>
          </p15:clr>
        </p15:guide>
        <p15:guide id="12" orient="horz" pos="775">
          <p15:clr>
            <a:srgbClr val="A4A3A4"/>
          </p15:clr>
        </p15:guide>
        <p15:guide id="13" orient="horz" pos="3113" userDrawn="1">
          <p15:clr>
            <a:srgbClr val="A4A3A4"/>
          </p15:clr>
        </p15:guide>
        <p15:guide id="14" pos="3840" userDrawn="1">
          <p15:clr>
            <a:srgbClr val="A4A3A4"/>
          </p15:clr>
        </p15:guide>
        <p15:guide id="15">
          <p15:clr>
            <a:srgbClr val="A4A3A4"/>
          </p15:clr>
        </p15:guide>
        <p15:guide id="16" orient="horz" pos="70">
          <p15:clr>
            <a:srgbClr val="A4A3A4"/>
          </p15:clr>
        </p15:guide>
        <p15:guide id="17" orient="horz" pos="267">
          <p15:clr>
            <a:srgbClr val="A4A3A4"/>
          </p15:clr>
        </p15:guide>
        <p15:guide id="18" orient="horz" pos="504">
          <p15:clr>
            <a:srgbClr val="A4A3A4"/>
          </p15:clr>
        </p15:guide>
        <p15:guide id="19" orient="horz" pos="686" userDrawn="1">
          <p15:clr>
            <a:srgbClr val="A4A3A4"/>
          </p15:clr>
        </p15:guide>
        <p15:guide id="20" orient="horz" pos="3997" userDrawn="1">
          <p15:clr>
            <a:srgbClr val="A4A3A4"/>
          </p15:clr>
        </p15:guide>
        <p15:guide id="21" pos="121" userDrawn="1">
          <p15:clr>
            <a:srgbClr val="A4A3A4"/>
          </p15:clr>
        </p15:guide>
        <p15:guide id="22" pos="72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92D050"/>
    <a:srgbClr val="F57B17"/>
    <a:srgbClr val="00B050"/>
    <a:srgbClr val="FFA3C8"/>
    <a:srgbClr val="FF66CC"/>
    <a:srgbClr val="727272"/>
    <a:srgbClr val="FF579B"/>
    <a:srgbClr val="53B0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5" autoAdjust="0"/>
    <p:restoredTop sz="95116" autoAdjust="0"/>
  </p:normalViewPr>
  <p:slideViewPr>
    <p:cSldViewPr snapToGrid="0" snapToObjects="1">
      <p:cViewPr varScale="1">
        <p:scale>
          <a:sx n="80" d="100"/>
          <a:sy n="80" d="100"/>
        </p:scale>
        <p:origin x="730" y="48"/>
      </p:cViewPr>
      <p:guideLst>
        <p:guide pos="1644"/>
        <p:guide pos="3454"/>
        <p:guide orient="horz" pos="1338"/>
        <p:guide orient="horz" pos="414"/>
        <p:guide pos="5700"/>
        <p:guide orient="horz" pos="775"/>
        <p:guide orient="horz" pos="3113"/>
        <p:guide pos="3840"/>
        <p:guide/>
        <p:guide orient="horz" pos="70"/>
        <p:guide orient="horz" pos="267"/>
        <p:guide orient="horz" pos="504"/>
        <p:guide orient="horz" pos="686"/>
        <p:guide orient="horz" pos="3997"/>
        <p:guide pos="121"/>
        <p:guide pos="7296"/>
      </p:guideLst>
    </p:cSldViewPr>
  </p:slideViewPr>
  <p:outlineViewPr>
    <p:cViewPr>
      <p:scale>
        <a:sx n="33" d="100"/>
        <a:sy n="33" d="100"/>
      </p:scale>
      <p:origin x="0" y="8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608"/>
    </p:cViewPr>
  </p:sorterViewPr>
  <p:notesViewPr>
    <p:cSldViewPr snapToGrid="0" snapToObjects="1">
      <p:cViewPr varScale="1">
        <p:scale>
          <a:sx n="56" d="100"/>
          <a:sy n="56" d="100"/>
        </p:scale>
        <p:origin x="3288" y="62"/>
      </p:cViewPr>
      <p:guideLst>
        <p:guide orient="horz" pos="3126"/>
        <p:guide pos="2141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643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pPr>
              <a:defRPr/>
            </a:pPr>
            <a:fld id="{51B664AD-C4EC-484B-B50A-8C6F83EF08F0}" type="datetimeFigureOut">
              <a:rPr lang="ko-KR" altLang="en-US"/>
              <a:pPr>
                <a:defRPr/>
              </a:pPr>
              <a:t>2018-03-27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643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pPr>
              <a:defRPr/>
            </a:pPr>
            <a:fld id="{9FAF0397-1E63-4BEE-AE82-6522F530A70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656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643" y="0"/>
            <a:ext cx="2945448" cy="496253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B1671ED8-3809-4B06-9EAD-C3D980C23EBE}" type="datetimeFigureOut">
              <a:rPr lang="ko-KR" altLang="en-US" smtClean="0"/>
              <a:pPr/>
              <a:t>2018-03-27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5" y="4715192"/>
            <a:ext cx="5437506" cy="4466274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643" y="9428800"/>
            <a:ext cx="2945448" cy="496252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8A7C340E-E18C-4A02-9B44-DBDB315C4D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65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700" smtClean="0"/>
              <a:t>12-01 </a:t>
            </a:r>
            <a:r>
              <a:rPr lang="ko-KR" altLang="en-US" sz="700" smtClean="0"/>
              <a:t>수정 내역</a:t>
            </a:r>
            <a:endParaRPr lang="en-US" altLang="ko-KR" sz="700" smtClean="0"/>
          </a:p>
          <a:p>
            <a:r>
              <a:rPr lang="en-US" altLang="ko-KR" sz="700" smtClean="0"/>
              <a:t>(4-1) </a:t>
            </a:r>
            <a:r>
              <a:rPr lang="ko-KR" altLang="en-US" sz="700" smtClean="0"/>
              <a:t>일정 간편정보 레이어내 </a:t>
            </a:r>
            <a:r>
              <a:rPr lang="en-US" altLang="ko-KR" sz="700" smtClean="0"/>
              <a:t>[</a:t>
            </a:r>
            <a:r>
              <a:rPr lang="ko-KR" altLang="en-US" sz="700" smtClean="0"/>
              <a:t>삭제</a:t>
            </a:r>
            <a:r>
              <a:rPr lang="en-US" altLang="ko-KR" sz="700" smtClean="0"/>
              <a:t>] </a:t>
            </a:r>
            <a:r>
              <a:rPr lang="ko-KR" altLang="en-US" sz="700" smtClean="0"/>
              <a:t>버튼 추가</a:t>
            </a:r>
            <a:endParaRPr lang="ko-KR" altLang="en-US" sz="7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7C340E-E18C-4A02-9B44-DBDB315C4D6A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916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9174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일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425348" y="670229"/>
            <a:ext cx="1440000" cy="5997270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3" name="직사각형 14"/>
          <p:cNvSpPr/>
          <p:nvPr userDrawn="1"/>
        </p:nvSpPr>
        <p:spPr>
          <a:xfrm>
            <a:off x="52601" y="347472"/>
            <a:ext cx="9177123" cy="3227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39"/>
          <p:cNvSpPr/>
          <p:nvPr userDrawn="1"/>
        </p:nvSpPr>
        <p:spPr>
          <a:xfrm>
            <a:off x="52602" y="347472"/>
            <a:ext cx="367200" cy="632002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339"/>
          <p:cNvSpPr/>
          <p:nvPr userDrawn="1"/>
        </p:nvSpPr>
        <p:spPr>
          <a:xfrm>
            <a:off x="52602" y="347472"/>
            <a:ext cx="367200" cy="3227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Freeform 6"/>
          <p:cNvSpPr>
            <a:spLocks noChangeAspect="1" noChangeArrowheads="1"/>
          </p:cNvSpPr>
          <p:nvPr userDrawn="1"/>
        </p:nvSpPr>
        <p:spPr bwMode="auto">
          <a:xfrm>
            <a:off x="149249" y="435816"/>
            <a:ext cx="174435" cy="147600"/>
          </a:xfrm>
          <a:custGeom>
            <a:avLst/>
            <a:gdLst>
              <a:gd name="T0" fmla="*/ 205 w 514"/>
              <a:gd name="T1" fmla="*/ 435 h 436"/>
              <a:gd name="T2" fmla="*/ 205 w 514"/>
              <a:gd name="T3" fmla="*/ 279 h 436"/>
              <a:gd name="T4" fmla="*/ 308 w 514"/>
              <a:gd name="T5" fmla="*/ 279 h 436"/>
              <a:gd name="T6" fmla="*/ 308 w 514"/>
              <a:gd name="T7" fmla="*/ 435 h 436"/>
              <a:gd name="T8" fmla="*/ 435 w 514"/>
              <a:gd name="T9" fmla="*/ 435 h 436"/>
              <a:gd name="T10" fmla="*/ 435 w 514"/>
              <a:gd name="T11" fmla="*/ 230 h 436"/>
              <a:gd name="T12" fmla="*/ 513 w 514"/>
              <a:gd name="T13" fmla="*/ 230 h 436"/>
              <a:gd name="T14" fmla="*/ 254 w 514"/>
              <a:gd name="T15" fmla="*/ 0 h 436"/>
              <a:gd name="T16" fmla="*/ 0 w 514"/>
              <a:gd name="T17" fmla="*/ 230 h 436"/>
              <a:gd name="T18" fmla="*/ 78 w 514"/>
              <a:gd name="T19" fmla="*/ 230 h 436"/>
              <a:gd name="T20" fmla="*/ 78 w 514"/>
              <a:gd name="T21" fmla="*/ 435 h 436"/>
              <a:gd name="T22" fmla="*/ 205 w 514"/>
              <a:gd name="T23" fmla="*/ 4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14" h="436">
                <a:moveTo>
                  <a:pt x="205" y="435"/>
                </a:moveTo>
                <a:lnTo>
                  <a:pt x="205" y="279"/>
                </a:lnTo>
                <a:lnTo>
                  <a:pt x="308" y="279"/>
                </a:lnTo>
                <a:lnTo>
                  <a:pt x="308" y="435"/>
                </a:lnTo>
                <a:lnTo>
                  <a:pt x="435" y="435"/>
                </a:lnTo>
                <a:lnTo>
                  <a:pt x="435" y="230"/>
                </a:lnTo>
                <a:lnTo>
                  <a:pt x="513" y="230"/>
                </a:lnTo>
                <a:lnTo>
                  <a:pt x="254" y="0"/>
                </a:lnTo>
                <a:lnTo>
                  <a:pt x="0" y="230"/>
                </a:lnTo>
                <a:lnTo>
                  <a:pt x="78" y="230"/>
                </a:lnTo>
                <a:lnTo>
                  <a:pt x="78" y="435"/>
                </a:lnTo>
                <a:lnTo>
                  <a:pt x="205" y="435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6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pSp>
        <p:nvGrpSpPr>
          <p:cNvPr id="28" name="Group 911"/>
          <p:cNvGrpSpPr>
            <a:grpSpLocks noChangeAspect="1"/>
          </p:cNvGrpSpPr>
          <p:nvPr userDrawn="1"/>
        </p:nvGrpSpPr>
        <p:grpSpPr>
          <a:xfrm>
            <a:off x="8121000" y="409850"/>
            <a:ext cx="945986" cy="216000"/>
            <a:chOff x="7109348" y="1300074"/>
            <a:chExt cx="729307" cy="166525"/>
          </a:xfrm>
        </p:grpSpPr>
        <p:grpSp>
          <p:nvGrpSpPr>
            <p:cNvPr id="29" name="Group 912"/>
            <p:cNvGrpSpPr/>
            <p:nvPr/>
          </p:nvGrpSpPr>
          <p:grpSpPr>
            <a:xfrm>
              <a:off x="7109348" y="1300074"/>
              <a:ext cx="166525" cy="166525"/>
              <a:chOff x="7028881" y="1300074"/>
              <a:chExt cx="166525" cy="166525"/>
            </a:xfrm>
          </p:grpSpPr>
          <p:sp>
            <p:nvSpPr>
              <p:cNvPr id="39" name="Oval 922"/>
              <p:cNvSpPr/>
              <p:nvPr/>
            </p:nvSpPr>
            <p:spPr>
              <a:xfrm>
                <a:off x="7028881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sp>
            <p:nvSpPr>
              <p:cNvPr id="40" name="Freeform 21"/>
              <p:cNvSpPr>
                <a:spLocks noChangeAspect="1" noChangeArrowheads="1"/>
              </p:cNvSpPr>
              <p:nvPr/>
            </p:nvSpPr>
            <p:spPr bwMode="auto">
              <a:xfrm>
                <a:off x="7067143" y="1338336"/>
                <a:ext cx="90000" cy="90000"/>
              </a:xfrm>
              <a:custGeom>
                <a:avLst/>
                <a:gdLst>
                  <a:gd name="T0" fmla="*/ 216 w 433"/>
                  <a:gd name="T1" fmla="*/ 216 h 433"/>
                  <a:gd name="T2" fmla="*/ 324 w 433"/>
                  <a:gd name="T3" fmla="*/ 108 h 433"/>
                  <a:gd name="T4" fmla="*/ 216 w 433"/>
                  <a:gd name="T5" fmla="*/ 0 h 433"/>
                  <a:gd name="T6" fmla="*/ 108 w 433"/>
                  <a:gd name="T7" fmla="*/ 108 h 433"/>
                  <a:gd name="T8" fmla="*/ 216 w 433"/>
                  <a:gd name="T9" fmla="*/ 216 h 433"/>
                  <a:gd name="T10" fmla="*/ 216 w 433"/>
                  <a:gd name="T11" fmla="*/ 267 h 433"/>
                  <a:gd name="T12" fmla="*/ 0 w 433"/>
                  <a:gd name="T13" fmla="*/ 375 h 433"/>
                  <a:gd name="T14" fmla="*/ 0 w 433"/>
                  <a:gd name="T15" fmla="*/ 432 h 433"/>
                  <a:gd name="T16" fmla="*/ 432 w 433"/>
                  <a:gd name="T17" fmla="*/ 432 h 433"/>
                  <a:gd name="T18" fmla="*/ 432 w 433"/>
                  <a:gd name="T19" fmla="*/ 375 h 433"/>
                  <a:gd name="T20" fmla="*/ 216 w 433"/>
                  <a:gd name="T21" fmla="*/ 267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3" h="433">
                    <a:moveTo>
                      <a:pt x="216" y="216"/>
                    </a:moveTo>
                    <a:cubicBezTo>
                      <a:pt x="272" y="216"/>
                      <a:pt x="324" y="167"/>
                      <a:pt x="324" y="108"/>
                    </a:cubicBezTo>
                    <a:cubicBezTo>
                      <a:pt x="324" y="49"/>
                      <a:pt x="275" y="0"/>
                      <a:pt x="216" y="0"/>
                    </a:cubicBezTo>
                    <a:cubicBezTo>
                      <a:pt x="157" y="0"/>
                      <a:pt x="108" y="49"/>
                      <a:pt x="108" y="108"/>
                    </a:cubicBezTo>
                    <a:cubicBezTo>
                      <a:pt x="108" y="167"/>
                      <a:pt x="154" y="216"/>
                      <a:pt x="216" y="216"/>
                    </a:cubicBezTo>
                    <a:close/>
                    <a:moveTo>
                      <a:pt x="216" y="267"/>
                    </a:moveTo>
                    <a:cubicBezTo>
                      <a:pt x="144" y="267"/>
                      <a:pt x="0" y="303"/>
                      <a:pt x="0" y="375"/>
                    </a:cubicBezTo>
                    <a:lnTo>
                      <a:pt x="0" y="432"/>
                    </a:lnTo>
                    <a:lnTo>
                      <a:pt x="432" y="432"/>
                    </a:lnTo>
                    <a:lnTo>
                      <a:pt x="432" y="375"/>
                    </a:lnTo>
                    <a:cubicBezTo>
                      <a:pt x="432" y="303"/>
                      <a:pt x="288" y="267"/>
                      <a:pt x="216" y="26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30" name="Group 913"/>
            <p:cNvGrpSpPr/>
            <p:nvPr/>
          </p:nvGrpSpPr>
          <p:grpSpPr>
            <a:xfrm>
              <a:off x="7390739" y="1300074"/>
              <a:ext cx="166525" cy="166525"/>
              <a:chOff x="7342082" y="1300074"/>
              <a:chExt cx="166525" cy="166525"/>
            </a:xfrm>
          </p:grpSpPr>
          <p:sp>
            <p:nvSpPr>
              <p:cNvPr id="37" name="Oval 920"/>
              <p:cNvSpPr/>
              <p:nvPr/>
            </p:nvSpPr>
            <p:spPr>
              <a:xfrm>
                <a:off x="7342082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sp>
            <p:nvSpPr>
              <p:cNvPr id="38" name="Freeform 13"/>
              <p:cNvSpPr>
                <a:spLocks noChangeAspect="1" noChangeArrowheads="1"/>
              </p:cNvSpPr>
              <p:nvPr/>
            </p:nvSpPr>
            <p:spPr bwMode="auto">
              <a:xfrm>
                <a:off x="7384848" y="1330115"/>
                <a:ext cx="90000" cy="106442"/>
              </a:xfrm>
              <a:custGeom>
                <a:avLst/>
                <a:gdLst>
                  <a:gd name="T0" fmla="*/ 226 w 459"/>
                  <a:gd name="T1" fmla="*/ 540 h 541"/>
                  <a:gd name="T2" fmla="*/ 283 w 459"/>
                  <a:gd name="T3" fmla="*/ 488 h 541"/>
                  <a:gd name="T4" fmla="*/ 175 w 459"/>
                  <a:gd name="T5" fmla="*/ 488 h 541"/>
                  <a:gd name="T6" fmla="*/ 226 w 459"/>
                  <a:gd name="T7" fmla="*/ 540 h 541"/>
                  <a:gd name="T8" fmla="*/ 401 w 459"/>
                  <a:gd name="T9" fmla="*/ 380 h 541"/>
                  <a:gd name="T10" fmla="*/ 401 w 459"/>
                  <a:gd name="T11" fmla="*/ 231 h 541"/>
                  <a:gd name="T12" fmla="*/ 268 w 459"/>
                  <a:gd name="T13" fmla="*/ 62 h 541"/>
                  <a:gd name="T14" fmla="*/ 268 w 459"/>
                  <a:gd name="T15" fmla="*/ 41 h 541"/>
                  <a:gd name="T16" fmla="*/ 226 w 459"/>
                  <a:gd name="T17" fmla="*/ 0 h 541"/>
                  <a:gd name="T18" fmla="*/ 191 w 459"/>
                  <a:gd name="T19" fmla="*/ 41 h 541"/>
                  <a:gd name="T20" fmla="*/ 191 w 459"/>
                  <a:gd name="T21" fmla="*/ 62 h 541"/>
                  <a:gd name="T22" fmla="*/ 52 w 459"/>
                  <a:gd name="T23" fmla="*/ 231 h 541"/>
                  <a:gd name="T24" fmla="*/ 52 w 459"/>
                  <a:gd name="T25" fmla="*/ 380 h 541"/>
                  <a:gd name="T26" fmla="*/ 0 w 459"/>
                  <a:gd name="T27" fmla="*/ 432 h 541"/>
                  <a:gd name="T28" fmla="*/ 0 w 459"/>
                  <a:gd name="T29" fmla="*/ 457 h 541"/>
                  <a:gd name="T30" fmla="*/ 458 w 459"/>
                  <a:gd name="T31" fmla="*/ 457 h 541"/>
                  <a:gd name="T32" fmla="*/ 458 w 459"/>
                  <a:gd name="T33" fmla="*/ 432 h 541"/>
                  <a:gd name="T34" fmla="*/ 401 w 459"/>
                  <a:gd name="T35" fmla="*/ 38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9" h="541">
                    <a:moveTo>
                      <a:pt x="226" y="540"/>
                    </a:moveTo>
                    <a:cubicBezTo>
                      <a:pt x="257" y="540"/>
                      <a:pt x="283" y="514"/>
                      <a:pt x="283" y="488"/>
                    </a:cubicBezTo>
                    <a:lnTo>
                      <a:pt x="175" y="488"/>
                    </a:lnTo>
                    <a:cubicBezTo>
                      <a:pt x="175" y="514"/>
                      <a:pt x="201" y="540"/>
                      <a:pt x="226" y="540"/>
                    </a:cubicBezTo>
                    <a:close/>
                    <a:moveTo>
                      <a:pt x="401" y="380"/>
                    </a:moveTo>
                    <a:lnTo>
                      <a:pt x="401" y="231"/>
                    </a:lnTo>
                    <a:cubicBezTo>
                      <a:pt x="401" y="149"/>
                      <a:pt x="345" y="82"/>
                      <a:pt x="268" y="62"/>
                    </a:cubicBezTo>
                    <a:lnTo>
                      <a:pt x="268" y="41"/>
                    </a:lnTo>
                    <a:cubicBezTo>
                      <a:pt x="268" y="21"/>
                      <a:pt x="250" y="0"/>
                      <a:pt x="226" y="0"/>
                    </a:cubicBezTo>
                    <a:cubicBezTo>
                      <a:pt x="203" y="0"/>
                      <a:pt x="191" y="21"/>
                      <a:pt x="191" y="41"/>
                    </a:cubicBezTo>
                    <a:lnTo>
                      <a:pt x="191" y="62"/>
                    </a:lnTo>
                    <a:cubicBezTo>
                      <a:pt x="108" y="82"/>
                      <a:pt x="52" y="149"/>
                      <a:pt x="52" y="231"/>
                    </a:cubicBezTo>
                    <a:lnTo>
                      <a:pt x="52" y="380"/>
                    </a:lnTo>
                    <a:lnTo>
                      <a:pt x="0" y="432"/>
                    </a:lnTo>
                    <a:lnTo>
                      <a:pt x="0" y="457"/>
                    </a:lnTo>
                    <a:lnTo>
                      <a:pt x="458" y="457"/>
                    </a:lnTo>
                    <a:lnTo>
                      <a:pt x="458" y="432"/>
                    </a:lnTo>
                    <a:lnTo>
                      <a:pt x="401" y="38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31" name="Group 914"/>
            <p:cNvGrpSpPr/>
            <p:nvPr/>
          </p:nvGrpSpPr>
          <p:grpSpPr>
            <a:xfrm>
              <a:off x="7672130" y="1300074"/>
              <a:ext cx="166525" cy="166525"/>
              <a:chOff x="7672130" y="1300074"/>
              <a:chExt cx="166525" cy="166525"/>
            </a:xfrm>
          </p:grpSpPr>
          <p:sp>
            <p:nvSpPr>
              <p:cNvPr id="32" name="Oval 915"/>
              <p:cNvSpPr/>
              <p:nvPr/>
            </p:nvSpPr>
            <p:spPr>
              <a:xfrm>
                <a:off x="7672130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grpSp>
            <p:nvGrpSpPr>
              <p:cNvPr id="33" name="그룹 28"/>
              <p:cNvGrpSpPr>
                <a:grpSpLocks noChangeAspect="1"/>
              </p:cNvGrpSpPr>
              <p:nvPr/>
            </p:nvGrpSpPr>
            <p:grpSpPr>
              <a:xfrm>
                <a:off x="7722065" y="1354636"/>
                <a:ext cx="72000" cy="58698"/>
                <a:chOff x="7719003" y="1331958"/>
                <a:chExt cx="143099" cy="116662"/>
              </a:xfrm>
            </p:grpSpPr>
            <p:cxnSp>
              <p:nvCxnSpPr>
                <p:cNvPr id="34" name="직선 연결선[R] 24"/>
                <p:cNvCxnSpPr/>
                <p:nvPr/>
              </p:nvCxnSpPr>
              <p:spPr>
                <a:xfrm>
                  <a:off x="7719003" y="1331958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연결선[R] 25"/>
                <p:cNvCxnSpPr/>
                <p:nvPr/>
              </p:nvCxnSpPr>
              <p:spPr>
                <a:xfrm>
                  <a:off x="7719003" y="1390289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연결선[R] 26"/>
                <p:cNvCxnSpPr/>
                <p:nvPr/>
              </p:nvCxnSpPr>
              <p:spPr>
                <a:xfrm>
                  <a:off x="7719003" y="1448620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1229631" y="80730"/>
            <a:ext cx="3050317" cy="1980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41" name="내용 개체 틀 40"/>
          <p:cNvSpPr>
            <a:spLocks noGrp="1"/>
          </p:cNvSpPr>
          <p:nvPr>
            <p:ph sz="quarter" idx="10"/>
          </p:nvPr>
        </p:nvSpPr>
        <p:spPr>
          <a:xfrm>
            <a:off x="5432670" y="85190"/>
            <a:ext cx="3724711" cy="1908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100988" y="786854"/>
            <a:ext cx="270000" cy="2980511"/>
            <a:chOff x="110414" y="786854"/>
            <a:chExt cx="270000" cy="2980511"/>
          </a:xfrm>
        </p:grpSpPr>
        <p:sp>
          <p:nvSpPr>
            <p:cNvPr id="54" name="타원 374"/>
            <p:cNvSpPr>
              <a:spLocks noChangeAspect="1"/>
            </p:cNvSpPr>
            <p:nvPr/>
          </p:nvSpPr>
          <p:spPr>
            <a:xfrm>
              <a:off x="110414" y="786854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타원 375"/>
            <p:cNvSpPr>
              <a:spLocks noChangeAspect="1"/>
            </p:cNvSpPr>
            <p:nvPr/>
          </p:nvSpPr>
          <p:spPr>
            <a:xfrm>
              <a:off x="110414" y="1124248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타원 376"/>
            <p:cNvSpPr>
              <a:spLocks noChangeAspect="1"/>
            </p:cNvSpPr>
            <p:nvPr/>
          </p:nvSpPr>
          <p:spPr>
            <a:xfrm>
              <a:off x="110414" y="1460103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" name="타원 377"/>
            <p:cNvSpPr>
              <a:spLocks noChangeAspect="1"/>
            </p:cNvSpPr>
            <p:nvPr/>
          </p:nvSpPr>
          <p:spPr>
            <a:xfrm>
              <a:off x="110414" y="1798958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타원 378"/>
            <p:cNvSpPr>
              <a:spLocks noChangeAspect="1"/>
            </p:cNvSpPr>
            <p:nvPr/>
          </p:nvSpPr>
          <p:spPr>
            <a:xfrm>
              <a:off x="110414" y="2138781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" name="타원 379"/>
            <p:cNvSpPr>
              <a:spLocks noChangeAspect="1"/>
            </p:cNvSpPr>
            <p:nvPr/>
          </p:nvSpPr>
          <p:spPr>
            <a:xfrm>
              <a:off x="110414" y="2477636"/>
              <a:ext cx="270000" cy="27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5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일정</a:t>
              </a:r>
            </a:p>
          </p:txBody>
        </p:sp>
        <p:sp>
          <p:nvSpPr>
            <p:cNvPr id="60" name="타원 380"/>
            <p:cNvSpPr>
              <a:spLocks noChangeAspect="1"/>
            </p:cNvSpPr>
            <p:nvPr/>
          </p:nvSpPr>
          <p:spPr>
            <a:xfrm>
              <a:off x="110414" y="2816491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타원 381"/>
            <p:cNvSpPr>
              <a:spLocks noChangeAspect="1"/>
            </p:cNvSpPr>
            <p:nvPr/>
          </p:nvSpPr>
          <p:spPr>
            <a:xfrm>
              <a:off x="110414" y="3156928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" name="타원 382"/>
            <p:cNvSpPr>
              <a:spLocks noChangeAspect="1"/>
            </p:cNvSpPr>
            <p:nvPr/>
          </p:nvSpPr>
          <p:spPr>
            <a:xfrm>
              <a:off x="110414" y="3497365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2" name="내용 개체 틀 8"/>
          <p:cNvSpPr>
            <a:spLocks noGrp="1"/>
          </p:cNvSpPr>
          <p:nvPr>
            <p:ph sz="quarter" idx="11"/>
          </p:nvPr>
        </p:nvSpPr>
        <p:spPr>
          <a:xfrm>
            <a:off x="10140000" y="298292"/>
            <a:ext cx="1944000" cy="216000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3" name="텍스트 상자 44"/>
          <p:cNvSpPr txBox="1"/>
          <p:nvPr userDrawn="1"/>
        </p:nvSpPr>
        <p:spPr>
          <a:xfrm>
            <a:off x="492268" y="350741"/>
            <a:ext cx="962157" cy="3151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일정 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7431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237316" y="85946"/>
            <a:ext cx="3022450" cy="19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ko-KR" altLang="en-US" dirty="0" smtClean="0"/>
              <a:t>마스터 제목 스타일 편집</a:t>
            </a:r>
            <a:endParaRPr kumimoji="1" lang="ko-KR" altLang="en-US" dirty="0"/>
          </a:p>
        </p:txBody>
      </p:sp>
      <p:sp>
        <p:nvSpPr>
          <p:cNvPr id="3" name="내용 개체 틀 3"/>
          <p:cNvSpPr>
            <a:spLocks noGrp="1"/>
          </p:cNvSpPr>
          <p:nvPr>
            <p:ph sz="quarter" idx="10"/>
          </p:nvPr>
        </p:nvSpPr>
        <p:spPr>
          <a:xfrm>
            <a:off x="5437427" y="85946"/>
            <a:ext cx="3679809" cy="1908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내용 개체 틀 8"/>
          <p:cNvSpPr>
            <a:spLocks noGrp="1"/>
          </p:cNvSpPr>
          <p:nvPr>
            <p:ph sz="quarter" idx="11"/>
          </p:nvPr>
        </p:nvSpPr>
        <p:spPr>
          <a:xfrm>
            <a:off x="10140000" y="298292"/>
            <a:ext cx="1944000" cy="216000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0804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/>
          </p:nvPr>
        </p:nvSpPr>
        <p:spPr>
          <a:xfrm>
            <a:off x="1237316" y="85946"/>
            <a:ext cx="3022450" cy="19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ko-KR" altLang="en-US" dirty="0" smtClean="0"/>
              <a:t>마스터 제목 스타일 편집</a:t>
            </a:r>
            <a:endParaRPr kumimoji="1"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0"/>
          </p:nvPr>
        </p:nvSpPr>
        <p:spPr>
          <a:xfrm>
            <a:off x="5437427" y="85946"/>
            <a:ext cx="3679809" cy="1908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" name="내용 개체 틀 8"/>
          <p:cNvSpPr>
            <a:spLocks noGrp="1"/>
          </p:cNvSpPr>
          <p:nvPr>
            <p:ph sz="quarter" idx="11"/>
          </p:nvPr>
        </p:nvSpPr>
        <p:spPr>
          <a:xfrm>
            <a:off x="10140000" y="298292"/>
            <a:ext cx="1944000" cy="216000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39304056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431286" y="670229"/>
            <a:ext cx="1331526" cy="59972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3" name="직사각형 14"/>
          <p:cNvSpPr/>
          <p:nvPr userDrawn="1"/>
        </p:nvSpPr>
        <p:spPr>
          <a:xfrm>
            <a:off x="52601" y="347472"/>
            <a:ext cx="9177123" cy="3227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39"/>
          <p:cNvSpPr/>
          <p:nvPr userDrawn="1"/>
        </p:nvSpPr>
        <p:spPr>
          <a:xfrm>
            <a:off x="52602" y="347472"/>
            <a:ext cx="367200" cy="632002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339"/>
          <p:cNvSpPr/>
          <p:nvPr userDrawn="1"/>
        </p:nvSpPr>
        <p:spPr>
          <a:xfrm>
            <a:off x="52602" y="347472"/>
            <a:ext cx="367200" cy="3227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Freeform 6"/>
          <p:cNvSpPr>
            <a:spLocks noChangeAspect="1" noChangeArrowheads="1"/>
          </p:cNvSpPr>
          <p:nvPr userDrawn="1"/>
        </p:nvSpPr>
        <p:spPr bwMode="auto">
          <a:xfrm>
            <a:off x="149249" y="435816"/>
            <a:ext cx="174435" cy="147600"/>
          </a:xfrm>
          <a:custGeom>
            <a:avLst/>
            <a:gdLst>
              <a:gd name="T0" fmla="*/ 205 w 514"/>
              <a:gd name="T1" fmla="*/ 435 h 436"/>
              <a:gd name="T2" fmla="*/ 205 w 514"/>
              <a:gd name="T3" fmla="*/ 279 h 436"/>
              <a:gd name="T4" fmla="*/ 308 w 514"/>
              <a:gd name="T5" fmla="*/ 279 h 436"/>
              <a:gd name="T6" fmla="*/ 308 w 514"/>
              <a:gd name="T7" fmla="*/ 435 h 436"/>
              <a:gd name="T8" fmla="*/ 435 w 514"/>
              <a:gd name="T9" fmla="*/ 435 h 436"/>
              <a:gd name="T10" fmla="*/ 435 w 514"/>
              <a:gd name="T11" fmla="*/ 230 h 436"/>
              <a:gd name="T12" fmla="*/ 513 w 514"/>
              <a:gd name="T13" fmla="*/ 230 h 436"/>
              <a:gd name="T14" fmla="*/ 254 w 514"/>
              <a:gd name="T15" fmla="*/ 0 h 436"/>
              <a:gd name="T16" fmla="*/ 0 w 514"/>
              <a:gd name="T17" fmla="*/ 230 h 436"/>
              <a:gd name="T18" fmla="*/ 78 w 514"/>
              <a:gd name="T19" fmla="*/ 230 h 436"/>
              <a:gd name="T20" fmla="*/ 78 w 514"/>
              <a:gd name="T21" fmla="*/ 435 h 436"/>
              <a:gd name="T22" fmla="*/ 205 w 514"/>
              <a:gd name="T23" fmla="*/ 4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14" h="436">
                <a:moveTo>
                  <a:pt x="205" y="435"/>
                </a:moveTo>
                <a:lnTo>
                  <a:pt x="205" y="279"/>
                </a:lnTo>
                <a:lnTo>
                  <a:pt x="308" y="279"/>
                </a:lnTo>
                <a:lnTo>
                  <a:pt x="308" y="435"/>
                </a:lnTo>
                <a:lnTo>
                  <a:pt x="435" y="435"/>
                </a:lnTo>
                <a:lnTo>
                  <a:pt x="435" y="230"/>
                </a:lnTo>
                <a:lnTo>
                  <a:pt x="513" y="230"/>
                </a:lnTo>
                <a:lnTo>
                  <a:pt x="254" y="0"/>
                </a:lnTo>
                <a:lnTo>
                  <a:pt x="0" y="230"/>
                </a:lnTo>
                <a:lnTo>
                  <a:pt x="78" y="230"/>
                </a:lnTo>
                <a:lnTo>
                  <a:pt x="78" y="435"/>
                </a:lnTo>
                <a:lnTo>
                  <a:pt x="205" y="435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6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pSp>
        <p:nvGrpSpPr>
          <p:cNvPr id="28" name="Group 911"/>
          <p:cNvGrpSpPr>
            <a:grpSpLocks noChangeAspect="1"/>
          </p:cNvGrpSpPr>
          <p:nvPr userDrawn="1"/>
        </p:nvGrpSpPr>
        <p:grpSpPr>
          <a:xfrm>
            <a:off x="8121000" y="409850"/>
            <a:ext cx="945986" cy="216000"/>
            <a:chOff x="7109348" y="1300074"/>
            <a:chExt cx="729307" cy="166525"/>
          </a:xfrm>
        </p:grpSpPr>
        <p:grpSp>
          <p:nvGrpSpPr>
            <p:cNvPr id="29" name="Group 912"/>
            <p:cNvGrpSpPr/>
            <p:nvPr/>
          </p:nvGrpSpPr>
          <p:grpSpPr>
            <a:xfrm>
              <a:off x="7109348" y="1300074"/>
              <a:ext cx="166525" cy="166525"/>
              <a:chOff x="7028881" y="1300074"/>
              <a:chExt cx="166525" cy="166525"/>
            </a:xfrm>
          </p:grpSpPr>
          <p:sp>
            <p:nvSpPr>
              <p:cNvPr id="39" name="Oval 922"/>
              <p:cNvSpPr/>
              <p:nvPr/>
            </p:nvSpPr>
            <p:spPr>
              <a:xfrm>
                <a:off x="7028881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sp>
            <p:nvSpPr>
              <p:cNvPr id="40" name="Freeform 21"/>
              <p:cNvSpPr>
                <a:spLocks noChangeAspect="1" noChangeArrowheads="1"/>
              </p:cNvSpPr>
              <p:nvPr/>
            </p:nvSpPr>
            <p:spPr bwMode="auto">
              <a:xfrm>
                <a:off x="7067143" y="1338336"/>
                <a:ext cx="90000" cy="90000"/>
              </a:xfrm>
              <a:custGeom>
                <a:avLst/>
                <a:gdLst>
                  <a:gd name="T0" fmla="*/ 216 w 433"/>
                  <a:gd name="T1" fmla="*/ 216 h 433"/>
                  <a:gd name="T2" fmla="*/ 324 w 433"/>
                  <a:gd name="T3" fmla="*/ 108 h 433"/>
                  <a:gd name="T4" fmla="*/ 216 w 433"/>
                  <a:gd name="T5" fmla="*/ 0 h 433"/>
                  <a:gd name="T6" fmla="*/ 108 w 433"/>
                  <a:gd name="T7" fmla="*/ 108 h 433"/>
                  <a:gd name="T8" fmla="*/ 216 w 433"/>
                  <a:gd name="T9" fmla="*/ 216 h 433"/>
                  <a:gd name="T10" fmla="*/ 216 w 433"/>
                  <a:gd name="T11" fmla="*/ 267 h 433"/>
                  <a:gd name="T12" fmla="*/ 0 w 433"/>
                  <a:gd name="T13" fmla="*/ 375 h 433"/>
                  <a:gd name="T14" fmla="*/ 0 w 433"/>
                  <a:gd name="T15" fmla="*/ 432 h 433"/>
                  <a:gd name="T16" fmla="*/ 432 w 433"/>
                  <a:gd name="T17" fmla="*/ 432 h 433"/>
                  <a:gd name="T18" fmla="*/ 432 w 433"/>
                  <a:gd name="T19" fmla="*/ 375 h 433"/>
                  <a:gd name="T20" fmla="*/ 216 w 433"/>
                  <a:gd name="T21" fmla="*/ 267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3" h="433">
                    <a:moveTo>
                      <a:pt x="216" y="216"/>
                    </a:moveTo>
                    <a:cubicBezTo>
                      <a:pt x="272" y="216"/>
                      <a:pt x="324" y="167"/>
                      <a:pt x="324" y="108"/>
                    </a:cubicBezTo>
                    <a:cubicBezTo>
                      <a:pt x="324" y="49"/>
                      <a:pt x="275" y="0"/>
                      <a:pt x="216" y="0"/>
                    </a:cubicBezTo>
                    <a:cubicBezTo>
                      <a:pt x="157" y="0"/>
                      <a:pt x="108" y="49"/>
                      <a:pt x="108" y="108"/>
                    </a:cubicBezTo>
                    <a:cubicBezTo>
                      <a:pt x="108" y="167"/>
                      <a:pt x="154" y="216"/>
                      <a:pt x="216" y="216"/>
                    </a:cubicBezTo>
                    <a:close/>
                    <a:moveTo>
                      <a:pt x="216" y="267"/>
                    </a:moveTo>
                    <a:cubicBezTo>
                      <a:pt x="144" y="267"/>
                      <a:pt x="0" y="303"/>
                      <a:pt x="0" y="375"/>
                    </a:cubicBezTo>
                    <a:lnTo>
                      <a:pt x="0" y="432"/>
                    </a:lnTo>
                    <a:lnTo>
                      <a:pt x="432" y="432"/>
                    </a:lnTo>
                    <a:lnTo>
                      <a:pt x="432" y="375"/>
                    </a:lnTo>
                    <a:cubicBezTo>
                      <a:pt x="432" y="303"/>
                      <a:pt x="288" y="267"/>
                      <a:pt x="216" y="26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30" name="Group 913"/>
            <p:cNvGrpSpPr/>
            <p:nvPr/>
          </p:nvGrpSpPr>
          <p:grpSpPr>
            <a:xfrm>
              <a:off x="7390739" y="1300074"/>
              <a:ext cx="166525" cy="166525"/>
              <a:chOff x="7342082" y="1300074"/>
              <a:chExt cx="166525" cy="166525"/>
            </a:xfrm>
          </p:grpSpPr>
          <p:sp>
            <p:nvSpPr>
              <p:cNvPr id="37" name="Oval 920"/>
              <p:cNvSpPr/>
              <p:nvPr/>
            </p:nvSpPr>
            <p:spPr>
              <a:xfrm>
                <a:off x="7342082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sp>
            <p:nvSpPr>
              <p:cNvPr id="38" name="Freeform 13"/>
              <p:cNvSpPr>
                <a:spLocks noChangeAspect="1" noChangeArrowheads="1"/>
              </p:cNvSpPr>
              <p:nvPr/>
            </p:nvSpPr>
            <p:spPr bwMode="auto">
              <a:xfrm>
                <a:off x="7384848" y="1330115"/>
                <a:ext cx="90000" cy="106442"/>
              </a:xfrm>
              <a:custGeom>
                <a:avLst/>
                <a:gdLst>
                  <a:gd name="T0" fmla="*/ 226 w 459"/>
                  <a:gd name="T1" fmla="*/ 540 h 541"/>
                  <a:gd name="T2" fmla="*/ 283 w 459"/>
                  <a:gd name="T3" fmla="*/ 488 h 541"/>
                  <a:gd name="T4" fmla="*/ 175 w 459"/>
                  <a:gd name="T5" fmla="*/ 488 h 541"/>
                  <a:gd name="T6" fmla="*/ 226 w 459"/>
                  <a:gd name="T7" fmla="*/ 540 h 541"/>
                  <a:gd name="T8" fmla="*/ 401 w 459"/>
                  <a:gd name="T9" fmla="*/ 380 h 541"/>
                  <a:gd name="T10" fmla="*/ 401 w 459"/>
                  <a:gd name="T11" fmla="*/ 231 h 541"/>
                  <a:gd name="T12" fmla="*/ 268 w 459"/>
                  <a:gd name="T13" fmla="*/ 62 h 541"/>
                  <a:gd name="T14" fmla="*/ 268 w 459"/>
                  <a:gd name="T15" fmla="*/ 41 h 541"/>
                  <a:gd name="T16" fmla="*/ 226 w 459"/>
                  <a:gd name="T17" fmla="*/ 0 h 541"/>
                  <a:gd name="T18" fmla="*/ 191 w 459"/>
                  <a:gd name="T19" fmla="*/ 41 h 541"/>
                  <a:gd name="T20" fmla="*/ 191 w 459"/>
                  <a:gd name="T21" fmla="*/ 62 h 541"/>
                  <a:gd name="T22" fmla="*/ 52 w 459"/>
                  <a:gd name="T23" fmla="*/ 231 h 541"/>
                  <a:gd name="T24" fmla="*/ 52 w 459"/>
                  <a:gd name="T25" fmla="*/ 380 h 541"/>
                  <a:gd name="T26" fmla="*/ 0 w 459"/>
                  <a:gd name="T27" fmla="*/ 432 h 541"/>
                  <a:gd name="T28" fmla="*/ 0 w 459"/>
                  <a:gd name="T29" fmla="*/ 457 h 541"/>
                  <a:gd name="T30" fmla="*/ 458 w 459"/>
                  <a:gd name="T31" fmla="*/ 457 h 541"/>
                  <a:gd name="T32" fmla="*/ 458 w 459"/>
                  <a:gd name="T33" fmla="*/ 432 h 541"/>
                  <a:gd name="T34" fmla="*/ 401 w 459"/>
                  <a:gd name="T35" fmla="*/ 38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9" h="541">
                    <a:moveTo>
                      <a:pt x="226" y="540"/>
                    </a:moveTo>
                    <a:cubicBezTo>
                      <a:pt x="257" y="540"/>
                      <a:pt x="283" y="514"/>
                      <a:pt x="283" y="488"/>
                    </a:cubicBezTo>
                    <a:lnTo>
                      <a:pt x="175" y="488"/>
                    </a:lnTo>
                    <a:cubicBezTo>
                      <a:pt x="175" y="514"/>
                      <a:pt x="201" y="540"/>
                      <a:pt x="226" y="540"/>
                    </a:cubicBezTo>
                    <a:close/>
                    <a:moveTo>
                      <a:pt x="401" y="380"/>
                    </a:moveTo>
                    <a:lnTo>
                      <a:pt x="401" y="231"/>
                    </a:lnTo>
                    <a:cubicBezTo>
                      <a:pt x="401" y="149"/>
                      <a:pt x="345" y="82"/>
                      <a:pt x="268" y="62"/>
                    </a:cubicBezTo>
                    <a:lnTo>
                      <a:pt x="268" y="41"/>
                    </a:lnTo>
                    <a:cubicBezTo>
                      <a:pt x="268" y="21"/>
                      <a:pt x="250" y="0"/>
                      <a:pt x="226" y="0"/>
                    </a:cubicBezTo>
                    <a:cubicBezTo>
                      <a:pt x="203" y="0"/>
                      <a:pt x="191" y="21"/>
                      <a:pt x="191" y="41"/>
                    </a:cubicBezTo>
                    <a:lnTo>
                      <a:pt x="191" y="62"/>
                    </a:lnTo>
                    <a:cubicBezTo>
                      <a:pt x="108" y="82"/>
                      <a:pt x="52" y="149"/>
                      <a:pt x="52" y="231"/>
                    </a:cubicBezTo>
                    <a:lnTo>
                      <a:pt x="52" y="380"/>
                    </a:lnTo>
                    <a:lnTo>
                      <a:pt x="0" y="432"/>
                    </a:lnTo>
                    <a:lnTo>
                      <a:pt x="0" y="457"/>
                    </a:lnTo>
                    <a:lnTo>
                      <a:pt x="458" y="457"/>
                    </a:lnTo>
                    <a:lnTo>
                      <a:pt x="458" y="432"/>
                    </a:lnTo>
                    <a:lnTo>
                      <a:pt x="401" y="38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31" name="Group 914"/>
            <p:cNvGrpSpPr/>
            <p:nvPr/>
          </p:nvGrpSpPr>
          <p:grpSpPr>
            <a:xfrm>
              <a:off x="7672130" y="1300074"/>
              <a:ext cx="166525" cy="166525"/>
              <a:chOff x="7672130" y="1300074"/>
              <a:chExt cx="166525" cy="166525"/>
            </a:xfrm>
          </p:grpSpPr>
          <p:sp>
            <p:nvSpPr>
              <p:cNvPr id="32" name="Oval 915"/>
              <p:cNvSpPr/>
              <p:nvPr/>
            </p:nvSpPr>
            <p:spPr>
              <a:xfrm>
                <a:off x="7672130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grpSp>
            <p:nvGrpSpPr>
              <p:cNvPr id="33" name="그룹 28"/>
              <p:cNvGrpSpPr>
                <a:grpSpLocks noChangeAspect="1"/>
              </p:cNvGrpSpPr>
              <p:nvPr/>
            </p:nvGrpSpPr>
            <p:grpSpPr>
              <a:xfrm>
                <a:off x="7722065" y="1354636"/>
                <a:ext cx="72000" cy="58698"/>
                <a:chOff x="7719003" y="1331958"/>
                <a:chExt cx="143099" cy="116662"/>
              </a:xfrm>
            </p:grpSpPr>
            <p:cxnSp>
              <p:nvCxnSpPr>
                <p:cNvPr id="34" name="직선 연결선[R] 24"/>
                <p:cNvCxnSpPr/>
                <p:nvPr/>
              </p:nvCxnSpPr>
              <p:spPr>
                <a:xfrm>
                  <a:off x="7719003" y="1331958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연결선[R] 25"/>
                <p:cNvCxnSpPr/>
                <p:nvPr/>
              </p:nvCxnSpPr>
              <p:spPr>
                <a:xfrm>
                  <a:off x="7719003" y="1390289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연결선[R] 26"/>
                <p:cNvCxnSpPr/>
                <p:nvPr/>
              </p:nvCxnSpPr>
              <p:spPr>
                <a:xfrm>
                  <a:off x="7719003" y="1448620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1229631" y="80730"/>
            <a:ext cx="3050317" cy="1980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41" name="내용 개체 틀 40"/>
          <p:cNvSpPr>
            <a:spLocks noGrp="1"/>
          </p:cNvSpPr>
          <p:nvPr>
            <p:ph sz="quarter" idx="10"/>
          </p:nvPr>
        </p:nvSpPr>
        <p:spPr>
          <a:xfrm>
            <a:off x="5432670" y="85190"/>
            <a:ext cx="3724711" cy="1908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2" name="내용 개체 틀 8"/>
          <p:cNvSpPr>
            <a:spLocks noGrp="1"/>
          </p:cNvSpPr>
          <p:nvPr>
            <p:ph sz="quarter" idx="11"/>
          </p:nvPr>
        </p:nvSpPr>
        <p:spPr>
          <a:xfrm>
            <a:off x="10140000" y="298292"/>
            <a:ext cx="1944000" cy="216000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55089" y="786854"/>
            <a:ext cx="360000" cy="2980511"/>
            <a:chOff x="59802" y="786854"/>
            <a:chExt cx="360000" cy="2980511"/>
          </a:xfrm>
        </p:grpSpPr>
        <p:grpSp>
          <p:nvGrpSpPr>
            <p:cNvPr id="5" name="그룹 4"/>
            <p:cNvGrpSpPr/>
            <p:nvPr userDrawn="1"/>
          </p:nvGrpSpPr>
          <p:grpSpPr>
            <a:xfrm>
              <a:off x="59802" y="786854"/>
              <a:ext cx="360000" cy="2980511"/>
              <a:chOff x="59802" y="786854"/>
              <a:chExt cx="360000" cy="2980511"/>
            </a:xfrm>
          </p:grpSpPr>
          <p:sp>
            <p:nvSpPr>
              <p:cNvPr id="54" name="타원 374"/>
              <p:cNvSpPr>
                <a:spLocks noChangeAspect="1"/>
              </p:cNvSpPr>
              <p:nvPr/>
            </p:nvSpPr>
            <p:spPr>
              <a:xfrm>
                <a:off x="110414" y="786854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5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메일</a:t>
                </a:r>
              </a:p>
            </p:txBody>
          </p:sp>
          <p:sp>
            <p:nvSpPr>
              <p:cNvPr id="55" name="타원 375"/>
              <p:cNvSpPr>
                <a:spLocks noChangeAspect="1"/>
              </p:cNvSpPr>
              <p:nvPr/>
            </p:nvSpPr>
            <p:spPr>
              <a:xfrm>
                <a:off x="110414" y="1124248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5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결재</a:t>
                </a:r>
              </a:p>
            </p:txBody>
          </p:sp>
          <p:sp>
            <p:nvSpPr>
              <p:cNvPr id="56" name="타원 376"/>
              <p:cNvSpPr>
                <a:spLocks noChangeAspect="1"/>
              </p:cNvSpPr>
              <p:nvPr/>
            </p:nvSpPr>
            <p:spPr>
              <a:xfrm>
                <a:off x="110414" y="1460103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7" name="타원 377"/>
              <p:cNvSpPr>
                <a:spLocks noChangeAspect="1"/>
              </p:cNvSpPr>
              <p:nvPr/>
            </p:nvSpPr>
            <p:spPr>
              <a:xfrm>
                <a:off x="110414" y="1798958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타원 378"/>
              <p:cNvSpPr>
                <a:spLocks noChangeAspect="1"/>
              </p:cNvSpPr>
              <p:nvPr/>
            </p:nvSpPr>
            <p:spPr>
              <a:xfrm>
                <a:off x="110414" y="2138781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9" name="타원 379"/>
              <p:cNvSpPr>
                <a:spLocks noChangeAspect="1"/>
              </p:cNvSpPr>
              <p:nvPr/>
            </p:nvSpPr>
            <p:spPr>
              <a:xfrm>
                <a:off x="110414" y="2477636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5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일정</a:t>
                </a:r>
              </a:p>
            </p:txBody>
          </p:sp>
          <p:sp>
            <p:nvSpPr>
              <p:cNvPr id="60" name="타원 380"/>
              <p:cNvSpPr>
                <a:spLocks noChangeAspect="1"/>
              </p:cNvSpPr>
              <p:nvPr/>
            </p:nvSpPr>
            <p:spPr>
              <a:xfrm>
                <a:off x="110414" y="2816491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5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설비</a:t>
                </a:r>
                <a:endParaRPr kumimoji="1" lang="en-US" altLang="ko-KR" sz="65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5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예약</a:t>
                </a:r>
              </a:p>
            </p:txBody>
          </p:sp>
          <p:sp>
            <p:nvSpPr>
              <p:cNvPr id="61" name="타원 381"/>
              <p:cNvSpPr>
                <a:spLocks noChangeAspect="1"/>
              </p:cNvSpPr>
              <p:nvPr/>
            </p:nvSpPr>
            <p:spPr>
              <a:xfrm>
                <a:off x="110414" y="3156928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2" name="타원 382"/>
              <p:cNvSpPr>
                <a:spLocks noChangeAspect="1"/>
              </p:cNvSpPr>
              <p:nvPr/>
            </p:nvSpPr>
            <p:spPr>
              <a:xfrm>
                <a:off x="110414" y="3497365"/>
                <a:ext cx="270000" cy="270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5" name="텍스트 상자 41"/>
              <p:cNvSpPr txBox="1"/>
              <p:nvPr userDrawn="1"/>
            </p:nvSpPr>
            <p:spPr>
              <a:xfrm>
                <a:off x="59802" y="1545089"/>
                <a:ext cx="360000" cy="1000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50" b="0" i="0" u="none" strike="noStrike" kern="1200" cap="none" spc="0" normalizeH="0" baseline="0" noProof="0" dirty="0" err="1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업무넷</a:t>
                </a:r>
                <a:endParaRPr kumimoji="1" lang="ko-KR" altLang="en-US" sz="6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" name="TextBox 8"/>
            <p:cNvSpPr txBox="1"/>
            <p:nvPr userDrawn="1"/>
          </p:nvSpPr>
          <p:spPr>
            <a:xfrm>
              <a:off x="78416" y="1837778"/>
              <a:ext cx="322772" cy="19236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5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스퀘어</a:t>
              </a: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78416" y="2177601"/>
              <a:ext cx="322772" cy="19236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5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게시판</a:t>
              </a: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74816" y="3195748"/>
              <a:ext cx="322772" cy="19236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5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문서함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74816" y="3536185"/>
              <a:ext cx="322772" cy="19236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5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주소록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37503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14"/>
          <p:cNvSpPr/>
          <p:nvPr userDrawn="1"/>
        </p:nvSpPr>
        <p:spPr>
          <a:xfrm>
            <a:off x="52601" y="347472"/>
            <a:ext cx="9177123" cy="3227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39"/>
          <p:cNvSpPr/>
          <p:nvPr userDrawn="1"/>
        </p:nvSpPr>
        <p:spPr>
          <a:xfrm>
            <a:off x="52602" y="347472"/>
            <a:ext cx="367200" cy="632002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339"/>
          <p:cNvSpPr/>
          <p:nvPr userDrawn="1"/>
        </p:nvSpPr>
        <p:spPr>
          <a:xfrm>
            <a:off x="52602" y="347472"/>
            <a:ext cx="367200" cy="3227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Freeform 6"/>
          <p:cNvSpPr>
            <a:spLocks noChangeAspect="1" noChangeArrowheads="1"/>
          </p:cNvSpPr>
          <p:nvPr userDrawn="1"/>
        </p:nvSpPr>
        <p:spPr bwMode="auto">
          <a:xfrm>
            <a:off x="149249" y="435816"/>
            <a:ext cx="174435" cy="147600"/>
          </a:xfrm>
          <a:custGeom>
            <a:avLst/>
            <a:gdLst>
              <a:gd name="T0" fmla="*/ 205 w 514"/>
              <a:gd name="T1" fmla="*/ 435 h 436"/>
              <a:gd name="T2" fmla="*/ 205 w 514"/>
              <a:gd name="T3" fmla="*/ 279 h 436"/>
              <a:gd name="T4" fmla="*/ 308 w 514"/>
              <a:gd name="T5" fmla="*/ 279 h 436"/>
              <a:gd name="T6" fmla="*/ 308 w 514"/>
              <a:gd name="T7" fmla="*/ 435 h 436"/>
              <a:gd name="T8" fmla="*/ 435 w 514"/>
              <a:gd name="T9" fmla="*/ 435 h 436"/>
              <a:gd name="T10" fmla="*/ 435 w 514"/>
              <a:gd name="T11" fmla="*/ 230 h 436"/>
              <a:gd name="T12" fmla="*/ 513 w 514"/>
              <a:gd name="T13" fmla="*/ 230 h 436"/>
              <a:gd name="T14" fmla="*/ 254 w 514"/>
              <a:gd name="T15" fmla="*/ 0 h 436"/>
              <a:gd name="T16" fmla="*/ 0 w 514"/>
              <a:gd name="T17" fmla="*/ 230 h 436"/>
              <a:gd name="T18" fmla="*/ 78 w 514"/>
              <a:gd name="T19" fmla="*/ 230 h 436"/>
              <a:gd name="T20" fmla="*/ 78 w 514"/>
              <a:gd name="T21" fmla="*/ 435 h 436"/>
              <a:gd name="T22" fmla="*/ 205 w 514"/>
              <a:gd name="T23" fmla="*/ 4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14" h="436">
                <a:moveTo>
                  <a:pt x="205" y="435"/>
                </a:moveTo>
                <a:lnTo>
                  <a:pt x="205" y="279"/>
                </a:lnTo>
                <a:lnTo>
                  <a:pt x="308" y="279"/>
                </a:lnTo>
                <a:lnTo>
                  <a:pt x="308" y="435"/>
                </a:lnTo>
                <a:lnTo>
                  <a:pt x="435" y="435"/>
                </a:lnTo>
                <a:lnTo>
                  <a:pt x="435" y="230"/>
                </a:lnTo>
                <a:lnTo>
                  <a:pt x="513" y="230"/>
                </a:lnTo>
                <a:lnTo>
                  <a:pt x="254" y="0"/>
                </a:lnTo>
                <a:lnTo>
                  <a:pt x="0" y="230"/>
                </a:lnTo>
                <a:lnTo>
                  <a:pt x="78" y="230"/>
                </a:lnTo>
                <a:lnTo>
                  <a:pt x="78" y="435"/>
                </a:lnTo>
                <a:lnTo>
                  <a:pt x="205" y="435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6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0" name="텍스트 상자 31"/>
          <p:cNvSpPr txBox="1"/>
          <p:nvPr/>
        </p:nvSpPr>
        <p:spPr>
          <a:xfrm>
            <a:off x="52739" y="1050554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메일</a:t>
            </a:r>
          </a:p>
        </p:txBody>
      </p:sp>
      <p:sp>
        <p:nvSpPr>
          <p:cNvPr id="11" name="텍스트 상자 38"/>
          <p:cNvSpPr txBox="1"/>
          <p:nvPr/>
        </p:nvSpPr>
        <p:spPr>
          <a:xfrm>
            <a:off x="52739" y="1496068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결재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텍스트 상자 41"/>
          <p:cNvSpPr txBox="1"/>
          <p:nvPr/>
        </p:nvSpPr>
        <p:spPr>
          <a:xfrm>
            <a:off x="52739" y="1941582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업무넷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텍스트 상자 44"/>
          <p:cNvSpPr txBox="1"/>
          <p:nvPr/>
        </p:nvSpPr>
        <p:spPr>
          <a:xfrm>
            <a:off x="52739" y="2389985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스퀘어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텍스트 상자 47"/>
          <p:cNvSpPr txBox="1"/>
          <p:nvPr/>
        </p:nvSpPr>
        <p:spPr>
          <a:xfrm>
            <a:off x="52739" y="2828237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게시판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텍스트 상자 50"/>
          <p:cNvSpPr txBox="1"/>
          <p:nvPr/>
        </p:nvSpPr>
        <p:spPr>
          <a:xfrm>
            <a:off x="52739" y="3264450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텍스트 상자 53"/>
          <p:cNvSpPr txBox="1"/>
          <p:nvPr/>
        </p:nvSpPr>
        <p:spPr>
          <a:xfrm>
            <a:off x="52739" y="3718403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텍스트 상자 56"/>
          <p:cNvSpPr txBox="1"/>
          <p:nvPr/>
        </p:nvSpPr>
        <p:spPr>
          <a:xfrm>
            <a:off x="52739" y="4185072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문서함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텍스트 상자 59"/>
          <p:cNvSpPr txBox="1"/>
          <p:nvPr/>
        </p:nvSpPr>
        <p:spPr>
          <a:xfrm>
            <a:off x="52739" y="4641378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주소록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타원 374"/>
          <p:cNvSpPr/>
          <p:nvPr/>
        </p:nvSpPr>
        <p:spPr>
          <a:xfrm>
            <a:off x="110414" y="786854"/>
            <a:ext cx="244650" cy="24465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타원 375"/>
          <p:cNvSpPr/>
          <p:nvPr/>
        </p:nvSpPr>
        <p:spPr>
          <a:xfrm>
            <a:off x="110414" y="1230842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타원 376"/>
          <p:cNvSpPr/>
          <p:nvPr/>
        </p:nvSpPr>
        <p:spPr>
          <a:xfrm>
            <a:off x="110414" y="1676424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타원 377"/>
          <p:cNvSpPr/>
          <p:nvPr/>
        </p:nvSpPr>
        <p:spPr>
          <a:xfrm>
            <a:off x="110414" y="2125120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타원 378"/>
          <p:cNvSpPr/>
          <p:nvPr/>
        </p:nvSpPr>
        <p:spPr>
          <a:xfrm>
            <a:off x="110414" y="2568343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타원 379"/>
          <p:cNvSpPr/>
          <p:nvPr/>
        </p:nvSpPr>
        <p:spPr>
          <a:xfrm>
            <a:off x="110414" y="3000750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타원 380"/>
          <p:cNvSpPr/>
          <p:nvPr/>
        </p:nvSpPr>
        <p:spPr>
          <a:xfrm>
            <a:off x="110414" y="3447476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타원 381"/>
          <p:cNvSpPr/>
          <p:nvPr/>
        </p:nvSpPr>
        <p:spPr>
          <a:xfrm>
            <a:off x="110414" y="3908656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타원 382"/>
          <p:cNvSpPr/>
          <p:nvPr/>
        </p:nvSpPr>
        <p:spPr>
          <a:xfrm>
            <a:off x="110414" y="4370335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4" name="Group 911"/>
          <p:cNvGrpSpPr>
            <a:grpSpLocks noChangeAspect="1"/>
          </p:cNvGrpSpPr>
          <p:nvPr userDrawn="1"/>
        </p:nvGrpSpPr>
        <p:grpSpPr>
          <a:xfrm>
            <a:off x="8121000" y="409850"/>
            <a:ext cx="945986" cy="216000"/>
            <a:chOff x="7109348" y="1300074"/>
            <a:chExt cx="729307" cy="166525"/>
          </a:xfrm>
        </p:grpSpPr>
        <p:grpSp>
          <p:nvGrpSpPr>
            <p:cNvPr id="35" name="Group 912"/>
            <p:cNvGrpSpPr/>
            <p:nvPr/>
          </p:nvGrpSpPr>
          <p:grpSpPr>
            <a:xfrm>
              <a:off x="7109348" y="1300074"/>
              <a:ext cx="166525" cy="166525"/>
              <a:chOff x="7028881" y="1300074"/>
              <a:chExt cx="166525" cy="166525"/>
            </a:xfrm>
          </p:grpSpPr>
          <p:sp>
            <p:nvSpPr>
              <p:cNvPr id="52" name="Oval 922"/>
              <p:cNvSpPr/>
              <p:nvPr/>
            </p:nvSpPr>
            <p:spPr>
              <a:xfrm>
                <a:off x="7028881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sp>
            <p:nvSpPr>
              <p:cNvPr id="53" name="Freeform 21"/>
              <p:cNvSpPr>
                <a:spLocks noChangeAspect="1" noChangeArrowheads="1"/>
              </p:cNvSpPr>
              <p:nvPr/>
            </p:nvSpPr>
            <p:spPr bwMode="auto">
              <a:xfrm>
                <a:off x="7067143" y="1338336"/>
                <a:ext cx="90000" cy="90000"/>
              </a:xfrm>
              <a:custGeom>
                <a:avLst/>
                <a:gdLst>
                  <a:gd name="T0" fmla="*/ 216 w 433"/>
                  <a:gd name="T1" fmla="*/ 216 h 433"/>
                  <a:gd name="T2" fmla="*/ 324 w 433"/>
                  <a:gd name="T3" fmla="*/ 108 h 433"/>
                  <a:gd name="T4" fmla="*/ 216 w 433"/>
                  <a:gd name="T5" fmla="*/ 0 h 433"/>
                  <a:gd name="T6" fmla="*/ 108 w 433"/>
                  <a:gd name="T7" fmla="*/ 108 h 433"/>
                  <a:gd name="T8" fmla="*/ 216 w 433"/>
                  <a:gd name="T9" fmla="*/ 216 h 433"/>
                  <a:gd name="T10" fmla="*/ 216 w 433"/>
                  <a:gd name="T11" fmla="*/ 267 h 433"/>
                  <a:gd name="T12" fmla="*/ 0 w 433"/>
                  <a:gd name="T13" fmla="*/ 375 h 433"/>
                  <a:gd name="T14" fmla="*/ 0 w 433"/>
                  <a:gd name="T15" fmla="*/ 432 h 433"/>
                  <a:gd name="T16" fmla="*/ 432 w 433"/>
                  <a:gd name="T17" fmla="*/ 432 h 433"/>
                  <a:gd name="T18" fmla="*/ 432 w 433"/>
                  <a:gd name="T19" fmla="*/ 375 h 433"/>
                  <a:gd name="T20" fmla="*/ 216 w 433"/>
                  <a:gd name="T21" fmla="*/ 267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3" h="433">
                    <a:moveTo>
                      <a:pt x="216" y="216"/>
                    </a:moveTo>
                    <a:cubicBezTo>
                      <a:pt x="272" y="216"/>
                      <a:pt x="324" y="167"/>
                      <a:pt x="324" y="108"/>
                    </a:cubicBezTo>
                    <a:cubicBezTo>
                      <a:pt x="324" y="49"/>
                      <a:pt x="275" y="0"/>
                      <a:pt x="216" y="0"/>
                    </a:cubicBezTo>
                    <a:cubicBezTo>
                      <a:pt x="157" y="0"/>
                      <a:pt x="108" y="49"/>
                      <a:pt x="108" y="108"/>
                    </a:cubicBezTo>
                    <a:cubicBezTo>
                      <a:pt x="108" y="167"/>
                      <a:pt x="154" y="216"/>
                      <a:pt x="216" y="216"/>
                    </a:cubicBezTo>
                    <a:close/>
                    <a:moveTo>
                      <a:pt x="216" y="267"/>
                    </a:moveTo>
                    <a:cubicBezTo>
                      <a:pt x="144" y="267"/>
                      <a:pt x="0" y="303"/>
                      <a:pt x="0" y="375"/>
                    </a:cubicBezTo>
                    <a:lnTo>
                      <a:pt x="0" y="432"/>
                    </a:lnTo>
                    <a:lnTo>
                      <a:pt x="432" y="432"/>
                    </a:lnTo>
                    <a:lnTo>
                      <a:pt x="432" y="375"/>
                    </a:lnTo>
                    <a:cubicBezTo>
                      <a:pt x="432" y="303"/>
                      <a:pt x="288" y="267"/>
                      <a:pt x="216" y="26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36" name="Group 913"/>
            <p:cNvGrpSpPr/>
            <p:nvPr/>
          </p:nvGrpSpPr>
          <p:grpSpPr>
            <a:xfrm>
              <a:off x="7390739" y="1300074"/>
              <a:ext cx="166525" cy="166525"/>
              <a:chOff x="7342082" y="1300074"/>
              <a:chExt cx="166525" cy="166525"/>
            </a:xfrm>
          </p:grpSpPr>
          <p:sp>
            <p:nvSpPr>
              <p:cNvPr id="47" name="Oval 920"/>
              <p:cNvSpPr/>
              <p:nvPr/>
            </p:nvSpPr>
            <p:spPr>
              <a:xfrm>
                <a:off x="7342082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sp>
            <p:nvSpPr>
              <p:cNvPr id="48" name="Freeform 13"/>
              <p:cNvSpPr>
                <a:spLocks noChangeAspect="1" noChangeArrowheads="1"/>
              </p:cNvSpPr>
              <p:nvPr/>
            </p:nvSpPr>
            <p:spPr bwMode="auto">
              <a:xfrm>
                <a:off x="7384848" y="1330115"/>
                <a:ext cx="90000" cy="106442"/>
              </a:xfrm>
              <a:custGeom>
                <a:avLst/>
                <a:gdLst>
                  <a:gd name="T0" fmla="*/ 226 w 459"/>
                  <a:gd name="T1" fmla="*/ 540 h 541"/>
                  <a:gd name="T2" fmla="*/ 283 w 459"/>
                  <a:gd name="T3" fmla="*/ 488 h 541"/>
                  <a:gd name="T4" fmla="*/ 175 w 459"/>
                  <a:gd name="T5" fmla="*/ 488 h 541"/>
                  <a:gd name="T6" fmla="*/ 226 w 459"/>
                  <a:gd name="T7" fmla="*/ 540 h 541"/>
                  <a:gd name="T8" fmla="*/ 401 w 459"/>
                  <a:gd name="T9" fmla="*/ 380 h 541"/>
                  <a:gd name="T10" fmla="*/ 401 w 459"/>
                  <a:gd name="T11" fmla="*/ 231 h 541"/>
                  <a:gd name="T12" fmla="*/ 268 w 459"/>
                  <a:gd name="T13" fmla="*/ 62 h 541"/>
                  <a:gd name="T14" fmla="*/ 268 w 459"/>
                  <a:gd name="T15" fmla="*/ 41 h 541"/>
                  <a:gd name="T16" fmla="*/ 226 w 459"/>
                  <a:gd name="T17" fmla="*/ 0 h 541"/>
                  <a:gd name="T18" fmla="*/ 191 w 459"/>
                  <a:gd name="T19" fmla="*/ 41 h 541"/>
                  <a:gd name="T20" fmla="*/ 191 w 459"/>
                  <a:gd name="T21" fmla="*/ 62 h 541"/>
                  <a:gd name="T22" fmla="*/ 52 w 459"/>
                  <a:gd name="T23" fmla="*/ 231 h 541"/>
                  <a:gd name="T24" fmla="*/ 52 w 459"/>
                  <a:gd name="T25" fmla="*/ 380 h 541"/>
                  <a:gd name="T26" fmla="*/ 0 w 459"/>
                  <a:gd name="T27" fmla="*/ 432 h 541"/>
                  <a:gd name="T28" fmla="*/ 0 w 459"/>
                  <a:gd name="T29" fmla="*/ 457 h 541"/>
                  <a:gd name="T30" fmla="*/ 458 w 459"/>
                  <a:gd name="T31" fmla="*/ 457 h 541"/>
                  <a:gd name="T32" fmla="*/ 458 w 459"/>
                  <a:gd name="T33" fmla="*/ 432 h 541"/>
                  <a:gd name="T34" fmla="*/ 401 w 459"/>
                  <a:gd name="T35" fmla="*/ 38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9" h="541">
                    <a:moveTo>
                      <a:pt x="226" y="540"/>
                    </a:moveTo>
                    <a:cubicBezTo>
                      <a:pt x="257" y="540"/>
                      <a:pt x="283" y="514"/>
                      <a:pt x="283" y="488"/>
                    </a:cubicBezTo>
                    <a:lnTo>
                      <a:pt x="175" y="488"/>
                    </a:lnTo>
                    <a:cubicBezTo>
                      <a:pt x="175" y="514"/>
                      <a:pt x="201" y="540"/>
                      <a:pt x="226" y="540"/>
                    </a:cubicBezTo>
                    <a:close/>
                    <a:moveTo>
                      <a:pt x="401" y="380"/>
                    </a:moveTo>
                    <a:lnTo>
                      <a:pt x="401" y="231"/>
                    </a:lnTo>
                    <a:cubicBezTo>
                      <a:pt x="401" y="149"/>
                      <a:pt x="345" y="82"/>
                      <a:pt x="268" y="62"/>
                    </a:cubicBezTo>
                    <a:lnTo>
                      <a:pt x="268" y="41"/>
                    </a:lnTo>
                    <a:cubicBezTo>
                      <a:pt x="268" y="21"/>
                      <a:pt x="250" y="0"/>
                      <a:pt x="226" y="0"/>
                    </a:cubicBezTo>
                    <a:cubicBezTo>
                      <a:pt x="203" y="0"/>
                      <a:pt x="191" y="21"/>
                      <a:pt x="191" y="41"/>
                    </a:cubicBezTo>
                    <a:lnTo>
                      <a:pt x="191" y="62"/>
                    </a:lnTo>
                    <a:cubicBezTo>
                      <a:pt x="108" y="82"/>
                      <a:pt x="52" y="149"/>
                      <a:pt x="52" y="231"/>
                    </a:cubicBezTo>
                    <a:lnTo>
                      <a:pt x="52" y="380"/>
                    </a:lnTo>
                    <a:lnTo>
                      <a:pt x="0" y="432"/>
                    </a:lnTo>
                    <a:lnTo>
                      <a:pt x="0" y="457"/>
                    </a:lnTo>
                    <a:lnTo>
                      <a:pt x="458" y="457"/>
                    </a:lnTo>
                    <a:lnTo>
                      <a:pt x="458" y="432"/>
                    </a:lnTo>
                    <a:lnTo>
                      <a:pt x="401" y="38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37" name="Group 914"/>
            <p:cNvGrpSpPr/>
            <p:nvPr/>
          </p:nvGrpSpPr>
          <p:grpSpPr>
            <a:xfrm>
              <a:off x="7672130" y="1300074"/>
              <a:ext cx="166525" cy="166525"/>
              <a:chOff x="7672130" y="1300074"/>
              <a:chExt cx="166525" cy="166525"/>
            </a:xfrm>
          </p:grpSpPr>
          <p:sp>
            <p:nvSpPr>
              <p:cNvPr id="38" name="Oval 915"/>
              <p:cNvSpPr/>
              <p:nvPr/>
            </p:nvSpPr>
            <p:spPr>
              <a:xfrm>
                <a:off x="7672130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grpSp>
            <p:nvGrpSpPr>
              <p:cNvPr id="39" name="그룹 28"/>
              <p:cNvGrpSpPr>
                <a:grpSpLocks noChangeAspect="1"/>
              </p:cNvGrpSpPr>
              <p:nvPr/>
            </p:nvGrpSpPr>
            <p:grpSpPr>
              <a:xfrm>
                <a:off x="7722065" y="1354636"/>
                <a:ext cx="72000" cy="58698"/>
                <a:chOff x="7719003" y="1331958"/>
                <a:chExt cx="143099" cy="116662"/>
              </a:xfrm>
            </p:grpSpPr>
            <p:cxnSp>
              <p:nvCxnSpPr>
                <p:cNvPr id="40" name="직선 연결선[R] 24"/>
                <p:cNvCxnSpPr/>
                <p:nvPr/>
              </p:nvCxnSpPr>
              <p:spPr>
                <a:xfrm>
                  <a:off x="7719003" y="1331958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연결선[R] 25"/>
                <p:cNvCxnSpPr/>
                <p:nvPr/>
              </p:nvCxnSpPr>
              <p:spPr>
                <a:xfrm>
                  <a:off x="7719003" y="1390289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직선 연결선[R] 26"/>
                <p:cNvCxnSpPr/>
                <p:nvPr/>
              </p:nvCxnSpPr>
              <p:spPr>
                <a:xfrm>
                  <a:off x="7719003" y="1448620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1" name="제목 개체 틀 1"/>
          <p:cNvSpPr>
            <a:spLocks noGrp="1"/>
          </p:cNvSpPr>
          <p:nvPr>
            <p:ph type="title"/>
          </p:nvPr>
        </p:nvSpPr>
        <p:spPr>
          <a:xfrm>
            <a:off x="1237316" y="85946"/>
            <a:ext cx="3022450" cy="19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ko-KR" altLang="en-US" dirty="0" smtClean="0"/>
              <a:t>마스터 제목 스타일 편집</a:t>
            </a:r>
            <a:endParaRPr kumimoji="1" lang="ko-KR" altLang="en-US" dirty="0"/>
          </a:p>
        </p:txBody>
      </p:sp>
      <p:sp>
        <p:nvSpPr>
          <p:cNvPr id="42" name="내용 개체 틀 3"/>
          <p:cNvSpPr>
            <a:spLocks noGrp="1"/>
          </p:cNvSpPr>
          <p:nvPr>
            <p:ph sz="quarter" idx="10"/>
          </p:nvPr>
        </p:nvSpPr>
        <p:spPr>
          <a:xfrm>
            <a:off x="5437427" y="85946"/>
            <a:ext cx="3679809" cy="1908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3" name="내용 개체 틀 8"/>
          <p:cNvSpPr>
            <a:spLocks noGrp="1"/>
          </p:cNvSpPr>
          <p:nvPr>
            <p:ph sz="quarter" idx="11"/>
          </p:nvPr>
        </p:nvSpPr>
        <p:spPr>
          <a:xfrm>
            <a:off x="10140000" y="298292"/>
            <a:ext cx="1944000" cy="216000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6088376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설비예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421860" y="670229"/>
            <a:ext cx="1440000" cy="5997270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3" name="직사각형 14"/>
          <p:cNvSpPr/>
          <p:nvPr userDrawn="1"/>
        </p:nvSpPr>
        <p:spPr>
          <a:xfrm>
            <a:off x="52601" y="347472"/>
            <a:ext cx="9177123" cy="3227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39"/>
          <p:cNvSpPr/>
          <p:nvPr userDrawn="1"/>
        </p:nvSpPr>
        <p:spPr>
          <a:xfrm>
            <a:off x="52602" y="347472"/>
            <a:ext cx="367200" cy="632002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339"/>
          <p:cNvSpPr/>
          <p:nvPr userDrawn="1"/>
        </p:nvSpPr>
        <p:spPr>
          <a:xfrm>
            <a:off x="52602" y="347472"/>
            <a:ext cx="367200" cy="3227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Freeform 6"/>
          <p:cNvSpPr>
            <a:spLocks noChangeAspect="1" noChangeArrowheads="1"/>
          </p:cNvSpPr>
          <p:nvPr userDrawn="1"/>
        </p:nvSpPr>
        <p:spPr bwMode="auto">
          <a:xfrm>
            <a:off x="149249" y="435816"/>
            <a:ext cx="174435" cy="147600"/>
          </a:xfrm>
          <a:custGeom>
            <a:avLst/>
            <a:gdLst>
              <a:gd name="T0" fmla="*/ 205 w 514"/>
              <a:gd name="T1" fmla="*/ 435 h 436"/>
              <a:gd name="T2" fmla="*/ 205 w 514"/>
              <a:gd name="T3" fmla="*/ 279 h 436"/>
              <a:gd name="T4" fmla="*/ 308 w 514"/>
              <a:gd name="T5" fmla="*/ 279 h 436"/>
              <a:gd name="T6" fmla="*/ 308 w 514"/>
              <a:gd name="T7" fmla="*/ 435 h 436"/>
              <a:gd name="T8" fmla="*/ 435 w 514"/>
              <a:gd name="T9" fmla="*/ 435 h 436"/>
              <a:gd name="T10" fmla="*/ 435 w 514"/>
              <a:gd name="T11" fmla="*/ 230 h 436"/>
              <a:gd name="T12" fmla="*/ 513 w 514"/>
              <a:gd name="T13" fmla="*/ 230 h 436"/>
              <a:gd name="T14" fmla="*/ 254 w 514"/>
              <a:gd name="T15" fmla="*/ 0 h 436"/>
              <a:gd name="T16" fmla="*/ 0 w 514"/>
              <a:gd name="T17" fmla="*/ 230 h 436"/>
              <a:gd name="T18" fmla="*/ 78 w 514"/>
              <a:gd name="T19" fmla="*/ 230 h 436"/>
              <a:gd name="T20" fmla="*/ 78 w 514"/>
              <a:gd name="T21" fmla="*/ 435 h 436"/>
              <a:gd name="T22" fmla="*/ 205 w 514"/>
              <a:gd name="T23" fmla="*/ 4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14" h="436">
                <a:moveTo>
                  <a:pt x="205" y="435"/>
                </a:moveTo>
                <a:lnTo>
                  <a:pt x="205" y="279"/>
                </a:lnTo>
                <a:lnTo>
                  <a:pt x="308" y="279"/>
                </a:lnTo>
                <a:lnTo>
                  <a:pt x="308" y="435"/>
                </a:lnTo>
                <a:lnTo>
                  <a:pt x="435" y="435"/>
                </a:lnTo>
                <a:lnTo>
                  <a:pt x="435" y="230"/>
                </a:lnTo>
                <a:lnTo>
                  <a:pt x="513" y="230"/>
                </a:lnTo>
                <a:lnTo>
                  <a:pt x="254" y="0"/>
                </a:lnTo>
                <a:lnTo>
                  <a:pt x="0" y="230"/>
                </a:lnTo>
                <a:lnTo>
                  <a:pt x="78" y="230"/>
                </a:lnTo>
                <a:lnTo>
                  <a:pt x="78" y="435"/>
                </a:lnTo>
                <a:lnTo>
                  <a:pt x="205" y="435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6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pSp>
        <p:nvGrpSpPr>
          <p:cNvPr id="28" name="Group 911"/>
          <p:cNvGrpSpPr>
            <a:grpSpLocks noChangeAspect="1"/>
          </p:cNvGrpSpPr>
          <p:nvPr userDrawn="1"/>
        </p:nvGrpSpPr>
        <p:grpSpPr>
          <a:xfrm>
            <a:off x="8121000" y="409850"/>
            <a:ext cx="945986" cy="216000"/>
            <a:chOff x="7109348" y="1300074"/>
            <a:chExt cx="729307" cy="166525"/>
          </a:xfrm>
        </p:grpSpPr>
        <p:grpSp>
          <p:nvGrpSpPr>
            <p:cNvPr id="29" name="Group 912"/>
            <p:cNvGrpSpPr/>
            <p:nvPr/>
          </p:nvGrpSpPr>
          <p:grpSpPr>
            <a:xfrm>
              <a:off x="7109348" y="1300074"/>
              <a:ext cx="166525" cy="166525"/>
              <a:chOff x="7028881" y="1300074"/>
              <a:chExt cx="166525" cy="166525"/>
            </a:xfrm>
          </p:grpSpPr>
          <p:sp>
            <p:nvSpPr>
              <p:cNvPr id="39" name="Oval 922"/>
              <p:cNvSpPr/>
              <p:nvPr/>
            </p:nvSpPr>
            <p:spPr>
              <a:xfrm>
                <a:off x="7028881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sp>
            <p:nvSpPr>
              <p:cNvPr id="40" name="Freeform 21"/>
              <p:cNvSpPr>
                <a:spLocks noChangeAspect="1" noChangeArrowheads="1"/>
              </p:cNvSpPr>
              <p:nvPr/>
            </p:nvSpPr>
            <p:spPr bwMode="auto">
              <a:xfrm>
                <a:off x="7067143" y="1338336"/>
                <a:ext cx="90000" cy="90000"/>
              </a:xfrm>
              <a:custGeom>
                <a:avLst/>
                <a:gdLst>
                  <a:gd name="T0" fmla="*/ 216 w 433"/>
                  <a:gd name="T1" fmla="*/ 216 h 433"/>
                  <a:gd name="T2" fmla="*/ 324 w 433"/>
                  <a:gd name="T3" fmla="*/ 108 h 433"/>
                  <a:gd name="T4" fmla="*/ 216 w 433"/>
                  <a:gd name="T5" fmla="*/ 0 h 433"/>
                  <a:gd name="T6" fmla="*/ 108 w 433"/>
                  <a:gd name="T7" fmla="*/ 108 h 433"/>
                  <a:gd name="T8" fmla="*/ 216 w 433"/>
                  <a:gd name="T9" fmla="*/ 216 h 433"/>
                  <a:gd name="T10" fmla="*/ 216 w 433"/>
                  <a:gd name="T11" fmla="*/ 267 h 433"/>
                  <a:gd name="T12" fmla="*/ 0 w 433"/>
                  <a:gd name="T13" fmla="*/ 375 h 433"/>
                  <a:gd name="T14" fmla="*/ 0 w 433"/>
                  <a:gd name="T15" fmla="*/ 432 h 433"/>
                  <a:gd name="T16" fmla="*/ 432 w 433"/>
                  <a:gd name="T17" fmla="*/ 432 h 433"/>
                  <a:gd name="T18" fmla="*/ 432 w 433"/>
                  <a:gd name="T19" fmla="*/ 375 h 433"/>
                  <a:gd name="T20" fmla="*/ 216 w 433"/>
                  <a:gd name="T21" fmla="*/ 267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3" h="433">
                    <a:moveTo>
                      <a:pt x="216" y="216"/>
                    </a:moveTo>
                    <a:cubicBezTo>
                      <a:pt x="272" y="216"/>
                      <a:pt x="324" y="167"/>
                      <a:pt x="324" y="108"/>
                    </a:cubicBezTo>
                    <a:cubicBezTo>
                      <a:pt x="324" y="49"/>
                      <a:pt x="275" y="0"/>
                      <a:pt x="216" y="0"/>
                    </a:cubicBezTo>
                    <a:cubicBezTo>
                      <a:pt x="157" y="0"/>
                      <a:pt x="108" y="49"/>
                      <a:pt x="108" y="108"/>
                    </a:cubicBezTo>
                    <a:cubicBezTo>
                      <a:pt x="108" y="167"/>
                      <a:pt x="154" y="216"/>
                      <a:pt x="216" y="216"/>
                    </a:cubicBezTo>
                    <a:close/>
                    <a:moveTo>
                      <a:pt x="216" y="267"/>
                    </a:moveTo>
                    <a:cubicBezTo>
                      <a:pt x="144" y="267"/>
                      <a:pt x="0" y="303"/>
                      <a:pt x="0" y="375"/>
                    </a:cubicBezTo>
                    <a:lnTo>
                      <a:pt x="0" y="432"/>
                    </a:lnTo>
                    <a:lnTo>
                      <a:pt x="432" y="432"/>
                    </a:lnTo>
                    <a:lnTo>
                      <a:pt x="432" y="375"/>
                    </a:lnTo>
                    <a:cubicBezTo>
                      <a:pt x="432" y="303"/>
                      <a:pt x="288" y="267"/>
                      <a:pt x="216" y="26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30" name="Group 913"/>
            <p:cNvGrpSpPr/>
            <p:nvPr/>
          </p:nvGrpSpPr>
          <p:grpSpPr>
            <a:xfrm>
              <a:off x="7390739" y="1300074"/>
              <a:ext cx="166525" cy="166525"/>
              <a:chOff x="7342082" y="1300074"/>
              <a:chExt cx="166525" cy="166525"/>
            </a:xfrm>
          </p:grpSpPr>
          <p:sp>
            <p:nvSpPr>
              <p:cNvPr id="37" name="Oval 920"/>
              <p:cNvSpPr/>
              <p:nvPr/>
            </p:nvSpPr>
            <p:spPr>
              <a:xfrm>
                <a:off x="7342082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sp>
            <p:nvSpPr>
              <p:cNvPr id="38" name="Freeform 13"/>
              <p:cNvSpPr>
                <a:spLocks noChangeAspect="1" noChangeArrowheads="1"/>
              </p:cNvSpPr>
              <p:nvPr/>
            </p:nvSpPr>
            <p:spPr bwMode="auto">
              <a:xfrm>
                <a:off x="7384848" y="1330115"/>
                <a:ext cx="90000" cy="106442"/>
              </a:xfrm>
              <a:custGeom>
                <a:avLst/>
                <a:gdLst>
                  <a:gd name="T0" fmla="*/ 226 w 459"/>
                  <a:gd name="T1" fmla="*/ 540 h 541"/>
                  <a:gd name="T2" fmla="*/ 283 w 459"/>
                  <a:gd name="T3" fmla="*/ 488 h 541"/>
                  <a:gd name="T4" fmla="*/ 175 w 459"/>
                  <a:gd name="T5" fmla="*/ 488 h 541"/>
                  <a:gd name="T6" fmla="*/ 226 w 459"/>
                  <a:gd name="T7" fmla="*/ 540 h 541"/>
                  <a:gd name="T8" fmla="*/ 401 w 459"/>
                  <a:gd name="T9" fmla="*/ 380 h 541"/>
                  <a:gd name="T10" fmla="*/ 401 w 459"/>
                  <a:gd name="T11" fmla="*/ 231 h 541"/>
                  <a:gd name="T12" fmla="*/ 268 w 459"/>
                  <a:gd name="T13" fmla="*/ 62 h 541"/>
                  <a:gd name="T14" fmla="*/ 268 w 459"/>
                  <a:gd name="T15" fmla="*/ 41 h 541"/>
                  <a:gd name="T16" fmla="*/ 226 w 459"/>
                  <a:gd name="T17" fmla="*/ 0 h 541"/>
                  <a:gd name="T18" fmla="*/ 191 w 459"/>
                  <a:gd name="T19" fmla="*/ 41 h 541"/>
                  <a:gd name="T20" fmla="*/ 191 w 459"/>
                  <a:gd name="T21" fmla="*/ 62 h 541"/>
                  <a:gd name="T22" fmla="*/ 52 w 459"/>
                  <a:gd name="T23" fmla="*/ 231 h 541"/>
                  <a:gd name="T24" fmla="*/ 52 w 459"/>
                  <a:gd name="T25" fmla="*/ 380 h 541"/>
                  <a:gd name="T26" fmla="*/ 0 w 459"/>
                  <a:gd name="T27" fmla="*/ 432 h 541"/>
                  <a:gd name="T28" fmla="*/ 0 w 459"/>
                  <a:gd name="T29" fmla="*/ 457 h 541"/>
                  <a:gd name="T30" fmla="*/ 458 w 459"/>
                  <a:gd name="T31" fmla="*/ 457 h 541"/>
                  <a:gd name="T32" fmla="*/ 458 w 459"/>
                  <a:gd name="T33" fmla="*/ 432 h 541"/>
                  <a:gd name="T34" fmla="*/ 401 w 459"/>
                  <a:gd name="T35" fmla="*/ 38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9" h="541">
                    <a:moveTo>
                      <a:pt x="226" y="540"/>
                    </a:moveTo>
                    <a:cubicBezTo>
                      <a:pt x="257" y="540"/>
                      <a:pt x="283" y="514"/>
                      <a:pt x="283" y="488"/>
                    </a:cubicBezTo>
                    <a:lnTo>
                      <a:pt x="175" y="488"/>
                    </a:lnTo>
                    <a:cubicBezTo>
                      <a:pt x="175" y="514"/>
                      <a:pt x="201" y="540"/>
                      <a:pt x="226" y="540"/>
                    </a:cubicBezTo>
                    <a:close/>
                    <a:moveTo>
                      <a:pt x="401" y="380"/>
                    </a:moveTo>
                    <a:lnTo>
                      <a:pt x="401" y="231"/>
                    </a:lnTo>
                    <a:cubicBezTo>
                      <a:pt x="401" y="149"/>
                      <a:pt x="345" y="82"/>
                      <a:pt x="268" y="62"/>
                    </a:cubicBezTo>
                    <a:lnTo>
                      <a:pt x="268" y="41"/>
                    </a:lnTo>
                    <a:cubicBezTo>
                      <a:pt x="268" y="21"/>
                      <a:pt x="250" y="0"/>
                      <a:pt x="226" y="0"/>
                    </a:cubicBezTo>
                    <a:cubicBezTo>
                      <a:pt x="203" y="0"/>
                      <a:pt x="191" y="21"/>
                      <a:pt x="191" y="41"/>
                    </a:cubicBezTo>
                    <a:lnTo>
                      <a:pt x="191" y="62"/>
                    </a:lnTo>
                    <a:cubicBezTo>
                      <a:pt x="108" y="82"/>
                      <a:pt x="52" y="149"/>
                      <a:pt x="52" y="231"/>
                    </a:cubicBezTo>
                    <a:lnTo>
                      <a:pt x="52" y="380"/>
                    </a:lnTo>
                    <a:lnTo>
                      <a:pt x="0" y="432"/>
                    </a:lnTo>
                    <a:lnTo>
                      <a:pt x="0" y="457"/>
                    </a:lnTo>
                    <a:lnTo>
                      <a:pt x="458" y="457"/>
                    </a:lnTo>
                    <a:lnTo>
                      <a:pt x="458" y="432"/>
                    </a:lnTo>
                    <a:lnTo>
                      <a:pt x="401" y="38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31" name="Group 914"/>
            <p:cNvGrpSpPr/>
            <p:nvPr/>
          </p:nvGrpSpPr>
          <p:grpSpPr>
            <a:xfrm>
              <a:off x="7672130" y="1300074"/>
              <a:ext cx="166525" cy="166525"/>
              <a:chOff x="7672130" y="1300074"/>
              <a:chExt cx="166525" cy="166525"/>
            </a:xfrm>
          </p:grpSpPr>
          <p:sp>
            <p:nvSpPr>
              <p:cNvPr id="32" name="Oval 915"/>
              <p:cNvSpPr/>
              <p:nvPr/>
            </p:nvSpPr>
            <p:spPr>
              <a:xfrm>
                <a:off x="7672130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grpSp>
            <p:nvGrpSpPr>
              <p:cNvPr id="33" name="그룹 28"/>
              <p:cNvGrpSpPr>
                <a:grpSpLocks noChangeAspect="1"/>
              </p:cNvGrpSpPr>
              <p:nvPr/>
            </p:nvGrpSpPr>
            <p:grpSpPr>
              <a:xfrm>
                <a:off x="7722065" y="1354636"/>
                <a:ext cx="72000" cy="58698"/>
                <a:chOff x="7719003" y="1331958"/>
                <a:chExt cx="143099" cy="116662"/>
              </a:xfrm>
            </p:grpSpPr>
            <p:cxnSp>
              <p:nvCxnSpPr>
                <p:cNvPr id="34" name="직선 연결선[R] 24"/>
                <p:cNvCxnSpPr/>
                <p:nvPr/>
              </p:nvCxnSpPr>
              <p:spPr>
                <a:xfrm>
                  <a:off x="7719003" y="1331958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연결선[R] 25"/>
                <p:cNvCxnSpPr/>
                <p:nvPr/>
              </p:nvCxnSpPr>
              <p:spPr>
                <a:xfrm>
                  <a:off x="7719003" y="1390289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연결선[R] 26"/>
                <p:cNvCxnSpPr/>
                <p:nvPr/>
              </p:nvCxnSpPr>
              <p:spPr>
                <a:xfrm>
                  <a:off x="7719003" y="1448620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1229631" y="80730"/>
            <a:ext cx="3050317" cy="1980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41" name="내용 개체 틀 40"/>
          <p:cNvSpPr>
            <a:spLocks noGrp="1"/>
          </p:cNvSpPr>
          <p:nvPr>
            <p:ph sz="quarter" idx="10"/>
          </p:nvPr>
        </p:nvSpPr>
        <p:spPr>
          <a:xfrm>
            <a:off x="5432670" y="85190"/>
            <a:ext cx="3724711" cy="190800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100988" y="786854"/>
            <a:ext cx="270000" cy="2980511"/>
            <a:chOff x="110414" y="786854"/>
            <a:chExt cx="270000" cy="2980511"/>
          </a:xfrm>
        </p:grpSpPr>
        <p:sp>
          <p:nvSpPr>
            <p:cNvPr id="54" name="타원 374"/>
            <p:cNvSpPr>
              <a:spLocks noChangeAspect="1"/>
            </p:cNvSpPr>
            <p:nvPr/>
          </p:nvSpPr>
          <p:spPr>
            <a:xfrm>
              <a:off x="110414" y="786854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타원 375"/>
            <p:cNvSpPr>
              <a:spLocks noChangeAspect="1"/>
            </p:cNvSpPr>
            <p:nvPr/>
          </p:nvSpPr>
          <p:spPr>
            <a:xfrm>
              <a:off x="110414" y="1124248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타원 376"/>
            <p:cNvSpPr>
              <a:spLocks noChangeAspect="1"/>
            </p:cNvSpPr>
            <p:nvPr/>
          </p:nvSpPr>
          <p:spPr>
            <a:xfrm>
              <a:off x="110414" y="1460103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" name="타원 377"/>
            <p:cNvSpPr>
              <a:spLocks noChangeAspect="1"/>
            </p:cNvSpPr>
            <p:nvPr/>
          </p:nvSpPr>
          <p:spPr>
            <a:xfrm>
              <a:off x="110414" y="1798958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타원 378"/>
            <p:cNvSpPr>
              <a:spLocks noChangeAspect="1"/>
            </p:cNvSpPr>
            <p:nvPr/>
          </p:nvSpPr>
          <p:spPr>
            <a:xfrm>
              <a:off x="110414" y="2138781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" name="타원 379"/>
            <p:cNvSpPr>
              <a:spLocks noChangeAspect="1"/>
            </p:cNvSpPr>
            <p:nvPr/>
          </p:nvSpPr>
          <p:spPr>
            <a:xfrm>
              <a:off x="110414" y="2477636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타원 380"/>
            <p:cNvSpPr>
              <a:spLocks noChangeAspect="1"/>
            </p:cNvSpPr>
            <p:nvPr/>
          </p:nvSpPr>
          <p:spPr>
            <a:xfrm>
              <a:off x="110414" y="2816491"/>
              <a:ext cx="270000" cy="27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5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설비</a:t>
              </a:r>
              <a:endParaRPr kumimoji="1" lang="en-US" altLang="ko-KR" sz="65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5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예약</a:t>
              </a:r>
            </a:p>
          </p:txBody>
        </p:sp>
        <p:sp>
          <p:nvSpPr>
            <p:cNvPr id="61" name="타원 381"/>
            <p:cNvSpPr>
              <a:spLocks noChangeAspect="1"/>
            </p:cNvSpPr>
            <p:nvPr/>
          </p:nvSpPr>
          <p:spPr>
            <a:xfrm>
              <a:off x="110414" y="3156928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" name="타원 382"/>
            <p:cNvSpPr>
              <a:spLocks noChangeAspect="1"/>
            </p:cNvSpPr>
            <p:nvPr/>
          </p:nvSpPr>
          <p:spPr>
            <a:xfrm>
              <a:off x="110414" y="3497365"/>
              <a:ext cx="270000" cy="27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2" name="내용 개체 틀 8"/>
          <p:cNvSpPr>
            <a:spLocks noGrp="1"/>
          </p:cNvSpPr>
          <p:nvPr>
            <p:ph sz="quarter" idx="11"/>
          </p:nvPr>
        </p:nvSpPr>
        <p:spPr>
          <a:xfrm>
            <a:off x="10140000" y="298292"/>
            <a:ext cx="1944000" cy="216000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4" name="텍스트 상자 44"/>
          <p:cNvSpPr txBox="1"/>
          <p:nvPr userDrawn="1"/>
        </p:nvSpPr>
        <p:spPr>
          <a:xfrm>
            <a:off x="492268" y="350741"/>
            <a:ext cx="962157" cy="31515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설비예약 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5" name="그룹 44"/>
          <p:cNvGrpSpPr/>
          <p:nvPr userDrawn="1"/>
        </p:nvGrpSpPr>
        <p:grpSpPr>
          <a:xfrm>
            <a:off x="4913335" y="400849"/>
            <a:ext cx="2968666" cy="216000"/>
            <a:chOff x="2305531" y="1344167"/>
            <a:chExt cx="2968666" cy="216000"/>
          </a:xfrm>
        </p:grpSpPr>
        <p:sp>
          <p:nvSpPr>
            <p:cNvPr id="46" name="모서리가 둥근 직사각형 45"/>
            <p:cNvSpPr/>
            <p:nvPr/>
          </p:nvSpPr>
          <p:spPr>
            <a:xfrm>
              <a:off x="2305531" y="1344167"/>
              <a:ext cx="2968666" cy="21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grpSp>
          <p:nvGrpSpPr>
            <p:cNvPr id="47" name="그룹 46"/>
            <p:cNvGrpSpPr/>
            <p:nvPr/>
          </p:nvGrpSpPr>
          <p:grpSpPr>
            <a:xfrm>
              <a:off x="4636890" y="1394161"/>
              <a:ext cx="168394" cy="108132"/>
              <a:chOff x="4618366" y="4969558"/>
              <a:chExt cx="168394" cy="108132"/>
            </a:xfrm>
          </p:grpSpPr>
          <p:sp>
            <p:nvSpPr>
              <p:cNvPr id="50" name="Freeform 10"/>
              <p:cNvSpPr>
                <a:spLocks noChangeAspect="1" noChangeArrowheads="1"/>
              </p:cNvSpPr>
              <p:nvPr/>
            </p:nvSpPr>
            <p:spPr bwMode="auto">
              <a:xfrm>
                <a:off x="4618366" y="4969558"/>
                <a:ext cx="108197" cy="108000"/>
              </a:xfrm>
              <a:custGeom>
                <a:avLst/>
                <a:gdLst>
                  <a:gd name="T0" fmla="*/ 332 w 471"/>
                  <a:gd name="T1" fmla="*/ 296 h 471"/>
                  <a:gd name="T2" fmla="*/ 312 w 471"/>
                  <a:gd name="T3" fmla="*/ 296 h 471"/>
                  <a:gd name="T4" fmla="*/ 307 w 471"/>
                  <a:gd name="T5" fmla="*/ 286 h 471"/>
                  <a:gd name="T6" fmla="*/ 348 w 471"/>
                  <a:gd name="T7" fmla="*/ 173 h 471"/>
                  <a:gd name="T8" fmla="*/ 174 w 471"/>
                  <a:gd name="T9" fmla="*/ 0 h 471"/>
                  <a:gd name="T10" fmla="*/ 0 w 471"/>
                  <a:gd name="T11" fmla="*/ 173 h 471"/>
                  <a:gd name="T12" fmla="*/ 174 w 471"/>
                  <a:gd name="T13" fmla="*/ 347 h 471"/>
                  <a:gd name="T14" fmla="*/ 286 w 471"/>
                  <a:gd name="T15" fmla="*/ 306 h 471"/>
                  <a:gd name="T16" fmla="*/ 296 w 471"/>
                  <a:gd name="T17" fmla="*/ 311 h 471"/>
                  <a:gd name="T18" fmla="*/ 296 w 471"/>
                  <a:gd name="T19" fmla="*/ 337 h 471"/>
                  <a:gd name="T20" fmla="*/ 429 w 471"/>
                  <a:gd name="T21" fmla="*/ 470 h 471"/>
                  <a:gd name="T22" fmla="*/ 470 w 471"/>
                  <a:gd name="T23" fmla="*/ 429 h 471"/>
                  <a:gd name="T24" fmla="*/ 332 w 471"/>
                  <a:gd name="T25" fmla="*/ 296 h 471"/>
                  <a:gd name="T26" fmla="*/ 174 w 471"/>
                  <a:gd name="T27" fmla="*/ 296 h 471"/>
                  <a:gd name="T28" fmla="*/ 56 w 471"/>
                  <a:gd name="T29" fmla="*/ 173 h 471"/>
                  <a:gd name="T30" fmla="*/ 174 w 471"/>
                  <a:gd name="T31" fmla="*/ 56 h 471"/>
                  <a:gd name="T32" fmla="*/ 296 w 471"/>
                  <a:gd name="T33" fmla="*/ 173 h 471"/>
                  <a:gd name="T34" fmla="*/ 174 w 471"/>
                  <a:gd name="T35" fmla="*/ 296 h 4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71" h="471">
                    <a:moveTo>
                      <a:pt x="332" y="296"/>
                    </a:moveTo>
                    <a:lnTo>
                      <a:pt x="312" y="296"/>
                    </a:lnTo>
                    <a:lnTo>
                      <a:pt x="307" y="286"/>
                    </a:lnTo>
                    <a:cubicBezTo>
                      <a:pt x="332" y="255"/>
                      <a:pt x="348" y="219"/>
                      <a:pt x="348" y="173"/>
                    </a:cubicBezTo>
                    <a:cubicBezTo>
                      <a:pt x="348" y="76"/>
                      <a:pt x="271" y="0"/>
                      <a:pt x="174" y="0"/>
                    </a:cubicBezTo>
                    <a:cubicBezTo>
                      <a:pt x="77" y="0"/>
                      <a:pt x="0" y="76"/>
                      <a:pt x="0" y="173"/>
                    </a:cubicBezTo>
                    <a:cubicBezTo>
                      <a:pt x="0" y="270"/>
                      <a:pt x="77" y="347"/>
                      <a:pt x="174" y="347"/>
                    </a:cubicBezTo>
                    <a:cubicBezTo>
                      <a:pt x="215" y="347"/>
                      <a:pt x="256" y="332"/>
                      <a:pt x="286" y="306"/>
                    </a:cubicBezTo>
                    <a:lnTo>
                      <a:pt x="296" y="311"/>
                    </a:lnTo>
                    <a:lnTo>
                      <a:pt x="296" y="337"/>
                    </a:lnTo>
                    <a:lnTo>
                      <a:pt x="429" y="470"/>
                    </a:lnTo>
                    <a:lnTo>
                      <a:pt x="470" y="429"/>
                    </a:lnTo>
                    <a:lnTo>
                      <a:pt x="332" y="296"/>
                    </a:lnTo>
                    <a:close/>
                    <a:moveTo>
                      <a:pt x="174" y="296"/>
                    </a:moveTo>
                    <a:cubicBezTo>
                      <a:pt x="107" y="296"/>
                      <a:pt x="56" y="240"/>
                      <a:pt x="56" y="173"/>
                    </a:cubicBezTo>
                    <a:cubicBezTo>
                      <a:pt x="56" y="107"/>
                      <a:pt x="107" y="56"/>
                      <a:pt x="174" y="56"/>
                    </a:cubicBezTo>
                    <a:cubicBezTo>
                      <a:pt x="240" y="56"/>
                      <a:pt x="296" y="107"/>
                      <a:pt x="296" y="173"/>
                    </a:cubicBezTo>
                    <a:cubicBezTo>
                      <a:pt x="296" y="240"/>
                      <a:pt x="240" y="296"/>
                      <a:pt x="174" y="296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  <p:cxnSp>
            <p:nvCxnSpPr>
              <p:cNvPr id="53" name="Straight Connector 1159"/>
              <p:cNvCxnSpPr/>
              <p:nvPr/>
            </p:nvCxnSpPr>
            <p:spPr>
              <a:xfrm>
                <a:off x="4786760" y="4976226"/>
                <a:ext cx="0" cy="101464"/>
              </a:xfrm>
              <a:prstGeom prst="line">
                <a:avLst/>
              </a:prstGeom>
              <a:solidFill>
                <a:schemeClr val="bg1"/>
              </a:solidFill>
              <a:ln w="12700" cap="flat" cmpd="sng">
                <a:solidFill>
                  <a:schemeClr val="bg1">
                    <a:lumMod val="7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8" name="텍스트 상자 31"/>
            <p:cNvSpPr txBox="1"/>
            <p:nvPr/>
          </p:nvSpPr>
          <p:spPr>
            <a:xfrm>
              <a:off x="4857113" y="1344168"/>
              <a:ext cx="178925" cy="215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kumimoji="1" lang="ko-KR" altLang="en-US" sz="6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상세</a:t>
              </a:r>
            </a:p>
          </p:txBody>
        </p:sp>
        <p:sp>
          <p:nvSpPr>
            <p:cNvPr id="49" name="Triangle 942"/>
            <p:cNvSpPr>
              <a:spLocks noChangeAspect="1"/>
            </p:cNvSpPr>
            <p:nvPr/>
          </p:nvSpPr>
          <p:spPr>
            <a:xfrm flipV="1">
              <a:off x="5083153" y="1430689"/>
              <a:ext cx="75371" cy="43200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700">
                <a:solidFill>
                  <a:schemeClr val="tx1"/>
                </a:solidFill>
                <a:latin typeface="+mn-ea"/>
                <a:ea typeface="+mn-ea"/>
                <a:cs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7922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3778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14"/>
          <p:cNvSpPr/>
          <p:nvPr userDrawn="1"/>
        </p:nvSpPr>
        <p:spPr>
          <a:xfrm>
            <a:off x="52601" y="347472"/>
            <a:ext cx="9177123" cy="3227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39"/>
          <p:cNvSpPr/>
          <p:nvPr userDrawn="1"/>
        </p:nvSpPr>
        <p:spPr>
          <a:xfrm>
            <a:off x="52602" y="347472"/>
            <a:ext cx="367200" cy="6320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339"/>
          <p:cNvSpPr/>
          <p:nvPr userDrawn="1"/>
        </p:nvSpPr>
        <p:spPr>
          <a:xfrm>
            <a:off x="52602" y="347472"/>
            <a:ext cx="367200" cy="3227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Freeform 6"/>
          <p:cNvSpPr>
            <a:spLocks noChangeAspect="1" noChangeArrowheads="1"/>
          </p:cNvSpPr>
          <p:nvPr userDrawn="1"/>
        </p:nvSpPr>
        <p:spPr bwMode="auto">
          <a:xfrm>
            <a:off x="149249" y="435816"/>
            <a:ext cx="174435" cy="147600"/>
          </a:xfrm>
          <a:custGeom>
            <a:avLst/>
            <a:gdLst>
              <a:gd name="T0" fmla="*/ 205 w 514"/>
              <a:gd name="T1" fmla="*/ 435 h 436"/>
              <a:gd name="T2" fmla="*/ 205 w 514"/>
              <a:gd name="T3" fmla="*/ 279 h 436"/>
              <a:gd name="T4" fmla="*/ 308 w 514"/>
              <a:gd name="T5" fmla="*/ 279 h 436"/>
              <a:gd name="T6" fmla="*/ 308 w 514"/>
              <a:gd name="T7" fmla="*/ 435 h 436"/>
              <a:gd name="T8" fmla="*/ 435 w 514"/>
              <a:gd name="T9" fmla="*/ 435 h 436"/>
              <a:gd name="T10" fmla="*/ 435 w 514"/>
              <a:gd name="T11" fmla="*/ 230 h 436"/>
              <a:gd name="T12" fmla="*/ 513 w 514"/>
              <a:gd name="T13" fmla="*/ 230 h 436"/>
              <a:gd name="T14" fmla="*/ 254 w 514"/>
              <a:gd name="T15" fmla="*/ 0 h 436"/>
              <a:gd name="T16" fmla="*/ 0 w 514"/>
              <a:gd name="T17" fmla="*/ 230 h 436"/>
              <a:gd name="T18" fmla="*/ 78 w 514"/>
              <a:gd name="T19" fmla="*/ 230 h 436"/>
              <a:gd name="T20" fmla="*/ 78 w 514"/>
              <a:gd name="T21" fmla="*/ 435 h 436"/>
              <a:gd name="T22" fmla="*/ 205 w 514"/>
              <a:gd name="T23" fmla="*/ 4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14" h="436">
                <a:moveTo>
                  <a:pt x="205" y="435"/>
                </a:moveTo>
                <a:lnTo>
                  <a:pt x="205" y="279"/>
                </a:lnTo>
                <a:lnTo>
                  <a:pt x="308" y="279"/>
                </a:lnTo>
                <a:lnTo>
                  <a:pt x="308" y="435"/>
                </a:lnTo>
                <a:lnTo>
                  <a:pt x="435" y="435"/>
                </a:lnTo>
                <a:lnTo>
                  <a:pt x="435" y="230"/>
                </a:lnTo>
                <a:lnTo>
                  <a:pt x="513" y="230"/>
                </a:lnTo>
                <a:lnTo>
                  <a:pt x="254" y="0"/>
                </a:lnTo>
                <a:lnTo>
                  <a:pt x="0" y="230"/>
                </a:lnTo>
                <a:lnTo>
                  <a:pt x="78" y="230"/>
                </a:lnTo>
                <a:lnTo>
                  <a:pt x="78" y="435"/>
                </a:lnTo>
                <a:lnTo>
                  <a:pt x="205" y="435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633"/>
          </a:p>
        </p:txBody>
      </p:sp>
      <p:sp>
        <p:nvSpPr>
          <p:cNvPr id="10" name="텍스트 상자 31"/>
          <p:cNvSpPr txBox="1"/>
          <p:nvPr/>
        </p:nvSpPr>
        <p:spPr>
          <a:xfrm>
            <a:off x="52739" y="1050554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sz="800" b="0" dirty="0">
                <a:latin typeface="+mn-ea"/>
                <a:ea typeface="+mn-ea"/>
              </a:rPr>
              <a:t>메일</a:t>
            </a:r>
          </a:p>
        </p:txBody>
      </p:sp>
      <p:sp>
        <p:nvSpPr>
          <p:cNvPr id="11" name="텍스트 상자 38"/>
          <p:cNvSpPr txBox="1"/>
          <p:nvPr/>
        </p:nvSpPr>
        <p:spPr>
          <a:xfrm>
            <a:off x="52739" y="1496068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결재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텍스트 상자 41"/>
          <p:cNvSpPr txBox="1"/>
          <p:nvPr/>
        </p:nvSpPr>
        <p:spPr>
          <a:xfrm>
            <a:off x="52739" y="1941582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업무넷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텍스트 상자 44"/>
          <p:cNvSpPr txBox="1"/>
          <p:nvPr/>
        </p:nvSpPr>
        <p:spPr>
          <a:xfrm>
            <a:off x="52739" y="2389985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스퀘어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텍스트 상자 47"/>
          <p:cNvSpPr txBox="1"/>
          <p:nvPr/>
        </p:nvSpPr>
        <p:spPr>
          <a:xfrm>
            <a:off x="52739" y="2828237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게시판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텍스트 상자 50"/>
          <p:cNvSpPr txBox="1"/>
          <p:nvPr/>
        </p:nvSpPr>
        <p:spPr>
          <a:xfrm>
            <a:off x="52739" y="3264450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" name="텍스트 상자 53"/>
          <p:cNvSpPr txBox="1"/>
          <p:nvPr/>
        </p:nvSpPr>
        <p:spPr>
          <a:xfrm>
            <a:off x="52739" y="3718403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텍스트 상자 56"/>
          <p:cNvSpPr txBox="1"/>
          <p:nvPr/>
        </p:nvSpPr>
        <p:spPr>
          <a:xfrm>
            <a:off x="52739" y="4185072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문서함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텍스트 상자 59"/>
          <p:cNvSpPr txBox="1"/>
          <p:nvPr/>
        </p:nvSpPr>
        <p:spPr>
          <a:xfrm>
            <a:off x="52739" y="4641378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주소록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" name="타원 374"/>
          <p:cNvSpPr/>
          <p:nvPr/>
        </p:nvSpPr>
        <p:spPr>
          <a:xfrm>
            <a:off x="110414" y="786854"/>
            <a:ext cx="244650" cy="24465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0" name="타원 375"/>
          <p:cNvSpPr/>
          <p:nvPr/>
        </p:nvSpPr>
        <p:spPr>
          <a:xfrm>
            <a:off x="110414" y="1230842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1" name="타원 376"/>
          <p:cNvSpPr/>
          <p:nvPr/>
        </p:nvSpPr>
        <p:spPr>
          <a:xfrm>
            <a:off x="110414" y="1676424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2" name="타원 377"/>
          <p:cNvSpPr/>
          <p:nvPr/>
        </p:nvSpPr>
        <p:spPr>
          <a:xfrm>
            <a:off x="110414" y="2125120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3" name="타원 378"/>
          <p:cNvSpPr/>
          <p:nvPr/>
        </p:nvSpPr>
        <p:spPr>
          <a:xfrm>
            <a:off x="110414" y="2568343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4" name="타원 379"/>
          <p:cNvSpPr/>
          <p:nvPr/>
        </p:nvSpPr>
        <p:spPr>
          <a:xfrm>
            <a:off x="110414" y="3000750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5" name="타원 380"/>
          <p:cNvSpPr/>
          <p:nvPr/>
        </p:nvSpPr>
        <p:spPr>
          <a:xfrm>
            <a:off x="110414" y="3447476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6" name="타원 381"/>
          <p:cNvSpPr/>
          <p:nvPr/>
        </p:nvSpPr>
        <p:spPr>
          <a:xfrm>
            <a:off x="110414" y="3908656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7" name="타원 382"/>
          <p:cNvSpPr/>
          <p:nvPr/>
        </p:nvSpPr>
        <p:spPr>
          <a:xfrm>
            <a:off x="110414" y="4370335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grpSp>
        <p:nvGrpSpPr>
          <p:cNvPr id="34" name="Group 911"/>
          <p:cNvGrpSpPr>
            <a:grpSpLocks noChangeAspect="1"/>
          </p:cNvGrpSpPr>
          <p:nvPr userDrawn="1"/>
        </p:nvGrpSpPr>
        <p:grpSpPr>
          <a:xfrm>
            <a:off x="8121000" y="409850"/>
            <a:ext cx="945986" cy="216000"/>
            <a:chOff x="7109348" y="1300074"/>
            <a:chExt cx="729307" cy="166525"/>
          </a:xfrm>
        </p:grpSpPr>
        <p:grpSp>
          <p:nvGrpSpPr>
            <p:cNvPr id="35" name="Group 912"/>
            <p:cNvGrpSpPr/>
            <p:nvPr/>
          </p:nvGrpSpPr>
          <p:grpSpPr>
            <a:xfrm>
              <a:off x="7109348" y="1300074"/>
              <a:ext cx="166525" cy="166525"/>
              <a:chOff x="7028881" y="1300074"/>
              <a:chExt cx="166525" cy="166525"/>
            </a:xfrm>
          </p:grpSpPr>
          <p:sp>
            <p:nvSpPr>
              <p:cNvPr id="52" name="Oval 922"/>
              <p:cNvSpPr/>
              <p:nvPr/>
            </p:nvSpPr>
            <p:spPr>
              <a:xfrm>
                <a:off x="7028881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sp>
            <p:nvSpPr>
              <p:cNvPr id="53" name="Freeform 21"/>
              <p:cNvSpPr>
                <a:spLocks noChangeAspect="1" noChangeArrowheads="1"/>
              </p:cNvSpPr>
              <p:nvPr/>
            </p:nvSpPr>
            <p:spPr bwMode="auto">
              <a:xfrm>
                <a:off x="7067143" y="1338336"/>
                <a:ext cx="90000" cy="90000"/>
              </a:xfrm>
              <a:custGeom>
                <a:avLst/>
                <a:gdLst>
                  <a:gd name="T0" fmla="*/ 216 w 433"/>
                  <a:gd name="T1" fmla="*/ 216 h 433"/>
                  <a:gd name="T2" fmla="*/ 324 w 433"/>
                  <a:gd name="T3" fmla="*/ 108 h 433"/>
                  <a:gd name="T4" fmla="*/ 216 w 433"/>
                  <a:gd name="T5" fmla="*/ 0 h 433"/>
                  <a:gd name="T6" fmla="*/ 108 w 433"/>
                  <a:gd name="T7" fmla="*/ 108 h 433"/>
                  <a:gd name="T8" fmla="*/ 216 w 433"/>
                  <a:gd name="T9" fmla="*/ 216 h 433"/>
                  <a:gd name="T10" fmla="*/ 216 w 433"/>
                  <a:gd name="T11" fmla="*/ 267 h 433"/>
                  <a:gd name="T12" fmla="*/ 0 w 433"/>
                  <a:gd name="T13" fmla="*/ 375 h 433"/>
                  <a:gd name="T14" fmla="*/ 0 w 433"/>
                  <a:gd name="T15" fmla="*/ 432 h 433"/>
                  <a:gd name="T16" fmla="*/ 432 w 433"/>
                  <a:gd name="T17" fmla="*/ 432 h 433"/>
                  <a:gd name="T18" fmla="*/ 432 w 433"/>
                  <a:gd name="T19" fmla="*/ 375 h 433"/>
                  <a:gd name="T20" fmla="*/ 216 w 433"/>
                  <a:gd name="T21" fmla="*/ 267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3" h="433">
                    <a:moveTo>
                      <a:pt x="216" y="216"/>
                    </a:moveTo>
                    <a:cubicBezTo>
                      <a:pt x="272" y="216"/>
                      <a:pt x="324" y="167"/>
                      <a:pt x="324" y="108"/>
                    </a:cubicBezTo>
                    <a:cubicBezTo>
                      <a:pt x="324" y="49"/>
                      <a:pt x="275" y="0"/>
                      <a:pt x="216" y="0"/>
                    </a:cubicBezTo>
                    <a:cubicBezTo>
                      <a:pt x="157" y="0"/>
                      <a:pt x="108" y="49"/>
                      <a:pt x="108" y="108"/>
                    </a:cubicBezTo>
                    <a:cubicBezTo>
                      <a:pt x="108" y="167"/>
                      <a:pt x="154" y="216"/>
                      <a:pt x="216" y="216"/>
                    </a:cubicBezTo>
                    <a:close/>
                    <a:moveTo>
                      <a:pt x="216" y="267"/>
                    </a:moveTo>
                    <a:cubicBezTo>
                      <a:pt x="144" y="267"/>
                      <a:pt x="0" y="303"/>
                      <a:pt x="0" y="375"/>
                    </a:cubicBezTo>
                    <a:lnTo>
                      <a:pt x="0" y="432"/>
                    </a:lnTo>
                    <a:lnTo>
                      <a:pt x="432" y="432"/>
                    </a:lnTo>
                    <a:lnTo>
                      <a:pt x="432" y="375"/>
                    </a:lnTo>
                    <a:cubicBezTo>
                      <a:pt x="432" y="303"/>
                      <a:pt x="288" y="267"/>
                      <a:pt x="216" y="26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36" name="Group 913"/>
            <p:cNvGrpSpPr/>
            <p:nvPr/>
          </p:nvGrpSpPr>
          <p:grpSpPr>
            <a:xfrm>
              <a:off x="7390739" y="1300074"/>
              <a:ext cx="166525" cy="166525"/>
              <a:chOff x="7342082" y="1300074"/>
              <a:chExt cx="166525" cy="166525"/>
            </a:xfrm>
          </p:grpSpPr>
          <p:sp>
            <p:nvSpPr>
              <p:cNvPr id="47" name="Oval 920"/>
              <p:cNvSpPr/>
              <p:nvPr/>
            </p:nvSpPr>
            <p:spPr>
              <a:xfrm>
                <a:off x="7342082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sp>
            <p:nvSpPr>
              <p:cNvPr id="48" name="Freeform 13"/>
              <p:cNvSpPr>
                <a:spLocks noChangeAspect="1" noChangeArrowheads="1"/>
              </p:cNvSpPr>
              <p:nvPr/>
            </p:nvSpPr>
            <p:spPr bwMode="auto">
              <a:xfrm>
                <a:off x="7384848" y="1330115"/>
                <a:ext cx="90000" cy="106442"/>
              </a:xfrm>
              <a:custGeom>
                <a:avLst/>
                <a:gdLst>
                  <a:gd name="T0" fmla="*/ 226 w 459"/>
                  <a:gd name="T1" fmla="*/ 540 h 541"/>
                  <a:gd name="T2" fmla="*/ 283 w 459"/>
                  <a:gd name="T3" fmla="*/ 488 h 541"/>
                  <a:gd name="T4" fmla="*/ 175 w 459"/>
                  <a:gd name="T5" fmla="*/ 488 h 541"/>
                  <a:gd name="T6" fmla="*/ 226 w 459"/>
                  <a:gd name="T7" fmla="*/ 540 h 541"/>
                  <a:gd name="T8" fmla="*/ 401 w 459"/>
                  <a:gd name="T9" fmla="*/ 380 h 541"/>
                  <a:gd name="T10" fmla="*/ 401 w 459"/>
                  <a:gd name="T11" fmla="*/ 231 h 541"/>
                  <a:gd name="T12" fmla="*/ 268 w 459"/>
                  <a:gd name="T13" fmla="*/ 62 h 541"/>
                  <a:gd name="T14" fmla="*/ 268 w 459"/>
                  <a:gd name="T15" fmla="*/ 41 h 541"/>
                  <a:gd name="T16" fmla="*/ 226 w 459"/>
                  <a:gd name="T17" fmla="*/ 0 h 541"/>
                  <a:gd name="T18" fmla="*/ 191 w 459"/>
                  <a:gd name="T19" fmla="*/ 41 h 541"/>
                  <a:gd name="T20" fmla="*/ 191 w 459"/>
                  <a:gd name="T21" fmla="*/ 62 h 541"/>
                  <a:gd name="T22" fmla="*/ 52 w 459"/>
                  <a:gd name="T23" fmla="*/ 231 h 541"/>
                  <a:gd name="T24" fmla="*/ 52 w 459"/>
                  <a:gd name="T25" fmla="*/ 380 h 541"/>
                  <a:gd name="T26" fmla="*/ 0 w 459"/>
                  <a:gd name="T27" fmla="*/ 432 h 541"/>
                  <a:gd name="T28" fmla="*/ 0 w 459"/>
                  <a:gd name="T29" fmla="*/ 457 h 541"/>
                  <a:gd name="T30" fmla="*/ 458 w 459"/>
                  <a:gd name="T31" fmla="*/ 457 h 541"/>
                  <a:gd name="T32" fmla="*/ 458 w 459"/>
                  <a:gd name="T33" fmla="*/ 432 h 541"/>
                  <a:gd name="T34" fmla="*/ 401 w 459"/>
                  <a:gd name="T35" fmla="*/ 38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9" h="541">
                    <a:moveTo>
                      <a:pt x="226" y="540"/>
                    </a:moveTo>
                    <a:cubicBezTo>
                      <a:pt x="257" y="540"/>
                      <a:pt x="283" y="514"/>
                      <a:pt x="283" y="488"/>
                    </a:cubicBezTo>
                    <a:lnTo>
                      <a:pt x="175" y="488"/>
                    </a:lnTo>
                    <a:cubicBezTo>
                      <a:pt x="175" y="514"/>
                      <a:pt x="201" y="540"/>
                      <a:pt x="226" y="540"/>
                    </a:cubicBezTo>
                    <a:close/>
                    <a:moveTo>
                      <a:pt x="401" y="380"/>
                    </a:moveTo>
                    <a:lnTo>
                      <a:pt x="401" y="231"/>
                    </a:lnTo>
                    <a:cubicBezTo>
                      <a:pt x="401" y="149"/>
                      <a:pt x="345" y="82"/>
                      <a:pt x="268" y="62"/>
                    </a:cubicBezTo>
                    <a:lnTo>
                      <a:pt x="268" y="41"/>
                    </a:lnTo>
                    <a:cubicBezTo>
                      <a:pt x="268" y="21"/>
                      <a:pt x="250" y="0"/>
                      <a:pt x="226" y="0"/>
                    </a:cubicBezTo>
                    <a:cubicBezTo>
                      <a:pt x="203" y="0"/>
                      <a:pt x="191" y="21"/>
                      <a:pt x="191" y="41"/>
                    </a:cubicBezTo>
                    <a:lnTo>
                      <a:pt x="191" y="62"/>
                    </a:lnTo>
                    <a:cubicBezTo>
                      <a:pt x="108" y="82"/>
                      <a:pt x="52" y="149"/>
                      <a:pt x="52" y="231"/>
                    </a:cubicBezTo>
                    <a:lnTo>
                      <a:pt x="52" y="380"/>
                    </a:lnTo>
                    <a:lnTo>
                      <a:pt x="0" y="432"/>
                    </a:lnTo>
                    <a:lnTo>
                      <a:pt x="0" y="457"/>
                    </a:lnTo>
                    <a:lnTo>
                      <a:pt x="458" y="457"/>
                    </a:lnTo>
                    <a:lnTo>
                      <a:pt x="458" y="432"/>
                    </a:lnTo>
                    <a:lnTo>
                      <a:pt x="401" y="38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37" name="Group 914"/>
            <p:cNvGrpSpPr/>
            <p:nvPr/>
          </p:nvGrpSpPr>
          <p:grpSpPr>
            <a:xfrm>
              <a:off x="7672130" y="1300074"/>
              <a:ext cx="166525" cy="166525"/>
              <a:chOff x="7672130" y="1300074"/>
              <a:chExt cx="166525" cy="166525"/>
            </a:xfrm>
          </p:grpSpPr>
          <p:sp>
            <p:nvSpPr>
              <p:cNvPr id="38" name="Oval 915"/>
              <p:cNvSpPr/>
              <p:nvPr/>
            </p:nvSpPr>
            <p:spPr>
              <a:xfrm>
                <a:off x="7672130" y="1300074"/>
                <a:ext cx="166525" cy="166525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latin typeface="+mn-ea"/>
                  <a:ea typeface="+mn-ea"/>
                </a:endParaRPr>
              </a:p>
            </p:txBody>
          </p:sp>
          <p:grpSp>
            <p:nvGrpSpPr>
              <p:cNvPr id="39" name="그룹 28"/>
              <p:cNvGrpSpPr>
                <a:grpSpLocks noChangeAspect="1"/>
              </p:cNvGrpSpPr>
              <p:nvPr/>
            </p:nvGrpSpPr>
            <p:grpSpPr>
              <a:xfrm>
                <a:off x="7722065" y="1354636"/>
                <a:ext cx="72000" cy="58698"/>
                <a:chOff x="7719003" y="1331958"/>
                <a:chExt cx="143099" cy="116662"/>
              </a:xfrm>
            </p:grpSpPr>
            <p:cxnSp>
              <p:nvCxnSpPr>
                <p:cNvPr id="40" name="직선 연결선[R] 24"/>
                <p:cNvCxnSpPr/>
                <p:nvPr/>
              </p:nvCxnSpPr>
              <p:spPr>
                <a:xfrm>
                  <a:off x="7719003" y="1331958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연결선[R] 25"/>
                <p:cNvCxnSpPr/>
                <p:nvPr/>
              </p:nvCxnSpPr>
              <p:spPr>
                <a:xfrm>
                  <a:off x="7719003" y="1390289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직선 연결선[R] 26"/>
                <p:cNvCxnSpPr/>
                <p:nvPr/>
              </p:nvCxnSpPr>
              <p:spPr>
                <a:xfrm>
                  <a:off x="7719003" y="1448620"/>
                  <a:ext cx="143099" cy="0"/>
                </a:xfrm>
                <a:prstGeom prst="line">
                  <a:avLst/>
                </a:prstGeom>
                <a:ln w="19050" cap="rnd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9694705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39"/>
          <p:cNvSpPr/>
          <p:nvPr userDrawn="1"/>
        </p:nvSpPr>
        <p:spPr>
          <a:xfrm>
            <a:off x="52602" y="347472"/>
            <a:ext cx="367200" cy="63200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339"/>
          <p:cNvSpPr/>
          <p:nvPr userDrawn="1"/>
        </p:nvSpPr>
        <p:spPr>
          <a:xfrm>
            <a:off x="52602" y="347472"/>
            <a:ext cx="367200" cy="3227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Freeform 6"/>
          <p:cNvSpPr>
            <a:spLocks noChangeAspect="1" noChangeArrowheads="1"/>
          </p:cNvSpPr>
          <p:nvPr userDrawn="1"/>
        </p:nvSpPr>
        <p:spPr bwMode="auto">
          <a:xfrm>
            <a:off x="149249" y="435816"/>
            <a:ext cx="174435" cy="147600"/>
          </a:xfrm>
          <a:custGeom>
            <a:avLst/>
            <a:gdLst>
              <a:gd name="T0" fmla="*/ 205 w 514"/>
              <a:gd name="T1" fmla="*/ 435 h 436"/>
              <a:gd name="T2" fmla="*/ 205 w 514"/>
              <a:gd name="T3" fmla="*/ 279 h 436"/>
              <a:gd name="T4" fmla="*/ 308 w 514"/>
              <a:gd name="T5" fmla="*/ 279 h 436"/>
              <a:gd name="T6" fmla="*/ 308 w 514"/>
              <a:gd name="T7" fmla="*/ 435 h 436"/>
              <a:gd name="T8" fmla="*/ 435 w 514"/>
              <a:gd name="T9" fmla="*/ 435 h 436"/>
              <a:gd name="T10" fmla="*/ 435 w 514"/>
              <a:gd name="T11" fmla="*/ 230 h 436"/>
              <a:gd name="T12" fmla="*/ 513 w 514"/>
              <a:gd name="T13" fmla="*/ 230 h 436"/>
              <a:gd name="T14" fmla="*/ 254 w 514"/>
              <a:gd name="T15" fmla="*/ 0 h 436"/>
              <a:gd name="T16" fmla="*/ 0 w 514"/>
              <a:gd name="T17" fmla="*/ 230 h 436"/>
              <a:gd name="T18" fmla="*/ 78 w 514"/>
              <a:gd name="T19" fmla="*/ 230 h 436"/>
              <a:gd name="T20" fmla="*/ 78 w 514"/>
              <a:gd name="T21" fmla="*/ 435 h 436"/>
              <a:gd name="T22" fmla="*/ 205 w 514"/>
              <a:gd name="T23" fmla="*/ 4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14" h="436">
                <a:moveTo>
                  <a:pt x="205" y="435"/>
                </a:moveTo>
                <a:lnTo>
                  <a:pt x="205" y="279"/>
                </a:lnTo>
                <a:lnTo>
                  <a:pt x="308" y="279"/>
                </a:lnTo>
                <a:lnTo>
                  <a:pt x="308" y="435"/>
                </a:lnTo>
                <a:lnTo>
                  <a:pt x="435" y="435"/>
                </a:lnTo>
                <a:lnTo>
                  <a:pt x="435" y="230"/>
                </a:lnTo>
                <a:lnTo>
                  <a:pt x="513" y="230"/>
                </a:lnTo>
                <a:lnTo>
                  <a:pt x="254" y="0"/>
                </a:lnTo>
                <a:lnTo>
                  <a:pt x="0" y="230"/>
                </a:lnTo>
                <a:lnTo>
                  <a:pt x="78" y="230"/>
                </a:lnTo>
                <a:lnTo>
                  <a:pt x="78" y="435"/>
                </a:lnTo>
                <a:lnTo>
                  <a:pt x="205" y="435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1633"/>
          </a:p>
        </p:txBody>
      </p:sp>
      <p:sp>
        <p:nvSpPr>
          <p:cNvPr id="10" name="텍스트 상자 31"/>
          <p:cNvSpPr txBox="1"/>
          <p:nvPr/>
        </p:nvSpPr>
        <p:spPr>
          <a:xfrm>
            <a:off x="52739" y="1050554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7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ko-KR" altLang="en-US" sz="800" b="0" dirty="0">
                <a:latin typeface="+mn-ea"/>
                <a:ea typeface="+mn-ea"/>
              </a:rPr>
              <a:t>메일</a:t>
            </a:r>
          </a:p>
        </p:txBody>
      </p:sp>
      <p:sp>
        <p:nvSpPr>
          <p:cNvPr id="11" name="텍스트 상자 38"/>
          <p:cNvSpPr txBox="1"/>
          <p:nvPr/>
        </p:nvSpPr>
        <p:spPr>
          <a:xfrm>
            <a:off x="52739" y="1496068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결재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텍스트 상자 41"/>
          <p:cNvSpPr txBox="1"/>
          <p:nvPr/>
        </p:nvSpPr>
        <p:spPr>
          <a:xfrm>
            <a:off x="52739" y="1941582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업무넷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텍스트 상자 44"/>
          <p:cNvSpPr txBox="1"/>
          <p:nvPr/>
        </p:nvSpPr>
        <p:spPr>
          <a:xfrm>
            <a:off x="52739" y="2389985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스퀘어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텍스트 상자 47"/>
          <p:cNvSpPr txBox="1"/>
          <p:nvPr/>
        </p:nvSpPr>
        <p:spPr>
          <a:xfrm>
            <a:off x="52739" y="2828237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게시판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텍스트 상자 50"/>
          <p:cNvSpPr txBox="1"/>
          <p:nvPr/>
        </p:nvSpPr>
        <p:spPr>
          <a:xfrm>
            <a:off x="52739" y="3264450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" name="텍스트 상자 53"/>
          <p:cNvSpPr txBox="1"/>
          <p:nvPr/>
        </p:nvSpPr>
        <p:spPr>
          <a:xfrm>
            <a:off x="52739" y="3718403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텍스트 상자 56"/>
          <p:cNvSpPr txBox="1"/>
          <p:nvPr/>
        </p:nvSpPr>
        <p:spPr>
          <a:xfrm>
            <a:off x="52739" y="4185072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문서함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텍스트 상자 59"/>
          <p:cNvSpPr txBox="1"/>
          <p:nvPr/>
        </p:nvSpPr>
        <p:spPr>
          <a:xfrm>
            <a:off x="52739" y="4641378"/>
            <a:ext cx="360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주소록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" name="타원 374"/>
          <p:cNvSpPr/>
          <p:nvPr/>
        </p:nvSpPr>
        <p:spPr>
          <a:xfrm>
            <a:off x="110414" y="786854"/>
            <a:ext cx="244650" cy="24465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0" name="타원 375"/>
          <p:cNvSpPr/>
          <p:nvPr/>
        </p:nvSpPr>
        <p:spPr>
          <a:xfrm>
            <a:off x="110414" y="1230842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1" name="타원 376"/>
          <p:cNvSpPr/>
          <p:nvPr/>
        </p:nvSpPr>
        <p:spPr>
          <a:xfrm>
            <a:off x="110414" y="1676424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2" name="타원 377"/>
          <p:cNvSpPr/>
          <p:nvPr/>
        </p:nvSpPr>
        <p:spPr>
          <a:xfrm>
            <a:off x="110414" y="2125120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3" name="타원 378"/>
          <p:cNvSpPr/>
          <p:nvPr/>
        </p:nvSpPr>
        <p:spPr>
          <a:xfrm>
            <a:off x="110414" y="2568343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4" name="타원 379"/>
          <p:cNvSpPr/>
          <p:nvPr/>
        </p:nvSpPr>
        <p:spPr>
          <a:xfrm>
            <a:off x="110414" y="3000750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5" name="타원 380"/>
          <p:cNvSpPr/>
          <p:nvPr/>
        </p:nvSpPr>
        <p:spPr>
          <a:xfrm>
            <a:off x="110414" y="3447476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6" name="타원 381"/>
          <p:cNvSpPr/>
          <p:nvPr/>
        </p:nvSpPr>
        <p:spPr>
          <a:xfrm>
            <a:off x="110414" y="3908656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7" name="타원 382"/>
          <p:cNvSpPr/>
          <p:nvPr/>
        </p:nvSpPr>
        <p:spPr>
          <a:xfrm>
            <a:off x="110414" y="4370335"/>
            <a:ext cx="244650" cy="24465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800">
              <a:latin typeface="+mn-ea"/>
              <a:ea typeface="+mn-ea"/>
            </a:endParaRPr>
          </a:p>
        </p:txBody>
      </p:sp>
      <p:sp>
        <p:nvSpPr>
          <p:cNvPr id="28" name="직사각형 98"/>
          <p:cNvSpPr/>
          <p:nvPr userDrawn="1"/>
        </p:nvSpPr>
        <p:spPr>
          <a:xfrm>
            <a:off x="431134" y="676275"/>
            <a:ext cx="1422685" cy="59912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9" name="Rectangle 14"/>
          <p:cNvSpPr>
            <a:spLocks/>
          </p:cNvSpPr>
          <p:nvPr userDrawn="1"/>
        </p:nvSpPr>
        <p:spPr bwMode="auto">
          <a:xfrm>
            <a:off x="550750" y="807794"/>
            <a:ext cx="1195982" cy="26744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 algn="ctr">
              <a:lnSpc>
                <a:spcPct val="130000"/>
              </a:lnSpc>
            </a:pPr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일정 </a:t>
            </a: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등록하기</a:t>
            </a:r>
            <a:endParaRPr lang="x-none" altLang="x-none" sz="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30" name="Group 311"/>
          <p:cNvGrpSpPr/>
          <p:nvPr userDrawn="1"/>
        </p:nvGrpSpPr>
        <p:grpSpPr>
          <a:xfrm>
            <a:off x="444162" y="6351330"/>
            <a:ext cx="1404000" cy="246628"/>
            <a:chOff x="785281" y="6952264"/>
            <a:chExt cx="1404000" cy="246628"/>
          </a:xfrm>
        </p:grpSpPr>
        <p:sp>
          <p:nvSpPr>
            <p:cNvPr id="31" name="텍스트 상자 31"/>
            <p:cNvSpPr txBox="1"/>
            <p:nvPr/>
          </p:nvSpPr>
          <p:spPr>
            <a:xfrm>
              <a:off x="965893" y="7014226"/>
              <a:ext cx="1171015" cy="18466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  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2" name="Freeform 13"/>
            <p:cNvSpPr>
              <a:spLocks noChangeAspect="1" noChangeArrowheads="1"/>
            </p:cNvSpPr>
            <p:nvPr/>
          </p:nvSpPr>
          <p:spPr bwMode="auto">
            <a:xfrm>
              <a:off x="837212" y="7057163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33" name="직선 연결선[R] 33"/>
            <p:cNvCxnSpPr/>
            <p:nvPr/>
          </p:nvCxnSpPr>
          <p:spPr>
            <a:xfrm>
              <a:off x="785281" y="6952264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텍스트 상자 31"/>
          <p:cNvSpPr txBox="1"/>
          <p:nvPr userDrawn="1"/>
        </p:nvSpPr>
        <p:spPr>
          <a:xfrm>
            <a:off x="612758" y="3666225"/>
            <a:ext cx="1269604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/>
            <a:r>
              <a:rPr kumimoji="1" lang="ko-KR" altLang="en-US" sz="7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rPr>
              <a:t>공유받은 달력</a:t>
            </a:r>
            <a:endParaRPr kumimoji="1" lang="ko-KR" altLang="en-US" sz="7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35" name="텍스트 상자 31"/>
          <p:cNvSpPr txBox="1"/>
          <p:nvPr userDrawn="1"/>
        </p:nvSpPr>
        <p:spPr>
          <a:xfrm>
            <a:off x="615735" y="3853219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UI</a:t>
            </a:r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팀 프로젝트 일정 공유</a:t>
            </a:r>
            <a:endParaRPr kumimoji="1" lang="ko-KR" altLang="en-US" sz="600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36" name="텍스트 상자 31"/>
          <p:cNvSpPr txBox="1"/>
          <p:nvPr userDrawn="1"/>
        </p:nvSpPr>
        <p:spPr>
          <a:xfrm>
            <a:off x="610721" y="4529534"/>
            <a:ext cx="899412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60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UX</a:t>
            </a:r>
            <a:r>
              <a:rPr kumimoji="1" lang="ko-KR" altLang="en-US" sz="60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디자인팀</a:t>
            </a:r>
            <a:endParaRPr kumimoji="1" lang="ko-KR" altLang="en-US" sz="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37" name="직선 연결선[R] 33"/>
          <p:cNvCxnSpPr/>
          <p:nvPr userDrawn="1"/>
        </p:nvCxnSpPr>
        <p:spPr>
          <a:xfrm>
            <a:off x="443625" y="5209698"/>
            <a:ext cx="1404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텍스트 상자 31"/>
          <p:cNvSpPr txBox="1"/>
          <p:nvPr userDrawn="1"/>
        </p:nvSpPr>
        <p:spPr>
          <a:xfrm>
            <a:off x="615735" y="4017775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기획</a:t>
            </a:r>
            <a:r>
              <a:rPr kumimoji="1" lang="en-US" altLang="ko-KR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팀 휴가일 공유</a:t>
            </a:r>
            <a:endParaRPr kumimoji="1" lang="ko-KR" altLang="en-US" sz="600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39" name="텍스트 상자 31"/>
          <p:cNvSpPr txBox="1"/>
          <p:nvPr userDrawn="1"/>
        </p:nvSpPr>
        <p:spPr>
          <a:xfrm>
            <a:off x="610721" y="4694017"/>
            <a:ext cx="770030" cy="9515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자동차 </a:t>
            </a:r>
            <a:r>
              <a:rPr kumimoji="1" lang="en-US" altLang="ko-KR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UX </a:t>
            </a:r>
            <a:r>
              <a: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개선</a:t>
            </a:r>
          </a:p>
        </p:txBody>
      </p:sp>
      <p:sp>
        <p:nvSpPr>
          <p:cNvPr id="40" name="텍스트 상자 31"/>
          <p:cNvSpPr txBox="1"/>
          <p:nvPr userDrawn="1"/>
        </p:nvSpPr>
        <p:spPr>
          <a:xfrm>
            <a:off x="610721" y="4850858"/>
            <a:ext cx="89587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EGW UX</a:t>
            </a:r>
            <a:r>
              <a:rPr kumimoji="1" lang="ko-KR" altLang="en-US" sz="60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개선 </a:t>
            </a:r>
            <a:r>
              <a:rPr kumimoji="1" lang="en-US" altLang="ko-KR" sz="60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TF</a:t>
            </a:r>
            <a:endParaRPr kumimoji="1" lang="ko-KR" altLang="en-US" sz="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1" name="텍스트 상자 31"/>
          <p:cNvSpPr txBox="1"/>
          <p:nvPr userDrawn="1"/>
        </p:nvSpPr>
        <p:spPr>
          <a:xfrm>
            <a:off x="610721" y="5010058"/>
            <a:ext cx="785062" cy="9178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정부 </a:t>
            </a:r>
            <a:r>
              <a: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과제 </a:t>
            </a:r>
            <a:r>
              <a:rPr kumimoji="1" lang="en-US" altLang="ko-KR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TF</a:t>
            </a:r>
            <a:endParaRPr kumimoji="1" lang="ko-KR" altLang="en-US" sz="600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42" name="텍스트 상자 31"/>
          <p:cNvSpPr txBox="1"/>
          <p:nvPr userDrawn="1"/>
        </p:nvSpPr>
        <p:spPr>
          <a:xfrm>
            <a:off x="612758" y="3078416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내 일정</a:t>
            </a:r>
            <a:endParaRPr kumimoji="1" lang="ko-KR" altLang="en-US" sz="600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43" name="텍스트 상자 31"/>
          <p:cNvSpPr txBox="1"/>
          <p:nvPr userDrawn="1"/>
        </p:nvSpPr>
        <p:spPr>
          <a:xfrm>
            <a:off x="612758" y="3244987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김핸디 업무일정</a:t>
            </a:r>
            <a:endParaRPr kumimoji="1" lang="ko-KR" altLang="en-US" sz="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4" name="텍스트 상자 31"/>
          <p:cNvSpPr txBox="1"/>
          <p:nvPr userDrawn="1"/>
        </p:nvSpPr>
        <p:spPr>
          <a:xfrm>
            <a:off x="612758" y="5495753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전사 일정</a:t>
            </a:r>
            <a:endParaRPr kumimoji="1" lang="ko-KR" altLang="en-US" sz="600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45" name="텍스트 상자 31"/>
          <p:cNvSpPr txBox="1"/>
          <p:nvPr userDrawn="1"/>
        </p:nvSpPr>
        <p:spPr>
          <a:xfrm>
            <a:off x="612758" y="5662324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대한민국 휴일</a:t>
            </a:r>
            <a:endParaRPr kumimoji="1" lang="ko-KR" altLang="en-US" sz="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6" name="텍스트 상자 31"/>
          <p:cNvSpPr txBox="1"/>
          <p:nvPr userDrawn="1"/>
        </p:nvSpPr>
        <p:spPr>
          <a:xfrm>
            <a:off x="618714" y="5298496"/>
            <a:ext cx="820269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rPr>
              <a:t>구독 달력</a:t>
            </a:r>
            <a:endParaRPr kumimoji="1" lang="ko-KR" altLang="en-US" sz="7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47" name="Freeform 24"/>
          <p:cNvSpPr>
            <a:spLocks noChangeArrowheads="1"/>
          </p:cNvSpPr>
          <p:nvPr userDrawn="1"/>
        </p:nvSpPr>
        <p:spPr bwMode="auto">
          <a:xfrm>
            <a:off x="499749" y="5329498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48" name="Freeform 24"/>
          <p:cNvSpPr>
            <a:spLocks noChangeArrowheads="1"/>
          </p:cNvSpPr>
          <p:nvPr userDrawn="1"/>
        </p:nvSpPr>
        <p:spPr bwMode="auto">
          <a:xfrm>
            <a:off x="499749" y="3689158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49" name="텍스트 상자 31"/>
          <p:cNvSpPr txBox="1"/>
          <p:nvPr userDrawn="1"/>
        </p:nvSpPr>
        <p:spPr>
          <a:xfrm>
            <a:off x="618714" y="2907311"/>
            <a:ext cx="1269604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rPr>
              <a:t>개인 달력</a:t>
            </a:r>
            <a:endParaRPr kumimoji="1" lang="ko-KR" altLang="en-US" sz="7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</a:endParaRPr>
          </a:p>
        </p:txBody>
      </p:sp>
      <p:cxnSp>
        <p:nvCxnSpPr>
          <p:cNvPr id="53" name="직선 연결선[R] 33"/>
          <p:cNvCxnSpPr/>
          <p:nvPr userDrawn="1"/>
        </p:nvCxnSpPr>
        <p:spPr>
          <a:xfrm>
            <a:off x="438102" y="2816910"/>
            <a:ext cx="141138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reeform 24"/>
          <p:cNvSpPr>
            <a:spLocks noChangeArrowheads="1"/>
          </p:cNvSpPr>
          <p:nvPr userDrawn="1"/>
        </p:nvSpPr>
        <p:spPr bwMode="auto">
          <a:xfrm>
            <a:off x="499749" y="2925584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cxnSp>
        <p:nvCxnSpPr>
          <p:cNvPr id="55" name="직선 연결선[R] 33"/>
          <p:cNvCxnSpPr/>
          <p:nvPr userDrawn="1"/>
        </p:nvCxnSpPr>
        <p:spPr>
          <a:xfrm>
            <a:off x="438102" y="3590966"/>
            <a:ext cx="141138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356"/>
          <p:cNvSpPr>
            <a:spLocks noChangeAspect="1"/>
          </p:cNvSpPr>
          <p:nvPr userDrawn="1"/>
        </p:nvSpPr>
        <p:spPr>
          <a:xfrm>
            <a:off x="501699" y="3091424"/>
            <a:ext cx="72000" cy="7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57" name="Rectangle 357"/>
          <p:cNvSpPr>
            <a:spLocks noChangeAspect="1"/>
          </p:cNvSpPr>
          <p:nvPr userDrawn="1"/>
        </p:nvSpPr>
        <p:spPr>
          <a:xfrm>
            <a:off x="501699" y="3254888"/>
            <a:ext cx="72000" cy="7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58" name="Rectangle 358"/>
          <p:cNvSpPr>
            <a:spLocks noChangeAspect="1"/>
          </p:cNvSpPr>
          <p:nvPr userDrawn="1"/>
        </p:nvSpPr>
        <p:spPr>
          <a:xfrm>
            <a:off x="504676" y="3861256"/>
            <a:ext cx="72000" cy="7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59" name="Rectangle 359"/>
          <p:cNvSpPr>
            <a:spLocks noChangeAspect="1"/>
          </p:cNvSpPr>
          <p:nvPr userDrawn="1"/>
        </p:nvSpPr>
        <p:spPr>
          <a:xfrm>
            <a:off x="504676" y="4024720"/>
            <a:ext cx="72000" cy="7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60" name="Rectangle 360"/>
          <p:cNvSpPr>
            <a:spLocks noChangeAspect="1"/>
          </p:cNvSpPr>
          <p:nvPr userDrawn="1"/>
        </p:nvSpPr>
        <p:spPr>
          <a:xfrm>
            <a:off x="499662" y="4539256"/>
            <a:ext cx="72000" cy="7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61" name="Rectangle 361"/>
          <p:cNvSpPr>
            <a:spLocks noChangeAspect="1"/>
          </p:cNvSpPr>
          <p:nvPr userDrawn="1"/>
        </p:nvSpPr>
        <p:spPr>
          <a:xfrm>
            <a:off x="499662" y="4702720"/>
            <a:ext cx="72000" cy="7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62" name="Rectangle 362"/>
          <p:cNvSpPr>
            <a:spLocks noChangeAspect="1"/>
          </p:cNvSpPr>
          <p:nvPr userDrawn="1"/>
        </p:nvSpPr>
        <p:spPr>
          <a:xfrm>
            <a:off x="499662" y="4858292"/>
            <a:ext cx="72000" cy="7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63" name="Rectangle 363"/>
          <p:cNvSpPr>
            <a:spLocks noChangeAspect="1"/>
          </p:cNvSpPr>
          <p:nvPr userDrawn="1"/>
        </p:nvSpPr>
        <p:spPr>
          <a:xfrm>
            <a:off x="499662" y="5021756"/>
            <a:ext cx="72000" cy="7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64" name="Rectangle 364"/>
          <p:cNvSpPr>
            <a:spLocks noChangeAspect="1"/>
          </p:cNvSpPr>
          <p:nvPr userDrawn="1"/>
        </p:nvSpPr>
        <p:spPr>
          <a:xfrm>
            <a:off x="501699" y="5503187"/>
            <a:ext cx="72000" cy="7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65" name="Rectangle 365"/>
          <p:cNvSpPr>
            <a:spLocks noChangeAspect="1"/>
          </p:cNvSpPr>
          <p:nvPr userDrawn="1"/>
        </p:nvSpPr>
        <p:spPr>
          <a:xfrm>
            <a:off x="501699" y="5666651"/>
            <a:ext cx="72000" cy="7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graphicFrame>
        <p:nvGraphicFramePr>
          <p:cNvPr id="67" name="Table 372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73603207"/>
              </p:ext>
            </p:extLst>
          </p:nvPr>
        </p:nvGraphicFramePr>
        <p:xfrm>
          <a:off x="428535" y="1157416"/>
          <a:ext cx="1419089" cy="1082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294"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ko-KR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2017.08</a:t>
                      </a:r>
                      <a:r>
                        <a:rPr lang="ko-KR" altLang="en-US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 </a:t>
                      </a:r>
                      <a:endParaRPr lang="en-US" sz="800" dirty="0">
                        <a:solidFill>
                          <a:schemeClr val="tx1"/>
                        </a:solidFill>
                        <a:latin typeface="Malgun Gothic" charset="-127"/>
                        <a:ea typeface="Malgun Gothic" charset="-127"/>
                        <a:cs typeface="Malgun Gothic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수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목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금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토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endParaRPr lang="en-US" sz="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600" u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en-US" sz="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600" u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8" name="타원 83"/>
          <p:cNvSpPr>
            <a:spLocks noChangeAspect="1"/>
          </p:cNvSpPr>
          <p:nvPr userDrawn="1"/>
        </p:nvSpPr>
        <p:spPr>
          <a:xfrm>
            <a:off x="642073" y="1927951"/>
            <a:ext cx="179840" cy="18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ko-KR" sz="600" b="1" smtClean="0">
                <a:solidFill>
                  <a:schemeClr val="bg1"/>
                </a:solidFill>
                <a:latin typeface="+mn-ea"/>
              </a:rPr>
              <a:t>21</a:t>
            </a:r>
            <a:endParaRPr kumimoji="1" lang="ko-KR" altLang="en-US" sz="6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69" name="직선 연결선[R] 33"/>
          <p:cNvCxnSpPr/>
          <p:nvPr userDrawn="1"/>
        </p:nvCxnSpPr>
        <p:spPr>
          <a:xfrm>
            <a:off x="438102" y="2297946"/>
            <a:ext cx="141138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텍스트 상자 31"/>
          <p:cNvSpPr txBox="1"/>
          <p:nvPr userDrawn="1"/>
        </p:nvSpPr>
        <p:spPr>
          <a:xfrm>
            <a:off x="624774" y="2410173"/>
            <a:ext cx="1269604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전체 달력</a:t>
            </a:r>
            <a:endParaRPr kumimoji="1"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1" name="텍스트 상자 31"/>
          <p:cNvSpPr txBox="1"/>
          <p:nvPr userDrawn="1"/>
        </p:nvSpPr>
        <p:spPr>
          <a:xfrm>
            <a:off x="624774" y="2606889"/>
            <a:ext cx="1269604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플래그 일정 보기</a:t>
            </a:r>
            <a:endParaRPr kumimoji="1"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2" name="텍스트 상자 31"/>
          <p:cNvSpPr txBox="1"/>
          <p:nvPr userDrawn="1"/>
        </p:nvSpPr>
        <p:spPr>
          <a:xfrm>
            <a:off x="612758" y="4343008"/>
            <a:ext cx="1269604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/>
            <a:r>
              <a:rPr kumimoji="1" lang="ko-KR" altLang="en-US" sz="7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rPr>
              <a:t>스퀘어 달력</a:t>
            </a:r>
            <a:endParaRPr kumimoji="1" lang="ko-KR" altLang="en-US" sz="7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3" name="Freeform 24"/>
          <p:cNvSpPr>
            <a:spLocks noChangeArrowheads="1"/>
          </p:cNvSpPr>
          <p:nvPr userDrawn="1"/>
        </p:nvSpPr>
        <p:spPr bwMode="auto">
          <a:xfrm>
            <a:off x="499749" y="4365941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cxnSp>
        <p:nvCxnSpPr>
          <p:cNvPr id="74" name="직선 연결선[R] 33"/>
          <p:cNvCxnSpPr/>
          <p:nvPr userDrawn="1"/>
        </p:nvCxnSpPr>
        <p:spPr>
          <a:xfrm>
            <a:off x="438102" y="4267749"/>
            <a:ext cx="141138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텍스트 상자 31"/>
          <p:cNvSpPr txBox="1"/>
          <p:nvPr userDrawn="1"/>
        </p:nvSpPr>
        <p:spPr>
          <a:xfrm>
            <a:off x="612758" y="3405810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공유받은 </a:t>
            </a:r>
            <a:r>
              <a:rPr kumimoji="1" lang="ko-KR" altLang="en-US" sz="60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일정</a:t>
            </a:r>
            <a:endParaRPr kumimoji="1" lang="ko-KR" altLang="en-US" sz="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77" name="Rectangle 222"/>
          <p:cNvSpPr>
            <a:spLocks noChangeAspect="1"/>
          </p:cNvSpPr>
          <p:nvPr userDrawn="1"/>
        </p:nvSpPr>
        <p:spPr>
          <a:xfrm>
            <a:off x="501699" y="3415711"/>
            <a:ext cx="72000" cy="72000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78" name="Rounded Rectangle 223"/>
          <p:cNvSpPr/>
          <p:nvPr userDrawn="1"/>
        </p:nvSpPr>
        <p:spPr>
          <a:xfrm>
            <a:off x="1188250" y="3242273"/>
            <a:ext cx="216000" cy="108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 smtClean="0">
                <a:latin typeface="+mn-ea"/>
              </a:rPr>
              <a:t>공유</a:t>
            </a:r>
            <a:endParaRPr lang="en-US" sz="600" dirty="0">
              <a:latin typeface="+mn-ea"/>
            </a:endParaRPr>
          </a:p>
        </p:txBody>
      </p:sp>
      <p:grpSp>
        <p:nvGrpSpPr>
          <p:cNvPr id="79" name="Group 234"/>
          <p:cNvGrpSpPr/>
          <p:nvPr userDrawn="1"/>
        </p:nvGrpSpPr>
        <p:grpSpPr>
          <a:xfrm>
            <a:off x="725767" y="1212400"/>
            <a:ext cx="792726" cy="80656"/>
            <a:chOff x="2656761" y="1741427"/>
            <a:chExt cx="792726" cy="80656"/>
          </a:xfrm>
        </p:grpSpPr>
        <p:sp>
          <p:nvSpPr>
            <p:cNvPr id="80" name="Freeform 9"/>
            <p:cNvSpPr>
              <a:spLocks noChangeArrowheads="1"/>
            </p:cNvSpPr>
            <p:nvPr/>
          </p:nvSpPr>
          <p:spPr bwMode="auto">
            <a:xfrm>
              <a:off x="26567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81" name="Freeform 10"/>
            <p:cNvSpPr>
              <a:spLocks noChangeArrowheads="1"/>
            </p:cNvSpPr>
            <p:nvPr/>
          </p:nvSpPr>
          <p:spPr bwMode="auto">
            <a:xfrm>
              <a:off x="33999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cxnSp>
        <p:nvCxnSpPr>
          <p:cNvPr id="85" name="직선 연결선 84"/>
          <p:cNvCxnSpPr/>
          <p:nvPr userDrawn="1"/>
        </p:nvCxnSpPr>
        <p:spPr>
          <a:xfrm>
            <a:off x="419802" y="664121"/>
            <a:ext cx="8712968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그룹 85"/>
          <p:cNvGrpSpPr/>
          <p:nvPr userDrawn="1"/>
        </p:nvGrpSpPr>
        <p:grpSpPr>
          <a:xfrm>
            <a:off x="8243418" y="404548"/>
            <a:ext cx="778044" cy="202190"/>
            <a:chOff x="7870886" y="1445948"/>
            <a:chExt cx="778044" cy="202190"/>
          </a:xfrm>
        </p:grpSpPr>
        <p:grpSp>
          <p:nvGrpSpPr>
            <p:cNvPr id="87" name="그룹 86"/>
            <p:cNvGrpSpPr/>
            <p:nvPr userDrawn="1"/>
          </p:nvGrpSpPr>
          <p:grpSpPr>
            <a:xfrm>
              <a:off x="7870886" y="1445948"/>
              <a:ext cx="202190" cy="202190"/>
              <a:chOff x="7870886" y="1445948"/>
              <a:chExt cx="202190" cy="202190"/>
            </a:xfrm>
          </p:grpSpPr>
          <p:sp>
            <p:nvSpPr>
              <p:cNvPr id="94" name="타원 374"/>
              <p:cNvSpPr/>
              <p:nvPr/>
            </p:nvSpPr>
            <p:spPr>
              <a:xfrm>
                <a:off x="7870886" y="1445948"/>
                <a:ext cx="202190" cy="20219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800">
                  <a:latin typeface="+mn-ea"/>
                  <a:ea typeface="+mn-ea"/>
                </a:endParaRPr>
              </a:p>
            </p:txBody>
          </p:sp>
          <p:sp>
            <p:nvSpPr>
              <p:cNvPr id="95" name="Freeform 21"/>
              <p:cNvSpPr>
                <a:spLocks noChangeAspect="1" noChangeArrowheads="1"/>
              </p:cNvSpPr>
              <p:nvPr userDrawn="1"/>
            </p:nvSpPr>
            <p:spPr bwMode="auto">
              <a:xfrm>
                <a:off x="7926981" y="1496788"/>
                <a:ext cx="90000" cy="90000"/>
              </a:xfrm>
              <a:custGeom>
                <a:avLst/>
                <a:gdLst>
                  <a:gd name="T0" fmla="*/ 216 w 433"/>
                  <a:gd name="T1" fmla="*/ 216 h 433"/>
                  <a:gd name="T2" fmla="*/ 324 w 433"/>
                  <a:gd name="T3" fmla="*/ 108 h 433"/>
                  <a:gd name="T4" fmla="*/ 216 w 433"/>
                  <a:gd name="T5" fmla="*/ 0 h 433"/>
                  <a:gd name="T6" fmla="*/ 108 w 433"/>
                  <a:gd name="T7" fmla="*/ 108 h 433"/>
                  <a:gd name="T8" fmla="*/ 216 w 433"/>
                  <a:gd name="T9" fmla="*/ 216 h 433"/>
                  <a:gd name="T10" fmla="*/ 216 w 433"/>
                  <a:gd name="T11" fmla="*/ 267 h 433"/>
                  <a:gd name="T12" fmla="*/ 0 w 433"/>
                  <a:gd name="T13" fmla="*/ 375 h 433"/>
                  <a:gd name="T14" fmla="*/ 0 w 433"/>
                  <a:gd name="T15" fmla="*/ 432 h 433"/>
                  <a:gd name="T16" fmla="*/ 432 w 433"/>
                  <a:gd name="T17" fmla="*/ 432 h 433"/>
                  <a:gd name="T18" fmla="*/ 432 w 433"/>
                  <a:gd name="T19" fmla="*/ 375 h 433"/>
                  <a:gd name="T20" fmla="*/ 216 w 433"/>
                  <a:gd name="T21" fmla="*/ 267 h 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3" h="433">
                    <a:moveTo>
                      <a:pt x="216" y="216"/>
                    </a:moveTo>
                    <a:cubicBezTo>
                      <a:pt x="272" y="216"/>
                      <a:pt x="324" y="167"/>
                      <a:pt x="324" y="108"/>
                    </a:cubicBezTo>
                    <a:cubicBezTo>
                      <a:pt x="324" y="49"/>
                      <a:pt x="275" y="0"/>
                      <a:pt x="216" y="0"/>
                    </a:cubicBezTo>
                    <a:cubicBezTo>
                      <a:pt x="157" y="0"/>
                      <a:pt x="108" y="49"/>
                      <a:pt x="108" y="108"/>
                    </a:cubicBezTo>
                    <a:cubicBezTo>
                      <a:pt x="108" y="167"/>
                      <a:pt x="154" y="216"/>
                      <a:pt x="216" y="216"/>
                    </a:cubicBezTo>
                    <a:close/>
                    <a:moveTo>
                      <a:pt x="216" y="267"/>
                    </a:moveTo>
                    <a:cubicBezTo>
                      <a:pt x="144" y="267"/>
                      <a:pt x="0" y="303"/>
                      <a:pt x="0" y="375"/>
                    </a:cubicBezTo>
                    <a:lnTo>
                      <a:pt x="0" y="432"/>
                    </a:lnTo>
                    <a:lnTo>
                      <a:pt x="432" y="432"/>
                    </a:lnTo>
                    <a:lnTo>
                      <a:pt x="432" y="375"/>
                    </a:lnTo>
                    <a:cubicBezTo>
                      <a:pt x="432" y="303"/>
                      <a:pt x="288" y="267"/>
                      <a:pt x="216" y="267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/>
              </a:p>
            </p:txBody>
          </p:sp>
        </p:grpSp>
        <p:grpSp>
          <p:nvGrpSpPr>
            <p:cNvPr id="88" name="그룹 87"/>
            <p:cNvGrpSpPr/>
            <p:nvPr userDrawn="1"/>
          </p:nvGrpSpPr>
          <p:grpSpPr>
            <a:xfrm>
              <a:off x="8161478" y="1445948"/>
              <a:ext cx="202190" cy="202190"/>
              <a:chOff x="9624392" y="1819979"/>
              <a:chExt cx="202190" cy="202190"/>
            </a:xfrm>
          </p:grpSpPr>
          <p:sp>
            <p:nvSpPr>
              <p:cNvPr id="92" name="타원 374"/>
              <p:cNvSpPr/>
              <p:nvPr userDrawn="1"/>
            </p:nvSpPr>
            <p:spPr>
              <a:xfrm>
                <a:off x="9624392" y="1819979"/>
                <a:ext cx="202190" cy="20219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800">
                  <a:latin typeface="+mn-ea"/>
                  <a:ea typeface="+mn-ea"/>
                </a:endParaRPr>
              </a:p>
            </p:txBody>
          </p:sp>
          <p:sp>
            <p:nvSpPr>
              <p:cNvPr id="93" name="Freeform 13"/>
              <p:cNvSpPr>
                <a:spLocks noChangeAspect="1" noChangeArrowheads="1"/>
              </p:cNvSpPr>
              <p:nvPr userDrawn="1"/>
            </p:nvSpPr>
            <p:spPr bwMode="auto">
              <a:xfrm>
                <a:off x="9682769" y="1867470"/>
                <a:ext cx="90000" cy="106442"/>
              </a:xfrm>
              <a:custGeom>
                <a:avLst/>
                <a:gdLst>
                  <a:gd name="T0" fmla="*/ 226 w 459"/>
                  <a:gd name="T1" fmla="*/ 540 h 541"/>
                  <a:gd name="T2" fmla="*/ 283 w 459"/>
                  <a:gd name="T3" fmla="*/ 488 h 541"/>
                  <a:gd name="T4" fmla="*/ 175 w 459"/>
                  <a:gd name="T5" fmla="*/ 488 h 541"/>
                  <a:gd name="T6" fmla="*/ 226 w 459"/>
                  <a:gd name="T7" fmla="*/ 540 h 541"/>
                  <a:gd name="T8" fmla="*/ 401 w 459"/>
                  <a:gd name="T9" fmla="*/ 380 h 541"/>
                  <a:gd name="T10" fmla="*/ 401 w 459"/>
                  <a:gd name="T11" fmla="*/ 231 h 541"/>
                  <a:gd name="T12" fmla="*/ 268 w 459"/>
                  <a:gd name="T13" fmla="*/ 62 h 541"/>
                  <a:gd name="T14" fmla="*/ 268 w 459"/>
                  <a:gd name="T15" fmla="*/ 41 h 541"/>
                  <a:gd name="T16" fmla="*/ 226 w 459"/>
                  <a:gd name="T17" fmla="*/ 0 h 541"/>
                  <a:gd name="T18" fmla="*/ 191 w 459"/>
                  <a:gd name="T19" fmla="*/ 41 h 541"/>
                  <a:gd name="T20" fmla="*/ 191 w 459"/>
                  <a:gd name="T21" fmla="*/ 62 h 541"/>
                  <a:gd name="T22" fmla="*/ 52 w 459"/>
                  <a:gd name="T23" fmla="*/ 231 h 541"/>
                  <a:gd name="T24" fmla="*/ 52 w 459"/>
                  <a:gd name="T25" fmla="*/ 380 h 541"/>
                  <a:gd name="T26" fmla="*/ 0 w 459"/>
                  <a:gd name="T27" fmla="*/ 432 h 541"/>
                  <a:gd name="T28" fmla="*/ 0 w 459"/>
                  <a:gd name="T29" fmla="*/ 457 h 541"/>
                  <a:gd name="T30" fmla="*/ 458 w 459"/>
                  <a:gd name="T31" fmla="*/ 457 h 541"/>
                  <a:gd name="T32" fmla="*/ 458 w 459"/>
                  <a:gd name="T33" fmla="*/ 432 h 541"/>
                  <a:gd name="T34" fmla="*/ 401 w 459"/>
                  <a:gd name="T35" fmla="*/ 380 h 5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9" h="541">
                    <a:moveTo>
                      <a:pt x="226" y="540"/>
                    </a:moveTo>
                    <a:cubicBezTo>
                      <a:pt x="257" y="540"/>
                      <a:pt x="283" y="514"/>
                      <a:pt x="283" y="488"/>
                    </a:cubicBezTo>
                    <a:lnTo>
                      <a:pt x="175" y="488"/>
                    </a:lnTo>
                    <a:cubicBezTo>
                      <a:pt x="175" y="514"/>
                      <a:pt x="201" y="540"/>
                      <a:pt x="226" y="540"/>
                    </a:cubicBezTo>
                    <a:close/>
                    <a:moveTo>
                      <a:pt x="401" y="380"/>
                    </a:moveTo>
                    <a:lnTo>
                      <a:pt x="401" y="231"/>
                    </a:lnTo>
                    <a:cubicBezTo>
                      <a:pt x="401" y="149"/>
                      <a:pt x="345" y="82"/>
                      <a:pt x="268" y="62"/>
                    </a:cubicBezTo>
                    <a:lnTo>
                      <a:pt x="268" y="41"/>
                    </a:lnTo>
                    <a:cubicBezTo>
                      <a:pt x="268" y="21"/>
                      <a:pt x="250" y="0"/>
                      <a:pt x="226" y="0"/>
                    </a:cubicBezTo>
                    <a:cubicBezTo>
                      <a:pt x="203" y="0"/>
                      <a:pt x="191" y="21"/>
                      <a:pt x="191" y="41"/>
                    </a:cubicBezTo>
                    <a:lnTo>
                      <a:pt x="191" y="62"/>
                    </a:lnTo>
                    <a:cubicBezTo>
                      <a:pt x="108" y="82"/>
                      <a:pt x="52" y="149"/>
                      <a:pt x="52" y="231"/>
                    </a:cubicBezTo>
                    <a:lnTo>
                      <a:pt x="52" y="380"/>
                    </a:lnTo>
                    <a:lnTo>
                      <a:pt x="0" y="432"/>
                    </a:lnTo>
                    <a:lnTo>
                      <a:pt x="0" y="457"/>
                    </a:lnTo>
                    <a:lnTo>
                      <a:pt x="458" y="457"/>
                    </a:lnTo>
                    <a:lnTo>
                      <a:pt x="458" y="432"/>
                    </a:lnTo>
                    <a:lnTo>
                      <a:pt x="401" y="380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/>
              </a:p>
            </p:txBody>
          </p:sp>
        </p:grpSp>
        <p:grpSp>
          <p:nvGrpSpPr>
            <p:cNvPr id="89" name="그룹 88"/>
            <p:cNvGrpSpPr/>
            <p:nvPr userDrawn="1"/>
          </p:nvGrpSpPr>
          <p:grpSpPr>
            <a:xfrm>
              <a:off x="8446740" y="1445948"/>
              <a:ext cx="202190" cy="202190"/>
              <a:chOff x="9918108" y="2030568"/>
              <a:chExt cx="202190" cy="202190"/>
            </a:xfrm>
          </p:grpSpPr>
          <p:sp>
            <p:nvSpPr>
              <p:cNvPr id="90" name="타원 374"/>
              <p:cNvSpPr/>
              <p:nvPr userDrawn="1"/>
            </p:nvSpPr>
            <p:spPr>
              <a:xfrm>
                <a:off x="9918108" y="2030568"/>
                <a:ext cx="202190" cy="20219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z="800">
                  <a:latin typeface="+mn-ea"/>
                  <a:ea typeface="+mn-ea"/>
                </a:endParaRPr>
              </a:p>
            </p:txBody>
          </p:sp>
          <p:pic>
            <p:nvPicPr>
              <p:cNvPr id="91" name="그림 90"/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9982176" y="2093303"/>
                <a:ext cx="91448" cy="7925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010982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/>
          </p:nvPr>
        </p:nvSpPr>
        <p:spPr>
          <a:xfrm>
            <a:off x="170837" y="109010"/>
            <a:ext cx="10515163" cy="308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600">
                <a:latin typeface="Franklin Gothic Demi Cond" pitchFamily="34" charset="0"/>
                <a:ea typeface="+mj-ea"/>
              </a:defRPr>
            </a:lvl1pPr>
          </a:lstStyle>
          <a:p>
            <a:r>
              <a:rPr kumimoji="1" lang="ko-KR" altLang="en-US" dirty="0" smtClean="0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03573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237316" y="85946"/>
            <a:ext cx="3022450" cy="19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ko-KR" altLang="en-US" dirty="0" smtClean="0"/>
              <a:t>마스터 제목 스타일 편집</a:t>
            </a:r>
            <a:endParaRPr kumimoji="1" lang="ko-KR" altLang="en-US" dirty="0"/>
          </a:p>
        </p:txBody>
      </p:sp>
      <p:sp>
        <p:nvSpPr>
          <p:cNvPr id="3" name="내용 개체 틀 3"/>
          <p:cNvSpPr>
            <a:spLocks noGrp="1"/>
          </p:cNvSpPr>
          <p:nvPr>
            <p:ph sz="quarter" idx="10"/>
          </p:nvPr>
        </p:nvSpPr>
        <p:spPr>
          <a:xfrm>
            <a:off x="5437427" y="85946"/>
            <a:ext cx="3679809" cy="1908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내용 개체 틀 8"/>
          <p:cNvSpPr>
            <a:spLocks noGrp="1"/>
          </p:cNvSpPr>
          <p:nvPr>
            <p:ph sz="quarter" idx="11"/>
          </p:nvPr>
        </p:nvSpPr>
        <p:spPr>
          <a:xfrm>
            <a:off x="10140000" y="298292"/>
            <a:ext cx="1944000" cy="216000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586246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237316" y="85946"/>
            <a:ext cx="3022450" cy="19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ko-KR" altLang="en-US" dirty="0" smtClean="0"/>
              <a:t>마스터 제목 스타일 편집</a:t>
            </a:r>
            <a:endParaRPr kumimoji="1" lang="ko-KR" altLang="en-US" dirty="0"/>
          </a:p>
        </p:txBody>
      </p:sp>
      <p:sp>
        <p:nvSpPr>
          <p:cNvPr id="3" name="내용 개체 틀 3"/>
          <p:cNvSpPr>
            <a:spLocks noGrp="1"/>
          </p:cNvSpPr>
          <p:nvPr>
            <p:ph sz="quarter" idx="10"/>
          </p:nvPr>
        </p:nvSpPr>
        <p:spPr>
          <a:xfrm>
            <a:off x="5437427" y="85946"/>
            <a:ext cx="3679809" cy="1908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내용 개체 틀 8"/>
          <p:cNvSpPr>
            <a:spLocks noGrp="1"/>
          </p:cNvSpPr>
          <p:nvPr>
            <p:ph sz="quarter" idx="11"/>
          </p:nvPr>
        </p:nvSpPr>
        <p:spPr>
          <a:xfrm>
            <a:off x="10140000" y="298292"/>
            <a:ext cx="1944000" cy="216000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02897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/>
          </p:nvPr>
        </p:nvSpPr>
        <p:spPr>
          <a:xfrm>
            <a:off x="1237316" y="85946"/>
            <a:ext cx="3022450" cy="19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kumimoji="1" lang="ko-KR" altLang="en-US" dirty="0" smtClean="0"/>
              <a:t>마스터 제목 스타일 편집</a:t>
            </a:r>
            <a:endParaRPr kumimoji="1"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0"/>
          </p:nvPr>
        </p:nvSpPr>
        <p:spPr>
          <a:xfrm>
            <a:off x="5437427" y="85946"/>
            <a:ext cx="3679809" cy="1908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" name="내용 개체 틀 8"/>
          <p:cNvSpPr>
            <a:spLocks noGrp="1"/>
          </p:cNvSpPr>
          <p:nvPr>
            <p:ph sz="quarter" idx="11"/>
          </p:nvPr>
        </p:nvSpPr>
        <p:spPr>
          <a:xfrm>
            <a:off x="10140000" y="298292"/>
            <a:ext cx="1944000" cy="216000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57978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개체 틀 1"/>
          <p:cNvSpPr>
            <a:spLocks noGrp="1"/>
          </p:cNvSpPr>
          <p:nvPr>
            <p:ph type="title"/>
          </p:nvPr>
        </p:nvSpPr>
        <p:spPr>
          <a:xfrm>
            <a:off x="170837" y="109010"/>
            <a:ext cx="10515163" cy="308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600">
                <a:latin typeface="+mj-ea"/>
                <a:ea typeface="+mj-ea"/>
              </a:defRPr>
            </a:lvl1pPr>
          </a:lstStyle>
          <a:p>
            <a:r>
              <a:rPr kumimoji="1" lang="ko-KR" altLang="en-US" dirty="0" smtClean="0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8546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/>
          </p:nvPr>
        </p:nvSpPr>
        <p:spPr>
          <a:xfrm>
            <a:off x="170837" y="166885"/>
            <a:ext cx="10515163" cy="308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600">
                <a:latin typeface="+mj-ea"/>
                <a:ea typeface="+mj-ea"/>
              </a:defRPr>
            </a:lvl1pPr>
          </a:lstStyle>
          <a:p>
            <a:r>
              <a:rPr kumimoji="1" lang="ko-KR" altLang="en-US" dirty="0" smtClean="0"/>
              <a:t>마스터 제목 스타일 편집</a:t>
            </a:r>
            <a:endParaRPr kumimoji="1" lang="ko-KR" altLang="en-US" dirty="0"/>
          </a:p>
        </p:txBody>
      </p:sp>
      <p:sp>
        <p:nvSpPr>
          <p:cNvPr id="4" name="Line 10"/>
          <p:cNvSpPr>
            <a:spLocks noChangeShapeType="1"/>
          </p:cNvSpPr>
          <p:nvPr userDrawn="1"/>
        </p:nvSpPr>
        <p:spPr bwMode="auto">
          <a:xfrm flipV="1">
            <a:off x="168961" y="983938"/>
            <a:ext cx="118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129214" tIns="64607" rIns="129214" bIns="64607"/>
          <a:lstStyle/>
          <a:p>
            <a:pPr lvl="0" latinLnBrk="1"/>
            <a:endParaRPr kumimoji="1" lang="ko-KR" altLang="en-US" sz="2500">
              <a:ln w="6350" cmpd="sng">
                <a:solidFill>
                  <a:schemeClr val="tx1"/>
                </a:solidFill>
              </a:ln>
              <a:latin typeface="굴림" charset="-127"/>
              <a:ea typeface="굴림" charset="-127"/>
              <a:cs typeface="굴림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sz="quarter" idx="11"/>
          </p:nvPr>
        </p:nvSpPr>
        <p:spPr>
          <a:xfrm>
            <a:off x="180168" y="616441"/>
            <a:ext cx="3348000" cy="324000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57488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/>
          </p:nvPr>
        </p:nvSpPr>
        <p:spPr>
          <a:xfrm>
            <a:off x="170837" y="109010"/>
            <a:ext cx="10515163" cy="308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600">
                <a:latin typeface="Franklin Gothic Demi Cond" pitchFamily="34" charset="0"/>
                <a:ea typeface="+mj-ea"/>
              </a:defRPr>
            </a:lvl1pPr>
          </a:lstStyle>
          <a:p>
            <a:r>
              <a:rPr kumimoji="1" lang="ko-KR" altLang="en-US" dirty="0" smtClean="0"/>
              <a:t>마스터 제목 스타일 편집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4630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830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681038" y="2286000"/>
            <a:ext cx="7697852" cy="565772"/>
          </a:xfrm>
          <a:prstGeom prst="rect">
            <a:avLst/>
          </a:prstGeom>
        </p:spPr>
        <p:txBody>
          <a:bodyPr lIns="68415" tIns="34208" rIns="68415" bIns="34208" anchor="ctr">
            <a:noAutofit/>
          </a:bodyPr>
          <a:lstStyle>
            <a:lvl1pPr algn="l">
              <a:defRPr sz="2400" b="0" spc="-112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 userDrawn="1"/>
        </p:nvSpPr>
        <p:spPr>
          <a:xfrm>
            <a:off x="535261" y="2466005"/>
            <a:ext cx="54000" cy="2520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415" tIns="34208" rIns="68415" bIns="34208"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681038" y="2851771"/>
            <a:ext cx="769785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355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40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/>
          </p:nvPr>
        </p:nvSpPr>
        <p:spPr>
          <a:xfrm>
            <a:off x="170837" y="109010"/>
            <a:ext cx="10515163" cy="308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600">
                <a:latin typeface="+mj-ea"/>
                <a:ea typeface="+mj-ea"/>
              </a:defRPr>
            </a:lvl1pPr>
          </a:lstStyle>
          <a:p>
            <a:r>
              <a:rPr kumimoji="1" lang="ko-KR" altLang="en-US" dirty="0" smtClean="0"/>
              <a:t>마스터 제목 스타일 편집</a:t>
            </a:r>
            <a:endParaRPr kumimoji="1" lang="ko-KR" altLang="en-US" dirty="0"/>
          </a:p>
        </p:txBody>
      </p:sp>
      <p:sp>
        <p:nvSpPr>
          <p:cNvPr id="4" name="Line 10"/>
          <p:cNvSpPr>
            <a:spLocks noChangeShapeType="1"/>
          </p:cNvSpPr>
          <p:nvPr userDrawn="1"/>
        </p:nvSpPr>
        <p:spPr bwMode="auto">
          <a:xfrm flipV="1">
            <a:off x="168961" y="983938"/>
            <a:ext cx="11844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lIns="129214" tIns="64607" rIns="129214" bIns="64607"/>
          <a:lstStyle/>
          <a:p>
            <a:pPr lvl="0" latinLnBrk="1"/>
            <a:endParaRPr kumimoji="1" lang="ko-KR" altLang="en-US" sz="2500">
              <a:ln w="6350" cmpd="sng">
                <a:solidFill>
                  <a:schemeClr val="tx1"/>
                </a:solidFill>
              </a:ln>
              <a:latin typeface="굴림" charset="-127"/>
              <a:ea typeface="굴림" charset="-127"/>
              <a:cs typeface="굴림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sz="quarter" idx="11"/>
          </p:nvPr>
        </p:nvSpPr>
        <p:spPr>
          <a:xfrm>
            <a:off x="180168" y="616441"/>
            <a:ext cx="3348000" cy="324000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609738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12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11.xml"/><Relationship Id="rId9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처리 6"/>
          <p:cNvSpPr/>
          <p:nvPr/>
        </p:nvSpPr>
        <p:spPr>
          <a:xfrm>
            <a:off x="0" y="4394"/>
            <a:ext cx="12192000" cy="6853606"/>
          </a:xfrm>
          <a:prstGeom prst="flowChartProcess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algn="r"/>
            <a:fld id="{209D9B70-5658-42EA-A7C8-1D839C7DC5C0}" type="slidenum">
              <a:rPr lang="ko-KR" altLang="en-US" sz="10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+mn-ea"/>
              </a:rPr>
              <a:t>‹#›</a:t>
            </a:fld>
            <a:endParaRPr lang="ko-KR" altLang="en-US" sz="1000" b="0" smtClean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Trebuchet MS" panose="020B0603020202020204" pitchFamily="34" charset="0"/>
              <a:ea typeface="굴림" pitchFamily="50" charset="-127"/>
              <a:cs typeface="Verdana" panose="020B0604030504040204" pitchFamily="34" charset="0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990124" y="1793965"/>
            <a:ext cx="8533160" cy="7703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4400" b="1" smtClean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</a:rPr>
              <a:t>EGW</a:t>
            </a:r>
            <a:r>
              <a:rPr kumimoji="0" lang="en-US" altLang="ko-KR" sz="440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_</a:t>
            </a:r>
            <a:endParaRPr kumimoji="0" lang="ko-KR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endParaRPr>
          </a:p>
        </p:txBody>
      </p:sp>
      <p:sp>
        <p:nvSpPr>
          <p:cNvPr id="6" name="텍스트 개체 틀 21"/>
          <p:cNvSpPr txBox="1">
            <a:spLocks/>
          </p:cNvSpPr>
          <p:nvPr/>
        </p:nvSpPr>
        <p:spPr>
          <a:xfrm>
            <a:off x="1001450" y="2473846"/>
            <a:ext cx="2736304" cy="90300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ko-KR" altLang="en-US" sz="2400" b="1" kern="1200" smtClean="0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  <a:lvl2pPr marL="596646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ko-KR" alt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ko-KR" sz="1100" b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Ver :</a:t>
            </a:r>
          </a:p>
          <a:p>
            <a:pPr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1100" b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작성일 </a:t>
            </a:r>
            <a:r>
              <a:rPr kumimoji="0" lang="en-US" altLang="ko-KR" sz="1100" b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  <a:p>
            <a:pPr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1100" b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작성자 </a:t>
            </a:r>
            <a:r>
              <a:rPr kumimoji="0" lang="en-US" altLang="ko-KR" sz="1100" b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56423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5" r:id="rId1"/>
    <p:sldLayoutId id="2147485064" r:id="rId2"/>
    <p:sldLayoutId id="2147485065" r:id="rId3"/>
    <p:sldLayoutId id="2147485066" r:id="rId4"/>
    <p:sldLayoutId id="2147485067" r:id="rId5"/>
    <p:sldLayoutId id="2147485068" r:id="rId6"/>
    <p:sldLayoutId id="2147485069" r:id="rId7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901399"/>
              </p:ext>
            </p:extLst>
          </p:nvPr>
        </p:nvGraphicFramePr>
        <p:xfrm>
          <a:off x="51480" y="83132"/>
          <a:ext cx="9173409" cy="213360"/>
        </p:xfrm>
        <a:graphic>
          <a:graphicData uri="http://schemas.openxmlformats.org/drawingml/2006/table">
            <a:tbl>
              <a:tblPr/>
              <a:tblGrid>
                <a:gridCol w="1170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4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0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3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화면경로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875778"/>
              </p:ext>
            </p:extLst>
          </p:nvPr>
        </p:nvGraphicFramePr>
        <p:xfrm>
          <a:off x="9290533" y="83132"/>
          <a:ext cx="2835141" cy="648072"/>
        </p:xfrm>
        <a:graphic>
          <a:graphicData uri="http://schemas.openxmlformats.org/drawingml/2006/table">
            <a:tbl>
              <a:tblPr/>
              <a:tblGrid>
                <a:gridCol w="82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PROJECT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EGW UI/UX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개선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이수진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나눔고딕" panose="020B0600000101010101" charset="-127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Trebuchet MS" panose="020B0603020202020204" pitchFamily="34" charset="0"/>
              <a:ea typeface="나눔고딕" panose="020B0600000101010101" charset="-127"/>
              <a:cs typeface="Verdana" panose="020B0604030504040204" pitchFamily="34" charset="0"/>
            </a:endParaRPr>
          </a:p>
        </p:txBody>
      </p:sp>
      <p:sp>
        <p:nvSpPr>
          <p:cNvPr id="1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9"/>
            </p:custDataLst>
          </p:nvPr>
        </p:nvSpPr>
        <p:spPr>
          <a:xfrm>
            <a:off x="52602" y="347472"/>
            <a:ext cx="9173460" cy="632188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3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0"/>
            </p:custDataLst>
          </p:nvPr>
        </p:nvSpPr>
        <p:spPr>
          <a:xfrm>
            <a:off x="52602" y="74712"/>
            <a:ext cx="9173460" cy="211038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4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1"/>
            </p:custDataLst>
          </p:nvPr>
        </p:nvSpPr>
        <p:spPr>
          <a:xfrm>
            <a:off x="9273877" y="74712"/>
            <a:ext cx="2851448" cy="65871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6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2"/>
            </p:custDataLst>
          </p:nvPr>
        </p:nvSpPr>
        <p:spPr>
          <a:xfrm>
            <a:off x="9273877" y="790574"/>
            <a:ext cx="2851448" cy="587878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algn="r"/>
            <a:fld id="{209D9B70-5658-42EA-A7C8-1D839C7DC5C0}" type="slidenum">
              <a:rPr lang="ko-KR" altLang="en-US" sz="10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‹#›</a:t>
            </a:fld>
            <a:endParaRPr lang="ko-KR" altLang="en-US" sz="1000" b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153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7" r:id="rId1"/>
    <p:sldLayoutId id="2147485041" r:id="rId2"/>
    <p:sldLayoutId id="2147485042" r:id="rId3"/>
    <p:sldLayoutId id="2147485071" r:id="rId4"/>
    <p:sldLayoutId id="2147485072" r:id="rId5"/>
    <p:sldLayoutId id="2147485073" r:id="rId6"/>
    <p:sldLayoutId id="2147485074" r:id="rId7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9D9B70-5658-42EA-A7C8-1D839C7DC5C0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w Cen MT" panose="020B0602020104020603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w Cen MT" panose="020B0602020104020603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rebuchet MS" panose="020B0603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Trebuchet MS" panose="020B0603020202020204" pitchFamily="34" charset="0"/>
              <a:ea typeface="굴림" pitchFamily="50" charset="-127"/>
              <a:cs typeface="Verdana" panose="020B0604030504040204" pitchFamily="34" charset="0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201000" y="546283"/>
            <a:ext cx="1181196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524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9" r:id="rId1"/>
    <p:sldLayoutId id="2147485051" r:id="rId2"/>
    <p:sldLayoutId id="2147485040" r:id="rId3"/>
    <p:sldLayoutId id="2147485063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9D9B70-5658-42EA-A7C8-1D839C7DC5C0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w Cen MT" panose="020B0602020104020603" pitchFamily="34" charset="0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w Cen MT" panose="020B0602020104020603" pitchFamily="34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Verdana" panose="020B0604030504040204" pitchFamily="34" charset="0"/>
              <a:ea typeface="굴림" pitchFamily="50" charset="-127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53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4" r:id="rId1"/>
    <p:sldLayoutId id="2147485045" r:id="rId2"/>
    <p:sldLayoutId id="2147485059" r:id="rId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tags" Target="../tags/tag33.xml"/><Relationship Id="rId21" Type="http://schemas.openxmlformats.org/officeDocument/2006/relationships/tags" Target="../tags/tag28.xml"/><Relationship Id="rId34" Type="http://schemas.openxmlformats.org/officeDocument/2006/relationships/tags" Target="../tags/tag41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tags" Target="../tags/tag32.xml"/><Relationship Id="rId33" Type="http://schemas.openxmlformats.org/officeDocument/2006/relationships/tags" Target="../tags/tag40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29" Type="http://schemas.openxmlformats.org/officeDocument/2006/relationships/tags" Target="../tags/tag36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32" Type="http://schemas.openxmlformats.org/officeDocument/2006/relationships/tags" Target="../tags/tag39.xml"/><Relationship Id="rId37" Type="http://schemas.openxmlformats.org/officeDocument/2006/relationships/image" Target="../media/image4.png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28" Type="http://schemas.openxmlformats.org/officeDocument/2006/relationships/tags" Target="../tags/tag35.xml"/><Relationship Id="rId36" Type="http://schemas.openxmlformats.org/officeDocument/2006/relationships/notesSlide" Target="../notesSlides/notesSlide1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31" Type="http://schemas.openxmlformats.org/officeDocument/2006/relationships/tags" Target="../tags/tag38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30" Type="http://schemas.openxmlformats.org/officeDocument/2006/relationships/tags" Target="../tags/tag37.xml"/><Relationship Id="rId35" Type="http://schemas.openxmlformats.org/officeDocument/2006/relationships/slideLayout" Target="../slideLayouts/slideLayout8.xml"/><Relationship Id="rId8" Type="http://schemas.openxmlformats.org/officeDocument/2006/relationships/tags" Target="../tags/tag15.xml"/><Relationship Id="rId3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4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26" Type="http://schemas.openxmlformats.org/officeDocument/2006/relationships/tags" Target="../tags/tag75.xml"/><Relationship Id="rId39" Type="http://schemas.openxmlformats.org/officeDocument/2006/relationships/tags" Target="../tags/tag88.xml"/><Relationship Id="rId21" Type="http://schemas.openxmlformats.org/officeDocument/2006/relationships/tags" Target="../tags/tag70.xml"/><Relationship Id="rId34" Type="http://schemas.openxmlformats.org/officeDocument/2006/relationships/tags" Target="../tags/tag83.xml"/><Relationship Id="rId42" Type="http://schemas.openxmlformats.org/officeDocument/2006/relationships/tags" Target="../tags/tag91.xml"/><Relationship Id="rId47" Type="http://schemas.openxmlformats.org/officeDocument/2006/relationships/tags" Target="../tags/tag96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29" Type="http://schemas.openxmlformats.org/officeDocument/2006/relationships/tags" Target="../tags/tag78.xml"/><Relationship Id="rId11" Type="http://schemas.openxmlformats.org/officeDocument/2006/relationships/tags" Target="../tags/tag60.xml"/><Relationship Id="rId24" Type="http://schemas.openxmlformats.org/officeDocument/2006/relationships/tags" Target="../tags/tag73.xml"/><Relationship Id="rId32" Type="http://schemas.openxmlformats.org/officeDocument/2006/relationships/tags" Target="../tags/tag81.xml"/><Relationship Id="rId37" Type="http://schemas.openxmlformats.org/officeDocument/2006/relationships/tags" Target="../tags/tag86.xml"/><Relationship Id="rId40" Type="http://schemas.openxmlformats.org/officeDocument/2006/relationships/tags" Target="../tags/tag89.xml"/><Relationship Id="rId45" Type="http://schemas.openxmlformats.org/officeDocument/2006/relationships/tags" Target="../tags/tag94.xml"/><Relationship Id="rId5" Type="http://schemas.openxmlformats.org/officeDocument/2006/relationships/tags" Target="../tags/tag54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tags" Target="../tags/tag77.xml"/><Relationship Id="rId36" Type="http://schemas.openxmlformats.org/officeDocument/2006/relationships/tags" Target="../tags/tag85.xml"/><Relationship Id="rId49" Type="http://schemas.openxmlformats.org/officeDocument/2006/relationships/image" Target="../media/image17.png"/><Relationship Id="rId10" Type="http://schemas.openxmlformats.org/officeDocument/2006/relationships/tags" Target="../tags/tag59.xml"/><Relationship Id="rId19" Type="http://schemas.openxmlformats.org/officeDocument/2006/relationships/tags" Target="../tags/tag68.xml"/><Relationship Id="rId31" Type="http://schemas.openxmlformats.org/officeDocument/2006/relationships/tags" Target="../tags/tag80.xml"/><Relationship Id="rId44" Type="http://schemas.openxmlformats.org/officeDocument/2006/relationships/tags" Target="../tags/tag93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Relationship Id="rId22" Type="http://schemas.openxmlformats.org/officeDocument/2006/relationships/tags" Target="../tags/tag71.xml"/><Relationship Id="rId27" Type="http://schemas.openxmlformats.org/officeDocument/2006/relationships/tags" Target="../tags/tag76.xml"/><Relationship Id="rId30" Type="http://schemas.openxmlformats.org/officeDocument/2006/relationships/tags" Target="../tags/tag79.xml"/><Relationship Id="rId35" Type="http://schemas.openxmlformats.org/officeDocument/2006/relationships/tags" Target="../tags/tag84.xml"/><Relationship Id="rId43" Type="http://schemas.openxmlformats.org/officeDocument/2006/relationships/tags" Target="../tags/tag92.xml"/><Relationship Id="rId48" Type="http://schemas.openxmlformats.org/officeDocument/2006/relationships/slideLayout" Target="../slideLayouts/slideLayout8.xml"/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74.xml"/><Relationship Id="rId33" Type="http://schemas.openxmlformats.org/officeDocument/2006/relationships/tags" Target="../tags/tag82.xml"/><Relationship Id="rId38" Type="http://schemas.openxmlformats.org/officeDocument/2006/relationships/tags" Target="../tags/tag87.xml"/><Relationship Id="rId46" Type="http://schemas.openxmlformats.org/officeDocument/2006/relationships/tags" Target="../tags/tag95.xml"/><Relationship Id="rId20" Type="http://schemas.openxmlformats.org/officeDocument/2006/relationships/tags" Target="../tags/tag69.xml"/><Relationship Id="rId41" Type="http://schemas.openxmlformats.org/officeDocument/2006/relationships/tags" Target="../tags/tag90.xml"/><Relationship Id="rId1" Type="http://schemas.openxmlformats.org/officeDocument/2006/relationships/tags" Target="../tags/tag50.xml"/><Relationship Id="rId6" Type="http://schemas.openxmlformats.org/officeDocument/2006/relationships/tags" Target="../tags/tag5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03.xml"/><Relationship Id="rId7" Type="http://schemas.openxmlformats.org/officeDocument/2006/relationships/image" Target="../media/image12.png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05.xml"/><Relationship Id="rId4" Type="http://schemas.openxmlformats.org/officeDocument/2006/relationships/tags" Target="../tags/tag10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8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slideLayout" Target="../slideLayouts/slideLayout10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5" Type="http://schemas.openxmlformats.org/officeDocument/2006/relationships/tags" Target="../tags/tag113.xml"/><Relationship Id="rId15" Type="http://schemas.openxmlformats.org/officeDocument/2006/relationships/image" Target="../media/image23.png"/><Relationship Id="rId10" Type="http://schemas.openxmlformats.org/officeDocument/2006/relationships/tags" Target="../tags/tag118.xml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25.xml"/><Relationship Id="rId4" Type="http://schemas.openxmlformats.org/officeDocument/2006/relationships/tags" Target="../tags/tag12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28.xml"/><Relationship Id="rId7" Type="http://schemas.openxmlformats.org/officeDocument/2006/relationships/slideLayout" Target="../slideLayouts/slideLayout10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10" Type="http://schemas.openxmlformats.org/officeDocument/2006/relationships/image" Target="../media/image29.png"/><Relationship Id="rId4" Type="http://schemas.openxmlformats.org/officeDocument/2006/relationships/tags" Target="../tags/tag129.xml"/><Relationship Id="rId9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13" Type="http://schemas.openxmlformats.org/officeDocument/2006/relationships/tags" Target="../tags/tag144.xml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12" Type="http://schemas.openxmlformats.org/officeDocument/2006/relationships/tags" Target="../tags/tag143.xml"/><Relationship Id="rId17" Type="http://schemas.openxmlformats.org/officeDocument/2006/relationships/image" Target="../media/image2.png"/><Relationship Id="rId2" Type="http://schemas.openxmlformats.org/officeDocument/2006/relationships/tags" Target="../tags/tag133.xml"/><Relationship Id="rId16" Type="http://schemas.openxmlformats.org/officeDocument/2006/relationships/slideLayout" Target="../slideLayouts/slideLayout16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tags" Target="../tags/tag142.xml"/><Relationship Id="rId5" Type="http://schemas.openxmlformats.org/officeDocument/2006/relationships/tags" Target="../tags/tag136.xml"/><Relationship Id="rId15" Type="http://schemas.openxmlformats.org/officeDocument/2006/relationships/tags" Target="../tags/tag146.xml"/><Relationship Id="rId10" Type="http://schemas.openxmlformats.org/officeDocument/2006/relationships/tags" Target="../tags/tag141.xml"/><Relationship Id="rId4" Type="http://schemas.openxmlformats.org/officeDocument/2006/relationships/tags" Target="../tags/tag135.xml"/><Relationship Id="rId9" Type="http://schemas.openxmlformats.org/officeDocument/2006/relationships/tags" Target="../tags/tag140.xml"/><Relationship Id="rId14" Type="http://schemas.openxmlformats.org/officeDocument/2006/relationships/tags" Target="../tags/tag14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18" Type="http://schemas.openxmlformats.org/officeDocument/2006/relationships/tags" Target="../tags/tag164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17" Type="http://schemas.openxmlformats.org/officeDocument/2006/relationships/tags" Target="../tags/tag163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20" Type="http://schemas.openxmlformats.org/officeDocument/2006/relationships/image" Target="../media/image5.png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10" Type="http://schemas.openxmlformats.org/officeDocument/2006/relationships/tags" Target="../tags/tag156.xml"/><Relationship Id="rId19" Type="http://schemas.openxmlformats.org/officeDocument/2006/relationships/slideLayout" Target="../slideLayouts/slideLayout10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13" Type="http://schemas.openxmlformats.org/officeDocument/2006/relationships/tags" Target="../tags/tag177.xml"/><Relationship Id="rId18" Type="http://schemas.openxmlformats.org/officeDocument/2006/relationships/tags" Target="../tags/tag182.xml"/><Relationship Id="rId3" Type="http://schemas.openxmlformats.org/officeDocument/2006/relationships/tags" Target="../tags/tag167.xml"/><Relationship Id="rId7" Type="http://schemas.openxmlformats.org/officeDocument/2006/relationships/tags" Target="../tags/tag171.xml"/><Relationship Id="rId12" Type="http://schemas.openxmlformats.org/officeDocument/2006/relationships/tags" Target="../tags/tag176.xml"/><Relationship Id="rId17" Type="http://schemas.openxmlformats.org/officeDocument/2006/relationships/tags" Target="../tags/tag181.xml"/><Relationship Id="rId2" Type="http://schemas.openxmlformats.org/officeDocument/2006/relationships/tags" Target="../tags/tag166.xml"/><Relationship Id="rId16" Type="http://schemas.openxmlformats.org/officeDocument/2006/relationships/tags" Target="../tags/tag180.xml"/><Relationship Id="rId20" Type="http://schemas.openxmlformats.org/officeDocument/2006/relationships/image" Target="../media/image5.png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tags" Target="../tags/tag175.xml"/><Relationship Id="rId5" Type="http://schemas.openxmlformats.org/officeDocument/2006/relationships/tags" Target="../tags/tag169.xml"/><Relationship Id="rId15" Type="http://schemas.openxmlformats.org/officeDocument/2006/relationships/tags" Target="../tags/tag179.xml"/><Relationship Id="rId10" Type="http://schemas.openxmlformats.org/officeDocument/2006/relationships/tags" Target="../tags/tag174.xml"/><Relationship Id="rId19" Type="http://schemas.openxmlformats.org/officeDocument/2006/relationships/slideLayout" Target="../slideLayouts/slideLayout10.xml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tags" Target="../tags/tag178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13" Type="http://schemas.openxmlformats.org/officeDocument/2006/relationships/tags" Target="../tags/tag195.xml"/><Relationship Id="rId18" Type="http://schemas.openxmlformats.org/officeDocument/2006/relationships/tags" Target="../tags/tag200.xml"/><Relationship Id="rId26" Type="http://schemas.openxmlformats.org/officeDocument/2006/relationships/slideLayout" Target="../slideLayouts/slideLayout10.xml"/><Relationship Id="rId3" Type="http://schemas.openxmlformats.org/officeDocument/2006/relationships/tags" Target="../tags/tag185.xml"/><Relationship Id="rId21" Type="http://schemas.openxmlformats.org/officeDocument/2006/relationships/tags" Target="../tags/tag203.xml"/><Relationship Id="rId7" Type="http://schemas.openxmlformats.org/officeDocument/2006/relationships/tags" Target="../tags/tag189.xml"/><Relationship Id="rId12" Type="http://schemas.openxmlformats.org/officeDocument/2006/relationships/tags" Target="../tags/tag194.xml"/><Relationship Id="rId17" Type="http://schemas.openxmlformats.org/officeDocument/2006/relationships/tags" Target="../tags/tag199.xml"/><Relationship Id="rId25" Type="http://schemas.openxmlformats.org/officeDocument/2006/relationships/tags" Target="../tags/tag207.xml"/><Relationship Id="rId2" Type="http://schemas.openxmlformats.org/officeDocument/2006/relationships/tags" Target="../tags/tag184.xml"/><Relationship Id="rId16" Type="http://schemas.openxmlformats.org/officeDocument/2006/relationships/tags" Target="../tags/tag198.xml"/><Relationship Id="rId20" Type="http://schemas.openxmlformats.org/officeDocument/2006/relationships/tags" Target="../tags/tag202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tags" Target="../tags/tag193.xml"/><Relationship Id="rId24" Type="http://schemas.openxmlformats.org/officeDocument/2006/relationships/tags" Target="../tags/tag206.xml"/><Relationship Id="rId5" Type="http://schemas.openxmlformats.org/officeDocument/2006/relationships/tags" Target="../tags/tag187.xml"/><Relationship Id="rId15" Type="http://schemas.openxmlformats.org/officeDocument/2006/relationships/tags" Target="../tags/tag197.xml"/><Relationship Id="rId23" Type="http://schemas.openxmlformats.org/officeDocument/2006/relationships/tags" Target="../tags/tag205.xml"/><Relationship Id="rId28" Type="http://schemas.openxmlformats.org/officeDocument/2006/relationships/image" Target="../media/image5.png"/><Relationship Id="rId10" Type="http://schemas.openxmlformats.org/officeDocument/2006/relationships/tags" Target="../tags/tag192.xml"/><Relationship Id="rId19" Type="http://schemas.openxmlformats.org/officeDocument/2006/relationships/tags" Target="../tags/tag201.xml"/><Relationship Id="rId4" Type="http://schemas.openxmlformats.org/officeDocument/2006/relationships/tags" Target="../tags/tag186.xml"/><Relationship Id="rId9" Type="http://schemas.openxmlformats.org/officeDocument/2006/relationships/tags" Target="../tags/tag191.xml"/><Relationship Id="rId14" Type="http://schemas.openxmlformats.org/officeDocument/2006/relationships/tags" Target="../tags/tag196.xml"/><Relationship Id="rId22" Type="http://schemas.openxmlformats.org/officeDocument/2006/relationships/tags" Target="../tags/tag204.xml"/><Relationship Id="rId27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tags" Target="../tags/tag223.xml"/><Relationship Id="rId18" Type="http://schemas.openxmlformats.org/officeDocument/2006/relationships/tags" Target="../tags/tag228.xml"/><Relationship Id="rId26" Type="http://schemas.openxmlformats.org/officeDocument/2006/relationships/tags" Target="../tags/tag236.xml"/><Relationship Id="rId3" Type="http://schemas.openxmlformats.org/officeDocument/2006/relationships/tags" Target="../tags/tag213.xml"/><Relationship Id="rId21" Type="http://schemas.openxmlformats.org/officeDocument/2006/relationships/tags" Target="../tags/tag231.xml"/><Relationship Id="rId34" Type="http://schemas.openxmlformats.org/officeDocument/2006/relationships/slideLayout" Target="../slideLayouts/slideLayout10.xml"/><Relationship Id="rId7" Type="http://schemas.openxmlformats.org/officeDocument/2006/relationships/tags" Target="../tags/tag217.xml"/><Relationship Id="rId12" Type="http://schemas.openxmlformats.org/officeDocument/2006/relationships/tags" Target="../tags/tag222.xml"/><Relationship Id="rId17" Type="http://schemas.openxmlformats.org/officeDocument/2006/relationships/tags" Target="../tags/tag227.xml"/><Relationship Id="rId25" Type="http://schemas.openxmlformats.org/officeDocument/2006/relationships/tags" Target="../tags/tag235.xml"/><Relationship Id="rId33" Type="http://schemas.openxmlformats.org/officeDocument/2006/relationships/tags" Target="../tags/tag243.xml"/><Relationship Id="rId2" Type="http://schemas.openxmlformats.org/officeDocument/2006/relationships/tags" Target="../tags/tag212.xml"/><Relationship Id="rId16" Type="http://schemas.openxmlformats.org/officeDocument/2006/relationships/tags" Target="../tags/tag226.xml"/><Relationship Id="rId20" Type="http://schemas.openxmlformats.org/officeDocument/2006/relationships/tags" Target="../tags/tag230.xml"/><Relationship Id="rId29" Type="http://schemas.openxmlformats.org/officeDocument/2006/relationships/tags" Target="../tags/tag239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11" Type="http://schemas.openxmlformats.org/officeDocument/2006/relationships/tags" Target="../tags/tag221.xml"/><Relationship Id="rId24" Type="http://schemas.openxmlformats.org/officeDocument/2006/relationships/tags" Target="../tags/tag234.xml"/><Relationship Id="rId32" Type="http://schemas.openxmlformats.org/officeDocument/2006/relationships/tags" Target="../tags/tag242.xml"/><Relationship Id="rId5" Type="http://schemas.openxmlformats.org/officeDocument/2006/relationships/tags" Target="../tags/tag215.xml"/><Relationship Id="rId15" Type="http://schemas.openxmlformats.org/officeDocument/2006/relationships/tags" Target="../tags/tag225.xml"/><Relationship Id="rId23" Type="http://schemas.openxmlformats.org/officeDocument/2006/relationships/tags" Target="../tags/tag233.xml"/><Relationship Id="rId28" Type="http://schemas.openxmlformats.org/officeDocument/2006/relationships/tags" Target="../tags/tag238.xml"/><Relationship Id="rId36" Type="http://schemas.openxmlformats.org/officeDocument/2006/relationships/image" Target="../media/image23.png"/><Relationship Id="rId10" Type="http://schemas.openxmlformats.org/officeDocument/2006/relationships/tags" Target="../tags/tag220.xml"/><Relationship Id="rId19" Type="http://schemas.openxmlformats.org/officeDocument/2006/relationships/tags" Target="../tags/tag229.xml"/><Relationship Id="rId31" Type="http://schemas.openxmlformats.org/officeDocument/2006/relationships/tags" Target="../tags/tag241.xml"/><Relationship Id="rId4" Type="http://schemas.openxmlformats.org/officeDocument/2006/relationships/tags" Target="../tags/tag214.xml"/><Relationship Id="rId9" Type="http://schemas.openxmlformats.org/officeDocument/2006/relationships/tags" Target="../tags/tag219.xml"/><Relationship Id="rId14" Type="http://schemas.openxmlformats.org/officeDocument/2006/relationships/tags" Target="../tags/tag224.xml"/><Relationship Id="rId22" Type="http://schemas.openxmlformats.org/officeDocument/2006/relationships/tags" Target="../tags/tag232.xml"/><Relationship Id="rId27" Type="http://schemas.openxmlformats.org/officeDocument/2006/relationships/tags" Target="../tags/tag237.xml"/><Relationship Id="rId30" Type="http://schemas.openxmlformats.org/officeDocument/2006/relationships/tags" Target="../tags/tag240.xml"/><Relationship Id="rId35" Type="http://schemas.openxmlformats.org/officeDocument/2006/relationships/image" Target="../media/image33.png"/><Relationship Id="rId8" Type="http://schemas.openxmlformats.org/officeDocument/2006/relationships/tags" Target="../tags/tag2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tags" Target="../tags/tag256.xml"/><Relationship Id="rId18" Type="http://schemas.openxmlformats.org/officeDocument/2006/relationships/tags" Target="../tags/tag261.xml"/><Relationship Id="rId26" Type="http://schemas.openxmlformats.org/officeDocument/2006/relationships/tags" Target="../tags/tag269.xml"/><Relationship Id="rId3" Type="http://schemas.openxmlformats.org/officeDocument/2006/relationships/tags" Target="../tags/tag246.xml"/><Relationship Id="rId21" Type="http://schemas.openxmlformats.org/officeDocument/2006/relationships/tags" Target="../tags/tag264.xml"/><Relationship Id="rId34" Type="http://schemas.openxmlformats.org/officeDocument/2006/relationships/slideLayout" Target="../slideLayouts/slideLayout10.xml"/><Relationship Id="rId7" Type="http://schemas.openxmlformats.org/officeDocument/2006/relationships/tags" Target="../tags/tag250.xml"/><Relationship Id="rId12" Type="http://schemas.openxmlformats.org/officeDocument/2006/relationships/tags" Target="../tags/tag255.xml"/><Relationship Id="rId17" Type="http://schemas.openxmlformats.org/officeDocument/2006/relationships/tags" Target="../tags/tag260.xml"/><Relationship Id="rId25" Type="http://schemas.openxmlformats.org/officeDocument/2006/relationships/tags" Target="../tags/tag268.xml"/><Relationship Id="rId33" Type="http://schemas.openxmlformats.org/officeDocument/2006/relationships/tags" Target="../tags/tag276.xml"/><Relationship Id="rId2" Type="http://schemas.openxmlformats.org/officeDocument/2006/relationships/tags" Target="../tags/tag245.xml"/><Relationship Id="rId16" Type="http://schemas.openxmlformats.org/officeDocument/2006/relationships/tags" Target="../tags/tag259.xml"/><Relationship Id="rId20" Type="http://schemas.openxmlformats.org/officeDocument/2006/relationships/tags" Target="../tags/tag263.xml"/><Relationship Id="rId29" Type="http://schemas.openxmlformats.org/officeDocument/2006/relationships/tags" Target="../tags/tag272.xml"/><Relationship Id="rId1" Type="http://schemas.openxmlformats.org/officeDocument/2006/relationships/tags" Target="../tags/tag244.xml"/><Relationship Id="rId6" Type="http://schemas.openxmlformats.org/officeDocument/2006/relationships/tags" Target="../tags/tag249.xml"/><Relationship Id="rId11" Type="http://schemas.openxmlformats.org/officeDocument/2006/relationships/tags" Target="../tags/tag254.xml"/><Relationship Id="rId24" Type="http://schemas.openxmlformats.org/officeDocument/2006/relationships/tags" Target="../tags/tag267.xml"/><Relationship Id="rId32" Type="http://schemas.openxmlformats.org/officeDocument/2006/relationships/tags" Target="../tags/tag275.xml"/><Relationship Id="rId5" Type="http://schemas.openxmlformats.org/officeDocument/2006/relationships/tags" Target="../tags/tag248.xml"/><Relationship Id="rId15" Type="http://schemas.openxmlformats.org/officeDocument/2006/relationships/tags" Target="../tags/tag258.xml"/><Relationship Id="rId23" Type="http://schemas.openxmlformats.org/officeDocument/2006/relationships/tags" Target="../tags/tag266.xml"/><Relationship Id="rId28" Type="http://schemas.openxmlformats.org/officeDocument/2006/relationships/tags" Target="../tags/tag271.xml"/><Relationship Id="rId10" Type="http://schemas.openxmlformats.org/officeDocument/2006/relationships/tags" Target="../tags/tag253.xml"/><Relationship Id="rId19" Type="http://schemas.openxmlformats.org/officeDocument/2006/relationships/tags" Target="../tags/tag262.xml"/><Relationship Id="rId31" Type="http://schemas.openxmlformats.org/officeDocument/2006/relationships/tags" Target="../tags/tag274.xml"/><Relationship Id="rId4" Type="http://schemas.openxmlformats.org/officeDocument/2006/relationships/tags" Target="../tags/tag247.xml"/><Relationship Id="rId9" Type="http://schemas.openxmlformats.org/officeDocument/2006/relationships/tags" Target="../tags/tag252.xml"/><Relationship Id="rId14" Type="http://schemas.openxmlformats.org/officeDocument/2006/relationships/tags" Target="../tags/tag257.xml"/><Relationship Id="rId22" Type="http://schemas.openxmlformats.org/officeDocument/2006/relationships/tags" Target="../tags/tag265.xml"/><Relationship Id="rId27" Type="http://schemas.openxmlformats.org/officeDocument/2006/relationships/tags" Target="../tags/tag270.xml"/><Relationship Id="rId30" Type="http://schemas.openxmlformats.org/officeDocument/2006/relationships/tags" Target="../tags/tag273.xml"/><Relationship Id="rId35" Type="http://schemas.openxmlformats.org/officeDocument/2006/relationships/image" Target="../media/image23.png"/><Relationship Id="rId8" Type="http://schemas.openxmlformats.org/officeDocument/2006/relationships/tags" Target="../tags/tag2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7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tags" Target="../tags/tag280.xml"/><Relationship Id="rId7" Type="http://schemas.openxmlformats.org/officeDocument/2006/relationships/tags" Target="../tags/tag284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tags" Target="../tags/tag297.xml"/><Relationship Id="rId18" Type="http://schemas.openxmlformats.org/officeDocument/2006/relationships/tags" Target="../tags/tag302.xml"/><Relationship Id="rId26" Type="http://schemas.openxmlformats.org/officeDocument/2006/relationships/tags" Target="../tags/tag310.xml"/><Relationship Id="rId3" Type="http://schemas.openxmlformats.org/officeDocument/2006/relationships/tags" Target="../tags/tag287.xml"/><Relationship Id="rId21" Type="http://schemas.openxmlformats.org/officeDocument/2006/relationships/tags" Target="../tags/tag305.xml"/><Relationship Id="rId34" Type="http://schemas.openxmlformats.org/officeDocument/2006/relationships/image" Target="../media/image23.png"/><Relationship Id="rId7" Type="http://schemas.openxmlformats.org/officeDocument/2006/relationships/tags" Target="../tags/tag291.xml"/><Relationship Id="rId12" Type="http://schemas.openxmlformats.org/officeDocument/2006/relationships/tags" Target="../tags/tag296.xml"/><Relationship Id="rId17" Type="http://schemas.openxmlformats.org/officeDocument/2006/relationships/tags" Target="../tags/tag301.xml"/><Relationship Id="rId25" Type="http://schemas.openxmlformats.org/officeDocument/2006/relationships/tags" Target="../tags/tag309.xml"/><Relationship Id="rId33" Type="http://schemas.openxmlformats.org/officeDocument/2006/relationships/slideLayout" Target="../slideLayouts/slideLayout10.xml"/><Relationship Id="rId2" Type="http://schemas.openxmlformats.org/officeDocument/2006/relationships/tags" Target="../tags/tag286.xml"/><Relationship Id="rId16" Type="http://schemas.openxmlformats.org/officeDocument/2006/relationships/tags" Target="../tags/tag300.xml"/><Relationship Id="rId20" Type="http://schemas.openxmlformats.org/officeDocument/2006/relationships/tags" Target="../tags/tag304.xml"/><Relationship Id="rId29" Type="http://schemas.openxmlformats.org/officeDocument/2006/relationships/tags" Target="../tags/tag313.xml"/><Relationship Id="rId1" Type="http://schemas.openxmlformats.org/officeDocument/2006/relationships/tags" Target="../tags/tag285.xml"/><Relationship Id="rId6" Type="http://schemas.openxmlformats.org/officeDocument/2006/relationships/tags" Target="../tags/tag290.xml"/><Relationship Id="rId11" Type="http://schemas.openxmlformats.org/officeDocument/2006/relationships/tags" Target="../tags/tag295.xml"/><Relationship Id="rId24" Type="http://schemas.openxmlformats.org/officeDocument/2006/relationships/tags" Target="../tags/tag308.xml"/><Relationship Id="rId32" Type="http://schemas.openxmlformats.org/officeDocument/2006/relationships/tags" Target="../tags/tag316.xml"/><Relationship Id="rId5" Type="http://schemas.openxmlformats.org/officeDocument/2006/relationships/tags" Target="../tags/tag289.xml"/><Relationship Id="rId15" Type="http://schemas.openxmlformats.org/officeDocument/2006/relationships/tags" Target="../tags/tag299.xml"/><Relationship Id="rId23" Type="http://schemas.openxmlformats.org/officeDocument/2006/relationships/tags" Target="../tags/tag307.xml"/><Relationship Id="rId28" Type="http://schemas.openxmlformats.org/officeDocument/2006/relationships/tags" Target="../tags/tag312.xml"/><Relationship Id="rId10" Type="http://schemas.openxmlformats.org/officeDocument/2006/relationships/tags" Target="../tags/tag294.xml"/><Relationship Id="rId19" Type="http://schemas.openxmlformats.org/officeDocument/2006/relationships/tags" Target="../tags/tag303.xml"/><Relationship Id="rId31" Type="http://schemas.openxmlformats.org/officeDocument/2006/relationships/tags" Target="../tags/tag315.xml"/><Relationship Id="rId4" Type="http://schemas.openxmlformats.org/officeDocument/2006/relationships/tags" Target="../tags/tag288.xml"/><Relationship Id="rId9" Type="http://schemas.openxmlformats.org/officeDocument/2006/relationships/tags" Target="../tags/tag293.xml"/><Relationship Id="rId14" Type="http://schemas.openxmlformats.org/officeDocument/2006/relationships/tags" Target="../tags/tag298.xml"/><Relationship Id="rId22" Type="http://schemas.openxmlformats.org/officeDocument/2006/relationships/tags" Target="../tags/tag306.xml"/><Relationship Id="rId27" Type="http://schemas.openxmlformats.org/officeDocument/2006/relationships/tags" Target="../tags/tag311.xml"/><Relationship Id="rId30" Type="http://schemas.openxmlformats.org/officeDocument/2006/relationships/tags" Target="../tags/tag314.xml"/><Relationship Id="rId35" Type="http://schemas.openxmlformats.org/officeDocument/2006/relationships/image" Target="../media/image29.png"/><Relationship Id="rId8" Type="http://schemas.openxmlformats.org/officeDocument/2006/relationships/tags" Target="../tags/tag292.xml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tags" Target="../tags/tag329.xml"/><Relationship Id="rId18" Type="http://schemas.openxmlformats.org/officeDocument/2006/relationships/tags" Target="../tags/tag334.xml"/><Relationship Id="rId26" Type="http://schemas.openxmlformats.org/officeDocument/2006/relationships/tags" Target="../tags/tag342.xml"/><Relationship Id="rId3" Type="http://schemas.openxmlformats.org/officeDocument/2006/relationships/tags" Target="../tags/tag319.xml"/><Relationship Id="rId21" Type="http://schemas.openxmlformats.org/officeDocument/2006/relationships/tags" Target="../tags/tag337.xml"/><Relationship Id="rId34" Type="http://schemas.openxmlformats.org/officeDocument/2006/relationships/slideLayout" Target="../slideLayouts/slideLayout10.xml"/><Relationship Id="rId7" Type="http://schemas.openxmlformats.org/officeDocument/2006/relationships/tags" Target="../tags/tag323.xml"/><Relationship Id="rId12" Type="http://schemas.openxmlformats.org/officeDocument/2006/relationships/tags" Target="../tags/tag328.xml"/><Relationship Id="rId17" Type="http://schemas.openxmlformats.org/officeDocument/2006/relationships/tags" Target="../tags/tag333.xml"/><Relationship Id="rId25" Type="http://schemas.openxmlformats.org/officeDocument/2006/relationships/tags" Target="../tags/tag341.xml"/><Relationship Id="rId33" Type="http://schemas.openxmlformats.org/officeDocument/2006/relationships/tags" Target="../tags/tag349.xml"/><Relationship Id="rId2" Type="http://schemas.openxmlformats.org/officeDocument/2006/relationships/tags" Target="../tags/tag318.xml"/><Relationship Id="rId16" Type="http://schemas.openxmlformats.org/officeDocument/2006/relationships/tags" Target="../tags/tag332.xml"/><Relationship Id="rId20" Type="http://schemas.openxmlformats.org/officeDocument/2006/relationships/tags" Target="../tags/tag336.xml"/><Relationship Id="rId29" Type="http://schemas.openxmlformats.org/officeDocument/2006/relationships/tags" Target="../tags/tag345.xml"/><Relationship Id="rId1" Type="http://schemas.openxmlformats.org/officeDocument/2006/relationships/tags" Target="../tags/tag317.xml"/><Relationship Id="rId6" Type="http://schemas.openxmlformats.org/officeDocument/2006/relationships/tags" Target="../tags/tag322.xml"/><Relationship Id="rId11" Type="http://schemas.openxmlformats.org/officeDocument/2006/relationships/tags" Target="../tags/tag327.xml"/><Relationship Id="rId24" Type="http://schemas.openxmlformats.org/officeDocument/2006/relationships/tags" Target="../tags/tag340.xml"/><Relationship Id="rId32" Type="http://schemas.openxmlformats.org/officeDocument/2006/relationships/tags" Target="../tags/tag348.xml"/><Relationship Id="rId5" Type="http://schemas.openxmlformats.org/officeDocument/2006/relationships/tags" Target="../tags/tag321.xml"/><Relationship Id="rId15" Type="http://schemas.openxmlformats.org/officeDocument/2006/relationships/tags" Target="../tags/tag331.xml"/><Relationship Id="rId23" Type="http://schemas.openxmlformats.org/officeDocument/2006/relationships/tags" Target="../tags/tag339.xml"/><Relationship Id="rId28" Type="http://schemas.openxmlformats.org/officeDocument/2006/relationships/tags" Target="../tags/tag344.xml"/><Relationship Id="rId10" Type="http://schemas.openxmlformats.org/officeDocument/2006/relationships/tags" Target="../tags/tag326.xml"/><Relationship Id="rId19" Type="http://schemas.openxmlformats.org/officeDocument/2006/relationships/tags" Target="../tags/tag335.xml"/><Relationship Id="rId31" Type="http://schemas.openxmlformats.org/officeDocument/2006/relationships/tags" Target="../tags/tag347.xml"/><Relationship Id="rId4" Type="http://schemas.openxmlformats.org/officeDocument/2006/relationships/tags" Target="../tags/tag320.xml"/><Relationship Id="rId9" Type="http://schemas.openxmlformats.org/officeDocument/2006/relationships/tags" Target="../tags/tag325.xml"/><Relationship Id="rId14" Type="http://schemas.openxmlformats.org/officeDocument/2006/relationships/tags" Target="../tags/tag330.xml"/><Relationship Id="rId22" Type="http://schemas.openxmlformats.org/officeDocument/2006/relationships/tags" Target="../tags/tag338.xml"/><Relationship Id="rId27" Type="http://schemas.openxmlformats.org/officeDocument/2006/relationships/tags" Target="../tags/tag343.xml"/><Relationship Id="rId30" Type="http://schemas.openxmlformats.org/officeDocument/2006/relationships/tags" Target="../tags/tag346.xml"/><Relationship Id="rId35" Type="http://schemas.openxmlformats.org/officeDocument/2006/relationships/image" Target="../media/image23.png"/><Relationship Id="rId8" Type="http://schemas.openxmlformats.org/officeDocument/2006/relationships/tags" Target="../tags/tag32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50.xml"/><Relationship Id="rId4" Type="http://schemas.openxmlformats.org/officeDocument/2006/relationships/image" Target="../media/image3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51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52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tags" Target="../tags/tag360.xml"/><Relationship Id="rId13" Type="http://schemas.openxmlformats.org/officeDocument/2006/relationships/tags" Target="../tags/tag365.xml"/><Relationship Id="rId18" Type="http://schemas.openxmlformats.org/officeDocument/2006/relationships/tags" Target="../tags/tag370.xml"/><Relationship Id="rId3" Type="http://schemas.openxmlformats.org/officeDocument/2006/relationships/tags" Target="../tags/tag355.xml"/><Relationship Id="rId21" Type="http://schemas.openxmlformats.org/officeDocument/2006/relationships/image" Target="../media/image2.png"/><Relationship Id="rId7" Type="http://schemas.openxmlformats.org/officeDocument/2006/relationships/tags" Target="../tags/tag359.xml"/><Relationship Id="rId12" Type="http://schemas.openxmlformats.org/officeDocument/2006/relationships/tags" Target="../tags/tag364.xml"/><Relationship Id="rId17" Type="http://schemas.openxmlformats.org/officeDocument/2006/relationships/tags" Target="../tags/tag369.xml"/><Relationship Id="rId2" Type="http://schemas.openxmlformats.org/officeDocument/2006/relationships/tags" Target="../tags/tag354.xml"/><Relationship Id="rId16" Type="http://schemas.openxmlformats.org/officeDocument/2006/relationships/tags" Target="../tags/tag368.xml"/><Relationship Id="rId20" Type="http://schemas.openxmlformats.org/officeDocument/2006/relationships/image" Target="../media/image5.png"/><Relationship Id="rId1" Type="http://schemas.openxmlformats.org/officeDocument/2006/relationships/tags" Target="../tags/tag353.xml"/><Relationship Id="rId6" Type="http://schemas.openxmlformats.org/officeDocument/2006/relationships/tags" Target="../tags/tag358.xml"/><Relationship Id="rId11" Type="http://schemas.openxmlformats.org/officeDocument/2006/relationships/tags" Target="../tags/tag363.xml"/><Relationship Id="rId5" Type="http://schemas.openxmlformats.org/officeDocument/2006/relationships/tags" Target="../tags/tag357.xml"/><Relationship Id="rId15" Type="http://schemas.openxmlformats.org/officeDocument/2006/relationships/tags" Target="../tags/tag367.xml"/><Relationship Id="rId10" Type="http://schemas.openxmlformats.org/officeDocument/2006/relationships/tags" Target="../tags/tag362.xml"/><Relationship Id="rId19" Type="http://schemas.openxmlformats.org/officeDocument/2006/relationships/slideLayout" Target="../slideLayouts/slideLayout10.xml"/><Relationship Id="rId4" Type="http://schemas.openxmlformats.org/officeDocument/2006/relationships/tags" Target="../tags/tag356.xml"/><Relationship Id="rId9" Type="http://schemas.openxmlformats.org/officeDocument/2006/relationships/tags" Target="../tags/tag361.xml"/><Relationship Id="rId14" Type="http://schemas.openxmlformats.org/officeDocument/2006/relationships/tags" Target="../tags/tag366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tags" Target="../tags/tag378.xml"/><Relationship Id="rId13" Type="http://schemas.openxmlformats.org/officeDocument/2006/relationships/tags" Target="../tags/tag383.xml"/><Relationship Id="rId18" Type="http://schemas.openxmlformats.org/officeDocument/2006/relationships/image" Target="../media/image34.png"/><Relationship Id="rId3" Type="http://schemas.openxmlformats.org/officeDocument/2006/relationships/tags" Target="../tags/tag373.xml"/><Relationship Id="rId7" Type="http://schemas.openxmlformats.org/officeDocument/2006/relationships/tags" Target="../tags/tag377.xml"/><Relationship Id="rId12" Type="http://schemas.openxmlformats.org/officeDocument/2006/relationships/tags" Target="../tags/tag382.xml"/><Relationship Id="rId17" Type="http://schemas.openxmlformats.org/officeDocument/2006/relationships/image" Target="../media/image37.png"/><Relationship Id="rId2" Type="http://schemas.openxmlformats.org/officeDocument/2006/relationships/tags" Target="../tags/tag372.xml"/><Relationship Id="rId16" Type="http://schemas.openxmlformats.org/officeDocument/2006/relationships/slideLayout" Target="../slideLayouts/slideLayout8.xml"/><Relationship Id="rId1" Type="http://schemas.openxmlformats.org/officeDocument/2006/relationships/tags" Target="../tags/tag371.xml"/><Relationship Id="rId6" Type="http://schemas.openxmlformats.org/officeDocument/2006/relationships/tags" Target="../tags/tag376.xml"/><Relationship Id="rId11" Type="http://schemas.openxmlformats.org/officeDocument/2006/relationships/tags" Target="../tags/tag381.xml"/><Relationship Id="rId5" Type="http://schemas.openxmlformats.org/officeDocument/2006/relationships/tags" Target="../tags/tag375.xml"/><Relationship Id="rId15" Type="http://schemas.openxmlformats.org/officeDocument/2006/relationships/tags" Target="../tags/tag385.xml"/><Relationship Id="rId10" Type="http://schemas.openxmlformats.org/officeDocument/2006/relationships/tags" Target="../tags/tag380.xml"/><Relationship Id="rId19" Type="http://schemas.openxmlformats.org/officeDocument/2006/relationships/image" Target="../media/image35.png"/><Relationship Id="rId4" Type="http://schemas.openxmlformats.org/officeDocument/2006/relationships/tags" Target="../tags/tag374.xml"/><Relationship Id="rId9" Type="http://schemas.openxmlformats.org/officeDocument/2006/relationships/tags" Target="../tags/tag379.xml"/><Relationship Id="rId14" Type="http://schemas.openxmlformats.org/officeDocument/2006/relationships/tags" Target="../tags/tag38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393.xml"/><Relationship Id="rId13" Type="http://schemas.openxmlformats.org/officeDocument/2006/relationships/tags" Target="../tags/tag398.xml"/><Relationship Id="rId18" Type="http://schemas.openxmlformats.org/officeDocument/2006/relationships/image" Target="../media/image22.png"/><Relationship Id="rId3" Type="http://schemas.openxmlformats.org/officeDocument/2006/relationships/tags" Target="../tags/tag388.xml"/><Relationship Id="rId7" Type="http://schemas.openxmlformats.org/officeDocument/2006/relationships/tags" Target="../tags/tag392.xml"/><Relationship Id="rId12" Type="http://schemas.openxmlformats.org/officeDocument/2006/relationships/tags" Target="../tags/tag397.xml"/><Relationship Id="rId17" Type="http://schemas.openxmlformats.org/officeDocument/2006/relationships/image" Target="../media/image23.png"/><Relationship Id="rId2" Type="http://schemas.openxmlformats.org/officeDocument/2006/relationships/tags" Target="../tags/tag387.xml"/><Relationship Id="rId16" Type="http://schemas.openxmlformats.org/officeDocument/2006/relationships/slideLayout" Target="../slideLayouts/slideLayout10.xml"/><Relationship Id="rId1" Type="http://schemas.openxmlformats.org/officeDocument/2006/relationships/tags" Target="../tags/tag386.xml"/><Relationship Id="rId6" Type="http://schemas.openxmlformats.org/officeDocument/2006/relationships/tags" Target="../tags/tag391.xml"/><Relationship Id="rId11" Type="http://schemas.openxmlformats.org/officeDocument/2006/relationships/tags" Target="../tags/tag396.xml"/><Relationship Id="rId5" Type="http://schemas.openxmlformats.org/officeDocument/2006/relationships/tags" Target="../tags/tag390.xml"/><Relationship Id="rId15" Type="http://schemas.openxmlformats.org/officeDocument/2006/relationships/tags" Target="../tags/tag400.xml"/><Relationship Id="rId10" Type="http://schemas.openxmlformats.org/officeDocument/2006/relationships/tags" Target="../tags/tag395.xml"/><Relationship Id="rId4" Type="http://schemas.openxmlformats.org/officeDocument/2006/relationships/tags" Target="../tags/tag389.xml"/><Relationship Id="rId9" Type="http://schemas.openxmlformats.org/officeDocument/2006/relationships/tags" Target="../tags/tag394.xml"/><Relationship Id="rId14" Type="http://schemas.openxmlformats.org/officeDocument/2006/relationships/tags" Target="../tags/tag399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408.xml"/><Relationship Id="rId13" Type="http://schemas.openxmlformats.org/officeDocument/2006/relationships/tags" Target="../tags/tag413.xml"/><Relationship Id="rId18" Type="http://schemas.openxmlformats.org/officeDocument/2006/relationships/image" Target="../media/image25.png"/><Relationship Id="rId3" Type="http://schemas.openxmlformats.org/officeDocument/2006/relationships/tags" Target="../tags/tag403.xml"/><Relationship Id="rId21" Type="http://schemas.openxmlformats.org/officeDocument/2006/relationships/image" Target="../media/image23.png"/><Relationship Id="rId7" Type="http://schemas.openxmlformats.org/officeDocument/2006/relationships/tags" Target="../tags/tag407.xml"/><Relationship Id="rId12" Type="http://schemas.openxmlformats.org/officeDocument/2006/relationships/tags" Target="../tags/tag412.xml"/><Relationship Id="rId17" Type="http://schemas.openxmlformats.org/officeDocument/2006/relationships/image" Target="../media/image24.png"/><Relationship Id="rId2" Type="http://schemas.openxmlformats.org/officeDocument/2006/relationships/tags" Target="../tags/tag402.xml"/><Relationship Id="rId16" Type="http://schemas.openxmlformats.org/officeDocument/2006/relationships/slideLayout" Target="../slideLayouts/slideLayout10.xml"/><Relationship Id="rId20" Type="http://schemas.openxmlformats.org/officeDocument/2006/relationships/image" Target="../media/image27.png"/><Relationship Id="rId1" Type="http://schemas.openxmlformats.org/officeDocument/2006/relationships/tags" Target="../tags/tag401.xml"/><Relationship Id="rId6" Type="http://schemas.openxmlformats.org/officeDocument/2006/relationships/tags" Target="../tags/tag406.xml"/><Relationship Id="rId11" Type="http://schemas.openxmlformats.org/officeDocument/2006/relationships/tags" Target="../tags/tag411.xml"/><Relationship Id="rId5" Type="http://schemas.openxmlformats.org/officeDocument/2006/relationships/tags" Target="../tags/tag405.xml"/><Relationship Id="rId15" Type="http://schemas.openxmlformats.org/officeDocument/2006/relationships/tags" Target="../tags/tag415.xml"/><Relationship Id="rId10" Type="http://schemas.openxmlformats.org/officeDocument/2006/relationships/tags" Target="../tags/tag410.xml"/><Relationship Id="rId19" Type="http://schemas.openxmlformats.org/officeDocument/2006/relationships/image" Target="../media/image26.png"/><Relationship Id="rId4" Type="http://schemas.openxmlformats.org/officeDocument/2006/relationships/tags" Target="../tags/tag404.xml"/><Relationship Id="rId9" Type="http://schemas.openxmlformats.org/officeDocument/2006/relationships/tags" Target="../tags/tag409.xml"/><Relationship Id="rId14" Type="http://schemas.openxmlformats.org/officeDocument/2006/relationships/tags" Target="../tags/tag414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tags" Target="../tags/tag423.xml"/><Relationship Id="rId13" Type="http://schemas.openxmlformats.org/officeDocument/2006/relationships/tags" Target="../tags/tag428.xml"/><Relationship Id="rId18" Type="http://schemas.openxmlformats.org/officeDocument/2006/relationships/tags" Target="../tags/tag433.xml"/><Relationship Id="rId26" Type="http://schemas.openxmlformats.org/officeDocument/2006/relationships/tags" Target="../tags/tag441.xml"/><Relationship Id="rId3" Type="http://schemas.openxmlformats.org/officeDocument/2006/relationships/tags" Target="../tags/tag418.xml"/><Relationship Id="rId21" Type="http://schemas.openxmlformats.org/officeDocument/2006/relationships/tags" Target="../tags/tag436.xml"/><Relationship Id="rId7" Type="http://schemas.openxmlformats.org/officeDocument/2006/relationships/tags" Target="../tags/tag422.xml"/><Relationship Id="rId12" Type="http://schemas.openxmlformats.org/officeDocument/2006/relationships/tags" Target="../tags/tag427.xml"/><Relationship Id="rId17" Type="http://schemas.openxmlformats.org/officeDocument/2006/relationships/tags" Target="../tags/tag432.xml"/><Relationship Id="rId25" Type="http://schemas.openxmlformats.org/officeDocument/2006/relationships/tags" Target="../tags/tag440.xml"/><Relationship Id="rId2" Type="http://schemas.openxmlformats.org/officeDocument/2006/relationships/tags" Target="../tags/tag417.xml"/><Relationship Id="rId16" Type="http://schemas.openxmlformats.org/officeDocument/2006/relationships/tags" Target="../tags/tag431.xml"/><Relationship Id="rId20" Type="http://schemas.openxmlformats.org/officeDocument/2006/relationships/tags" Target="../tags/tag435.xml"/><Relationship Id="rId29" Type="http://schemas.openxmlformats.org/officeDocument/2006/relationships/slideLayout" Target="../slideLayouts/slideLayout10.xml"/><Relationship Id="rId1" Type="http://schemas.openxmlformats.org/officeDocument/2006/relationships/tags" Target="../tags/tag416.xml"/><Relationship Id="rId6" Type="http://schemas.openxmlformats.org/officeDocument/2006/relationships/tags" Target="../tags/tag421.xml"/><Relationship Id="rId11" Type="http://schemas.openxmlformats.org/officeDocument/2006/relationships/tags" Target="../tags/tag426.xml"/><Relationship Id="rId24" Type="http://schemas.openxmlformats.org/officeDocument/2006/relationships/tags" Target="../tags/tag439.xml"/><Relationship Id="rId32" Type="http://schemas.openxmlformats.org/officeDocument/2006/relationships/image" Target="../media/image28.png"/><Relationship Id="rId5" Type="http://schemas.openxmlformats.org/officeDocument/2006/relationships/tags" Target="../tags/tag420.xml"/><Relationship Id="rId15" Type="http://schemas.openxmlformats.org/officeDocument/2006/relationships/tags" Target="../tags/tag430.xml"/><Relationship Id="rId23" Type="http://schemas.openxmlformats.org/officeDocument/2006/relationships/tags" Target="../tags/tag438.xml"/><Relationship Id="rId28" Type="http://schemas.openxmlformats.org/officeDocument/2006/relationships/tags" Target="../tags/tag443.xml"/><Relationship Id="rId10" Type="http://schemas.openxmlformats.org/officeDocument/2006/relationships/tags" Target="../tags/tag425.xml"/><Relationship Id="rId19" Type="http://schemas.openxmlformats.org/officeDocument/2006/relationships/tags" Target="../tags/tag434.xml"/><Relationship Id="rId31" Type="http://schemas.openxmlformats.org/officeDocument/2006/relationships/image" Target="../media/image29.png"/><Relationship Id="rId4" Type="http://schemas.openxmlformats.org/officeDocument/2006/relationships/tags" Target="../tags/tag419.xml"/><Relationship Id="rId9" Type="http://schemas.openxmlformats.org/officeDocument/2006/relationships/tags" Target="../tags/tag424.xml"/><Relationship Id="rId14" Type="http://schemas.openxmlformats.org/officeDocument/2006/relationships/tags" Target="../tags/tag429.xml"/><Relationship Id="rId22" Type="http://schemas.openxmlformats.org/officeDocument/2006/relationships/tags" Target="../tags/tag437.xml"/><Relationship Id="rId27" Type="http://schemas.openxmlformats.org/officeDocument/2006/relationships/tags" Target="../tags/tag442.xml"/><Relationship Id="rId30" Type="http://schemas.openxmlformats.org/officeDocument/2006/relationships/image" Target="../media/image5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tags" Target="../tags/tag451.xml"/><Relationship Id="rId13" Type="http://schemas.openxmlformats.org/officeDocument/2006/relationships/tags" Target="../tags/tag456.xml"/><Relationship Id="rId3" Type="http://schemas.openxmlformats.org/officeDocument/2006/relationships/tags" Target="../tags/tag446.xml"/><Relationship Id="rId7" Type="http://schemas.openxmlformats.org/officeDocument/2006/relationships/tags" Target="../tags/tag450.xml"/><Relationship Id="rId12" Type="http://schemas.openxmlformats.org/officeDocument/2006/relationships/tags" Target="../tags/tag455.xml"/><Relationship Id="rId17" Type="http://schemas.openxmlformats.org/officeDocument/2006/relationships/image" Target="../media/image23.png"/><Relationship Id="rId2" Type="http://schemas.openxmlformats.org/officeDocument/2006/relationships/tags" Target="../tags/tag445.xml"/><Relationship Id="rId16" Type="http://schemas.openxmlformats.org/officeDocument/2006/relationships/slideLayout" Target="../slideLayouts/slideLayout10.xml"/><Relationship Id="rId1" Type="http://schemas.openxmlformats.org/officeDocument/2006/relationships/tags" Target="../tags/tag444.xml"/><Relationship Id="rId6" Type="http://schemas.openxmlformats.org/officeDocument/2006/relationships/tags" Target="../tags/tag449.xml"/><Relationship Id="rId11" Type="http://schemas.openxmlformats.org/officeDocument/2006/relationships/tags" Target="../tags/tag454.xml"/><Relationship Id="rId5" Type="http://schemas.openxmlformats.org/officeDocument/2006/relationships/tags" Target="../tags/tag448.xml"/><Relationship Id="rId15" Type="http://schemas.openxmlformats.org/officeDocument/2006/relationships/tags" Target="../tags/tag458.xml"/><Relationship Id="rId10" Type="http://schemas.openxmlformats.org/officeDocument/2006/relationships/tags" Target="../tags/tag453.xml"/><Relationship Id="rId4" Type="http://schemas.openxmlformats.org/officeDocument/2006/relationships/tags" Target="../tags/tag447.xml"/><Relationship Id="rId9" Type="http://schemas.openxmlformats.org/officeDocument/2006/relationships/tags" Target="../tags/tag452.xml"/><Relationship Id="rId14" Type="http://schemas.openxmlformats.org/officeDocument/2006/relationships/tags" Target="../tags/tag457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tags" Target="../tags/tag466.xml"/><Relationship Id="rId13" Type="http://schemas.openxmlformats.org/officeDocument/2006/relationships/tags" Target="../tags/tag471.xml"/><Relationship Id="rId3" Type="http://schemas.openxmlformats.org/officeDocument/2006/relationships/tags" Target="../tags/tag461.xml"/><Relationship Id="rId7" Type="http://schemas.openxmlformats.org/officeDocument/2006/relationships/tags" Target="../tags/tag465.xml"/><Relationship Id="rId12" Type="http://schemas.openxmlformats.org/officeDocument/2006/relationships/tags" Target="../tags/tag470.xml"/><Relationship Id="rId17" Type="http://schemas.openxmlformats.org/officeDocument/2006/relationships/image" Target="../media/image23.png"/><Relationship Id="rId2" Type="http://schemas.openxmlformats.org/officeDocument/2006/relationships/tags" Target="../tags/tag460.xml"/><Relationship Id="rId16" Type="http://schemas.openxmlformats.org/officeDocument/2006/relationships/slideLayout" Target="../slideLayouts/slideLayout10.xml"/><Relationship Id="rId1" Type="http://schemas.openxmlformats.org/officeDocument/2006/relationships/tags" Target="../tags/tag459.xml"/><Relationship Id="rId6" Type="http://schemas.openxmlformats.org/officeDocument/2006/relationships/tags" Target="../tags/tag464.xml"/><Relationship Id="rId11" Type="http://schemas.openxmlformats.org/officeDocument/2006/relationships/tags" Target="../tags/tag469.xml"/><Relationship Id="rId5" Type="http://schemas.openxmlformats.org/officeDocument/2006/relationships/tags" Target="../tags/tag463.xml"/><Relationship Id="rId15" Type="http://schemas.openxmlformats.org/officeDocument/2006/relationships/tags" Target="../tags/tag473.xml"/><Relationship Id="rId10" Type="http://schemas.openxmlformats.org/officeDocument/2006/relationships/tags" Target="../tags/tag468.xml"/><Relationship Id="rId4" Type="http://schemas.openxmlformats.org/officeDocument/2006/relationships/tags" Target="../tags/tag462.xml"/><Relationship Id="rId9" Type="http://schemas.openxmlformats.org/officeDocument/2006/relationships/tags" Target="../tags/tag467.xml"/><Relationship Id="rId14" Type="http://schemas.openxmlformats.org/officeDocument/2006/relationships/tags" Target="../tags/tag4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2468909" y="1793965"/>
            <a:ext cx="8533160" cy="7703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일정</a:t>
            </a:r>
            <a:r>
              <a:rPr kumimoji="0" lang="en-US" altLang="ko-KR" sz="44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kumimoji="0" lang="ko-KR" altLang="en-US" sz="44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설비</a:t>
            </a:r>
            <a:endParaRPr kumimoji="0" lang="ko-KR" altLang="en-US" sz="4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텍스트 개체 틀 21"/>
          <p:cNvSpPr txBox="1">
            <a:spLocks/>
          </p:cNvSpPr>
          <p:nvPr/>
        </p:nvSpPr>
        <p:spPr>
          <a:xfrm>
            <a:off x="1559496" y="2473846"/>
            <a:ext cx="2736304" cy="90300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ko-KR" altLang="en-US" sz="2400" b="1" kern="1200" smtClean="0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  <a:lvl2pPr marL="596646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ko-KR" alt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100" b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2.4</a:t>
            </a:r>
            <a:endParaRPr kumimoji="0" lang="en-US" altLang="ko-KR" sz="11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2018-03-26</a:t>
            </a:r>
          </a:p>
          <a:p>
            <a:pPr marL="228600" marR="0" lvl="0" indent="-228600" algn="l" defTabSz="914400" rtl="0" eaLnBrk="1" fontAlgn="auto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6987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381292"/>
              </p:ext>
            </p:extLst>
          </p:nvPr>
        </p:nvGraphicFramePr>
        <p:xfrm>
          <a:off x="990126" y="836716"/>
          <a:ext cx="10218442" cy="5654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426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7200800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1094341974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179082165"/>
                    </a:ext>
                  </a:extLst>
                </a:gridCol>
              </a:tblGrid>
              <a:tr h="3034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작성일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변경 이력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Ver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832114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2017.09.24</a:t>
                      </a:r>
                      <a:endParaRPr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초안작성 </a:t>
                      </a:r>
                      <a:r>
                        <a:rPr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(6. </a:t>
                      </a:r>
                      <a:r>
                        <a:rPr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일정</a:t>
                      </a:r>
                      <a:r>
                        <a:rPr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설비</a:t>
                      </a:r>
                      <a:r>
                        <a:rPr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0.01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2017.10.10</a:t>
                      </a:r>
                      <a:endParaRPr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일정 달력 추가 페이지 </a:t>
                      </a:r>
                      <a:endParaRPr lang="en-US" altLang="ko-KR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주간</a:t>
                      </a:r>
                      <a:r>
                        <a:rPr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일간 페이지 추가 </a:t>
                      </a:r>
                      <a:endParaRPr lang="en-US" altLang="ko-KR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일정</a:t>
                      </a:r>
                      <a:r>
                        <a:rPr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/</a:t>
                      </a:r>
                      <a:r>
                        <a:rPr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설비</a:t>
                      </a:r>
                      <a:r>
                        <a:rPr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검색 페이지 작성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0.02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2017.10.17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개발 리뷰 완료 후 버전 업데이트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1.0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0096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2017.10.20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개발 리뷰 후 수정 사항 반영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1.1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069815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2017.10.26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1.2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206292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2017.10.27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1.3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901359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2017.11.23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LNB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전체 달력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플래그 일정 개념 재정의</a:t>
                      </a:r>
                      <a:endParaRPr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캘린더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월간형에 출력되는 정보 및 아이콘 정리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_5P</a:t>
                      </a: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일정 간편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상세정보 등록 및 읽기 화면 내 플래그 설정 추가</a:t>
                      </a:r>
                      <a:endParaRPr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캘린더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주간형에 휴일과 음력일정 겹쳤을 경우 우선 순위 정의</a:t>
                      </a:r>
                      <a:endParaRPr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설비 그룹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관련 화면 추가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_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CA6.9.2.1, CA6.9.2.2</a:t>
                      </a:r>
                      <a:endParaRPr lang="en-US" altLang="ko-KR" sz="80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marL="171450" indent="-1714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중복 예약 확인 팝업 추가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_CA6.7.2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1.4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150990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2017.12.05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1.5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041531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2017.12.07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일정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설정 화면내 달력보기 버튼 추가 및 취소 버튼 삭제</a:t>
                      </a:r>
                      <a:endParaRPr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설지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예약한 설비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승인대기 설비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설정 화면에 달력보기 버튼추가 및 취소 버튼 삭제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1.6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0346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2017.12.18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일정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검색결과 화면 수정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CA6.5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1.7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969914"/>
                  </a:ext>
                </a:extLst>
              </a:tr>
              <a:tr h="3034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설비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검색 결과 화면 수정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CA6.7</a:t>
                      </a:r>
                    </a:p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CA6.10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238650"/>
                  </a:ext>
                </a:extLst>
              </a:tr>
              <a:tr h="3034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설비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승인대기중인 설비 검색 결과 화면 추가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CA6.10.1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732271"/>
                  </a:ext>
                </a:extLst>
              </a:tr>
              <a:tr h="3034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날짜 표기 방식 가이드 추가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4page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985365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110434"/>
                  </a:ext>
                </a:extLst>
              </a:tr>
            </a:tbl>
          </a:graphicData>
        </a:graphic>
      </p:graphicFrame>
      <p:sp>
        <p:nvSpPr>
          <p:cNvPr id="4" name="텍스트 개체 틀 3"/>
          <p:cNvSpPr txBox="1">
            <a:spLocks/>
          </p:cNvSpPr>
          <p:nvPr/>
        </p:nvSpPr>
        <p:spPr>
          <a:xfrm>
            <a:off x="437676" y="260648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코딩" panose="020D0009000000000000" pitchFamily="49" charset="-127"/>
                <a:ea typeface="나눔고딕코딩" panose="020D0009000000000000" pitchFamily="49" charset="-127"/>
                <a:cs typeface="+mn-cs"/>
              </a:rPr>
              <a:t>개정 이력</a:t>
            </a:r>
            <a:endParaRPr kumimoji="0" lang="ko-KR" altLang="en-US" sz="1200" b="1" i="0" u="none" strike="noStrike" kern="1200" cap="none" spc="-10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코딩" panose="020D0009000000000000" pitchFamily="49" charset="-127"/>
              <a:ea typeface="나눔고딕코딩" panose="020D0009000000000000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973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880271"/>
              </p:ext>
            </p:extLst>
          </p:nvPr>
        </p:nvGraphicFramePr>
        <p:xfrm>
          <a:off x="990126" y="836716"/>
          <a:ext cx="10218442" cy="5380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426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6756598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1416310">
                  <a:extLst>
                    <a:ext uri="{9D8B030D-6E8A-4147-A177-3AD203B41FA5}">
                      <a16:colId xmlns:a16="http://schemas.microsoft.com/office/drawing/2014/main" val="1094341974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179082165"/>
                    </a:ext>
                  </a:extLst>
                </a:gridCol>
              </a:tblGrid>
              <a:tr h="3034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작성일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변경 이력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Ver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832114"/>
                  </a:ext>
                </a:extLst>
              </a:tr>
              <a:tr h="303462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2018-01-15</a:t>
                      </a:r>
                      <a:endParaRPr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일정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검색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검색 결과 화면 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CA6.10</a:t>
                      </a:r>
                    </a:p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CA6.10.1 / CA6.10.2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1.8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03462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설비 검색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검색 결과 화면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CA6.11</a:t>
                      </a:r>
                    </a:p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CA6.12.1</a:t>
                      </a:r>
                      <a:endParaRPr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03462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설비 승인 대기중인 설비 검색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검색 결과 화면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CA6.7.3</a:t>
                      </a:r>
                    </a:p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CA6.7.3.1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0096"/>
                  </a:ext>
                </a:extLst>
              </a:tr>
              <a:tr h="30346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2018-01-22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sng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일정 등록 </a:t>
                      </a:r>
                      <a:r>
                        <a:rPr lang="ko-KR" altLang="en-US" sz="800" strike="sngStrike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항목 수정</a:t>
                      </a:r>
                      <a:endParaRPr lang="ko-KR" altLang="en-US" sz="800" strike="sng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trike="sng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CA6.2.1</a:t>
                      </a:r>
                      <a:endParaRPr lang="ko-KR" altLang="en-US" sz="800" strike="sng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1.9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069815"/>
                  </a:ext>
                </a:extLst>
              </a:tr>
              <a:tr h="3034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sng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반복 설정 레이어 수정</a:t>
                      </a:r>
                      <a:endParaRPr lang="ko-KR" altLang="en-US" sz="800" strike="sng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trike="sng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CA6.2.1.1</a:t>
                      </a:r>
                      <a:endParaRPr lang="ko-KR" altLang="en-US" sz="800" strike="sng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206292"/>
                  </a:ext>
                </a:extLst>
              </a:tr>
              <a:tr h="3034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trike="sng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스퀘어 일정 정보 수정 화면</a:t>
                      </a:r>
                      <a:r>
                        <a:rPr lang="ko-KR" altLang="en-US" sz="800" strike="sngStrike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추가</a:t>
                      </a:r>
                      <a:r>
                        <a:rPr lang="en-US" altLang="ko-KR" sz="800" strike="sngStrike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_#</a:t>
                      </a:r>
                      <a:r>
                        <a:rPr lang="ko-KR" altLang="en-US" sz="800" strike="sngStrike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디자인 작업 필요 없음</a:t>
                      </a:r>
                      <a:endParaRPr lang="ko-KR" altLang="en-US" sz="800" strike="sng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trike="sngStrik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CA6.1.1.5</a:t>
                      </a:r>
                      <a:endParaRPr lang="ko-KR" altLang="en-US" sz="800" strike="sng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901359"/>
                  </a:ext>
                </a:extLst>
              </a:tr>
              <a:tr h="30346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2018-01-23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일정 상세 정보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반복 일정 유형 추가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CA6.1.1.3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2.0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150990"/>
                  </a:ext>
                </a:extLst>
              </a:tr>
              <a:tr h="3034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일정 등록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달력 유형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개인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스퀘어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추가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반복 일정등록시 해당 유형 추가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CA6.2.1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041531"/>
                  </a:ext>
                </a:extLst>
              </a:tr>
              <a:tr h="3034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반복설정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Layer :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매일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주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년에 따른 항목 수정 및 추가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CA6.2.1.1_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수정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CA6.2.1.1.1_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추가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CA6.2.1.1.2_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추가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CA6.2.1.1.3_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추가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034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일정 정보 수정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_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스퀘어 화면 추가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CA6.1.1.5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110434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2018-02-23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일정 간편등록 레이어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: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개인달력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스퀘어달력 선택 항목 수정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CA6.1.1.1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2.1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79516"/>
                  </a:ext>
                </a:extLst>
              </a:tr>
              <a:tr h="30346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2018-02-26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일정 및 설비 검색창 항목 수정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CA6.10 / CA6.11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2.2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253172"/>
                  </a:ext>
                </a:extLst>
              </a:tr>
              <a:tr h="3034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설비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&gt;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승인대기중인 설비 검색창 항목 수정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CA6.7.3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708685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2018-03-14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일정 상세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읽기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 :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첨부목록 항목 추가</a:t>
                      </a:r>
                      <a:endParaRPr lang="en-US" altLang="ko-KR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일정 수정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:</a:t>
                      </a:r>
                      <a:r>
                        <a:rPr lang="en-US" altLang="ko-KR" sz="800" b="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800" b="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첨부목록 항목 추가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CA6.1.1.3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CA6.1.1.4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2.3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34853"/>
                  </a:ext>
                </a:extLst>
              </a:tr>
              <a:tr h="30346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2018-03-26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일정 및 설비의 월간</a:t>
                      </a:r>
                      <a:r>
                        <a:rPr lang="en-US" altLang="ko-KR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주간</a:t>
                      </a:r>
                      <a:r>
                        <a:rPr lang="en-US" altLang="ko-KR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일간형일때 반복</a:t>
                      </a:r>
                      <a:r>
                        <a:rPr lang="en-US" altLang="ko-KR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댓글 아이콘 출력 기준 정의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6,7,42page</a:t>
                      </a:r>
                      <a:endParaRPr lang="ko-KR" altLang="en-US" sz="800" b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2.4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861334"/>
                  </a:ext>
                </a:extLst>
              </a:tr>
            </a:tbl>
          </a:graphicData>
        </a:graphic>
      </p:graphicFrame>
      <p:sp>
        <p:nvSpPr>
          <p:cNvPr id="4" name="텍스트 개체 틀 3"/>
          <p:cNvSpPr txBox="1">
            <a:spLocks/>
          </p:cNvSpPr>
          <p:nvPr/>
        </p:nvSpPr>
        <p:spPr>
          <a:xfrm>
            <a:off x="437676" y="260648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400" b="1" i="0" u="none" strike="noStrike" kern="1200" cap="none" spc="-10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코딩" panose="020D0009000000000000" pitchFamily="49" charset="-127"/>
                <a:ea typeface="나눔고딕코딩" panose="020D0009000000000000" pitchFamily="49" charset="-127"/>
                <a:cs typeface="+mn-cs"/>
              </a:rPr>
              <a:t>개정 이력</a:t>
            </a:r>
            <a:endParaRPr kumimoji="0" lang="ko-KR" altLang="en-US" sz="1200" b="1" i="0" u="none" strike="noStrike" kern="1200" cap="none" spc="-10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코딩" panose="020D0009000000000000" pitchFamily="49" charset="-127"/>
              <a:ea typeface="나눔고딕코딩" panose="020D0009000000000000" pitchFamily="49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73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90"/>
          <p:cNvGrpSpPr/>
          <p:nvPr/>
        </p:nvGrpSpPr>
        <p:grpSpPr>
          <a:xfrm>
            <a:off x="10784286" y="897666"/>
            <a:ext cx="1363638" cy="295523"/>
            <a:chOff x="2293962" y="1642204"/>
            <a:chExt cx="3558502" cy="295523"/>
          </a:xfrm>
        </p:grpSpPr>
        <p:cxnSp>
          <p:nvCxnSpPr>
            <p:cNvPr id="6" name="직선 연결선[R] 85"/>
            <p:cNvCxnSpPr/>
            <p:nvPr/>
          </p:nvCxnSpPr>
          <p:spPr>
            <a:xfrm>
              <a:off x="2293962" y="1642204"/>
              <a:ext cx="0" cy="295523"/>
            </a:xfrm>
            <a:prstGeom prst="line">
              <a:avLst/>
            </a:prstGeom>
            <a:ln w="22225">
              <a:solidFill>
                <a:srgbClr val="FF2F92"/>
              </a:solidFill>
              <a:headEnd type="none" w="sm" len="sm"/>
              <a:tailEnd type="non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텍스트 상자 31"/>
            <p:cNvSpPr txBox="1"/>
            <p:nvPr/>
          </p:nvSpPr>
          <p:spPr>
            <a:xfrm>
              <a:off x="2395226" y="1697632"/>
              <a:ext cx="3457238" cy="18466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120000"/>
                </a:lnSpc>
                <a:spcAft>
                  <a:spcPts val="200"/>
                </a:spcAft>
              </a:pPr>
              <a:r>
                <a:rPr kumimoji="1" lang="ko-KR" altLang="en-US" sz="1000" b="1" dirty="0" smtClean="0">
                  <a:solidFill>
                    <a:srgbClr val="FF2F92"/>
                  </a:solidFill>
                  <a:latin typeface="+mn-ea"/>
                  <a:ea typeface="+mn-ea"/>
                </a:rPr>
                <a:t>액션버튼 영역</a:t>
              </a:r>
              <a:endParaRPr kumimoji="1" lang="en-US" altLang="ko-KR" sz="1000" b="1" dirty="0" smtClean="0">
                <a:solidFill>
                  <a:srgbClr val="FF2F92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9" name="텍스트 상자 31"/>
          <p:cNvSpPr txBox="1"/>
          <p:nvPr/>
        </p:nvSpPr>
        <p:spPr>
          <a:xfrm>
            <a:off x="2345841" y="2977683"/>
            <a:ext cx="1366547" cy="1497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kumimoji="1" lang="ko-KR" altLang="en-US" sz="900" b="1" dirty="0" smtClean="0">
                <a:solidFill>
                  <a:srgbClr val="FF2F92"/>
                </a:solidFill>
                <a:latin typeface="+mn-ea"/>
                <a:ea typeface="+mn-ea"/>
              </a:rPr>
              <a:t>개인 데이터 관리 영역</a:t>
            </a:r>
            <a:endParaRPr kumimoji="1" lang="en-US" altLang="ko-KR" sz="900" b="1" dirty="0" smtClean="0">
              <a:solidFill>
                <a:srgbClr val="FF2F92"/>
              </a:solidFill>
              <a:latin typeface="+mn-ea"/>
              <a:ea typeface="+mn-ea"/>
            </a:endParaRPr>
          </a:p>
        </p:txBody>
      </p:sp>
      <p:graphicFrame>
        <p:nvGraphicFramePr>
          <p:cNvPr id="10" name="표"/>
          <p:cNvGraphicFramePr/>
          <p:nvPr>
            <p:extLst>
              <p:ext uri="{D42A27DB-BD31-4B8C-83A1-F6EECF244321}">
                <p14:modId xmlns:p14="http://schemas.microsoft.com/office/powerpoint/2010/main" val="2830286516"/>
              </p:ext>
            </p:extLst>
          </p:nvPr>
        </p:nvGraphicFramePr>
        <p:xfrm>
          <a:off x="3880977" y="707505"/>
          <a:ext cx="7915090" cy="4683645"/>
        </p:xfrm>
        <a:graphic>
          <a:graphicData uri="http://schemas.openxmlformats.org/drawingml/2006/table">
            <a:tbl>
              <a:tblPr/>
              <a:tblGrid>
                <a:gridCol w="80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072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ko-KR" altLang="en-US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분류</a:t>
                      </a:r>
                      <a:endParaRPr lang="ko-KR" altLang="en-US" sz="800" b="1" dirty="0">
                        <a:latin typeface="+mn-ea"/>
                        <a:ea typeface="+mn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noFill/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ko-KR" altLang="en-US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메뉴명</a:t>
                      </a:r>
                      <a:endParaRPr lang="ko-KR" altLang="en-US" sz="800" b="1" dirty="0">
                        <a:latin typeface="+mn-ea"/>
                        <a:ea typeface="+mn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altLang="ko-KR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To-be</a:t>
                      </a:r>
                      <a:r>
                        <a:rPr lang="ko-KR" altLang="en-US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 역할 정의</a:t>
                      </a:r>
                      <a:endParaRPr lang="ko-KR" altLang="en-US" sz="800" b="1" dirty="0">
                        <a:latin typeface="+mn-ea"/>
                        <a:ea typeface="+mn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ko-KR" altLang="en-US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뱃지 숫자 제공 정책 정의</a:t>
                      </a:r>
                      <a:endParaRPr lang="ko-KR" altLang="en-US" sz="800" b="1" dirty="0">
                        <a:latin typeface="+mn-ea"/>
                        <a:ea typeface="+mn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072">
                <a:tc>
                  <a:txBody>
                    <a:bodyPr/>
                    <a:lstStyle/>
                    <a:p>
                      <a:pPr marL="11113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메인 액션 버튼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noFill/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일정 등록하기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3663" marR="0" indent="-825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선택 시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: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일정 등록 새창 제공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endParaRPr lang="ko-KR" altLang="en-US" sz="800" b="1" dirty="0">
                        <a:latin typeface="+mn-ea"/>
                        <a:ea typeface="+mn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148465"/>
                  </a:ext>
                </a:extLst>
              </a:tr>
              <a:tr h="350851">
                <a:tc>
                  <a:txBody>
                    <a:bodyPr/>
                    <a:lstStyle/>
                    <a:p>
                      <a:pPr marL="11113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간편 달력 뷰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0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 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현재 날짜 포커스된 월간 달력 </a:t>
                      </a: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뷰 제공</a:t>
                      </a:r>
                      <a:endParaRPr lang="en-US" altLang="ko-KR" sz="800" kern="120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휴일 및 일정이 등록된 날짜에 별도 마킹 처리</a:t>
                      </a:r>
                      <a:endParaRPr lang="ko-KR" altLang="en-US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다른 날짜 선택 시 컨텐츠 영역의 달력뷰에서 해당 날짜로 이동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800" dirty="0"/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472">
                <a:tc>
                  <a:txBody>
                    <a:bodyPr/>
                    <a:lstStyle/>
                    <a:p>
                      <a:pPr marL="11113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endParaRPr lang="ko-KR" altLang="en-US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0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전체 달력</a:t>
                      </a:r>
                      <a:endParaRPr lang="ko-KR" altLang="en-US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선택된 달력에 상관없이 모든 달력 일정을 표시하는 메뉴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선택 시 </a:t>
                      </a:r>
                      <a:r>
                        <a:rPr lang="en-US" altLang="ko-KR" sz="800" kern="120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:</a:t>
                      </a:r>
                      <a:r>
                        <a:rPr lang="ko-KR" altLang="en-US" sz="800" kern="120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모든 </a:t>
                      </a:r>
                      <a:r>
                        <a:rPr lang="ko-KR" altLang="en-US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캘린더 뷰</a:t>
                      </a:r>
                      <a:r>
                        <a:rPr lang="en-US" altLang="ko-KR" sz="800" kern="1200" baseline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</a:t>
                      </a:r>
                      <a:r>
                        <a:rPr lang="ko-KR" altLang="en-US" sz="800" kern="1200" baseline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일괄 체크 처리</a:t>
                      </a:r>
                      <a:r>
                        <a:rPr lang="en-US" altLang="ko-KR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/>
                      </a:r>
                      <a:br>
                        <a:rPr lang="en-US" altLang="ko-KR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ko-KR" altLang="en-US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해제 시 </a:t>
                      </a:r>
                      <a:r>
                        <a:rPr lang="en-US" altLang="ko-KR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: </a:t>
                      </a:r>
                      <a:r>
                        <a:rPr lang="ko-KR" altLang="en-US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모든 캘린더 뷰 일괄 해제 처리</a:t>
                      </a:r>
                      <a:r>
                        <a:rPr lang="en-US" altLang="ko-KR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/>
                      </a:r>
                      <a:br>
                        <a:rPr lang="en-US" altLang="ko-KR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ko-KR" altLang="en-US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개인 달력</a:t>
                      </a:r>
                      <a:r>
                        <a:rPr lang="en-US" altLang="ko-KR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~ </a:t>
                      </a:r>
                      <a:r>
                        <a:rPr lang="ko-KR" altLang="en-US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구독 달력 중</a:t>
                      </a:r>
                      <a:r>
                        <a:rPr lang="en-US" altLang="ko-KR" sz="800" kern="120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,</a:t>
                      </a:r>
                      <a:r>
                        <a:rPr lang="en-US" altLang="ko-KR" sz="800" kern="1200" baseline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1</a:t>
                      </a:r>
                      <a:r>
                        <a:rPr lang="ko-KR" altLang="en-US" sz="800" kern="1200" baseline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개의 일정이라도 해제서 전체 달력 체크도 해제</a:t>
                      </a:r>
                      <a:endParaRPr lang="en-US" altLang="ko-KR" sz="800" kern="120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800" dirty="0" smtClean="0"/>
                        <a:t>-</a:t>
                      </a:r>
                      <a:endParaRPr lang="en-US" sz="800" dirty="0"/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472">
                <a:tc>
                  <a:txBody>
                    <a:bodyPr/>
                    <a:lstStyle/>
                    <a:p>
                      <a:pPr marL="11113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endParaRPr lang="ko-KR" altLang="en-US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0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플래그 일정</a:t>
                      </a:r>
                      <a:endParaRPr lang="ko-KR" altLang="en-US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사용자가 플래그 표시한 일정만 모아서 표시하는 메뉴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선택 시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: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모든 캘린더뷰를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Off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하고 플래그한 일정만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On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하여 제공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800" dirty="0" smtClean="0"/>
                        <a:t>-</a:t>
                      </a:r>
                      <a:endParaRPr lang="en-US" sz="800" dirty="0"/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472">
                <a:tc rowSpan="2">
                  <a:txBody>
                    <a:bodyPr/>
                    <a:lstStyle/>
                    <a:p>
                      <a:pPr marL="11113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개인 데이터 관리 영역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0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내 일정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사용자가 직접 등록한 일정만 표시하는 달력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사용자가 일정 조회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등록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수정 가능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800" dirty="0" smtClean="0"/>
                        <a:t>-</a:t>
                      </a:r>
                      <a:endParaRPr lang="en-US" sz="800" dirty="0"/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47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46800" marR="46800" marT="50400" marB="50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0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공유받은 일정</a:t>
                      </a:r>
                      <a:endParaRPr lang="ko-KR" altLang="en-US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다른 사용자가 사용자를 지정하여 공유한 일정을 모아서 표시하는 달력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사용자가 일정 조회 가능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800" smtClean="0"/>
                        <a:t>-</a:t>
                      </a:r>
                      <a:endParaRPr lang="en-US" altLang="ko-KR" sz="800" dirty="0"/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587">
                <a:tc rowSpan="3">
                  <a:txBody>
                    <a:bodyPr/>
                    <a:lstStyle/>
                    <a:p>
                      <a:pPr marL="11113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공동 데이터 관리 영역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0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공유 달력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  <a:cs typeface="Nanum Gothic" charset="-127"/>
                        </a:rPr>
                        <a:t>&gt;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  <a:cs typeface="Nanum Gothic" charset="-127"/>
                        </a:rPr>
                        <a:t/>
                      </a:r>
                      <a:br>
                        <a:rPr lang="en-US" altLang="ko-KR" sz="800" dirty="0" smtClean="0"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공유하는 달력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사용자가 공유받았거나 공유한 달력만 표시하는 메뉴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사용자가 일정 조회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등록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수정 가능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사용자가 일정 제목 수정 가능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800" smtClean="0"/>
                        <a:t>-</a:t>
                      </a:r>
                      <a:endParaRPr lang="en-US" altLang="ko-KR" sz="800" dirty="0"/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47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46800" marR="46800" marT="50400" marB="50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0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공유 달력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  <a:cs typeface="Nanum Gothic" charset="-127"/>
                        </a:rPr>
                        <a:t>&gt;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+mn-ea"/>
                          <a:ea typeface="+mn-ea"/>
                          <a:cs typeface="Nanum Gothic" charset="-127"/>
                        </a:rPr>
                        <a:t/>
                      </a:r>
                      <a:br>
                        <a:rPr lang="en-US" altLang="ko-KR" sz="800" dirty="0" smtClean="0"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스퀘어 그룹 달력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사용자가 멤버로 포함되어 있는 스퀘어의 일정을 표시하는 메뉴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사용자가 일정 조회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등록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/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수정 가능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800" dirty="0" smtClean="0"/>
                        <a:t>-</a:t>
                      </a:r>
                      <a:endParaRPr lang="en-US" altLang="ko-KR" sz="800" dirty="0"/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472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46800" marR="46800" marT="50400" marB="50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0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구독 달력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전사적으로 배포하는 일정 등 필수 구독 달력을 표시하는 메뉴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사용자가 일정 조회 가능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800" dirty="0" smtClean="0"/>
                        <a:t>-</a:t>
                      </a:r>
                      <a:endParaRPr lang="en-US" sz="800" dirty="0"/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357">
                <a:tc>
                  <a:txBody>
                    <a:bodyPr/>
                    <a:lstStyle/>
                    <a:p>
                      <a:pPr marL="11113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일정 설정영역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0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설정 버튼</a:t>
                      </a: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개인환경설정 화면으로 이동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800" dirty="0"/>
                    </a:p>
                  </a:txBody>
                  <a:tcPr marL="36000" marR="36000" marT="36000" marB="360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757">
                <a:tc gridSpan="4">
                  <a:txBody>
                    <a:bodyPr/>
                    <a:lstStyle/>
                    <a:p>
                      <a:pPr marL="11113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※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화면 진입시 이전에 체크됐던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달력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on/off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상태를 기본 세팅하여 출력</a:t>
                      </a:r>
                      <a:endParaRPr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marT="36000" marB="36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0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endParaRPr lang="ko-KR" altLang="en-US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46800" marR="46800" marT="50400" marB="50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46800" marR="46800" marT="50400" marB="508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n-US" sz="800" dirty="0"/>
                    </a:p>
                  </a:txBody>
                  <a:tcPr marL="46800" marR="46800" marT="50400" marB="508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080426"/>
                  </a:ext>
                </a:extLst>
              </a:tr>
            </a:tbl>
          </a:graphicData>
        </a:graphic>
      </p:graphicFrame>
      <p:cxnSp>
        <p:nvCxnSpPr>
          <p:cNvPr id="46" name="직선 연결선[R] 85"/>
          <p:cNvCxnSpPr/>
          <p:nvPr/>
        </p:nvCxnSpPr>
        <p:spPr>
          <a:xfrm>
            <a:off x="2268936" y="1367617"/>
            <a:ext cx="0" cy="1140530"/>
          </a:xfrm>
          <a:prstGeom prst="line">
            <a:avLst/>
          </a:prstGeom>
          <a:ln w="22225">
            <a:solidFill>
              <a:srgbClr val="FF2F9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98"/>
          <p:cNvSpPr/>
          <p:nvPr/>
        </p:nvSpPr>
        <p:spPr>
          <a:xfrm>
            <a:off x="772253" y="707505"/>
            <a:ext cx="1422685" cy="56636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1" name="Rectangle 14"/>
          <p:cNvSpPr>
            <a:spLocks/>
          </p:cNvSpPr>
          <p:nvPr/>
        </p:nvSpPr>
        <p:spPr bwMode="auto">
          <a:xfrm>
            <a:off x="883402" y="1013855"/>
            <a:ext cx="1195982" cy="26744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  <a:r>
              <a:rPr lang="en-US" altLang="x-none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등록하기</a:t>
            </a:r>
            <a:endParaRPr lang="x-none" altLang="x-none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3" name="Text Box 22"/>
          <p:cNvSpPr txBox="1">
            <a:spLocks/>
          </p:cNvSpPr>
          <p:nvPr/>
        </p:nvSpPr>
        <p:spPr bwMode="auto">
          <a:xfrm>
            <a:off x="855280" y="786715"/>
            <a:ext cx="538691" cy="19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ko-KR" altLang="en-US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pple SD 산돌고딕 Neo 볼드체" charset="-127"/>
                <a:sym typeface="Apple SD 산돌고딕 Neo 볼드체" charset="-127"/>
              </a:rPr>
              <a:t>일정</a:t>
            </a:r>
            <a:endParaRPr lang="x-none" altLang="x-none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Apple SD 산돌고딕 Neo 볼드체" charset="-127"/>
              <a:sym typeface="Apple SD 산돌고딕 Neo 볼드체" charset="-127"/>
            </a:endParaRPr>
          </a:p>
        </p:txBody>
      </p:sp>
      <p:grpSp>
        <p:nvGrpSpPr>
          <p:cNvPr id="54" name="Group 261"/>
          <p:cNvGrpSpPr/>
          <p:nvPr/>
        </p:nvGrpSpPr>
        <p:grpSpPr>
          <a:xfrm>
            <a:off x="785281" y="6087999"/>
            <a:ext cx="1404000" cy="246628"/>
            <a:chOff x="785281" y="6952264"/>
            <a:chExt cx="1404000" cy="246628"/>
          </a:xfrm>
        </p:grpSpPr>
        <p:sp>
          <p:nvSpPr>
            <p:cNvPr id="55" name="텍스트 상자 31"/>
            <p:cNvSpPr txBox="1"/>
            <p:nvPr/>
          </p:nvSpPr>
          <p:spPr>
            <a:xfrm>
              <a:off x="965893" y="7014226"/>
              <a:ext cx="1171015" cy="18466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  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56" name="Freeform 13"/>
            <p:cNvSpPr>
              <a:spLocks noChangeAspect="1" noChangeArrowheads="1"/>
            </p:cNvSpPr>
            <p:nvPr/>
          </p:nvSpPr>
          <p:spPr bwMode="auto">
            <a:xfrm>
              <a:off x="837212" y="7057163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57" name="직선 연결선[R] 33"/>
            <p:cNvCxnSpPr/>
            <p:nvPr/>
          </p:nvCxnSpPr>
          <p:spPr>
            <a:xfrm>
              <a:off x="785281" y="6952264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/>
          <p:cNvGrpSpPr/>
          <p:nvPr/>
        </p:nvGrpSpPr>
        <p:grpSpPr>
          <a:xfrm>
            <a:off x="402457" y="707508"/>
            <a:ext cx="367200" cy="5663606"/>
            <a:chOff x="402457" y="1126608"/>
            <a:chExt cx="367200" cy="5663606"/>
          </a:xfrm>
        </p:grpSpPr>
        <p:sp>
          <p:nvSpPr>
            <p:cNvPr id="49" name="직사각형 339"/>
            <p:cNvSpPr/>
            <p:nvPr/>
          </p:nvSpPr>
          <p:spPr>
            <a:xfrm>
              <a:off x="402457" y="1126608"/>
              <a:ext cx="367200" cy="56636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latin typeface="+mn-ea"/>
              </a:endParaRPr>
            </a:p>
          </p:txBody>
        </p:sp>
        <p:sp>
          <p:nvSpPr>
            <p:cNvPr id="50" name="직사각형"/>
            <p:cNvSpPr/>
            <p:nvPr/>
          </p:nvSpPr>
          <p:spPr>
            <a:xfrm rot="5400000">
              <a:off x="-2245745" y="3774814"/>
              <a:ext cx="5663601" cy="3671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noFill/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endParaRPr dirty="0">
                <a:latin typeface="+mn-ea"/>
                <a:ea typeface="+mn-ea"/>
              </a:endParaRPr>
            </a:p>
          </p:txBody>
        </p:sp>
        <p:grpSp>
          <p:nvGrpSpPr>
            <p:cNvPr id="58" name="Group 265"/>
            <p:cNvGrpSpPr/>
            <p:nvPr/>
          </p:nvGrpSpPr>
          <p:grpSpPr>
            <a:xfrm>
              <a:off x="459711" y="1207954"/>
              <a:ext cx="258969" cy="3587760"/>
              <a:chOff x="459711" y="1300554"/>
              <a:chExt cx="258969" cy="3587760"/>
            </a:xfrm>
          </p:grpSpPr>
          <p:sp>
            <p:nvSpPr>
              <p:cNvPr id="59" name="타원 83"/>
              <p:cNvSpPr>
                <a:spLocks noChangeAspect="1"/>
              </p:cNvSpPr>
              <p:nvPr/>
            </p:nvSpPr>
            <p:spPr>
              <a:xfrm>
                <a:off x="459711" y="1671205"/>
                <a:ext cx="258969" cy="259200"/>
              </a:xfrm>
              <a:prstGeom prst="ellipse">
                <a:avLst/>
              </a:prstGeom>
              <a:solidFill>
                <a:srgbClr val="FFFFFF">
                  <a:alpha val="29804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6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0" name="타원 84"/>
              <p:cNvSpPr>
                <a:spLocks noChangeAspect="1"/>
              </p:cNvSpPr>
              <p:nvPr/>
            </p:nvSpPr>
            <p:spPr>
              <a:xfrm>
                <a:off x="459711" y="2041856"/>
                <a:ext cx="258969" cy="259200"/>
              </a:xfrm>
              <a:prstGeom prst="ellipse">
                <a:avLst/>
              </a:prstGeom>
              <a:solidFill>
                <a:srgbClr val="FFFFFF">
                  <a:alpha val="29804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6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1" name="타원 85"/>
              <p:cNvSpPr>
                <a:spLocks noChangeAspect="1"/>
              </p:cNvSpPr>
              <p:nvPr/>
            </p:nvSpPr>
            <p:spPr>
              <a:xfrm>
                <a:off x="459711" y="2414049"/>
                <a:ext cx="258969" cy="259200"/>
              </a:xfrm>
              <a:prstGeom prst="ellipse">
                <a:avLst/>
              </a:prstGeom>
              <a:solidFill>
                <a:srgbClr val="FFFFFF">
                  <a:alpha val="29804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6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2" name="타원 86"/>
              <p:cNvSpPr>
                <a:spLocks noChangeAspect="1"/>
              </p:cNvSpPr>
              <p:nvPr/>
            </p:nvSpPr>
            <p:spPr>
              <a:xfrm>
                <a:off x="459711" y="2786242"/>
                <a:ext cx="258969" cy="259200"/>
              </a:xfrm>
              <a:prstGeom prst="ellipse">
                <a:avLst/>
              </a:prstGeom>
              <a:solidFill>
                <a:srgbClr val="FFFFFF">
                  <a:alpha val="29804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6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3" name="타원 87"/>
              <p:cNvSpPr>
                <a:spLocks noChangeAspect="1"/>
              </p:cNvSpPr>
              <p:nvPr/>
            </p:nvSpPr>
            <p:spPr>
              <a:xfrm>
                <a:off x="459711" y="3161360"/>
                <a:ext cx="258969" cy="259200"/>
              </a:xfrm>
              <a:prstGeom prst="ellipse">
                <a:avLst/>
              </a:prstGeom>
              <a:solidFill>
                <a:srgbClr val="FFFFFF">
                  <a:alpha val="29804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6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4" name="타원 88"/>
              <p:cNvSpPr>
                <a:spLocks noChangeAspect="1"/>
              </p:cNvSpPr>
              <p:nvPr/>
            </p:nvSpPr>
            <p:spPr>
              <a:xfrm>
                <a:off x="459711" y="3530529"/>
                <a:ext cx="258969" cy="259200"/>
              </a:xfrm>
              <a:prstGeom prst="ellipse">
                <a:avLst/>
              </a:prstGeom>
              <a:solidFill>
                <a:srgbClr val="FFFFFF">
                  <a:alpha val="29804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6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5" name="타원 89"/>
              <p:cNvSpPr>
                <a:spLocks noChangeAspect="1"/>
              </p:cNvSpPr>
              <p:nvPr/>
            </p:nvSpPr>
            <p:spPr>
              <a:xfrm>
                <a:off x="459711" y="3896724"/>
                <a:ext cx="258969" cy="259200"/>
              </a:xfrm>
              <a:prstGeom prst="ellipse">
                <a:avLst/>
              </a:prstGeom>
              <a:solidFill>
                <a:srgbClr val="FFFFFF">
                  <a:alpha val="29804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6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6" name="타원 90"/>
              <p:cNvSpPr>
                <a:spLocks noChangeAspect="1"/>
              </p:cNvSpPr>
              <p:nvPr/>
            </p:nvSpPr>
            <p:spPr>
              <a:xfrm>
                <a:off x="459711" y="4262919"/>
                <a:ext cx="258969" cy="259200"/>
              </a:xfrm>
              <a:prstGeom prst="ellipse">
                <a:avLst/>
              </a:prstGeom>
              <a:solidFill>
                <a:srgbClr val="FFFFFF">
                  <a:alpha val="29804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6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7" name="타원 91"/>
              <p:cNvSpPr>
                <a:spLocks noChangeAspect="1"/>
              </p:cNvSpPr>
              <p:nvPr/>
            </p:nvSpPr>
            <p:spPr>
              <a:xfrm>
                <a:off x="459711" y="4629114"/>
                <a:ext cx="258969" cy="259200"/>
              </a:xfrm>
              <a:prstGeom prst="ellipse">
                <a:avLst/>
              </a:prstGeom>
              <a:solidFill>
                <a:srgbClr val="FFFFFF">
                  <a:alpha val="29804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6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8" name="타원 83"/>
              <p:cNvSpPr>
                <a:spLocks noChangeAspect="1"/>
              </p:cNvSpPr>
              <p:nvPr/>
            </p:nvSpPr>
            <p:spPr>
              <a:xfrm>
                <a:off x="459711" y="1300554"/>
                <a:ext cx="258969" cy="259200"/>
              </a:xfrm>
              <a:prstGeom prst="ellipse">
                <a:avLst/>
              </a:prstGeom>
              <a:solidFill>
                <a:srgbClr val="FFFFFF">
                  <a:alpha val="29804"/>
                </a:srgb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kumimoji="1" lang="ko-KR" altLang="en-US" sz="600" dirty="0"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69" name="타원 83"/>
              <p:cNvSpPr>
                <a:spLocks noChangeAspect="1"/>
              </p:cNvSpPr>
              <p:nvPr/>
            </p:nvSpPr>
            <p:spPr>
              <a:xfrm>
                <a:off x="459711" y="3161357"/>
                <a:ext cx="258969" cy="259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kumimoji="1" lang="ko-KR" altLang="en-US" sz="6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일정</a:t>
                </a:r>
                <a:endParaRPr kumimoji="1" lang="ko-KR" altLang="en-US" sz="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</p:grpSp>
      <p:graphicFrame>
        <p:nvGraphicFramePr>
          <p:cNvPr id="103" name="Table 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378857"/>
              </p:ext>
            </p:extLst>
          </p:nvPr>
        </p:nvGraphicFramePr>
        <p:xfrm>
          <a:off x="769654" y="1363477"/>
          <a:ext cx="1419089" cy="1082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294"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ko-KR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2017.08</a:t>
                      </a:r>
                      <a:r>
                        <a:rPr lang="ko-KR" altLang="en-US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 </a:t>
                      </a:r>
                      <a:endParaRPr lang="en-US" sz="800" dirty="0">
                        <a:solidFill>
                          <a:schemeClr val="tx1"/>
                        </a:solidFill>
                        <a:latin typeface="Malgun Gothic" charset="-127"/>
                        <a:ea typeface="Malgun Gothic" charset="-127"/>
                        <a:cs typeface="Malgun Gothic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수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목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금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토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endParaRPr lang="en-US" sz="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600" b="1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en-US" sz="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600" u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4" name="타원 83"/>
          <p:cNvSpPr>
            <a:spLocks noChangeAspect="1"/>
          </p:cNvSpPr>
          <p:nvPr/>
        </p:nvSpPr>
        <p:spPr>
          <a:xfrm>
            <a:off x="983192" y="2134012"/>
            <a:ext cx="179840" cy="18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ko-KR" sz="600" b="1" smtClean="0">
                <a:solidFill>
                  <a:schemeClr val="bg1"/>
                </a:solidFill>
                <a:latin typeface="+mn-ea"/>
              </a:rPr>
              <a:t>21</a:t>
            </a:r>
            <a:endParaRPr kumimoji="1" lang="ko-KR" altLang="en-US" sz="6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15" name="Group 327"/>
          <p:cNvGrpSpPr/>
          <p:nvPr/>
        </p:nvGrpSpPr>
        <p:grpSpPr>
          <a:xfrm>
            <a:off x="1066886" y="1418461"/>
            <a:ext cx="792726" cy="80656"/>
            <a:chOff x="2656761" y="1741427"/>
            <a:chExt cx="792726" cy="80656"/>
          </a:xfrm>
        </p:grpSpPr>
        <p:sp>
          <p:nvSpPr>
            <p:cNvPr id="116" name="Freeform 9"/>
            <p:cNvSpPr>
              <a:spLocks noChangeArrowheads="1"/>
            </p:cNvSpPr>
            <p:nvPr/>
          </p:nvSpPr>
          <p:spPr bwMode="auto">
            <a:xfrm>
              <a:off x="26567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117" name="Freeform 10"/>
            <p:cNvSpPr>
              <a:spLocks noChangeArrowheads="1"/>
            </p:cNvSpPr>
            <p:nvPr/>
          </p:nvSpPr>
          <p:spPr bwMode="auto">
            <a:xfrm>
              <a:off x="33999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cxnSp>
        <p:nvCxnSpPr>
          <p:cNvPr id="118" name="직선 연결선 117"/>
          <p:cNvCxnSpPr/>
          <p:nvPr/>
        </p:nvCxnSpPr>
        <p:spPr>
          <a:xfrm>
            <a:off x="431751" y="546283"/>
            <a:ext cx="11303049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9100" y="152400"/>
            <a:ext cx="1503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latin typeface="Trebuchet MS" panose="020B0603020202020204" pitchFamily="34" charset="0"/>
              </a:rPr>
              <a:t>Structure_LNB</a:t>
            </a:r>
            <a:endParaRPr lang="ko-KR" altLang="en-US" sz="1600">
              <a:latin typeface="Trebuchet MS" panose="020B0603020202020204" pitchFamily="34" charset="0"/>
            </a:endParaRPr>
          </a:p>
        </p:txBody>
      </p:sp>
      <p:sp>
        <p:nvSpPr>
          <p:cNvPr id="158" name="텍스트 상자 31"/>
          <p:cNvSpPr txBox="1"/>
          <p:nvPr/>
        </p:nvSpPr>
        <p:spPr>
          <a:xfrm>
            <a:off x="2345841" y="1056229"/>
            <a:ext cx="1324833" cy="16645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kumimoji="1" lang="ko-KR" altLang="en-US" sz="900" b="1" smtClean="0">
                <a:solidFill>
                  <a:srgbClr val="FF2F92"/>
                </a:solidFill>
                <a:latin typeface="+mn-ea"/>
                <a:ea typeface="+mn-ea"/>
              </a:rPr>
              <a:t>메인 액션 버튼</a:t>
            </a:r>
            <a:endParaRPr kumimoji="1" lang="en-US" altLang="ko-KR" sz="900" b="1" dirty="0" smtClean="0">
              <a:solidFill>
                <a:srgbClr val="FF2F92"/>
              </a:solidFill>
              <a:latin typeface="+mn-ea"/>
              <a:ea typeface="+mn-ea"/>
            </a:endParaRPr>
          </a:p>
        </p:txBody>
      </p:sp>
      <p:sp>
        <p:nvSpPr>
          <p:cNvPr id="159" name="텍스트 상자 31"/>
          <p:cNvSpPr txBox="1"/>
          <p:nvPr/>
        </p:nvSpPr>
        <p:spPr>
          <a:xfrm>
            <a:off x="2345841" y="1855139"/>
            <a:ext cx="1324833" cy="1497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kumimoji="1" lang="ko-KR" altLang="en-US" sz="900" b="1" smtClean="0">
                <a:solidFill>
                  <a:srgbClr val="FF2F92"/>
                </a:solidFill>
                <a:latin typeface="+mn-ea"/>
                <a:ea typeface="+mn-ea"/>
              </a:rPr>
              <a:t>간편 달력 뷰</a:t>
            </a:r>
            <a:endParaRPr kumimoji="1" lang="en-US" altLang="ko-KR" sz="900" b="1" dirty="0" smtClean="0">
              <a:solidFill>
                <a:srgbClr val="FF2F92"/>
              </a:solidFill>
              <a:latin typeface="+mn-ea"/>
              <a:ea typeface="+mn-ea"/>
            </a:endParaRPr>
          </a:p>
        </p:txBody>
      </p:sp>
      <p:cxnSp>
        <p:nvCxnSpPr>
          <p:cNvPr id="160" name="직선 연결선[R] 85"/>
          <p:cNvCxnSpPr/>
          <p:nvPr/>
        </p:nvCxnSpPr>
        <p:spPr>
          <a:xfrm>
            <a:off x="2268936" y="2790444"/>
            <a:ext cx="0" cy="778996"/>
          </a:xfrm>
          <a:prstGeom prst="line">
            <a:avLst/>
          </a:prstGeom>
          <a:ln w="22225">
            <a:solidFill>
              <a:srgbClr val="FF2F9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1968291" y="2819296"/>
            <a:ext cx="10099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 smtClean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  <a:latin typeface="+mn-ea"/>
              <a:ea typeface="+mn-ea"/>
            </a:endParaRPr>
          </a:p>
        </p:txBody>
      </p:sp>
      <p:pic>
        <p:nvPicPr>
          <p:cNvPr id="71" name="그림 7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161" y="3006229"/>
            <a:ext cx="125774" cy="125774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3925165" y="5479100"/>
            <a:ext cx="2392779" cy="747645"/>
            <a:chOff x="4191536" y="5644411"/>
            <a:chExt cx="2392779" cy="747645"/>
          </a:xfrm>
        </p:grpSpPr>
        <p:grpSp>
          <p:nvGrpSpPr>
            <p:cNvPr id="127" name="그룹 126"/>
            <p:cNvGrpSpPr/>
            <p:nvPr/>
          </p:nvGrpSpPr>
          <p:grpSpPr>
            <a:xfrm>
              <a:off x="4206666" y="5644411"/>
              <a:ext cx="2377649" cy="444036"/>
              <a:chOff x="4159041" y="4549036"/>
              <a:chExt cx="2377649" cy="444036"/>
            </a:xfrm>
          </p:grpSpPr>
          <p:sp>
            <p:nvSpPr>
              <p:cNvPr id="128" name="TextBox 127"/>
              <p:cNvSpPr txBox="1"/>
              <p:nvPr/>
            </p:nvSpPr>
            <p:spPr>
              <a:xfrm>
                <a:off x="4159041" y="4549036"/>
                <a:ext cx="10099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r>
                  <a:rPr lang="en-US" altLang="ko-KR" sz="1100" b="1" dirty="0" smtClean="0">
                    <a:solidFill>
                      <a:prstClr val="white">
                        <a:lumMod val="50000"/>
                      </a:prstClr>
                    </a:solidFill>
                    <a:latin typeface="+mn-ea"/>
                    <a:ea typeface="+mn-ea"/>
                  </a:rPr>
                  <a:t>+</a:t>
                </a:r>
                <a:endParaRPr lang="en-US" sz="1100" b="1" dirty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4362450" y="4551037"/>
                <a:ext cx="2174240" cy="44203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기본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출력 버튼</a:t>
                </a:r>
                <a:endPara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클릭시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달력 추가 팝업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(CA6.1.3)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 출력</a:t>
                </a:r>
                <a:endPara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  <a:p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구독 달력 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[+]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버튼은 관리자일 경우에만 출력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76" name="TextBox 75"/>
            <p:cNvSpPr txBox="1"/>
            <p:nvPr/>
          </p:nvSpPr>
          <p:spPr>
            <a:xfrm>
              <a:off x="4410075" y="6073132"/>
              <a:ext cx="2001116" cy="31892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해당 달력에 마우스 오버시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출력되는 버튼</a:t>
              </a:r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클릭시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, 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달력 추가 팝업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(CA6.3)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출력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7" name="그림 7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1536" y="6113284"/>
              <a:ext cx="125774" cy="125774"/>
            </a:xfrm>
            <a:prstGeom prst="rect">
              <a:avLst/>
            </a:prstGeom>
          </p:spPr>
        </p:pic>
      </p:grpSp>
      <p:cxnSp>
        <p:nvCxnSpPr>
          <p:cNvPr id="78" name="직선 연결선[R] 85"/>
          <p:cNvCxnSpPr/>
          <p:nvPr/>
        </p:nvCxnSpPr>
        <p:spPr>
          <a:xfrm>
            <a:off x="2268936" y="3630757"/>
            <a:ext cx="0" cy="2222571"/>
          </a:xfrm>
          <a:prstGeom prst="line">
            <a:avLst/>
          </a:prstGeom>
          <a:ln w="22225">
            <a:solidFill>
              <a:srgbClr val="FF2F92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텍스트 상자 31"/>
          <p:cNvSpPr txBox="1"/>
          <p:nvPr/>
        </p:nvSpPr>
        <p:spPr>
          <a:xfrm>
            <a:off x="2345841" y="4787433"/>
            <a:ext cx="1366547" cy="1661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kumimoji="1" lang="ko-KR" altLang="en-US" sz="900" b="1" smtClean="0">
                <a:solidFill>
                  <a:srgbClr val="FF2F92"/>
                </a:solidFill>
                <a:latin typeface="+mn-ea"/>
                <a:ea typeface="+mn-ea"/>
              </a:rPr>
              <a:t>공동 데이터 </a:t>
            </a:r>
            <a:r>
              <a:rPr kumimoji="1" lang="ko-KR" altLang="en-US" sz="900" b="1" dirty="0" smtClean="0">
                <a:solidFill>
                  <a:srgbClr val="FF2F92"/>
                </a:solidFill>
                <a:latin typeface="+mn-ea"/>
                <a:ea typeface="+mn-ea"/>
              </a:rPr>
              <a:t>관리 영역</a:t>
            </a:r>
            <a:endParaRPr kumimoji="1" lang="en-US" altLang="ko-KR" sz="900" b="1" dirty="0" smtClean="0">
              <a:solidFill>
                <a:srgbClr val="FF2F92"/>
              </a:solidFill>
              <a:latin typeface="+mn-ea"/>
              <a:ea typeface="+mn-ea"/>
            </a:endParaRPr>
          </a:p>
        </p:txBody>
      </p:sp>
      <p:sp>
        <p:nvSpPr>
          <p:cNvPr id="83" name="텍스트 상자 31"/>
          <p:cNvSpPr txBox="1"/>
          <p:nvPr/>
        </p:nvSpPr>
        <p:spPr>
          <a:xfrm>
            <a:off x="986283" y="3620018"/>
            <a:ext cx="1269604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/>
            <a:r>
              <a:rPr kumimoji="1" lang="ko-KR" altLang="en-US" sz="7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rPr>
              <a:t>공유받은 달력</a:t>
            </a:r>
            <a:endParaRPr kumimoji="1" lang="ko-KR" altLang="en-US" sz="7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84" name="텍스트 상자 31"/>
          <p:cNvSpPr txBox="1"/>
          <p:nvPr/>
        </p:nvSpPr>
        <p:spPr>
          <a:xfrm>
            <a:off x="989260" y="3807012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UI</a:t>
            </a:r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팀 프로젝트 일정 공유</a:t>
            </a:r>
            <a:endParaRPr kumimoji="1" lang="ko-KR" altLang="en-US" sz="600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85" name="텍스트 상자 31"/>
          <p:cNvSpPr txBox="1"/>
          <p:nvPr/>
        </p:nvSpPr>
        <p:spPr>
          <a:xfrm>
            <a:off x="984246" y="4427909"/>
            <a:ext cx="899412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60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UX</a:t>
            </a:r>
            <a:r>
              <a:rPr kumimoji="1" lang="ko-KR" altLang="en-US" sz="60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디자인팀</a:t>
            </a:r>
            <a:endParaRPr kumimoji="1" lang="ko-KR" altLang="en-US" sz="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87" name="텍스트 상자 31"/>
          <p:cNvSpPr txBox="1"/>
          <p:nvPr/>
        </p:nvSpPr>
        <p:spPr>
          <a:xfrm>
            <a:off x="989260" y="3971568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기획</a:t>
            </a:r>
            <a:r>
              <a:rPr kumimoji="1" lang="en-US" altLang="ko-KR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팀 휴가일 공유</a:t>
            </a:r>
            <a:endParaRPr kumimoji="1" lang="ko-KR" altLang="en-US" sz="600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88" name="텍스트 상자 31"/>
          <p:cNvSpPr txBox="1"/>
          <p:nvPr/>
        </p:nvSpPr>
        <p:spPr>
          <a:xfrm>
            <a:off x="984246" y="4592392"/>
            <a:ext cx="770030" cy="9515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자동차 </a:t>
            </a:r>
            <a:r>
              <a:rPr kumimoji="1" lang="en-US" altLang="ko-KR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UX </a:t>
            </a:r>
            <a:r>
              <a: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개선</a:t>
            </a:r>
          </a:p>
        </p:txBody>
      </p:sp>
      <p:sp>
        <p:nvSpPr>
          <p:cNvPr id="89" name="텍스트 상자 31"/>
          <p:cNvSpPr txBox="1"/>
          <p:nvPr/>
        </p:nvSpPr>
        <p:spPr>
          <a:xfrm>
            <a:off x="984246" y="4749233"/>
            <a:ext cx="89587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EGW UX</a:t>
            </a:r>
            <a:r>
              <a:rPr kumimoji="1" lang="ko-KR" altLang="en-US" sz="60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개선 </a:t>
            </a:r>
            <a:r>
              <a:rPr kumimoji="1" lang="en-US" altLang="ko-KR" sz="60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TF</a:t>
            </a:r>
            <a:endParaRPr kumimoji="1" lang="ko-KR" altLang="en-US" sz="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90" name="텍스트 상자 31"/>
          <p:cNvSpPr txBox="1"/>
          <p:nvPr/>
        </p:nvSpPr>
        <p:spPr>
          <a:xfrm>
            <a:off x="984246" y="4908433"/>
            <a:ext cx="785062" cy="9178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정부 </a:t>
            </a:r>
            <a:r>
              <a: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과제 </a:t>
            </a:r>
            <a:r>
              <a:rPr kumimoji="1" lang="en-US" altLang="ko-KR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TF</a:t>
            </a:r>
            <a:endParaRPr kumimoji="1" lang="ko-KR" altLang="en-US" sz="600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91" name="텍스트 상자 31"/>
          <p:cNvSpPr txBox="1"/>
          <p:nvPr/>
        </p:nvSpPr>
        <p:spPr>
          <a:xfrm>
            <a:off x="986283" y="3032209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내 일정</a:t>
            </a:r>
            <a:endParaRPr kumimoji="1" lang="ko-KR" altLang="en-US" sz="600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92" name="텍스트 상자 31"/>
          <p:cNvSpPr txBox="1"/>
          <p:nvPr/>
        </p:nvSpPr>
        <p:spPr>
          <a:xfrm>
            <a:off x="986283" y="3198780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김핸디 업무일정</a:t>
            </a:r>
            <a:endParaRPr kumimoji="1" lang="ko-KR" altLang="en-US" sz="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93" name="텍스트 상자 31"/>
          <p:cNvSpPr txBox="1"/>
          <p:nvPr/>
        </p:nvSpPr>
        <p:spPr>
          <a:xfrm>
            <a:off x="986283" y="5394128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전사 일정</a:t>
            </a:r>
            <a:endParaRPr kumimoji="1" lang="ko-KR" altLang="en-US" sz="600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94" name="텍스트 상자 31"/>
          <p:cNvSpPr txBox="1"/>
          <p:nvPr/>
        </p:nvSpPr>
        <p:spPr>
          <a:xfrm>
            <a:off x="986283" y="5560699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대한민국 휴일</a:t>
            </a:r>
            <a:endParaRPr kumimoji="1" lang="ko-KR" altLang="en-US" sz="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95" name="텍스트 상자 31"/>
          <p:cNvSpPr txBox="1"/>
          <p:nvPr/>
        </p:nvSpPr>
        <p:spPr>
          <a:xfrm>
            <a:off x="992239" y="5196871"/>
            <a:ext cx="820269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rPr>
              <a:t>구독 달력</a:t>
            </a:r>
            <a:endParaRPr kumimoji="1" lang="ko-KR" altLang="en-US" sz="7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96" name="Freeform 24"/>
          <p:cNvSpPr>
            <a:spLocks noChangeArrowheads="1"/>
          </p:cNvSpPr>
          <p:nvPr/>
        </p:nvSpPr>
        <p:spPr bwMode="auto">
          <a:xfrm>
            <a:off x="873274" y="52278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97" name="Freeform 24"/>
          <p:cNvSpPr>
            <a:spLocks noChangeArrowheads="1"/>
          </p:cNvSpPr>
          <p:nvPr/>
        </p:nvSpPr>
        <p:spPr bwMode="auto">
          <a:xfrm>
            <a:off x="873274" y="3642951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98" name="텍스트 상자 31"/>
          <p:cNvSpPr txBox="1"/>
          <p:nvPr/>
        </p:nvSpPr>
        <p:spPr>
          <a:xfrm>
            <a:off x="992239" y="2861104"/>
            <a:ext cx="1269604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rPr>
              <a:t>개인 달력</a:t>
            </a:r>
            <a:endParaRPr kumimoji="1" lang="ko-KR" altLang="en-US" sz="7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00" name="Freeform 24"/>
          <p:cNvSpPr>
            <a:spLocks noChangeArrowheads="1"/>
          </p:cNvSpPr>
          <p:nvPr/>
        </p:nvSpPr>
        <p:spPr bwMode="auto">
          <a:xfrm>
            <a:off x="873274" y="2879377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02" name="Rectangle 356"/>
          <p:cNvSpPr>
            <a:spLocks noChangeAspect="1"/>
          </p:cNvSpPr>
          <p:nvPr/>
        </p:nvSpPr>
        <p:spPr>
          <a:xfrm>
            <a:off x="875224" y="3045217"/>
            <a:ext cx="72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105" name="Rectangle 357"/>
          <p:cNvSpPr>
            <a:spLocks noChangeAspect="1"/>
          </p:cNvSpPr>
          <p:nvPr/>
        </p:nvSpPr>
        <p:spPr>
          <a:xfrm>
            <a:off x="875224" y="3208681"/>
            <a:ext cx="72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106" name="Rectangle 358"/>
          <p:cNvSpPr>
            <a:spLocks noChangeAspect="1"/>
          </p:cNvSpPr>
          <p:nvPr/>
        </p:nvSpPr>
        <p:spPr>
          <a:xfrm>
            <a:off x="878201" y="3815049"/>
            <a:ext cx="72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107" name="Rectangle 359"/>
          <p:cNvSpPr>
            <a:spLocks noChangeAspect="1"/>
          </p:cNvSpPr>
          <p:nvPr/>
        </p:nvSpPr>
        <p:spPr>
          <a:xfrm>
            <a:off x="878201" y="3978513"/>
            <a:ext cx="72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108" name="Rectangle 360"/>
          <p:cNvSpPr>
            <a:spLocks noChangeAspect="1"/>
          </p:cNvSpPr>
          <p:nvPr/>
        </p:nvSpPr>
        <p:spPr>
          <a:xfrm>
            <a:off x="873187" y="4437631"/>
            <a:ext cx="72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109" name="Rectangle 361"/>
          <p:cNvSpPr>
            <a:spLocks noChangeAspect="1"/>
          </p:cNvSpPr>
          <p:nvPr/>
        </p:nvSpPr>
        <p:spPr>
          <a:xfrm>
            <a:off x="873187" y="4601095"/>
            <a:ext cx="72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110" name="Rectangle 362"/>
          <p:cNvSpPr>
            <a:spLocks noChangeAspect="1"/>
          </p:cNvSpPr>
          <p:nvPr/>
        </p:nvSpPr>
        <p:spPr>
          <a:xfrm>
            <a:off x="873187" y="4756667"/>
            <a:ext cx="72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111" name="Rectangle 363"/>
          <p:cNvSpPr>
            <a:spLocks noChangeAspect="1"/>
          </p:cNvSpPr>
          <p:nvPr/>
        </p:nvSpPr>
        <p:spPr>
          <a:xfrm>
            <a:off x="873187" y="4920131"/>
            <a:ext cx="72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112" name="Rectangle 364"/>
          <p:cNvSpPr>
            <a:spLocks noChangeAspect="1"/>
          </p:cNvSpPr>
          <p:nvPr/>
        </p:nvSpPr>
        <p:spPr>
          <a:xfrm>
            <a:off x="875224" y="5401562"/>
            <a:ext cx="72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113" name="Rectangle 365"/>
          <p:cNvSpPr>
            <a:spLocks noChangeAspect="1"/>
          </p:cNvSpPr>
          <p:nvPr/>
        </p:nvSpPr>
        <p:spPr>
          <a:xfrm>
            <a:off x="875224" y="5565026"/>
            <a:ext cx="72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119" name="텍스트 상자 31"/>
          <p:cNvSpPr txBox="1"/>
          <p:nvPr/>
        </p:nvSpPr>
        <p:spPr>
          <a:xfrm>
            <a:off x="998299" y="2585636"/>
            <a:ext cx="1269604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전체 달력</a:t>
            </a:r>
            <a:endParaRPr kumimoji="1" lang="ko-KR" altLang="en-US" sz="700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20" name="텍스트 상자 31"/>
          <p:cNvSpPr txBox="1"/>
          <p:nvPr/>
        </p:nvSpPr>
        <p:spPr>
          <a:xfrm>
            <a:off x="986283" y="4241383"/>
            <a:ext cx="1269604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/>
            <a:r>
              <a:rPr kumimoji="1" lang="ko-KR" altLang="en-US" sz="700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rPr>
              <a:t>스퀘어 달력</a:t>
            </a:r>
            <a:endParaRPr kumimoji="1" lang="ko-KR" altLang="en-US" sz="7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21" name="Freeform 24"/>
          <p:cNvSpPr>
            <a:spLocks noChangeArrowheads="1"/>
          </p:cNvSpPr>
          <p:nvPr/>
        </p:nvSpPr>
        <p:spPr bwMode="auto">
          <a:xfrm>
            <a:off x="873274" y="426431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811627" y="2494190"/>
            <a:ext cx="1350548" cy="2613883"/>
            <a:chOff x="811627" y="2494190"/>
            <a:chExt cx="1411382" cy="2613883"/>
          </a:xfrm>
        </p:grpSpPr>
        <p:cxnSp>
          <p:nvCxnSpPr>
            <p:cNvPr id="86" name="직선 연결선[R] 33"/>
            <p:cNvCxnSpPr/>
            <p:nvPr/>
          </p:nvCxnSpPr>
          <p:spPr>
            <a:xfrm>
              <a:off x="817150" y="5108073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직선 연결선[R] 33"/>
            <p:cNvCxnSpPr/>
            <p:nvPr/>
          </p:nvCxnSpPr>
          <p:spPr>
            <a:xfrm>
              <a:off x="811627" y="2770703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연결선[R] 33"/>
            <p:cNvCxnSpPr/>
            <p:nvPr/>
          </p:nvCxnSpPr>
          <p:spPr>
            <a:xfrm>
              <a:off x="811627" y="35447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연결선[R] 33"/>
            <p:cNvCxnSpPr/>
            <p:nvPr/>
          </p:nvCxnSpPr>
          <p:spPr>
            <a:xfrm>
              <a:off x="811627" y="2494190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[R] 33"/>
            <p:cNvCxnSpPr/>
            <p:nvPr/>
          </p:nvCxnSpPr>
          <p:spPr>
            <a:xfrm>
              <a:off x="811627" y="416612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텍스트 상자 31"/>
          <p:cNvSpPr txBox="1"/>
          <p:nvPr/>
        </p:nvSpPr>
        <p:spPr>
          <a:xfrm>
            <a:off x="986283" y="3359603"/>
            <a:ext cx="1269604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공유받은 </a:t>
            </a:r>
            <a:r>
              <a:rPr kumimoji="1" lang="ko-KR" altLang="en-US" sz="60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일정</a:t>
            </a:r>
            <a:r>
              <a:rPr kumimoji="1" lang="en-US" altLang="ko-KR" sz="60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endParaRPr kumimoji="1" lang="ko-KR" altLang="en-US" sz="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24" name="Rectangle 222"/>
          <p:cNvSpPr>
            <a:spLocks noChangeAspect="1"/>
          </p:cNvSpPr>
          <p:nvPr/>
        </p:nvSpPr>
        <p:spPr>
          <a:xfrm>
            <a:off x="875224" y="3369504"/>
            <a:ext cx="72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130" name="Rounded Rectangle 223"/>
          <p:cNvSpPr/>
          <p:nvPr/>
        </p:nvSpPr>
        <p:spPr>
          <a:xfrm>
            <a:off x="1561775" y="3196066"/>
            <a:ext cx="216000" cy="108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 smtClean="0">
                <a:latin typeface="+mn-ea"/>
              </a:rPr>
              <a:t>공유</a:t>
            </a:r>
            <a:endParaRPr lang="en-US" sz="600" dirty="0">
              <a:latin typeface="+mn-ea"/>
            </a:endParaRPr>
          </a:p>
        </p:txBody>
      </p:sp>
      <p:sp>
        <p:nvSpPr>
          <p:cNvPr id="133" name="Rectangle 356"/>
          <p:cNvSpPr>
            <a:spLocks noChangeAspect="1"/>
          </p:cNvSpPr>
          <p:nvPr/>
        </p:nvSpPr>
        <p:spPr>
          <a:xfrm>
            <a:off x="875224" y="2601140"/>
            <a:ext cx="72000" cy="720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  <a:latin typeface="+mn-ea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968291" y="4190896"/>
            <a:ext cx="10099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 smtClean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968291" y="5151016"/>
            <a:ext cx="10099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 smtClean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4" name="타원 3"/>
          <p:cNvSpPr/>
          <p:nvPr/>
        </p:nvSpPr>
        <p:spPr>
          <a:xfrm>
            <a:off x="1107554" y="3009626"/>
            <a:ext cx="131500" cy="135843"/>
          </a:xfrm>
          <a:prstGeom prst="ellipse">
            <a:avLst/>
          </a:prstGeom>
          <a:solidFill>
            <a:srgbClr val="0000F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flipH="1" flipV="1">
            <a:off x="1181647" y="3096112"/>
            <a:ext cx="87587" cy="92218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83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51" y="723900"/>
            <a:ext cx="4411002" cy="2528888"/>
          </a:xfrm>
          <a:prstGeom prst="rect">
            <a:avLst/>
          </a:prstGeom>
        </p:spPr>
      </p:pic>
      <p:cxnSp>
        <p:nvCxnSpPr>
          <p:cNvPr id="9" name="직선 연결선 8"/>
          <p:cNvCxnSpPr/>
          <p:nvPr/>
        </p:nvCxnSpPr>
        <p:spPr>
          <a:xfrm>
            <a:off x="431751" y="546283"/>
            <a:ext cx="11303049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9100" y="152400"/>
            <a:ext cx="2247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latin typeface="+mn-ea"/>
                <a:ea typeface="+mn-ea"/>
              </a:rPr>
              <a:t>날짜 표기 방식 가이드</a:t>
            </a:r>
            <a:endParaRPr lang="ko-KR" altLang="en-US" sz="1600" b="1">
              <a:latin typeface="+mn-ea"/>
              <a:ea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02503" y="719224"/>
            <a:ext cx="3076483" cy="1131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LNB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미니 캘린더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: YYYY.MM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달력 뷰 상단 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YYYY.MM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달력내 세부 일정 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b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시간형식이 오전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오후일 경우 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오전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오후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 01:00</a:t>
            </a:r>
            <a:b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2) 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시간형식이 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24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시간제일 경우 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13:00</a:t>
            </a:r>
            <a:endParaRPr lang="ko-KR" altLang="en-US" sz="900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619125" y="1276350"/>
            <a:ext cx="542925" cy="133350"/>
          </a:xfrm>
          <a:prstGeom prst="roundRect">
            <a:avLst>
              <a:gd name="adj" fmla="val 419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470141" y="1043074"/>
            <a:ext cx="542925" cy="133350"/>
          </a:xfrm>
          <a:prstGeom prst="roundRect">
            <a:avLst>
              <a:gd name="adj" fmla="val 419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>
            <a:spLocks noChangeAspect="1"/>
          </p:cNvSpPr>
          <p:nvPr/>
        </p:nvSpPr>
        <p:spPr>
          <a:xfrm>
            <a:off x="524055" y="1186782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타원 16"/>
          <p:cNvSpPr>
            <a:spLocks noChangeAspect="1"/>
          </p:cNvSpPr>
          <p:nvPr/>
        </p:nvSpPr>
        <p:spPr>
          <a:xfrm>
            <a:off x="1352730" y="967707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타원 17"/>
          <p:cNvSpPr>
            <a:spLocks noChangeAspect="1"/>
          </p:cNvSpPr>
          <p:nvPr/>
        </p:nvSpPr>
        <p:spPr>
          <a:xfrm>
            <a:off x="3116602" y="2120176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타원 18"/>
          <p:cNvSpPr>
            <a:spLocks noChangeAspect="1"/>
          </p:cNvSpPr>
          <p:nvPr/>
        </p:nvSpPr>
        <p:spPr>
          <a:xfrm>
            <a:off x="4377284" y="2120176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4555115" y="2126106"/>
            <a:ext cx="282008" cy="140957"/>
          </a:xfrm>
          <a:prstGeom prst="roundRect">
            <a:avLst>
              <a:gd name="adj" fmla="val 419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/>
          <p:cNvGrpSpPr/>
          <p:nvPr/>
        </p:nvGrpSpPr>
        <p:grpSpPr>
          <a:xfrm>
            <a:off x="433678" y="3724633"/>
            <a:ext cx="3583177" cy="2202241"/>
            <a:chOff x="322072" y="3864622"/>
            <a:chExt cx="3583177" cy="2202241"/>
          </a:xfrm>
        </p:grpSpPr>
        <p:sp>
          <p:nvSpPr>
            <p:cNvPr id="22" name="Rectangular Callout 441"/>
            <p:cNvSpPr/>
            <p:nvPr/>
          </p:nvSpPr>
          <p:spPr>
            <a:xfrm>
              <a:off x="322072" y="3864622"/>
              <a:ext cx="3506978" cy="2202241"/>
            </a:xfrm>
            <a:prstGeom prst="wedgeRectCallout">
              <a:avLst>
                <a:gd name="adj1" fmla="val -18981"/>
                <a:gd name="adj2" fmla="val -45799"/>
              </a:avLst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sp>
          <p:nvSpPr>
            <p:cNvPr id="24" name="텍스트 상자 31"/>
            <p:cNvSpPr txBox="1"/>
            <p:nvPr/>
          </p:nvSpPr>
          <p:spPr>
            <a:xfrm>
              <a:off x="658091" y="4051917"/>
              <a:ext cx="86926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ko-KR" altLang="en-US" sz="900" b="1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고객 영업 회의</a:t>
              </a:r>
              <a:endParaRPr kumimoji="1" lang="ko-KR" altLang="en-US" sz="9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cxnSp>
          <p:nvCxnSpPr>
            <p:cNvPr id="25" name="직선 연결선[R] 33"/>
            <p:cNvCxnSpPr/>
            <p:nvPr/>
          </p:nvCxnSpPr>
          <p:spPr>
            <a:xfrm>
              <a:off x="493750" y="4302239"/>
              <a:ext cx="316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3" descr="C:\Users\Administrator\Downloads\flag (1)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288" y="4056159"/>
              <a:ext cx="144000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모서리가 둥근 직사각형 26"/>
            <p:cNvSpPr/>
            <p:nvPr/>
          </p:nvSpPr>
          <p:spPr>
            <a:xfrm>
              <a:off x="3056712" y="3989375"/>
              <a:ext cx="608046" cy="217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일정 상세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텍스트 상자 31"/>
            <p:cNvSpPr txBox="1"/>
            <p:nvPr/>
          </p:nvSpPr>
          <p:spPr>
            <a:xfrm>
              <a:off x="521192" y="4499133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시간</a:t>
              </a:r>
              <a:endParaRPr kumimoji="1"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9" name="텍스트 상자 31"/>
            <p:cNvSpPr txBox="1"/>
            <p:nvPr/>
          </p:nvSpPr>
          <p:spPr>
            <a:xfrm>
              <a:off x="915648" y="4447169"/>
              <a:ext cx="2989601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2017-12-04 (</a:t>
              </a:r>
              <a:r>
                <a:rPr kumimoji="1"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월</a:t>
              </a:r>
              <a:r>
                <a:rPr kumimoji="1"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) ~ 2017-12-08 (</a:t>
              </a:r>
              <a:r>
                <a:rPr kumimoji="1"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금</a:t>
              </a:r>
              <a:r>
                <a:rPr kumimoji="1"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) </a:t>
              </a:r>
              <a:r>
                <a:rPr kumimoji="1"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오전 </a:t>
              </a:r>
              <a:r>
                <a:rPr kumimoji="1"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10:00</a:t>
              </a:r>
              <a:r>
                <a:rPr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 </a:t>
              </a:r>
              <a:r>
                <a:rPr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~ </a:t>
              </a:r>
              <a:r>
                <a:rPr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오후 </a:t>
              </a:r>
              <a:r>
                <a:rPr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01:00</a:t>
              </a:r>
              <a:endPara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매월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4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번째 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목요일 반복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endParaRPr>
            </a:p>
          </p:txBody>
        </p:sp>
        <p:sp>
          <p:nvSpPr>
            <p:cNvPr id="30" name="텍스트 상자 31"/>
            <p:cNvSpPr txBox="1"/>
            <p:nvPr/>
          </p:nvSpPr>
          <p:spPr>
            <a:xfrm>
              <a:off x="521192" y="4919220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작성자</a:t>
              </a:r>
              <a:endParaRPr kumimoji="1"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1" name="텍스트 상자 31"/>
            <p:cNvSpPr txBox="1"/>
            <p:nvPr/>
          </p:nvSpPr>
          <p:spPr>
            <a:xfrm>
              <a:off x="915648" y="4919220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김핸디</a:t>
              </a:r>
              <a:endParaRPr kumimoji="1"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2" name="텍스트 상자 31"/>
            <p:cNvSpPr txBox="1"/>
            <p:nvPr/>
          </p:nvSpPr>
          <p:spPr>
            <a:xfrm>
              <a:off x="521192" y="5162288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달력</a:t>
              </a:r>
              <a:endParaRPr kumimoji="1"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" name="텍스트 상자 31"/>
            <p:cNvSpPr txBox="1"/>
            <p:nvPr/>
          </p:nvSpPr>
          <p:spPr>
            <a:xfrm>
              <a:off x="915647" y="5162769"/>
              <a:ext cx="1957025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UX </a:t>
              </a:r>
              <a:r>
                <a:rPr kumimoji="1" lang="ko-KR" altLang="en-US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디자인팀</a:t>
              </a:r>
              <a:r>
                <a:rPr kumimoji="1"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, </a:t>
              </a:r>
              <a:r>
                <a:rPr kumimoji="1" lang="ko-KR" altLang="en-US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내가 등록한 달력</a:t>
              </a:r>
              <a:endParaRPr kumimoji="1"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484962" y="5570525"/>
              <a:ext cx="890241" cy="217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일정 복사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3212228" y="5570525"/>
              <a:ext cx="452530" cy="21720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확인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" name="모서리가 둥근 직사각형 35"/>
            <p:cNvSpPr/>
            <p:nvPr/>
          </p:nvSpPr>
          <p:spPr>
            <a:xfrm>
              <a:off x="1430158" y="5570525"/>
              <a:ext cx="452530" cy="217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삭제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4103546" y="3724633"/>
            <a:ext cx="3506978" cy="2541181"/>
            <a:chOff x="6751495" y="3631751"/>
            <a:chExt cx="3506978" cy="2541181"/>
          </a:xfrm>
        </p:grpSpPr>
        <p:sp>
          <p:nvSpPr>
            <p:cNvPr id="44" name="Rectangular Callout 441"/>
            <p:cNvSpPr/>
            <p:nvPr/>
          </p:nvSpPr>
          <p:spPr>
            <a:xfrm>
              <a:off x="6751495" y="3631751"/>
              <a:ext cx="3506978" cy="2541181"/>
            </a:xfrm>
            <a:prstGeom prst="wedgeRectCallout">
              <a:avLst>
                <a:gd name="adj1" fmla="val -18981"/>
                <a:gd name="adj2" fmla="val -45799"/>
              </a:avLst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sp>
          <p:nvSpPr>
            <p:cNvPr id="45" name="텍스트 상자 31"/>
            <p:cNvSpPr txBox="1"/>
            <p:nvPr/>
          </p:nvSpPr>
          <p:spPr>
            <a:xfrm>
              <a:off x="6932485" y="4235374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제목</a:t>
              </a:r>
              <a:r>
                <a:rPr kumimoji="1" lang="en-US" altLang="ko-KR" sz="800" b="1" smtClean="0">
                  <a:solidFill>
                    <a:srgbClr val="FF0000"/>
                  </a:solidFill>
                  <a:latin typeface="+mn-ea"/>
                  <a:ea typeface="+mn-ea"/>
                </a:rPr>
                <a:t>*</a:t>
              </a:r>
              <a:endParaRPr kumimoji="1" lang="ko-KR" altLang="en-US" sz="8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46" name="Rectangle 444"/>
            <p:cNvSpPr/>
            <p:nvPr/>
          </p:nvSpPr>
          <p:spPr>
            <a:xfrm>
              <a:off x="7491774" y="4191484"/>
              <a:ext cx="2368277" cy="216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일정 제목을 입력하세요</a:t>
              </a:r>
              <a:r>
                <a:rPr lang="en-US" altLang="ko-KR" sz="80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.</a:t>
              </a:r>
              <a:endParaRPr lang="en-US" sz="800" dirty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47" name="텍스트 상자 31"/>
            <p:cNvSpPr txBox="1"/>
            <p:nvPr/>
          </p:nvSpPr>
          <p:spPr>
            <a:xfrm>
              <a:off x="6932485" y="4558738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시간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48" name="그룹 47"/>
            <p:cNvGrpSpPr/>
            <p:nvPr/>
          </p:nvGrpSpPr>
          <p:grpSpPr>
            <a:xfrm>
              <a:off x="6911901" y="3747849"/>
              <a:ext cx="3179272" cy="250322"/>
              <a:chOff x="482478" y="822942"/>
              <a:chExt cx="3179272" cy="250322"/>
            </a:xfrm>
          </p:grpSpPr>
          <p:sp>
            <p:nvSpPr>
              <p:cNvPr id="49" name="텍스트 상자 31"/>
              <p:cNvSpPr txBox="1"/>
              <p:nvPr/>
            </p:nvSpPr>
            <p:spPr>
              <a:xfrm>
                <a:off x="482478" y="822942"/>
                <a:ext cx="869265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ko-KR" altLang="en-US" sz="900" b="1" smtClean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ea"/>
                    <a:ea typeface="+mn-ea"/>
                  </a:rPr>
                  <a:t>일정 간편등록</a:t>
                </a:r>
                <a:endParaRPr kumimoji="1" lang="ko-KR" altLang="en-US" sz="9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50" name="직선 연결선[R] 33"/>
              <p:cNvCxnSpPr/>
              <p:nvPr/>
            </p:nvCxnSpPr>
            <p:spPr>
              <a:xfrm>
                <a:off x="493750" y="1073264"/>
                <a:ext cx="316800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텍스트 상자 31"/>
            <p:cNvSpPr txBox="1"/>
            <p:nvPr/>
          </p:nvSpPr>
          <p:spPr>
            <a:xfrm>
              <a:off x="6932485" y="5104700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달력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3" name="Rectangle 127"/>
            <p:cNvSpPr/>
            <p:nvPr/>
          </p:nvSpPr>
          <p:spPr>
            <a:xfrm>
              <a:off x="7395868" y="4440744"/>
              <a:ext cx="1595780" cy="341537"/>
            </a:xfrm>
            <a:prstGeom prst="rect">
              <a:avLst/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 pitchFamily="34" charset="0"/>
                </a:rPr>
                <a:t>   2017-08-26</a:t>
              </a:r>
              <a:r>
                <a:rPr kumimoji="0" lang="ko-KR" altLang="en-US" sz="8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US" altLang="ko-KR" sz="8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 pitchFamily="34" charset="0"/>
                </a:rPr>
                <a:t>(</a:t>
              </a:r>
              <a:r>
                <a:rPr kumimoji="0" lang="ko-KR" altLang="en-US" sz="8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 pitchFamily="34" charset="0"/>
                </a:rPr>
                <a:t>수</a:t>
              </a:r>
              <a:r>
                <a:rPr kumimoji="0" lang="en-US" altLang="ko-KR" sz="8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 pitchFamily="34" charset="0"/>
                </a:rPr>
                <a:t>)</a:t>
              </a:r>
              <a:endParaRPr kumimoji="0" lang="en-US" sz="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  <p:grpSp>
          <p:nvGrpSpPr>
            <p:cNvPr id="54" name="그룹 53"/>
            <p:cNvGrpSpPr/>
            <p:nvPr/>
          </p:nvGrpSpPr>
          <p:grpSpPr>
            <a:xfrm>
              <a:off x="8364326" y="4519377"/>
              <a:ext cx="1495725" cy="202218"/>
              <a:chOff x="1706303" y="1556370"/>
              <a:chExt cx="1495725" cy="202218"/>
            </a:xfrm>
          </p:grpSpPr>
          <p:sp>
            <p:nvSpPr>
              <p:cNvPr id="55" name="Rectangle 143"/>
              <p:cNvSpPr/>
              <p:nvPr/>
            </p:nvSpPr>
            <p:spPr>
              <a:xfrm>
                <a:off x="1706303" y="1572987"/>
                <a:ext cx="648000" cy="180000"/>
              </a:xfrm>
              <a:prstGeom prst="rect">
                <a:avLst/>
              </a:prstGeom>
              <a:solidFill>
                <a:schemeClr val="bg1"/>
              </a:solidFill>
              <a:ln w="6350" cap="flat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36000" rIns="0" bIns="36000" anchor="ctr"/>
              <a:lstStyle/>
              <a:p>
                <a:r>
                  <a:rPr lang="ko-KR" altLang="en-US" sz="60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오전 </a:t>
                </a:r>
                <a:r>
                  <a:rPr lang="en-US" altLang="ko-KR" sz="60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12 : 00</a:t>
                </a:r>
                <a:endParaRPr lang="en-US" sz="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6" name="Rectangle 143"/>
              <p:cNvSpPr/>
              <p:nvPr/>
            </p:nvSpPr>
            <p:spPr>
              <a:xfrm>
                <a:off x="2554028" y="1578588"/>
                <a:ext cx="648000" cy="180000"/>
              </a:xfrm>
              <a:prstGeom prst="rect">
                <a:avLst/>
              </a:prstGeom>
              <a:solidFill>
                <a:schemeClr val="bg1"/>
              </a:solidFill>
              <a:ln w="6350" cap="flat" cmpd="sng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36000" rIns="0" bIns="36000" anchor="ctr"/>
              <a:lstStyle/>
              <a:p>
                <a:r>
                  <a:rPr lang="ko-KR" altLang="en-US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오후 </a:t>
                </a:r>
                <a:r>
                  <a:rPr lang="en-US" altLang="ko-KR" sz="6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04 : 00</a:t>
                </a:r>
                <a:endParaRPr lang="en-US" sz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2397450" y="1556370"/>
                <a:ext cx="135221" cy="200055"/>
              </a:xfrm>
              <a:prstGeom prst="rect">
                <a:avLst/>
              </a:prstGeom>
              <a:noFill/>
            </p:spPr>
            <p:txBody>
              <a:bodyPr wrap="none" lIns="36000" rIns="36000" rtlCol="0" anchor="ctr">
                <a:spAutoFit/>
              </a:bodyPr>
              <a:lstStyle/>
              <a:p>
                <a:r>
                  <a:rPr lang="en-US" altLang="ko-KR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~</a:t>
                </a:r>
                <a:endPara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8" name="Triangle 942"/>
              <p:cNvSpPr>
                <a:spLocks noChangeAspect="1"/>
              </p:cNvSpPr>
              <p:nvPr/>
            </p:nvSpPr>
            <p:spPr>
              <a:xfrm flipV="1">
                <a:off x="2196249" y="1636971"/>
                <a:ext cx="108000" cy="61902"/>
              </a:xfrm>
              <a:prstGeom prst="triangl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33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59" name="Triangle 942"/>
              <p:cNvSpPr>
                <a:spLocks noChangeAspect="1"/>
              </p:cNvSpPr>
              <p:nvPr/>
            </p:nvSpPr>
            <p:spPr>
              <a:xfrm flipV="1">
                <a:off x="3050442" y="1640734"/>
                <a:ext cx="108000" cy="61902"/>
              </a:xfrm>
              <a:prstGeom prst="triangl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33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60" name="그룹 59"/>
            <p:cNvGrpSpPr/>
            <p:nvPr/>
          </p:nvGrpSpPr>
          <p:grpSpPr>
            <a:xfrm>
              <a:off x="7491774" y="4737578"/>
              <a:ext cx="1091890" cy="196977"/>
              <a:chOff x="3469515" y="1616011"/>
              <a:chExt cx="1091890" cy="196977"/>
            </a:xfrm>
          </p:grpSpPr>
          <p:grpSp>
            <p:nvGrpSpPr>
              <p:cNvPr id="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<p:cNvGrpSpPr/>
              <p:nvPr>
                <p:custDataLst>
                  <p:tags r:id="rId1"/>
                </p:custDataLst>
              </p:nvPr>
            </p:nvGrpSpPr>
            <p:grpSpPr>
              <a:xfrm>
                <a:off x="3469515" y="1616011"/>
                <a:ext cx="484473" cy="196977"/>
                <a:chOff x="554563" y="2599933"/>
                <a:chExt cx="484473" cy="196977"/>
              </a:xfrm>
            </p:grpSpPr>
            <p:sp>
              <p:nvSpPr>
                <p:cNvPr id="66" name="Box" descr="&lt;Tags&gt;&lt;SMARTRESIZEANCHORS&gt;None,None,Absolute,None&lt;/SMARTRESIZEANCHORS&gt;&lt;/Tags&gt;"/>
                <p:cNvSpPr/>
                <p:nvPr/>
              </p:nvSpPr>
              <p:spPr>
                <a:xfrm>
                  <a:off x="554563" y="2632644"/>
                  <a:ext cx="131556" cy="13155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 smtClean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7" name="Label" descr="&lt;Tags&gt;&lt;SMARTRESIZEANCHORS&gt;Absolute,Absolute,Absolute,Absolute&lt;/SMARTRESIZEANCHORS&gt;&lt;/Tags&gt;"/>
                <p:cNvSpPr txBox="1"/>
                <p:nvPr/>
              </p:nvSpPr>
              <p:spPr>
                <a:xfrm>
                  <a:off x="686119" y="2599933"/>
                  <a:ext cx="352917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smtClean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종일</a:t>
                  </a:r>
                  <a:endParaRPr lang="en-US" sz="8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8" name="Check" descr="&lt;Tags&gt;&lt;SMARTRESIZEANCHORS&gt;None,None,Absolute,None&lt;/SMARTRESIZEANCHORS&gt;&lt;/Tags&gt;" hidden="1"/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noFill/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6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<p:cNvGrpSpPr/>
              <p:nvPr>
                <p:custDataLst>
                  <p:tags r:id="rId2"/>
                </p:custDataLst>
              </p:nvPr>
            </p:nvGrpSpPr>
            <p:grpSpPr>
              <a:xfrm>
                <a:off x="3974340" y="1616011"/>
                <a:ext cx="587065" cy="196977"/>
                <a:chOff x="554563" y="2599933"/>
                <a:chExt cx="587065" cy="196977"/>
              </a:xfrm>
            </p:grpSpPr>
            <p:sp>
              <p:nvSpPr>
                <p:cNvPr id="63" name="Box" descr="&lt;Tags&gt;&lt;SMARTRESIZEANCHORS&gt;None,None,Absolute,None&lt;/SMARTRESIZEANCHORS&gt;&lt;/Tags&gt;"/>
                <p:cNvSpPr/>
                <p:nvPr/>
              </p:nvSpPr>
              <p:spPr>
                <a:xfrm>
                  <a:off x="554563" y="2632644"/>
                  <a:ext cx="131556" cy="13155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 smtClean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4" name="Label" descr="&lt;Tags&gt;&lt;SMARTRESIZEANCHORS&gt;Absolute,Absolute,Absolute,Absolute&lt;/SMARTRESIZEANCHORS&gt;&lt;/Tags&gt;"/>
                <p:cNvSpPr txBox="1"/>
                <p:nvPr/>
              </p:nvSpPr>
              <p:spPr>
                <a:xfrm>
                  <a:off x="686119" y="2599933"/>
                  <a:ext cx="455509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smtClean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기념일</a:t>
                  </a:r>
                  <a:endParaRPr lang="en-US" sz="8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5" name="Check" descr="&lt;Tags&gt;&lt;SMARTRESIZEANCHORS&gt;None,None,Absolute,None&lt;/SMARTRESIZEANCHORS&gt;&lt;/Tags&gt;" hidden="1"/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noFill/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69" name="모서리가 둥근 직사각형 68"/>
            <p:cNvSpPr/>
            <p:nvPr/>
          </p:nvSpPr>
          <p:spPr>
            <a:xfrm>
              <a:off x="6914385" y="5714132"/>
              <a:ext cx="608046" cy="217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상세입력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70" name="그룹 69"/>
            <p:cNvGrpSpPr/>
            <p:nvPr/>
          </p:nvGrpSpPr>
          <p:grpSpPr>
            <a:xfrm>
              <a:off x="8891439" y="5714132"/>
              <a:ext cx="973247" cy="217209"/>
              <a:chOff x="1242801" y="2789225"/>
              <a:chExt cx="1307711" cy="217209"/>
            </a:xfrm>
          </p:grpSpPr>
          <p:sp>
            <p:nvSpPr>
              <p:cNvPr id="71" name="모서리가 둥근 직사각형 70"/>
              <p:cNvSpPr/>
              <p:nvPr/>
            </p:nvSpPr>
            <p:spPr>
              <a:xfrm>
                <a:off x="1242801" y="2789225"/>
                <a:ext cx="608046" cy="217209"/>
              </a:xfrm>
              <a:prstGeom prst="round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ko-KR" altLang="en-US" sz="800" smtClean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완료</a:t>
                </a:r>
                <a:endParaRPr lang="ko-KR" altLang="en-US" sz="8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72" name="모서리가 둥근 직사각형 71"/>
              <p:cNvSpPr/>
              <p:nvPr/>
            </p:nvSpPr>
            <p:spPr>
              <a:xfrm>
                <a:off x="1942466" y="2789225"/>
                <a:ext cx="608046" cy="21720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취소</a:t>
                </a: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80" name="TextBox 79"/>
          <p:cNvSpPr txBox="1"/>
          <p:nvPr/>
        </p:nvSpPr>
        <p:spPr>
          <a:xfrm>
            <a:off x="7712378" y="3652924"/>
            <a:ext cx="3198311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ea"/>
              <a:buAutoNum type="circleNumDbPlain" startAt="4"/>
            </a:pP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보기 화면에서의 날짜 표기 방식 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YYYY-MM-DD(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월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 </a:t>
            </a:r>
            <a:b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ko-KR" altLang="en-US" sz="9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보기화면에서의 시간 표기 방식 </a:t>
            </a:r>
            <a:r>
              <a:rPr lang="en-US" altLang="ko-KR" sz="9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br>
              <a:rPr lang="en-US" altLang="ko-KR" sz="9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9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시간형식이 오전</a:t>
            </a:r>
            <a:r>
              <a:rPr lang="en-US" altLang="ko-KR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오후일 경우 </a:t>
            </a:r>
            <a:r>
              <a:rPr lang="en-US" altLang="ko-KR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오전</a:t>
            </a:r>
            <a:r>
              <a:rPr lang="en-US" altLang="ko-KR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오후</a:t>
            </a:r>
            <a:r>
              <a:rPr lang="en-US" altLang="ko-KR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01:00</a:t>
            </a:r>
            <a:br>
              <a:rPr lang="en-US" altLang="ko-KR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시간형식이 </a:t>
            </a:r>
            <a:r>
              <a:rPr lang="en-US" altLang="ko-KR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시간제일 경우 </a:t>
            </a:r>
            <a:r>
              <a:rPr lang="en-US" altLang="ko-KR" sz="9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13:00</a:t>
            </a:r>
            <a:endParaRPr lang="ko-KR" altLang="en-US" sz="900" b="1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 startAt="4"/>
            </a:pPr>
            <a:r>
              <a:rPr lang="ko-KR" altLang="en-US" sz="9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쓰기 화면에서의 시간 표기 방식 </a:t>
            </a:r>
            <a:r>
              <a:rPr lang="en-US" altLang="ko-KR" sz="9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endParaRPr lang="ko-KR" altLang="en-US" sz="900" b="1" smtClea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Font typeface="+mj-ea"/>
              <a:buAutoNum type="circleNumDbPlain" startAt="4"/>
            </a:pPr>
            <a:endParaRPr lang="ko-KR" altLang="en-US" sz="900" b="1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942208" y="4314825"/>
            <a:ext cx="2963041" cy="171450"/>
          </a:xfrm>
          <a:prstGeom prst="roundRect">
            <a:avLst>
              <a:gd name="adj" fmla="val 419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5685658" y="4629149"/>
            <a:ext cx="1581415" cy="180975"/>
          </a:xfrm>
          <a:prstGeom prst="roundRect">
            <a:avLst>
              <a:gd name="adj" fmla="val 419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/>
          <p:cNvSpPr>
            <a:spLocks noChangeAspect="1"/>
          </p:cNvSpPr>
          <p:nvPr/>
        </p:nvSpPr>
        <p:spPr>
          <a:xfrm>
            <a:off x="859177" y="4244251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4" name="타원 83"/>
          <p:cNvSpPr>
            <a:spLocks noChangeAspect="1"/>
          </p:cNvSpPr>
          <p:nvPr/>
        </p:nvSpPr>
        <p:spPr>
          <a:xfrm>
            <a:off x="5621677" y="4549051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7" name="그룹 86"/>
          <p:cNvGrpSpPr/>
          <p:nvPr/>
        </p:nvGrpSpPr>
        <p:grpSpPr>
          <a:xfrm>
            <a:off x="8059526" y="4790801"/>
            <a:ext cx="920005" cy="1829074"/>
            <a:chOff x="8059527" y="4790801"/>
            <a:chExt cx="648000" cy="1829074"/>
          </a:xfrm>
        </p:grpSpPr>
        <p:sp>
          <p:nvSpPr>
            <p:cNvPr id="85" name="Rectangle 143"/>
            <p:cNvSpPr/>
            <p:nvPr/>
          </p:nvSpPr>
          <p:spPr>
            <a:xfrm>
              <a:off x="8059527" y="4790801"/>
              <a:ext cx="648000" cy="180000"/>
            </a:xfrm>
            <a:prstGeom prst="rect">
              <a:avLst/>
            </a:prstGeom>
            <a:solidFill>
              <a:schemeClr val="bg1"/>
            </a:solidFill>
            <a:ln w="635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36000" rIns="0" bIns="36000" anchor="ctr"/>
            <a:lstStyle/>
            <a:p>
              <a:r>
                <a:rPr lang="ko-KR" altLang="en-US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오전 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12:00</a:t>
              </a:r>
              <a:r>
                <a:rPr lang="en-US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lang="ko-KR" altLang="en-US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▼</a:t>
              </a:r>
              <a:endPara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6" name="Rectangle 143"/>
            <p:cNvSpPr/>
            <p:nvPr/>
          </p:nvSpPr>
          <p:spPr>
            <a:xfrm>
              <a:off x="8059527" y="4962251"/>
              <a:ext cx="648000" cy="1657624"/>
            </a:xfrm>
            <a:prstGeom prst="rect">
              <a:avLst/>
            </a:prstGeom>
            <a:solidFill>
              <a:schemeClr val="bg1"/>
            </a:solidFill>
            <a:ln w="635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36000" rIns="0" bIns="36000" anchor="t"/>
            <a:lstStyle/>
            <a:p>
              <a:r>
                <a:rPr lang="ko-KR" altLang="en-US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오전 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12:00</a:t>
              </a:r>
            </a:p>
            <a:p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오전 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12:30</a:t>
              </a:r>
            </a:p>
            <a:p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오전 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01:00</a:t>
              </a:r>
              <a:endParaRPr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오전 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01:30</a:t>
              </a:r>
            </a:p>
            <a:p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오전 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02:00</a:t>
              </a:r>
            </a:p>
            <a:p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오전 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02:30</a:t>
              </a:r>
            </a:p>
            <a:p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오전 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03:00</a:t>
              </a:r>
              <a:endPara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오전 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03:30</a:t>
              </a:r>
            </a:p>
            <a:p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r>
                <a:rPr lang="ko-KR" altLang="en-US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오후 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11:00</a:t>
              </a:r>
            </a:p>
            <a:p>
              <a:r>
                <a:rPr lang="ko-KR" altLang="en-US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오후 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11:30</a:t>
              </a:r>
              <a:endPara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4843825" y="5134232"/>
            <a:ext cx="2385210" cy="216177"/>
            <a:chOff x="1045050" y="2380999"/>
            <a:chExt cx="2385210" cy="216177"/>
          </a:xfrm>
        </p:grpSpPr>
        <p:sp>
          <p:nvSpPr>
            <p:cNvPr id="74" name="Rounded Rectangle 939"/>
            <p:cNvSpPr/>
            <p:nvPr/>
          </p:nvSpPr>
          <p:spPr>
            <a:xfrm>
              <a:off x="1045050" y="2380999"/>
              <a:ext cx="889854" cy="216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달력추가    ▼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cxnSp>
          <p:nvCxnSpPr>
            <p:cNvPr id="75" name="직선 연결선 74"/>
            <p:cNvCxnSpPr/>
            <p:nvPr/>
          </p:nvCxnSpPr>
          <p:spPr>
            <a:xfrm>
              <a:off x="1998125" y="2597176"/>
              <a:ext cx="1432135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673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945953"/>
              </p:ext>
            </p:extLst>
          </p:nvPr>
        </p:nvGraphicFramePr>
        <p:xfrm>
          <a:off x="9267471" y="745639"/>
          <a:ext cx="2880000" cy="4974776"/>
        </p:xfrm>
        <a:graphic>
          <a:graphicData uri="http://schemas.openxmlformats.org/drawingml/2006/table">
            <a:tbl>
              <a:tblPr/>
              <a:tblGrid>
                <a:gridCol w="16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 gridSpan="2">
                  <a:txBody>
                    <a:bodyPr/>
                    <a:lstStyle/>
                    <a:p>
                      <a:pPr marL="180975" indent="-138113" algn="l" defTabSz="914400">
                        <a:buSzPct val="100000"/>
                        <a:buChar char="•"/>
                        <a:tabLst/>
                        <a:defRPr sz="23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일정 메뉴 진입 시 제공하는 메인 화면</a:t>
                      </a:r>
                    </a:p>
                    <a:p>
                      <a:pPr marL="180975" indent="-138113" algn="l" defTabSz="914400">
                        <a:buSzPct val="100000"/>
                        <a:buChar char="•"/>
                        <a:tabLst/>
                        <a:defRPr sz="2300"/>
                      </a:pP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진입 시 마지막으로 설정한 달력 </a:t>
                      </a: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On/Off 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정보 제공</a:t>
                      </a:r>
                    </a:p>
                    <a:p>
                      <a:pPr marL="180975" indent="-138113" algn="l" defTabSz="914400">
                        <a:buSzPct val="100000"/>
                        <a:buChar char="•"/>
                        <a:tabLst/>
                        <a:defRPr sz="2300"/>
                      </a:pP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Default : 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월간 </a:t>
                      </a:r>
                      <a:r>
                        <a:rPr lang="ko-KR" altLang="en-US" sz="800" kern="1200" baseline="0" dirty="0" err="1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뷰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Nanum Gothic" charset="-127"/>
                      </a:endParaRPr>
                    </a:p>
                  </a:txBody>
                  <a:tcPr marL="18000" marR="0" marT="1800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빈 일정</a:t>
                      </a:r>
                      <a:endParaRPr lang="en-US" altLang="ko-KR" sz="800" b="1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등록된 일정이 없는 경우 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오늘 날짜 표시</a:t>
                      </a:r>
                      <a:r>
                        <a:rPr lang="ko-KR" altLang="en-US" sz="800" baseline="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en-US" altLang="ko-KR" sz="800" baseline="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:</a:t>
                      </a:r>
                      <a:r>
                        <a:rPr lang="ko-KR" altLang="en-US" sz="800" baseline="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현재 일자에 포커스 표시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회 선택 시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원클릭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)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일정 간편등록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(3)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2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회 선택 시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더블클릭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)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일정 상세등록 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새창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제공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18000" marR="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등록된 일정</a:t>
                      </a:r>
                      <a:endParaRPr lang="en-US" altLang="ko-KR" sz="800" b="1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등록된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일정을 해당 날짜 범위 내에 표시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속한 달력과 동일한 컬러로 일정 표시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표시 정보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일정 제목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시간 표시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종일 일정일 경우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‘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종일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’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제공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)</a:t>
                      </a:r>
                      <a:endParaRPr kumimoji="1" lang="ko-KR" altLang="en-US" sz="8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월간 </a:t>
                      </a:r>
                      <a:r>
                        <a:rPr kumimoji="1" lang="ko-KR" altLang="en-US" sz="800" strike="sngStrike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뷰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일 최대 일정</a:t>
                      </a:r>
                      <a:r>
                        <a:rPr kumimoji="1" lang="en-US" altLang="ko-KR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3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개 표시하며</a:t>
                      </a:r>
                      <a:r>
                        <a:rPr kumimoji="1" lang="en-US" altLang="ko-KR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그 이후 일정은 </a:t>
                      </a:r>
                      <a:r>
                        <a:rPr kumimoji="1" lang="en-US" altLang="ko-KR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+N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버튼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+N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버튼 선택 시 </a:t>
                      </a:r>
                      <a:r>
                        <a:rPr kumimoji="1" lang="en-US" altLang="ko-KR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등록된 전체 일정</a:t>
                      </a:r>
                      <a:r>
                        <a:rPr kumimoji="1" lang="en-US" altLang="ko-KR" sz="800" strike="sngStrike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(2-1</a:t>
                      </a:r>
                      <a:r>
                        <a:rPr kumimoji="1" lang="en-US" altLang="ko-KR" sz="800" strike="sngStrike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)</a:t>
                      </a:r>
                      <a:r>
                        <a:rPr kumimoji="1" lang="ko-KR" altLang="en-US" sz="800" strike="sngStrike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제공</a:t>
                      </a:r>
                      <a:endParaRPr kumimoji="1" lang="en-US" altLang="ko-KR" sz="800" strike="sngStrike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해상도에 따라 가로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세로 사이즈는 가변적이므로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일에 출력될 수 있는 일정도 가변적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이에 따라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+N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개수는 가변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82563" indent="-171450" algn="l" defTabSz="914400">
                        <a:buSzPct val="75000"/>
                        <a:buFont typeface="Wingdings" panose="05000000000000000000" pitchFamily="2" charset="2"/>
                        <a:buChar char="v"/>
                        <a:tabLst/>
                        <a:defRPr sz="2000"/>
                      </a:pP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인터렉션 가이드 참조</a:t>
                      </a:r>
                      <a:endParaRPr kumimoji="1" lang="ko-KR" altLang="en-US" sz="800" strike="sngStrike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회 선택 시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원클릭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)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일정 간편보기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(4)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2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회 선택 시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더블클릭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)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일정 상세보기 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새창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지난 일정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시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분 단위로 흐리게 표시</a:t>
                      </a:r>
                      <a:endParaRPr kumimoji="1" lang="en-US" altLang="ko-KR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2-1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등록된 전체 일정</a:t>
                      </a:r>
                      <a:endParaRPr lang="en-US" altLang="ko-KR" sz="800" b="1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선택한 일자에 등록된 일정이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개 이상인 경우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+N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개 </a:t>
                      </a:r>
                      <a:r>
                        <a:rPr kumimoji="1"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</a:rPr>
                        <a:t>더보기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버튼을 선택 시 </a:t>
                      </a:r>
                      <a:r>
                        <a:rPr kumimoji="1"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</a:rPr>
                        <a:t>레이어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팝업으로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해당 팝업 내 개별 일정 선택 시 일정 상세보기 </a:t>
                      </a:r>
                      <a:r>
                        <a:rPr kumimoji="1"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</a:rPr>
                        <a:t>새창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추가 버튼 선택 시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일정 상세등록 </a:t>
                      </a:r>
                      <a:r>
                        <a:rPr kumimoji="1"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</a:rPr>
                        <a:t>새창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제공</a:t>
                      </a:r>
                    </a:p>
                  </a:txBody>
                  <a:tcPr marL="18000" marR="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dirty="0" smtClean="0"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kumimoji="1" lang="ko-KR" altLang="en-US" sz="800" b="1" dirty="0" smtClean="0">
                          <a:solidFill>
                            <a:schemeClr val="tx1"/>
                          </a:solidFill>
                          <a:latin typeface="+mn-ea"/>
                        </a:rPr>
                        <a:t>간편 기간 일정 선택</a:t>
                      </a:r>
                      <a:endParaRPr kumimoji="1" lang="en-US" altLang="ko-KR" sz="800" b="1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등록할 일정을 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드레그로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날짜를 선택하면 선택된 시간이  입력된 일정 간편등록 창 노출됨</a:t>
                      </a:r>
                      <a:endParaRPr kumimoji="1" lang="en-US" altLang="ko-KR" sz="8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일정수정 버튼 클릭 시 상세등록 창으로 변경되어 노출됨</a:t>
                      </a:r>
                      <a:endParaRPr kumimoji="1" lang="en-US" altLang="ko-KR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18000" marR="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524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dirty="0" smtClean="0">
                          <a:latin typeface="+mj-ea"/>
                          <a:ea typeface="+mj-ea"/>
                          <a:cs typeface="Nanum Gothic" charset="-127"/>
                        </a:rPr>
                        <a:t>4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buSzPct val="75000"/>
                        <a:buFont typeface="Arial" panose="020B0604020202020204" pitchFamily="34" charset="0"/>
                        <a:buNone/>
                        <a:tabLst/>
                        <a:defRPr sz="2000"/>
                      </a:pPr>
                      <a:r>
                        <a:rPr kumimoji="1" lang="ko-KR" altLang="en-US" sz="800" b="1" baseline="0" dirty="0" smtClean="0">
                          <a:solidFill>
                            <a:schemeClr val="tx1"/>
                          </a:solidFill>
                          <a:latin typeface="+mn-ea"/>
                          <a:sym typeface="Wingdings" panose="05000000000000000000" pitchFamily="2" charset="2"/>
                        </a:rPr>
                        <a:t>일정 날짜 수정</a:t>
                      </a:r>
                      <a:endParaRPr kumimoji="1" lang="en-US" altLang="ko-KR" sz="800" b="1" baseline="0" dirty="0" smtClean="0">
                        <a:solidFill>
                          <a:schemeClr val="tx1"/>
                        </a:solidFill>
                        <a:latin typeface="+mn-ea"/>
                        <a:sym typeface="Wingdings" panose="05000000000000000000" pitchFamily="2" charset="2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dirty="0" err="1" smtClean="0">
                          <a:solidFill>
                            <a:schemeClr val="tx1"/>
                          </a:solidFill>
                          <a:latin typeface="+mn-ea"/>
                          <a:sym typeface="Wingdings" panose="05000000000000000000" pitchFamily="2" charset="2"/>
                        </a:rPr>
                        <a:t>월간뷰에서</a:t>
                      </a: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  <a:sym typeface="Wingdings" panose="05000000000000000000" pitchFamily="2" charset="2"/>
                        </a:rPr>
                        <a:t> 날짜 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/>
                          </a:solidFill>
                          <a:latin typeface="+mn-ea"/>
                          <a:sym typeface="Wingdings" panose="05000000000000000000" pitchFamily="2" charset="2"/>
                        </a:rPr>
                        <a:t>변경시</a:t>
                      </a: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  <a:sym typeface="Wingdings" panose="05000000000000000000" pitchFamily="2" charset="2"/>
                        </a:rPr>
                        <a:t> 일정막대 마우스 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/>
                          </a:solidFill>
                          <a:latin typeface="+mn-ea"/>
                          <a:sym typeface="Wingdings" panose="05000000000000000000" pitchFamily="2" charset="2"/>
                        </a:rPr>
                        <a:t>오버시</a:t>
                      </a: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  <a:sym typeface="Wingdings" panose="05000000000000000000" pitchFamily="2" charset="2"/>
                        </a:rPr>
                        <a:t> 마우스포인터가</a:t>
                      </a:r>
                      <a:r>
                        <a:rPr kumimoji="1" lang="en-US" altLang="ko-KR" sz="800" baseline="0" dirty="0" smtClean="0">
                          <a:solidFill>
                            <a:schemeClr val="tx1"/>
                          </a:solidFill>
                          <a:latin typeface="+mn-ea"/>
                          <a:sym typeface="Wingdings" panose="05000000000000000000" pitchFamily="2" charset="2"/>
                        </a:rPr>
                        <a:t> finger point</a:t>
                      </a: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  <a:sym typeface="Wingdings" panose="05000000000000000000" pitchFamily="2" charset="2"/>
                        </a:rPr>
                        <a:t>로 변경</a:t>
                      </a:r>
                      <a:endParaRPr kumimoji="1" lang="en-US" altLang="ko-KR" sz="800" baseline="0" dirty="0" smtClean="0">
                        <a:solidFill>
                          <a:schemeClr val="tx1"/>
                        </a:solidFill>
                        <a:latin typeface="+mn-ea"/>
                        <a:sym typeface="Wingdings" panose="05000000000000000000" pitchFamily="2" charset="2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일정막대 선택 후 변경할 날짜 영역에 막대</a:t>
                      </a: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 이동</a:t>
                      </a:r>
                      <a:endParaRPr kumimoji="1" lang="en-US" altLang="ko-KR" sz="800" baseline="0" dirty="0" smtClean="0">
                        <a:solidFill>
                          <a:schemeClr val="tx1"/>
                        </a:solidFill>
                        <a:latin typeface="+mn-ea"/>
                        <a:sym typeface="Wingdings" panose="05000000000000000000" pitchFamily="2" charset="2"/>
                      </a:endParaRPr>
                    </a:p>
                    <a:p>
                      <a:pPr marL="11113" indent="0" algn="l" defTabSz="914400">
                        <a:buSzPct val="75000"/>
                        <a:buFont typeface="Arial" panose="020B0604020202020204" pitchFamily="34" charset="0"/>
                        <a:buNone/>
                        <a:tabLst/>
                        <a:defRPr sz="2000"/>
                      </a:pPr>
                      <a:r>
                        <a:rPr kumimoji="1" lang="en-US" altLang="ko-KR" sz="800" baseline="0" dirty="0" smtClean="0">
                          <a:solidFill>
                            <a:schemeClr val="tx1"/>
                          </a:solidFill>
                          <a:latin typeface="+mn-ea"/>
                          <a:sym typeface="Wingdings" panose="05000000000000000000" pitchFamily="2" charset="2"/>
                        </a:rPr>
                        <a:t>4-1  </a:t>
                      </a: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  <a:sym typeface="Wingdings" panose="05000000000000000000" pitchFamily="2" charset="2"/>
                        </a:rPr>
                        <a:t>날짜 변경 시 일정막대 표시</a:t>
                      </a:r>
                      <a:endParaRPr kumimoji="1" lang="en-US" altLang="ko-KR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18000" marR="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직사각형 98"/>
          <p:cNvSpPr/>
          <p:nvPr/>
        </p:nvSpPr>
        <p:spPr>
          <a:xfrm>
            <a:off x="431134" y="676275"/>
            <a:ext cx="1422685" cy="59912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7" name="Rectangle 14"/>
          <p:cNvSpPr>
            <a:spLocks/>
          </p:cNvSpPr>
          <p:nvPr/>
        </p:nvSpPr>
        <p:spPr bwMode="auto">
          <a:xfrm>
            <a:off x="550750" y="807794"/>
            <a:ext cx="1195982" cy="26744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 algn="ctr">
              <a:lnSpc>
                <a:spcPct val="130000"/>
              </a:lnSpc>
            </a:pPr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일정 </a:t>
            </a: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등록하기</a:t>
            </a:r>
            <a:endParaRPr lang="x-none" altLang="x-none" sz="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14" name="Group 311"/>
          <p:cNvGrpSpPr/>
          <p:nvPr/>
        </p:nvGrpSpPr>
        <p:grpSpPr>
          <a:xfrm>
            <a:off x="444162" y="6351330"/>
            <a:ext cx="1404000" cy="246628"/>
            <a:chOff x="785281" y="6952264"/>
            <a:chExt cx="1404000" cy="246628"/>
          </a:xfrm>
        </p:grpSpPr>
        <p:sp>
          <p:nvSpPr>
            <p:cNvPr id="15" name="텍스트 상자 31"/>
            <p:cNvSpPr txBox="1"/>
            <p:nvPr/>
          </p:nvSpPr>
          <p:spPr>
            <a:xfrm>
              <a:off x="965893" y="7014226"/>
              <a:ext cx="1171015" cy="18466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  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6" name="Freeform 13"/>
            <p:cNvSpPr>
              <a:spLocks noChangeAspect="1" noChangeArrowheads="1"/>
            </p:cNvSpPr>
            <p:nvPr/>
          </p:nvSpPr>
          <p:spPr bwMode="auto">
            <a:xfrm>
              <a:off x="837212" y="7057163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17" name="직선 연결선[R] 33"/>
            <p:cNvCxnSpPr/>
            <p:nvPr/>
          </p:nvCxnSpPr>
          <p:spPr>
            <a:xfrm>
              <a:off x="785281" y="6952264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1" name="Table 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473419"/>
              </p:ext>
            </p:extLst>
          </p:nvPr>
        </p:nvGraphicFramePr>
        <p:xfrm>
          <a:off x="428535" y="1157416"/>
          <a:ext cx="1419089" cy="1082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294"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ko-KR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2017.08</a:t>
                      </a:r>
                      <a:r>
                        <a:rPr lang="ko-KR" altLang="en-US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 </a:t>
                      </a:r>
                      <a:endParaRPr lang="en-US" sz="800" dirty="0">
                        <a:solidFill>
                          <a:schemeClr val="tx1"/>
                        </a:solidFill>
                        <a:latin typeface="Malgun Gothic" charset="-127"/>
                        <a:ea typeface="Malgun Gothic" charset="-127"/>
                        <a:cs typeface="Malgun Gothic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수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목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금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토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endParaRPr lang="en-US" sz="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n-US" sz="600" u="none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en-US" sz="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600" u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" name="타원 83"/>
          <p:cNvSpPr>
            <a:spLocks noChangeAspect="1"/>
          </p:cNvSpPr>
          <p:nvPr/>
        </p:nvSpPr>
        <p:spPr>
          <a:xfrm>
            <a:off x="642073" y="1927951"/>
            <a:ext cx="179840" cy="18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ko-KR" sz="600" b="1" smtClean="0">
                <a:solidFill>
                  <a:schemeClr val="bg1"/>
                </a:solidFill>
                <a:latin typeface="+mn-ea"/>
              </a:rPr>
              <a:t>21</a:t>
            </a:r>
            <a:endParaRPr kumimoji="1" lang="ko-KR" altLang="en-US" sz="6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53" name="직선 연결선[R] 33"/>
          <p:cNvCxnSpPr/>
          <p:nvPr/>
        </p:nvCxnSpPr>
        <p:spPr>
          <a:xfrm>
            <a:off x="438102" y="2297946"/>
            <a:ext cx="141138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234"/>
          <p:cNvGrpSpPr/>
          <p:nvPr/>
        </p:nvGrpSpPr>
        <p:grpSpPr>
          <a:xfrm>
            <a:off x="725767" y="1212400"/>
            <a:ext cx="792726" cy="80656"/>
            <a:chOff x="2656761" y="1741427"/>
            <a:chExt cx="792726" cy="80656"/>
          </a:xfrm>
        </p:grpSpPr>
        <p:sp>
          <p:nvSpPr>
            <p:cNvPr id="64" name="Freeform 9"/>
            <p:cNvSpPr>
              <a:spLocks noChangeArrowheads="1"/>
            </p:cNvSpPr>
            <p:nvPr/>
          </p:nvSpPr>
          <p:spPr bwMode="auto">
            <a:xfrm>
              <a:off x="26567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65" name="Freeform 10"/>
            <p:cNvSpPr>
              <a:spLocks noChangeArrowheads="1"/>
            </p:cNvSpPr>
            <p:nvPr/>
          </p:nvSpPr>
          <p:spPr bwMode="auto">
            <a:xfrm>
              <a:off x="33999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cxnSp>
        <p:nvCxnSpPr>
          <p:cNvPr id="66" name="직선 연결선[R] 7"/>
          <p:cNvCxnSpPr/>
          <p:nvPr/>
        </p:nvCxnSpPr>
        <p:spPr>
          <a:xfrm>
            <a:off x="2019038" y="1063409"/>
            <a:ext cx="55241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67" name="직선 연결선[R] 7"/>
          <p:cNvCxnSpPr/>
          <p:nvPr/>
        </p:nvCxnSpPr>
        <p:spPr>
          <a:xfrm>
            <a:off x="1971413" y="106340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71" name="텍스트 상자 31"/>
          <p:cNvSpPr txBox="1"/>
          <p:nvPr/>
        </p:nvSpPr>
        <p:spPr>
          <a:xfrm>
            <a:off x="2081146" y="839242"/>
            <a:ext cx="977361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10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2017.08</a:t>
            </a:r>
            <a:endParaRPr kumimoji="1" lang="ko-KR" altLang="en-US" sz="8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grpSp>
        <p:nvGrpSpPr>
          <p:cNvPr id="72" name="Group 532"/>
          <p:cNvGrpSpPr/>
          <p:nvPr/>
        </p:nvGrpSpPr>
        <p:grpSpPr>
          <a:xfrm>
            <a:off x="2800670" y="851474"/>
            <a:ext cx="540610" cy="144000"/>
            <a:chOff x="3113961" y="1702107"/>
            <a:chExt cx="540610" cy="144000"/>
          </a:xfrm>
        </p:grpSpPr>
        <p:sp>
          <p:nvSpPr>
            <p:cNvPr id="73" name="Freeform 9"/>
            <p:cNvSpPr>
              <a:spLocks noChangeArrowheads="1"/>
            </p:cNvSpPr>
            <p:nvPr/>
          </p:nvSpPr>
          <p:spPr bwMode="auto">
            <a:xfrm>
              <a:off x="31139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74" name="Freeform 10"/>
            <p:cNvSpPr>
              <a:spLocks noChangeArrowheads="1"/>
            </p:cNvSpPr>
            <p:nvPr/>
          </p:nvSpPr>
          <p:spPr bwMode="auto">
            <a:xfrm>
              <a:off x="32475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75" name="Rounded Rectangle 535"/>
            <p:cNvSpPr/>
            <p:nvPr/>
          </p:nvSpPr>
          <p:spPr>
            <a:xfrm>
              <a:off x="3373429" y="1702107"/>
              <a:ext cx="281142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오늘</a:t>
              </a:r>
              <a:endPara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</p:grpSp>
      <p:graphicFrame>
        <p:nvGraphicFramePr>
          <p:cNvPr id="116" name="Table 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535734"/>
              </p:ext>
            </p:extLst>
          </p:nvPr>
        </p:nvGraphicFramePr>
        <p:xfrm>
          <a:off x="1958557" y="1225341"/>
          <a:ext cx="6946541" cy="5125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3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3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23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218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일</a:t>
                      </a:r>
                      <a:endParaRPr 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월</a:t>
                      </a:r>
                      <a:endParaRPr 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수</a:t>
                      </a:r>
                      <a:endParaRPr 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목</a:t>
                      </a:r>
                      <a:endParaRPr 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금</a:t>
                      </a:r>
                      <a:endParaRPr 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토</a:t>
                      </a:r>
                      <a:endParaRPr lang="en-US" sz="9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6760">
                <a:tc>
                  <a:txBody>
                    <a:bodyPr/>
                    <a:lstStyle/>
                    <a:p>
                      <a:pPr algn="l"/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rgbClr val="FF0000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</a:t>
                      </a:r>
                      <a:endParaRPr lang="en-US" sz="1000" b="0" dirty="0">
                        <a:solidFill>
                          <a:srgbClr val="FF0000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4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5</a:t>
                      </a:r>
                      <a:endParaRPr 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676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6</a:t>
                      </a:r>
                      <a:endParaRPr 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7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8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9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10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11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12</a:t>
                      </a:r>
                      <a:endParaRPr 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676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13</a:t>
                      </a:r>
                      <a:endParaRPr 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14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15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16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17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18</a:t>
                      </a:r>
                      <a:endParaRPr lang="en-US" sz="1000" b="0" u="none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19</a:t>
                      </a:r>
                      <a:endParaRPr 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676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20</a:t>
                      </a:r>
                      <a:endParaRPr 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21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u="none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22</a:t>
                      </a:r>
                      <a:endParaRPr lang="en-US" sz="1000" b="0" u="none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23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24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25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26</a:t>
                      </a:r>
                      <a:endParaRPr 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676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27</a:t>
                      </a:r>
                      <a:endParaRPr lang="en-US" sz="1000" b="0" dirty="0">
                        <a:solidFill>
                          <a:schemeClr val="bg1">
                            <a:lumMod val="6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28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29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30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31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1</a:t>
                      </a:r>
                      <a:endParaRPr 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2</a:t>
                      </a:r>
                      <a:endParaRPr lang="en-US" sz="10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7" name="Rectangle 4"/>
          <p:cNvSpPr/>
          <p:nvPr/>
        </p:nvSpPr>
        <p:spPr>
          <a:xfrm>
            <a:off x="3953099" y="1417799"/>
            <a:ext cx="986400" cy="986400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4"/>
          <p:cNvSpPr>
            <a:spLocks/>
          </p:cNvSpPr>
          <p:nvPr/>
        </p:nvSpPr>
        <p:spPr bwMode="auto">
          <a:xfrm>
            <a:off x="3953099" y="2608225"/>
            <a:ext cx="972000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임원보고          </a:t>
            </a:r>
            <a:r>
              <a:rPr kumimoji="1" lang="ko-KR" altLang="en-US" sz="60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오전</a:t>
            </a:r>
            <a:r>
              <a:rPr kumimoji="1" lang="en-US" altLang="ko-KR" sz="60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10:00</a:t>
            </a:r>
            <a:endParaRPr kumimoji="1" lang="ko-KR" altLang="en-US" sz="6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9" name="Rectangle 14"/>
          <p:cNvSpPr>
            <a:spLocks/>
          </p:cNvSpPr>
          <p:nvPr/>
        </p:nvSpPr>
        <p:spPr bwMode="auto">
          <a:xfrm>
            <a:off x="3953099" y="2777877"/>
            <a:ext cx="97200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고객미팅          오후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01:30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0" name="Rectangle 14"/>
          <p:cNvSpPr>
            <a:spLocks/>
          </p:cNvSpPr>
          <p:nvPr/>
        </p:nvSpPr>
        <p:spPr bwMode="auto">
          <a:xfrm>
            <a:off x="3953099" y="2943153"/>
            <a:ext cx="97200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UX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교육            오후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03:00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3" name="Rectangle 14"/>
          <p:cNvSpPr>
            <a:spLocks/>
          </p:cNvSpPr>
          <p:nvPr/>
        </p:nvSpPr>
        <p:spPr bwMode="auto">
          <a:xfrm>
            <a:off x="5926279" y="4575256"/>
            <a:ext cx="97200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고객영업           오전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</a:t>
            </a:r>
            <a:endParaRPr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0" name="타원 159"/>
          <p:cNvSpPr>
            <a:spLocks noChangeAspect="1"/>
          </p:cNvSpPr>
          <p:nvPr/>
        </p:nvSpPr>
        <p:spPr>
          <a:xfrm>
            <a:off x="3818735" y="1314973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1" name="타원 160"/>
          <p:cNvSpPr>
            <a:spLocks noChangeAspect="1"/>
          </p:cNvSpPr>
          <p:nvPr/>
        </p:nvSpPr>
        <p:spPr>
          <a:xfrm>
            <a:off x="3818735" y="247945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5" name="타원 174"/>
          <p:cNvSpPr>
            <a:spLocks noChangeAspect="1"/>
          </p:cNvSpPr>
          <p:nvPr/>
        </p:nvSpPr>
        <p:spPr>
          <a:xfrm>
            <a:off x="8091992" y="6417958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0" name="Group 16"/>
          <p:cNvGrpSpPr/>
          <p:nvPr/>
        </p:nvGrpSpPr>
        <p:grpSpPr>
          <a:xfrm>
            <a:off x="9620105" y="5614030"/>
            <a:ext cx="2323365" cy="1179429"/>
            <a:chOff x="8284464" y="5375189"/>
            <a:chExt cx="2323365" cy="1179429"/>
          </a:xfrm>
        </p:grpSpPr>
        <p:sp>
          <p:nvSpPr>
            <p:cNvPr id="171" name="Rectangle 14"/>
            <p:cNvSpPr/>
            <p:nvPr/>
          </p:nvSpPr>
          <p:spPr>
            <a:xfrm>
              <a:off x="8284464" y="5375189"/>
              <a:ext cx="2323365" cy="11794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+mn-ea"/>
              </a:endParaRPr>
            </a:p>
          </p:txBody>
        </p:sp>
        <p:sp>
          <p:nvSpPr>
            <p:cNvPr id="172" name="텍스트 상자 31"/>
            <p:cNvSpPr txBox="1"/>
            <p:nvPr/>
          </p:nvSpPr>
          <p:spPr>
            <a:xfrm>
              <a:off x="8387102" y="5470127"/>
              <a:ext cx="86926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9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8</a:t>
              </a:r>
              <a:r>
                <a:rPr kumimoji="1" lang="ko-KR" altLang="en-US" sz="9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월 </a:t>
              </a:r>
              <a:r>
                <a:rPr kumimoji="1" lang="en-US" altLang="ko-KR" sz="9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8</a:t>
              </a:r>
              <a:r>
                <a:rPr kumimoji="1" lang="ko-KR" altLang="en-US" sz="9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일</a:t>
              </a:r>
              <a:r>
                <a:rPr kumimoji="1" lang="en-US" altLang="ko-KR" sz="9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(</a:t>
              </a:r>
              <a:r>
                <a:rPr kumimoji="1" lang="ko-KR" altLang="en-US" sz="9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화요일</a:t>
              </a:r>
              <a:r>
                <a:rPr kumimoji="1" lang="en-US" altLang="ko-KR" sz="9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)</a:t>
              </a:r>
              <a:endParaRPr kumimoji="1" lang="ko-KR" altLang="en-US" sz="9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cxnSp>
          <p:nvCxnSpPr>
            <p:cNvPr id="177" name="직선 연결선[R] 33"/>
            <p:cNvCxnSpPr/>
            <p:nvPr/>
          </p:nvCxnSpPr>
          <p:spPr>
            <a:xfrm>
              <a:off x="8284464" y="5664266"/>
              <a:ext cx="2304812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텍스트 상자 31"/>
            <p:cNvSpPr txBox="1"/>
            <p:nvPr/>
          </p:nvSpPr>
          <p:spPr>
            <a:xfrm>
              <a:off x="8387098" y="5703257"/>
              <a:ext cx="1203780" cy="8371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70000"/>
                </a:lnSpc>
              </a:pPr>
              <a:r>
                <a:rPr kumimoji="1" lang="ko-KR" altLang="en-US" sz="8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임원 보고</a:t>
              </a:r>
            </a:p>
            <a:p>
              <a:pPr>
                <a:lnSpc>
                  <a:spcPct val="170000"/>
                </a:lnSpc>
              </a:pPr>
              <a:r>
                <a:rPr kumimoji="1" lang="ko-KR" altLang="en-US" sz="8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고객 미팅</a:t>
              </a:r>
            </a:p>
            <a:p>
              <a:pPr>
                <a:lnSpc>
                  <a:spcPct val="170000"/>
                </a:lnSpc>
              </a:pPr>
              <a:r>
                <a:rPr kumimoji="1" lang="en-US" altLang="ko-KR" sz="8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</a:t>
              </a:r>
              <a:r>
                <a:rPr kumimoji="1" lang="ko-KR" altLang="en-US" sz="8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교육 대강의실</a:t>
              </a:r>
            </a:p>
            <a:p>
              <a:pPr>
                <a:lnSpc>
                  <a:spcPct val="170000"/>
                </a:lnSpc>
              </a:pPr>
              <a:r>
                <a:rPr kumimoji="1" lang="ko-KR" altLang="en-US" sz="8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정부과제 </a:t>
              </a:r>
              <a:r>
                <a:rPr kumimoji="1" lang="en-US" altLang="ko-KR" sz="8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r>
                <a:rPr kumimoji="1" lang="ko-KR" altLang="en-US" sz="8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정기회의</a:t>
              </a:r>
            </a:p>
          </p:txBody>
        </p:sp>
        <p:sp>
          <p:nvSpPr>
            <p:cNvPr id="179" name="텍스트 상자 31"/>
            <p:cNvSpPr txBox="1"/>
            <p:nvPr/>
          </p:nvSpPr>
          <p:spPr>
            <a:xfrm>
              <a:off x="9694690" y="5703257"/>
              <a:ext cx="809327" cy="8371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170000"/>
                </a:lnSpc>
              </a:pPr>
              <a:r>
                <a:rPr kumimoji="1" lang="ko-KR" altLang="en-US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오전 </a:t>
              </a:r>
              <a:r>
                <a:rPr kumimoji="1"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10:00</a:t>
              </a:r>
              <a:endParaRPr kumimoji="1" lang="ko-KR" altLang="en-US" sz="8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  <a:p>
              <a:pPr algn="r">
                <a:lnSpc>
                  <a:spcPct val="170000"/>
                </a:lnSpc>
              </a:pPr>
              <a:r>
                <a:rPr kumimoji="1" lang="ko-KR" altLang="en-US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오후 </a:t>
              </a:r>
              <a:r>
                <a:rPr kumimoji="1"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01:30</a:t>
              </a:r>
              <a:endParaRPr kumimoji="1" lang="ko-KR" altLang="en-US" sz="8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  <a:p>
              <a:pPr algn="r">
                <a:lnSpc>
                  <a:spcPct val="170000"/>
                </a:lnSpc>
              </a:pPr>
              <a:r>
                <a:rPr kumimoji="1" lang="ko-KR" altLang="en-US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오후 </a:t>
              </a:r>
              <a:r>
                <a:rPr kumimoji="1"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03:00</a:t>
              </a:r>
              <a:endParaRPr kumimoji="1" lang="ko-KR" altLang="en-US" sz="8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  <a:p>
              <a:pPr algn="r">
                <a:lnSpc>
                  <a:spcPct val="170000"/>
                </a:lnSpc>
              </a:pPr>
              <a:r>
                <a:rPr kumimoji="1" lang="ko-KR" altLang="en-US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오후 </a:t>
              </a:r>
              <a:r>
                <a:rPr kumimoji="1"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05:00</a:t>
              </a:r>
              <a:endParaRPr kumimoji="1" lang="ko-KR" altLang="en-US" sz="8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80" name="Freeform 11"/>
            <p:cNvSpPr>
              <a:spLocks noChangeAspect="1" noChangeArrowheads="1"/>
            </p:cNvSpPr>
            <p:nvPr/>
          </p:nvSpPr>
          <p:spPr bwMode="auto">
            <a:xfrm>
              <a:off x="10422419" y="5465728"/>
              <a:ext cx="108000" cy="108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181" name="텍스트 상자 31"/>
            <p:cNvSpPr txBox="1"/>
            <p:nvPr/>
          </p:nvSpPr>
          <p:spPr>
            <a:xfrm>
              <a:off x="9245560" y="5490223"/>
              <a:ext cx="86926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ko-KR" altLang="en-US" sz="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일정 </a:t>
              </a:r>
              <a:r>
                <a:rPr kumimoji="1" lang="en-US" altLang="ko-KR" sz="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6</a:t>
              </a:r>
              <a:r>
                <a:rPr kumimoji="1" lang="ko-KR" altLang="en-US" sz="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</a:t>
              </a:r>
              <a:endParaRPr kumimoji="1" lang="ko-KR" altLang="en-US" sz="8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82" name="AutoShape 63"/>
          <p:cNvSpPr>
            <a:spLocks/>
          </p:cNvSpPr>
          <p:nvPr/>
        </p:nvSpPr>
        <p:spPr bwMode="auto">
          <a:xfrm>
            <a:off x="8306679" y="6430204"/>
            <a:ext cx="1368911" cy="13849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57200"/>
            <a:r>
              <a:rPr lang="en-US" altLang="ko-KR" sz="900" dirty="0" smtClean="0">
                <a:latin typeface="+mn-ea"/>
                <a:ea typeface="+mn-ea"/>
              </a:rPr>
              <a:t>‘N</a:t>
            </a:r>
            <a:r>
              <a:rPr lang="ko-KR" altLang="en-US" sz="900" dirty="0" smtClean="0">
                <a:latin typeface="+mn-ea"/>
                <a:ea typeface="+mn-ea"/>
              </a:rPr>
              <a:t>개 더보기</a:t>
            </a:r>
            <a:r>
              <a:rPr lang="en-US" altLang="ko-KR" sz="900" dirty="0" smtClean="0">
                <a:latin typeface="+mn-ea"/>
                <a:ea typeface="+mn-ea"/>
              </a:rPr>
              <a:t>’</a:t>
            </a:r>
            <a:r>
              <a:rPr lang="ko-KR" altLang="en-US" sz="900" dirty="0" smtClean="0">
                <a:latin typeface="+mn-ea"/>
                <a:ea typeface="+mn-ea"/>
              </a:rPr>
              <a:t> 선택 시 </a:t>
            </a:r>
            <a:r>
              <a:rPr lang="en-US" altLang="ko-KR" sz="900" dirty="0" smtClean="0">
                <a:latin typeface="+mn-ea"/>
                <a:ea typeface="+mn-ea"/>
              </a:rPr>
              <a:t>:</a:t>
            </a:r>
            <a:endParaRPr lang="ko-KR" altLang="en-US" sz="900" dirty="0">
              <a:latin typeface="+mn-ea"/>
              <a:ea typeface="+mn-ea"/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6962591" y="829761"/>
            <a:ext cx="1030245" cy="180000"/>
            <a:chOff x="6443058" y="1673426"/>
            <a:chExt cx="1030245" cy="180000"/>
          </a:xfrm>
        </p:grpSpPr>
        <p:grpSp>
          <p:nvGrpSpPr>
            <p:cNvPr id="125" name="Group 21"/>
            <p:cNvGrpSpPr/>
            <p:nvPr/>
          </p:nvGrpSpPr>
          <p:grpSpPr>
            <a:xfrm>
              <a:off x="6443058" y="1673426"/>
              <a:ext cx="344208" cy="180000"/>
              <a:chOff x="6706916" y="1673426"/>
              <a:chExt cx="344208" cy="180000"/>
            </a:xfrm>
          </p:grpSpPr>
          <p:sp>
            <p:nvSpPr>
              <p:cNvPr id="137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 dirty="0">
                  <a:latin typeface="+mn-ea"/>
                  <a:ea typeface="+mn-ea"/>
                </a:endParaRPr>
              </a:p>
            </p:txBody>
          </p:sp>
          <p:sp>
            <p:nvSpPr>
              <p:cNvPr id="138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9" name="Rectangle 625"/>
              <p:cNvSpPr/>
              <p:nvPr/>
            </p:nvSpPr>
            <p:spPr>
              <a:xfrm>
                <a:off x="6745093" y="1714887"/>
                <a:ext cx="77071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40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kumimoji="1" lang="ko-KR" altLang="en-US" sz="600" b="1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월간</a:t>
                </a:r>
                <a:endParaRPr kumimoji="1" lang="ko-KR" altLang="en-US" sz="600" b="1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126" name="Group 548"/>
            <p:cNvGrpSpPr/>
            <p:nvPr/>
          </p:nvGrpSpPr>
          <p:grpSpPr>
            <a:xfrm>
              <a:off x="6784180" y="1673426"/>
              <a:ext cx="344208" cy="180000"/>
              <a:chOff x="6706916" y="1673426"/>
              <a:chExt cx="344208" cy="180000"/>
            </a:xfrm>
          </p:grpSpPr>
          <p:sp>
            <p:nvSpPr>
              <p:cNvPr id="135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 dirty="0">
                  <a:latin typeface="+mn-ea"/>
                  <a:ea typeface="+mn-ea"/>
                </a:endParaRPr>
              </a:p>
            </p:txBody>
          </p:sp>
          <p:sp>
            <p:nvSpPr>
              <p:cNvPr id="136" name="텍스트 상자 31"/>
              <p:cNvSpPr txBox="1"/>
              <p:nvPr/>
            </p:nvSpPr>
            <p:spPr>
              <a:xfrm>
                <a:off x="6852300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kumimoji="1" lang="ko-KR" altLang="en-US" sz="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rPr>
                  <a:t>주간</a:t>
                </a:r>
                <a:endParaRPr kumimoji="1"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127" name="Group 22"/>
            <p:cNvGrpSpPr/>
            <p:nvPr/>
          </p:nvGrpSpPr>
          <p:grpSpPr>
            <a:xfrm>
              <a:off x="6812150" y="1714887"/>
              <a:ext cx="102895" cy="76173"/>
              <a:chOff x="7271815" y="1714887"/>
              <a:chExt cx="102895" cy="76173"/>
            </a:xfrm>
          </p:grpSpPr>
          <p:sp>
            <p:nvSpPr>
              <p:cNvPr id="132" name="Rectangle 625"/>
              <p:cNvSpPr/>
              <p:nvPr/>
            </p:nvSpPr>
            <p:spPr>
              <a:xfrm>
                <a:off x="7338279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3" name="Rectangle 625"/>
              <p:cNvSpPr/>
              <p:nvPr/>
            </p:nvSpPr>
            <p:spPr>
              <a:xfrm>
                <a:off x="7305047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4" name="Rectangle 625"/>
              <p:cNvSpPr/>
              <p:nvPr/>
            </p:nvSpPr>
            <p:spPr>
              <a:xfrm>
                <a:off x="7271815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128" name="Group 553"/>
            <p:cNvGrpSpPr/>
            <p:nvPr/>
          </p:nvGrpSpPr>
          <p:grpSpPr>
            <a:xfrm>
              <a:off x="7129095" y="1673426"/>
              <a:ext cx="344208" cy="180000"/>
              <a:chOff x="6706916" y="1673426"/>
              <a:chExt cx="344208" cy="180000"/>
            </a:xfrm>
          </p:grpSpPr>
          <p:sp>
            <p:nvSpPr>
              <p:cNvPr id="129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noFill/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 dirty="0">
                  <a:latin typeface="+mn-ea"/>
                  <a:ea typeface="+mn-ea"/>
                </a:endParaRPr>
              </a:p>
            </p:txBody>
          </p:sp>
          <p:sp>
            <p:nvSpPr>
              <p:cNvPr id="130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1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kumimoji="1" lang="ko-KR" altLang="en-US" sz="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rPr>
                  <a:t>일간</a:t>
                </a:r>
                <a:endParaRPr kumimoji="1"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141" name="Group 168"/>
          <p:cNvGrpSpPr/>
          <p:nvPr/>
        </p:nvGrpSpPr>
        <p:grpSpPr>
          <a:xfrm>
            <a:off x="8382109" y="816988"/>
            <a:ext cx="162000" cy="180000"/>
            <a:chOff x="7681408" y="2293428"/>
            <a:chExt cx="161707" cy="180000"/>
          </a:xfrm>
        </p:grpSpPr>
        <p:sp>
          <p:nvSpPr>
            <p:cNvPr id="142" name="Rounded Rectangle 169"/>
            <p:cNvSpPr/>
            <p:nvPr/>
          </p:nvSpPr>
          <p:spPr>
            <a:xfrm>
              <a:off x="7681408" y="2293428"/>
              <a:ext cx="161707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latin typeface="+mn-ea"/>
                <a:ea typeface="+mn-ea"/>
              </a:endParaRPr>
            </a:p>
          </p:txBody>
        </p:sp>
        <p:sp>
          <p:nvSpPr>
            <p:cNvPr id="143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144" name="그룹 143"/>
          <p:cNvGrpSpPr/>
          <p:nvPr/>
        </p:nvGrpSpPr>
        <p:grpSpPr>
          <a:xfrm>
            <a:off x="8089890" y="817141"/>
            <a:ext cx="216000" cy="180000"/>
            <a:chOff x="8455344" y="813130"/>
            <a:chExt cx="216000" cy="180000"/>
          </a:xfrm>
        </p:grpSpPr>
        <p:sp>
          <p:nvSpPr>
            <p:cNvPr id="145" name="Rounded Rectangle 169"/>
            <p:cNvSpPr/>
            <p:nvPr/>
          </p:nvSpPr>
          <p:spPr>
            <a:xfrm>
              <a:off x="8455344" y="813130"/>
              <a:ext cx="216000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latin typeface="+mn-ea"/>
                <a:ea typeface="+mn-ea"/>
              </a:endParaRPr>
            </a:p>
          </p:txBody>
        </p:sp>
        <p:pic>
          <p:nvPicPr>
            <p:cNvPr id="146" name="내용 개체 틀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3805" y="824238"/>
              <a:ext cx="162000" cy="162000"/>
            </a:xfrm>
            <a:prstGeom prst="rect">
              <a:avLst/>
            </a:prstGeom>
          </p:spPr>
        </p:pic>
      </p:grpSp>
      <p:sp>
        <p:nvSpPr>
          <p:cNvPr id="148" name="모서리가 둥근 직사각형 147"/>
          <p:cNvSpPr/>
          <p:nvPr/>
        </p:nvSpPr>
        <p:spPr>
          <a:xfrm>
            <a:off x="3970882" y="3238914"/>
            <a:ext cx="180000" cy="108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700" dirty="0" smtClean="0">
                <a:solidFill>
                  <a:schemeClr val="bg1"/>
                </a:solidFill>
                <a:latin typeface="+mn-ea"/>
              </a:rPr>
              <a:t>+1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1" name="Rectangle 4"/>
          <p:cNvSpPr/>
          <p:nvPr/>
        </p:nvSpPr>
        <p:spPr>
          <a:xfrm>
            <a:off x="4915051" y="3385030"/>
            <a:ext cx="3007723" cy="986400"/>
          </a:xfrm>
          <a:prstGeom prst="rect">
            <a:avLst/>
          </a:prstGeom>
          <a:solidFill>
            <a:srgbClr val="FFA3C8">
              <a:alpha val="30196"/>
            </a:srgbClr>
          </a:solidFill>
          <a:ln w="9525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타원 146"/>
          <p:cNvSpPr>
            <a:spLocks noChangeAspect="1"/>
          </p:cNvSpPr>
          <p:nvPr/>
        </p:nvSpPr>
        <p:spPr>
          <a:xfrm>
            <a:off x="5229458" y="3326888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2959049" y="3620995"/>
            <a:ext cx="1966050" cy="329990"/>
            <a:chOff x="2959049" y="3620995"/>
            <a:chExt cx="1966050" cy="329990"/>
          </a:xfrm>
        </p:grpSpPr>
        <p:sp>
          <p:nvSpPr>
            <p:cNvPr id="122" name="Rectangle 14"/>
            <p:cNvSpPr>
              <a:spLocks/>
            </p:cNvSpPr>
            <p:nvPr/>
          </p:nvSpPr>
          <p:spPr bwMode="auto">
            <a:xfrm>
              <a:off x="2959049" y="3620995"/>
              <a:ext cx="1966050" cy="144000"/>
            </a:xfrm>
            <a:prstGeom prst="rect">
              <a:avLst/>
            </a:prstGeom>
            <a:solidFill>
              <a:srgbClr val="00B050">
                <a:alpha val="50196"/>
              </a:srgb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>
                <a:lnSpc>
                  <a:spcPct val="120000"/>
                </a:lnSpc>
              </a:pPr>
              <a:r>
                <a:rPr kumimoji="1" lang="ko-KR" altLang="en-US" sz="60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  </a:t>
              </a:r>
              <a:r>
                <a:rPr lang="en-US" altLang="ko-KR" sz="600" u="sng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UX</a:t>
              </a:r>
              <a:r>
                <a:rPr lang="ko-KR" altLang="en-US" sz="600" u="sng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교육</a:t>
              </a:r>
              <a:r>
                <a:rPr lang="ko-KR" altLang="en-US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                               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5419" y="3662985"/>
              <a:ext cx="288000" cy="288000"/>
            </a:xfrm>
            <a:prstGeom prst="rect">
              <a:avLst/>
            </a:prstGeom>
          </p:spPr>
        </p:pic>
      </p:grpSp>
      <p:grpSp>
        <p:nvGrpSpPr>
          <p:cNvPr id="4" name="그룹 3"/>
          <p:cNvGrpSpPr/>
          <p:nvPr/>
        </p:nvGrpSpPr>
        <p:grpSpPr>
          <a:xfrm>
            <a:off x="3356701" y="4565055"/>
            <a:ext cx="1296000" cy="316084"/>
            <a:chOff x="3356701" y="4565055"/>
            <a:chExt cx="1296000" cy="316084"/>
          </a:xfrm>
        </p:grpSpPr>
        <p:sp>
          <p:nvSpPr>
            <p:cNvPr id="189" name="Rectangle 14"/>
            <p:cNvSpPr>
              <a:spLocks/>
            </p:cNvSpPr>
            <p:nvPr/>
          </p:nvSpPr>
          <p:spPr bwMode="auto">
            <a:xfrm>
              <a:off x="3356701" y="4565055"/>
              <a:ext cx="1296000" cy="108000"/>
            </a:xfrm>
            <a:prstGeom prst="rect">
              <a:avLst/>
            </a:prstGeom>
            <a:solidFill>
              <a:srgbClr val="00B050">
                <a:alpha val="50196"/>
              </a:srgb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>
                <a:lnSpc>
                  <a:spcPct val="120000"/>
                </a:lnSpc>
              </a:pPr>
              <a:r>
                <a:rPr kumimoji="1" lang="ko-KR" altLang="en-US" sz="60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  </a:t>
              </a:r>
              <a:r>
                <a:rPr lang="en-US" altLang="ko-KR" sz="600" u="sng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UX</a:t>
              </a:r>
              <a:r>
                <a:rPr lang="ko-KR" altLang="en-US" sz="600" u="sng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교육</a:t>
              </a:r>
              <a:r>
                <a:rPr lang="ko-KR" altLang="en-US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                                             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53948" y="4575139"/>
              <a:ext cx="306000" cy="306000"/>
            </a:xfrm>
            <a:prstGeom prst="rect">
              <a:avLst/>
            </a:prstGeom>
          </p:spPr>
        </p:pic>
      </p:grpSp>
      <p:sp>
        <p:nvSpPr>
          <p:cNvPr id="191" name="타원 190"/>
          <p:cNvSpPr>
            <a:spLocks noChangeAspect="1"/>
          </p:cNvSpPr>
          <p:nvPr/>
        </p:nvSpPr>
        <p:spPr>
          <a:xfrm>
            <a:off x="3872845" y="381806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2" name="타원 191"/>
          <p:cNvSpPr>
            <a:spLocks noChangeAspect="1"/>
          </p:cNvSpPr>
          <p:nvPr/>
        </p:nvSpPr>
        <p:spPr>
          <a:xfrm>
            <a:off x="4459948" y="4702720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4-1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2959049" y="3764995"/>
            <a:ext cx="397652" cy="800060"/>
          </a:xfrm>
          <a:prstGeom prst="line">
            <a:avLst/>
          </a:prstGeom>
          <a:ln w="9525">
            <a:solidFill>
              <a:srgbClr val="FF0000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/>
          <p:cNvCxnSpPr/>
          <p:nvPr/>
        </p:nvCxnSpPr>
        <p:spPr>
          <a:xfrm flipH="1">
            <a:off x="4638605" y="3764995"/>
            <a:ext cx="276446" cy="800060"/>
          </a:xfrm>
          <a:prstGeom prst="line">
            <a:avLst/>
          </a:prstGeom>
          <a:ln w="9525">
            <a:solidFill>
              <a:srgbClr val="FF0000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타원 226"/>
          <p:cNvSpPr>
            <a:spLocks noChangeAspect="1"/>
          </p:cNvSpPr>
          <p:nvPr/>
        </p:nvSpPr>
        <p:spPr>
          <a:xfrm>
            <a:off x="4210019" y="3214778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7432" y="1428159"/>
            <a:ext cx="553604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700" smtClean="0">
                <a:solidFill>
                  <a:srgbClr val="FF0000"/>
                </a:solidFill>
                <a:latin typeface="+mn-ea"/>
                <a:ea typeface="+mn-ea"/>
              </a:rPr>
              <a:t>임시 공휴일</a:t>
            </a:r>
            <a:endParaRPr lang="ko-KR" altLang="en-US" sz="7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52" name="Rectangle 14"/>
          <p:cNvSpPr>
            <a:spLocks/>
          </p:cNvSpPr>
          <p:nvPr/>
        </p:nvSpPr>
        <p:spPr bwMode="auto">
          <a:xfrm>
            <a:off x="5934299" y="2608225"/>
            <a:ext cx="972000" cy="144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lang="ko-KR" altLang="en-US" sz="6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       팀장님 생일</a:t>
            </a:r>
            <a:endParaRPr lang="ko-KR" altLang="en-US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465568" y="2397154"/>
            <a:ext cx="484675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음</a:t>
            </a: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 09-01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월간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CA6.1.1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232831" y="2434466"/>
            <a:ext cx="596344" cy="137284"/>
          </a:xfrm>
          <a:prstGeom prst="roundRect">
            <a:avLst/>
          </a:prstGeom>
          <a:solidFill>
            <a:srgbClr val="0000FF">
              <a:alpha val="40000"/>
            </a:srgbClr>
          </a:solidFill>
          <a:ln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2" name="모서리가 둥근 직사각형 161"/>
          <p:cNvSpPr/>
          <p:nvPr/>
        </p:nvSpPr>
        <p:spPr>
          <a:xfrm>
            <a:off x="4358698" y="3213100"/>
            <a:ext cx="499052" cy="129310"/>
          </a:xfrm>
          <a:prstGeom prst="roundRect">
            <a:avLst/>
          </a:prstGeom>
          <a:solidFill>
            <a:srgbClr val="0000FF">
              <a:alpha val="40000"/>
            </a:srgbClr>
          </a:solidFill>
          <a:ln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4" name="사각형 설명선 163"/>
          <p:cNvSpPr/>
          <p:nvPr/>
        </p:nvSpPr>
        <p:spPr>
          <a:xfrm>
            <a:off x="2782061" y="2171700"/>
            <a:ext cx="1970914" cy="202142"/>
          </a:xfrm>
          <a:prstGeom prst="wedgeRectCallout">
            <a:avLst>
              <a:gd name="adj1" fmla="val 50433"/>
              <a:gd name="adj2" fmla="val 9539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빈 공간 클릭시 일정 간편등록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layer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출력</a:t>
            </a: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50" name="그룹 149"/>
          <p:cNvGrpSpPr/>
          <p:nvPr/>
        </p:nvGrpSpPr>
        <p:grpSpPr>
          <a:xfrm>
            <a:off x="440152" y="2294165"/>
            <a:ext cx="1456276" cy="3158842"/>
            <a:chOff x="4397260" y="1236890"/>
            <a:chExt cx="1456276" cy="3158842"/>
          </a:xfrm>
        </p:grpSpPr>
        <p:sp>
          <p:nvSpPr>
            <p:cNvPr id="156" name="텍스트 상자 31"/>
            <p:cNvSpPr txBox="1"/>
            <p:nvPr/>
          </p:nvSpPr>
          <p:spPr>
            <a:xfrm>
              <a:off x="4571916" y="2362718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공유받은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58" name="텍스트 상자 31"/>
            <p:cNvSpPr txBox="1"/>
            <p:nvPr/>
          </p:nvSpPr>
          <p:spPr>
            <a:xfrm>
              <a:off x="4574893" y="2549712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UI</a:t>
              </a:r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프로젝트 일정 공유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59" name="텍스트 상자 31"/>
            <p:cNvSpPr txBox="1"/>
            <p:nvPr/>
          </p:nvSpPr>
          <p:spPr>
            <a:xfrm>
              <a:off x="4569879" y="3170609"/>
              <a:ext cx="899412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</a:t>
              </a:r>
              <a:r>
                <a:rPr kumimoji="1" lang="ko-KR" altLang="en-US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디자인팀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163" name="직선 연결선[R] 33"/>
            <p:cNvCxnSpPr/>
            <p:nvPr/>
          </p:nvCxnSpPr>
          <p:spPr>
            <a:xfrm>
              <a:off x="4402783" y="3850773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텍스트 상자 31"/>
            <p:cNvSpPr txBox="1"/>
            <p:nvPr/>
          </p:nvSpPr>
          <p:spPr>
            <a:xfrm>
              <a:off x="4574893" y="2714268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기획</a:t>
              </a:r>
              <a:r>
                <a:rPr kumimoji="1" lang="en-US" altLang="ko-KR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1</a:t>
              </a:r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휴가일 공유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66" name="텍스트 상자 31"/>
            <p:cNvSpPr txBox="1"/>
            <p:nvPr/>
          </p:nvSpPr>
          <p:spPr>
            <a:xfrm>
              <a:off x="4569879" y="3335092"/>
              <a:ext cx="770030" cy="951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자동차 </a:t>
              </a:r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 </a:t>
              </a:r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</a:t>
              </a:r>
            </a:p>
          </p:txBody>
        </p:sp>
        <p:sp>
          <p:nvSpPr>
            <p:cNvPr id="167" name="텍스트 상자 31"/>
            <p:cNvSpPr txBox="1"/>
            <p:nvPr/>
          </p:nvSpPr>
          <p:spPr>
            <a:xfrm>
              <a:off x="4569879" y="3491933"/>
              <a:ext cx="895878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EGW UX</a:t>
              </a:r>
              <a:r>
                <a:rPr kumimoji="1" lang="ko-KR" altLang="en-US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 </a:t>
              </a:r>
              <a:r>
                <a:rPr kumimoji="1" lang="en-US" altLang="ko-KR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68" name="텍스트 상자 31"/>
            <p:cNvSpPr txBox="1"/>
            <p:nvPr/>
          </p:nvSpPr>
          <p:spPr>
            <a:xfrm>
              <a:off x="4569879" y="3651133"/>
              <a:ext cx="785062" cy="9178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정부 </a:t>
              </a:r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과제 </a:t>
              </a:r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69" name="텍스트 상자 31"/>
            <p:cNvSpPr txBox="1"/>
            <p:nvPr/>
          </p:nvSpPr>
          <p:spPr>
            <a:xfrm>
              <a:off x="4571916" y="1774909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내 일정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73" name="텍스트 상자 31"/>
            <p:cNvSpPr txBox="1"/>
            <p:nvPr/>
          </p:nvSpPr>
          <p:spPr>
            <a:xfrm>
              <a:off x="4571916" y="1941480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김핸디 업무일정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74" name="텍스트 상자 31"/>
            <p:cNvSpPr txBox="1"/>
            <p:nvPr/>
          </p:nvSpPr>
          <p:spPr>
            <a:xfrm>
              <a:off x="4571916" y="4136828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전사 일정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76" name="텍스트 상자 31"/>
            <p:cNvSpPr txBox="1"/>
            <p:nvPr/>
          </p:nvSpPr>
          <p:spPr>
            <a:xfrm>
              <a:off x="4571916" y="4303399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대한민국 휴일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83" name="텍스트 상자 31"/>
            <p:cNvSpPr txBox="1"/>
            <p:nvPr/>
          </p:nvSpPr>
          <p:spPr>
            <a:xfrm>
              <a:off x="4577872" y="3939571"/>
              <a:ext cx="82026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구독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85" name="Freeform 24"/>
            <p:cNvSpPr>
              <a:spLocks noChangeArrowheads="1"/>
            </p:cNvSpPr>
            <p:nvPr/>
          </p:nvSpPr>
          <p:spPr bwMode="auto">
            <a:xfrm>
              <a:off x="4458907" y="3970573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186" name="Freeform 24"/>
            <p:cNvSpPr>
              <a:spLocks noChangeArrowheads="1"/>
            </p:cNvSpPr>
            <p:nvPr/>
          </p:nvSpPr>
          <p:spPr bwMode="auto">
            <a:xfrm>
              <a:off x="4458907" y="2385651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187" name="텍스트 상자 31"/>
            <p:cNvSpPr txBox="1"/>
            <p:nvPr/>
          </p:nvSpPr>
          <p:spPr>
            <a:xfrm>
              <a:off x="4577872" y="1603804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개인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cxnSp>
          <p:nvCxnSpPr>
            <p:cNvPr id="188" name="직선 연결선[R] 33"/>
            <p:cNvCxnSpPr/>
            <p:nvPr/>
          </p:nvCxnSpPr>
          <p:spPr>
            <a:xfrm>
              <a:off x="4397260" y="1513403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Freeform 24"/>
            <p:cNvSpPr>
              <a:spLocks noChangeArrowheads="1"/>
            </p:cNvSpPr>
            <p:nvPr/>
          </p:nvSpPr>
          <p:spPr bwMode="auto">
            <a:xfrm>
              <a:off x="4458907" y="1622077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194" name="직선 연결선[R] 33"/>
            <p:cNvCxnSpPr/>
            <p:nvPr/>
          </p:nvCxnSpPr>
          <p:spPr>
            <a:xfrm>
              <a:off x="4397260" y="2287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5" name="Rectangle 356"/>
            <p:cNvSpPr>
              <a:spLocks noChangeAspect="1"/>
            </p:cNvSpPr>
            <p:nvPr/>
          </p:nvSpPr>
          <p:spPr>
            <a:xfrm>
              <a:off x="4460857" y="1787917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96" name="Rectangle 357"/>
            <p:cNvSpPr>
              <a:spLocks noChangeAspect="1"/>
            </p:cNvSpPr>
            <p:nvPr/>
          </p:nvSpPr>
          <p:spPr>
            <a:xfrm>
              <a:off x="4460857" y="195138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97" name="Rectangle 358"/>
            <p:cNvSpPr>
              <a:spLocks noChangeAspect="1"/>
            </p:cNvSpPr>
            <p:nvPr/>
          </p:nvSpPr>
          <p:spPr>
            <a:xfrm>
              <a:off x="4463834" y="2557749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98" name="Rectangle 359"/>
            <p:cNvSpPr>
              <a:spLocks noChangeAspect="1"/>
            </p:cNvSpPr>
            <p:nvPr/>
          </p:nvSpPr>
          <p:spPr>
            <a:xfrm>
              <a:off x="4463834" y="2721213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99" name="Rectangle 360"/>
            <p:cNvSpPr>
              <a:spLocks noChangeAspect="1"/>
            </p:cNvSpPr>
            <p:nvPr/>
          </p:nvSpPr>
          <p:spPr>
            <a:xfrm>
              <a:off x="4458820" y="318033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00" name="Rectangle 361"/>
            <p:cNvSpPr>
              <a:spLocks noChangeAspect="1"/>
            </p:cNvSpPr>
            <p:nvPr/>
          </p:nvSpPr>
          <p:spPr>
            <a:xfrm>
              <a:off x="4458820" y="3343795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01" name="Rectangle 362"/>
            <p:cNvSpPr>
              <a:spLocks noChangeAspect="1"/>
            </p:cNvSpPr>
            <p:nvPr/>
          </p:nvSpPr>
          <p:spPr>
            <a:xfrm>
              <a:off x="4458820" y="3499367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02" name="Rectangle 363"/>
            <p:cNvSpPr>
              <a:spLocks noChangeAspect="1"/>
            </p:cNvSpPr>
            <p:nvPr/>
          </p:nvSpPr>
          <p:spPr>
            <a:xfrm>
              <a:off x="4458820" y="366283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03" name="Rectangle 364"/>
            <p:cNvSpPr>
              <a:spLocks noChangeAspect="1"/>
            </p:cNvSpPr>
            <p:nvPr/>
          </p:nvSpPr>
          <p:spPr>
            <a:xfrm>
              <a:off x="4460857" y="4144262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04" name="Rectangle 365"/>
            <p:cNvSpPr>
              <a:spLocks noChangeAspect="1"/>
            </p:cNvSpPr>
            <p:nvPr/>
          </p:nvSpPr>
          <p:spPr>
            <a:xfrm>
              <a:off x="4460857" y="4307726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cxnSp>
          <p:nvCxnSpPr>
            <p:cNvPr id="205" name="직선 연결선[R] 33"/>
            <p:cNvCxnSpPr/>
            <p:nvPr/>
          </p:nvCxnSpPr>
          <p:spPr>
            <a:xfrm>
              <a:off x="4397260" y="1236890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텍스트 상자 31"/>
            <p:cNvSpPr txBox="1"/>
            <p:nvPr/>
          </p:nvSpPr>
          <p:spPr>
            <a:xfrm>
              <a:off x="4583932" y="1328336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전체 달력</a:t>
              </a:r>
              <a:endParaRPr kumimoji="1"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07" name="텍스트 상자 31"/>
            <p:cNvSpPr txBox="1"/>
            <p:nvPr/>
          </p:nvSpPr>
          <p:spPr>
            <a:xfrm>
              <a:off x="4571916" y="2984083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스퀘어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08" name="Freeform 24"/>
            <p:cNvSpPr>
              <a:spLocks noChangeArrowheads="1"/>
            </p:cNvSpPr>
            <p:nvPr/>
          </p:nvSpPr>
          <p:spPr bwMode="auto">
            <a:xfrm>
              <a:off x="4458907" y="3007016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209" name="직선 연결선[R] 33"/>
            <p:cNvCxnSpPr/>
            <p:nvPr/>
          </p:nvCxnSpPr>
          <p:spPr>
            <a:xfrm>
              <a:off x="4397260" y="290882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텍스트 상자 31"/>
            <p:cNvSpPr txBox="1"/>
            <p:nvPr/>
          </p:nvSpPr>
          <p:spPr>
            <a:xfrm>
              <a:off x="4571916" y="2102303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공유받은 </a:t>
              </a:r>
              <a:r>
                <a:rPr kumimoji="1" lang="ko-KR" altLang="en-US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일정</a:t>
              </a:r>
              <a:r>
                <a:rPr kumimoji="1" lang="en-US" altLang="ko-KR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211" name="Rectangle 222"/>
            <p:cNvSpPr>
              <a:spLocks noChangeAspect="1"/>
            </p:cNvSpPr>
            <p:nvPr/>
          </p:nvSpPr>
          <p:spPr>
            <a:xfrm>
              <a:off x="4460857" y="2112204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12" name="Rounded Rectangle 223"/>
            <p:cNvSpPr/>
            <p:nvPr/>
          </p:nvSpPr>
          <p:spPr>
            <a:xfrm>
              <a:off x="5147408" y="1938766"/>
              <a:ext cx="216000" cy="108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 smtClean="0">
                  <a:latin typeface="+mn-ea"/>
                </a:rPr>
                <a:t>공유</a:t>
              </a:r>
              <a:endParaRPr lang="en-US" sz="600" dirty="0">
                <a:latin typeface="+mn-ea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5669063" y="1559626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5661043" y="3899495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15" name="Rectangle 356"/>
            <p:cNvSpPr>
              <a:spLocks noChangeAspect="1"/>
            </p:cNvSpPr>
            <p:nvPr/>
          </p:nvSpPr>
          <p:spPr>
            <a:xfrm>
              <a:off x="4460857" y="1343840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</p:grpSp>
      <p:grpSp>
        <p:nvGrpSpPr>
          <p:cNvPr id="21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5698365" y="825436"/>
            <a:ext cx="1173764" cy="196977"/>
            <a:chOff x="554563" y="2599933"/>
            <a:chExt cx="1173764" cy="196977"/>
          </a:xfrm>
        </p:grpSpPr>
        <p:sp>
          <p:nvSpPr>
            <p:cNvPr id="217" name="Box" descr="&lt;Tags&gt;&lt;SMARTRESIZEANCHORS&gt;None,None,Absolute,None&lt;/SMARTRESIZEANCHORS&gt;&lt;/Tags&gt;"/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8" name="Label" descr="&lt;Tags&gt;&lt;SMARTRESIZEANCHORS&gt;Absolute,Absolute,Absolute,Absolute&lt;/SMARTRESIZEANCHORS&gt;&lt;/Tags&gt;"/>
            <p:cNvSpPr txBox="1"/>
            <p:nvPr/>
          </p:nvSpPr>
          <p:spPr>
            <a:xfrm>
              <a:off x="686119" y="2599933"/>
              <a:ext cx="1042208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플래그 일정만 보기</a:t>
              </a:r>
            </a:p>
          </p:txBody>
        </p:sp>
        <p:sp>
          <p:nvSpPr>
            <p:cNvPr id="219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직사각형 11"/>
          <p:cNvSpPr/>
          <p:nvPr/>
        </p:nvSpPr>
        <p:spPr>
          <a:xfrm>
            <a:off x="5610224" y="781050"/>
            <a:ext cx="1266825" cy="26670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1" name="타원 220"/>
          <p:cNvSpPr>
            <a:spLocks noChangeAspect="1"/>
          </p:cNvSpPr>
          <p:nvPr/>
        </p:nvSpPr>
        <p:spPr>
          <a:xfrm>
            <a:off x="5534876" y="670879"/>
            <a:ext cx="152062" cy="153205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808232" y="609600"/>
            <a:ext cx="2335532" cy="1333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rgbClr val="0000FF"/>
                </a:solidFill>
                <a:latin typeface="+mn-ea"/>
                <a:ea typeface="+mn-ea"/>
              </a:rPr>
              <a:t>클릭시</a:t>
            </a:r>
            <a:r>
              <a:rPr lang="en-US" altLang="ko-KR" sz="800" smtClean="0">
                <a:solidFill>
                  <a:srgbClr val="0000FF"/>
                </a:solidFill>
                <a:latin typeface="+mn-ea"/>
                <a:ea typeface="+mn-ea"/>
              </a:rPr>
              <a:t>, </a:t>
            </a:r>
            <a:r>
              <a:rPr lang="ko-KR" altLang="en-US" sz="800" smtClean="0">
                <a:solidFill>
                  <a:srgbClr val="0000FF"/>
                </a:solidFill>
                <a:latin typeface="+mn-ea"/>
                <a:ea typeface="+mn-ea"/>
              </a:rPr>
              <a:t>플래그 설정된 일정만 출력</a:t>
            </a:r>
            <a:r>
              <a:rPr lang="en-US" altLang="ko-KR" sz="800" smtClean="0">
                <a:solidFill>
                  <a:srgbClr val="0000FF"/>
                </a:solidFill>
                <a:latin typeface="+mn-ea"/>
                <a:ea typeface="+mn-ea"/>
              </a:rPr>
              <a:t>(default : off)</a:t>
            </a:r>
            <a:endParaRPr lang="ko-KR" altLang="en-US" sz="800" smtClean="0">
              <a:solidFill>
                <a:srgbClr val="0000FF"/>
              </a:solidFill>
              <a:latin typeface="+mn-ea"/>
              <a:ea typeface="+mn-ea"/>
            </a:endParaRPr>
          </a:p>
        </p:txBody>
      </p:sp>
      <p:grpSp>
        <p:nvGrpSpPr>
          <p:cNvPr id="149" name="그룹 148"/>
          <p:cNvGrpSpPr/>
          <p:nvPr/>
        </p:nvGrpSpPr>
        <p:grpSpPr>
          <a:xfrm>
            <a:off x="8645870" y="813534"/>
            <a:ext cx="354278" cy="203200"/>
            <a:chOff x="7121870" y="765909"/>
            <a:chExt cx="354278" cy="203200"/>
          </a:xfrm>
        </p:grpSpPr>
        <p:sp>
          <p:nvSpPr>
            <p:cNvPr id="155" name="직사각형 154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600" smtClean="0">
                  <a:solidFill>
                    <a:schemeClr val="bg1"/>
                  </a:solidFill>
                  <a:latin typeface="+mn-ea"/>
                  <a:ea typeface="+mn-ea"/>
                </a:rPr>
                <a:t>▼</a:t>
              </a:r>
              <a:endParaRPr lang="ko-KR" altLang="en-US" sz="600" dirty="0" smtClean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84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/>
            </a:p>
          </p:txBody>
        </p:sp>
      </p:grpSp>
    </p:spTree>
    <p:extLst>
      <p:ext uri="{BB962C8B-B14F-4D97-AF65-F5344CB8AC3E}">
        <p14:creationId xmlns:p14="http://schemas.microsoft.com/office/powerpoint/2010/main" val="313461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57174" y="692150"/>
          <a:ext cx="6296025" cy="1450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675">
                  <a:extLst>
                    <a:ext uri="{9D8B030D-6E8A-4147-A177-3AD203B41FA5}">
                      <a16:colId xmlns:a16="http://schemas.microsoft.com/office/drawing/2014/main" val="2827032978"/>
                    </a:ext>
                  </a:extLst>
                </a:gridCol>
                <a:gridCol w="2098675">
                  <a:extLst>
                    <a:ext uri="{9D8B030D-6E8A-4147-A177-3AD203B41FA5}">
                      <a16:colId xmlns:a16="http://schemas.microsoft.com/office/drawing/2014/main" val="745785663"/>
                    </a:ext>
                  </a:extLst>
                </a:gridCol>
                <a:gridCol w="2098675">
                  <a:extLst>
                    <a:ext uri="{9D8B030D-6E8A-4147-A177-3AD203B41FA5}">
                      <a16:colId xmlns:a16="http://schemas.microsoft.com/office/drawing/2014/main" val="4189638842"/>
                    </a:ext>
                  </a:extLst>
                </a:gridCol>
              </a:tblGrid>
              <a:tr h="23653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목</a:t>
                      </a:r>
                      <a:endParaRPr lang="en-US" sz="9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금</a:t>
                      </a:r>
                      <a:endParaRPr lang="en-US" sz="9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토</a:t>
                      </a:r>
                      <a:endParaRPr lang="en-US" sz="9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11499"/>
                  </a:ext>
                </a:extLst>
              </a:tr>
              <a:tr h="121444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smtClean="0">
                          <a:solidFill>
                            <a:srgbClr val="FF0000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3</a:t>
                      </a:r>
                      <a:endParaRPr lang="en-US" sz="1000" b="0" dirty="0">
                        <a:solidFill>
                          <a:srgbClr val="FF0000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4</a:t>
                      </a:r>
                      <a:endParaRPr 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5</a:t>
                      </a:r>
                      <a:endParaRPr lang="en-US" sz="10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18000" marB="1800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144702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266923" y="1181027"/>
            <a:ext cx="2085752" cy="704922"/>
            <a:chOff x="266923" y="1181027"/>
            <a:chExt cx="1784313" cy="704922"/>
          </a:xfrm>
        </p:grpSpPr>
        <p:sp>
          <p:nvSpPr>
            <p:cNvPr id="9" name="Rectangle 14"/>
            <p:cNvSpPr>
              <a:spLocks/>
            </p:cNvSpPr>
            <p:nvPr/>
          </p:nvSpPr>
          <p:spPr bwMode="auto">
            <a:xfrm>
              <a:off x="266923" y="1181027"/>
              <a:ext cx="1784313" cy="219147"/>
            </a:xfrm>
            <a:prstGeom prst="rect">
              <a:avLst/>
            </a:prstGeom>
            <a:solidFill>
              <a:srgbClr val="FFC000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marL="0" marR="0" lvl="0" indent="0" algn="l" defTabSz="914400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제품기획팀 주간보고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Rectangle 14"/>
            <p:cNvSpPr>
              <a:spLocks/>
            </p:cNvSpPr>
            <p:nvPr/>
          </p:nvSpPr>
          <p:spPr bwMode="auto">
            <a:xfrm>
              <a:off x="266923" y="1423915"/>
              <a:ext cx="1784313" cy="21914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marL="0" marR="0" lvl="0" indent="0" algn="l" defTabSz="914400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15:00 EGW UI/UX</a:t>
              </a:r>
              <a:r>
                <a:rPr kumimoji="1" lang="en-US" altLang="ko-KR" sz="800" b="0" i="0" u="none" strike="noStrike" kern="1200" cap="none" spc="0" normalizeH="0" noProof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800" b="0" i="0" u="none" strike="noStrike" kern="1200" cap="none" spc="0" normalizeH="0" noProof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개선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프로젝트 협의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Rectangle 14"/>
            <p:cNvSpPr>
              <a:spLocks/>
            </p:cNvSpPr>
            <p:nvPr/>
          </p:nvSpPr>
          <p:spPr bwMode="auto">
            <a:xfrm>
              <a:off x="266923" y="1666802"/>
              <a:ext cx="1784313" cy="21914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marL="0" marR="0" lvl="0" indent="0" algn="l" defTabSz="914400" rtl="0" eaLnBrk="1" fontAlgn="base" latinLnBrk="1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18:00</a:t>
              </a:r>
              <a:r>
                <a:rPr kumimoji="1" lang="en-US" altLang="ko-KR" sz="800" b="0" i="0" u="none" strike="noStrike" kern="1200" cap="none" spc="0" normalizeH="0" noProof="0" smtClean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en-US" altLang="ko-KR" sz="80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EGW </a:t>
              </a:r>
              <a:r>
                <a:rPr kumimoji="1" lang="ko-KR" altLang="en-US" sz="80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디자인 시안 </a:t>
              </a:r>
              <a:r>
                <a:rPr kumimoji="1" lang="en-US" altLang="ko-KR" sz="80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800" smtClean="0">
                  <a:solidFill>
                    <a:prstClr val="black">
                      <a:lumMod val="85000"/>
                      <a:lumOff val="1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 리뷰 점검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390650" y="971550"/>
            <a:ext cx="952500" cy="152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개천절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창립기념일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5200" y="971550"/>
            <a:ext cx="952500" cy="152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(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음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)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09-01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294231" y="1933575"/>
            <a:ext cx="286793" cy="15603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+3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</a:t>
            </a: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월간 </a:t>
            </a: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캘린더에 출력되는 </a:t>
            </a:r>
            <a:r>
              <a:rPr kumimoji="1" lang="ko-KR" altLang="en-US" sz="8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아이콘</a:t>
            </a: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정의</a:t>
            </a:r>
          </a:p>
        </p:txBody>
      </p:sp>
      <p:graphicFrame>
        <p:nvGraphicFramePr>
          <p:cNvPr id="17" name="Group 3"/>
          <p:cNvGraphicFramePr>
            <a:graphicFrameLocks noGrp="1"/>
          </p:cNvGraphicFramePr>
          <p:nvPr>
            <p:extLst/>
          </p:nvPr>
        </p:nvGraphicFramePr>
        <p:xfrm>
          <a:off x="9286875" y="793264"/>
          <a:ext cx="2819019" cy="2499192"/>
        </p:xfrm>
        <a:graphic>
          <a:graphicData uri="http://schemas.openxmlformats.org/drawingml/2006/table">
            <a:tbl>
              <a:tblPr/>
              <a:tblGrid>
                <a:gridCol w="17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종일일정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&gt;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기념일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&gt;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일반 일정 순으로 출력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일정갯수가 지정된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HEIGHT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값을 초과할 경우 더보기 버튼 출력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30632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1-1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댓글이 적용됐을 경우 댓글 아이콘 출력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반복일정일 경우 반복 일정 아이콘 출력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일정명이 정해진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width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을 초과하지 않을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일정명 뒤에 해당 아이콘들 출력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1-2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일정명이 정해진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width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값을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초과할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말줄임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해당되는 아이콘들이 있을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아이콘 영역까지 포함된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width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값으로 말줄임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13102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공유받은 일정일 경우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gray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color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으로 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더보기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[+N]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클릭시 출력되는 레이어에서의 아이콘 출력방식 및 말줄임 처리는 ①과 동일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781233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940097"/>
              </p:ext>
            </p:extLst>
          </p:nvPr>
        </p:nvGraphicFramePr>
        <p:xfrm>
          <a:off x="9286875" y="6445250"/>
          <a:ext cx="2819019" cy="223520"/>
        </p:xfrm>
        <a:graphic>
          <a:graphicData uri="http://schemas.openxmlformats.org/drawingml/2006/table">
            <a:tbl>
              <a:tblPr/>
              <a:tblGrid>
                <a:gridCol w="2819019">
                  <a:extLst>
                    <a:ext uri="{9D8B030D-6E8A-4147-A177-3AD203B41FA5}">
                      <a16:colId xmlns:a16="http://schemas.microsoft.com/office/drawing/2014/main" val="3830996104"/>
                    </a:ext>
                  </a:extLst>
                </a:gridCol>
              </a:tblGrid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3/26 </a:t>
                      </a:r>
                      <a:r>
                        <a:rPr lang="ko-KR" altLang="en-US" sz="80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화면</a:t>
                      </a:r>
                      <a:r>
                        <a:rPr lang="ko-KR" altLang="en-US" sz="800" baseline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 첨부</a:t>
                      </a:r>
                      <a:endParaRPr sz="8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668362"/>
                  </a:ext>
                </a:extLst>
              </a:tr>
            </a:tbl>
          </a:graphicData>
        </a:graphic>
      </p:graphicFrame>
      <p:sp>
        <p:nvSpPr>
          <p:cNvPr id="33" name="Rectangle 14"/>
          <p:cNvSpPr/>
          <p:nvPr/>
        </p:nvSpPr>
        <p:spPr>
          <a:xfrm>
            <a:off x="266923" y="2549526"/>
            <a:ext cx="2571527" cy="18224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ea"/>
            </a:endParaRPr>
          </a:p>
        </p:txBody>
      </p:sp>
      <p:cxnSp>
        <p:nvCxnSpPr>
          <p:cNvPr id="35" name="직선 연결선[R] 33"/>
          <p:cNvCxnSpPr/>
          <p:nvPr/>
        </p:nvCxnSpPr>
        <p:spPr>
          <a:xfrm>
            <a:off x="381223" y="2838602"/>
            <a:ext cx="230481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 11"/>
          <p:cNvSpPr>
            <a:spLocks noChangeAspect="1" noChangeArrowheads="1"/>
          </p:cNvSpPr>
          <p:nvPr/>
        </p:nvSpPr>
        <p:spPr bwMode="auto">
          <a:xfrm>
            <a:off x="2519178" y="2640064"/>
            <a:ext cx="108000" cy="108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436236" y="2615888"/>
            <a:ext cx="1794398" cy="143207"/>
            <a:chOff x="483861" y="2615888"/>
            <a:chExt cx="1794398" cy="143207"/>
          </a:xfrm>
        </p:grpSpPr>
        <p:sp>
          <p:nvSpPr>
            <p:cNvPr id="34" name="텍스트 상자 31"/>
            <p:cNvSpPr txBox="1"/>
            <p:nvPr/>
          </p:nvSpPr>
          <p:spPr>
            <a:xfrm>
              <a:off x="483861" y="2615888"/>
              <a:ext cx="86926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900" b="1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3</a:t>
              </a:r>
              <a:r>
                <a:rPr kumimoji="1" lang="ko-KR" altLang="en-US" sz="900" b="1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월 </a:t>
              </a:r>
              <a:r>
                <a:rPr kumimoji="1" lang="en-US" altLang="ko-KR" sz="900" b="1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26</a:t>
              </a:r>
              <a:r>
                <a:rPr kumimoji="1" lang="ko-KR" altLang="en-US" sz="900" b="1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일</a:t>
              </a:r>
              <a:r>
                <a:rPr kumimoji="1" lang="en-US" altLang="ko-KR" sz="900" b="1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(</a:t>
              </a:r>
              <a:r>
                <a:rPr kumimoji="1" lang="ko-KR" altLang="en-US" sz="900" b="1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월요일</a:t>
              </a:r>
              <a:r>
                <a:rPr kumimoji="1" lang="en-US" altLang="ko-KR" sz="9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)</a:t>
              </a:r>
              <a:endParaRPr kumimoji="1" lang="ko-KR" altLang="en-US" sz="9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9" name="텍스트 상자 31"/>
            <p:cNvSpPr txBox="1"/>
            <p:nvPr/>
          </p:nvSpPr>
          <p:spPr>
            <a:xfrm>
              <a:off x="1408994" y="2635984"/>
              <a:ext cx="86926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ko-KR" altLang="en-US" sz="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일정 </a:t>
              </a:r>
              <a:r>
                <a:rPr kumimoji="1" lang="en-US" altLang="ko-KR" sz="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6</a:t>
              </a:r>
              <a:r>
                <a:rPr kumimoji="1" lang="ko-KR" altLang="en-US" sz="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</a:t>
              </a:r>
              <a:endParaRPr kumimoji="1" lang="ko-KR" altLang="en-US" sz="8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11493103" y="1551646"/>
            <a:ext cx="112115" cy="232744"/>
            <a:chOff x="11512153" y="1084921"/>
            <a:chExt cx="112115" cy="232744"/>
          </a:xfrm>
        </p:grpSpPr>
        <p:sp>
          <p:nvSpPr>
            <p:cNvPr id="40" name="Update"/>
            <p:cNvSpPr>
              <a:spLocks noChangeAspect="1" noEditPoints="1"/>
            </p:cNvSpPr>
            <p:nvPr/>
          </p:nvSpPr>
          <p:spPr bwMode="auto">
            <a:xfrm>
              <a:off x="11515907" y="1223441"/>
              <a:ext cx="88260" cy="94224"/>
            </a:xfrm>
            <a:custGeom>
              <a:avLst/>
              <a:gdLst>
                <a:gd name="T0" fmla="*/ 440 w 481"/>
                <a:gd name="T1" fmla="*/ 0 h 512"/>
                <a:gd name="T2" fmla="*/ 427 w 481"/>
                <a:gd name="T3" fmla="*/ 13 h 512"/>
                <a:gd name="T4" fmla="*/ 427 w 481"/>
                <a:gd name="T5" fmla="*/ 103 h 512"/>
                <a:gd name="T6" fmla="*/ 419 w 481"/>
                <a:gd name="T7" fmla="*/ 93 h 512"/>
                <a:gd name="T8" fmla="*/ 419 w 481"/>
                <a:gd name="T9" fmla="*/ 93 h 512"/>
                <a:gd name="T10" fmla="*/ 241 w 481"/>
                <a:gd name="T11" fmla="*/ 13 h 512"/>
                <a:gd name="T12" fmla="*/ 1 w 481"/>
                <a:gd name="T13" fmla="*/ 253 h 512"/>
                <a:gd name="T14" fmla="*/ 27 w 481"/>
                <a:gd name="T15" fmla="*/ 253 h 512"/>
                <a:gd name="T16" fmla="*/ 241 w 481"/>
                <a:gd name="T17" fmla="*/ 40 h 512"/>
                <a:gd name="T18" fmla="*/ 399 w 481"/>
                <a:gd name="T19" fmla="*/ 111 h 512"/>
                <a:gd name="T20" fmla="*/ 407 w 481"/>
                <a:gd name="T21" fmla="*/ 120 h 512"/>
                <a:gd name="T22" fmla="*/ 321 w 481"/>
                <a:gd name="T23" fmla="*/ 120 h 512"/>
                <a:gd name="T24" fmla="*/ 321 w 481"/>
                <a:gd name="T25" fmla="*/ 147 h 512"/>
                <a:gd name="T26" fmla="*/ 454 w 481"/>
                <a:gd name="T27" fmla="*/ 147 h 512"/>
                <a:gd name="T28" fmla="*/ 454 w 481"/>
                <a:gd name="T29" fmla="*/ 13 h 512"/>
                <a:gd name="T30" fmla="*/ 440 w 481"/>
                <a:gd name="T31" fmla="*/ 0 h 512"/>
                <a:gd name="T32" fmla="*/ 467 w 481"/>
                <a:gd name="T33" fmla="*/ 240 h 512"/>
                <a:gd name="T34" fmla="*/ 454 w 481"/>
                <a:gd name="T35" fmla="*/ 253 h 512"/>
                <a:gd name="T36" fmla="*/ 241 w 481"/>
                <a:gd name="T37" fmla="*/ 467 h 512"/>
                <a:gd name="T38" fmla="*/ 82 w 481"/>
                <a:gd name="T39" fmla="*/ 396 h 512"/>
                <a:gd name="T40" fmla="*/ 74 w 481"/>
                <a:gd name="T41" fmla="*/ 387 h 512"/>
                <a:gd name="T42" fmla="*/ 161 w 481"/>
                <a:gd name="T43" fmla="*/ 387 h 512"/>
                <a:gd name="T44" fmla="*/ 161 w 481"/>
                <a:gd name="T45" fmla="*/ 360 h 512"/>
                <a:gd name="T46" fmla="*/ 27 w 481"/>
                <a:gd name="T47" fmla="*/ 360 h 512"/>
                <a:gd name="T48" fmla="*/ 27 w 481"/>
                <a:gd name="T49" fmla="*/ 493 h 512"/>
                <a:gd name="T50" fmla="*/ 54 w 481"/>
                <a:gd name="T51" fmla="*/ 493 h 512"/>
                <a:gd name="T52" fmla="*/ 54 w 481"/>
                <a:gd name="T53" fmla="*/ 404 h 512"/>
                <a:gd name="T54" fmla="*/ 62 w 481"/>
                <a:gd name="T55" fmla="*/ 414 h 512"/>
                <a:gd name="T56" fmla="*/ 62 w 481"/>
                <a:gd name="T57" fmla="*/ 414 h 512"/>
                <a:gd name="T58" fmla="*/ 241 w 481"/>
                <a:gd name="T59" fmla="*/ 493 h 512"/>
                <a:gd name="T60" fmla="*/ 481 w 481"/>
                <a:gd name="T61" fmla="*/ 253 h 512"/>
                <a:gd name="T62" fmla="*/ 467 w 481"/>
                <a:gd name="T63" fmla="*/ 24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81" h="512">
                  <a:moveTo>
                    <a:pt x="440" y="0"/>
                  </a:moveTo>
                  <a:cubicBezTo>
                    <a:pt x="433" y="0"/>
                    <a:pt x="427" y="6"/>
                    <a:pt x="427" y="13"/>
                  </a:cubicBezTo>
                  <a:lnTo>
                    <a:pt x="427" y="103"/>
                  </a:lnTo>
                  <a:cubicBezTo>
                    <a:pt x="424" y="99"/>
                    <a:pt x="422" y="96"/>
                    <a:pt x="419" y="93"/>
                  </a:cubicBezTo>
                  <a:lnTo>
                    <a:pt x="419" y="93"/>
                  </a:lnTo>
                  <a:cubicBezTo>
                    <a:pt x="375" y="44"/>
                    <a:pt x="311" y="13"/>
                    <a:pt x="241" y="13"/>
                  </a:cubicBezTo>
                  <a:cubicBezTo>
                    <a:pt x="108" y="13"/>
                    <a:pt x="1" y="121"/>
                    <a:pt x="1" y="253"/>
                  </a:cubicBezTo>
                  <a:cubicBezTo>
                    <a:pt x="0" y="272"/>
                    <a:pt x="27" y="272"/>
                    <a:pt x="27" y="253"/>
                  </a:cubicBezTo>
                  <a:cubicBezTo>
                    <a:pt x="27" y="136"/>
                    <a:pt x="123" y="40"/>
                    <a:pt x="241" y="40"/>
                  </a:cubicBezTo>
                  <a:cubicBezTo>
                    <a:pt x="304" y="40"/>
                    <a:pt x="360" y="67"/>
                    <a:pt x="399" y="111"/>
                  </a:cubicBezTo>
                  <a:cubicBezTo>
                    <a:pt x="402" y="114"/>
                    <a:pt x="404" y="117"/>
                    <a:pt x="407" y="120"/>
                  </a:cubicBezTo>
                  <a:lnTo>
                    <a:pt x="321" y="120"/>
                  </a:lnTo>
                  <a:cubicBezTo>
                    <a:pt x="303" y="120"/>
                    <a:pt x="303" y="147"/>
                    <a:pt x="321" y="147"/>
                  </a:cubicBezTo>
                  <a:lnTo>
                    <a:pt x="454" y="147"/>
                  </a:lnTo>
                  <a:lnTo>
                    <a:pt x="454" y="13"/>
                  </a:lnTo>
                  <a:cubicBezTo>
                    <a:pt x="454" y="6"/>
                    <a:pt x="448" y="0"/>
                    <a:pt x="440" y="0"/>
                  </a:cubicBezTo>
                  <a:close/>
                  <a:moveTo>
                    <a:pt x="467" y="240"/>
                  </a:moveTo>
                  <a:cubicBezTo>
                    <a:pt x="460" y="240"/>
                    <a:pt x="454" y="246"/>
                    <a:pt x="454" y="253"/>
                  </a:cubicBezTo>
                  <a:cubicBezTo>
                    <a:pt x="454" y="371"/>
                    <a:pt x="359" y="467"/>
                    <a:pt x="241" y="467"/>
                  </a:cubicBezTo>
                  <a:cubicBezTo>
                    <a:pt x="178" y="467"/>
                    <a:pt x="121" y="440"/>
                    <a:pt x="82" y="396"/>
                  </a:cubicBezTo>
                  <a:cubicBezTo>
                    <a:pt x="79" y="393"/>
                    <a:pt x="77" y="390"/>
                    <a:pt x="74" y="387"/>
                  </a:cubicBezTo>
                  <a:lnTo>
                    <a:pt x="161" y="387"/>
                  </a:lnTo>
                  <a:cubicBezTo>
                    <a:pt x="179" y="387"/>
                    <a:pt x="179" y="360"/>
                    <a:pt x="161" y="360"/>
                  </a:cubicBezTo>
                  <a:lnTo>
                    <a:pt x="27" y="360"/>
                  </a:lnTo>
                  <a:lnTo>
                    <a:pt x="27" y="493"/>
                  </a:lnTo>
                  <a:cubicBezTo>
                    <a:pt x="27" y="512"/>
                    <a:pt x="54" y="512"/>
                    <a:pt x="54" y="493"/>
                  </a:cubicBezTo>
                  <a:lnTo>
                    <a:pt x="54" y="404"/>
                  </a:lnTo>
                  <a:cubicBezTo>
                    <a:pt x="57" y="407"/>
                    <a:pt x="59" y="411"/>
                    <a:pt x="62" y="414"/>
                  </a:cubicBezTo>
                  <a:lnTo>
                    <a:pt x="62" y="414"/>
                  </a:lnTo>
                  <a:cubicBezTo>
                    <a:pt x="106" y="463"/>
                    <a:pt x="170" y="493"/>
                    <a:pt x="241" y="493"/>
                  </a:cubicBezTo>
                  <a:cubicBezTo>
                    <a:pt x="373" y="493"/>
                    <a:pt x="481" y="386"/>
                    <a:pt x="481" y="253"/>
                  </a:cubicBezTo>
                  <a:cubicBezTo>
                    <a:pt x="481" y="246"/>
                    <a:pt x="475" y="240"/>
                    <a:pt x="467" y="240"/>
                  </a:cubicBezTo>
                  <a:close/>
                </a:path>
              </a:pathLst>
            </a:custGeom>
            <a:solidFill>
              <a:srgbClr val="5F5F5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Speech Bubble"/>
            <p:cNvSpPr>
              <a:spLocks noChangeAspect="1" noEditPoints="1"/>
            </p:cNvSpPr>
            <p:nvPr/>
          </p:nvSpPr>
          <p:spPr bwMode="auto">
            <a:xfrm>
              <a:off x="11512153" y="1084921"/>
              <a:ext cx="112115" cy="108537"/>
            </a:xfrm>
            <a:custGeom>
              <a:avLst/>
              <a:gdLst>
                <a:gd name="T0" fmla="*/ 305 w 611"/>
                <a:gd name="T1" fmla="*/ 0 h 587"/>
                <a:gd name="T2" fmla="*/ 0 w 611"/>
                <a:gd name="T3" fmla="*/ 265 h 587"/>
                <a:gd name="T4" fmla="*/ 119 w 611"/>
                <a:gd name="T5" fmla="*/ 475 h 587"/>
                <a:gd name="T6" fmla="*/ 68 w 611"/>
                <a:gd name="T7" fmla="*/ 584 h 587"/>
                <a:gd name="T8" fmla="*/ 229 w 611"/>
                <a:gd name="T9" fmla="*/ 522 h 587"/>
                <a:gd name="T10" fmla="*/ 305 w 611"/>
                <a:gd name="T11" fmla="*/ 531 h 587"/>
                <a:gd name="T12" fmla="*/ 611 w 611"/>
                <a:gd name="T13" fmla="*/ 265 h 587"/>
                <a:gd name="T14" fmla="*/ 305 w 611"/>
                <a:gd name="T15" fmla="*/ 0 h 587"/>
                <a:gd name="T16" fmla="*/ 305 w 611"/>
                <a:gd name="T17" fmla="*/ 24 h 587"/>
                <a:gd name="T18" fmla="*/ 586 w 611"/>
                <a:gd name="T19" fmla="*/ 265 h 587"/>
                <a:gd name="T20" fmla="*/ 305 w 611"/>
                <a:gd name="T21" fmla="*/ 506 h 587"/>
                <a:gd name="T22" fmla="*/ 221 w 611"/>
                <a:gd name="T23" fmla="*/ 495 h 587"/>
                <a:gd name="T24" fmla="*/ 116 w 611"/>
                <a:gd name="T25" fmla="*/ 555 h 587"/>
                <a:gd name="T26" fmla="*/ 139 w 611"/>
                <a:gd name="T27" fmla="*/ 503 h 587"/>
                <a:gd name="T28" fmla="*/ 144 w 611"/>
                <a:gd name="T29" fmla="*/ 463 h 587"/>
                <a:gd name="T30" fmla="*/ 24 w 611"/>
                <a:gd name="T31" fmla="*/ 265 h 587"/>
                <a:gd name="T32" fmla="*/ 305 w 611"/>
                <a:gd name="T33" fmla="*/ 24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11" h="587">
                  <a:moveTo>
                    <a:pt x="305" y="0"/>
                  </a:moveTo>
                  <a:cubicBezTo>
                    <a:pt x="137" y="0"/>
                    <a:pt x="0" y="118"/>
                    <a:pt x="0" y="265"/>
                  </a:cubicBezTo>
                  <a:cubicBezTo>
                    <a:pt x="0" y="351"/>
                    <a:pt x="47" y="426"/>
                    <a:pt x="119" y="475"/>
                  </a:cubicBezTo>
                  <a:cubicBezTo>
                    <a:pt x="117" y="518"/>
                    <a:pt x="88" y="557"/>
                    <a:pt x="68" y="584"/>
                  </a:cubicBezTo>
                  <a:cubicBezTo>
                    <a:pt x="128" y="587"/>
                    <a:pt x="189" y="568"/>
                    <a:pt x="229" y="522"/>
                  </a:cubicBezTo>
                  <a:cubicBezTo>
                    <a:pt x="254" y="527"/>
                    <a:pt x="279" y="531"/>
                    <a:pt x="305" y="531"/>
                  </a:cubicBezTo>
                  <a:cubicBezTo>
                    <a:pt x="473" y="531"/>
                    <a:pt x="611" y="413"/>
                    <a:pt x="611" y="265"/>
                  </a:cubicBezTo>
                  <a:cubicBezTo>
                    <a:pt x="611" y="118"/>
                    <a:pt x="473" y="0"/>
                    <a:pt x="305" y="0"/>
                  </a:cubicBezTo>
                  <a:close/>
                  <a:moveTo>
                    <a:pt x="305" y="24"/>
                  </a:moveTo>
                  <a:cubicBezTo>
                    <a:pt x="462" y="24"/>
                    <a:pt x="586" y="133"/>
                    <a:pt x="586" y="265"/>
                  </a:cubicBezTo>
                  <a:cubicBezTo>
                    <a:pt x="586" y="397"/>
                    <a:pt x="462" y="506"/>
                    <a:pt x="305" y="506"/>
                  </a:cubicBezTo>
                  <a:cubicBezTo>
                    <a:pt x="274" y="505"/>
                    <a:pt x="248" y="502"/>
                    <a:pt x="221" y="495"/>
                  </a:cubicBezTo>
                  <a:cubicBezTo>
                    <a:pt x="184" y="538"/>
                    <a:pt x="153" y="548"/>
                    <a:pt x="116" y="555"/>
                  </a:cubicBezTo>
                  <a:cubicBezTo>
                    <a:pt x="127" y="535"/>
                    <a:pt x="135" y="517"/>
                    <a:pt x="139" y="503"/>
                  </a:cubicBezTo>
                  <a:cubicBezTo>
                    <a:pt x="143" y="490"/>
                    <a:pt x="144" y="476"/>
                    <a:pt x="144" y="463"/>
                  </a:cubicBezTo>
                  <a:cubicBezTo>
                    <a:pt x="69" y="408"/>
                    <a:pt x="26" y="337"/>
                    <a:pt x="24" y="265"/>
                  </a:cubicBezTo>
                  <a:cubicBezTo>
                    <a:pt x="24" y="133"/>
                    <a:pt x="149" y="24"/>
                    <a:pt x="305" y="24"/>
                  </a:cubicBezTo>
                  <a:close/>
                </a:path>
              </a:pathLst>
            </a:custGeom>
            <a:solidFill>
              <a:srgbClr val="5F5F5F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336550" y="2948516"/>
          <a:ext cx="236855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525">
                  <a:extLst>
                    <a:ext uri="{9D8B030D-6E8A-4147-A177-3AD203B41FA5}">
                      <a16:colId xmlns:a16="http://schemas.microsoft.com/office/drawing/2014/main" val="2805305507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3794931815"/>
                    </a:ext>
                  </a:extLst>
                </a:gridCol>
              </a:tblGrid>
              <a:tr h="1959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종일일정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■제품기획팀 주간보고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204905"/>
                  </a:ext>
                </a:extLst>
              </a:tr>
              <a:tr h="1959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15:00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■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EGW UI/UX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개선 프로젝트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..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22386"/>
                  </a:ext>
                </a:extLst>
              </a:tr>
              <a:tr h="1959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18:00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■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EGW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디자인 시안 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차 리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..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501991"/>
                  </a:ext>
                </a:extLst>
              </a:tr>
              <a:tr h="1959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18:00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■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EGW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디자인 시안 리뷰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9614"/>
                  </a:ext>
                </a:extLst>
              </a:tr>
              <a:tr h="1959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19:00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■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EGW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디자인 시안 리뷰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899066"/>
                  </a:ext>
                </a:extLst>
              </a:tr>
              <a:tr h="1959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20:00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■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EGW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디자인 시안 리뷰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22730"/>
                  </a:ext>
                </a:extLst>
              </a:tr>
            </a:tbl>
          </a:graphicData>
        </a:graphic>
      </p:graphicFrame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292" y="3422516"/>
            <a:ext cx="231006" cy="104607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292" y="3203441"/>
            <a:ext cx="231006" cy="104607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017" y="2984366"/>
            <a:ext cx="231006" cy="104607"/>
          </a:xfrm>
          <a:prstGeom prst="rect">
            <a:avLst/>
          </a:prstGeom>
        </p:spPr>
      </p:pic>
      <p:pic>
        <p:nvPicPr>
          <p:cNvPr id="64" name="그림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767" y="1241291"/>
            <a:ext cx="231006" cy="104607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42" y="1479416"/>
            <a:ext cx="231006" cy="104607"/>
          </a:xfrm>
          <a:prstGeom prst="rect">
            <a:avLst/>
          </a:prstGeom>
        </p:spPr>
      </p:pic>
      <p:pic>
        <p:nvPicPr>
          <p:cNvPr id="66" name="그림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42" y="1727066"/>
            <a:ext cx="231006" cy="104607"/>
          </a:xfrm>
          <a:prstGeom prst="rect">
            <a:avLst/>
          </a:prstGeom>
        </p:spPr>
      </p:pic>
      <p:sp>
        <p:nvSpPr>
          <p:cNvPr id="69" name="Rectangle 139"/>
          <p:cNvSpPr/>
          <p:nvPr/>
        </p:nvSpPr>
        <p:spPr>
          <a:xfrm>
            <a:off x="1254444" y="1190624"/>
            <a:ext cx="736281" cy="195785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68" name="타원 67"/>
          <p:cNvSpPr>
            <a:spLocks noChangeAspect="1"/>
          </p:cNvSpPr>
          <p:nvPr/>
        </p:nvSpPr>
        <p:spPr>
          <a:xfrm>
            <a:off x="1881235" y="1108448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Rectangle 14"/>
          <p:cNvSpPr>
            <a:spLocks/>
          </p:cNvSpPr>
          <p:nvPr/>
        </p:nvSpPr>
        <p:spPr bwMode="auto">
          <a:xfrm>
            <a:off x="2371948" y="1181027"/>
            <a:ext cx="2085752" cy="21914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marL="0" marR="0" lvl="0" indent="0" algn="l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09:00</a:t>
            </a:r>
            <a:r>
              <a:rPr kumimoji="1" lang="en-US" altLang="ko-KR" sz="800" b="0" i="0" u="none" strike="noStrike" kern="1200" cap="none" spc="0" normalizeH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800" smtClean="0">
                <a:solidFill>
                  <a:prstClr val="black">
                    <a:lumMod val="85000"/>
                    <a:lumOff val="1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다큐플로팀 주간보고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1" name="타원 70"/>
          <p:cNvSpPr>
            <a:spLocks noChangeAspect="1"/>
          </p:cNvSpPr>
          <p:nvPr/>
        </p:nvSpPr>
        <p:spPr>
          <a:xfrm>
            <a:off x="3700510" y="1089398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Rectangle 139"/>
          <p:cNvSpPr/>
          <p:nvPr/>
        </p:nvSpPr>
        <p:spPr>
          <a:xfrm>
            <a:off x="1875003" y="1431362"/>
            <a:ext cx="463596" cy="195785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73" name="타원 72"/>
          <p:cNvSpPr>
            <a:spLocks noChangeAspect="1"/>
          </p:cNvSpPr>
          <p:nvPr/>
        </p:nvSpPr>
        <p:spPr>
          <a:xfrm>
            <a:off x="2308765" y="1531931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>
            <a:off x="407661" y="2074165"/>
            <a:ext cx="0" cy="482574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타원 73"/>
          <p:cNvSpPr>
            <a:spLocks noChangeAspect="1"/>
          </p:cNvSpPr>
          <p:nvPr/>
        </p:nvSpPr>
        <p:spPr>
          <a:xfrm>
            <a:off x="195310" y="2470523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7" name="왼쪽 중괄호 76"/>
          <p:cNvSpPr/>
          <p:nvPr/>
        </p:nvSpPr>
        <p:spPr>
          <a:xfrm>
            <a:off x="114300" y="704850"/>
            <a:ext cx="104775" cy="1428750"/>
          </a:xfrm>
          <a:prstGeom prst="leftBrace">
            <a:avLst>
              <a:gd name="adj1" fmla="val 37564"/>
              <a:gd name="adj2" fmla="val 50000"/>
            </a:avLst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/>
          <p:cNvSpPr>
            <a:spLocks noChangeAspect="1"/>
          </p:cNvSpPr>
          <p:nvPr/>
        </p:nvSpPr>
        <p:spPr>
          <a:xfrm>
            <a:off x="61960" y="879848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235150" y="3358634"/>
            <a:ext cx="243688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1800"/>
            </a:pPr>
            <a:r>
              <a:rPr lang="ko-KR" altLang="en-US" sz="800" b="1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①</a:t>
            </a:r>
            <a:r>
              <a:rPr lang="en-US" altLang="ko-KR" sz="800" b="1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~</a:t>
            </a:r>
            <a:r>
              <a:rPr lang="ko-KR" altLang="en-US" sz="800" b="1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③의 방식은 </a:t>
            </a:r>
            <a:r>
              <a:rPr lang="ko-KR" altLang="en-US" sz="800" b="1" u="sng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설비 월간</a:t>
            </a:r>
            <a:r>
              <a:rPr lang="en-US" altLang="ko-KR" sz="800" b="1" u="sng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/</a:t>
            </a:r>
            <a:r>
              <a:rPr lang="ko-KR" altLang="en-US" sz="800" b="1" u="sng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주간</a:t>
            </a:r>
            <a:r>
              <a:rPr lang="ko-KR" altLang="en-US" sz="800" b="1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형에도 동일 적용</a:t>
            </a:r>
            <a:endParaRPr lang="ko-KR" altLang="en-US" sz="800" b="1" dirty="0">
              <a:solidFill>
                <a:srgbClr val="0000FF"/>
              </a:solidFill>
              <a:latin typeface="+mn-ea"/>
              <a:ea typeface="+mn-ea"/>
              <a:cs typeface="Nanum Gothic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6372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269875" y="595841"/>
          <a:ext cx="771207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009">
                  <a:extLst>
                    <a:ext uri="{9D8B030D-6E8A-4147-A177-3AD203B41FA5}">
                      <a16:colId xmlns:a16="http://schemas.microsoft.com/office/drawing/2014/main" val="1332317676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892601108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56182513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4268224957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1451847161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273706008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3469374579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1095363453"/>
                    </a:ext>
                  </a:extLst>
                </a:gridCol>
              </a:tblGrid>
              <a:tr h="211843"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25(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26(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27(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28(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29(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목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30(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금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31(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토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076844"/>
                  </a:ext>
                </a:extLst>
              </a:tr>
              <a:tr h="2118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종일일정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제품기획팀 주간보고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712685"/>
                  </a:ext>
                </a:extLst>
              </a:tr>
              <a:tr h="2118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기념일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홍길동 과장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049097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269875" y="1301750"/>
          <a:ext cx="7712073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009">
                  <a:extLst>
                    <a:ext uri="{9D8B030D-6E8A-4147-A177-3AD203B41FA5}">
                      <a16:colId xmlns:a16="http://schemas.microsoft.com/office/drawing/2014/main" val="3687067247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3660803878"/>
                    </a:ext>
                  </a:extLst>
                </a:gridCol>
                <a:gridCol w="482005">
                  <a:extLst>
                    <a:ext uri="{9D8B030D-6E8A-4147-A177-3AD203B41FA5}">
                      <a16:colId xmlns:a16="http://schemas.microsoft.com/office/drawing/2014/main" val="2887232495"/>
                    </a:ext>
                  </a:extLst>
                </a:gridCol>
                <a:gridCol w="482005">
                  <a:extLst>
                    <a:ext uri="{9D8B030D-6E8A-4147-A177-3AD203B41FA5}">
                      <a16:colId xmlns:a16="http://schemas.microsoft.com/office/drawing/2014/main" val="3491195630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1854638066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1555554337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3911353536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3205265597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3124881907"/>
                    </a:ext>
                  </a:extLst>
                </a:gridCol>
              </a:tblGrid>
              <a:tr h="211843"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176113"/>
                  </a:ext>
                </a:extLst>
              </a:tr>
              <a:tr h="211843"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제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디자인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965538"/>
                  </a:ext>
                </a:extLst>
              </a:tr>
              <a:tr h="211843"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84612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1285875"/>
            <a:ext cx="914400" cy="1143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08:00</a:t>
            </a:r>
            <a:endParaRPr lang="ko-KR" altLang="en-US" sz="6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1466850"/>
            <a:ext cx="914400" cy="1143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09:00</a:t>
            </a:r>
            <a:endParaRPr lang="ko-KR" altLang="en-US" sz="6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4800" y="1666875"/>
            <a:ext cx="914400" cy="1143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10:00</a:t>
            </a:r>
            <a:endParaRPr lang="ko-KR" altLang="en-US" sz="6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1885950"/>
            <a:ext cx="914400" cy="1143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11:00</a:t>
            </a:r>
            <a:endParaRPr lang="ko-KR" altLang="en-US" sz="6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992" y="869816"/>
            <a:ext cx="231006" cy="10460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442" y="1069841"/>
            <a:ext cx="231006" cy="1046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81325" y="1533525"/>
            <a:ext cx="914400" cy="1714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시안 리뷰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42" y="1565141"/>
            <a:ext cx="231006" cy="104607"/>
          </a:xfrm>
          <a:prstGeom prst="rect">
            <a:avLst/>
          </a:prstGeom>
        </p:spPr>
      </p:pic>
      <p:sp>
        <p:nvSpPr>
          <p:cNvPr id="16" name="Rectangle 139"/>
          <p:cNvSpPr/>
          <p:nvPr/>
        </p:nvSpPr>
        <p:spPr>
          <a:xfrm>
            <a:off x="3140394" y="1514474"/>
            <a:ext cx="736281" cy="195785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/>
          </p:nvPr>
        </p:nvGraphicFramePr>
        <p:xfrm>
          <a:off x="269874" y="2986616"/>
          <a:ext cx="771207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009">
                  <a:extLst>
                    <a:ext uri="{9D8B030D-6E8A-4147-A177-3AD203B41FA5}">
                      <a16:colId xmlns:a16="http://schemas.microsoft.com/office/drawing/2014/main" val="1332317676"/>
                    </a:ext>
                  </a:extLst>
                </a:gridCol>
                <a:gridCol w="6748063">
                  <a:extLst>
                    <a:ext uri="{9D8B030D-6E8A-4147-A177-3AD203B41FA5}">
                      <a16:colId xmlns:a16="http://schemas.microsoft.com/office/drawing/2014/main" val="892601108"/>
                    </a:ext>
                  </a:extLst>
                </a:gridCol>
              </a:tblGrid>
              <a:tr h="211843"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26(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076844"/>
                  </a:ext>
                </a:extLst>
              </a:tr>
              <a:tr h="2118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종일일정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제품기획팀 주간보고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712685"/>
                  </a:ext>
                </a:extLst>
              </a:tr>
              <a:tr h="21184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기념일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홍길동 과장 생일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049097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/>
          </p:nvPr>
        </p:nvGraphicFramePr>
        <p:xfrm>
          <a:off x="269874" y="3692525"/>
          <a:ext cx="7712073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009">
                  <a:extLst>
                    <a:ext uri="{9D8B030D-6E8A-4147-A177-3AD203B41FA5}">
                      <a16:colId xmlns:a16="http://schemas.microsoft.com/office/drawing/2014/main" val="3687067247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3660803878"/>
                    </a:ext>
                  </a:extLst>
                </a:gridCol>
                <a:gridCol w="964010">
                  <a:extLst>
                    <a:ext uri="{9D8B030D-6E8A-4147-A177-3AD203B41FA5}">
                      <a16:colId xmlns:a16="http://schemas.microsoft.com/office/drawing/2014/main" val="2887232495"/>
                    </a:ext>
                  </a:extLst>
                </a:gridCol>
                <a:gridCol w="321336">
                  <a:extLst>
                    <a:ext uri="{9D8B030D-6E8A-4147-A177-3AD203B41FA5}">
                      <a16:colId xmlns:a16="http://schemas.microsoft.com/office/drawing/2014/main" val="1854638066"/>
                    </a:ext>
                  </a:extLst>
                </a:gridCol>
                <a:gridCol w="642673">
                  <a:extLst>
                    <a:ext uri="{9D8B030D-6E8A-4147-A177-3AD203B41FA5}">
                      <a16:colId xmlns:a16="http://schemas.microsoft.com/office/drawing/2014/main" val="1561550275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1555554337"/>
                    </a:ext>
                  </a:extLst>
                </a:gridCol>
                <a:gridCol w="642672">
                  <a:extLst>
                    <a:ext uri="{9D8B030D-6E8A-4147-A177-3AD203B41FA5}">
                      <a16:colId xmlns:a16="http://schemas.microsoft.com/office/drawing/2014/main" val="3911353536"/>
                    </a:ext>
                  </a:extLst>
                </a:gridCol>
                <a:gridCol w="321337">
                  <a:extLst>
                    <a:ext uri="{9D8B030D-6E8A-4147-A177-3AD203B41FA5}">
                      <a16:colId xmlns:a16="http://schemas.microsoft.com/office/drawing/2014/main" val="2975793671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3205265597"/>
                    </a:ext>
                  </a:extLst>
                </a:gridCol>
                <a:gridCol w="964009">
                  <a:extLst>
                    <a:ext uri="{9D8B030D-6E8A-4147-A177-3AD203B41FA5}">
                      <a16:colId xmlns:a16="http://schemas.microsoft.com/office/drawing/2014/main" val="3124881907"/>
                    </a:ext>
                  </a:extLst>
                </a:gridCol>
              </a:tblGrid>
              <a:tr h="211843"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08:00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제품기획팀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주간보고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08:00 EGW</a:t>
                      </a:r>
                      <a:r>
                        <a:rPr lang="en-US" altLang="ko-KR" sz="800" b="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800" b="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UI/UX </a:t>
                      </a:r>
                      <a:r>
                        <a:rPr lang="ko-KR" altLang="en-US" sz="800" b="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개선 프로젝트 </a:t>
                      </a:r>
                      <a:r>
                        <a:rPr lang="en-US" altLang="ko-KR" sz="800" b="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800" b="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주차 </a:t>
                      </a:r>
                      <a:r>
                        <a:rPr lang="en-US" altLang="ko-KR" sz="800" b="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…</a:t>
                      </a:r>
                      <a:r>
                        <a:rPr lang="ko-KR" altLang="en-US" sz="800" b="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176113"/>
                  </a:ext>
                </a:extLst>
              </a:tr>
              <a:tr h="211843"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09:00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제품기획팀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..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9:00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제품기획팀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9:00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제품기획팀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9:00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제품기획팀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9:00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제품기획팀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9:00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제품기획팀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9:00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제품기획팀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..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965538"/>
                  </a:ext>
                </a:extLst>
              </a:tr>
              <a:tr h="211843"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9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84612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04799" y="3676650"/>
            <a:ext cx="914400" cy="1143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08:00</a:t>
            </a:r>
            <a:endParaRPr lang="ko-KR" altLang="en-US" sz="6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4799" y="3857625"/>
            <a:ext cx="914400" cy="1143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09:00</a:t>
            </a:r>
            <a:endParaRPr lang="ko-KR" altLang="en-US" sz="6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4799" y="4057650"/>
            <a:ext cx="914400" cy="1143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10:00</a:t>
            </a:r>
            <a:endParaRPr lang="ko-KR" altLang="en-US" sz="6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4799" y="4276725"/>
            <a:ext cx="914400" cy="114300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11:00</a:t>
            </a:r>
            <a:endParaRPr lang="ko-KR" altLang="en-US" sz="6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991" y="3260591"/>
            <a:ext cx="231006" cy="104607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816" y="3460616"/>
            <a:ext cx="231006" cy="1046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05749" y="3926072"/>
            <a:ext cx="914400" cy="1714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고</a:t>
            </a: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191" y="3957688"/>
            <a:ext cx="231006" cy="104607"/>
          </a:xfrm>
          <a:prstGeom prst="rect">
            <a:avLst/>
          </a:prstGeom>
        </p:spPr>
      </p:pic>
      <p:sp>
        <p:nvSpPr>
          <p:cNvPr id="27" name="Rectangle 139"/>
          <p:cNvSpPr/>
          <p:nvPr/>
        </p:nvSpPr>
        <p:spPr>
          <a:xfrm>
            <a:off x="7902893" y="3907021"/>
            <a:ext cx="736281" cy="195785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066" y="3746366"/>
            <a:ext cx="231006" cy="104607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191" y="3746366"/>
            <a:ext cx="231006" cy="10460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</a:t>
            </a: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</a:t>
            </a: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일간 </a:t>
            </a: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캘린더에 출력되는 </a:t>
            </a:r>
            <a:r>
              <a:rPr kumimoji="1" lang="ko-KR" altLang="en-US" sz="8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아이콘</a:t>
            </a: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정의</a:t>
            </a:r>
          </a:p>
        </p:txBody>
      </p:sp>
      <p:graphicFrame>
        <p:nvGraphicFramePr>
          <p:cNvPr id="32" name="Group 3"/>
          <p:cNvGraphicFramePr>
            <a:graphicFrameLocks noGrp="1"/>
          </p:cNvGraphicFramePr>
          <p:nvPr>
            <p:extLst/>
          </p:nvPr>
        </p:nvGraphicFramePr>
        <p:xfrm>
          <a:off x="9286875" y="793264"/>
          <a:ext cx="2819019" cy="2015576"/>
        </p:xfrm>
        <a:graphic>
          <a:graphicData uri="http://schemas.openxmlformats.org/drawingml/2006/table">
            <a:tbl>
              <a:tblPr/>
              <a:tblGrid>
                <a:gridCol w="17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일정명이 정해진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width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값을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초과할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말줄임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해당되는 아이콘들이 있을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아이콘까지 포함하여 줄임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일정명이 정해진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width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값을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초과할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말줄임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해당되는 아이콘들이 있을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아이콘 영역까지 포함된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width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값으로 말줄임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13102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시간당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4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개이상의 일정이 등록됐을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일정명이 정해진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width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값을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초과할 경우 말줄임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해당되는 아이콘들이 있을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아이콘까지 포함하여 줄임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152595"/>
                  </a:ext>
                </a:extLst>
              </a:tr>
            </a:tbl>
          </a:graphicData>
        </a:graphic>
      </p:graphicFrame>
      <p:sp>
        <p:nvSpPr>
          <p:cNvPr id="33" name="타원 32"/>
          <p:cNvSpPr>
            <a:spLocks noChangeAspect="1"/>
          </p:cNvSpPr>
          <p:nvPr/>
        </p:nvSpPr>
        <p:spPr>
          <a:xfrm>
            <a:off x="3805285" y="1432298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Rectangle 139"/>
          <p:cNvSpPr/>
          <p:nvPr/>
        </p:nvSpPr>
        <p:spPr>
          <a:xfrm>
            <a:off x="1225869" y="3686174"/>
            <a:ext cx="6765606" cy="209551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35" name="타원 34"/>
          <p:cNvSpPr>
            <a:spLocks noChangeAspect="1"/>
          </p:cNvSpPr>
          <p:nvPr/>
        </p:nvSpPr>
        <p:spPr>
          <a:xfrm>
            <a:off x="7920085" y="3623048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타원 35"/>
          <p:cNvSpPr>
            <a:spLocks noChangeAspect="1"/>
          </p:cNvSpPr>
          <p:nvPr/>
        </p:nvSpPr>
        <p:spPr>
          <a:xfrm>
            <a:off x="8548735" y="3813548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913811"/>
              </p:ext>
            </p:extLst>
          </p:nvPr>
        </p:nvGraphicFramePr>
        <p:xfrm>
          <a:off x="9286875" y="6445250"/>
          <a:ext cx="2819019" cy="223520"/>
        </p:xfrm>
        <a:graphic>
          <a:graphicData uri="http://schemas.openxmlformats.org/drawingml/2006/table">
            <a:tbl>
              <a:tblPr/>
              <a:tblGrid>
                <a:gridCol w="2819019">
                  <a:extLst>
                    <a:ext uri="{9D8B030D-6E8A-4147-A177-3AD203B41FA5}">
                      <a16:colId xmlns:a16="http://schemas.microsoft.com/office/drawing/2014/main" val="3830996104"/>
                    </a:ext>
                  </a:extLst>
                </a:gridCol>
              </a:tblGrid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3/26 </a:t>
                      </a:r>
                      <a:r>
                        <a:rPr lang="ko-KR" altLang="en-US" sz="80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화면</a:t>
                      </a:r>
                      <a:r>
                        <a:rPr lang="ko-KR" altLang="en-US" sz="800" baseline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 첨부</a:t>
                      </a:r>
                      <a:endParaRPr sz="8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668362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486149" y="1762125"/>
            <a:ext cx="1057275" cy="1333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rgbClr val="FF0000"/>
                </a:solidFill>
                <a:latin typeface="+mn-ea"/>
                <a:ea typeface="+mn-ea"/>
              </a:rPr>
              <a:t>노출되지 않는 영역</a:t>
            </a:r>
            <a:endParaRPr lang="ko-KR" altLang="en-US" sz="80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937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11"/>
          <p:cNvSpPr>
            <a:spLocks noGrp="1"/>
          </p:cNvSpPr>
          <p:nvPr>
            <p:ph sz="quarter" idx="4294967295"/>
          </p:nvPr>
        </p:nvSpPr>
        <p:spPr>
          <a:xfrm>
            <a:off x="10133013" y="307975"/>
            <a:ext cx="1944687" cy="215900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0"/>
              </a:spcBef>
            </a:pPr>
            <a:r>
              <a:rPr kumimoji="1"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CA6.1.1.1</a:t>
            </a:r>
            <a:r>
              <a:rPr kumimoji="1"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8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 CA6.1.1.2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0" name="Rectangular Callout 441"/>
          <p:cNvSpPr/>
          <p:nvPr/>
        </p:nvSpPr>
        <p:spPr>
          <a:xfrm>
            <a:off x="322072" y="706844"/>
            <a:ext cx="3506978" cy="2541181"/>
          </a:xfrm>
          <a:prstGeom prst="wedgeRectCallout">
            <a:avLst>
              <a:gd name="adj1" fmla="val -18981"/>
              <a:gd name="adj2" fmla="val -45799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162" name="텍스트 상자 31"/>
          <p:cNvSpPr txBox="1"/>
          <p:nvPr/>
        </p:nvSpPr>
        <p:spPr>
          <a:xfrm>
            <a:off x="503062" y="1310467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제목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63" name="Rectangle 444"/>
          <p:cNvSpPr/>
          <p:nvPr/>
        </p:nvSpPr>
        <p:spPr>
          <a:xfrm>
            <a:off x="1061983" y="1266577"/>
            <a:ext cx="2368277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일정 제목을 입력하세요</a:t>
            </a:r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.</a:t>
            </a:r>
            <a:endParaRPr lang="en-US" sz="8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64" name="텍스트 상자 31"/>
          <p:cNvSpPr txBox="1"/>
          <p:nvPr/>
        </p:nvSpPr>
        <p:spPr>
          <a:xfrm>
            <a:off x="503062" y="1633831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시간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482478" y="822942"/>
            <a:ext cx="3179272" cy="250322"/>
            <a:chOff x="482478" y="822942"/>
            <a:chExt cx="3179272" cy="250322"/>
          </a:xfrm>
        </p:grpSpPr>
        <p:sp>
          <p:nvSpPr>
            <p:cNvPr id="161" name="텍스트 상자 31"/>
            <p:cNvSpPr txBox="1"/>
            <p:nvPr/>
          </p:nvSpPr>
          <p:spPr>
            <a:xfrm>
              <a:off x="482478" y="822942"/>
              <a:ext cx="86926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ko-KR" altLang="en-US" sz="900" b="1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일정 간편등록</a:t>
              </a:r>
              <a:endParaRPr kumimoji="1" lang="ko-KR" altLang="en-US" sz="9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cxnSp>
          <p:nvCxnSpPr>
            <p:cNvPr id="168" name="직선 연결선[R] 33"/>
            <p:cNvCxnSpPr/>
            <p:nvPr/>
          </p:nvCxnSpPr>
          <p:spPr>
            <a:xfrm>
              <a:off x="493750" y="1073264"/>
              <a:ext cx="316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" name="텍스트 상자 31"/>
          <p:cNvSpPr txBox="1"/>
          <p:nvPr/>
        </p:nvSpPr>
        <p:spPr>
          <a:xfrm>
            <a:off x="503062" y="217979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달력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4" name="Rectangle 127"/>
          <p:cNvSpPr/>
          <p:nvPr/>
        </p:nvSpPr>
        <p:spPr>
          <a:xfrm>
            <a:off x="966445" y="1515837"/>
            <a:ext cx="1595780" cy="341537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   2017-08-26</a:t>
            </a:r>
            <a:r>
              <a:rPr kumimoji="0" lang="ko-KR" altLang="en-US" sz="800" b="1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ko-KR" sz="800" b="1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(</a:t>
            </a:r>
            <a:r>
              <a:rPr kumimoji="0" lang="ko-KR" altLang="en-US" sz="800" b="1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수</a:t>
            </a:r>
            <a:r>
              <a:rPr kumimoji="0" lang="en-US" altLang="ko-KR" sz="800" b="1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)</a:t>
            </a:r>
            <a:endParaRPr kumimoji="0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934903" y="1594470"/>
            <a:ext cx="1495725" cy="202218"/>
            <a:chOff x="1706303" y="1556370"/>
            <a:chExt cx="1495725" cy="202218"/>
          </a:xfrm>
        </p:grpSpPr>
        <p:sp>
          <p:nvSpPr>
            <p:cNvPr id="177" name="Rectangle 143"/>
            <p:cNvSpPr/>
            <p:nvPr/>
          </p:nvSpPr>
          <p:spPr>
            <a:xfrm>
              <a:off x="1706303" y="1572987"/>
              <a:ext cx="648000" cy="180000"/>
            </a:xfrm>
            <a:prstGeom prst="rect">
              <a:avLst/>
            </a:prstGeom>
            <a:solidFill>
              <a:schemeClr val="bg1"/>
            </a:solidFill>
            <a:ln w="635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36000" rIns="0" bIns="36000" anchor="ctr"/>
            <a:lstStyle/>
            <a:p>
              <a:r>
                <a:rPr lang="ko-KR" altLang="en-US" sz="6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오전 </a:t>
              </a:r>
              <a:r>
                <a:rPr lang="en-US" altLang="ko-KR" sz="6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12 : 00</a:t>
              </a:r>
              <a:endParaRPr lang="en-US" sz="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2" name="Rectangle 143"/>
            <p:cNvSpPr/>
            <p:nvPr/>
          </p:nvSpPr>
          <p:spPr>
            <a:xfrm>
              <a:off x="2554028" y="1578588"/>
              <a:ext cx="648000" cy="180000"/>
            </a:xfrm>
            <a:prstGeom prst="rect">
              <a:avLst/>
            </a:prstGeom>
            <a:solidFill>
              <a:schemeClr val="bg1"/>
            </a:solidFill>
            <a:ln w="635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36000" rIns="0" bIns="36000" anchor="ctr"/>
            <a:lstStyle/>
            <a:p>
              <a:r>
                <a:rPr lang="ko-KR" altLang="en-US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오후 </a:t>
              </a:r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04 : 00</a:t>
              </a:r>
              <a:endPara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2397450" y="1556370"/>
              <a:ext cx="135221" cy="200055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spAutoFit/>
            </a:bodyPr>
            <a:lstStyle/>
            <a:p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~</a:t>
              </a:r>
              <a:endParaRPr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7" name="Triangle 942"/>
            <p:cNvSpPr>
              <a:spLocks noChangeAspect="1"/>
            </p:cNvSpPr>
            <p:nvPr/>
          </p:nvSpPr>
          <p:spPr>
            <a:xfrm flipV="1">
              <a:off x="2196249" y="1636971"/>
              <a:ext cx="108000" cy="61902"/>
            </a:xfrm>
            <a:prstGeom prst="triangl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33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ＭＳ Ｐゴシック" charset="0"/>
              </a:endParaRPr>
            </a:p>
          </p:txBody>
        </p:sp>
        <p:sp>
          <p:nvSpPr>
            <p:cNvPr id="208" name="Triangle 942"/>
            <p:cNvSpPr>
              <a:spLocks noChangeAspect="1"/>
            </p:cNvSpPr>
            <p:nvPr/>
          </p:nvSpPr>
          <p:spPr>
            <a:xfrm flipV="1">
              <a:off x="3050442" y="1640734"/>
              <a:ext cx="108000" cy="61902"/>
            </a:xfrm>
            <a:prstGeom prst="triangl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33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ＭＳ Ｐゴシック" charset="0"/>
              </a:endParaRPr>
            </a:p>
          </p:txBody>
        </p:sp>
      </p:grpSp>
      <p:sp>
        <p:nvSpPr>
          <p:cNvPr id="210" name="TextBox 209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간편등록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간편 보기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20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371760"/>
              </p:ext>
            </p:extLst>
          </p:nvPr>
        </p:nvGraphicFramePr>
        <p:xfrm>
          <a:off x="9286875" y="793264"/>
          <a:ext cx="2838450" cy="4901016"/>
        </p:xfrm>
        <a:graphic>
          <a:graphicData uri="http://schemas.openxmlformats.org/drawingml/2006/table">
            <a:tbl>
              <a:tblPr/>
              <a:tblGrid>
                <a:gridCol w="20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달력에서 선택된 날짜 기준으로 년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월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 정보가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출력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수정 불가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시간은 선택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시점의 현재 시간 기준으로 출력되며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b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30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분 단위로 세팅 가능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1-1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종일 체크시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①의 시간 항목과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기념일 체크박스 비활성화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기념일 체크시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①의 시간 항목과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종일 체크박스 비활성화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주간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일간 뷰형태에서 종일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기념일 영역을 선택해서 진입했을 경우 해당 정보로 기본 선택 처리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일정 상세 입력 팝업으로 전환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78123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4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입력된 정보가 유효하다면 일정 등록 완료 처리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69445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5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클릭시 일정 상세정보 화면으로 이동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반복일정으로 되어 있을 경우 클릭시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8page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출력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033208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6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반복일정을 등록했을 경우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반복 종료되는 시점도 출력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4701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7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일정 등록시 선택된 달력 모두 출력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193581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8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, “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일정을 복사하시겠습니까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?”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alert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출력 후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확인 클릭시 동일 일정으로 복사 처리</a:t>
                      </a:r>
                      <a:endParaRPr lang="en-US" altLang="ko-KR" sz="8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스퀘어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일정일 경우 해당 항목 출력하지 않음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869541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9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클릭시 해당 일정 삭제 처리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반복일정으로 되어 있을 경우 클릭시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8page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팝업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출력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내가 등록한 일정 또는 삭제 권한이 있을 경우에만 출력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68520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10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가입된 스퀘어가 있을 경우에만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개인달력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or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스퀘어 달력을 선택할 수 있는 항목 출력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979688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⑩에서 개인달력을 선택했을 경우 멀티 선택이 가능하고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스퀘어달력을 선택했을 경우 단일 선택만 가능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373121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1062351" y="1812671"/>
            <a:ext cx="1091890" cy="196977"/>
            <a:chOff x="3469515" y="1616011"/>
            <a:chExt cx="1091890" cy="196977"/>
          </a:xfrm>
        </p:grpSpPr>
        <p:grpSp>
          <p:nvGrpSpPr>
            <p:cNvPr id="21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<p:cNvGrpSpPr/>
            <p:nvPr>
              <p:custDataLst>
                <p:tags r:id="rId33"/>
              </p:custDataLst>
            </p:nvPr>
          </p:nvGrpSpPr>
          <p:grpSpPr>
            <a:xfrm>
              <a:off x="3469515" y="1616011"/>
              <a:ext cx="484473" cy="196977"/>
              <a:chOff x="554563" y="2599933"/>
              <a:chExt cx="484473" cy="196977"/>
            </a:xfrm>
          </p:grpSpPr>
          <p:sp>
            <p:nvSpPr>
              <p:cNvPr id="214" name="Box" descr="&lt;Tags&gt;&lt;SMARTRESIZEANCHORS&gt;None,None,Absolute,None&lt;/SMARTRESIZEANCHORS&gt;&lt;/Tags&gt;"/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5" name="Label" descr="&lt;Tags&gt;&lt;SMARTRESIZEANCHORS&gt;Absolute,Absolute,Absolute,Absolute&lt;/SMARTRESIZEANCHORS&gt;&lt;/Tags&gt;"/>
              <p:cNvSpPr txBox="1"/>
              <p:nvPr/>
            </p:nvSpPr>
            <p:spPr>
              <a:xfrm>
                <a:off x="686119" y="2599933"/>
                <a:ext cx="352917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종일</a:t>
                </a:r>
                <a:endParaRPr lang="en-US" sz="8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7" name="Check" descr="&lt;Tags&gt;&lt;SMARTRESIZEANCHORS&gt;None,None,Absolute,None&lt;/SMARTRESIZEANCHORS&gt;&lt;/Tags&gt;" hidden="1"/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2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<p:cNvGrpSpPr/>
            <p:nvPr>
              <p:custDataLst>
                <p:tags r:id="rId34"/>
              </p:custDataLst>
            </p:nvPr>
          </p:nvGrpSpPr>
          <p:grpSpPr>
            <a:xfrm>
              <a:off x="3974340" y="1616011"/>
              <a:ext cx="587065" cy="196977"/>
              <a:chOff x="554563" y="2599933"/>
              <a:chExt cx="587065" cy="196977"/>
            </a:xfrm>
          </p:grpSpPr>
          <p:sp>
            <p:nvSpPr>
              <p:cNvPr id="228" name="Box" descr="&lt;Tags&gt;&lt;SMARTRESIZEANCHORS&gt;None,None,Absolute,None&lt;/SMARTRESIZEANCHORS&gt;&lt;/Tags&gt;"/>
              <p:cNvSpPr/>
              <p:nvPr/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50" name="Label" descr="&lt;Tags&gt;&lt;SMARTRESIZEANCHORS&gt;Absolute,Absolute,Absolute,Absolute&lt;/SMARTRESIZEANCHORS&gt;&lt;/Tags&gt;"/>
              <p:cNvSpPr txBox="1"/>
              <p:nvPr/>
            </p:nvSpPr>
            <p:spPr>
              <a:xfrm>
                <a:off x="686119" y="2599933"/>
                <a:ext cx="455509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기념일</a:t>
                </a:r>
                <a:endParaRPr lang="en-US" sz="8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51" name="Check" descr="&lt;Tags&gt;&lt;SMARTRESIZEANCHORS&gt;None,None,Absolute,None&lt;/SMARTRESIZEANCHORS&gt;&lt;/Tags&gt;" hidden="1"/>
              <p:cNvSpPr>
                <a:spLocks noEditPoints="1"/>
              </p:cNvSpPr>
              <p:nvPr/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56" name="모서리가 둥근 직사각형 255"/>
          <p:cNvSpPr/>
          <p:nvPr/>
        </p:nvSpPr>
        <p:spPr>
          <a:xfrm>
            <a:off x="484962" y="2913050"/>
            <a:ext cx="608046" cy="21720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상세입력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2462016" y="2913050"/>
            <a:ext cx="973247" cy="217209"/>
            <a:chOff x="1242801" y="2789225"/>
            <a:chExt cx="1307711" cy="217209"/>
          </a:xfrm>
        </p:grpSpPr>
        <p:sp>
          <p:nvSpPr>
            <p:cNvPr id="257" name="모서리가 둥근 직사각형 256"/>
            <p:cNvSpPr/>
            <p:nvPr/>
          </p:nvSpPr>
          <p:spPr>
            <a:xfrm>
              <a:off x="1242801" y="2789225"/>
              <a:ext cx="608046" cy="21720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완료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8" name="모서리가 둥근 직사각형 257"/>
            <p:cNvSpPr/>
            <p:nvPr/>
          </p:nvSpPr>
          <p:spPr>
            <a:xfrm>
              <a:off x="1942466" y="2789225"/>
              <a:ext cx="608046" cy="217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취소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59" name="타원 258"/>
          <p:cNvSpPr>
            <a:spLocks noChangeAspect="1"/>
          </p:cNvSpPr>
          <p:nvPr/>
        </p:nvSpPr>
        <p:spPr>
          <a:xfrm>
            <a:off x="320209" y="1618616"/>
            <a:ext cx="147650" cy="14876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0" name="Rectangular Callout 441"/>
          <p:cNvSpPr/>
          <p:nvPr/>
        </p:nvSpPr>
        <p:spPr>
          <a:xfrm>
            <a:off x="244636" y="3864622"/>
            <a:ext cx="3506978" cy="2202241"/>
          </a:xfrm>
          <a:prstGeom prst="wedgeRectCallout">
            <a:avLst>
              <a:gd name="adj1" fmla="val -18981"/>
              <a:gd name="adj2" fmla="val -45799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grpSp>
        <p:nvGrpSpPr>
          <p:cNvPr id="262" name="그룹 261"/>
          <p:cNvGrpSpPr/>
          <p:nvPr/>
        </p:nvGrpSpPr>
        <p:grpSpPr>
          <a:xfrm>
            <a:off x="493750" y="4051917"/>
            <a:ext cx="3168000" cy="250322"/>
            <a:chOff x="493750" y="822942"/>
            <a:chExt cx="3168000" cy="250322"/>
          </a:xfrm>
        </p:grpSpPr>
        <p:sp>
          <p:nvSpPr>
            <p:cNvPr id="263" name="텍스트 상자 31"/>
            <p:cNvSpPr txBox="1"/>
            <p:nvPr/>
          </p:nvSpPr>
          <p:spPr>
            <a:xfrm>
              <a:off x="658091" y="822942"/>
              <a:ext cx="86926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ko-KR" altLang="en-US" sz="900" b="1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고객 영업 회의</a:t>
              </a:r>
              <a:endParaRPr kumimoji="1" lang="ko-KR" altLang="en-US" sz="9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cxnSp>
          <p:nvCxnSpPr>
            <p:cNvPr id="264" name="직선 연결선[R] 33"/>
            <p:cNvCxnSpPr/>
            <p:nvPr/>
          </p:nvCxnSpPr>
          <p:spPr>
            <a:xfrm>
              <a:off x="493750" y="1073264"/>
              <a:ext cx="316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7" name="Picture 3" descr="C:\Users\Administrator\Downloads\flag (1).png"/>
          <p:cNvPicPr>
            <a:picLocks noChangeAspect="1" noChangeArrowheads="1"/>
          </p:cNvPicPr>
          <p:nvPr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88" y="4056159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" name="모서리가 둥근 직사각형 265"/>
          <p:cNvSpPr/>
          <p:nvPr/>
        </p:nvSpPr>
        <p:spPr>
          <a:xfrm>
            <a:off x="3056712" y="3989375"/>
            <a:ext cx="608046" cy="21720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 상세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0" name="텍스트 상자 31"/>
          <p:cNvSpPr txBox="1"/>
          <p:nvPr/>
        </p:nvSpPr>
        <p:spPr>
          <a:xfrm>
            <a:off x="521192" y="449913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시간</a:t>
            </a:r>
            <a:endParaRPr kumimoji="1" lang="ko-KR" altLang="en-US" sz="8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2" name="텍스트 상자 31"/>
          <p:cNvSpPr txBox="1"/>
          <p:nvPr/>
        </p:nvSpPr>
        <p:spPr>
          <a:xfrm>
            <a:off x="915648" y="4447169"/>
            <a:ext cx="2989601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2017-12-04 (</a:t>
            </a:r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월</a:t>
            </a:r>
            <a:r>
              <a:rPr kumimoji="1" lang="en-US" altLang="ko-KR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) ~ 2017-12-08 (</a:t>
            </a:r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금</a:t>
            </a:r>
            <a:r>
              <a:rPr kumimoji="1" lang="en-US" altLang="ko-KR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) </a:t>
            </a:r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오전 </a:t>
            </a:r>
            <a:r>
              <a:rPr kumimoji="1" lang="en-US" altLang="ko-KR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10:00</a:t>
            </a:r>
            <a:r>
              <a:rPr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 </a:t>
            </a:r>
            <a:r>
              <a:rPr lang="en-US" altLang="ko-KR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~ </a:t>
            </a:r>
            <a:r>
              <a:rPr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오후 </a:t>
            </a:r>
            <a:r>
              <a:rPr lang="en-US" altLang="ko-KR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01:00</a:t>
            </a:r>
            <a:endParaRPr lang="en-US" altLang="ko-KR" sz="8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Malgun Gothic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매월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4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번째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rPr>
              <a:t>목요일 반복</a:t>
            </a:r>
            <a:endParaRPr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Malgun Gothic" charset="0"/>
            </a:endParaRPr>
          </a:p>
        </p:txBody>
      </p:sp>
      <p:sp>
        <p:nvSpPr>
          <p:cNvPr id="154" name="텍스트 상자 31"/>
          <p:cNvSpPr txBox="1"/>
          <p:nvPr/>
        </p:nvSpPr>
        <p:spPr>
          <a:xfrm>
            <a:off x="521192" y="4919220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작성자</a:t>
            </a:r>
            <a:endParaRPr kumimoji="1" lang="ko-KR" altLang="en-US" sz="8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5" name="텍스트 상자 31"/>
          <p:cNvSpPr txBox="1"/>
          <p:nvPr/>
        </p:nvSpPr>
        <p:spPr>
          <a:xfrm>
            <a:off x="915648" y="4919220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김핸디</a:t>
            </a:r>
            <a:endParaRPr kumimoji="1"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1" name="텍스트 상자 31"/>
          <p:cNvSpPr txBox="1"/>
          <p:nvPr/>
        </p:nvSpPr>
        <p:spPr>
          <a:xfrm>
            <a:off x="521192" y="5162288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달력</a:t>
            </a:r>
            <a:endParaRPr kumimoji="1" lang="ko-KR" altLang="en-US" sz="8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6" name="텍스트 상자 31"/>
          <p:cNvSpPr txBox="1"/>
          <p:nvPr/>
        </p:nvSpPr>
        <p:spPr>
          <a:xfrm>
            <a:off x="915647" y="5162769"/>
            <a:ext cx="195702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smtClean="0">
                <a:solidFill>
                  <a:srgbClr val="FF0066"/>
                </a:solidFill>
                <a:latin typeface="+mn-ea"/>
                <a:ea typeface="+mn-ea"/>
              </a:rPr>
              <a:t>■</a:t>
            </a:r>
            <a:r>
              <a:rPr kumimoji="1"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UX </a:t>
            </a:r>
            <a:r>
              <a:rPr kumimoji="1"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디자인팀</a:t>
            </a:r>
            <a:r>
              <a:rPr kumimoji="1"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>
                <a:solidFill>
                  <a:schemeClr val="accent3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</a:t>
            </a:r>
            <a:r>
              <a:rPr lang="ko-KR" altLang="en-US" sz="80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내가 등록한 달력</a:t>
            </a:r>
            <a:endParaRPr kumimoji="1"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67" name="모서리가 둥근 직사각형 266"/>
          <p:cNvSpPr/>
          <p:nvPr/>
        </p:nvSpPr>
        <p:spPr>
          <a:xfrm>
            <a:off x="484962" y="5570525"/>
            <a:ext cx="890241" cy="21720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 복사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8" name="모서리가 둥근 직사각형 267"/>
          <p:cNvSpPr/>
          <p:nvPr/>
        </p:nvSpPr>
        <p:spPr>
          <a:xfrm>
            <a:off x="3212228" y="5570525"/>
            <a:ext cx="452530" cy="21720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7" name="모서리가 둥근 직사각형 316"/>
          <p:cNvSpPr/>
          <p:nvPr/>
        </p:nvSpPr>
        <p:spPr>
          <a:xfrm>
            <a:off x="1430158" y="5570525"/>
            <a:ext cx="452530" cy="21720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삭제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8" name="모서리가 둥근 직사각형 317"/>
          <p:cNvSpPr/>
          <p:nvPr/>
        </p:nvSpPr>
        <p:spPr>
          <a:xfrm>
            <a:off x="1666875" y="4438650"/>
            <a:ext cx="933450" cy="200025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23" name="타원 322"/>
          <p:cNvSpPr>
            <a:spLocks noChangeAspect="1"/>
          </p:cNvSpPr>
          <p:nvPr/>
        </p:nvSpPr>
        <p:spPr>
          <a:xfrm>
            <a:off x="877524" y="1828178"/>
            <a:ext cx="147650" cy="14876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5" name="타원 324"/>
          <p:cNvSpPr>
            <a:spLocks noChangeAspect="1"/>
          </p:cNvSpPr>
          <p:nvPr/>
        </p:nvSpPr>
        <p:spPr>
          <a:xfrm>
            <a:off x="400219" y="2845436"/>
            <a:ext cx="147650" cy="14876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6" name="타원 325"/>
          <p:cNvSpPr>
            <a:spLocks noChangeAspect="1"/>
          </p:cNvSpPr>
          <p:nvPr/>
        </p:nvSpPr>
        <p:spPr>
          <a:xfrm>
            <a:off x="2389039" y="2845436"/>
            <a:ext cx="147650" cy="14876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7" name="타원 326"/>
          <p:cNvSpPr>
            <a:spLocks noChangeAspect="1"/>
          </p:cNvSpPr>
          <p:nvPr/>
        </p:nvSpPr>
        <p:spPr>
          <a:xfrm>
            <a:off x="2983399" y="3933191"/>
            <a:ext cx="147650" cy="14876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8" name="타원 327"/>
          <p:cNvSpPr>
            <a:spLocks noChangeAspect="1"/>
          </p:cNvSpPr>
          <p:nvPr/>
        </p:nvSpPr>
        <p:spPr>
          <a:xfrm>
            <a:off x="1611799" y="4375151"/>
            <a:ext cx="147650" cy="14876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6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9" name="타원 328"/>
          <p:cNvSpPr>
            <a:spLocks noChangeAspect="1"/>
          </p:cNvSpPr>
          <p:nvPr/>
        </p:nvSpPr>
        <p:spPr>
          <a:xfrm>
            <a:off x="354499" y="5137151"/>
            <a:ext cx="147650" cy="14876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0" name="타원 329"/>
          <p:cNvSpPr>
            <a:spLocks noChangeAspect="1"/>
          </p:cNvSpPr>
          <p:nvPr/>
        </p:nvSpPr>
        <p:spPr>
          <a:xfrm>
            <a:off x="423079" y="5495291"/>
            <a:ext cx="147650" cy="14876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8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1" name="타원 330"/>
          <p:cNvSpPr>
            <a:spLocks noChangeAspect="1"/>
          </p:cNvSpPr>
          <p:nvPr/>
        </p:nvSpPr>
        <p:spPr>
          <a:xfrm>
            <a:off x="1406059" y="5495291"/>
            <a:ext cx="147650" cy="14876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9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81375" y="473101"/>
            <a:ext cx="657225" cy="23174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CA6.1.1.1</a:t>
            </a:r>
            <a:endParaRPr lang="ko-KR" altLang="en-US" sz="8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32" name="TextBox 331"/>
          <p:cNvSpPr txBox="1"/>
          <p:nvPr/>
        </p:nvSpPr>
        <p:spPr>
          <a:xfrm>
            <a:off x="3381375" y="3616351"/>
            <a:ext cx="657225" cy="23174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CA6.1.1.2</a:t>
            </a:r>
            <a:endParaRPr lang="ko-KR" altLang="en-US" sz="8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672" y="2148432"/>
            <a:ext cx="1584095" cy="196977"/>
            <a:chOff x="6350272" y="4121166"/>
            <a:chExt cx="1584095" cy="196977"/>
          </a:xfrm>
        </p:grpSpPr>
        <p:grpSp>
          <p:nvGrpSpPr>
            <p:cNvPr id="104" name="그룹 103"/>
            <p:cNvGrpSpPr/>
            <p:nvPr/>
          </p:nvGrpSpPr>
          <p:grpSpPr>
            <a:xfrm>
              <a:off x="6373913" y="4121166"/>
              <a:ext cx="1560454" cy="196977"/>
              <a:chOff x="3491204" y="1616011"/>
              <a:chExt cx="1560454" cy="196977"/>
            </a:xfrm>
          </p:grpSpPr>
          <p:grpSp>
            <p:nvGrpSpPr>
              <p:cNvPr id="10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<p:cNvGrpSpPr/>
              <p:nvPr>
                <p:custDataLst>
                  <p:tags r:id="rId29"/>
                </p:custDataLst>
              </p:nvPr>
            </p:nvGrpSpPr>
            <p:grpSpPr>
              <a:xfrm>
                <a:off x="3491204" y="1616011"/>
                <a:ext cx="626407" cy="196977"/>
                <a:chOff x="576252" y="2599933"/>
                <a:chExt cx="626407" cy="196977"/>
              </a:xfrm>
            </p:grpSpPr>
            <p:sp>
              <p:nvSpPr>
                <p:cNvPr id="111" name="Label" descr="&lt;SmartSettings&gt;&lt;SmartResize anchorLeft=&quot;Absolute&quot; anchorTop=&quot;Absolute&quot; anchorRight=&quot;Absolute&quot; anchorBottom=&quot;Absolute&quot; /&gt;&lt;/SmartSettings&gt;"/>
                <p:cNvSpPr txBox="1"/>
                <p:nvPr>
                  <p:custDataLst>
                    <p:tags r:id="rId32"/>
                  </p:custDataLst>
                </p:nvPr>
              </p:nvSpPr>
              <p:spPr>
                <a:xfrm>
                  <a:off x="644557" y="2599933"/>
                  <a:ext cx="55810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smtClean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개인달력</a:t>
                  </a:r>
                  <a:endParaRPr lang="en-US" sz="8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12" name="Check" descr="&lt;Tags&gt;&lt;SMARTRESIZEANCHORS&gt;None,None,Absolute,None&lt;/SMARTRESIZEANCHORS&gt;&lt;/Tags&gt;" hidden="1"/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noFill/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0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<p:cNvGrpSpPr/>
              <p:nvPr>
                <p:custDataLst>
                  <p:tags r:id="rId30"/>
                </p:custDataLst>
              </p:nvPr>
            </p:nvGrpSpPr>
            <p:grpSpPr>
              <a:xfrm>
                <a:off x="3996029" y="1616011"/>
                <a:ext cx="1055629" cy="196977"/>
                <a:chOff x="576252" y="2599933"/>
                <a:chExt cx="1055629" cy="196977"/>
              </a:xfrm>
            </p:grpSpPr>
            <p:sp>
              <p:nvSpPr>
                <p:cNvPr id="108" name="Label" descr="&lt;SmartSettings&gt;&lt;SmartResize anchorLeft=&quot;Absolute&quot; anchorTop=&quot;Absolute&quot; anchorRight=&quot;Absolute&quot; anchorBottom=&quot;Absolute&quot; /&gt;&lt;/SmartSettings&gt;"/>
                <p:cNvSpPr txBox="1"/>
                <p:nvPr>
                  <p:custDataLst>
                    <p:tags r:id="rId31"/>
                  </p:custDataLst>
                </p:nvPr>
              </p:nvSpPr>
              <p:spPr>
                <a:xfrm>
                  <a:off x="653793" y="2599933"/>
                  <a:ext cx="978088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smtClean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         스퀘어달력</a:t>
                  </a:r>
                  <a:endParaRPr lang="en-US" sz="8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09" name="Check" descr="&lt;Tags&gt;&lt;SMARTRESIZEANCHORS&gt;None,None,Absolute,None&lt;/SMARTRESIZEANCHORS&gt;&lt;/Tags&gt;" hidden="1"/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noFill/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113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  <p:cNvGrpSpPr/>
            <p:nvPr>
              <p:custDataLst>
                <p:tags r:id="rId26"/>
              </p:custDataLst>
            </p:nvPr>
          </p:nvGrpSpPr>
          <p:grpSpPr>
            <a:xfrm>
              <a:off x="6350272" y="4145028"/>
              <a:ext cx="133350" cy="133350"/>
              <a:chOff x="593892" y="1624671"/>
              <a:chExt cx="133350" cy="133350"/>
            </a:xfrm>
          </p:grpSpPr>
          <p:sp>
            <p:nvSpPr>
              <p:cNvPr id="114" name="Circle" descr="&lt;Tags&gt;&lt;SMARTRESIZEANCHORS&gt;None,None,Absolute,None&lt;/SMARTRESIZEANCHORS&gt;&lt;/Tags&gt;"/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5" name="Check" descr="&lt;Tags&gt;&lt;SMARTRESIZEANCHORS&gt;None,None,Absolute,None&lt;/SMARTRESIZEANCHORS&gt;&lt;/Tags&gt;"/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  <p:cNvGrpSpPr/>
            <p:nvPr>
              <p:custDataLst>
                <p:tags r:id="rId27"/>
              </p:custDataLst>
            </p:nvPr>
          </p:nvGrpSpPr>
          <p:grpSpPr>
            <a:xfrm>
              <a:off x="7164612" y="4145028"/>
              <a:ext cx="133350" cy="133350"/>
              <a:chOff x="593892" y="1624671"/>
              <a:chExt cx="133350" cy="133350"/>
            </a:xfrm>
          </p:grpSpPr>
          <p:sp>
            <p:nvSpPr>
              <p:cNvPr id="118" name="Circle" descr="&lt;SmartSettings&gt;&lt;SmartResize anchorLeft=&quot;Absolute&quot; anchorTop=&quot;None&quot; anchorRight=&quot;None&quot; anchorBottom=&quot;None&quot; /&gt;&lt;/SmartSettings&gt;"/>
              <p:cNvSpPr/>
              <p:nvPr>
                <p:custDataLst>
                  <p:tags r:id="rId28"/>
                </p:custDataLst>
              </p:nvPr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9" name="Check" descr="&lt;Tags&gt;&lt;SMARTRESIZEANCHORS&gt;None,None,Absolute,None&lt;/SMARTRESIZEANCHORS&gt;&lt;/Tags&gt;" hidden="1"/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0" name="그룹 9"/>
          <p:cNvGrpSpPr/>
          <p:nvPr/>
        </p:nvGrpSpPr>
        <p:grpSpPr>
          <a:xfrm>
            <a:off x="1045050" y="2428624"/>
            <a:ext cx="2385210" cy="216177"/>
            <a:chOff x="1045050" y="2380999"/>
            <a:chExt cx="2385210" cy="216177"/>
          </a:xfrm>
        </p:grpSpPr>
        <p:sp>
          <p:nvSpPr>
            <p:cNvPr id="321" name="Rounded Rectangle 939"/>
            <p:cNvSpPr/>
            <p:nvPr/>
          </p:nvSpPr>
          <p:spPr>
            <a:xfrm>
              <a:off x="1045050" y="2380999"/>
              <a:ext cx="889854" cy="216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달력추가    ▼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1998125" y="2597176"/>
              <a:ext cx="1432135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타원 123"/>
          <p:cNvSpPr>
            <a:spLocks noChangeAspect="1"/>
          </p:cNvSpPr>
          <p:nvPr/>
        </p:nvSpPr>
        <p:spPr>
          <a:xfrm>
            <a:off x="832654" y="2152016"/>
            <a:ext cx="147650" cy="148760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12700" dist="38100" dir="2700000" sx="98000" sy="98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5" name="타원 124"/>
          <p:cNvSpPr>
            <a:spLocks noChangeAspect="1"/>
          </p:cNvSpPr>
          <p:nvPr/>
        </p:nvSpPr>
        <p:spPr>
          <a:xfrm>
            <a:off x="832654" y="2447291"/>
            <a:ext cx="147650" cy="148760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12700" dist="38100" dir="2700000" sx="98000" sy="98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5883750" y="742699"/>
            <a:ext cx="2385210" cy="2238626"/>
            <a:chOff x="4397850" y="742699"/>
            <a:chExt cx="2385210" cy="2238626"/>
          </a:xfrm>
        </p:grpSpPr>
        <p:grpSp>
          <p:nvGrpSpPr>
            <p:cNvPr id="126" name="그룹 125"/>
            <p:cNvGrpSpPr/>
            <p:nvPr/>
          </p:nvGrpSpPr>
          <p:grpSpPr>
            <a:xfrm>
              <a:off x="4397850" y="742699"/>
              <a:ext cx="2385210" cy="216177"/>
              <a:chOff x="1045050" y="2380999"/>
              <a:chExt cx="2385210" cy="216177"/>
            </a:xfrm>
          </p:grpSpPr>
          <p:sp>
            <p:nvSpPr>
              <p:cNvPr id="127" name="Rounded Rectangle 939"/>
              <p:cNvSpPr/>
              <p:nvPr/>
            </p:nvSpPr>
            <p:spPr>
              <a:xfrm>
                <a:off x="1045050" y="2380999"/>
                <a:ext cx="889854" cy="21600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달력추가    ▼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128" name="직선 연결선 127"/>
              <p:cNvCxnSpPr/>
              <p:nvPr/>
            </p:nvCxnSpPr>
            <p:spPr>
              <a:xfrm>
                <a:off x="1998125" y="2597176"/>
                <a:ext cx="1432135" cy="0"/>
              </a:xfrm>
              <a:prstGeom prst="line">
                <a:avLst/>
              </a:prstGeom>
              <a:ln w="3175">
                <a:solidFill>
                  <a:schemeClr val="tx1">
                    <a:lumMod val="95000"/>
                    <a:lumOff val="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그룹 12"/>
            <p:cNvGrpSpPr/>
            <p:nvPr/>
          </p:nvGrpSpPr>
          <p:grpSpPr>
            <a:xfrm>
              <a:off x="4404200" y="961773"/>
              <a:ext cx="2375873" cy="2019552"/>
              <a:chOff x="4404200" y="961773"/>
              <a:chExt cx="2375873" cy="2019552"/>
            </a:xfrm>
          </p:grpSpPr>
          <p:sp>
            <p:nvSpPr>
              <p:cNvPr id="129" name="Rounded Rectangle 939"/>
              <p:cNvSpPr/>
              <p:nvPr/>
            </p:nvSpPr>
            <p:spPr>
              <a:xfrm>
                <a:off x="4404200" y="961773"/>
                <a:ext cx="2375873" cy="2019552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endParaRPr lang="ko-KR" alt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130" name="직선 연결선 129"/>
              <p:cNvCxnSpPr/>
              <p:nvPr/>
            </p:nvCxnSpPr>
            <p:spPr>
              <a:xfrm>
                <a:off x="4484948" y="2591019"/>
                <a:ext cx="2199776" cy="0"/>
              </a:xfrm>
              <a:prstGeom prst="line">
                <a:avLst/>
              </a:prstGeom>
              <a:ln w="3175">
                <a:solidFill>
                  <a:schemeClr val="tx1">
                    <a:lumMod val="95000"/>
                    <a:lumOff val="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모서리가 둥근 직사각형 130"/>
              <p:cNvSpPr/>
              <p:nvPr/>
            </p:nvSpPr>
            <p:spPr>
              <a:xfrm>
                <a:off x="6604180" y="1074182"/>
                <a:ext cx="66675" cy="54126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132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773659" y="1090717"/>
                <a:ext cx="734432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내가 등록한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..</a:t>
                </a:r>
                <a:endParaRPr 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3" name="직사각형 132"/>
              <p:cNvSpPr/>
              <p:nvPr/>
            </p:nvSpPr>
            <p:spPr>
              <a:xfrm>
                <a:off x="4731761" y="1140902"/>
                <a:ext cx="84884" cy="92835"/>
              </a:xfrm>
              <a:prstGeom prst="rect">
                <a:avLst/>
              </a:prstGeom>
              <a:solidFill>
                <a:srgbClr val="FF0066"/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grpSp>
            <p:nvGrpSpPr>
              <p:cNvPr id="13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<p:cNvGrpSpPr/>
              <p:nvPr>
                <p:custDataLst>
                  <p:tags r:id="rId12"/>
                </p:custDataLst>
              </p:nvPr>
            </p:nvGrpSpPr>
            <p:grpSpPr>
              <a:xfrm>
                <a:off x="4531654" y="1118311"/>
                <a:ext cx="131556" cy="131556"/>
                <a:chOff x="554563" y="2625500"/>
                <a:chExt cx="131556" cy="131556"/>
              </a:xfrm>
            </p:grpSpPr>
            <p:sp>
              <p:nvSpPr>
                <p:cNvPr id="135" name="Box" descr="&lt;SmartSettings&gt;&lt;SmartResize anchorLeft=&quot;Absolute&quot; anchorTop=&quot;None&quot; anchorRight=&quot;None&quot; anchorBottom=&quot;None&quot; /&gt;&lt;/SmartSettings&gt;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554563" y="2625500"/>
                  <a:ext cx="131556" cy="13155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 smtClean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36" name="Check" descr="&lt;Tags&gt;&lt;SMARTRESIZEANCHORS&gt;None,None,Absolute,None&lt;/SMARTRESIZEANCHORS&gt;&lt;/Tags&gt;"/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noFill/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38" name="그룹 137"/>
              <p:cNvGrpSpPr/>
              <p:nvPr/>
            </p:nvGrpSpPr>
            <p:grpSpPr>
              <a:xfrm>
                <a:off x="4531654" y="1387778"/>
                <a:ext cx="1005291" cy="196977"/>
                <a:chOff x="9713254" y="4453042"/>
                <a:chExt cx="1005291" cy="196977"/>
              </a:xfrm>
            </p:grpSpPr>
            <p:sp>
              <p:nvSpPr>
                <p:cNvPr id="139" name="Label" descr="&lt;SmartSettings&gt;&lt;SmartResize anchorLeft=&quot;Absolute&quot; anchorTop=&quot;Absolute&quot; anchorRight=&quot;Absolute&quot; anchorBottom=&quot;Absolute&quot; /&gt;&lt;/SmartSettings&gt;"/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9955259" y="4453042"/>
                  <a:ext cx="763286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내가 등록한</a:t>
                  </a: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..</a:t>
                  </a:r>
                  <a:r>
                    <a:rPr lang="ko-KR" altLang="en-US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endParaRPr 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40" name="직사각형 139"/>
                <p:cNvSpPr/>
                <p:nvPr/>
              </p:nvSpPr>
              <p:spPr>
                <a:xfrm>
                  <a:off x="9913361" y="4503227"/>
                  <a:ext cx="84884" cy="92835"/>
                </a:xfrm>
                <a:prstGeom prst="rect">
                  <a:avLst/>
                </a:prstGeom>
                <a:solidFill>
                  <a:srgbClr val="92D050"/>
                </a:solidFill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  <p:grpSp>
              <p:nvGrpSpPr>
                <p:cNvPr id="14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  <p:cNvGrpSpPr/>
                <p:nvPr>
                  <p:custDataLst>
                    <p:tags r:id="rId23"/>
                  </p:custDataLst>
                </p:nvPr>
              </p:nvGrpSpPr>
              <p:grpSpPr>
                <a:xfrm>
                  <a:off x="9713254" y="4480636"/>
                  <a:ext cx="131556" cy="131556"/>
                  <a:chOff x="554563" y="2625500"/>
                  <a:chExt cx="131556" cy="131556"/>
                </a:xfrm>
              </p:grpSpPr>
              <p:sp>
                <p:nvSpPr>
                  <p:cNvPr id="142" name="Box" descr="&lt;SmartSettings&gt;&lt;SmartResize anchorLeft=&quot;Absolute&quot; anchorTop=&quot;None&quot; anchorRight=&quot;None&quot; anchorBottom=&quot;None&quot; /&gt;&lt;/SmartSettings&gt;"/>
                  <p:cNvSpPr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554563" y="2625500"/>
                    <a:ext cx="131556" cy="131556"/>
                  </a:xfrm>
                  <a:prstGeom prst="rect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80808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900" dirty="0" smtClean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43" name="Check" descr="&lt;Tags&gt;&lt;SMARTRESIZEANCHORS&gt;None,None,Absolute,None&lt;/SMARTRESIZEANCHORS&gt;&lt;/Tags&gt;" hidden="1"/>
                  <p:cNvSpPr>
                    <a:spLocks noEditPoints="1"/>
                  </p:cNvSpPr>
                  <p:nvPr/>
                </p:nvSpPr>
                <p:spPr bwMode="auto">
                  <a:xfrm>
                    <a:off x="576252" y="2653644"/>
                    <a:ext cx="88178" cy="89556"/>
                  </a:xfrm>
                  <a:custGeom>
                    <a:avLst/>
                    <a:gdLst>
                      <a:gd name="T0" fmla="*/ 275 w 275"/>
                      <a:gd name="T1" fmla="*/ 0 h 275"/>
                      <a:gd name="T2" fmla="*/ 0 w 275"/>
                      <a:gd name="T3" fmla="*/ 275 h 275"/>
                      <a:gd name="T4" fmla="*/ 0 w 275"/>
                      <a:gd name="T5" fmla="*/ 0 h 275"/>
                      <a:gd name="T6" fmla="*/ 275 w 275"/>
                      <a:gd name="T7" fmla="*/ 275 h 2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75" h="275">
                        <a:moveTo>
                          <a:pt x="275" y="0"/>
                        </a:moveTo>
                        <a:lnTo>
                          <a:pt x="0" y="275"/>
                        </a:lnTo>
                        <a:moveTo>
                          <a:pt x="0" y="0"/>
                        </a:moveTo>
                        <a:lnTo>
                          <a:pt x="275" y="275"/>
                        </a:lnTo>
                      </a:path>
                    </a:pathLst>
                  </a:custGeom>
                  <a:noFill/>
                  <a:ln w="6350" cap="flat">
                    <a:solidFill>
                      <a:srgbClr val="80808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44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773659" y="1684839"/>
                <a:ext cx="734432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내가 등록한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..</a:t>
                </a:r>
                <a:endParaRPr 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5" name="직사각형 144"/>
              <p:cNvSpPr/>
              <p:nvPr/>
            </p:nvSpPr>
            <p:spPr>
              <a:xfrm>
                <a:off x="4731761" y="1735024"/>
                <a:ext cx="84884" cy="9283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grpSp>
            <p:nvGrpSpPr>
              <p:cNvPr id="14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<p:cNvGrpSpPr/>
              <p:nvPr>
                <p:custDataLst>
                  <p:tags r:id="rId14"/>
                </p:custDataLst>
              </p:nvPr>
            </p:nvGrpSpPr>
            <p:grpSpPr>
              <a:xfrm>
                <a:off x="4531654" y="1712433"/>
                <a:ext cx="131556" cy="131556"/>
                <a:chOff x="554563" y="2625500"/>
                <a:chExt cx="131556" cy="131556"/>
              </a:xfrm>
            </p:grpSpPr>
            <p:sp>
              <p:nvSpPr>
                <p:cNvPr id="147" name="Box" descr="&lt;SmartSettings&gt;&lt;SmartResize anchorLeft=&quot;Absolute&quot; anchorTop=&quot;None&quot; anchorRight=&quot;None&quot; anchorBottom=&quot;None&quot; /&gt;&lt;/SmartSettings&gt;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554563" y="2625500"/>
                  <a:ext cx="131556" cy="13155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 smtClean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48" name="Check" descr="&lt;Tags&gt;&lt;SMARTRESIZEANCHORS&gt;None,None,Absolute,None&lt;/SMARTRESIZEANCHORS&gt;&lt;/Tags&gt;"/>
                <p:cNvSpPr>
                  <a:spLocks noEditPoints="1"/>
                </p:cNvSpPr>
                <p:nvPr/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noFill/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49" name="그룹 148"/>
              <p:cNvGrpSpPr/>
              <p:nvPr/>
            </p:nvGrpSpPr>
            <p:grpSpPr>
              <a:xfrm>
                <a:off x="4531654" y="1981900"/>
                <a:ext cx="976437" cy="196977"/>
                <a:chOff x="9713254" y="4453042"/>
                <a:chExt cx="976437" cy="196977"/>
              </a:xfrm>
            </p:grpSpPr>
            <p:sp>
              <p:nvSpPr>
                <p:cNvPr id="153" name="Label" descr="&lt;SmartSettings&gt;&lt;SmartResize anchorLeft=&quot;Absolute&quot; anchorTop=&quot;Absolute&quot; anchorRight=&quot;Absolute&quot; anchorBottom=&quot;Absolute&quot; /&gt;&lt;/SmartSettings&gt;"/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9955259" y="4453042"/>
                  <a:ext cx="73443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내가 등록한</a:t>
                  </a: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..</a:t>
                  </a:r>
                  <a:endParaRPr 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57" name="직사각형 156"/>
                <p:cNvSpPr/>
                <p:nvPr/>
              </p:nvSpPr>
              <p:spPr>
                <a:xfrm>
                  <a:off x="9913361" y="4503227"/>
                  <a:ext cx="84884" cy="92835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  <p:grpSp>
              <p:nvGrpSpPr>
                <p:cNvPr id="15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  <p:cNvGrpSpPr/>
                <p:nvPr>
                  <p:custDataLst>
                    <p:tags r:id="rId19"/>
                  </p:custDataLst>
                </p:nvPr>
              </p:nvGrpSpPr>
              <p:grpSpPr>
                <a:xfrm>
                  <a:off x="9713254" y="4480636"/>
                  <a:ext cx="131556" cy="131556"/>
                  <a:chOff x="554563" y="2625500"/>
                  <a:chExt cx="131556" cy="131556"/>
                </a:xfrm>
              </p:grpSpPr>
              <p:sp>
                <p:nvSpPr>
                  <p:cNvPr id="159" name="Box" descr="&lt;SmartSettings&gt;&lt;SmartResize anchorLeft=&quot;Absolute&quot; anchorTop=&quot;None&quot; anchorRight=&quot;None&quot; anchorBottom=&quot;None&quot; /&gt;&lt;/SmartSettings&gt;"/>
                  <p:cNvSpPr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554563" y="2625500"/>
                    <a:ext cx="131556" cy="131556"/>
                  </a:xfrm>
                  <a:prstGeom prst="rect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80808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900" dirty="0" smtClean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65" name="Check" descr="&lt;Tags&gt;&lt;SMARTRESIZEANCHORS&gt;None,None,Absolute,None&lt;/SMARTRESIZEANCHORS&gt;&lt;/Tags&gt;" hidden="1"/>
                  <p:cNvSpPr>
                    <a:spLocks noEditPoints="1"/>
                  </p:cNvSpPr>
                  <p:nvPr/>
                </p:nvSpPr>
                <p:spPr bwMode="auto">
                  <a:xfrm>
                    <a:off x="576252" y="2653644"/>
                    <a:ext cx="88178" cy="89556"/>
                  </a:xfrm>
                  <a:custGeom>
                    <a:avLst/>
                    <a:gdLst>
                      <a:gd name="T0" fmla="*/ 275 w 275"/>
                      <a:gd name="T1" fmla="*/ 0 h 275"/>
                      <a:gd name="T2" fmla="*/ 0 w 275"/>
                      <a:gd name="T3" fmla="*/ 275 h 275"/>
                      <a:gd name="T4" fmla="*/ 0 w 275"/>
                      <a:gd name="T5" fmla="*/ 0 h 275"/>
                      <a:gd name="T6" fmla="*/ 275 w 275"/>
                      <a:gd name="T7" fmla="*/ 275 h 2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75" h="275">
                        <a:moveTo>
                          <a:pt x="275" y="0"/>
                        </a:moveTo>
                        <a:lnTo>
                          <a:pt x="0" y="275"/>
                        </a:lnTo>
                        <a:moveTo>
                          <a:pt x="0" y="0"/>
                        </a:moveTo>
                        <a:lnTo>
                          <a:pt x="275" y="275"/>
                        </a:lnTo>
                      </a:path>
                    </a:pathLst>
                  </a:custGeom>
                  <a:noFill/>
                  <a:ln w="6350" cap="flat">
                    <a:solidFill>
                      <a:srgbClr val="80808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grpSp>
            <p:nvGrpSpPr>
              <p:cNvPr id="166" name="그룹 165"/>
              <p:cNvGrpSpPr/>
              <p:nvPr/>
            </p:nvGrpSpPr>
            <p:grpSpPr>
              <a:xfrm>
                <a:off x="4531654" y="2278961"/>
                <a:ext cx="976437" cy="196977"/>
                <a:chOff x="9713254" y="4453042"/>
                <a:chExt cx="976437" cy="196977"/>
              </a:xfrm>
            </p:grpSpPr>
            <p:sp>
              <p:nvSpPr>
                <p:cNvPr id="167" name="Label" descr="&lt;SmartSettings&gt;&lt;SmartResize anchorLeft=&quot;Absolute&quot; anchorTop=&quot;Absolute&quot; anchorRight=&quot;Absolute&quot; anchorBottom=&quot;Absolute&quot; /&gt;&lt;/SmartSettings&gt;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9955259" y="4453042"/>
                  <a:ext cx="734432" cy="196977"/>
                </a:xfrm>
                <a:prstGeom prst="rect">
                  <a:avLst/>
                </a:prstGeom>
                <a:noFill/>
              </p:spPr>
              <p:txBody>
                <a:bodyPr wrap="none" lIns="73152" tIns="36576" rIns="73152" bIns="36576" rtlCol="0" anchor="ctr" anchorCtr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내가 등록한</a:t>
                  </a:r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..</a:t>
                  </a:r>
                  <a:endParaRPr 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69" name="직사각형 168"/>
                <p:cNvSpPr/>
                <p:nvPr/>
              </p:nvSpPr>
              <p:spPr>
                <a:xfrm>
                  <a:off x="9913361" y="4503227"/>
                  <a:ext cx="84884" cy="92835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</p:spPr>
              <p:txBody>
                <a:bodyPr wrap="none" lIns="36000" tIns="36000" rIns="36000" bIns="36000" rtlCol="0" anchor="ctr">
                  <a:no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1000"/>
                    </a:spcAft>
                  </a:pPr>
                  <a:endParaRPr lang="ko-KR" altLang="en-US" sz="8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itchFamily="50" charset="-127"/>
                    <a:ea typeface="나눔고딕" pitchFamily="50" charset="-127"/>
                  </a:endParaRPr>
                </a:p>
              </p:txBody>
            </p:sp>
            <p:grpSp>
              <p:nvGrpSpPr>
                <p:cNvPr id="17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  <p:cNvGrpSpPr/>
                <p:nvPr>
                  <p:custDataLst>
                    <p:tags r:id="rId16"/>
                  </p:custDataLst>
                </p:nvPr>
              </p:nvGrpSpPr>
              <p:grpSpPr>
                <a:xfrm>
                  <a:off x="9713254" y="4480636"/>
                  <a:ext cx="131556" cy="131556"/>
                  <a:chOff x="554563" y="2625500"/>
                  <a:chExt cx="131556" cy="131556"/>
                </a:xfrm>
              </p:grpSpPr>
              <p:sp>
                <p:nvSpPr>
                  <p:cNvPr id="173" name="Box" descr="&lt;SmartSettings&gt;&lt;SmartResize anchorLeft=&quot;Absolute&quot; anchorTop=&quot;None&quot; anchorRight=&quot;None&quot; anchorBottom=&quot;None&quot; /&gt;&lt;/SmartSettings&gt;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554563" y="2625500"/>
                    <a:ext cx="131556" cy="131556"/>
                  </a:xfrm>
                  <a:prstGeom prst="rect">
                    <a:avLst/>
                  </a:prstGeom>
                  <a:solidFill>
                    <a:srgbClr val="FFFFFF"/>
                  </a:solidFill>
                  <a:ln w="6350">
                    <a:solidFill>
                      <a:srgbClr val="80808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900" dirty="0" smtClean="0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75" name="Check" descr="&lt;Tags&gt;&lt;SMARTRESIZEANCHORS&gt;None,None,Absolute,None&lt;/SMARTRESIZEANCHORS&gt;&lt;/Tags&gt;" hidden="1"/>
                  <p:cNvSpPr>
                    <a:spLocks noEditPoints="1"/>
                  </p:cNvSpPr>
                  <p:nvPr/>
                </p:nvSpPr>
                <p:spPr bwMode="auto">
                  <a:xfrm>
                    <a:off x="576252" y="2653644"/>
                    <a:ext cx="88178" cy="89556"/>
                  </a:xfrm>
                  <a:custGeom>
                    <a:avLst/>
                    <a:gdLst>
                      <a:gd name="T0" fmla="*/ 275 w 275"/>
                      <a:gd name="T1" fmla="*/ 0 h 275"/>
                      <a:gd name="T2" fmla="*/ 0 w 275"/>
                      <a:gd name="T3" fmla="*/ 275 h 275"/>
                      <a:gd name="T4" fmla="*/ 0 w 275"/>
                      <a:gd name="T5" fmla="*/ 0 h 275"/>
                      <a:gd name="T6" fmla="*/ 275 w 275"/>
                      <a:gd name="T7" fmla="*/ 275 h 2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75" h="275">
                        <a:moveTo>
                          <a:pt x="275" y="0"/>
                        </a:moveTo>
                        <a:lnTo>
                          <a:pt x="0" y="275"/>
                        </a:lnTo>
                        <a:moveTo>
                          <a:pt x="0" y="0"/>
                        </a:moveTo>
                        <a:lnTo>
                          <a:pt x="275" y="275"/>
                        </a:lnTo>
                      </a:path>
                    </a:pathLst>
                  </a:custGeom>
                  <a:noFill/>
                  <a:ln w="6350" cap="flat">
                    <a:solidFill>
                      <a:srgbClr val="808080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>
                      <a:solidFill>
                        <a:srgbClr val="5F5F5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sp>
            <p:nvSpPr>
              <p:cNvPr id="176" name="Rounded Rectangle 448"/>
              <p:cNvSpPr/>
              <p:nvPr/>
            </p:nvSpPr>
            <p:spPr>
              <a:xfrm>
                <a:off x="5283370" y="2711078"/>
                <a:ext cx="432000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확인</a:t>
                </a:r>
                <a:endPara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15" name="그룹 14"/>
          <p:cNvGrpSpPr/>
          <p:nvPr/>
        </p:nvGrpSpPr>
        <p:grpSpPr>
          <a:xfrm>
            <a:off x="5883750" y="3808260"/>
            <a:ext cx="2385210" cy="2229101"/>
            <a:chOff x="4397850" y="3808260"/>
            <a:chExt cx="2385210" cy="2229101"/>
          </a:xfrm>
        </p:grpSpPr>
        <p:grpSp>
          <p:nvGrpSpPr>
            <p:cNvPr id="178" name="그룹 177"/>
            <p:cNvGrpSpPr/>
            <p:nvPr/>
          </p:nvGrpSpPr>
          <p:grpSpPr>
            <a:xfrm>
              <a:off x="4397850" y="3808260"/>
              <a:ext cx="2385210" cy="216177"/>
              <a:chOff x="1045050" y="2380999"/>
              <a:chExt cx="2385210" cy="216177"/>
            </a:xfrm>
          </p:grpSpPr>
          <p:sp>
            <p:nvSpPr>
              <p:cNvPr id="179" name="Rounded Rectangle 939"/>
              <p:cNvSpPr/>
              <p:nvPr/>
            </p:nvSpPr>
            <p:spPr>
              <a:xfrm>
                <a:off x="1045050" y="2380999"/>
                <a:ext cx="889854" cy="216000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달력추가    ▼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cxnSp>
            <p:nvCxnSpPr>
              <p:cNvPr id="180" name="직선 연결선 179"/>
              <p:cNvCxnSpPr/>
              <p:nvPr/>
            </p:nvCxnSpPr>
            <p:spPr>
              <a:xfrm>
                <a:off x="1998125" y="2597176"/>
                <a:ext cx="1432135" cy="0"/>
              </a:xfrm>
              <a:prstGeom prst="line">
                <a:avLst/>
              </a:prstGeom>
              <a:ln w="3175">
                <a:solidFill>
                  <a:schemeClr val="tx1">
                    <a:lumMod val="95000"/>
                    <a:lumOff val="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2" name="Rounded Rectangle 939"/>
            <p:cNvSpPr/>
            <p:nvPr/>
          </p:nvSpPr>
          <p:spPr>
            <a:xfrm>
              <a:off x="4404200" y="4017809"/>
              <a:ext cx="2375873" cy="201955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cap="flat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endPara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endParaRPr>
            </a:p>
          </p:txBody>
        </p:sp>
        <p:cxnSp>
          <p:nvCxnSpPr>
            <p:cNvPr id="183" name="직선 연결선 182"/>
            <p:cNvCxnSpPr/>
            <p:nvPr/>
          </p:nvCxnSpPr>
          <p:spPr>
            <a:xfrm>
              <a:off x="4484948" y="5647055"/>
              <a:ext cx="2199776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모서리가 둥근 직사각형 183"/>
            <p:cNvSpPr/>
            <p:nvPr/>
          </p:nvSpPr>
          <p:spPr>
            <a:xfrm>
              <a:off x="6604180" y="4130218"/>
              <a:ext cx="66675" cy="5412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85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1"/>
              </p:custDataLst>
            </p:nvPr>
          </p:nvSpPr>
          <p:spPr>
            <a:xfrm>
              <a:off x="4773659" y="4146753"/>
              <a:ext cx="745653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스퀘어 달력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  <a:endParaRPr 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4731761" y="4196938"/>
              <a:ext cx="84884" cy="92835"/>
            </a:xfrm>
            <a:prstGeom prst="rect">
              <a:avLst/>
            </a:prstGeom>
            <a:solidFill>
              <a:srgbClr val="FF0066"/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grpSp>
          <p:nvGrpSpPr>
            <p:cNvPr id="188" name="그룹 187"/>
            <p:cNvGrpSpPr/>
            <p:nvPr/>
          </p:nvGrpSpPr>
          <p:grpSpPr>
            <a:xfrm>
              <a:off x="4553343" y="4443814"/>
              <a:ext cx="965969" cy="196977"/>
              <a:chOff x="9734943" y="4453042"/>
              <a:chExt cx="965969" cy="196977"/>
            </a:xfrm>
          </p:grpSpPr>
          <p:sp>
            <p:nvSpPr>
              <p:cNvPr id="237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955259" y="4453042"/>
                <a:ext cx="745653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스퀘어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달력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</a:t>
                </a:r>
                <a:endParaRPr 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38" name="직사각형 237"/>
              <p:cNvSpPr/>
              <p:nvPr/>
            </p:nvSpPr>
            <p:spPr>
              <a:xfrm>
                <a:off x="9913361" y="4503227"/>
                <a:ext cx="84884" cy="92835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255" name="Check" descr="&lt;Tags&gt;&lt;SMARTRESIZEANCHORS&gt;None,None,Absolute,None&lt;/SMARTRESIZEANCHORS&gt;&lt;/Tags&gt;" hidden="1"/>
              <p:cNvSpPr>
                <a:spLocks noEditPoints="1"/>
              </p:cNvSpPr>
              <p:nvPr/>
            </p:nvSpPr>
            <p:spPr bwMode="auto">
              <a:xfrm>
                <a:off x="9734943" y="4508780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89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2"/>
              </p:custDataLst>
            </p:nvPr>
          </p:nvSpPr>
          <p:spPr>
            <a:xfrm>
              <a:off x="4773659" y="4740875"/>
              <a:ext cx="745653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스퀘어 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달력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  <a:endParaRPr 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4731761" y="4791060"/>
              <a:ext cx="84884" cy="92835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grpSp>
          <p:nvGrpSpPr>
            <p:cNvPr id="192" name="그룹 191"/>
            <p:cNvGrpSpPr/>
            <p:nvPr/>
          </p:nvGrpSpPr>
          <p:grpSpPr>
            <a:xfrm>
              <a:off x="4553343" y="5037936"/>
              <a:ext cx="965969" cy="196977"/>
              <a:chOff x="9734943" y="4453042"/>
              <a:chExt cx="965969" cy="196977"/>
            </a:xfrm>
          </p:grpSpPr>
          <p:sp>
            <p:nvSpPr>
              <p:cNvPr id="200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955259" y="4453042"/>
                <a:ext cx="745653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스퀘어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달력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4</a:t>
                </a:r>
                <a:endParaRPr 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01" name="직사각형 200"/>
              <p:cNvSpPr/>
              <p:nvPr/>
            </p:nvSpPr>
            <p:spPr>
              <a:xfrm>
                <a:off x="9913361" y="4503227"/>
                <a:ext cx="84884" cy="9283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209" name="Check" descr="&lt;Tags&gt;&lt;SMARTRESIZEANCHORS&gt;None,None,Absolute,None&lt;/SMARTRESIZEANCHORS&gt;&lt;/Tags&gt;" hidden="1"/>
              <p:cNvSpPr>
                <a:spLocks noEditPoints="1"/>
              </p:cNvSpPr>
              <p:nvPr/>
            </p:nvSpPr>
            <p:spPr bwMode="auto">
              <a:xfrm>
                <a:off x="9734943" y="4508780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93" name="그룹 192"/>
            <p:cNvGrpSpPr/>
            <p:nvPr/>
          </p:nvGrpSpPr>
          <p:grpSpPr>
            <a:xfrm>
              <a:off x="4553343" y="5334997"/>
              <a:ext cx="965969" cy="196977"/>
              <a:chOff x="9734943" y="4453042"/>
              <a:chExt cx="965969" cy="196977"/>
            </a:xfrm>
          </p:grpSpPr>
          <p:sp>
            <p:nvSpPr>
              <p:cNvPr id="195" name="Label" descr="&lt;SmartSettings&gt;&lt;SmartResize anchorLeft=&quot;Absolute&quot; anchorTop=&quot;Absolute&quot; anchorRight=&quot;Absolute&quot; anchorBottom=&quot;Absolute&quot; /&gt;&lt;/SmartSettings&gt;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9955259" y="4453042"/>
                <a:ext cx="745653" cy="196977"/>
              </a:xfrm>
              <a:prstGeom prst="rect">
                <a:avLst/>
              </a:prstGeom>
              <a:noFill/>
            </p:spPr>
            <p:txBody>
              <a:bodyPr wrap="none" lIns="73152" tIns="36576" rIns="73152" bIns="36576" rtlCol="0" anchor="ctr" anchorCtr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스퀘어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달력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5</a:t>
                </a:r>
                <a:endParaRPr 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96" name="직사각형 195"/>
              <p:cNvSpPr/>
              <p:nvPr/>
            </p:nvSpPr>
            <p:spPr>
              <a:xfrm>
                <a:off x="9913361" y="4503227"/>
                <a:ext cx="84884" cy="92835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199" name="Check" descr="&lt;Tags&gt;&lt;SMARTRESIZEANCHORS&gt;None,None,Absolute,None&lt;/SMARTRESIZEANCHORS&gt;&lt;/Tags&gt;" hidden="1"/>
              <p:cNvSpPr>
                <a:spLocks noEditPoints="1"/>
              </p:cNvSpPr>
              <p:nvPr/>
            </p:nvSpPr>
            <p:spPr bwMode="auto">
              <a:xfrm>
                <a:off x="9734943" y="4508780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94" name="Rounded Rectangle 448"/>
            <p:cNvSpPr/>
            <p:nvPr/>
          </p:nvSpPr>
          <p:spPr>
            <a:xfrm>
              <a:off x="5283370" y="5767114"/>
              <a:ext cx="432000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확인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69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4532537" y="4172544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0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4"/>
              </p:custDataLst>
            </p:nvPr>
          </p:nvSpPr>
          <p:spPr>
            <a:xfrm>
              <a:off x="4532537" y="4477344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1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5"/>
              </p:custDataLst>
            </p:nvPr>
          </p:nvSpPr>
          <p:spPr>
            <a:xfrm>
              <a:off x="4532537" y="4774524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2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4532537" y="5064084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3" name="Circle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4532537" y="5368884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19774" y="491317"/>
            <a:ext cx="923925" cy="261158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개인달력일 경우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5819774" y="3539317"/>
            <a:ext cx="923925" cy="261158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스퀘어달력일 경우</a:t>
            </a:r>
          </a:p>
        </p:txBody>
      </p:sp>
      <p:sp>
        <p:nvSpPr>
          <p:cNvPr id="19" name="모서리가 둥근 직사각형 18"/>
          <p:cNvSpPr/>
          <p:nvPr/>
        </p:nvSpPr>
        <p:spPr>
          <a:xfrm>
            <a:off x="971550" y="2343744"/>
            <a:ext cx="2667000" cy="405434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00FF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1" name="꺾인 연결선 20"/>
          <p:cNvCxnSpPr>
            <a:stCxn id="18" idx="1"/>
            <a:endCxn id="274" idx="1"/>
          </p:cNvCxnSpPr>
          <p:nvPr/>
        </p:nvCxnSpPr>
        <p:spPr>
          <a:xfrm rot="10800000" flipV="1">
            <a:off x="5819774" y="621896"/>
            <a:ext cx="12700" cy="3048000"/>
          </a:xfrm>
          <a:prstGeom prst="bentConnector3">
            <a:avLst>
              <a:gd name="adj1" fmla="val 1800000"/>
            </a:avLst>
          </a:prstGeom>
          <a:ln w="3175">
            <a:solidFill>
              <a:srgbClr val="0000FF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V="1">
            <a:off x="3712331" y="2539849"/>
            <a:ext cx="1837031" cy="177"/>
          </a:xfrm>
          <a:prstGeom prst="straightConnector1">
            <a:avLst/>
          </a:prstGeom>
          <a:ln w="3175">
            <a:solidFill>
              <a:srgbClr val="0000FF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587548"/>
              </p:ext>
            </p:extLst>
          </p:nvPr>
        </p:nvGraphicFramePr>
        <p:xfrm>
          <a:off x="9286875" y="6198808"/>
          <a:ext cx="2838450" cy="471256"/>
        </p:xfrm>
        <a:graphic>
          <a:graphicData uri="http://schemas.openxmlformats.org/drawingml/2006/table">
            <a:tbl>
              <a:tblPr/>
              <a:tblGrid>
                <a:gridCol w="2838450">
                  <a:extLst>
                    <a:ext uri="{9D8B030D-6E8A-4147-A177-3AD203B41FA5}">
                      <a16:colId xmlns:a16="http://schemas.microsoft.com/office/drawing/2014/main" val="2944448652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2/23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화면 수정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473345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l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10, 11)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개인달력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스퀘어달력 선택 항목 추가</a:t>
                      </a:r>
                      <a:endParaRPr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72000" marR="7200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654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96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"/>
          <p:cNvSpPr/>
          <p:nvPr/>
        </p:nvSpPr>
        <p:spPr>
          <a:xfrm>
            <a:off x="180886" y="625508"/>
            <a:ext cx="4320000" cy="30229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343410" y="1117963"/>
            <a:ext cx="3994952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15685" y="772885"/>
            <a:ext cx="1023258" cy="261258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lvl="0"/>
            <a:r>
              <a:rPr lang="ko-KR" altLang="en-US" sz="1400" b="1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 일정 삭제</a:t>
            </a:r>
          </a:p>
        </p:txBody>
      </p:sp>
      <p:sp>
        <p:nvSpPr>
          <p:cNvPr id="6" name="Delete"/>
          <p:cNvSpPr>
            <a:spLocks noChangeAspect="1"/>
          </p:cNvSpPr>
          <p:nvPr/>
        </p:nvSpPr>
        <p:spPr bwMode="auto">
          <a:xfrm>
            <a:off x="4086338" y="842396"/>
            <a:ext cx="122238" cy="122237"/>
          </a:xfrm>
          <a:custGeom>
            <a:avLst/>
            <a:gdLst>
              <a:gd name="T0" fmla="*/ 3 w 77"/>
              <a:gd name="T1" fmla="*/ 0 h 77"/>
              <a:gd name="T2" fmla="*/ 0 w 77"/>
              <a:gd name="T3" fmla="*/ 3 h 77"/>
              <a:gd name="T4" fmla="*/ 36 w 77"/>
              <a:gd name="T5" fmla="*/ 38 h 77"/>
              <a:gd name="T6" fmla="*/ 0 w 77"/>
              <a:gd name="T7" fmla="*/ 74 h 77"/>
              <a:gd name="T8" fmla="*/ 3 w 77"/>
              <a:gd name="T9" fmla="*/ 77 h 77"/>
              <a:gd name="T10" fmla="*/ 39 w 77"/>
              <a:gd name="T11" fmla="*/ 41 h 77"/>
              <a:gd name="T12" fmla="*/ 74 w 77"/>
              <a:gd name="T13" fmla="*/ 77 h 77"/>
              <a:gd name="T14" fmla="*/ 77 w 77"/>
              <a:gd name="T15" fmla="*/ 74 h 77"/>
              <a:gd name="T16" fmla="*/ 42 w 77"/>
              <a:gd name="T17" fmla="*/ 38 h 77"/>
              <a:gd name="T18" fmla="*/ 77 w 77"/>
              <a:gd name="T19" fmla="*/ 3 h 77"/>
              <a:gd name="T20" fmla="*/ 74 w 77"/>
              <a:gd name="T21" fmla="*/ 0 h 77"/>
              <a:gd name="T22" fmla="*/ 39 w 77"/>
              <a:gd name="T23" fmla="*/ 35 h 77"/>
              <a:gd name="T24" fmla="*/ 3 w 77"/>
              <a:gd name="T25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" h="77">
                <a:moveTo>
                  <a:pt x="3" y="0"/>
                </a:moveTo>
                <a:lnTo>
                  <a:pt x="0" y="3"/>
                </a:lnTo>
                <a:lnTo>
                  <a:pt x="36" y="38"/>
                </a:lnTo>
                <a:lnTo>
                  <a:pt x="0" y="74"/>
                </a:lnTo>
                <a:lnTo>
                  <a:pt x="3" y="77"/>
                </a:lnTo>
                <a:lnTo>
                  <a:pt x="39" y="41"/>
                </a:lnTo>
                <a:lnTo>
                  <a:pt x="74" y="77"/>
                </a:lnTo>
                <a:lnTo>
                  <a:pt x="77" y="74"/>
                </a:lnTo>
                <a:lnTo>
                  <a:pt x="42" y="38"/>
                </a:lnTo>
                <a:lnTo>
                  <a:pt x="77" y="3"/>
                </a:lnTo>
                <a:lnTo>
                  <a:pt x="74" y="0"/>
                </a:lnTo>
                <a:lnTo>
                  <a:pt x="39" y="35"/>
                </a:lnTo>
                <a:lnTo>
                  <a:pt x="3" y="0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212" y="1379460"/>
            <a:ext cx="3242582" cy="2149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반복 일정을 삭제하시겠습니까</a:t>
            </a:r>
            <a:r>
              <a:rPr lang="en-US" altLang="ko-KR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?</a:t>
            </a:r>
            <a:endParaRPr lang="ko-KR" altLang="en-US" sz="11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7" name="Radio Button Group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bZEtJN5trzIZ/7X6Wfpcl2WjJwFIzhUl3ldF7M8nVRVmZ4ti3brzEfhWVUv0qbzwSg9O16tUurzjgPooYhnQriPGV7/bbwYIINHiL71KpsV1ZN121bLz+tqvXo9z1Z5k9bxj2lg+VUaf2eLuhm/zsGP+Uw+kq49pCOI4ynO0614j+OzpttbB9wASDx376bHs1l6DppOld3iLbs0G9N7z7NJXm59xN2n0n/z6CMQMgbhDAJ0XOcZMwX/8lkUrGm39dFHo3T3/s4QwA28RVMQ4cYtA/n3f+Ne3QQdbcffLWbtnIDu7ezc1BRgqeXARL2pXrc1sdTWjV166KWffDY00LH/R497zVPn7bpepm29ziPd/pL+R3lpZNx/BhhIoZ9n9NLN4L0/f8km0b+siln6tGhWVZNvDUs0hGKICX5X0TA3S9YQcW33kWHdqNX8xsFI8bAiioEPaaJalWkRY9ytavLTpEnSJl/O8nokDH9cXzRpPkyytr6+kSI/Z3pvAB88H6r/zDMA46vVjGj9rK4WIPDW1pZVVneEvHdYJmO8MMzieKZZO52nW6fvpjkruTR/dzNLglzPq4sLiHhdV/XWR8+yoiRd0FbpmjEVQqvOTXkkaYOhjEllUhd9FvR+dX/cJf3/uFkvSAlfH4UfGwNOpiFt5zlxmUyfdNOMO0Du9qEYBhanYoCbHqVnIgnZpPS0TocoA3iar94QfovsXbFYL0gAFxNCuzqXqU4nYpbSYsnDuEDfHvIWemQAeOwgCEZLQNr0i+ydN5aGDUNP+X4thKfzrM6IxnVjqQ5Fg6+yYDTfIP7g6uf58oIt3O5OfyQGgPGv4jrOtnpeNO1jD75M85Evd/KR88tVdQy8yQqy05lYiwFdwz9eQUMKq/KvUf8QT8wgzItmLCOlf6N2FV4klIXra8v1FRG+92KOz/O2Sa/mOc2/ip6ICrHGOivL65ScrooUNCmDLA2cL1EEH70PewgpxdXu6dEbSXWRt+kvNj7AhimmUIZirPQo3TlMDyMaM4qU9QYa9ppS5z7diJc0fLIuSlLdaTNRFgs+jjAWHhiaW1mUAUNFkptnUPk9Vu4TCEppA9UGzNhAx3iAfDMZq0ATuTdYQjzUlsSCDNzzYpkPEKTX1rfDPc92yLWN+Jm9ecejvESdDXrLQ/zCjlLHkCvrQI3ezDWg3u96q7nHI5hGSSa9fu/7aUlkhYVA/+PXq5JiT/Ch/f4Xpx/9vvXvuySbTT/53+VH6S8ZKaPyCxobjV9Uyzw+QYjh2rTMM1Lw1IhcvJy8xoL6KShtkRbEePkvWhd1PosPmZE0PPPZZ4NMs2HA7N8hknuVN8UP8tMlrPmMBj4UF/TcUDwDjE3jk1m9m1GoijE1g6KXbsHEFdQzaZoifUzWrp2PvyiWwShHXSN+hxp/8sn7y5uyF2BTl9zF94rvbxSj26iFqIn1H0wbRnejyt0g/xuGhSeG1YbuZNjvBbDrdIN8Q+oDT0SFmCcesvpPbDiUavBmY2P/UV2Fh5jzVb4gU0XiMVsvZxnYb5hFr+bkxweRzKCpvCXnvj/TCr7PSV34o38/xd396LxYwjW5tUwPKoz2VmmKjSYgkjfAE8HkhJRmfbN9ucFfe13V5LBlJP4N++rqrpFtz5op2UtoiKqGIzK5hj9X1Onj6dGbavX47vQovczKdRBO2R5v8OibNmvNkIHCk+ufzGv6JCufVxR1EittsUvNDHakWN1MEw3vAHFrRjHfBfUlPrV8tUvWyf21d3vHyFh2BkLWfUWcvlhldf6mEud5Dx9GI+wPnSG460VWEqM17FBfmdiWVI9EhQXlTlK3ptAPcm0vN8wKT0ckPIhGJTfPhuPQ/nfs7Dmwn0UTXubZYLzfxxb7HDWd59O3zmKZEE6+HdQnAYSinpb5B4EokYLeCCEOIyTe+M31iinYW286IXd+/EVTMUC0Gi+aSvItv/AXelOpaptA7Ha+eFW1LI3sWp3Tl3GE8LBWxJtftUWJ5ar2BS3c+KElgMRCvve3An4ShpMiZ7BayMg71D+3n9/gi3gA4nlX/7nB8Yiyo//c8D6ewBPcZU/wM2+UMlmbfD7/uUV/eDytmPqd3ewZmYej8Gm2fJXDmRe5GDaJsedG2pnnlmPCYyXlPYXkeN3KBxtZPvZIb/b9G7sNWqJr/uNLsqxfs2tIHUvaCSuoIemKPe9BWDy+BsTSl1B6kxcce/o8MxR3DT0bfOvuA1/7h8AU3W7/X8QUsHs/mzzh7OrPB5ZA7Pekevehs8Jr0T+Ls+I5Gv8fmJVbNhsM22LPexAMvNAZ63vMDJ4vspooXI4VBIUKX/Jq5/vR/RZkuKHJDV/fioC3INzgcJ0fcdOYN2A6mL3Aw15H0fwkxUcbAnDz8Mz6Rkv8XvL6fLUlH/7Mz4T2zTb1ZWlT0w3JSDw30NWN6SYh+9qZpRsw0ORAsHZn0gOUC6AsRcGRwZYEotUKazqTipotbhCXgYDfp+FN/DIEwk3j14Tgze7mFQU8RKIvsrfkN6/rXFlgJKyUZsuZcIpdAKMmhmaULMKKbl2syry5QUYjaeEeB94mGLiFHIta96aBuvQn5XbBgEKxM5EG0vU+MNw400DsbspSm6cj7pSFPEdu0mEjn4TiizxO2Agf/MzP3Nwdnl53nwQffbeY0TLF4x4Kn/ifSKOv0yMwDTv8dl5czNuwR23lPtBGX7dHP4+hwL0P3hN4B1SQZhkc3y3M8y3YH8/t1a7/TGjV9O0t2n59c73RCPKCiiD+9Q1OTNH0rdo3pGk2LSHAP0UqrLfWFBgI0gGqar2/Qx0xSiklNbima54PIfrvejPV8cQz9ea53RoFmSesy598+cXpu2nOy6pp/u72CWxk555XFxd5PT6t66re+uhZVmDVgox2YTPM6S/e+SX0J2Xnl9NcMsxNjomhho2wAS305u9GKaX3EANt3eEgZthUDo/9plWRG9LispyPpYulWSymoSAfHksxfo1keH+ts7Pk9t7L8zcvnN24gG3WVvtt+uiW4SKZfrp5IfRmFLfT3ZgFf588PBH/6XpFS14gswi1cFe8OSMiywSeBtB1g/goxyeejbB9DYpgx1EQ0JtzwRuU3MY85k1ufwQTu6i6KZzAcwvF28nSxtjjlhlbbj/sLDLm34uySve5Vd73FmPDQ6z10gQmN3NW9+l5b7dhLzS8xSjxdH2ZIfDP+/7UDc3Uy/rkdnjguXlg6Hr75q6p2a28cTyh5HOg9B7T4ysCa/lv0APOy71ZDXQfFsZORzevEPnPLbkWz62kwDzvARdPZCC3Vird5z27xqOqIh4Rvoei6D7vRTLzfA388QSK5X0Zt/t0w79bcO97aJnu0wn9fi6VTve5cdg/Czqo+wQ6yUvZfD1onqpw0chmHeWN4/11VPeBqHc7fj+d1X2+psDg+VoCap4P6BdPhBBfW+d1nw9EDY8owoEM1wfoxO7zQVNgnm9gvHh8HfrBgtZ9vMTRRp3qSdsH6NTu00lb3aLz99KxX1u5dR8EzjMTy3PAXOd5elmYEFq/mNqo75vpth9n9AJNotmNWR8/4+NneyTT8w1N5U25qd73kY5v7CT29ACPv1rNyBY8ozQM1pm3ONPwjbHC5ijwfdKfm55bLGLe9NxqmfI2zzekxsL14R7xPtC2+M/gwqpj/W+C+T5wjj7g9Q949YO54gO54RZzw2b8Qyboa5Lna7z2NV752hPwNQn/syd2g1PprM3XmcX3pOl7NH+Ppu89S+85O7eg3XuLwS2Hd4tmt2hyawLdkjDfHJsOk9Z5RLch6wetOg59dSPZbiDXbQZ3I+MM4Pdzv6KWkY/dX5h6A1/7J8nXlkW0gUWx/ofh0s/G5jcsmr3KF9UlHP85Ys+mFfR4ne8bXDm7rGgFXbp6HsY3W9/UQtlRunv7mer7tz/UpTE8ko2Idfpzssx0c/L/KcnlLdJQNybwPgiOnxm7HZxNkyQcGZ+Gr4ff06JZVc1mrDbo0FtrIPPcMKubNFLNgx8S/L7cD6so83xt5fv+SqvJW9FZjxvSoNM6P//sIyhT6FKZio/uHqXFsmmz5TT/uhrrhCxRfQsNdV7V6VZB8l5s1hhOKxxS0yNa2qef29u311ubtFHx/Ru572ZZOG63igEr1PnzvSbsuzVxYl4zoTBrjWi66pxsIiOVThirrzFRU2LeJqLQH6VnQo5sUnYSihHiGmhnx6sVpCYVHRyhhGnJ3XRWu2/3ir/qdas3gpywvhF5Zz2hlYJIuqyH6aiHifnET6AZUtyeO9t50YyFePTvAA9yo5Bs3l8bX4ovF256ZSCbfls3S0kqADxbeGuKXORt+ouNt+YPc0Ap3oSCHfTXxMAR7esh4Mzv10PAm4LbI6CyMKmqMj1rmAb57H36j3+xwXT2yDX+yaIpSI+kn32WflFM66qpztvxl+fnxRRrSHU+/qKp3tTF65YwHS/w+3qIMQesZPM18IwhmF5m5TpPf4/b40mq8lZtn21IAL/vZDZtXSwvUiSxfxgzCT+I6fRVW5TN+PO85fT5zUnTb3Cy4PDz3NAq0/KinVPE8kX2zlPXQEm+uiElIDOsMz1+vZ4INbd2RsMQoybDPB3yvO6RZyR9vQeVNukS8jPqupg5LqheywBub2r0Tax/ECGA7QBqrDUKozWordUggxTBRNk3NkyFdv7Ru/QjWrdrh3HISW4YKtqMSZ7qtvlu0c63Pnr30Z3bdGDh83LdaTNlW53TRBMN3g2NQ3l/ALFNE8TOr3Umbz0p7Jlz8ialCCatOH3TDBPZ9wK+dtB7m7TRpqDlVh4cngFVwANxnsnPwjhulXK+jVeJZ8MoPGfpmx/FzaoWT8zTjbV7T4XD/NxZOvU0yO05fEiI01/4C9Pftf/FsHhvIKFKPUPTBAUp9t07Y7LFCwa/Mbtg9RtgvLcXAlX13hjHqbJZt+EZGuktR7dpQTrKDXjeuD7jSnHgT/2VfvyS/wfDeihTy18AAA==&lt;/Code&gt;&lt;CodeSignature&gt;V9L9wIoI+IFXf7fyuVCLtieD974HBvpsT94UpIT/2MG00IZ4clcYi1Le4elcKx6Fs3M9I+EOo6lJuKCAF6+OcXRgm29j3TjF06j+7gKRigiWC4ddLepQLM1DoBhb6KvBJ6tAUW4iZ3Q3TSPE8zEj9Qp3vptEgXqKOB7qK6rPrJwi6uLlChLYTraO7KFDJy/9ESC5gsv6tytYcijdTIf50ps4SNnJZZccspuntJ/GzCWcZT2IwT/tCc7UNys6TEI54hweJmEQTD+wnb7ctbJaCFBLMd+6Mfnh/TCFIlLMx5SoqOdM7t8IdbYCucC25iR1lkZNnzg4DTqqlfAPgZEnEQ==&lt;/CodeSignature&gt;&lt;/SmartOptions&gt;&lt;SmartResize enabled=&quot;True&quot; minWidth=&quot;0&quot; minHeight=&quot;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565862" y="1915697"/>
            <a:ext cx="1563485" cy="835856"/>
            <a:chOff x="595686" y="1261242"/>
            <a:chExt cx="1563485" cy="835856"/>
          </a:xfrm>
        </p:grpSpPr>
        <p:sp>
          <p:nvSpPr>
            <p:cNvPr id="18" name="Circle" descr="&lt;Tags&gt;&lt;SMARTRESIZEANCHORS&gt;None,None,Absolute,None&lt;/SMARTRESIZEANCHORS&gt;&lt;/Tags&gt;"/>
            <p:cNvSpPr/>
            <p:nvPr/>
          </p:nvSpPr>
          <p:spPr>
            <a:xfrm>
              <a:off x="595686" y="1300750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Check" descr="&lt;Tags&gt;&lt;SMARTRESIZEANCHORS&gt;None,None,Absolute,None&lt;/SMARTRESIZEANCHORS&gt;&lt;/Tags&gt;"/>
            <p:cNvSpPr/>
            <p:nvPr/>
          </p:nvSpPr>
          <p:spPr>
            <a:xfrm>
              <a:off x="632992" y="1338056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Label" descr="&lt;Tags&gt;&lt;SMARTRESIZEANCHORS&gt;Relative,Relative,Absolute,Absolute&lt;/SMARTRESIZEANCHORS&gt;&lt;/Tags&gt;"/>
            <p:cNvSpPr txBox="1"/>
            <p:nvPr/>
          </p:nvSpPr>
          <p:spPr>
            <a:xfrm>
              <a:off x="729036" y="1261242"/>
              <a:ext cx="904350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이 일정만 삭제</a:t>
              </a:r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Circle" descr="&lt;Tags&gt;&lt;SMARTRESIZEANCHORS&gt;None,None,Absolute,None&lt;/SMARTRESIZEANCHORS&gt;&lt;/Tags&gt;"/>
            <p:cNvSpPr/>
            <p:nvPr/>
          </p:nvSpPr>
          <p:spPr>
            <a:xfrm>
              <a:off x="595686" y="1508580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Check" descr="&lt;Tags&gt;&lt;SMARTRESIZEANCHORS&gt;None,None,Absolute,None&lt;/SMARTRESIZEANCHORS&gt;&lt;/Tags&gt;" hidden="1"/>
            <p:cNvSpPr/>
            <p:nvPr/>
          </p:nvSpPr>
          <p:spPr>
            <a:xfrm>
              <a:off x="632992" y="1545886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Label" descr="&lt;Tags&gt;&lt;SMARTRESIZEANCHORS&gt;Relative,Relative,Absolute,Absolute&lt;/SMARTRESIZEANCHORS&gt;&lt;/Tags&gt;"/>
            <p:cNvSpPr txBox="1"/>
            <p:nvPr/>
          </p:nvSpPr>
          <p:spPr>
            <a:xfrm>
              <a:off x="729036" y="1469072"/>
              <a:ext cx="1430135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이후 모든 반복 일정 삭제</a:t>
              </a:r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Circle" descr="&lt;Tags&gt;&lt;SMARTRESIZEANCHORS&gt;None,None,Absolute,None&lt;/SMARTRESIZEANCHORS&gt;&lt;/Tags&gt;"/>
            <p:cNvSpPr/>
            <p:nvPr/>
          </p:nvSpPr>
          <p:spPr>
            <a:xfrm>
              <a:off x="595686" y="1716410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Check" descr="&lt;Tags&gt;&lt;SMARTRESIZEANCHORS&gt;None,None,Absolute,None&lt;/SMARTRESIZEANCHORS&gt;&lt;/Tags&gt;" hidden="1"/>
            <p:cNvSpPr/>
            <p:nvPr/>
          </p:nvSpPr>
          <p:spPr>
            <a:xfrm>
              <a:off x="632992" y="1753716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Label" descr="&lt;Tags&gt;&lt;SMARTRESIZEANCHORS&gt;Relative,Relative,Absolute,Absolute&lt;/SMARTRESIZEANCHORS&gt;&lt;/Tags&gt;"/>
            <p:cNvSpPr txBox="1"/>
            <p:nvPr/>
          </p:nvSpPr>
          <p:spPr>
            <a:xfrm>
              <a:off x="729036" y="1676902"/>
              <a:ext cx="1167243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 반복 일정 삭제</a:t>
              </a:r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Check" descr="&lt;Tags&gt;&lt;SMARTRESIZEANCHORS&gt;None,None,Absolute,None&lt;/SMARTRESIZEANCHORS&gt;&lt;/Tags&gt;" hidden="1"/>
            <p:cNvSpPr/>
            <p:nvPr/>
          </p:nvSpPr>
          <p:spPr>
            <a:xfrm>
              <a:off x="632992" y="1961546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" name="Label" descr="&lt;Tags&gt;&lt;SMARTRESIZEANCHORS&gt;Relative,Relative,Absolute,Absolute&lt;/SMARTRESIZEANCHORS&gt;&lt;/Tags&gt;"/>
            <p:cNvSpPr txBox="1"/>
            <p:nvPr/>
          </p:nvSpPr>
          <p:spPr>
            <a:xfrm>
              <a:off x="729036" y="1884732"/>
              <a:ext cx="147797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1480235" y="2954616"/>
            <a:ext cx="1721301" cy="281097"/>
            <a:chOff x="2022024" y="3055438"/>
            <a:chExt cx="942457" cy="254609"/>
          </a:xfrm>
        </p:grpSpPr>
        <p:sp>
          <p:nvSpPr>
            <p:cNvPr id="15" name="모서리가 둥근 직사각형 14"/>
            <p:cNvSpPr/>
            <p:nvPr/>
          </p:nvSpPr>
          <p:spPr>
            <a:xfrm>
              <a:off x="2521419" y="3055438"/>
              <a:ext cx="443062" cy="2546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취소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모서리가 둥근 직사각형 29"/>
            <p:cNvSpPr/>
            <p:nvPr/>
          </p:nvSpPr>
          <p:spPr>
            <a:xfrm>
              <a:off x="2022024" y="3055438"/>
              <a:ext cx="443062" cy="25460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9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확인</a:t>
              </a:r>
              <a:endParaRPr lang="ko-KR" altLang="en-US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419100" y="1809750"/>
            <a:ext cx="3789476" cy="86498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반복 일정 삭제</a:t>
            </a:r>
          </a:p>
        </p:txBody>
      </p:sp>
      <p:sp>
        <p:nvSpPr>
          <p:cNvPr id="35" name="직각 삼각형 34"/>
          <p:cNvSpPr/>
          <p:nvPr/>
        </p:nvSpPr>
        <p:spPr>
          <a:xfrm flipH="1">
            <a:off x="11494450" y="5931238"/>
            <a:ext cx="640019" cy="742447"/>
          </a:xfrm>
          <a:prstGeom prst="rt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12/05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white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36" name="내용 개체 틀 11"/>
          <p:cNvSpPr txBox="1">
            <a:spLocks/>
          </p:cNvSpPr>
          <p:nvPr/>
        </p:nvSpPr>
        <p:spPr>
          <a:xfrm>
            <a:off x="10171113" y="298450"/>
            <a:ext cx="1944687" cy="215900"/>
          </a:xfrm>
          <a:prstGeom prst="rect">
            <a:avLst/>
          </a:prstGeom>
        </p:spPr>
        <p:txBody>
          <a:bodyPr/>
          <a:lstStyle>
            <a:lvl1pPr marL="371464" indent="-371464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sz="867" kern="1200">
                <a:solidFill>
                  <a:srgbClr val="595959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804838" indent="-30955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238212" indent="-247642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733497" indent="-247642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228781" indent="-247642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724066" indent="-247642" algn="l" defTabSz="9905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TBD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3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752901"/>
              </p:ext>
            </p:extLst>
          </p:nvPr>
        </p:nvGraphicFramePr>
        <p:xfrm>
          <a:off x="9286875" y="793264"/>
          <a:ext cx="2819019" cy="1060536"/>
        </p:xfrm>
        <a:graphic>
          <a:graphicData uri="http://schemas.openxmlformats.org/drawingml/2006/table">
            <a:tbl>
              <a:tblPr/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반복일정으로 등록됐을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 간편정보 레이어에서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[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삭제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]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클릭시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해당 레이어 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[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확인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]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클릭시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상단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3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가지 유형 중 선택된 항목으로 수정 처리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8" name="그룹 37"/>
          <p:cNvGrpSpPr/>
          <p:nvPr/>
        </p:nvGrpSpPr>
        <p:grpSpPr>
          <a:xfrm>
            <a:off x="5575635" y="1456095"/>
            <a:ext cx="3023970" cy="1684020"/>
            <a:chOff x="5575635" y="4874346"/>
            <a:chExt cx="3023970" cy="1684020"/>
          </a:xfrm>
        </p:grpSpPr>
        <p:sp>
          <p:nvSpPr>
            <p:cNvPr id="39" name="Rectangular Callout 558"/>
            <p:cNvSpPr/>
            <p:nvPr/>
          </p:nvSpPr>
          <p:spPr>
            <a:xfrm>
              <a:off x="5575635" y="4874346"/>
              <a:ext cx="3023970" cy="1684020"/>
            </a:xfrm>
            <a:prstGeom prst="wedgeRectCallout">
              <a:avLst>
                <a:gd name="adj1" fmla="val -18835"/>
                <a:gd name="adj2" fmla="val -43414"/>
              </a:avLst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sp>
          <p:nvSpPr>
            <p:cNvPr id="40" name="텍스트 상자 31"/>
            <p:cNvSpPr txBox="1"/>
            <p:nvPr/>
          </p:nvSpPr>
          <p:spPr>
            <a:xfrm>
              <a:off x="5846455" y="5038067"/>
              <a:ext cx="1296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ko-KR" altLang="en-US" sz="9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고객 영업회의 </a:t>
              </a:r>
              <a:endParaRPr kumimoji="1" lang="ko-KR" altLang="en-US" sz="9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41" name="텍스트 상자 31"/>
            <p:cNvSpPr txBox="1"/>
            <p:nvPr/>
          </p:nvSpPr>
          <p:spPr>
            <a:xfrm>
              <a:off x="5759942" y="5404008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시간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2" name="텍스트 상자 31"/>
            <p:cNvSpPr txBox="1"/>
            <p:nvPr/>
          </p:nvSpPr>
          <p:spPr>
            <a:xfrm>
              <a:off x="6211549" y="5352044"/>
              <a:ext cx="218464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ct val="150000"/>
                </a:lnSpc>
              </a:pPr>
              <a:r>
                <a:rPr kumimoji="1"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2017-09-24(</a:t>
              </a:r>
              <a:r>
                <a:rPr kumimoji="1"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목</a:t>
              </a:r>
              <a:r>
                <a:rPr kumimoji="1"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) </a:t>
              </a:r>
              <a:r>
                <a:rPr lang="ko-KR" altLang="en-US" sz="8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 charset="0"/>
                </a:rPr>
                <a:t>오전 </a:t>
              </a:r>
              <a:r>
                <a:rPr lang="en-US" altLang="ko-KR" sz="8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 charset="0"/>
                </a:rPr>
                <a:t>10:00</a:t>
              </a:r>
              <a:r>
                <a:rPr lang="ko-KR" altLang="en-US" sz="8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 charset="0"/>
                </a:rPr>
                <a:t> </a:t>
              </a:r>
              <a:r>
                <a:rPr lang="en-US" altLang="ko-KR" sz="8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 charset="0"/>
                </a:rPr>
                <a:t>~ </a:t>
              </a:r>
              <a:r>
                <a:rPr lang="ko-KR" altLang="en-US" sz="8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 charset="0"/>
                </a:rPr>
                <a:t>오후 </a:t>
              </a:r>
              <a:r>
                <a:rPr lang="en-US" altLang="ko-KR" sz="800" b="1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Malgun Gothic" charset="0"/>
                </a:rPr>
                <a:t>01:00</a:t>
              </a:r>
              <a:endParaRPr lang="en-US" altLang="ko-KR" sz="800" b="1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매월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4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번째 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목요일 반복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endParaRPr>
            </a:p>
          </p:txBody>
        </p:sp>
        <p:cxnSp>
          <p:nvCxnSpPr>
            <p:cNvPr id="43" name="직선 연결선[R] 33"/>
            <p:cNvCxnSpPr/>
            <p:nvPr/>
          </p:nvCxnSpPr>
          <p:spPr>
            <a:xfrm>
              <a:off x="5633452" y="5224898"/>
              <a:ext cx="2880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텍스트 상자 31"/>
            <p:cNvSpPr txBox="1"/>
            <p:nvPr/>
          </p:nvSpPr>
          <p:spPr>
            <a:xfrm>
              <a:off x="5759942" y="5757420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작성자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5" name="텍스트 상자 31"/>
            <p:cNvSpPr txBox="1"/>
            <p:nvPr/>
          </p:nvSpPr>
          <p:spPr>
            <a:xfrm>
              <a:off x="6211549" y="5757420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김핸디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46" name="그룹 45"/>
            <p:cNvGrpSpPr/>
            <p:nvPr/>
          </p:nvGrpSpPr>
          <p:grpSpPr>
            <a:xfrm>
              <a:off x="5759942" y="5943338"/>
              <a:ext cx="1531606" cy="123592"/>
              <a:chOff x="5759942" y="5943338"/>
              <a:chExt cx="1531606" cy="123592"/>
            </a:xfrm>
          </p:grpSpPr>
          <p:sp>
            <p:nvSpPr>
              <p:cNvPr id="53" name="텍스트 상자 31"/>
              <p:cNvSpPr txBox="1"/>
              <p:nvPr/>
            </p:nvSpPr>
            <p:spPr>
              <a:xfrm>
                <a:off x="5759942" y="5943338"/>
                <a:ext cx="45455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달력</a:t>
                </a:r>
                <a:endParaRPr kumimoji="1"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4" name="텍스트 상자 31"/>
              <p:cNvSpPr txBox="1"/>
              <p:nvPr/>
            </p:nvSpPr>
            <p:spPr>
              <a:xfrm>
                <a:off x="6211548" y="5943819"/>
                <a:ext cx="108000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UX </a:t>
                </a:r>
                <a:r>
                  <a:rPr kumimoji="1" lang="ko-KR" altLang="en-US" sz="800" dirty="0" err="1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디자인팀</a:t>
                </a:r>
                <a:endParaRPr kumimoji="1"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47" name="Rounded Rectangle 572"/>
            <p:cNvSpPr/>
            <p:nvPr/>
          </p:nvSpPr>
          <p:spPr>
            <a:xfrm>
              <a:off x="7966379" y="4988755"/>
              <a:ext cx="540000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일정 상세</a:t>
              </a:r>
              <a:endParaRPr lang="en-US" sz="7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8" name="Rounded Rectangle 562"/>
            <p:cNvSpPr/>
            <p:nvPr/>
          </p:nvSpPr>
          <p:spPr>
            <a:xfrm>
              <a:off x="8074379" y="6208545"/>
              <a:ext cx="432000" cy="180000"/>
            </a:xfrm>
            <a:prstGeom prst="roundRect">
              <a:avLst>
                <a:gd name="adj" fmla="val 8420"/>
              </a:avLst>
            </a:prstGeom>
            <a:solidFill>
              <a:schemeClr val="bg1">
                <a:lumMod val="85000"/>
              </a:scheme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확인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49" name="Picture 3" descr="C:\Users\Administrator\Downloads\flag (1)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4962" y="5043226"/>
              <a:ext cx="144000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0" name="그룹 49"/>
            <p:cNvGrpSpPr/>
            <p:nvPr/>
          </p:nvGrpSpPr>
          <p:grpSpPr>
            <a:xfrm>
              <a:off x="5743361" y="6208545"/>
              <a:ext cx="1218567" cy="180000"/>
              <a:chOff x="6701304" y="6175297"/>
              <a:chExt cx="1218567" cy="180000"/>
            </a:xfrm>
          </p:grpSpPr>
          <p:sp>
            <p:nvSpPr>
              <p:cNvPr id="51" name="Rounded Rectangle 562"/>
              <p:cNvSpPr/>
              <p:nvPr/>
            </p:nvSpPr>
            <p:spPr>
              <a:xfrm>
                <a:off x="6701304" y="6175297"/>
                <a:ext cx="74295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내 일정에 복사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2" name="Rounded Rectangle 562"/>
              <p:cNvSpPr/>
              <p:nvPr/>
            </p:nvSpPr>
            <p:spPr>
              <a:xfrm>
                <a:off x="7487871" y="6175297"/>
                <a:ext cx="432000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삭제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</p:grpSp>
      <p:sp>
        <p:nvSpPr>
          <p:cNvPr id="55" name="TextBox 54"/>
          <p:cNvSpPr txBox="1"/>
          <p:nvPr/>
        </p:nvSpPr>
        <p:spPr>
          <a:xfrm>
            <a:off x="5328667" y="1182460"/>
            <a:ext cx="1272157" cy="25581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간편정보 레이어</a:t>
            </a:r>
          </a:p>
        </p:txBody>
      </p:sp>
      <p:cxnSp>
        <p:nvCxnSpPr>
          <p:cNvPr id="57" name="꺾인 연결선 56"/>
          <p:cNvCxnSpPr>
            <a:stCxn id="52" idx="2"/>
          </p:cNvCxnSpPr>
          <p:nvPr/>
        </p:nvCxnSpPr>
        <p:spPr>
          <a:xfrm rot="5400000">
            <a:off x="5543912" y="2122208"/>
            <a:ext cx="353931" cy="2050103"/>
          </a:xfrm>
          <a:prstGeom prst="bentConnector2">
            <a:avLst/>
          </a:prstGeom>
          <a:ln w="3175">
            <a:solidFill>
              <a:srgbClr val="FF0000"/>
            </a:solidFill>
            <a:prstDash val="sysDot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00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"/>
          <p:cNvSpPr/>
          <p:nvPr/>
        </p:nvSpPr>
        <p:spPr>
          <a:xfrm>
            <a:off x="180886" y="625508"/>
            <a:ext cx="4320000" cy="30229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343410" y="1117963"/>
            <a:ext cx="3994952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15685" y="772885"/>
            <a:ext cx="1023258" cy="261258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4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반복 일정 수정</a:t>
            </a:r>
          </a:p>
        </p:txBody>
      </p:sp>
      <p:sp>
        <p:nvSpPr>
          <p:cNvPr id="6" name="Delete"/>
          <p:cNvSpPr>
            <a:spLocks noChangeAspect="1"/>
          </p:cNvSpPr>
          <p:nvPr/>
        </p:nvSpPr>
        <p:spPr bwMode="auto">
          <a:xfrm>
            <a:off x="4086338" y="842396"/>
            <a:ext cx="122238" cy="122237"/>
          </a:xfrm>
          <a:custGeom>
            <a:avLst/>
            <a:gdLst>
              <a:gd name="T0" fmla="*/ 3 w 77"/>
              <a:gd name="T1" fmla="*/ 0 h 77"/>
              <a:gd name="T2" fmla="*/ 0 w 77"/>
              <a:gd name="T3" fmla="*/ 3 h 77"/>
              <a:gd name="T4" fmla="*/ 36 w 77"/>
              <a:gd name="T5" fmla="*/ 38 h 77"/>
              <a:gd name="T6" fmla="*/ 0 w 77"/>
              <a:gd name="T7" fmla="*/ 74 h 77"/>
              <a:gd name="T8" fmla="*/ 3 w 77"/>
              <a:gd name="T9" fmla="*/ 77 h 77"/>
              <a:gd name="T10" fmla="*/ 39 w 77"/>
              <a:gd name="T11" fmla="*/ 41 h 77"/>
              <a:gd name="T12" fmla="*/ 74 w 77"/>
              <a:gd name="T13" fmla="*/ 77 h 77"/>
              <a:gd name="T14" fmla="*/ 77 w 77"/>
              <a:gd name="T15" fmla="*/ 74 h 77"/>
              <a:gd name="T16" fmla="*/ 42 w 77"/>
              <a:gd name="T17" fmla="*/ 38 h 77"/>
              <a:gd name="T18" fmla="*/ 77 w 77"/>
              <a:gd name="T19" fmla="*/ 3 h 77"/>
              <a:gd name="T20" fmla="*/ 74 w 77"/>
              <a:gd name="T21" fmla="*/ 0 h 77"/>
              <a:gd name="T22" fmla="*/ 39 w 77"/>
              <a:gd name="T23" fmla="*/ 35 h 77"/>
              <a:gd name="T24" fmla="*/ 3 w 77"/>
              <a:gd name="T25" fmla="*/ 0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7" h="77">
                <a:moveTo>
                  <a:pt x="3" y="0"/>
                </a:moveTo>
                <a:lnTo>
                  <a:pt x="0" y="3"/>
                </a:lnTo>
                <a:lnTo>
                  <a:pt x="36" y="38"/>
                </a:lnTo>
                <a:lnTo>
                  <a:pt x="0" y="74"/>
                </a:lnTo>
                <a:lnTo>
                  <a:pt x="3" y="77"/>
                </a:lnTo>
                <a:lnTo>
                  <a:pt x="39" y="41"/>
                </a:lnTo>
                <a:lnTo>
                  <a:pt x="74" y="77"/>
                </a:lnTo>
                <a:lnTo>
                  <a:pt x="77" y="74"/>
                </a:lnTo>
                <a:lnTo>
                  <a:pt x="42" y="38"/>
                </a:lnTo>
                <a:lnTo>
                  <a:pt x="77" y="3"/>
                </a:lnTo>
                <a:lnTo>
                  <a:pt x="74" y="0"/>
                </a:lnTo>
                <a:lnTo>
                  <a:pt x="39" y="35"/>
                </a:lnTo>
                <a:lnTo>
                  <a:pt x="3" y="0"/>
                </a:lnTo>
                <a:close/>
              </a:path>
            </a:pathLst>
          </a:custGeom>
          <a:solidFill>
            <a:srgbClr val="5F5F5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212" y="1379460"/>
            <a:ext cx="3242582" cy="21499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반복 일정을 수정하시겠습니까</a:t>
            </a:r>
            <a:r>
              <a:rPr lang="en-US" altLang="ko-KR" sz="11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?</a:t>
            </a:r>
            <a:endParaRPr lang="ko-KR" altLang="en-US" sz="11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7" name="Radio Button Group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bZEtJN5trzIZ/7X6Wfpcl2WjJwFIzhUl3ldF7M8nVRVmZ4ti3brzEfhWVUv0qbzwSg9O16tUurzjgPooYhnQriPGV7/bbwYIINHiL71KpsV1ZN121bLz+tqvXo9z1Z5k9bxj2lg+VUaf2eLuhm/zsGP+Uw+kq49pCOI4ynO0614j+OzpttbB9wASDx376bHs1l6DppOld3iLbs0G9N7z7NJXm59xN2n0n/z6CMQMgbhDAJ0XOcZMwX/8lkUrGm39dFHo3T3/s4QwA28RVMQ4cYtA/n3f+Ne3QQdbcffLWbtnIDu7ezc1BRgqeXARL2pXrc1sdTWjV166KWffDY00LH/R497zVPn7bpepm29ziPd/pL+R3lpZNx/BhhIoZ9n9NLN4L0/f8km0b+siln6tGhWVZNvDUs0hGKICX5X0TA3S9YQcW33kWHdqNX8xsFI8bAiioEPaaJalWkRY9ytavLTpEnSJl/O8nokDH9cXzRpPkyytr6+kSI/Z3pvAB88H6r/zDMA46vVjGj9rK4WIPDW1pZVVneEvHdYJmO8MMzieKZZO52nW6fvpjkruTR/dzNLglzPq4sLiHhdV/XWR8+yoiRd0FbpmjEVQqvOTXkkaYOhjEllUhd9FvR+dX/cJf3/uFkvSAlfH4UfGwNOpiFt5zlxmUyfdNOMO0Du9qEYBhanYoCbHqVnIgnZpPS0TocoA3iar94QfovsXbFYL0gAFxNCuzqXqU4nYpbSYsnDuEDfHvIWemQAeOwgCEZLQNr0i+ydN5aGDUNP+X4thKfzrM6IxnVjqQ5Fg6+yYDTfIP7g6uf58oIt3O5OfyQGgPGv4jrOtnpeNO1jD75M85Evd/KR88tVdQy8yQqy05lYiwFdwz9eQUMKq/KvUf8QT8wgzItmLCOlf6N2FV4klIXra8v1FRG+92KOz/O2Sa/mOc2/ip6ICrHGOivL65ScrooUNCmDLA2cL1EEH70PewgpxdXu6dEbSXWRt+kvNj7AhimmUIZirPQo3TlMDyMaM4qU9QYa9ppS5z7diJc0fLIuSlLdaTNRFgs+jjAWHhiaW1mUAUNFkptnUPk9Vu4TCEppA9UGzNhAx3iAfDMZq0ATuTdYQjzUlsSCDNzzYpkPEKTX1rfDPc92yLWN+Jm9ecejvESdDXrLQ/zCjlLHkCvrQI3ezDWg3u96q7nHI5hGSSa9fu/7aUlkhYVA/+PXq5JiT/Ch/f4Xpx/9vvXvuySbTT/53+VH6S8ZKaPyCxobjV9Uyzw+QYjh2rTMM1Lw1IhcvJy8xoL6KShtkRbEePkvWhd1PosPmZE0PPPZZ4NMs2HA7N8hknuVN8UP8tMlrPmMBj4UF/TcUDwDjE3jk1m9m1GoijE1g6KXbsHEFdQzaZoifUzWrp2PvyiWwShHXSN+hxp/8sn7y5uyF2BTl9zF94rvbxSj26iFqIn1H0wbRnejyt0g/xuGhSeG1YbuZNjvBbDrdIN8Q+oDT0SFmCcesvpPbDiUavBmY2P/UV2Fh5jzVb4gU0XiMVsvZxnYb5hFr+bkxweRzKCpvCXnvj/TCr7PSV34o38/xd396LxYwjW5tUwPKoz2VmmKjSYgkjfAE8HkhJRmfbN9ucFfe13V5LBlJP4N++rqrpFtz5op2UtoiKqGIzK5hj9X1Onj6dGbavX47vQovczKdRBO2R5v8OibNmvNkIHCk+ufzGv6JCufVxR1EittsUvNDHakWN1MEw3vAHFrRjHfBfUlPrV8tUvWyf21d3vHyFh2BkLWfUWcvlhldf6mEud5Dx9GI+wPnSG460VWEqM17FBfmdiWVI9EhQXlTlK3ptAPcm0vN8wKT0ckPIhGJTfPhuPQ/nfs7Dmwn0UTXubZYLzfxxb7HDWd59O3zmKZEE6+HdQnAYSinpb5B4EokYLeCCEOIyTe+M31iinYW286IXd+/EVTMUC0Gi+aSvItv/AXelOpaptA7Ha+eFW1LI3sWp3Tl3GE8LBWxJtftUWJ5ar2BS3c+KElgMRCvve3An4ShpMiZ7BayMg71D+3n9/gi3gA4nlX/7nB8Yiyo//c8D6ewBPcZU/wM2+UMlmbfD7/uUV/eDytmPqd3ewZmYej8Gm2fJXDmRe5GDaJsedG2pnnlmPCYyXlPYXkeN3KBxtZPvZIb/b9G7sNWqJr/uNLsqxfs2tIHUvaCSuoIemKPe9BWDy+BsTSl1B6kxcce/o8MxR3DT0bfOvuA1/7h8AU3W7/X8QUsHs/mzzh7OrPB5ZA7Pekevehs8Jr0T+Ls+I5Gv8fmJVbNhsM22LPexAMvNAZ63vMDJ4vspooXI4VBIUKX/Jq5/vR/RZkuKHJDV/fioC3INzgcJ0fcdOYN2A6mL3Aw15H0fwkxUcbAnDz8Mz6Rkv8XvL6fLUlH/7Mz4T2zTb1ZWlT0w3JSDw30NWN6SYh+9qZpRsw0ORAsHZn0gOUC6AsRcGRwZYEotUKazqTipotbhCXgYDfp+FN/DIEwk3j14Tgze7mFQU8RKIvsrfkN6/rXFlgJKyUZsuZcIpdAKMmhmaULMKKbl2syry5QUYjaeEeB94mGLiFHIta96aBuvQn5XbBgEKxM5EG0vU+MNw400DsbspSm6cj7pSFPEdu0mEjn4TiizxO2Agf/MzP3Nwdnl53nwQffbeY0TLF4x4Kn/ifSKOv0yMwDTv8dl5czNuwR23lPtBGX7dHP4+hwL0P3hN4B1SQZhkc3y3M8y3YH8/t1a7/TGjV9O0t2n59c73RCPKCiiD+9Q1OTNH0rdo3pGk2LSHAP0UqrLfWFBgI0gGqar2/Qx0xSiklNbima54PIfrvejPV8cQz9ea53RoFmSesy598+cXpu2nOy6pp/u72CWxk555XFxd5PT6t66re+uhZVmDVgox2YTPM6S/e+SX0J2Xnl9NcMsxNjomhho2wAS305u9GKaX3EANt3eEgZthUDo/9plWRG9LispyPpYulWSymoSAfHksxfo1keH+ts7Pk9t7L8zcvnN24gG3WVvtt+uiW4SKZfrp5IfRmFLfT3ZgFf588PBH/6XpFS14gswi1cFe8OSMiywSeBtB1g/goxyeejbB9DYpgx1EQ0JtzwRuU3MY85k1ufwQTu6i6KZzAcwvF28nSxtjjlhlbbj/sLDLm34uySve5Vd73FmPDQ6z10gQmN3NW9+l5b7dhLzS8xSjxdH2ZIfDP+/7UDc3Uy/rkdnjguXlg6Hr75q6p2a28cTyh5HOg9B7T4ysCa/lv0APOy71ZDXQfFsZORzevEPnPLbkWz62kwDzvARdPZCC3Vird5z27xqOqIh4Rvoei6D7vRTLzfA388QSK5X0Zt/t0w79bcO97aJnu0wn9fi6VTve5cdg/Czqo+wQ6yUvZfD1onqpw0chmHeWN4/11VPeBqHc7fj+d1X2+psDg+VoCap4P6BdPhBBfW+d1nw9EDY8owoEM1wfoxO7zQVNgnm9gvHh8HfrBgtZ9vMTRRp3qSdsH6NTu00lb3aLz99KxX1u5dR8EzjMTy3PAXOd5elmYEFq/mNqo75vpth9n9AJNotmNWR8/4+NneyTT8w1N5U25qd73kY5v7CT29ACPv1rNyBY8ozQM1pm3ONPwjbHC5ijwfdKfm55bLGLe9NxqmfI2zzekxsL14R7xPtC2+M/gwqpj/W+C+T5wjj7g9Q949YO54gO54RZzw2b8Qyboa5Lna7z2NV752hPwNQn/syd2g1PprM3XmcX3pOl7NH+Ppu89S+85O7eg3XuLwS2Hd4tmt2hyawLdkjDfHJsOk9Z5RLch6wetOg59dSPZbiDXbQZ3I+MM4Pdzv6KWkY/dX5h6A1/7J8nXlkW0gUWx/ofh0s/G5jcsmr3KF9UlHP85Ys+mFfR4ne8bXDm7rGgFXbp6HsY3W9/UQtlRunv7mer7tz/UpTE8ko2Idfpzssx0c/L/KcnlLdJQNybwPgiOnxm7HZxNkyQcGZ+Gr4ff06JZVc1mrDbo0FtrIPPcMKubNFLNgx8S/L7cD6so83xt5fv+SqvJW9FZjxvSoNM6P//sIyhT6FKZio/uHqXFsmmz5TT/uhrrhCxRfQsNdV7V6VZB8l5s1hhOKxxS0yNa2qef29u311ubtFHx/Ru572ZZOG63igEr1PnzvSbsuzVxYl4zoTBrjWi66pxsIiOVThirrzFRU2LeJqLQH6VnQo5sUnYSihHiGmhnx6sVpCYVHRyhhGnJ3XRWu2/3ir/qdas3gpywvhF5Zz2hlYJIuqyH6aiHifnET6AZUtyeO9t50YyFePTvAA9yo5Bs3l8bX4ovF256ZSCbfls3S0kqADxbeGuKXORt+ouNt+YPc0Ap3oSCHfTXxMAR7esh4Mzv10PAm4LbI6CyMKmqMj1rmAb57H36j3+xwXT2yDX+yaIpSI+kn32WflFM66qpztvxl+fnxRRrSHU+/qKp3tTF65YwHS/w+3qIMQesZPM18IwhmF5m5TpPf4/b40mq8lZtn21IAL/vZDZtXSwvUiSxfxgzCT+I6fRVW5TN+PO85fT5zUnTb3Cy4PDz3NAq0/KinVPE8kX2zlPXQEm+uiElIDOsMz1+vZ4INbd2RsMQoybDPB3yvO6RZyR9vQeVNukS8jPqupg5LqheywBub2r0Tax/ECGA7QBqrDUKozWordUggxTBRNk3NkyFdv7Ru/QjWrdrh3HISW4YKtqMSZ7qtvlu0c63Pnr30Z3bdGDh83LdaTNlW53TRBMN3g2NQ3l/ALFNE8TOr3Umbz0p7Jlz8ialCCatOH3TDBPZ9wK+dtB7m7TRpqDlVh4cngFVwANxnsnPwjhulXK+jVeJZ8MoPGfpmx/FzaoWT8zTjbV7T4XD/NxZOvU0yO05fEiI01/4C9Pftf/FsHhvIKFKPUPTBAUp9t07Y7LFCwa/Mbtg9RtgvLcXAlX13hjHqbJZt+EZGuktR7dpQTrKDXjeuD7jSnHgT/2VfvyS/wfDeihTy18AAA==&lt;/Code&gt;&lt;CodeSignature&gt;V9L9wIoI+IFXf7fyuVCLtieD974HBvpsT94UpIT/2MG00IZ4clcYi1Le4elcKx6Fs3M9I+EOo6lJuKCAF6+OcXRgm29j3TjF06j+7gKRigiWC4ddLepQLM1DoBhb6KvBJ6tAUW4iZ3Q3TSPE8zEj9Qp3vptEgXqKOB7qK6rPrJwi6uLlChLYTraO7KFDJy/9ESC5gsv6tytYcijdTIf50ps4SNnJZZccspuntJ/GzCWcZT2IwT/tCc7UNys6TEI54hweJmEQTD+wnb7ctbJaCFBLMd+6Mfnh/TCFIlLMx5SoqOdM7t8IdbYCucC25iR1lkZNnzg4DTqqlfAPgZEnEQ==&lt;/CodeSignature&gt;&lt;/SmartOptions&gt;&lt;SmartResize enabled=&quot;True&quot; minWidth=&quot;0&quot; minHeight=&quot;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565862" y="1915697"/>
            <a:ext cx="1563485" cy="835856"/>
            <a:chOff x="595686" y="1261242"/>
            <a:chExt cx="1563485" cy="835856"/>
          </a:xfrm>
        </p:grpSpPr>
        <p:sp>
          <p:nvSpPr>
            <p:cNvPr id="18" name="Circle" descr="&lt;Tags&gt;&lt;SMARTRESIZEANCHORS&gt;None,None,Absolute,None&lt;/SMARTRESIZEANCHORS&gt;&lt;/Tags&gt;"/>
            <p:cNvSpPr/>
            <p:nvPr/>
          </p:nvSpPr>
          <p:spPr>
            <a:xfrm>
              <a:off x="595686" y="1300750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Check" descr="&lt;Tags&gt;&lt;SMARTRESIZEANCHORS&gt;None,None,Absolute,None&lt;/SMARTRESIZEANCHORS&gt;&lt;/Tags&gt;"/>
            <p:cNvSpPr/>
            <p:nvPr/>
          </p:nvSpPr>
          <p:spPr>
            <a:xfrm>
              <a:off x="632992" y="1338056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" name="Label" descr="&lt;Tags&gt;&lt;SMARTRESIZEANCHORS&gt;Relative,Relative,Absolute,Absolute&lt;/SMARTRESIZEANCHORS&gt;&lt;/Tags&gt;"/>
            <p:cNvSpPr txBox="1"/>
            <p:nvPr/>
          </p:nvSpPr>
          <p:spPr>
            <a:xfrm>
              <a:off x="729036" y="1261242"/>
              <a:ext cx="904350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이 일정만 수정</a:t>
              </a:r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" name="Circle" descr="&lt;Tags&gt;&lt;SMARTRESIZEANCHORS&gt;None,None,Absolute,None&lt;/SMARTRESIZEANCHORS&gt;&lt;/Tags&gt;"/>
            <p:cNvSpPr/>
            <p:nvPr/>
          </p:nvSpPr>
          <p:spPr>
            <a:xfrm>
              <a:off x="595686" y="1508580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Check" descr="&lt;Tags&gt;&lt;SMARTRESIZEANCHORS&gt;None,None,Absolute,None&lt;/SMARTRESIZEANCHORS&gt;&lt;/Tags&gt;" hidden="1"/>
            <p:cNvSpPr/>
            <p:nvPr/>
          </p:nvSpPr>
          <p:spPr>
            <a:xfrm>
              <a:off x="632992" y="1545886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" name="Label" descr="&lt;Tags&gt;&lt;SMARTRESIZEANCHORS&gt;Relative,Relative,Absolute,Absolute&lt;/SMARTRESIZEANCHORS&gt;&lt;/Tags&gt;"/>
            <p:cNvSpPr txBox="1"/>
            <p:nvPr/>
          </p:nvSpPr>
          <p:spPr>
            <a:xfrm>
              <a:off x="729036" y="1469072"/>
              <a:ext cx="1430135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이후 모든 반복 일정 수정</a:t>
              </a:r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Circle" descr="&lt;Tags&gt;&lt;SMARTRESIZEANCHORS&gt;None,None,Absolute,None&lt;/SMARTRESIZEANCHORS&gt;&lt;/Tags&gt;"/>
            <p:cNvSpPr/>
            <p:nvPr/>
          </p:nvSpPr>
          <p:spPr>
            <a:xfrm>
              <a:off x="595686" y="1716410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Check" descr="&lt;Tags&gt;&lt;SMARTRESIZEANCHORS&gt;None,None,Absolute,None&lt;/SMARTRESIZEANCHORS&gt;&lt;/Tags&gt;" hidden="1"/>
            <p:cNvSpPr/>
            <p:nvPr/>
          </p:nvSpPr>
          <p:spPr>
            <a:xfrm>
              <a:off x="632992" y="1753716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" name="Label" descr="&lt;Tags&gt;&lt;SMARTRESIZEANCHORS&gt;Relative,Relative,Absolute,Absolute&lt;/SMARTRESIZEANCHORS&gt;&lt;/Tags&gt;"/>
            <p:cNvSpPr txBox="1"/>
            <p:nvPr/>
          </p:nvSpPr>
          <p:spPr>
            <a:xfrm>
              <a:off x="729036" y="1676902"/>
              <a:ext cx="1167243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 반복 일정 수정</a:t>
              </a:r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Check" descr="&lt;Tags&gt;&lt;SMARTRESIZEANCHORS&gt;None,None,Absolute,None&lt;/SMARTRESIZEANCHORS&gt;&lt;/Tags&gt;" hidden="1"/>
            <p:cNvSpPr/>
            <p:nvPr/>
          </p:nvSpPr>
          <p:spPr>
            <a:xfrm>
              <a:off x="632992" y="1961546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" name="Label" descr="&lt;Tags&gt;&lt;SMARTRESIZEANCHORS&gt;Relative,Relative,Absolute,Absolute&lt;/SMARTRESIZEANCHORS&gt;&lt;/Tags&gt;"/>
            <p:cNvSpPr txBox="1"/>
            <p:nvPr/>
          </p:nvSpPr>
          <p:spPr>
            <a:xfrm>
              <a:off x="729036" y="1884732"/>
              <a:ext cx="147797" cy="2123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1480235" y="2954616"/>
            <a:ext cx="1721301" cy="281097"/>
            <a:chOff x="2022024" y="3055438"/>
            <a:chExt cx="942457" cy="254609"/>
          </a:xfrm>
        </p:grpSpPr>
        <p:sp>
          <p:nvSpPr>
            <p:cNvPr id="15" name="모서리가 둥근 직사각형 14"/>
            <p:cNvSpPr/>
            <p:nvPr/>
          </p:nvSpPr>
          <p:spPr>
            <a:xfrm>
              <a:off x="2521419" y="3055438"/>
              <a:ext cx="443062" cy="2546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취소</a:t>
              </a:r>
              <a:endParaRPr kumimoji="1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모서리가 둥근 직사각형 29"/>
            <p:cNvSpPr/>
            <p:nvPr/>
          </p:nvSpPr>
          <p:spPr>
            <a:xfrm>
              <a:off x="2022024" y="3055438"/>
              <a:ext cx="443062" cy="25460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90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확인</a:t>
              </a:r>
              <a:endParaRPr lang="ko-KR" altLang="en-US" sz="9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" name="직사각형 31"/>
          <p:cNvSpPr/>
          <p:nvPr/>
        </p:nvSpPr>
        <p:spPr>
          <a:xfrm>
            <a:off x="419100" y="1809750"/>
            <a:ext cx="3789476" cy="86498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반복 일정 수정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5575635" y="1456095"/>
            <a:ext cx="3023970" cy="1684020"/>
            <a:chOff x="5575635" y="4874346"/>
            <a:chExt cx="3023970" cy="1684020"/>
          </a:xfrm>
        </p:grpSpPr>
        <p:sp>
          <p:nvSpPr>
            <p:cNvPr id="27" name="Rectangular Callout 558"/>
            <p:cNvSpPr/>
            <p:nvPr/>
          </p:nvSpPr>
          <p:spPr>
            <a:xfrm>
              <a:off x="5575635" y="4874346"/>
              <a:ext cx="3023970" cy="1684020"/>
            </a:xfrm>
            <a:prstGeom prst="wedgeRectCallout">
              <a:avLst>
                <a:gd name="adj1" fmla="val -18835"/>
                <a:gd name="adj2" fmla="val -43414"/>
              </a:avLst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sp>
          <p:nvSpPr>
            <p:cNvPr id="34" name="텍스트 상자 31"/>
            <p:cNvSpPr txBox="1"/>
            <p:nvPr/>
          </p:nvSpPr>
          <p:spPr>
            <a:xfrm>
              <a:off x="5846455" y="5038067"/>
              <a:ext cx="1296000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ko-KR" altLang="en-US" sz="9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고객 영업회의 </a:t>
              </a:r>
              <a:endParaRPr kumimoji="1" lang="ko-KR" altLang="en-US" sz="9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5" name="텍스트 상자 31"/>
            <p:cNvSpPr txBox="1"/>
            <p:nvPr/>
          </p:nvSpPr>
          <p:spPr>
            <a:xfrm>
              <a:off x="5759942" y="5404008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시간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6" name="텍스트 상자 31"/>
            <p:cNvSpPr txBox="1"/>
            <p:nvPr/>
          </p:nvSpPr>
          <p:spPr>
            <a:xfrm>
              <a:off x="6211549" y="5352044"/>
              <a:ext cx="2184644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2017-09-24</a:t>
              </a:r>
              <a:r>
                <a:rPr kumimoji="1" lang="en-US" altLang="ko-KR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(</a:t>
              </a:r>
              <a:r>
                <a:rPr kumimoji="1"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목</a:t>
              </a:r>
              <a:r>
                <a:rPr kumimoji="1" lang="en-US" altLang="ko-KR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)     </a:t>
              </a:r>
              <a:r>
                <a:rPr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오전 </a:t>
              </a:r>
              <a:r>
                <a:rPr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10:00 </a:t>
              </a:r>
              <a:r>
                <a:rPr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 </a:t>
              </a:r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– </a:t>
              </a:r>
              <a:r>
                <a:rPr lang="ko-KR" altLang="en-US" sz="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오후 </a:t>
              </a:r>
              <a:r>
                <a:rPr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01:00</a:t>
              </a:r>
              <a:endPara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매월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4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번째 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목요일 반복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endParaRPr>
            </a:p>
          </p:txBody>
        </p:sp>
        <p:cxnSp>
          <p:nvCxnSpPr>
            <p:cNvPr id="37" name="직선 연결선[R] 33"/>
            <p:cNvCxnSpPr/>
            <p:nvPr/>
          </p:nvCxnSpPr>
          <p:spPr>
            <a:xfrm>
              <a:off x="5633452" y="5224898"/>
              <a:ext cx="2880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텍스트 상자 31"/>
            <p:cNvSpPr txBox="1"/>
            <p:nvPr/>
          </p:nvSpPr>
          <p:spPr>
            <a:xfrm>
              <a:off x="5759942" y="5757420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작성자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9" name="텍스트 상자 31"/>
            <p:cNvSpPr txBox="1"/>
            <p:nvPr/>
          </p:nvSpPr>
          <p:spPr>
            <a:xfrm>
              <a:off x="6211549" y="5757420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김핸디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40" name="그룹 39"/>
            <p:cNvGrpSpPr/>
            <p:nvPr/>
          </p:nvGrpSpPr>
          <p:grpSpPr>
            <a:xfrm>
              <a:off x="5759942" y="5943338"/>
              <a:ext cx="1531606" cy="123592"/>
              <a:chOff x="5759942" y="5943338"/>
              <a:chExt cx="1531606" cy="123592"/>
            </a:xfrm>
          </p:grpSpPr>
          <p:sp>
            <p:nvSpPr>
              <p:cNvPr id="41" name="텍스트 상자 31"/>
              <p:cNvSpPr txBox="1"/>
              <p:nvPr/>
            </p:nvSpPr>
            <p:spPr>
              <a:xfrm>
                <a:off x="5759942" y="5943338"/>
                <a:ext cx="45455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달력</a:t>
                </a:r>
                <a:endParaRPr kumimoji="1"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2" name="텍스트 상자 31"/>
              <p:cNvSpPr txBox="1"/>
              <p:nvPr/>
            </p:nvSpPr>
            <p:spPr>
              <a:xfrm>
                <a:off x="6211548" y="5943819"/>
                <a:ext cx="108000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en-US" altLang="ko-KR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UX </a:t>
                </a:r>
                <a:r>
                  <a:rPr kumimoji="1" lang="ko-KR" altLang="en-US" sz="800" dirty="0" err="1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디자인팀</a:t>
                </a:r>
                <a:endParaRPr kumimoji="1"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43" name="Rounded Rectangle 572"/>
            <p:cNvSpPr/>
            <p:nvPr/>
          </p:nvSpPr>
          <p:spPr>
            <a:xfrm>
              <a:off x="7966379" y="4988755"/>
              <a:ext cx="540000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일정 상세</a:t>
              </a:r>
              <a:endParaRPr lang="en-US" sz="7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4" name="Rounded Rectangle 562"/>
            <p:cNvSpPr/>
            <p:nvPr/>
          </p:nvSpPr>
          <p:spPr>
            <a:xfrm>
              <a:off x="8074379" y="6208545"/>
              <a:ext cx="432000" cy="180000"/>
            </a:xfrm>
            <a:prstGeom prst="roundRect">
              <a:avLst>
                <a:gd name="adj" fmla="val 8420"/>
              </a:avLst>
            </a:prstGeom>
            <a:solidFill>
              <a:schemeClr val="bg1">
                <a:lumMod val="85000"/>
              </a:scheme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확인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45" name="Picture 3" descr="C:\Users\Administrator\Downloads\flag (1)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4962" y="5043226"/>
              <a:ext cx="144000" cy="14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6" name="그룹 45"/>
            <p:cNvGrpSpPr/>
            <p:nvPr/>
          </p:nvGrpSpPr>
          <p:grpSpPr>
            <a:xfrm>
              <a:off x="5743361" y="6208545"/>
              <a:ext cx="1218567" cy="180000"/>
              <a:chOff x="6701304" y="6175297"/>
              <a:chExt cx="1218567" cy="180000"/>
            </a:xfrm>
          </p:grpSpPr>
          <p:sp>
            <p:nvSpPr>
              <p:cNvPr id="47" name="Rounded Rectangle 562"/>
              <p:cNvSpPr/>
              <p:nvPr/>
            </p:nvSpPr>
            <p:spPr>
              <a:xfrm>
                <a:off x="6701304" y="6175297"/>
                <a:ext cx="74295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내 일정에 복사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8" name="Rounded Rectangle 562"/>
              <p:cNvSpPr/>
              <p:nvPr/>
            </p:nvSpPr>
            <p:spPr>
              <a:xfrm>
                <a:off x="7487871" y="6175297"/>
                <a:ext cx="432000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삭제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</p:grpSp>
      <p:sp>
        <p:nvSpPr>
          <p:cNvPr id="8" name="TextBox 7"/>
          <p:cNvSpPr txBox="1"/>
          <p:nvPr/>
        </p:nvSpPr>
        <p:spPr>
          <a:xfrm>
            <a:off x="5328667" y="1182460"/>
            <a:ext cx="1272157" cy="25581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간편정보 레이어</a:t>
            </a:r>
          </a:p>
        </p:txBody>
      </p:sp>
      <p:cxnSp>
        <p:nvCxnSpPr>
          <p:cNvPr id="10" name="꺾인 연결선 9"/>
          <p:cNvCxnSpPr>
            <a:stCxn id="43" idx="0"/>
          </p:cNvCxnSpPr>
          <p:nvPr/>
        </p:nvCxnSpPr>
        <p:spPr>
          <a:xfrm rot="16200000" flipV="1">
            <a:off x="6099270" y="-566606"/>
            <a:ext cx="666990" cy="3607229"/>
          </a:xfrm>
          <a:prstGeom prst="bentConnector2">
            <a:avLst/>
          </a:prstGeom>
          <a:ln w="3175">
            <a:solidFill>
              <a:srgbClr val="FF0000"/>
            </a:solidFill>
            <a:prstDash val="sysDot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99512"/>
              </p:ext>
            </p:extLst>
          </p:nvPr>
        </p:nvGraphicFramePr>
        <p:xfrm>
          <a:off x="9286875" y="793264"/>
          <a:ext cx="2819019" cy="1670136"/>
        </p:xfrm>
        <a:graphic>
          <a:graphicData uri="http://schemas.openxmlformats.org/drawingml/2006/table">
            <a:tbl>
              <a:tblPr/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반복일정으로 등록됐을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 간편정보 레이어에서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[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일정상세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]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클릭시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내가 작성한 일정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공유받은 일정 중 수정이 가능할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 수정화면으로 진입되기전 해당 레이어 출력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공유받은 일정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수정 권한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X)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바로 일정 상세 팝업 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[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확인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]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클릭시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상단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3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가지 유형 중 선택된 항목으로 수정 처리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" name="직각 삼각형 51"/>
          <p:cNvSpPr/>
          <p:nvPr/>
        </p:nvSpPr>
        <p:spPr>
          <a:xfrm flipH="1">
            <a:off x="11494450" y="5931238"/>
            <a:ext cx="640019" cy="742447"/>
          </a:xfrm>
          <a:prstGeom prst="rt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12/05</a:t>
            </a: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white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53" name="내용 개체 틀 11"/>
          <p:cNvSpPr txBox="1">
            <a:spLocks/>
          </p:cNvSpPr>
          <p:nvPr/>
        </p:nvSpPr>
        <p:spPr>
          <a:xfrm>
            <a:off x="10171113" y="298450"/>
            <a:ext cx="1944687" cy="215900"/>
          </a:xfrm>
          <a:prstGeom prst="rect">
            <a:avLst/>
          </a:prstGeom>
        </p:spPr>
        <p:txBody>
          <a:bodyPr/>
          <a:lstStyle>
            <a:lvl1pPr marL="371464" indent="-371464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sz="867" kern="1200">
                <a:solidFill>
                  <a:srgbClr val="595959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804838" indent="-309553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238212" indent="-247642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733497" indent="-247642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228781" indent="-247642" algn="l" rtl="0" eaLnBrk="0" fontAlgn="base" latinLnBrk="1" hangingPunct="0">
              <a:spcBef>
                <a:spcPct val="20000"/>
              </a:spcBef>
              <a:spcAft>
                <a:spcPct val="0"/>
              </a:spcAft>
              <a:defRPr sz="975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724066" indent="-247642" algn="l" defTabSz="9905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19351" indent="-247642" algn="l" defTabSz="9905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14636" indent="-247642" algn="l" defTabSz="9905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09920" indent="-247642" algn="l" defTabSz="99057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1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TBD</a:t>
            </a:r>
            <a:endParaRPr kumimoji="1"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6491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4"/>
          <p:cNvSpPr>
            <a:spLocks/>
          </p:cNvSpPr>
          <p:nvPr/>
        </p:nvSpPr>
        <p:spPr bwMode="auto">
          <a:xfrm>
            <a:off x="3019518" y="1329924"/>
            <a:ext cx="6002241" cy="16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marL="360363"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EGW </a:t>
            </a:r>
            <a:r>
              <a:rPr kumimoji="1" lang="ko-KR" altLang="en-US" sz="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프로젝트</a:t>
            </a:r>
            <a:endParaRPr kumimoji="1" lang="ko-KR" altLang="en-US" sz="6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60" name="직선 연결선[R] 7"/>
          <p:cNvCxnSpPr/>
          <p:nvPr/>
        </p:nvCxnSpPr>
        <p:spPr>
          <a:xfrm>
            <a:off x="2019038" y="1063409"/>
            <a:ext cx="55241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61" name="직선 연결선[R] 7"/>
          <p:cNvCxnSpPr/>
          <p:nvPr/>
        </p:nvCxnSpPr>
        <p:spPr>
          <a:xfrm>
            <a:off x="1971413" y="106340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grpSp>
        <p:nvGrpSpPr>
          <p:cNvPr id="66" name="Group 532"/>
          <p:cNvGrpSpPr/>
          <p:nvPr/>
        </p:nvGrpSpPr>
        <p:grpSpPr>
          <a:xfrm>
            <a:off x="3539045" y="851474"/>
            <a:ext cx="540610" cy="144000"/>
            <a:chOff x="3113961" y="1702107"/>
            <a:chExt cx="540610" cy="144000"/>
          </a:xfrm>
        </p:grpSpPr>
        <p:sp>
          <p:nvSpPr>
            <p:cNvPr id="67" name="Freeform 9"/>
            <p:cNvSpPr>
              <a:spLocks noChangeArrowheads="1"/>
            </p:cNvSpPr>
            <p:nvPr/>
          </p:nvSpPr>
          <p:spPr bwMode="auto">
            <a:xfrm>
              <a:off x="31139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68" name="Freeform 10"/>
            <p:cNvSpPr>
              <a:spLocks noChangeArrowheads="1"/>
            </p:cNvSpPr>
            <p:nvPr/>
          </p:nvSpPr>
          <p:spPr bwMode="auto">
            <a:xfrm>
              <a:off x="32475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69" name="Rounded Rectangle 535"/>
            <p:cNvSpPr/>
            <p:nvPr/>
          </p:nvSpPr>
          <p:spPr>
            <a:xfrm>
              <a:off x="3373429" y="1702107"/>
              <a:ext cx="281142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오늘</a:t>
              </a:r>
              <a:endPara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88" name="텍스트 상자 31"/>
          <p:cNvSpPr txBox="1"/>
          <p:nvPr/>
        </p:nvSpPr>
        <p:spPr>
          <a:xfrm>
            <a:off x="3028639" y="1134500"/>
            <a:ext cx="374419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9.3(</a:t>
            </a:r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</a:t>
            </a:r>
            <a:r>
              <a:rPr kumimoji="1"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9" name="텍스트 상자 31"/>
          <p:cNvSpPr txBox="1"/>
          <p:nvPr/>
        </p:nvSpPr>
        <p:spPr>
          <a:xfrm>
            <a:off x="3885188" y="1134500"/>
            <a:ext cx="374419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9.4(</a:t>
            </a:r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월</a:t>
            </a:r>
            <a:r>
              <a:rPr kumimoji="1"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0" name="텍스트 상자 31"/>
          <p:cNvSpPr txBox="1"/>
          <p:nvPr/>
        </p:nvSpPr>
        <p:spPr>
          <a:xfrm>
            <a:off x="4741738" y="1134500"/>
            <a:ext cx="374419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9.5(</a:t>
            </a:r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화</a:t>
            </a:r>
            <a:r>
              <a:rPr kumimoji="1"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1" name="텍스트 상자 31"/>
          <p:cNvSpPr txBox="1"/>
          <p:nvPr/>
        </p:nvSpPr>
        <p:spPr>
          <a:xfrm>
            <a:off x="5590449" y="1134500"/>
            <a:ext cx="374419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endParaRPr kumimoji="1" lang="ko-KR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2" name="텍스트 상자 31"/>
          <p:cNvSpPr txBox="1"/>
          <p:nvPr/>
        </p:nvSpPr>
        <p:spPr>
          <a:xfrm>
            <a:off x="6427216" y="1134500"/>
            <a:ext cx="374419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9.7(</a:t>
            </a:r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목</a:t>
            </a:r>
            <a:r>
              <a:rPr kumimoji="1"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3" name="텍스트 상자 31"/>
          <p:cNvSpPr txBox="1"/>
          <p:nvPr/>
        </p:nvSpPr>
        <p:spPr>
          <a:xfrm>
            <a:off x="7311811" y="1134500"/>
            <a:ext cx="374419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9.8(</a:t>
            </a:r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금</a:t>
            </a:r>
            <a:r>
              <a:rPr kumimoji="1"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4" name="텍스트 상자 31"/>
          <p:cNvSpPr txBox="1"/>
          <p:nvPr/>
        </p:nvSpPr>
        <p:spPr>
          <a:xfrm>
            <a:off x="8149033" y="1134500"/>
            <a:ext cx="374419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9.9(</a:t>
            </a:r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토</a:t>
            </a:r>
            <a:r>
              <a:rPr kumimoji="1"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3" name="Rectangle 14"/>
          <p:cNvSpPr>
            <a:spLocks/>
          </p:cNvSpPr>
          <p:nvPr/>
        </p:nvSpPr>
        <p:spPr bwMode="auto">
          <a:xfrm>
            <a:off x="1935419" y="1297882"/>
            <a:ext cx="950055" cy="162000"/>
          </a:xfrm>
          <a:prstGeom prst="rect">
            <a:avLst/>
          </a:prstGeom>
          <a:noFill/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algn="r">
              <a:lnSpc>
                <a:spcPct val="130000"/>
              </a:lnSpc>
            </a:pPr>
            <a:r>
              <a:rPr lang="en-US" altLang="x-none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종일 </a:t>
            </a:r>
            <a:r>
              <a:rPr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4" name="Rectangle 14"/>
          <p:cNvSpPr>
            <a:spLocks/>
          </p:cNvSpPr>
          <p:nvPr/>
        </p:nvSpPr>
        <p:spPr bwMode="auto">
          <a:xfrm>
            <a:off x="3891558" y="1920625"/>
            <a:ext cx="828000" cy="12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자동차 </a:t>
            </a:r>
            <a:r>
              <a:rPr lang="en-US" altLang="ko-KR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UX</a:t>
            </a:r>
            <a:r>
              <a:rPr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개선 리뷰</a:t>
            </a:r>
            <a:endParaRPr kumimoji="1" lang="ko-KR" altLang="en-US" sz="6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6" name="Rectangle 14"/>
          <p:cNvSpPr>
            <a:spLocks/>
          </p:cNvSpPr>
          <p:nvPr/>
        </p:nvSpPr>
        <p:spPr bwMode="auto">
          <a:xfrm>
            <a:off x="3887224" y="3095499"/>
            <a:ext cx="720000" cy="12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EGW </a:t>
            </a: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디자인 리뷰</a:t>
            </a:r>
            <a:endParaRPr kumimoji="1" lang="ko-KR" altLang="en-US" sz="6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5" name="텍스트 상자 31"/>
          <p:cNvSpPr txBox="1"/>
          <p:nvPr/>
        </p:nvSpPr>
        <p:spPr>
          <a:xfrm>
            <a:off x="2000271" y="859107"/>
            <a:ext cx="171801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2017.09.03</a:t>
            </a:r>
            <a:r>
              <a:rPr kumimoji="1" lang="ko-KR" altLang="en-US" sz="10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kumimoji="1" lang="mr-IN" altLang="ko-KR" sz="10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–</a:t>
            </a:r>
            <a:r>
              <a:rPr kumimoji="1" lang="ko-KR" altLang="en-US" sz="10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 </a:t>
            </a:r>
            <a:r>
              <a:rPr kumimoji="1" lang="en-US" altLang="ko-KR" sz="10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2017.09.09</a:t>
            </a:r>
            <a:endParaRPr kumimoji="1" lang="ko-KR" altLang="en-US" sz="10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graphicFrame>
        <p:nvGraphicFramePr>
          <p:cNvPr id="12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710961"/>
              </p:ext>
            </p:extLst>
          </p:nvPr>
        </p:nvGraphicFramePr>
        <p:xfrm>
          <a:off x="9286521" y="793264"/>
          <a:ext cx="2810229" cy="3336376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6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b="1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종일일정</a:t>
                      </a:r>
                      <a:r>
                        <a:rPr kumimoji="1"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표시</a:t>
                      </a:r>
                      <a:endParaRPr kumimoji="1" lang="en-US" altLang="ko-KR" sz="800" b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r>
                        <a:rPr kumimoji="1"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개수 상관없이 모두 출력시키며 지정된 </a:t>
                      </a:r>
                      <a:r>
                        <a:rPr kumimoji="1"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height</a:t>
                      </a:r>
                      <a:r>
                        <a:rPr kumimoji="1"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값 초과시 스크롤 처리</a:t>
                      </a:r>
                      <a:r>
                        <a:rPr kumimoji="1"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기념일 동일</a:t>
                      </a:r>
                      <a:r>
                        <a:rPr kumimoji="1"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  <a:endParaRPr kumimoji="1" lang="en-US" altLang="ko-KR" sz="800" b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등록된 일정</a:t>
                      </a:r>
                      <a:endParaRPr lang="en-US" altLang="ko-KR" sz="800" b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79388" indent="-179388" algn="l" defTabSz="914400">
                        <a:buSzPct val="100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등록된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일정을 해당 날짜 범위 내에 표시</a:t>
                      </a:r>
                    </a:p>
                    <a:p>
                      <a:pPr marL="179388" indent="-179388" algn="l" defTabSz="914400">
                        <a:buSzPct val="100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속한 달력과 동일한 컬러로 일정 표시</a:t>
                      </a:r>
                    </a:p>
                    <a:p>
                      <a:pPr marL="179388" indent="-179388" algn="l" defTabSz="914400">
                        <a:buSzPct val="100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표시 정보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일정 제목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표시</a:t>
                      </a:r>
                    </a:p>
                    <a:p>
                      <a:pPr marL="179388" indent="-179388" algn="l" defTabSz="914400">
                        <a:buSzPct val="100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주간 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뷰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시간 영역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내 모두 표시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회 선택 시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원클릭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일정 간편보기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(4)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제공</a:t>
                      </a:r>
                    </a:p>
                    <a:p>
                      <a:pPr marL="179388" indent="-179388" algn="l" defTabSz="914400">
                        <a:buSzPct val="100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2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회 선택 시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더블클릭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일정 상세보기 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새창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제공</a:t>
                      </a:r>
                      <a:endParaRPr kumimoji="1" lang="en-US" altLang="ko-KR" sz="8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9388" indent="-179388" algn="l" defTabSz="914400">
                        <a:buSzPct val="100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+ 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버튼 영역 선택 시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 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 간편 등록 제공 </a:t>
                      </a:r>
                      <a:endParaRPr kumimoji="1" lang="en-US" altLang="ko-KR" sz="8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9388" indent="-179388" algn="l" defTabSz="914400">
                        <a:buSzPct val="100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지난 일정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시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분 단위로 흐리게 표시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smtClean="0">
                          <a:solidFill>
                            <a:srgbClr val="0000FF"/>
                          </a:solidFill>
                          <a:latin typeface="+mn-ea"/>
                        </a:rPr>
                        <a:t>주간</a:t>
                      </a:r>
                      <a:r>
                        <a:rPr kumimoji="1" lang="en-US" altLang="ko-KR" sz="800" smtClean="0">
                          <a:solidFill>
                            <a:srgbClr val="0000FF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smtClean="0">
                          <a:solidFill>
                            <a:srgbClr val="0000FF"/>
                          </a:solidFill>
                          <a:latin typeface="+mn-ea"/>
                        </a:rPr>
                        <a:t>일간형일 때 더보기 버튼</a:t>
                      </a:r>
                      <a:r>
                        <a:rPr kumimoji="1" lang="en-US" altLang="ko-KR" sz="800" smtClean="0">
                          <a:solidFill>
                            <a:srgbClr val="0000FF"/>
                          </a:solidFill>
                          <a:latin typeface="+mn-ea"/>
                        </a:rPr>
                        <a:t>[+N]</a:t>
                      </a:r>
                      <a:r>
                        <a:rPr kumimoji="1" lang="ko-KR" altLang="en-US" sz="800" smtClean="0">
                          <a:solidFill>
                            <a:srgbClr val="0000FF"/>
                          </a:solidFill>
                          <a:latin typeface="+mn-ea"/>
                        </a:rPr>
                        <a:t>은</a:t>
                      </a:r>
                      <a:r>
                        <a:rPr kumimoji="1" lang="en-US" altLang="ko-KR" sz="800" smtClean="0">
                          <a:solidFill>
                            <a:srgbClr val="0000FF"/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mtClean="0">
                          <a:solidFill>
                            <a:srgbClr val="0000FF"/>
                          </a:solidFill>
                          <a:latin typeface="+mn-ea"/>
                        </a:rPr>
                        <a:t>출력시키지 않고 해당 영역에 모두 출력</a:t>
                      </a: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b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시간수정</a:t>
                      </a:r>
                      <a:endParaRPr kumimoji="1" lang="en-US" altLang="ko-KR" sz="800" b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90488" indent="-90488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등록된 일정의 종료시간 부분에 마우스 오버 시 편집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아이콘 노출 되고 마우스 포인터는 수직 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리사이징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화살표로 수정</a:t>
                      </a:r>
                      <a:endParaRPr kumimoji="1" lang="en-US" altLang="ko-KR" sz="8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90488" indent="-90488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해당 일정막대를 확대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/ 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축소 시키며 시간 조정 가능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4</a:t>
                      </a:r>
                      <a:endParaRPr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휴일이랑 음력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정보가 겹칠 경우 휴일 정보를 우선적으로 노출</a:t>
                      </a:r>
                      <a:endParaRPr kumimoji="1" lang="en-US" altLang="ko-KR" sz="800" baseline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휴일 정보가 지정된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width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값 초과시 줄임 처리</a:t>
                      </a: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132269"/>
                  </a:ext>
                </a:extLst>
              </a:tr>
            </a:tbl>
          </a:graphicData>
        </a:graphic>
      </p:graphicFrame>
      <p:sp>
        <p:nvSpPr>
          <p:cNvPr id="127" name="Rectangle 14"/>
          <p:cNvSpPr>
            <a:spLocks/>
          </p:cNvSpPr>
          <p:nvPr/>
        </p:nvSpPr>
        <p:spPr bwMode="auto">
          <a:xfrm>
            <a:off x="5587564" y="1076030"/>
            <a:ext cx="859207" cy="211749"/>
          </a:xfrm>
          <a:prstGeom prst="rect">
            <a:avLst/>
          </a:prstGeom>
          <a:solidFill>
            <a:srgbClr val="FF0000">
              <a:alpha val="40000"/>
            </a:srgbClr>
          </a:solidFill>
          <a:ln w="12700" cap="flat" cmpd="sng">
            <a:solidFill>
              <a:srgbClr val="FF0000">
                <a:alpha val="40000"/>
              </a:srgbClr>
            </a:solidFill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algn="ctr">
              <a:lnSpc>
                <a:spcPct val="120000"/>
              </a:lnSpc>
            </a:pPr>
            <a:endParaRPr kumimoji="1" lang="ko-KR" altLang="en-US" sz="700" b="1" dirty="0">
              <a:latin typeface="+mn-ea"/>
              <a:ea typeface="+mn-ea"/>
            </a:endParaRPr>
          </a:p>
        </p:txBody>
      </p:sp>
      <p:sp>
        <p:nvSpPr>
          <p:cNvPr id="155" name="Rectangle 14"/>
          <p:cNvSpPr>
            <a:spLocks/>
          </p:cNvSpPr>
          <p:nvPr/>
        </p:nvSpPr>
        <p:spPr bwMode="auto">
          <a:xfrm>
            <a:off x="4743961" y="3693804"/>
            <a:ext cx="720000" cy="27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EGW </a:t>
            </a: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디자인 리뷰</a:t>
            </a:r>
            <a:endParaRPr kumimoji="1" lang="ko-KR" altLang="en-US" sz="600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7" name="Rectangle 14"/>
          <p:cNvSpPr>
            <a:spLocks/>
          </p:cNvSpPr>
          <p:nvPr/>
        </p:nvSpPr>
        <p:spPr bwMode="auto">
          <a:xfrm>
            <a:off x="5603167" y="1920625"/>
            <a:ext cx="828000" cy="126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600" dirty="0" smtClean="0">
                <a:solidFill>
                  <a:schemeClr val="bg1"/>
                </a:solidFill>
                <a:latin typeface="+mn-ea"/>
                <a:ea typeface="+mn-ea"/>
              </a:rPr>
              <a:t>자동차 </a:t>
            </a:r>
            <a:r>
              <a:rPr lang="en-US" altLang="ko-KR" sz="600" dirty="0" smtClean="0">
                <a:solidFill>
                  <a:schemeClr val="bg1"/>
                </a:solidFill>
                <a:latin typeface="+mn-ea"/>
                <a:ea typeface="+mn-ea"/>
              </a:rPr>
              <a:t>UX</a:t>
            </a:r>
            <a:r>
              <a:rPr lang="ko-KR" altLang="en-US" sz="600" dirty="0" smtClean="0">
                <a:solidFill>
                  <a:schemeClr val="bg1"/>
                </a:solidFill>
                <a:latin typeface="+mn-ea"/>
                <a:ea typeface="+mn-ea"/>
              </a:rPr>
              <a:t>개선 리뷰</a:t>
            </a:r>
            <a:endParaRPr kumimoji="1" lang="ko-KR" altLang="en-US" sz="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9" name="Rectangle 14"/>
          <p:cNvSpPr>
            <a:spLocks/>
          </p:cNvSpPr>
          <p:nvPr/>
        </p:nvSpPr>
        <p:spPr bwMode="auto">
          <a:xfrm>
            <a:off x="7312516" y="2498278"/>
            <a:ext cx="720000" cy="288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600" dirty="0" smtClean="0">
                <a:solidFill>
                  <a:schemeClr val="bg1"/>
                </a:solidFill>
                <a:latin typeface="+mn-ea"/>
                <a:ea typeface="+mn-ea"/>
              </a:rPr>
              <a:t>자동차 </a:t>
            </a:r>
            <a:r>
              <a:rPr lang="en-US" altLang="ko-KR" sz="600" dirty="0" smtClean="0">
                <a:solidFill>
                  <a:schemeClr val="bg1"/>
                </a:solidFill>
                <a:latin typeface="+mn-ea"/>
                <a:ea typeface="+mn-ea"/>
              </a:rPr>
              <a:t>UX</a:t>
            </a:r>
            <a:r>
              <a:rPr lang="ko-KR" altLang="en-US" sz="600" dirty="0" smtClean="0">
                <a:solidFill>
                  <a:schemeClr val="bg1"/>
                </a:solidFill>
                <a:latin typeface="+mn-ea"/>
                <a:ea typeface="+mn-ea"/>
              </a:rPr>
              <a:t>개선 보고</a:t>
            </a:r>
            <a:endParaRPr kumimoji="1" lang="ko-KR" altLang="en-US" sz="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60" name="Rectangle 14"/>
          <p:cNvSpPr>
            <a:spLocks/>
          </p:cNvSpPr>
          <p:nvPr/>
        </p:nvSpPr>
        <p:spPr bwMode="auto">
          <a:xfrm>
            <a:off x="4739312" y="2506596"/>
            <a:ext cx="720000" cy="2737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정부과제</a:t>
            </a:r>
            <a:r>
              <a:rPr kumimoji="1" lang="en-US" altLang="ko-KR" sz="6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ko-KR" altLang="en-US" sz="6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디자인 리뷰</a:t>
            </a:r>
            <a:endParaRPr kumimoji="1" lang="ko-KR" altLang="en-US" sz="6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2" name="Rectangle 139"/>
          <p:cNvSpPr/>
          <p:nvPr/>
        </p:nvSpPr>
        <p:spPr>
          <a:xfrm>
            <a:off x="2976914" y="1297074"/>
            <a:ext cx="6071836" cy="186184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161" name="타원 160"/>
          <p:cNvSpPr>
            <a:spLocks noChangeAspect="1"/>
          </p:cNvSpPr>
          <p:nvPr/>
        </p:nvSpPr>
        <p:spPr>
          <a:xfrm>
            <a:off x="8971112" y="1185204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3" name="그룹 72"/>
          <p:cNvGrpSpPr/>
          <p:nvPr/>
        </p:nvGrpSpPr>
        <p:grpSpPr>
          <a:xfrm>
            <a:off x="7591366" y="2695524"/>
            <a:ext cx="295322" cy="196123"/>
            <a:chOff x="7654036" y="2712927"/>
            <a:chExt cx="295322" cy="196123"/>
          </a:xfrm>
        </p:grpSpPr>
        <p:pic>
          <p:nvPicPr>
            <p:cNvPr id="64" name="그림 63"/>
            <p:cNvPicPr preferRelativeResize="0"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4036" y="2760270"/>
              <a:ext cx="144000" cy="41776"/>
            </a:xfrm>
            <a:prstGeom prst="rect">
              <a:avLst/>
            </a:prstGeom>
          </p:spPr>
        </p:pic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3235" y="2712927"/>
              <a:ext cx="196123" cy="196123"/>
            </a:xfrm>
            <a:prstGeom prst="rect">
              <a:avLst/>
            </a:prstGeom>
          </p:spPr>
        </p:pic>
      </p:grpSp>
      <p:cxnSp>
        <p:nvCxnSpPr>
          <p:cNvPr id="191" name="직선 연결선[R] 7"/>
          <p:cNvCxnSpPr/>
          <p:nvPr/>
        </p:nvCxnSpPr>
        <p:spPr>
          <a:xfrm>
            <a:off x="1971413" y="1897798"/>
            <a:ext cx="705035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miter lim="400000"/>
          </a:ln>
        </p:spPr>
      </p:cxnSp>
      <p:grpSp>
        <p:nvGrpSpPr>
          <p:cNvPr id="163" name="그룹 162"/>
          <p:cNvGrpSpPr/>
          <p:nvPr/>
        </p:nvGrpSpPr>
        <p:grpSpPr>
          <a:xfrm>
            <a:off x="2165122" y="1875024"/>
            <a:ext cx="828000" cy="4667491"/>
            <a:chOff x="2165122" y="1583549"/>
            <a:chExt cx="828000" cy="4888631"/>
          </a:xfrm>
        </p:grpSpPr>
        <p:sp>
          <p:nvSpPr>
            <p:cNvPr id="138" name="Rectangle 14"/>
            <p:cNvSpPr>
              <a:spLocks/>
            </p:cNvSpPr>
            <p:nvPr/>
          </p:nvSpPr>
          <p:spPr bwMode="auto">
            <a:xfrm>
              <a:off x="2165122" y="1583549"/>
              <a:ext cx="828000" cy="162000"/>
            </a:xfrm>
            <a:prstGeom prst="rect">
              <a:avLst/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ko-KR" altLang="en-US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am 8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9" name="Rectangle 14"/>
            <p:cNvSpPr>
              <a:spLocks/>
            </p:cNvSpPr>
            <p:nvPr/>
          </p:nvSpPr>
          <p:spPr bwMode="auto">
            <a:xfrm>
              <a:off x="2165122" y="1848089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ko-KR" altLang="en-US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9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0" name="Rectangle 14"/>
            <p:cNvSpPr>
              <a:spLocks/>
            </p:cNvSpPr>
            <p:nvPr/>
          </p:nvSpPr>
          <p:spPr bwMode="auto">
            <a:xfrm>
              <a:off x="2165122" y="2190248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10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1" name="Rectangle 14"/>
            <p:cNvSpPr>
              <a:spLocks/>
            </p:cNvSpPr>
            <p:nvPr/>
          </p:nvSpPr>
          <p:spPr bwMode="auto">
            <a:xfrm>
              <a:off x="2165122" y="2500275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11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2" name="Rectangle 14"/>
            <p:cNvSpPr>
              <a:spLocks/>
            </p:cNvSpPr>
            <p:nvPr/>
          </p:nvSpPr>
          <p:spPr bwMode="auto">
            <a:xfrm>
              <a:off x="2165122" y="2826311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pm 12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4" name="Rectangle 14"/>
            <p:cNvSpPr>
              <a:spLocks/>
            </p:cNvSpPr>
            <p:nvPr/>
          </p:nvSpPr>
          <p:spPr bwMode="auto">
            <a:xfrm>
              <a:off x="2165122" y="3132760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1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5" name="Rectangle 14"/>
            <p:cNvSpPr>
              <a:spLocks/>
            </p:cNvSpPr>
            <p:nvPr/>
          </p:nvSpPr>
          <p:spPr bwMode="auto">
            <a:xfrm>
              <a:off x="2165122" y="3453378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2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6" name="Rectangle 14"/>
            <p:cNvSpPr>
              <a:spLocks/>
            </p:cNvSpPr>
            <p:nvPr/>
          </p:nvSpPr>
          <p:spPr bwMode="auto">
            <a:xfrm>
              <a:off x="2165122" y="3771500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3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7" name="Rectangle 14"/>
            <p:cNvSpPr>
              <a:spLocks/>
            </p:cNvSpPr>
            <p:nvPr/>
          </p:nvSpPr>
          <p:spPr bwMode="auto">
            <a:xfrm>
              <a:off x="2165122" y="4088285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4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8" name="Rectangle 14"/>
            <p:cNvSpPr>
              <a:spLocks/>
            </p:cNvSpPr>
            <p:nvPr/>
          </p:nvSpPr>
          <p:spPr bwMode="auto">
            <a:xfrm>
              <a:off x="2165122" y="4399858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5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9" name="Rectangle 14"/>
            <p:cNvSpPr>
              <a:spLocks/>
            </p:cNvSpPr>
            <p:nvPr/>
          </p:nvSpPr>
          <p:spPr bwMode="auto">
            <a:xfrm>
              <a:off x="2165122" y="4692275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pm 6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0" name="Rectangle 14"/>
            <p:cNvSpPr>
              <a:spLocks/>
            </p:cNvSpPr>
            <p:nvPr/>
          </p:nvSpPr>
          <p:spPr bwMode="auto">
            <a:xfrm>
              <a:off x="2165122" y="5043472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7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1" name="Rectangle 14"/>
            <p:cNvSpPr>
              <a:spLocks/>
            </p:cNvSpPr>
            <p:nvPr/>
          </p:nvSpPr>
          <p:spPr bwMode="auto">
            <a:xfrm>
              <a:off x="2165122" y="5352357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2" name="Rectangle 14"/>
            <p:cNvSpPr>
              <a:spLocks/>
            </p:cNvSpPr>
            <p:nvPr/>
          </p:nvSpPr>
          <p:spPr bwMode="auto">
            <a:xfrm>
              <a:off x="2165122" y="5666651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9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3" name="Rectangle 14"/>
            <p:cNvSpPr>
              <a:spLocks/>
            </p:cNvSpPr>
            <p:nvPr/>
          </p:nvSpPr>
          <p:spPr bwMode="auto">
            <a:xfrm>
              <a:off x="2165122" y="5989318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10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4" name="Rectangle 14"/>
            <p:cNvSpPr>
              <a:spLocks/>
            </p:cNvSpPr>
            <p:nvPr/>
          </p:nvSpPr>
          <p:spPr bwMode="auto">
            <a:xfrm>
              <a:off x="2165122" y="6310180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11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92" name="Rectangle 14"/>
          <p:cNvSpPr>
            <a:spLocks/>
          </p:cNvSpPr>
          <p:nvPr/>
        </p:nvSpPr>
        <p:spPr bwMode="auto">
          <a:xfrm>
            <a:off x="3019518" y="1510475"/>
            <a:ext cx="6002241" cy="1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              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정부과제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리뷰</a:t>
            </a:r>
          </a:p>
        </p:txBody>
      </p:sp>
      <p:sp>
        <p:nvSpPr>
          <p:cNvPr id="195" name="Rectangle 14"/>
          <p:cNvSpPr>
            <a:spLocks/>
          </p:cNvSpPr>
          <p:nvPr/>
        </p:nvSpPr>
        <p:spPr bwMode="auto">
          <a:xfrm>
            <a:off x="3019518" y="1693334"/>
            <a:ext cx="6002241" cy="16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>
              <a:lnSpc>
                <a:spcPct val="120000"/>
              </a:lnSpc>
            </a:pPr>
            <a:r>
              <a:rPr kumimoji="1" lang="ko-KR" altLang="en-US" sz="60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              </a:t>
            </a:r>
            <a:r>
              <a:rPr kumimoji="1" lang="ko-KR" altLang="en-US" sz="6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팀장님 생일</a:t>
            </a:r>
            <a:endParaRPr lang="ko-KR" altLang="en-US" sz="6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8" name="직선 연결선 127"/>
          <p:cNvCxnSpPr>
            <a:stCxn id="127" idx="1"/>
          </p:cNvCxnSpPr>
          <p:nvPr/>
        </p:nvCxnSpPr>
        <p:spPr>
          <a:xfrm>
            <a:off x="5587564" y="1181905"/>
            <a:ext cx="1" cy="5440590"/>
          </a:xfrm>
          <a:prstGeom prst="line">
            <a:avLst/>
          </a:prstGeom>
          <a:ln w="12700">
            <a:solidFill>
              <a:srgbClr val="FF0000">
                <a:alpha val="40000"/>
              </a:srgb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내용 개체 틀 2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8288554"/>
              </p:ext>
            </p:extLst>
          </p:nvPr>
        </p:nvGraphicFramePr>
        <p:xfrm>
          <a:off x="3019519" y="1898328"/>
          <a:ext cx="6002242" cy="4751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0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415">
                  <a:extLst>
                    <a:ext uri="{9D8B030D-6E8A-4147-A177-3AD203B41FA5}">
                      <a16:colId xmlns:a16="http://schemas.microsoft.com/office/drawing/2014/main" val="3655253477"/>
                    </a:ext>
                  </a:extLst>
                </a:gridCol>
                <a:gridCol w="857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4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smtClean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600" smtClean="0"/>
                    </a:p>
                  </a:txBody>
                  <a:tcPr marL="0" marR="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6994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56" name="Rectangle 14"/>
          <p:cNvSpPr>
            <a:spLocks/>
          </p:cNvSpPr>
          <p:nvPr/>
        </p:nvSpPr>
        <p:spPr bwMode="auto">
          <a:xfrm>
            <a:off x="5603167" y="3689792"/>
            <a:ext cx="133712" cy="28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550" dirty="0" smtClean="0">
                <a:solidFill>
                  <a:schemeClr val="bg1"/>
                </a:solidFill>
                <a:latin typeface="+mn-ea"/>
                <a:ea typeface="+mn-ea"/>
              </a:rPr>
              <a:t>EGW</a:t>
            </a:r>
            <a:endParaRPr lang="ko-KR" altLang="en-US" sz="5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3" name="Rectangle 14"/>
          <p:cNvSpPr>
            <a:spLocks/>
          </p:cNvSpPr>
          <p:nvPr/>
        </p:nvSpPr>
        <p:spPr bwMode="auto">
          <a:xfrm>
            <a:off x="5741943" y="3689792"/>
            <a:ext cx="133712" cy="28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550" dirty="0" err="1" smtClean="0">
                <a:solidFill>
                  <a:schemeClr val="bg1"/>
                </a:solidFill>
                <a:latin typeface="+mn-ea"/>
                <a:ea typeface="+mn-ea"/>
              </a:rPr>
              <a:t>정부과</a:t>
            </a:r>
            <a:endParaRPr lang="ko-KR" altLang="en-US" sz="5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4" name="Rectangle 14"/>
          <p:cNvSpPr>
            <a:spLocks/>
          </p:cNvSpPr>
          <p:nvPr/>
        </p:nvSpPr>
        <p:spPr bwMode="auto">
          <a:xfrm>
            <a:off x="5883807" y="3689792"/>
            <a:ext cx="133712" cy="28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550" dirty="0" smtClean="0">
                <a:solidFill>
                  <a:schemeClr val="bg1"/>
                </a:solidFill>
                <a:latin typeface="+mn-ea"/>
                <a:ea typeface="+mn-ea"/>
              </a:rPr>
              <a:t>자동차</a:t>
            </a:r>
            <a:endParaRPr lang="ko-KR" altLang="en-US" sz="5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5" name="Rectangle 14"/>
          <p:cNvSpPr>
            <a:spLocks/>
          </p:cNvSpPr>
          <p:nvPr/>
        </p:nvSpPr>
        <p:spPr bwMode="auto">
          <a:xfrm>
            <a:off x="6022202" y="3689792"/>
            <a:ext cx="133712" cy="288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550" dirty="0" smtClean="0">
                <a:solidFill>
                  <a:schemeClr val="bg1"/>
                </a:solidFill>
                <a:latin typeface="+mn-ea"/>
                <a:ea typeface="+mn-ea"/>
              </a:rPr>
              <a:t>임원회</a:t>
            </a:r>
            <a:endParaRPr lang="ko-KR" altLang="en-US" sz="5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6" name="Rectangle 14"/>
          <p:cNvSpPr>
            <a:spLocks/>
          </p:cNvSpPr>
          <p:nvPr/>
        </p:nvSpPr>
        <p:spPr bwMode="auto">
          <a:xfrm>
            <a:off x="6161669" y="3689792"/>
            <a:ext cx="133712" cy="28800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550" dirty="0" smtClean="0">
                <a:solidFill>
                  <a:schemeClr val="bg1"/>
                </a:solidFill>
                <a:latin typeface="+mn-ea"/>
                <a:ea typeface="+mn-ea"/>
              </a:rPr>
              <a:t>EGW</a:t>
            </a:r>
            <a:endParaRPr lang="ko-KR" altLang="en-US" sz="5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6310202" y="3694334"/>
            <a:ext cx="136570" cy="283457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나눔고딕" pitchFamily="50" charset="-127"/>
                <a:ea typeface="나눔고딕" pitchFamily="50" charset="-127"/>
              </a:rPr>
              <a:t>+</a:t>
            </a:r>
            <a:endParaRPr lang="ko-KR" altLang="en-US" sz="800" dirty="0" smtClean="0">
              <a:solidFill>
                <a:schemeClr val="bg1">
                  <a:lumMod val="6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30" name="직선 연결선 129"/>
          <p:cNvCxnSpPr/>
          <p:nvPr/>
        </p:nvCxnSpPr>
        <p:spPr>
          <a:xfrm>
            <a:off x="6446772" y="1157031"/>
            <a:ext cx="0" cy="5465464"/>
          </a:xfrm>
          <a:prstGeom prst="line">
            <a:avLst/>
          </a:prstGeom>
          <a:ln w="12700">
            <a:solidFill>
              <a:srgbClr val="FF0000">
                <a:alpha val="40000"/>
              </a:srgb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타원 200"/>
          <p:cNvSpPr>
            <a:spLocks noChangeAspect="1"/>
          </p:cNvSpPr>
          <p:nvPr/>
        </p:nvSpPr>
        <p:spPr>
          <a:xfrm>
            <a:off x="6205585" y="3584948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2" name="Rectangle 139"/>
          <p:cNvSpPr/>
          <p:nvPr/>
        </p:nvSpPr>
        <p:spPr>
          <a:xfrm>
            <a:off x="7266728" y="2481816"/>
            <a:ext cx="846829" cy="429465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203" name="Rectangle 139"/>
          <p:cNvSpPr/>
          <p:nvPr/>
        </p:nvSpPr>
        <p:spPr>
          <a:xfrm>
            <a:off x="5559744" y="3655310"/>
            <a:ext cx="936000" cy="360000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8039239" y="2502402"/>
            <a:ext cx="120965" cy="277956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나눔고딕" pitchFamily="50" charset="-127"/>
                <a:ea typeface="나눔고딕" pitchFamily="50" charset="-127"/>
              </a:rPr>
              <a:t>+</a:t>
            </a:r>
            <a:endParaRPr lang="ko-KR" altLang="en-US" sz="800" dirty="0" smtClean="0">
              <a:solidFill>
                <a:schemeClr val="bg1">
                  <a:lumMod val="6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00" name="타원 199"/>
          <p:cNvSpPr>
            <a:spLocks noChangeAspect="1"/>
          </p:cNvSpPr>
          <p:nvPr/>
        </p:nvSpPr>
        <p:spPr>
          <a:xfrm>
            <a:off x="7789708" y="2768900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7166877" y="3382297"/>
            <a:ext cx="133575" cy="289078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나눔고딕" pitchFamily="50" charset="-127"/>
                <a:ea typeface="나눔고딕" pitchFamily="50" charset="-127"/>
              </a:rPr>
              <a:t>+</a:t>
            </a:r>
            <a:endParaRPr lang="ko-KR" altLang="en-US" sz="800" dirty="0" smtClean="0">
              <a:solidFill>
                <a:schemeClr val="bg1">
                  <a:lumMod val="6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5462286" y="2504899"/>
            <a:ext cx="120965" cy="277956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나눔고딕" pitchFamily="50" charset="-127"/>
                <a:ea typeface="나눔고딕" pitchFamily="50" charset="-127"/>
              </a:rPr>
              <a:t>+</a:t>
            </a:r>
            <a:endParaRPr lang="ko-KR" altLang="en-US" sz="800" dirty="0" smtClean="0">
              <a:solidFill>
                <a:schemeClr val="bg1">
                  <a:lumMod val="6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8" name="직사각형 217"/>
          <p:cNvSpPr/>
          <p:nvPr/>
        </p:nvSpPr>
        <p:spPr>
          <a:xfrm>
            <a:off x="5462286" y="3696844"/>
            <a:ext cx="120965" cy="277956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나눔고딕" pitchFamily="50" charset="-127"/>
                <a:ea typeface="나눔고딕" pitchFamily="50" charset="-127"/>
              </a:rPr>
              <a:t>+</a:t>
            </a:r>
            <a:endParaRPr lang="ko-KR" altLang="en-US" sz="800" dirty="0" smtClean="0">
              <a:solidFill>
                <a:schemeClr val="bg1">
                  <a:lumMod val="6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9" name="직사각형 218"/>
          <p:cNvSpPr/>
          <p:nvPr/>
        </p:nvSpPr>
        <p:spPr>
          <a:xfrm>
            <a:off x="4604517" y="3096176"/>
            <a:ext cx="120965" cy="12532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나눔고딕" pitchFamily="50" charset="-127"/>
                <a:ea typeface="나눔고딕" pitchFamily="50" charset="-127"/>
              </a:rPr>
              <a:t>+</a:t>
            </a:r>
            <a:endParaRPr lang="ko-KR" altLang="en-US" sz="800" dirty="0" smtClean="0">
              <a:solidFill>
                <a:schemeClr val="bg1">
                  <a:lumMod val="6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7" name="Rectangle 14"/>
          <p:cNvSpPr>
            <a:spLocks/>
          </p:cNvSpPr>
          <p:nvPr/>
        </p:nvSpPr>
        <p:spPr bwMode="auto">
          <a:xfrm>
            <a:off x="1935419" y="1694122"/>
            <a:ext cx="950055" cy="162000"/>
          </a:xfrm>
          <a:prstGeom prst="rect">
            <a:avLst/>
          </a:prstGeom>
          <a:noFill/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algn="r">
              <a:lnSpc>
                <a:spcPct val="130000"/>
              </a:lnSpc>
            </a:pP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기념일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29" name="텍스트 상자 31"/>
          <p:cNvSpPr txBox="1"/>
          <p:nvPr/>
        </p:nvSpPr>
        <p:spPr>
          <a:xfrm>
            <a:off x="5564698" y="1134500"/>
            <a:ext cx="374419" cy="107722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9.6(</a:t>
            </a:r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</a:t>
            </a:r>
            <a:r>
              <a:rPr kumimoji="1"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0" name="TextBox 229"/>
          <p:cNvSpPr txBox="1"/>
          <p:nvPr/>
        </p:nvSpPr>
        <p:spPr>
          <a:xfrm>
            <a:off x="4174957" y="1092953"/>
            <a:ext cx="519941" cy="184666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600" smtClean="0">
                <a:solidFill>
                  <a:srgbClr val="FF0000"/>
                </a:solidFill>
                <a:latin typeface="+mn-ea"/>
                <a:ea typeface="+mn-ea"/>
              </a:rPr>
              <a:t>임시 공휴일</a:t>
            </a:r>
            <a:r>
              <a:rPr lang="en-US" altLang="ko-KR" sz="600" smtClean="0">
                <a:solidFill>
                  <a:srgbClr val="FF0000"/>
                </a:solidFill>
                <a:latin typeface="+mn-ea"/>
                <a:ea typeface="+mn-ea"/>
              </a:rPr>
              <a:t>..</a:t>
            </a:r>
            <a:endParaRPr lang="ko-KR" altLang="en-US" sz="6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5162172" y="1092953"/>
            <a:ext cx="382083" cy="184666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6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6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음</a:t>
            </a:r>
            <a:r>
              <a:rPr lang="en-US" altLang="ko-KR" sz="6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)09.21</a:t>
            </a:r>
            <a:endParaRPr lang="ko-KR" altLang="en-US" sz="600" dirty="0" smtClean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4" name="모서리가 둥근 직사각형 233"/>
          <p:cNvSpPr/>
          <p:nvPr/>
        </p:nvSpPr>
        <p:spPr>
          <a:xfrm>
            <a:off x="5101212" y="1101513"/>
            <a:ext cx="438528" cy="171027"/>
          </a:xfrm>
          <a:prstGeom prst="roundRect">
            <a:avLst/>
          </a:prstGeom>
          <a:noFill/>
          <a:ln>
            <a:solidFill>
              <a:srgbClr val="0000FF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주간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CA6.1.2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</a:p>
        </p:txBody>
      </p:sp>
      <p:grpSp>
        <p:nvGrpSpPr>
          <p:cNvPr id="197" name="그룹 196"/>
          <p:cNvGrpSpPr/>
          <p:nvPr/>
        </p:nvGrpSpPr>
        <p:grpSpPr>
          <a:xfrm>
            <a:off x="8896534" y="1350069"/>
            <a:ext cx="47625" cy="347523"/>
            <a:chOff x="6858000" y="2907897"/>
            <a:chExt cx="47625" cy="508807"/>
          </a:xfrm>
        </p:grpSpPr>
        <p:sp>
          <p:nvSpPr>
            <p:cNvPr id="250" name="모서리가 둥근 직사각형 249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251" name="모서리가 둥근 직사각형 250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87" name="모서리가 둥근 직사각형 186"/>
          <p:cNvSpPr/>
          <p:nvPr/>
        </p:nvSpPr>
        <p:spPr>
          <a:xfrm>
            <a:off x="4186812" y="1101513"/>
            <a:ext cx="438528" cy="171027"/>
          </a:xfrm>
          <a:prstGeom prst="roundRect">
            <a:avLst/>
          </a:prstGeom>
          <a:noFill/>
          <a:ln>
            <a:solidFill>
              <a:srgbClr val="0000FF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6" name="꺾인 연결선 5"/>
          <p:cNvCxnSpPr>
            <a:stCxn id="187" idx="0"/>
            <a:endCxn id="234" idx="0"/>
          </p:cNvCxnSpPr>
          <p:nvPr/>
        </p:nvCxnSpPr>
        <p:spPr>
          <a:xfrm rot="5400000" flipH="1" flipV="1">
            <a:off x="4863276" y="644313"/>
            <a:ext cx="12700" cy="914400"/>
          </a:xfrm>
          <a:prstGeom prst="bentConnector3">
            <a:avLst>
              <a:gd name="adj1" fmla="val 1350000"/>
            </a:avLst>
          </a:prstGeom>
          <a:ln w="3175">
            <a:solidFill>
              <a:srgbClr val="0000FF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타원 197"/>
          <p:cNvSpPr>
            <a:spLocks noChangeAspect="1"/>
          </p:cNvSpPr>
          <p:nvPr/>
        </p:nvSpPr>
        <p:spPr>
          <a:xfrm>
            <a:off x="5218148" y="865010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1" name="직사각형 98"/>
          <p:cNvSpPr/>
          <p:nvPr/>
        </p:nvSpPr>
        <p:spPr>
          <a:xfrm>
            <a:off x="431134" y="676275"/>
            <a:ext cx="1422685" cy="59912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2" name="Rectangle 14"/>
          <p:cNvSpPr>
            <a:spLocks/>
          </p:cNvSpPr>
          <p:nvPr/>
        </p:nvSpPr>
        <p:spPr bwMode="auto">
          <a:xfrm>
            <a:off x="550750" y="807794"/>
            <a:ext cx="1195982" cy="26744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 algn="ctr">
              <a:lnSpc>
                <a:spcPct val="130000"/>
              </a:lnSpc>
            </a:pPr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일정 </a:t>
            </a: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등록하기</a:t>
            </a:r>
            <a:endParaRPr lang="x-none" altLang="x-none" sz="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323" name="Group 311"/>
          <p:cNvGrpSpPr/>
          <p:nvPr/>
        </p:nvGrpSpPr>
        <p:grpSpPr>
          <a:xfrm>
            <a:off x="444162" y="6351330"/>
            <a:ext cx="1404000" cy="246628"/>
            <a:chOff x="785281" y="6952264"/>
            <a:chExt cx="1404000" cy="246628"/>
          </a:xfrm>
        </p:grpSpPr>
        <p:sp>
          <p:nvSpPr>
            <p:cNvPr id="324" name="텍스트 상자 31"/>
            <p:cNvSpPr txBox="1"/>
            <p:nvPr/>
          </p:nvSpPr>
          <p:spPr>
            <a:xfrm>
              <a:off x="965893" y="7014226"/>
              <a:ext cx="1171015" cy="18466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  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25" name="Freeform 13"/>
            <p:cNvSpPr>
              <a:spLocks noChangeAspect="1" noChangeArrowheads="1"/>
            </p:cNvSpPr>
            <p:nvPr/>
          </p:nvSpPr>
          <p:spPr bwMode="auto">
            <a:xfrm>
              <a:off x="837212" y="7057163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326" name="직선 연결선[R] 33"/>
            <p:cNvCxnSpPr/>
            <p:nvPr/>
          </p:nvCxnSpPr>
          <p:spPr>
            <a:xfrm>
              <a:off x="785281" y="6952264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27" name="Table 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238714"/>
              </p:ext>
            </p:extLst>
          </p:nvPr>
        </p:nvGraphicFramePr>
        <p:xfrm>
          <a:off x="428535" y="1157416"/>
          <a:ext cx="1419089" cy="1082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294"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ko-KR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2017.08</a:t>
                      </a:r>
                      <a:r>
                        <a:rPr lang="ko-KR" altLang="en-US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 </a:t>
                      </a:r>
                      <a:endParaRPr lang="en-US" sz="800" dirty="0">
                        <a:solidFill>
                          <a:schemeClr val="tx1"/>
                        </a:solidFill>
                        <a:latin typeface="Malgun Gothic" charset="-127"/>
                        <a:ea typeface="Malgun Gothic" charset="-127"/>
                        <a:cs typeface="Malgun Gothic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수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목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금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토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endParaRPr lang="en-US" sz="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n-US" sz="600" u="none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en-US" sz="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600" u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8" name="타원 83"/>
          <p:cNvSpPr>
            <a:spLocks noChangeAspect="1"/>
          </p:cNvSpPr>
          <p:nvPr/>
        </p:nvSpPr>
        <p:spPr>
          <a:xfrm>
            <a:off x="642073" y="1927951"/>
            <a:ext cx="179840" cy="18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ko-KR" sz="600" b="1" smtClean="0">
                <a:solidFill>
                  <a:schemeClr val="bg1"/>
                </a:solidFill>
                <a:latin typeface="+mn-ea"/>
              </a:rPr>
              <a:t>21</a:t>
            </a:r>
            <a:endParaRPr kumimoji="1" lang="ko-KR" altLang="en-US" sz="6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29" name="직선 연결선[R] 33"/>
          <p:cNvCxnSpPr/>
          <p:nvPr/>
        </p:nvCxnSpPr>
        <p:spPr>
          <a:xfrm>
            <a:off x="438102" y="2297946"/>
            <a:ext cx="141138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0" name="Group 234"/>
          <p:cNvGrpSpPr/>
          <p:nvPr/>
        </p:nvGrpSpPr>
        <p:grpSpPr>
          <a:xfrm>
            <a:off x="725767" y="1212400"/>
            <a:ext cx="792726" cy="80656"/>
            <a:chOff x="2656761" y="1741427"/>
            <a:chExt cx="792726" cy="80656"/>
          </a:xfrm>
        </p:grpSpPr>
        <p:sp>
          <p:nvSpPr>
            <p:cNvPr id="331" name="Freeform 9"/>
            <p:cNvSpPr>
              <a:spLocks noChangeArrowheads="1"/>
            </p:cNvSpPr>
            <p:nvPr/>
          </p:nvSpPr>
          <p:spPr bwMode="auto">
            <a:xfrm>
              <a:off x="26567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332" name="Freeform 10"/>
            <p:cNvSpPr>
              <a:spLocks noChangeArrowheads="1"/>
            </p:cNvSpPr>
            <p:nvPr/>
          </p:nvSpPr>
          <p:spPr bwMode="auto">
            <a:xfrm>
              <a:off x="33999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333" name="그룹 332"/>
          <p:cNvGrpSpPr/>
          <p:nvPr/>
        </p:nvGrpSpPr>
        <p:grpSpPr>
          <a:xfrm>
            <a:off x="440152" y="2294165"/>
            <a:ext cx="1456276" cy="3158842"/>
            <a:chOff x="4397260" y="1236890"/>
            <a:chExt cx="1456276" cy="3158842"/>
          </a:xfrm>
        </p:grpSpPr>
        <p:sp>
          <p:nvSpPr>
            <p:cNvPr id="334" name="텍스트 상자 31"/>
            <p:cNvSpPr txBox="1"/>
            <p:nvPr/>
          </p:nvSpPr>
          <p:spPr>
            <a:xfrm>
              <a:off x="4571916" y="2362718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공유받은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35" name="텍스트 상자 31"/>
            <p:cNvSpPr txBox="1"/>
            <p:nvPr/>
          </p:nvSpPr>
          <p:spPr>
            <a:xfrm>
              <a:off x="4574893" y="2549712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UI</a:t>
              </a:r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프로젝트 일정 공유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36" name="텍스트 상자 31"/>
            <p:cNvSpPr txBox="1"/>
            <p:nvPr/>
          </p:nvSpPr>
          <p:spPr>
            <a:xfrm>
              <a:off x="4569879" y="3170609"/>
              <a:ext cx="899412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</a:t>
              </a:r>
              <a:r>
                <a:rPr kumimoji="1" lang="ko-KR" altLang="en-US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디자인팀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337" name="직선 연결선[R] 33"/>
            <p:cNvCxnSpPr/>
            <p:nvPr/>
          </p:nvCxnSpPr>
          <p:spPr>
            <a:xfrm>
              <a:off x="4402783" y="3850773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8" name="텍스트 상자 31"/>
            <p:cNvSpPr txBox="1"/>
            <p:nvPr/>
          </p:nvSpPr>
          <p:spPr>
            <a:xfrm>
              <a:off x="4574893" y="2714268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기획</a:t>
              </a:r>
              <a:r>
                <a:rPr kumimoji="1" lang="en-US" altLang="ko-KR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1</a:t>
              </a:r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휴가일 공유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39" name="텍스트 상자 31"/>
            <p:cNvSpPr txBox="1"/>
            <p:nvPr/>
          </p:nvSpPr>
          <p:spPr>
            <a:xfrm>
              <a:off x="4569879" y="3335092"/>
              <a:ext cx="770030" cy="951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자동차 </a:t>
              </a:r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 </a:t>
              </a:r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</a:t>
              </a:r>
            </a:p>
          </p:txBody>
        </p:sp>
        <p:sp>
          <p:nvSpPr>
            <p:cNvPr id="340" name="텍스트 상자 31"/>
            <p:cNvSpPr txBox="1"/>
            <p:nvPr/>
          </p:nvSpPr>
          <p:spPr>
            <a:xfrm>
              <a:off x="4569879" y="3491933"/>
              <a:ext cx="895878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EGW UX</a:t>
              </a:r>
              <a:r>
                <a:rPr kumimoji="1" lang="ko-KR" altLang="en-US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 </a:t>
              </a:r>
              <a:r>
                <a:rPr kumimoji="1" lang="en-US" altLang="ko-KR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341" name="텍스트 상자 31"/>
            <p:cNvSpPr txBox="1"/>
            <p:nvPr/>
          </p:nvSpPr>
          <p:spPr>
            <a:xfrm>
              <a:off x="4569879" y="3651133"/>
              <a:ext cx="785062" cy="9178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정부 </a:t>
              </a:r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과제 </a:t>
              </a:r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42" name="텍스트 상자 31"/>
            <p:cNvSpPr txBox="1"/>
            <p:nvPr/>
          </p:nvSpPr>
          <p:spPr>
            <a:xfrm>
              <a:off x="4571916" y="1774909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내 일정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43" name="텍스트 상자 31"/>
            <p:cNvSpPr txBox="1"/>
            <p:nvPr/>
          </p:nvSpPr>
          <p:spPr>
            <a:xfrm>
              <a:off x="4571916" y="1941480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김핸디 업무일정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344" name="텍스트 상자 31"/>
            <p:cNvSpPr txBox="1"/>
            <p:nvPr/>
          </p:nvSpPr>
          <p:spPr>
            <a:xfrm>
              <a:off x="4571916" y="4136828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전사 일정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45" name="텍스트 상자 31"/>
            <p:cNvSpPr txBox="1"/>
            <p:nvPr/>
          </p:nvSpPr>
          <p:spPr>
            <a:xfrm>
              <a:off x="4571916" y="4303399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대한민국 휴일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346" name="텍스트 상자 31"/>
            <p:cNvSpPr txBox="1"/>
            <p:nvPr/>
          </p:nvSpPr>
          <p:spPr>
            <a:xfrm>
              <a:off x="4577872" y="3939571"/>
              <a:ext cx="82026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구독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47" name="Freeform 24"/>
            <p:cNvSpPr>
              <a:spLocks noChangeArrowheads="1"/>
            </p:cNvSpPr>
            <p:nvPr/>
          </p:nvSpPr>
          <p:spPr bwMode="auto">
            <a:xfrm>
              <a:off x="4458907" y="3970573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348" name="Freeform 24"/>
            <p:cNvSpPr>
              <a:spLocks noChangeArrowheads="1"/>
            </p:cNvSpPr>
            <p:nvPr/>
          </p:nvSpPr>
          <p:spPr bwMode="auto">
            <a:xfrm>
              <a:off x="4458907" y="2385651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349" name="텍스트 상자 31"/>
            <p:cNvSpPr txBox="1"/>
            <p:nvPr/>
          </p:nvSpPr>
          <p:spPr>
            <a:xfrm>
              <a:off x="4577872" y="1603804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개인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cxnSp>
          <p:nvCxnSpPr>
            <p:cNvPr id="350" name="직선 연결선[R] 33"/>
            <p:cNvCxnSpPr/>
            <p:nvPr/>
          </p:nvCxnSpPr>
          <p:spPr>
            <a:xfrm>
              <a:off x="4397260" y="1513403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Freeform 24"/>
            <p:cNvSpPr>
              <a:spLocks noChangeArrowheads="1"/>
            </p:cNvSpPr>
            <p:nvPr/>
          </p:nvSpPr>
          <p:spPr bwMode="auto">
            <a:xfrm>
              <a:off x="4458907" y="1622077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352" name="직선 연결선[R] 33"/>
            <p:cNvCxnSpPr/>
            <p:nvPr/>
          </p:nvCxnSpPr>
          <p:spPr>
            <a:xfrm>
              <a:off x="4397260" y="2287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3" name="Rectangle 356"/>
            <p:cNvSpPr>
              <a:spLocks noChangeAspect="1"/>
            </p:cNvSpPr>
            <p:nvPr/>
          </p:nvSpPr>
          <p:spPr>
            <a:xfrm>
              <a:off x="4460857" y="1787917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354" name="Rectangle 357"/>
            <p:cNvSpPr>
              <a:spLocks noChangeAspect="1"/>
            </p:cNvSpPr>
            <p:nvPr/>
          </p:nvSpPr>
          <p:spPr>
            <a:xfrm>
              <a:off x="4460857" y="195138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355" name="Rectangle 358"/>
            <p:cNvSpPr>
              <a:spLocks noChangeAspect="1"/>
            </p:cNvSpPr>
            <p:nvPr/>
          </p:nvSpPr>
          <p:spPr>
            <a:xfrm>
              <a:off x="4463834" y="2557749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356" name="Rectangle 359"/>
            <p:cNvSpPr>
              <a:spLocks noChangeAspect="1"/>
            </p:cNvSpPr>
            <p:nvPr/>
          </p:nvSpPr>
          <p:spPr>
            <a:xfrm>
              <a:off x="4463834" y="2721213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357" name="Rectangle 360"/>
            <p:cNvSpPr>
              <a:spLocks noChangeAspect="1"/>
            </p:cNvSpPr>
            <p:nvPr/>
          </p:nvSpPr>
          <p:spPr>
            <a:xfrm>
              <a:off x="4458820" y="318033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358" name="Rectangle 361"/>
            <p:cNvSpPr>
              <a:spLocks noChangeAspect="1"/>
            </p:cNvSpPr>
            <p:nvPr/>
          </p:nvSpPr>
          <p:spPr>
            <a:xfrm>
              <a:off x="4458820" y="3343795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359" name="Rectangle 362"/>
            <p:cNvSpPr>
              <a:spLocks noChangeAspect="1"/>
            </p:cNvSpPr>
            <p:nvPr/>
          </p:nvSpPr>
          <p:spPr>
            <a:xfrm>
              <a:off x="4458820" y="3499367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360" name="Rectangle 363"/>
            <p:cNvSpPr>
              <a:spLocks noChangeAspect="1"/>
            </p:cNvSpPr>
            <p:nvPr/>
          </p:nvSpPr>
          <p:spPr>
            <a:xfrm>
              <a:off x="4458820" y="366283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361" name="Rectangle 364"/>
            <p:cNvSpPr>
              <a:spLocks noChangeAspect="1"/>
            </p:cNvSpPr>
            <p:nvPr/>
          </p:nvSpPr>
          <p:spPr>
            <a:xfrm>
              <a:off x="4460857" y="4144262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362" name="Rectangle 365"/>
            <p:cNvSpPr>
              <a:spLocks noChangeAspect="1"/>
            </p:cNvSpPr>
            <p:nvPr/>
          </p:nvSpPr>
          <p:spPr>
            <a:xfrm>
              <a:off x="4460857" y="4307726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cxnSp>
          <p:nvCxnSpPr>
            <p:cNvPr id="363" name="직선 연결선[R] 33"/>
            <p:cNvCxnSpPr/>
            <p:nvPr/>
          </p:nvCxnSpPr>
          <p:spPr>
            <a:xfrm>
              <a:off x="4397260" y="1236890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4" name="텍스트 상자 31"/>
            <p:cNvSpPr txBox="1"/>
            <p:nvPr/>
          </p:nvSpPr>
          <p:spPr>
            <a:xfrm>
              <a:off x="4583932" y="1328336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전체 달력</a:t>
              </a:r>
              <a:endParaRPr kumimoji="1"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65" name="텍스트 상자 31"/>
            <p:cNvSpPr txBox="1"/>
            <p:nvPr/>
          </p:nvSpPr>
          <p:spPr>
            <a:xfrm>
              <a:off x="4571916" y="2984083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스퀘어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66" name="Freeform 24"/>
            <p:cNvSpPr>
              <a:spLocks noChangeArrowheads="1"/>
            </p:cNvSpPr>
            <p:nvPr/>
          </p:nvSpPr>
          <p:spPr bwMode="auto">
            <a:xfrm>
              <a:off x="4458907" y="3007016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367" name="직선 연결선[R] 33"/>
            <p:cNvCxnSpPr/>
            <p:nvPr/>
          </p:nvCxnSpPr>
          <p:spPr>
            <a:xfrm>
              <a:off x="4397260" y="290882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텍스트 상자 31"/>
            <p:cNvSpPr txBox="1"/>
            <p:nvPr/>
          </p:nvSpPr>
          <p:spPr>
            <a:xfrm>
              <a:off x="4571916" y="2102303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공유받은 </a:t>
              </a:r>
              <a:r>
                <a:rPr kumimoji="1" lang="ko-KR" altLang="en-US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일정</a:t>
              </a:r>
              <a:r>
                <a:rPr kumimoji="1" lang="en-US" altLang="ko-KR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369" name="Rectangle 222"/>
            <p:cNvSpPr>
              <a:spLocks noChangeAspect="1"/>
            </p:cNvSpPr>
            <p:nvPr/>
          </p:nvSpPr>
          <p:spPr>
            <a:xfrm>
              <a:off x="4460857" y="2112204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370" name="Rounded Rectangle 223"/>
            <p:cNvSpPr/>
            <p:nvPr/>
          </p:nvSpPr>
          <p:spPr>
            <a:xfrm>
              <a:off x="5147408" y="1938766"/>
              <a:ext cx="216000" cy="108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 smtClean="0">
                  <a:latin typeface="+mn-ea"/>
                </a:rPr>
                <a:t>공유</a:t>
              </a:r>
              <a:endParaRPr lang="en-US" sz="600" dirty="0">
                <a:latin typeface="+mn-ea"/>
              </a:endParaRPr>
            </a:p>
          </p:txBody>
        </p:sp>
        <p:sp>
          <p:nvSpPr>
            <p:cNvPr id="371" name="TextBox 370"/>
            <p:cNvSpPr txBox="1"/>
            <p:nvPr/>
          </p:nvSpPr>
          <p:spPr>
            <a:xfrm>
              <a:off x="5669063" y="1559626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72" name="TextBox 371"/>
            <p:cNvSpPr txBox="1"/>
            <p:nvPr/>
          </p:nvSpPr>
          <p:spPr>
            <a:xfrm>
              <a:off x="5661043" y="3899495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73" name="Rectangle 356"/>
            <p:cNvSpPr>
              <a:spLocks noChangeAspect="1"/>
            </p:cNvSpPr>
            <p:nvPr/>
          </p:nvSpPr>
          <p:spPr>
            <a:xfrm>
              <a:off x="4460857" y="1343840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</p:grpSp>
      <p:grpSp>
        <p:nvGrpSpPr>
          <p:cNvPr id="189" name="그룹 188"/>
          <p:cNvGrpSpPr/>
          <p:nvPr/>
        </p:nvGrpSpPr>
        <p:grpSpPr>
          <a:xfrm>
            <a:off x="6962591" y="829761"/>
            <a:ext cx="1030245" cy="180000"/>
            <a:chOff x="6443058" y="1673426"/>
            <a:chExt cx="1030245" cy="180000"/>
          </a:xfrm>
        </p:grpSpPr>
        <p:grpSp>
          <p:nvGrpSpPr>
            <p:cNvPr id="190" name="Group 21"/>
            <p:cNvGrpSpPr/>
            <p:nvPr/>
          </p:nvGrpSpPr>
          <p:grpSpPr>
            <a:xfrm>
              <a:off x="6443058" y="1673426"/>
              <a:ext cx="344208" cy="180000"/>
              <a:chOff x="6706916" y="1673426"/>
              <a:chExt cx="344208" cy="180000"/>
            </a:xfrm>
          </p:grpSpPr>
          <p:sp>
            <p:nvSpPr>
              <p:cNvPr id="214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 dirty="0">
                  <a:latin typeface="+mn-ea"/>
                  <a:ea typeface="+mn-ea"/>
                </a:endParaRPr>
              </a:p>
            </p:txBody>
          </p:sp>
          <p:sp>
            <p:nvSpPr>
              <p:cNvPr id="220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21" name="Rectangle 625"/>
              <p:cNvSpPr/>
              <p:nvPr/>
            </p:nvSpPr>
            <p:spPr>
              <a:xfrm>
                <a:off x="6745093" y="1714887"/>
                <a:ext cx="77071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22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kumimoji="1" lang="ko-KR" altLang="en-US" sz="600" b="1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월간</a:t>
                </a:r>
                <a:endParaRPr kumimoji="1" lang="ko-KR" altLang="en-US" sz="600" b="1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194" name="Group 548"/>
            <p:cNvGrpSpPr/>
            <p:nvPr/>
          </p:nvGrpSpPr>
          <p:grpSpPr>
            <a:xfrm>
              <a:off x="6784180" y="1673426"/>
              <a:ext cx="344208" cy="180000"/>
              <a:chOff x="6706916" y="1673426"/>
              <a:chExt cx="344208" cy="180000"/>
            </a:xfrm>
          </p:grpSpPr>
          <p:sp>
            <p:nvSpPr>
              <p:cNvPr id="212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 dirty="0">
                  <a:latin typeface="+mn-ea"/>
                  <a:ea typeface="+mn-ea"/>
                </a:endParaRPr>
              </a:p>
            </p:txBody>
          </p:sp>
          <p:sp>
            <p:nvSpPr>
              <p:cNvPr id="213" name="텍스트 상자 31"/>
              <p:cNvSpPr txBox="1"/>
              <p:nvPr/>
            </p:nvSpPr>
            <p:spPr>
              <a:xfrm>
                <a:off x="6852300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kumimoji="1" lang="ko-KR" altLang="en-US" sz="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rPr>
                  <a:t>주간</a:t>
                </a:r>
                <a:endParaRPr kumimoji="1"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196" name="Group 22"/>
            <p:cNvGrpSpPr/>
            <p:nvPr/>
          </p:nvGrpSpPr>
          <p:grpSpPr>
            <a:xfrm>
              <a:off x="6812150" y="1714887"/>
              <a:ext cx="102895" cy="76173"/>
              <a:chOff x="7271815" y="1714887"/>
              <a:chExt cx="102895" cy="76173"/>
            </a:xfrm>
          </p:grpSpPr>
          <p:sp>
            <p:nvSpPr>
              <p:cNvPr id="209" name="Rectangle 625"/>
              <p:cNvSpPr/>
              <p:nvPr/>
            </p:nvSpPr>
            <p:spPr>
              <a:xfrm>
                <a:off x="7338279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10" name="Rectangle 625"/>
              <p:cNvSpPr/>
              <p:nvPr/>
            </p:nvSpPr>
            <p:spPr>
              <a:xfrm>
                <a:off x="7305047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11" name="Rectangle 625"/>
              <p:cNvSpPr/>
              <p:nvPr/>
            </p:nvSpPr>
            <p:spPr>
              <a:xfrm>
                <a:off x="7271815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199" name="Group 553"/>
            <p:cNvGrpSpPr/>
            <p:nvPr/>
          </p:nvGrpSpPr>
          <p:grpSpPr>
            <a:xfrm>
              <a:off x="7129095" y="1673426"/>
              <a:ext cx="344208" cy="180000"/>
              <a:chOff x="6706916" y="1673426"/>
              <a:chExt cx="344208" cy="180000"/>
            </a:xfrm>
          </p:grpSpPr>
          <p:sp>
            <p:nvSpPr>
              <p:cNvPr id="206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noFill/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 dirty="0">
                  <a:latin typeface="+mn-ea"/>
                  <a:ea typeface="+mn-ea"/>
                </a:endParaRPr>
              </a:p>
            </p:txBody>
          </p:sp>
          <p:sp>
            <p:nvSpPr>
              <p:cNvPr id="207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08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kumimoji="1" lang="ko-KR" altLang="en-US" sz="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rPr>
                  <a:t>일간</a:t>
                </a:r>
                <a:endParaRPr kumimoji="1"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23" name="Group 168"/>
          <p:cNvGrpSpPr/>
          <p:nvPr/>
        </p:nvGrpSpPr>
        <p:grpSpPr>
          <a:xfrm>
            <a:off x="8382109" y="816988"/>
            <a:ext cx="162000" cy="180000"/>
            <a:chOff x="7681408" y="2293428"/>
            <a:chExt cx="161707" cy="180000"/>
          </a:xfrm>
        </p:grpSpPr>
        <p:sp>
          <p:nvSpPr>
            <p:cNvPr id="224" name="Rounded Rectangle 169"/>
            <p:cNvSpPr/>
            <p:nvPr/>
          </p:nvSpPr>
          <p:spPr>
            <a:xfrm>
              <a:off x="7681408" y="2293428"/>
              <a:ext cx="161707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latin typeface="+mn-ea"/>
                <a:ea typeface="+mn-ea"/>
              </a:endParaRPr>
            </a:p>
          </p:txBody>
        </p:sp>
        <p:sp>
          <p:nvSpPr>
            <p:cNvPr id="225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226" name="그룹 225"/>
          <p:cNvGrpSpPr/>
          <p:nvPr/>
        </p:nvGrpSpPr>
        <p:grpSpPr>
          <a:xfrm>
            <a:off x="8089890" y="817141"/>
            <a:ext cx="216000" cy="180000"/>
            <a:chOff x="8455344" y="813130"/>
            <a:chExt cx="216000" cy="180000"/>
          </a:xfrm>
        </p:grpSpPr>
        <p:sp>
          <p:nvSpPr>
            <p:cNvPr id="228" name="Rounded Rectangle 169"/>
            <p:cNvSpPr/>
            <p:nvPr/>
          </p:nvSpPr>
          <p:spPr>
            <a:xfrm>
              <a:off x="8455344" y="813130"/>
              <a:ext cx="216000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latin typeface="+mn-ea"/>
                <a:ea typeface="+mn-ea"/>
              </a:endParaRPr>
            </a:p>
          </p:txBody>
        </p:sp>
        <p:pic>
          <p:nvPicPr>
            <p:cNvPr id="231" name="내용 개체 틀 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3805" y="824238"/>
              <a:ext cx="162000" cy="162000"/>
            </a:xfrm>
            <a:prstGeom prst="rect">
              <a:avLst/>
            </a:prstGeom>
          </p:spPr>
        </p:pic>
      </p:grpSp>
      <p:grpSp>
        <p:nvGrpSpPr>
          <p:cNvPr id="2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5698365" y="825436"/>
            <a:ext cx="1173764" cy="196977"/>
            <a:chOff x="554563" y="2599933"/>
            <a:chExt cx="1173764" cy="196977"/>
          </a:xfrm>
        </p:grpSpPr>
        <p:sp>
          <p:nvSpPr>
            <p:cNvPr id="235" name="Box" descr="&lt;Tags&gt;&lt;SMARTRESIZEANCHORS&gt;None,None,Absolute,None&lt;/SMARTRESIZEANCHORS&gt;&lt;/Tags&gt;"/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6" name="Label" descr="&lt;Tags&gt;&lt;SMARTRESIZEANCHORS&gt;Absolute,Absolute,Absolute,Absolute&lt;/SMARTRESIZEANCHORS&gt;&lt;/Tags&gt;"/>
            <p:cNvSpPr txBox="1"/>
            <p:nvPr/>
          </p:nvSpPr>
          <p:spPr>
            <a:xfrm>
              <a:off x="686119" y="2599933"/>
              <a:ext cx="1042208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플래그 일정만 보기</a:t>
              </a:r>
            </a:p>
          </p:txBody>
        </p:sp>
        <p:sp>
          <p:nvSpPr>
            <p:cNvPr id="237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8" name="그룹 237"/>
          <p:cNvGrpSpPr/>
          <p:nvPr/>
        </p:nvGrpSpPr>
        <p:grpSpPr>
          <a:xfrm>
            <a:off x="8645870" y="813534"/>
            <a:ext cx="354278" cy="203200"/>
            <a:chOff x="7121870" y="765909"/>
            <a:chExt cx="354278" cy="203200"/>
          </a:xfrm>
        </p:grpSpPr>
        <p:sp>
          <p:nvSpPr>
            <p:cNvPr id="239" name="직사각형 238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600" smtClean="0">
                  <a:solidFill>
                    <a:schemeClr val="bg1"/>
                  </a:solidFill>
                  <a:latin typeface="+mn-ea"/>
                  <a:ea typeface="+mn-ea"/>
                </a:rPr>
                <a:t>▼</a:t>
              </a:r>
              <a:endParaRPr lang="ko-KR" altLang="en-US" sz="600" dirty="0" smtClean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40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465967" y="3392598"/>
            <a:ext cx="701750" cy="196176"/>
          </a:xfrm>
          <a:prstGeom prst="rect">
            <a:avLst/>
          </a:prstGeom>
          <a:noFill/>
        </p:spPr>
        <p:txBody>
          <a:bodyPr wrap="none" lIns="0" rIns="0" rtlCol="0" anchor="t">
            <a:noAutofit/>
          </a:bodyPr>
          <a:lstStyle/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정부과제 디자인 </a:t>
            </a:r>
            <a:endParaRPr lang="en-US" altLang="ko-KR" sz="6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리뷰</a:t>
            </a:r>
          </a:p>
        </p:txBody>
      </p:sp>
    </p:spTree>
    <p:extLst>
      <p:ext uri="{BB962C8B-B14F-4D97-AF65-F5344CB8AC3E}">
        <p14:creationId xmlns:p14="http://schemas.microsoft.com/office/powerpoint/2010/main" val="196516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4"/>
          <p:cNvSpPr>
            <a:spLocks/>
          </p:cNvSpPr>
          <p:nvPr/>
        </p:nvSpPr>
        <p:spPr bwMode="auto">
          <a:xfrm>
            <a:off x="2660904" y="1358608"/>
            <a:ext cx="6360855" cy="162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marL="360363"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EGW </a:t>
            </a:r>
            <a:r>
              <a:rPr kumimoji="1" lang="ko-KR" altLang="en-US" sz="6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프로젝트</a:t>
            </a:r>
            <a:endParaRPr kumimoji="1" lang="ko-KR" altLang="en-US" sz="6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59" name="내용 개체 틀 2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3844049"/>
              </p:ext>
            </p:extLst>
          </p:nvPr>
        </p:nvGraphicFramePr>
        <p:xfrm>
          <a:off x="2618661" y="1947237"/>
          <a:ext cx="6403099" cy="4450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3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861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cxnSp>
        <p:nvCxnSpPr>
          <p:cNvPr id="60" name="직선 연결선[R] 7"/>
          <p:cNvCxnSpPr/>
          <p:nvPr/>
        </p:nvCxnSpPr>
        <p:spPr>
          <a:xfrm>
            <a:off x="2019038" y="1063409"/>
            <a:ext cx="55241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61" name="직선 연결선[R] 7"/>
          <p:cNvCxnSpPr/>
          <p:nvPr/>
        </p:nvCxnSpPr>
        <p:spPr>
          <a:xfrm>
            <a:off x="1971413" y="106340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grpSp>
        <p:nvGrpSpPr>
          <p:cNvPr id="66" name="Group 532"/>
          <p:cNvGrpSpPr/>
          <p:nvPr/>
        </p:nvGrpSpPr>
        <p:grpSpPr>
          <a:xfrm>
            <a:off x="2796428" y="851474"/>
            <a:ext cx="540610" cy="144000"/>
            <a:chOff x="3113961" y="1702107"/>
            <a:chExt cx="540610" cy="144000"/>
          </a:xfrm>
        </p:grpSpPr>
        <p:sp>
          <p:nvSpPr>
            <p:cNvPr id="67" name="Freeform 9"/>
            <p:cNvSpPr>
              <a:spLocks noChangeArrowheads="1"/>
            </p:cNvSpPr>
            <p:nvPr/>
          </p:nvSpPr>
          <p:spPr bwMode="auto">
            <a:xfrm>
              <a:off x="31139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68" name="Freeform 10"/>
            <p:cNvSpPr>
              <a:spLocks noChangeArrowheads="1"/>
            </p:cNvSpPr>
            <p:nvPr/>
          </p:nvSpPr>
          <p:spPr bwMode="auto">
            <a:xfrm>
              <a:off x="32475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69" name="Rounded Rectangle 535"/>
            <p:cNvSpPr/>
            <p:nvPr/>
          </p:nvSpPr>
          <p:spPr>
            <a:xfrm>
              <a:off x="3373429" y="1702107"/>
              <a:ext cx="281142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오늘</a:t>
              </a:r>
              <a:endPara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125" name="텍스트 상자 31"/>
          <p:cNvSpPr txBox="1"/>
          <p:nvPr/>
        </p:nvSpPr>
        <p:spPr>
          <a:xfrm>
            <a:off x="2076471" y="859108"/>
            <a:ext cx="78817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sz="10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2017.09.07</a:t>
            </a:r>
            <a:endParaRPr kumimoji="1" lang="ko-KR" altLang="en-US" sz="10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</p:txBody>
      </p:sp>
      <p:graphicFrame>
        <p:nvGraphicFramePr>
          <p:cNvPr id="12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792565"/>
              </p:ext>
            </p:extLst>
          </p:nvPr>
        </p:nvGraphicFramePr>
        <p:xfrm>
          <a:off x="9267471" y="745639"/>
          <a:ext cx="2857473" cy="2970616"/>
        </p:xfrm>
        <a:graphic>
          <a:graphicData uri="http://schemas.openxmlformats.org/drawingml/2006/table">
            <a:tbl>
              <a:tblPr/>
              <a:tblGrid>
                <a:gridCol w="21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b="1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종일일정</a:t>
                      </a:r>
                      <a:r>
                        <a:rPr kumimoji="1"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표시</a:t>
                      </a:r>
                      <a:endParaRPr kumimoji="1" lang="en-US" altLang="ko-KR" sz="800" b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r>
                        <a:rPr kumimoji="1"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개수 상관없이 모두 출력시키며 지정된 </a:t>
                      </a:r>
                      <a:r>
                        <a:rPr kumimoji="1"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height</a:t>
                      </a:r>
                      <a:r>
                        <a:rPr kumimoji="1"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값 초과시 스크롤 처리</a:t>
                      </a:r>
                      <a:r>
                        <a:rPr kumimoji="1"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기념일 동일</a:t>
                      </a:r>
                      <a:r>
                        <a:rPr kumimoji="1"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  <a:endParaRPr kumimoji="1" lang="en-US" altLang="ko-KR" sz="800" b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등록된 일정</a:t>
                      </a:r>
                      <a:endParaRPr lang="en-US" altLang="ko-KR" sz="800" b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등록된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일정을 해당 날짜 범위 내에 표시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속한 달력과 동일한 컬러로 일정 표시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표시 정보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일정 제목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표시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주간 뷰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시간 영역 내 모두 표시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회 선택 시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원클릭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일정 간편보기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(4)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2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회 선택 시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더블클릭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일정 상세보기 새창 제공</a:t>
                      </a:r>
                      <a:endParaRPr kumimoji="1" lang="en-US" altLang="ko-KR" sz="8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+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버튼 영역 선택 시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 간편 등록 제공 </a:t>
                      </a:r>
                      <a:endParaRPr kumimoji="1" lang="en-US" altLang="ko-KR" sz="8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지난 일정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시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분 단위로 흐리게 표시</a:t>
                      </a:r>
                      <a:endParaRPr kumimoji="1" lang="en-US" altLang="ko-KR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b="1" dirty="0" smtClean="0">
                          <a:solidFill>
                            <a:schemeClr val="tx1"/>
                          </a:solidFill>
                          <a:latin typeface="+mn-ea"/>
                        </a:rPr>
                        <a:t>시간수정</a:t>
                      </a:r>
                      <a:endParaRPr kumimoji="1" lang="en-US" altLang="ko-KR" sz="800" b="1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90488" indent="-90488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등록된 일정의 종료시간 부분에 마우스 오버 시 편집</a:t>
                      </a: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 아이콘 노출 되고 마우스 포인터는 수직 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/>
                          </a:solidFill>
                          <a:latin typeface="+mn-ea"/>
                        </a:rPr>
                        <a:t>리사이징</a:t>
                      </a: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 화살표로 수정</a:t>
                      </a:r>
                      <a:endParaRPr kumimoji="1" lang="en-US" altLang="ko-KR" sz="800" baseline="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90488" indent="-90488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해당 일정막대를 확대</a:t>
                      </a:r>
                      <a:r>
                        <a:rPr kumimoji="1" lang="en-US" altLang="ko-KR" sz="800" baseline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/ </a:t>
                      </a: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축소 시키며 시간 조정 가능</a:t>
                      </a:r>
                      <a:endParaRPr kumimoji="1" lang="en-US" altLang="ko-KR" sz="800" baseline="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※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주간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일간형일 때 더보기 버튼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[+N]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은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출력시키지 않고 해당 영역에 모두 출력</a:t>
                      </a: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46829"/>
                  </a:ext>
                </a:extLst>
              </a:tr>
            </a:tbl>
          </a:graphicData>
        </a:graphic>
      </p:graphicFrame>
      <p:cxnSp>
        <p:nvCxnSpPr>
          <p:cNvPr id="133" name="직선 연결선[R] 7"/>
          <p:cNvCxnSpPr/>
          <p:nvPr/>
        </p:nvCxnSpPr>
        <p:spPr>
          <a:xfrm>
            <a:off x="1971413" y="1941605"/>
            <a:ext cx="705035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miter lim="400000"/>
          </a:ln>
        </p:spPr>
      </p:cxnSp>
      <p:grpSp>
        <p:nvGrpSpPr>
          <p:cNvPr id="163" name="그룹 162"/>
          <p:cNvGrpSpPr/>
          <p:nvPr/>
        </p:nvGrpSpPr>
        <p:grpSpPr>
          <a:xfrm>
            <a:off x="2102300" y="1951969"/>
            <a:ext cx="388381" cy="4539571"/>
            <a:chOff x="2165122" y="1541453"/>
            <a:chExt cx="828000" cy="4609865"/>
          </a:xfrm>
        </p:grpSpPr>
        <p:sp>
          <p:nvSpPr>
            <p:cNvPr id="138" name="Rectangle 14"/>
            <p:cNvSpPr>
              <a:spLocks/>
            </p:cNvSpPr>
            <p:nvPr/>
          </p:nvSpPr>
          <p:spPr bwMode="auto">
            <a:xfrm>
              <a:off x="2165122" y="1541453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ko-KR" altLang="en-US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am 8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9" name="Rectangle 14"/>
            <p:cNvSpPr>
              <a:spLocks/>
            </p:cNvSpPr>
            <p:nvPr/>
          </p:nvSpPr>
          <p:spPr bwMode="auto">
            <a:xfrm>
              <a:off x="2165122" y="1848089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ko-KR" altLang="en-US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9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0" name="Rectangle 14"/>
            <p:cNvSpPr>
              <a:spLocks/>
            </p:cNvSpPr>
            <p:nvPr/>
          </p:nvSpPr>
          <p:spPr bwMode="auto">
            <a:xfrm>
              <a:off x="2165122" y="2190248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10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1" name="Rectangle 14"/>
            <p:cNvSpPr>
              <a:spLocks/>
            </p:cNvSpPr>
            <p:nvPr/>
          </p:nvSpPr>
          <p:spPr bwMode="auto">
            <a:xfrm>
              <a:off x="2165122" y="2500275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11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2" name="Rectangle 14"/>
            <p:cNvSpPr>
              <a:spLocks/>
            </p:cNvSpPr>
            <p:nvPr/>
          </p:nvSpPr>
          <p:spPr bwMode="auto">
            <a:xfrm>
              <a:off x="2165122" y="2826311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pm 12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4" name="Rectangle 14"/>
            <p:cNvSpPr>
              <a:spLocks/>
            </p:cNvSpPr>
            <p:nvPr/>
          </p:nvSpPr>
          <p:spPr bwMode="auto">
            <a:xfrm>
              <a:off x="2165122" y="3132760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1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5" name="Rectangle 14"/>
            <p:cNvSpPr>
              <a:spLocks/>
            </p:cNvSpPr>
            <p:nvPr/>
          </p:nvSpPr>
          <p:spPr bwMode="auto">
            <a:xfrm>
              <a:off x="2165122" y="3453378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2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6" name="Rectangle 14"/>
            <p:cNvSpPr>
              <a:spLocks/>
            </p:cNvSpPr>
            <p:nvPr/>
          </p:nvSpPr>
          <p:spPr bwMode="auto">
            <a:xfrm>
              <a:off x="2165122" y="3771500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3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7" name="Rectangle 14"/>
            <p:cNvSpPr>
              <a:spLocks/>
            </p:cNvSpPr>
            <p:nvPr/>
          </p:nvSpPr>
          <p:spPr bwMode="auto">
            <a:xfrm>
              <a:off x="2165122" y="4088285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4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8" name="Rectangle 14"/>
            <p:cNvSpPr>
              <a:spLocks/>
            </p:cNvSpPr>
            <p:nvPr/>
          </p:nvSpPr>
          <p:spPr bwMode="auto">
            <a:xfrm>
              <a:off x="2165122" y="4399858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5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9" name="Rectangle 14"/>
            <p:cNvSpPr>
              <a:spLocks/>
            </p:cNvSpPr>
            <p:nvPr/>
          </p:nvSpPr>
          <p:spPr bwMode="auto">
            <a:xfrm>
              <a:off x="2165122" y="4706289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pm 6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0" name="Rectangle 14"/>
            <p:cNvSpPr>
              <a:spLocks/>
            </p:cNvSpPr>
            <p:nvPr/>
          </p:nvSpPr>
          <p:spPr bwMode="auto">
            <a:xfrm>
              <a:off x="2165122" y="5043472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7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1" name="Rectangle 14"/>
            <p:cNvSpPr>
              <a:spLocks/>
            </p:cNvSpPr>
            <p:nvPr/>
          </p:nvSpPr>
          <p:spPr bwMode="auto">
            <a:xfrm>
              <a:off x="2165122" y="5352357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8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2" name="Rectangle 14"/>
            <p:cNvSpPr>
              <a:spLocks/>
            </p:cNvSpPr>
            <p:nvPr/>
          </p:nvSpPr>
          <p:spPr bwMode="auto">
            <a:xfrm>
              <a:off x="2165122" y="5666651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9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3" name="Rectangle 14"/>
            <p:cNvSpPr>
              <a:spLocks/>
            </p:cNvSpPr>
            <p:nvPr/>
          </p:nvSpPr>
          <p:spPr bwMode="auto">
            <a:xfrm>
              <a:off x="2165122" y="5989318"/>
              <a:ext cx="828000" cy="162000"/>
            </a:xfrm>
            <a:prstGeom prst="rect">
              <a:avLst/>
            </a:prstGeom>
            <a:solidFill>
              <a:schemeClr val="bg1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algn="r">
                <a:lnSpc>
                  <a:spcPct val="120000"/>
                </a:lnSpc>
              </a:pPr>
              <a:r>
                <a:rPr kumimoji="1"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10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58" name="Rectangle 14"/>
          <p:cNvSpPr>
            <a:spLocks/>
          </p:cNvSpPr>
          <p:nvPr/>
        </p:nvSpPr>
        <p:spPr bwMode="auto">
          <a:xfrm>
            <a:off x="2618662" y="4193476"/>
            <a:ext cx="6205402" cy="2737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정부과제</a:t>
            </a:r>
            <a:r>
              <a:rPr kumimoji="1" lang="en-US" altLang="ko-KR" sz="6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ko-KR" altLang="en-US" sz="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디자인 리뷰</a:t>
            </a:r>
            <a:endParaRPr kumimoji="1" lang="ko-KR" altLang="en-US" sz="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9" name="Rectangle 14"/>
          <p:cNvSpPr>
            <a:spLocks/>
          </p:cNvSpPr>
          <p:nvPr/>
        </p:nvSpPr>
        <p:spPr bwMode="auto">
          <a:xfrm>
            <a:off x="2631688" y="2925146"/>
            <a:ext cx="6207515" cy="273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   </a:t>
            </a:r>
            <a:r>
              <a:rPr lang="ko-KR" altLang="en-US" sz="6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오전 </a:t>
            </a:r>
            <a:r>
              <a:rPr lang="en-US" altLang="ko-KR" sz="6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11:00</a:t>
            </a:r>
            <a:endParaRPr kumimoji="1" lang="en-US" altLang="ko-KR" sz="600" dirty="0" smtClean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60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  </a:t>
            </a:r>
            <a:r>
              <a:rPr lang="ko-KR" altLang="en-US" sz="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자동차 </a:t>
            </a:r>
            <a:r>
              <a:rPr lang="en-US" altLang="ko-KR" sz="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UX</a:t>
            </a:r>
            <a:r>
              <a:rPr lang="ko-KR" altLang="en-US" sz="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개선 임원 보고</a:t>
            </a:r>
            <a:endParaRPr kumimoji="1" lang="ko-KR" altLang="en-US" sz="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618660" y="4193476"/>
            <a:ext cx="88981" cy="273762"/>
          </a:xfrm>
          <a:prstGeom prst="rect">
            <a:avLst/>
          </a:prstGeom>
          <a:solidFill>
            <a:srgbClr val="53B0C9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2618660" y="2925798"/>
            <a:ext cx="88981" cy="273762"/>
          </a:xfrm>
          <a:prstGeom prst="rect">
            <a:avLst/>
          </a:prstGeom>
          <a:solidFill>
            <a:srgbClr val="F57B17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6" name="Rectangle 14"/>
          <p:cNvSpPr>
            <a:spLocks/>
          </p:cNvSpPr>
          <p:nvPr/>
        </p:nvSpPr>
        <p:spPr bwMode="auto">
          <a:xfrm>
            <a:off x="2618662" y="4522020"/>
            <a:ext cx="6205402" cy="582512"/>
          </a:xfrm>
          <a:prstGeom prst="rect">
            <a:avLst/>
          </a:prstGeom>
          <a:solidFill>
            <a:srgbClr val="FFA3C8"/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rPr kumimoji="1" lang="ko-KR" altLang="en-US" sz="6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정부과제</a:t>
            </a:r>
            <a:r>
              <a:rPr kumimoji="1" lang="en-US" altLang="ko-KR" sz="6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ko-KR" altLang="en-US" sz="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개발 리뷰</a:t>
            </a:r>
            <a:endParaRPr kumimoji="1" lang="ko-KR" altLang="en-US" sz="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2618660" y="4522020"/>
            <a:ext cx="88981" cy="582512"/>
          </a:xfrm>
          <a:prstGeom prst="rect">
            <a:avLst/>
          </a:prstGeom>
          <a:solidFill>
            <a:srgbClr val="FF579B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4" name="Rectangle 14"/>
          <p:cNvSpPr>
            <a:spLocks/>
          </p:cNvSpPr>
          <p:nvPr/>
        </p:nvSpPr>
        <p:spPr bwMode="auto">
          <a:xfrm>
            <a:off x="2620604" y="3542704"/>
            <a:ext cx="612000" cy="306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550" dirty="0">
                <a:solidFill>
                  <a:schemeClr val="bg1"/>
                </a:solidFill>
                <a:latin typeface="+mn-ea"/>
                <a:ea typeface="+mn-ea"/>
              </a:rPr>
              <a:t>EGW </a:t>
            </a:r>
            <a:r>
              <a:rPr lang="en-US" altLang="ko-KR" sz="550" dirty="0" smtClean="0">
                <a:solidFill>
                  <a:schemeClr val="bg1"/>
                </a:solidFill>
                <a:latin typeface="+mn-ea"/>
                <a:ea typeface="+mn-ea"/>
              </a:rPr>
              <a:t>UI</a:t>
            </a:r>
            <a:r>
              <a:rPr lang="ko-KR" altLang="en-US" sz="550" dirty="0" smtClean="0">
                <a:solidFill>
                  <a:schemeClr val="bg1"/>
                </a:solidFill>
                <a:latin typeface="+mn-ea"/>
                <a:ea typeface="+mn-ea"/>
              </a:rPr>
              <a:t>개선 </a:t>
            </a:r>
            <a:endParaRPr lang="ko-KR" altLang="en-US" sz="5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5" name="Rectangle 14"/>
          <p:cNvSpPr>
            <a:spLocks/>
          </p:cNvSpPr>
          <p:nvPr/>
        </p:nvSpPr>
        <p:spPr bwMode="auto">
          <a:xfrm>
            <a:off x="3240679" y="3542704"/>
            <a:ext cx="612000" cy="306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550" dirty="0">
                <a:solidFill>
                  <a:schemeClr val="bg1"/>
                </a:solidFill>
                <a:latin typeface="+mn-ea"/>
                <a:ea typeface="+mn-ea"/>
              </a:rPr>
              <a:t>정부과제 개발 리뷰</a:t>
            </a:r>
          </a:p>
        </p:txBody>
      </p:sp>
      <p:sp>
        <p:nvSpPr>
          <p:cNvPr id="176" name="Rectangle 14"/>
          <p:cNvSpPr>
            <a:spLocks/>
          </p:cNvSpPr>
          <p:nvPr/>
        </p:nvSpPr>
        <p:spPr bwMode="auto">
          <a:xfrm>
            <a:off x="3863013" y="3542704"/>
            <a:ext cx="612000" cy="30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550" dirty="0">
                <a:solidFill>
                  <a:schemeClr val="bg1"/>
                </a:solidFill>
                <a:latin typeface="+mn-ea"/>
                <a:ea typeface="+mn-ea"/>
              </a:rPr>
              <a:t>자동차 </a:t>
            </a:r>
            <a:r>
              <a:rPr lang="en-US" altLang="ko-KR" sz="550" dirty="0">
                <a:solidFill>
                  <a:schemeClr val="bg1"/>
                </a:solidFill>
                <a:latin typeface="+mn-ea"/>
                <a:ea typeface="+mn-ea"/>
              </a:rPr>
              <a:t>UX</a:t>
            </a:r>
            <a:r>
              <a:rPr lang="ko-KR" altLang="en-US" sz="550" dirty="0">
                <a:solidFill>
                  <a:schemeClr val="bg1"/>
                </a:solidFill>
                <a:latin typeface="+mn-ea"/>
                <a:ea typeface="+mn-ea"/>
              </a:rPr>
              <a:t>개선 </a:t>
            </a:r>
          </a:p>
        </p:txBody>
      </p:sp>
      <p:sp>
        <p:nvSpPr>
          <p:cNvPr id="177" name="Rectangle 14"/>
          <p:cNvSpPr>
            <a:spLocks/>
          </p:cNvSpPr>
          <p:nvPr/>
        </p:nvSpPr>
        <p:spPr bwMode="auto">
          <a:xfrm>
            <a:off x="4481041" y="3542704"/>
            <a:ext cx="612000" cy="306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550" dirty="0" smtClean="0">
                <a:solidFill>
                  <a:schemeClr val="bg1"/>
                </a:solidFill>
                <a:latin typeface="+mn-ea"/>
                <a:ea typeface="+mn-ea"/>
              </a:rPr>
              <a:t>정부과제 </a:t>
            </a:r>
            <a:r>
              <a:rPr kumimoji="1" lang="ko-KR" altLang="en-US" sz="550" dirty="0" smtClean="0">
                <a:solidFill>
                  <a:schemeClr val="bg1"/>
                </a:solidFill>
                <a:latin typeface="+mn-ea"/>
                <a:ea typeface="+mn-ea"/>
              </a:rPr>
              <a:t>임원회의</a:t>
            </a:r>
            <a:endParaRPr lang="ko-KR" altLang="en-US" sz="5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8" name="Rectangle 14"/>
          <p:cNvSpPr>
            <a:spLocks/>
          </p:cNvSpPr>
          <p:nvPr/>
        </p:nvSpPr>
        <p:spPr bwMode="auto">
          <a:xfrm>
            <a:off x="5723729" y="3542704"/>
            <a:ext cx="612000" cy="30600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550" dirty="0">
                <a:solidFill>
                  <a:schemeClr val="bg1"/>
                </a:solidFill>
                <a:latin typeface="+mn-ea"/>
                <a:ea typeface="+mn-ea"/>
              </a:rPr>
              <a:t>EGW UI</a:t>
            </a:r>
            <a:r>
              <a:rPr lang="ko-KR" altLang="en-US" sz="550" dirty="0">
                <a:solidFill>
                  <a:schemeClr val="bg1"/>
                </a:solidFill>
                <a:latin typeface="+mn-ea"/>
                <a:ea typeface="+mn-ea"/>
              </a:rPr>
              <a:t>개선 </a:t>
            </a:r>
          </a:p>
        </p:txBody>
      </p:sp>
      <p:sp>
        <p:nvSpPr>
          <p:cNvPr id="179" name="Rectangle 14"/>
          <p:cNvSpPr>
            <a:spLocks/>
          </p:cNvSpPr>
          <p:nvPr/>
        </p:nvSpPr>
        <p:spPr bwMode="auto">
          <a:xfrm>
            <a:off x="6345638" y="3542704"/>
            <a:ext cx="612000" cy="306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550" dirty="0">
                <a:solidFill>
                  <a:schemeClr val="bg1"/>
                </a:solidFill>
                <a:latin typeface="+mn-ea"/>
                <a:ea typeface="+mn-ea"/>
              </a:rPr>
              <a:t>EGW UI</a:t>
            </a:r>
            <a:r>
              <a:rPr lang="ko-KR" altLang="en-US" sz="550" dirty="0">
                <a:solidFill>
                  <a:schemeClr val="bg1"/>
                </a:solidFill>
                <a:latin typeface="+mn-ea"/>
                <a:ea typeface="+mn-ea"/>
              </a:rPr>
              <a:t>개선 </a:t>
            </a:r>
          </a:p>
        </p:txBody>
      </p:sp>
      <p:sp>
        <p:nvSpPr>
          <p:cNvPr id="180" name="Rectangle 14"/>
          <p:cNvSpPr>
            <a:spLocks/>
          </p:cNvSpPr>
          <p:nvPr/>
        </p:nvSpPr>
        <p:spPr bwMode="auto">
          <a:xfrm>
            <a:off x="6967547" y="3542704"/>
            <a:ext cx="612000" cy="306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550" dirty="0">
                <a:solidFill>
                  <a:schemeClr val="bg1"/>
                </a:solidFill>
                <a:latin typeface="+mn-ea"/>
                <a:ea typeface="+mn-ea"/>
              </a:rPr>
              <a:t>정부과제 개발 리뷰</a:t>
            </a:r>
          </a:p>
        </p:txBody>
      </p:sp>
      <p:sp>
        <p:nvSpPr>
          <p:cNvPr id="181" name="Rectangle 14"/>
          <p:cNvSpPr>
            <a:spLocks/>
          </p:cNvSpPr>
          <p:nvPr/>
        </p:nvSpPr>
        <p:spPr bwMode="auto">
          <a:xfrm>
            <a:off x="5101747" y="3542704"/>
            <a:ext cx="612000" cy="306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550" dirty="0">
                <a:solidFill>
                  <a:schemeClr val="bg1"/>
                </a:solidFill>
                <a:latin typeface="+mn-ea"/>
                <a:ea typeface="+mn-ea"/>
              </a:rPr>
              <a:t>자동차 </a:t>
            </a:r>
            <a:r>
              <a:rPr lang="en-US" altLang="ko-KR" sz="550">
                <a:solidFill>
                  <a:schemeClr val="bg1"/>
                </a:solidFill>
                <a:latin typeface="+mn-ea"/>
                <a:ea typeface="+mn-ea"/>
              </a:rPr>
              <a:t>UX</a:t>
            </a:r>
            <a:r>
              <a:rPr lang="ko-KR" altLang="en-US" sz="550" smtClean="0">
                <a:solidFill>
                  <a:schemeClr val="bg1"/>
                </a:solidFill>
                <a:latin typeface="+mn-ea"/>
                <a:ea typeface="+mn-ea"/>
              </a:rPr>
              <a:t>개선 </a:t>
            </a:r>
            <a:endParaRPr lang="ko-KR" altLang="en-US" sz="5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2" name="Rectangle 14"/>
          <p:cNvSpPr>
            <a:spLocks/>
          </p:cNvSpPr>
          <p:nvPr/>
        </p:nvSpPr>
        <p:spPr bwMode="auto">
          <a:xfrm>
            <a:off x="7588400" y="3542704"/>
            <a:ext cx="612000" cy="306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550" dirty="0">
                <a:solidFill>
                  <a:schemeClr val="bg1"/>
                </a:solidFill>
                <a:latin typeface="+mn-ea"/>
                <a:ea typeface="+mn-ea"/>
              </a:rPr>
              <a:t>정부과제</a:t>
            </a:r>
            <a:r>
              <a:rPr lang="ko-KR" altLang="en-US" sz="55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550" dirty="0">
                <a:solidFill>
                  <a:schemeClr val="bg1"/>
                </a:solidFill>
                <a:latin typeface="+mn-ea"/>
                <a:ea typeface="+mn-ea"/>
              </a:rPr>
              <a:t>임원회의</a:t>
            </a:r>
          </a:p>
        </p:txBody>
      </p:sp>
      <p:sp>
        <p:nvSpPr>
          <p:cNvPr id="183" name="Rectangle 14"/>
          <p:cNvSpPr>
            <a:spLocks/>
          </p:cNvSpPr>
          <p:nvPr/>
        </p:nvSpPr>
        <p:spPr bwMode="auto">
          <a:xfrm>
            <a:off x="8212063" y="3542704"/>
            <a:ext cx="612000" cy="30600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550" dirty="0">
                <a:solidFill>
                  <a:schemeClr val="bg1"/>
                </a:solidFill>
                <a:latin typeface="+mn-ea"/>
                <a:ea typeface="+mn-ea"/>
              </a:rPr>
              <a:t>EGW UI</a:t>
            </a:r>
            <a:r>
              <a:rPr lang="ko-KR" altLang="en-US" sz="550" dirty="0">
                <a:solidFill>
                  <a:schemeClr val="bg1"/>
                </a:solidFill>
                <a:latin typeface="+mn-ea"/>
                <a:ea typeface="+mn-ea"/>
              </a:rPr>
              <a:t>개선 </a:t>
            </a:r>
          </a:p>
        </p:txBody>
      </p:sp>
      <p:sp>
        <p:nvSpPr>
          <p:cNvPr id="186" name="직사각형 185"/>
          <p:cNvSpPr/>
          <p:nvPr/>
        </p:nvSpPr>
        <p:spPr>
          <a:xfrm>
            <a:off x="8839203" y="3548852"/>
            <a:ext cx="152581" cy="285888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나눔고딕" pitchFamily="50" charset="-127"/>
                <a:ea typeface="나눔고딕" pitchFamily="50" charset="-127"/>
              </a:rPr>
              <a:t>+</a:t>
            </a:r>
            <a:endParaRPr lang="ko-KR" altLang="en-US" sz="800" dirty="0" smtClean="0">
              <a:solidFill>
                <a:schemeClr val="bg1">
                  <a:lumMod val="6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586544" y="3499767"/>
            <a:ext cx="6462205" cy="36412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8842185" y="2927853"/>
            <a:ext cx="176673" cy="27089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나눔고딕" pitchFamily="50" charset="-127"/>
                <a:ea typeface="나눔고딕" pitchFamily="50" charset="-127"/>
              </a:rPr>
              <a:t>+</a:t>
            </a:r>
            <a:endParaRPr lang="ko-KR" altLang="en-US" sz="800" dirty="0" smtClean="0">
              <a:solidFill>
                <a:schemeClr val="bg1">
                  <a:lumMod val="6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8837792" y="4193476"/>
            <a:ext cx="176673" cy="270893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나눔고딕" pitchFamily="50" charset="-127"/>
                <a:ea typeface="나눔고딕" pitchFamily="50" charset="-127"/>
              </a:rPr>
              <a:t>+</a:t>
            </a:r>
            <a:endParaRPr lang="ko-KR" altLang="en-US" sz="800" dirty="0" smtClean="0">
              <a:solidFill>
                <a:schemeClr val="bg1">
                  <a:lumMod val="6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8841608" y="4526500"/>
            <a:ext cx="176673" cy="578032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dirty="0" smtClean="0">
                <a:solidFill>
                  <a:schemeClr val="bg1">
                    <a:lumMod val="65000"/>
                  </a:schemeClr>
                </a:solidFill>
                <a:latin typeface="나눔고딕" pitchFamily="50" charset="-127"/>
                <a:ea typeface="나눔고딕" pitchFamily="50" charset="-127"/>
              </a:rPr>
              <a:t>+</a:t>
            </a:r>
            <a:endParaRPr lang="ko-KR" altLang="en-US" sz="800" dirty="0" smtClean="0">
              <a:solidFill>
                <a:schemeClr val="bg1">
                  <a:lumMod val="6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1" name="Rectangle 14"/>
          <p:cNvSpPr>
            <a:spLocks/>
          </p:cNvSpPr>
          <p:nvPr/>
        </p:nvSpPr>
        <p:spPr bwMode="auto">
          <a:xfrm>
            <a:off x="2656875" y="1559815"/>
            <a:ext cx="6364888" cy="1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              </a:t>
            </a:r>
            <a:r>
              <a: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정부과제</a:t>
            </a:r>
            <a:r>
              <a:rPr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리뷰</a:t>
            </a:r>
          </a:p>
        </p:txBody>
      </p:sp>
      <p:sp>
        <p:nvSpPr>
          <p:cNvPr id="194" name="Rectangle 14"/>
          <p:cNvSpPr>
            <a:spLocks/>
          </p:cNvSpPr>
          <p:nvPr/>
        </p:nvSpPr>
        <p:spPr bwMode="auto">
          <a:xfrm>
            <a:off x="2656875" y="1742674"/>
            <a:ext cx="6364888" cy="16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>
              <a:lnSpc>
                <a:spcPct val="120000"/>
              </a:lnSpc>
            </a:pPr>
            <a:r>
              <a:rPr kumimoji="1" lang="ko-KR" altLang="en-US" sz="600" dirty="0" smtClean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              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자동차 </a:t>
            </a:r>
            <a:r>
              <a:rPr lang="en-US" altLang="ko-KR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UX</a:t>
            </a:r>
            <a:r>
              <a: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 리뷰</a:t>
            </a:r>
          </a:p>
        </p:txBody>
      </p:sp>
      <p:sp>
        <p:nvSpPr>
          <p:cNvPr id="210" name="타원 209"/>
          <p:cNvSpPr>
            <a:spLocks noChangeAspect="1"/>
          </p:cNvSpPr>
          <p:nvPr/>
        </p:nvSpPr>
        <p:spPr>
          <a:xfrm>
            <a:off x="2498756" y="3391809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11" name="그룹 210"/>
          <p:cNvGrpSpPr/>
          <p:nvPr/>
        </p:nvGrpSpPr>
        <p:grpSpPr>
          <a:xfrm>
            <a:off x="6736440" y="5016051"/>
            <a:ext cx="295322" cy="196123"/>
            <a:chOff x="7654036" y="2712927"/>
            <a:chExt cx="295322" cy="196123"/>
          </a:xfrm>
        </p:grpSpPr>
        <p:pic>
          <p:nvPicPr>
            <p:cNvPr id="212" name="그림 211"/>
            <p:cNvPicPr preferRelativeResize="0"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4036" y="2760270"/>
              <a:ext cx="144000" cy="41776"/>
            </a:xfrm>
            <a:prstGeom prst="rect">
              <a:avLst/>
            </a:prstGeom>
          </p:spPr>
        </p:pic>
        <p:pic>
          <p:nvPicPr>
            <p:cNvPr id="213" name="그림 2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3235" y="2712927"/>
              <a:ext cx="196123" cy="196123"/>
            </a:xfrm>
            <a:prstGeom prst="rect">
              <a:avLst/>
            </a:prstGeom>
          </p:spPr>
        </p:pic>
      </p:grpSp>
      <p:sp>
        <p:nvSpPr>
          <p:cNvPr id="214" name="타원 213"/>
          <p:cNvSpPr>
            <a:spLocks noChangeAspect="1"/>
          </p:cNvSpPr>
          <p:nvPr/>
        </p:nvSpPr>
        <p:spPr>
          <a:xfrm>
            <a:off x="6934782" y="5089427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0" name="Rectangle 14"/>
          <p:cNvSpPr>
            <a:spLocks/>
          </p:cNvSpPr>
          <p:nvPr/>
        </p:nvSpPr>
        <p:spPr bwMode="auto">
          <a:xfrm>
            <a:off x="1659194" y="1345507"/>
            <a:ext cx="950055" cy="162000"/>
          </a:xfrm>
          <a:prstGeom prst="rect">
            <a:avLst/>
          </a:prstGeom>
          <a:noFill/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algn="r">
              <a:lnSpc>
                <a:spcPct val="130000"/>
              </a:lnSpc>
            </a:pPr>
            <a:r>
              <a:rPr lang="en-US" altLang="x-none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종일 </a:t>
            </a:r>
            <a:r>
              <a:rPr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16" name="Rectangle 14"/>
          <p:cNvSpPr>
            <a:spLocks/>
          </p:cNvSpPr>
          <p:nvPr/>
        </p:nvSpPr>
        <p:spPr bwMode="auto">
          <a:xfrm>
            <a:off x="1659194" y="1741747"/>
            <a:ext cx="950055" cy="162000"/>
          </a:xfrm>
          <a:prstGeom prst="rect">
            <a:avLst/>
          </a:prstGeom>
          <a:noFill/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algn="r">
              <a:lnSpc>
                <a:spcPct val="130000"/>
              </a:lnSpc>
            </a:pP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기념일</a:t>
            </a:r>
            <a:endParaRPr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8543547" y="1096615"/>
            <a:ext cx="486278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음</a:t>
            </a:r>
            <a:r>
              <a:rPr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)09.21</a:t>
            </a:r>
            <a:endParaRPr lang="ko-KR" altLang="en-US" sz="800" dirty="0" smtClean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일간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CA6.1.3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</a:p>
        </p:txBody>
      </p:sp>
      <p:grpSp>
        <p:nvGrpSpPr>
          <p:cNvPr id="108" name="그룹 107"/>
          <p:cNvGrpSpPr/>
          <p:nvPr/>
        </p:nvGrpSpPr>
        <p:grpSpPr>
          <a:xfrm>
            <a:off x="8944159" y="1350069"/>
            <a:ext cx="47625" cy="347523"/>
            <a:chOff x="6858000" y="2907897"/>
            <a:chExt cx="47625" cy="508807"/>
          </a:xfrm>
        </p:grpSpPr>
        <p:sp>
          <p:nvSpPr>
            <p:cNvPr id="109" name="모서리가 둥근 직사각형 108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10" name="모서리가 둥근 직사각형 109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07" name="타원 106"/>
          <p:cNvSpPr>
            <a:spLocks noChangeAspect="1"/>
          </p:cNvSpPr>
          <p:nvPr/>
        </p:nvSpPr>
        <p:spPr>
          <a:xfrm>
            <a:off x="8942536" y="1327892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2" name="직선 연결선[R] 7"/>
          <p:cNvCxnSpPr/>
          <p:nvPr/>
        </p:nvCxnSpPr>
        <p:spPr>
          <a:xfrm>
            <a:off x="1971413" y="131105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5" name="TextBox 4"/>
          <p:cNvSpPr txBox="1"/>
          <p:nvPr/>
        </p:nvSpPr>
        <p:spPr>
          <a:xfrm>
            <a:off x="2276474" y="1104812"/>
            <a:ext cx="1019175" cy="171538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7 (</a:t>
            </a:r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화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 </a:t>
            </a:r>
            <a:r>
              <a:rPr lang="ko-KR" altLang="en-US" sz="800" smtClean="0">
                <a:solidFill>
                  <a:srgbClr val="FF0000"/>
                </a:solidFill>
                <a:latin typeface="+mn-ea"/>
                <a:ea typeface="+mn-ea"/>
              </a:rPr>
              <a:t>임시공휴일</a:t>
            </a:r>
          </a:p>
        </p:txBody>
      </p:sp>
      <p:sp>
        <p:nvSpPr>
          <p:cNvPr id="116" name="직사각형 98"/>
          <p:cNvSpPr/>
          <p:nvPr/>
        </p:nvSpPr>
        <p:spPr>
          <a:xfrm>
            <a:off x="431134" y="676275"/>
            <a:ext cx="1422685" cy="59912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7" name="Rectangle 14"/>
          <p:cNvSpPr>
            <a:spLocks/>
          </p:cNvSpPr>
          <p:nvPr/>
        </p:nvSpPr>
        <p:spPr bwMode="auto">
          <a:xfrm>
            <a:off x="550750" y="807794"/>
            <a:ext cx="1195982" cy="26744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 algn="ctr">
              <a:lnSpc>
                <a:spcPct val="130000"/>
              </a:lnSpc>
            </a:pPr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일정 </a:t>
            </a: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등록하기</a:t>
            </a:r>
            <a:endParaRPr lang="x-none" altLang="x-none" sz="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118" name="Group 311"/>
          <p:cNvGrpSpPr/>
          <p:nvPr/>
        </p:nvGrpSpPr>
        <p:grpSpPr>
          <a:xfrm>
            <a:off x="444162" y="6351330"/>
            <a:ext cx="1404000" cy="246628"/>
            <a:chOff x="785281" y="6952264"/>
            <a:chExt cx="1404000" cy="246628"/>
          </a:xfrm>
        </p:grpSpPr>
        <p:sp>
          <p:nvSpPr>
            <p:cNvPr id="119" name="텍스트 상자 31"/>
            <p:cNvSpPr txBox="1"/>
            <p:nvPr/>
          </p:nvSpPr>
          <p:spPr>
            <a:xfrm>
              <a:off x="965893" y="7014226"/>
              <a:ext cx="1171015" cy="18466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  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20" name="Freeform 13"/>
            <p:cNvSpPr>
              <a:spLocks noChangeAspect="1" noChangeArrowheads="1"/>
            </p:cNvSpPr>
            <p:nvPr/>
          </p:nvSpPr>
          <p:spPr bwMode="auto">
            <a:xfrm>
              <a:off x="837212" y="7057163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135" name="직선 연결선[R] 33"/>
            <p:cNvCxnSpPr/>
            <p:nvPr/>
          </p:nvCxnSpPr>
          <p:spPr>
            <a:xfrm>
              <a:off x="785281" y="6952264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7" name="Table 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238714"/>
              </p:ext>
            </p:extLst>
          </p:nvPr>
        </p:nvGraphicFramePr>
        <p:xfrm>
          <a:off x="428535" y="1157416"/>
          <a:ext cx="1419089" cy="1082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294"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ko-KR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2017.08</a:t>
                      </a:r>
                      <a:r>
                        <a:rPr lang="ko-KR" altLang="en-US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 </a:t>
                      </a:r>
                      <a:endParaRPr lang="en-US" sz="800" dirty="0">
                        <a:solidFill>
                          <a:schemeClr val="tx1"/>
                        </a:solidFill>
                        <a:latin typeface="Malgun Gothic" charset="-127"/>
                        <a:ea typeface="Malgun Gothic" charset="-127"/>
                        <a:cs typeface="Malgun Gothic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수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목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금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토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endParaRPr lang="en-US" sz="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n-US" sz="600" u="none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en-US" sz="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600" u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1" name="타원 83"/>
          <p:cNvSpPr>
            <a:spLocks noChangeAspect="1"/>
          </p:cNvSpPr>
          <p:nvPr/>
        </p:nvSpPr>
        <p:spPr>
          <a:xfrm>
            <a:off x="642073" y="1927951"/>
            <a:ext cx="179840" cy="18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ko-KR" sz="600" b="1" smtClean="0">
                <a:solidFill>
                  <a:schemeClr val="bg1"/>
                </a:solidFill>
                <a:latin typeface="+mn-ea"/>
              </a:rPr>
              <a:t>21</a:t>
            </a:r>
            <a:endParaRPr kumimoji="1" lang="ko-KR" altLang="en-US" sz="6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62" name="직선 연결선[R] 33"/>
          <p:cNvCxnSpPr/>
          <p:nvPr/>
        </p:nvCxnSpPr>
        <p:spPr>
          <a:xfrm>
            <a:off x="438102" y="2297946"/>
            <a:ext cx="141138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5" name="Group 234"/>
          <p:cNvGrpSpPr/>
          <p:nvPr/>
        </p:nvGrpSpPr>
        <p:grpSpPr>
          <a:xfrm>
            <a:off x="725767" y="1212400"/>
            <a:ext cx="792726" cy="80656"/>
            <a:chOff x="2656761" y="1741427"/>
            <a:chExt cx="792726" cy="80656"/>
          </a:xfrm>
        </p:grpSpPr>
        <p:sp>
          <p:nvSpPr>
            <p:cNvPr id="192" name="Freeform 9"/>
            <p:cNvSpPr>
              <a:spLocks noChangeArrowheads="1"/>
            </p:cNvSpPr>
            <p:nvPr/>
          </p:nvSpPr>
          <p:spPr bwMode="auto">
            <a:xfrm>
              <a:off x="26567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193" name="Freeform 10"/>
            <p:cNvSpPr>
              <a:spLocks noChangeArrowheads="1"/>
            </p:cNvSpPr>
            <p:nvPr/>
          </p:nvSpPr>
          <p:spPr bwMode="auto">
            <a:xfrm>
              <a:off x="33999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195" name="그룹 194"/>
          <p:cNvGrpSpPr/>
          <p:nvPr/>
        </p:nvGrpSpPr>
        <p:grpSpPr>
          <a:xfrm>
            <a:off x="440152" y="2294165"/>
            <a:ext cx="1456276" cy="3158842"/>
            <a:chOff x="4397260" y="1236890"/>
            <a:chExt cx="1456276" cy="3158842"/>
          </a:xfrm>
        </p:grpSpPr>
        <p:sp>
          <p:nvSpPr>
            <p:cNvPr id="196" name="텍스트 상자 31"/>
            <p:cNvSpPr txBox="1"/>
            <p:nvPr/>
          </p:nvSpPr>
          <p:spPr>
            <a:xfrm>
              <a:off x="4571916" y="2362718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공유받은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99" name="텍스트 상자 31"/>
            <p:cNvSpPr txBox="1"/>
            <p:nvPr/>
          </p:nvSpPr>
          <p:spPr>
            <a:xfrm>
              <a:off x="4574893" y="2549712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UI</a:t>
              </a:r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프로젝트 일정 공유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00" name="텍스트 상자 31"/>
            <p:cNvSpPr txBox="1"/>
            <p:nvPr/>
          </p:nvSpPr>
          <p:spPr>
            <a:xfrm>
              <a:off x="4569879" y="3170609"/>
              <a:ext cx="899412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</a:t>
              </a:r>
              <a:r>
                <a:rPr kumimoji="1" lang="ko-KR" altLang="en-US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디자인팀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201" name="직선 연결선[R] 33"/>
            <p:cNvCxnSpPr/>
            <p:nvPr/>
          </p:nvCxnSpPr>
          <p:spPr>
            <a:xfrm>
              <a:off x="4402783" y="3850773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텍스트 상자 31"/>
            <p:cNvSpPr txBox="1"/>
            <p:nvPr/>
          </p:nvSpPr>
          <p:spPr>
            <a:xfrm>
              <a:off x="4574893" y="2714268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기획</a:t>
              </a:r>
              <a:r>
                <a:rPr kumimoji="1" lang="en-US" altLang="ko-KR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1</a:t>
              </a:r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휴가일 공유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03" name="텍스트 상자 31"/>
            <p:cNvSpPr txBox="1"/>
            <p:nvPr/>
          </p:nvSpPr>
          <p:spPr>
            <a:xfrm>
              <a:off x="4569879" y="3335092"/>
              <a:ext cx="770030" cy="951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자동차 </a:t>
              </a:r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 </a:t>
              </a:r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</a:t>
              </a:r>
            </a:p>
          </p:txBody>
        </p:sp>
        <p:sp>
          <p:nvSpPr>
            <p:cNvPr id="204" name="텍스트 상자 31"/>
            <p:cNvSpPr txBox="1"/>
            <p:nvPr/>
          </p:nvSpPr>
          <p:spPr>
            <a:xfrm>
              <a:off x="4569879" y="3491933"/>
              <a:ext cx="895878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EGW UX</a:t>
              </a:r>
              <a:r>
                <a:rPr kumimoji="1" lang="ko-KR" altLang="en-US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 </a:t>
              </a:r>
              <a:r>
                <a:rPr kumimoji="1" lang="en-US" altLang="ko-KR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205" name="텍스트 상자 31"/>
            <p:cNvSpPr txBox="1"/>
            <p:nvPr/>
          </p:nvSpPr>
          <p:spPr>
            <a:xfrm>
              <a:off x="4569879" y="3651133"/>
              <a:ext cx="785062" cy="9178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정부 </a:t>
              </a:r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과제 </a:t>
              </a:r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06" name="텍스트 상자 31"/>
            <p:cNvSpPr txBox="1"/>
            <p:nvPr/>
          </p:nvSpPr>
          <p:spPr>
            <a:xfrm>
              <a:off x="4571916" y="1774909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내 일정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07" name="텍스트 상자 31"/>
            <p:cNvSpPr txBox="1"/>
            <p:nvPr/>
          </p:nvSpPr>
          <p:spPr>
            <a:xfrm>
              <a:off x="4571916" y="1941480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김핸디 업무일정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208" name="텍스트 상자 31"/>
            <p:cNvSpPr txBox="1"/>
            <p:nvPr/>
          </p:nvSpPr>
          <p:spPr>
            <a:xfrm>
              <a:off x="4571916" y="4136828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전사 일정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15" name="텍스트 상자 31"/>
            <p:cNvSpPr txBox="1"/>
            <p:nvPr/>
          </p:nvSpPr>
          <p:spPr>
            <a:xfrm>
              <a:off x="4571916" y="4303399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대한민국 휴일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217" name="텍스트 상자 31"/>
            <p:cNvSpPr txBox="1"/>
            <p:nvPr/>
          </p:nvSpPr>
          <p:spPr>
            <a:xfrm>
              <a:off x="4577872" y="3939571"/>
              <a:ext cx="82026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구독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18" name="Freeform 24"/>
            <p:cNvSpPr>
              <a:spLocks noChangeArrowheads="1"/>
            </p:cNvSpPr>
            <p:nvPr/>
          </p:nvSpPr>
          <p:spPr bwMode="auto">
            <a:xfrm>
              <a:off x="4458907" y="3970573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20" name="Freeform 24"/>
            <p:cNvSpPr>
              <a:spLocks noChangeArrowheads="1"/>
            </p:cNvSpPr>
            <p:nvPr/>
          </p:nvSpPr>
          <p:spPr bwMode="auto">
            <a:xfrm>
              <a:off x="4458907" y="2385651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21" name="텍스트 상자 31"/>
            <p:cNvSpPr txBox="1"/>
            <p:nvPr/>
          </p:nvSpPr>
          <p:spPr>
            <a:xfrm>
              <a:off x="4577872" y="1603804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개인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cxnSp>
          <p:nvCxnSpPr>
            <p:cNvPr id="222" name="직선 연결선[R] 33"/>
            <p:cNvCxnSpPr/>
            <p:nvPr/>
          </p:nvCxnSpPr>
          <p:spPr>
            <a:xfrm>
              <a:off x="4397260" y="1513403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Freeform 24"/>
            <p:cNvSpPr>
              <a:spLocks noChangeArrowheads="1"/>
            </p:cNvSpPr>
            <p:nvPr/>
          </p:nvSpPr>
          <p:spPr bwMode="auto">
            <a:xfrm>
              <a:off x="4458907" y="1622077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224" name="직선 연결선[R] 33"/>
            <p:cNvCxnSpPr/>
            <p:nvPr/>
          </p:nvCxnSpPr>
          <p:spPr>
            <a:xfrm>
              <a:off x="4397260" y="2287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Rectangle 356"/>
            <p:cNvSpPr>
              <a:spLocks noChangeAspect="1"/>
            </p:cNvSpPr>
            <p:nvPr/>
          </p:nvSpPr>
          <p:spPr>
            <a:xfrm>
              <a:off x="4460857" y="1787917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26" name="Rectangle 357"/>
            <p:cNvSpPr>
              <a:spLocks noChangeAspect="1"/>
            </p:cNvSpPr>
            <p:nvPr/>
          </p:nvSpPr>
          <p:spPr>
            <a:xfrm>
              <a:off x="4460857" y="195138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27" name="Rectangle 358"/>
            <p:cNvSpPr>
              <a:spLocks noChangeAspect="1"/>
            </p:cNvSpPr>
            <p:nvPr/>
          </p:nvSpPr>
          <p:spPr>
            <a:xfrm>
              <a:off x="4463834" y="2557749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28" name="Rectangle 359"/>
            <p:cNvSpPr>
              <a:spLocks noChangeAspect="1"/>
            </p:cNvSpPr>
            <p:nvPr/>
          </p:nvSpPr>
          <p:spPr>
            <a:xfrm>
              <a:off x="4463834" y="2721213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29" name="Rectangle 360"/>
            <p:cNvSpPr>
              <a:spLocks noChangeAspect="1"/>
            </p:cNvSpPr>
            <p:nvPr/>
          </p:nvSpPr>
          <p:spPr>
            <a:xfrm>
              <a:off x="4458820" y="318033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30" name="Rectangle 361"/>
            <p:cNvSpPr>
              <a:spLocks noChangeAspect="1"/>
            </p:cNvSpPr>
            <p:nvPr/>
          </p:nvSpPr>
          <p:spPr>
            <a:xfrm>
              <a:off x="4458820" y="3343795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31" name="Rectangle 362"/>
            <p:cNvSpPr>
              <a:spLocks noChangeAspect="1"/>
            </p:cNvSpPr>
            <p:nvPr/>
          </p:nvSpPr>
          <p:spPr>
            <a:xfrm>
              <a:off x="4458820" y="3499367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32" name="Rectangle 363"/>
            <p:cNvSpPr>
              <a:spLocks noChangeAspect="1"/>
            </p:cNvSpPr>
            <p:nvPr/>
          </p:nvSpPr>
          <p:spPr>
            <a:xfrm>
              <a:off x="4458820" y="366283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33" name="Rectangle 364"/>
            <p:cNvSpPr>
              <a:spLocks noChangeAspect="1"/>
            </p:cNvSpPr>
            <p:nvPr/>
          </p:nvSpPr>
          <p:spPr>
            <a:xfrm>
              <a:off x="4460857" y="4144262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34" name="Rectangle 365"/>
            <p:cNvSpPr>
              <a:spLocks noChangeAspect="1"/>
            </p:cNvSpPr>
            <p:nvPr/>
          </p:nvSpPr>
          <p:spPr>
            <a:xfrm>
              <a:off x="4460857" y="4307726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cxnSp>
          <p:nvCxnSpPr>
            <p:cNvPr id="235" name="직선 연결선[R] 33"/>
            <p:cNvCxnSpPr/>
            <p:nvPr/>
          </p:nvCxnSpPr>
          <p:spPr>
            <a:xfrm>
              <a:off x="4397260" y="1236890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텍스트 상자 31"/>
            <p:cNvSpPr txBox="1"/>
            <p:nvPr/>
          </p:nvSpPr>
          <p:spPr>
            <a:xfrm>
              <a:off x="4583932" y="1328336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전체 달력</a:t>
              </a:r>
              <a:endParaRPr kumimoji="1"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37" name="텍스트 상자 31"/>
            <p:cNvSpPr txBox="1"/>
            <p:nvPr/>
          </p:nvSpPr>
          <p:spPr>
            <a:xfrm>
              <a:off x="4571916" y="2984083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스퀘어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38" name="Freeform 24"/>
            <p:cNvSpPr>
              <a:spLocks noChangeArrowheads="1"/>
            </p:cNvSpPr>
            <p:nvPr/>
          </p:nvSpPr>
          <p:spPr bwMode="auto">
            <a:xfrm>
              <a:off x="4458907" y="3007016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239" name="직선 연결선[R] 33"/>
            <p:cNvCxnSpPr/>
            <p:nvPr/>
          </p:nvCxnSpPr>
          <p:spPr>
            <a:xfrm>
              <a:off x="4397260" y="290882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텍스트 상자 31"/>
            <p:cNvSpPr txBox="1"/>
            <p:nvPr/>
          </p:nvSpPr>
          <p:spPr>
            <a:xfrm>
              <a:off x="4571916" y="2102303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공유받은 </a:t>
              </a:r>
              <a:r>
                <a:rPr kumimoji="1" lang="ko-KR" altLang="en-US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일정</a:t>
              </a:r>
              <a:r>
                <a:rPr kumimoji="1" lang="en-US" altLang="ko-KR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241" name="Rectangle 222"/>
            <p:cNvSpPr>
              <a:spLocks noChangeAspect="1"/>
            </p:cNvSpPr>
            <p:nvPr/>
          </p:nvSpPr>
          <p:spPr>
            <a:xfrm>
              <a:off x="4460857" y="2112204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242" name="Rounded Rectangle 223"/>
            <p:cNvSpPr/>
            <p:nvPr/>
          </p:nvSpPr>
          <p:spPr>
            <a:xfrm>
              <a:off x="5147408" y="1938766"/>
              <a:ext cx="216000" cy="108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 smtClean="0">
                  <a:latin typeface="+mn-ea"/>
                </a:rPr>
                <a:t>공유</a:t>
              </a:r>
              <a:endParaRPr lang="en-US" sz="600" dirty="0">
                <a:latin typeface="+mn-ea"/>
              </a:endParaRP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5669063" y="1559626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5661043" y="3899495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45" name="Rectangle 356"/>
            <p:cNvSpPr>
              <a:spLocks noChangeAspect="1"/>
            </p:cNvSpPr>
            <p:nvPr/>
          </p:nvSpPr>
          <p:spPr>
            <a:xfrm>
              <a:off x="4460857" y="1343840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</p:grpSp>
      <p:grpSp>
        <p:nvGrpSpPr>
          <p:cNvPr id="154" name="그룹 153"/>
          <p:cNvGrpSpPr/>
          <p:nvPr/>
        </p:nvGrpSpPr>
        <p:grpSpPr>
          <a:xfrm>
            <a:off x="6962591" y="829761"/>
            <a:ext cx="1030245" cy="180000"/>
            <a:chOff x="6443058" y="1673426"/>
            <a:chExt cx="1030245" cy="180000"/>
          </a:xfrm>
        </p:grpSpPr>
        <p:grpSp>
          <p:nvGrpSpPr>
            <p:cNvPr id="209" name="Group 21"/>
            <p:cNvGrpSpPr/>
            <p:nvPr/>
          </p:nvGrpSpPr>
          <p:grpSpPr>
            <a:xfrm>
              <a:off x="6443058" y="1673426"/>
              <a:ext cx="344208" cy="180000"/>
              <a:chOff x="6706916" y="1673426"/>
              <a:chExt cx="344208" cy="180000"/>
            </a:xfrm>
          </p:grpSpPr>
          <p:sp>
            <p:nvSpPr>
              <p:cNvPr id="257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 dirty="0">
                  <a:latin typeface="+mn-ea"/>
                  <a:ea typeface="+mn-ea"/>
                </a:endParaRPr>
              </a:p>
            </p:txBody>
          </p:sp>
          <p:sp>
            <p:nvSpPr>
              <p:cNvPr id="258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59" name="Rectangle 625"/>
              <p:cNvSpPr/>
              <p:nvPr/>
            </p:nvSpPr>
            <p:spPr>
              <a:xfrm>
                <a:off x="6745093" y="1714887"/>
                <a:ext cx="77071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60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kumimoji="1" lang="ko-KR" altLang="en-US" sz="600" b="1" dirty="0" smtClean="0">
                    <a:solidFill>
                      <a:schemeClr val="bg1"/>
                    </a:solidFill>
                    <a:latin typeface="+mn-ea"/>
                    <a:ea typeface="+mn-ea"/>
                  </a:rPr>
                  <a:t>월간</a:t>
                </a:r>
                <a:endParaRPr kumimoji="1" lang="ko-KR" altLang="en-US" sz="600" b="1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46" name="Group 548"/>
            <p:cNvGrpSpPr/>
            <p:nvPr/>
          </p:nvGrpSpPr>
          <p:grpSpPr>
            <a:xfrm>
              <a:off x="6784180" y="1673426"/>
              <a:ext cx="344208" cy="180000"/>
              <a:chOff x="6706916" y="1673426"/>
              <a:chExt cx="344208" cy="180000"/>
            </a:xfrm>
          </p:grpSpPr>
          <p:sp>
            <p:nvSpPr>
              <p:cNvPr id="255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 dirty="0">
                  <a:latin typeface="+mn-ea"/>
                  <a:ea typeface="+mn-ea"/>
                </a:endParaRPr>
              </a:p>
            </p:txBody>
          </p:sp>
          <p:sp>
            <p:nvSpPr>
              <p:cNvPr id="256" name="텍스트 상자 31"/>
              <p:cNvSpPr txBox="1"/>
              <p:nvPr/>
            </p:nvSpPr>
            <p:spPr>
              <a:xfrm>
                <a:off x="6852300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kumimoji="1" lang="ko-KR" altLang="en-US" sz="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rPr>
                  <a:t>주간</a:t>
                </a:r>
                <a:endParaRPr kumimoji="1"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47" name="Group 22"/>
            <p:cNvGrpSpPr/>
            <p:nvPr/>
          </p:nvGrpSpPr>
          <p:grpSpPr>
            <a:xfrm>
              <a:off x="6812150" y="1714887"/>
              <a:ext cx="102895" cy="76173"/>
              <a:chOff x="7271815" y="1714887"/>
              <a:chExt cx="102895" cy="76173"/>
            </a:xfrm>
          </p:grpSpPr>
          <p:sp>
            <p:nvSpPr>
              <p:cNvPr id="252" name="Rectangle 625"/>
              <p:cNvSpPr/>
              <p:nvPr/>
            </p:nvSpPr>
            <p:spPr>
              <a:xfrm>
                <a:off x="7338279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53" name="Rectangle 625"/>
              <p:cNvSpPr/>
              <p:nvPr/>
            </p:nvSpPr>
            <p:spPr>
              <a:xfrm>
                <a:off x="7305047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54" name="Rectangle 625"/>
              <p:cNvSpPr/>
              <p:nvPr/>
            </p:nvSpPr>
            <p:spPr>
              <a:xfrm>
                <a:off x="7271815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48" name="Group 553"/>
            <p:cNvGrpSpPr/>
            <p:nvPr/>
          </p:nvGrpSpPr>
          <p:grpSpPr>
            <a:xfrm>
              <a:off x="7129095" y="1673426"/>
              <a:ext cx="344208" cy="180000"/>
              <a:chOff x="6706916" y="1673426"/>
              <a:chExt cx="344208" cy="180000"/>
            </a:xfrm>
          </p:grpSpPr>
          <p:sp>
            <p:nvSpPr>
              <p:cNvPr id="249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noFill/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 dirty="0">
                  <a:latin typeface="+mn-ea"/>
                  <a:ea typeface="+mn-ea"/>
                </a:endParaRPr>
              </a:p>
            </p:txBody>
          </p:sp>
          <p:sp>
            <p:nvSpPr>
              <p:cNvPr id="250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kumimoji="1" lang="en-US" sz="70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51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kumimoji="1" lang="ko-KR" altLang="en-US" sz="6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rPr>
                  <a:t>일간</a:t>
                </a:r>
                <a:endParaRPr kumimoji="1"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61" name="Group 168"/>
          <p:cNvGrpSpPr/>
          <p:nvPr/>
        </p:nvGrpSpPr>
        <p:grpSpPr>
          <a:xfrm>
            <a:off x="8382109" y="816988"/>
            <a:ext cx="162000" cy="180000"/>
            <a:chOff x="7681408" y="2293428"/>
            <a:chExt cx="161707" cy="180000"/>
          </a:xfrm>
        </p:grpSpPr>
        <p:sp>
          <p:nvSpPr>
            <p:cNvPr id="262" name="Rounded Rectangle 169"/>
            <p:cNvSpPr/>
            <p:nvPr/>
          </p:nvSpPr>
          <p:spPr>
            <a:xfrm>
              <a:off x="7681408" y="2293428"/>
              <a:ext cx="161707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latin typeface="+mn-ea"/>
                <a:ea typeface="+mn-ea"/>
              </a:endParaRPr>
            </a:p>
          </p:txBody>
        </p:sp>
        <p:sp>
          <p:nvSpPr>
            <p:cNvPr id="263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264" name="그룹 263"/>
          <p:cNvGrpSpPr/>
          <p:nvPr/>
        </p:nvGrpSpPr>
        <p:grpSpPr>
          <a:xfrm>
            <a:off x="8089890" y="817141"/>
            <a:ext cx="216000" cy="180000"/>
            <a:chOff x="8455344" y="813130"/>
            <a:chExt cx="216000" cy="180000"/>
          </a:xfrm>
        </p:grpSpPr>
        <p:sp>
          <p:nvSpPr>
            <p:cNvPr id="265" name="Rounded Rectangle 169"/>
            <p:cNvSpPr/>
            <p:nvPr/>
          </p:nvSpPr>
          <p:spPr>
            <a:xfrm>
              <a:off x="8455344" y="813130"/>
              <a:ext cx="216000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latin typeface="+mn-ea"/>
                <a:ea typeface="+mn-ea"/>
              </a:endParaRPr>
            </a:p>
          </p:txBody>
        </p:sp>
        <p:pic>
          <p:nvPicPr>
            <p:cNvPr id="266" name="내용 개체 틀 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3805" y="824238"/>
              <a:ext cx="162000" cy="162000"/>
            </a:xfrm>
            <a:prstGeom prst="rect">
              <a:avLst/>
            </a:prstGeom>
          </p:spPr>
        </p:pic>
      </p:grpSp>
      <p:grpSp>
        <p:nvGrpSpPr>
          <p:cNvPr id="26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5698365" y="825436"/>
            <a:ext cx="1173764" cy="196977"/>
            <a:chOff x="554563" y="2599933"/>
            <a:chExt cx="1173764" cy="196977"/>
          </a:xfrm>
        </p:grpSpPr>
        <p:sp>
          <p:nvSpPr>
            <p:cNvPr id="268" name="Box" descr="&lt;Tags&gt;&lt;SMARTRESIZEANCHORS&gt;None,None,Absolute,None&lt;/SMARTRESIZEANCHORS&gt;&lt;/Tags&gt;"/>
            <p:cNvSpPr/>
            <p:nvPr/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9" name="Label" descr="&lt;Tags&gt;&lt;SMARTRESIZEANCHORS&gt;Absolute,Absolute,Absolute,Absolute&lt;/SMARTRESIZEANCHORS&gt;&lt;/Tags&gt;"/>
            <p:cNvSpPr txBox="1"/>
            <p:nvPr/>
          </p:nvSpPr>
          <p:spPr>
            <a:xfrm>
              <a:off x="686119" y="2599933"/>
              <a:ext cx="1042208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플래그 일정만 보기</a:t>
              </a:r>
            </a:p>
          </p:txBody>
        </p:sp>
        <p:sp>
          <p:nvSpPr>
            <p:cNvPr id="270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71" name="그룹 270"/>
          <p:cNvGrpSpPr/>
          <p:nvPr/>
        </p:nvGrpSpPr>
        <p:grpSpPr>
          <a:xfrm>
            <a:off x="8645870" y="813534"/>
            <a:ext cx="354278" cy="203200"/>
            <a:chOff x="7121870" y="765909"/>
            <a:chExt cx="354278" cy="203200"/>
          </a:xfrm>
        </p:grpSpPr>
        <p:sp>
          <p:nvSpPr>
            <p:cNvPr id="272" name="직사각형 271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600" smtClean="0">
                  <a:solidFill>
                    <a:schemeClr val="bg1"/>
                  </a:solidFill>
                  <a:latin typeface="+mn-ea"/>
                  <a:ea typeface="+mn-ea"/>
                </a:rPr>
                <a:t>▼</a:t>
              </a:r>
              <a:endParaRPr lang="ko-KR" altLang="en-US" sz="600" dirty="0" smtClean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73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/>
            </a:p>
          </p:txBody>
        </p:sp>
      </p:grpSp>
    </p:spTree>
    <p:extLst>
      <p:ext uri="{BB962C8B-B14F-4D97-AF65-F5344CB8AC3E}">
        <p14:creationId xmlns:p14="http://schemas.microsoft.com/office/powerpoint/2010/main" val="224723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"/>
          <p:cNvSpPr/>
          <p:nvPr/>
        </p:nvSpPr>
        <p:spPr>
          <a:xfrm>
            <a:off x="223828" y="448510"/>
            <a:ext cx="7487538" cy="56760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aphicFrame>
        <p:nvGraphicFramePr>
          <p:cNvPr id="122" name="내용 개체 틀 121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448932325"/>
              </p:ext>
            </p:extLst>
          </p:nvPr>
        </p:nvGraphicFramePr>
        <p:xfrm>
          <a:off x="270405" y="960455"/>
          <a:ext cx="6414029" cy="4535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496">
                  <a:extLst>
                    <a:ext uri="{9D8B030D-6E8A-4147-A177-3AD203B41FA5}">
                      <a16:colId xmlns:a16="http://schemas.microsoft.com/office/drawing/2014/main" val="2744069476"/>
                    </a:ext>
                  </a:extLst>
                </a:gridCol>
                <a:gridCol w="5579533">
                  <a:extLst>
                    <a:ext uri="{9D8B030D-6E8A-4147-A177-3AD203B41FA5}">
                      <a16:colId xmlns:a16="http://schemas.microsoft.com/office/drawing/2014/main" val="2490272663"/>
                    </a:ext>
                  </a:extLst>
                </a:gridCol>
              </a:tblGrid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제목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kumimoji="1"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프로젝트 업무회의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76769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작성자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127724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달력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내 일정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      UI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팀 프로젝트 일정 공유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975024"/>
                  </a:ext>
                </a:extLst>
              </a:tr>
              <a:tr h="436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일시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2017-09-20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11:00 ~ 2017-09-22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3:00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ㅣ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종일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기념일</a:t>
                      </a:r>
                      <a:endParaRPr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음력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2017-09-21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11:00 ~ 2017-09-22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3:00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364343"/>
                  </a:ext>
                </a:extLst>
              </a:tr>
              <a:tr h="436739">
                <a:tc>
                  <a:txBody>
                    <a:bodyPr/>
                    <a:lstStyle/>
                    <a:p>
                      <a:pPr latinLnBrk="1"/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" charset="0"/>
                        </a:rPr>
                        <a:t>2018-01-22 ~ 2018-01-22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" charset="0"/>
                        </a:rPr>
                        <a:t>ㅣ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11:00 ~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11:30</a:t>
                      </a:r>
                    </a:p>
                    <a:p>
                      <a:pPr marL="0" marR="0" lvl="0" indent="0" algn="l" defTabSz="99057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    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" charset="0"/>
                        </a:rPr>
                        <a:t>2018-01-22 ~ 2018-01-22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Malgun Gothic" charset="0"/>
                        </a:rPr>
                        <a:t>ㅣ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11:00 ~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11:30</a:t>
                      </a:r>
                    </a:p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en-US" altLang="ko-KR" sz="80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80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주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마다 </a:t>
                      </a:r>
                      <a:r>
                        <a:rPr lang="ko-KR" altLang="en-US" sz="80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일요일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반복</a:t>
                      </a:r>
                      <a:endParaRPr lang="ko-KR" altLang="en-US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13579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공유자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강미나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ko-KR" altLang="en-US" sz="800" b="0" u="none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외 </a:t>
                      </a:r>
                      <a:r>
                        <a:rPr lang="en-US" altLang="ko-KR" sz="800" b="0" u="none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15</a:t>
                      </a:r>
                      <a:r>
                        <a:rPr lang="ko-KR" altLang="en-US" sz="800" b="0" u="none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명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50860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설비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층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Bahama,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53376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알림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분전 알림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메일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738479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기타제목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기타내용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기타제목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기타내용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127556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내용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개발 리뷰를 위한 업무 회의 입니다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개발 리뷰를 위한 업무 회의 입니다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개발 리뷰를 위한 업무 회의 입니다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개발 리뷰를 위한 업무 회의 입니다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140816"/>
                  </a:ext>
                </a:extLst>
              </a:tr>
              <a:tr h="543436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sng" smtClean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186609"/>
                  </a:ext>
                </a:extLst>
              </a:tr>
            </a:tbl>
          </a:graphicData>
        </a:graphic>
      </p:graphicFrame>
      <p:sp>
        <p:nvSpPr>
          <p:cNvPr id="13" name="Rectangle 212"/>
          <p:cNvSpPr/>
          <p:nvPr/>
        </p:nvSpPr>
        <p:spPr>
          <a:xfrm>
            <a:off x="228942" y="461485"/>
            <a:ext cx="7453849" cy="29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텍스트 상자 31"/>
          <p:cNvSpPr txBox="1"/>
          <p:nvPr/>
        </p:nvSpPr>
        <p:spPr>
          <a:xfrm>
            <a:off x="312165" y="548564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 정보</a:t>
            </a:r>
            <a:endParaRPr kumimoji="1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237067" y="6096000"/>
            <a:ext cx="8255000" cy="54186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aphicFrame>
        <p:nvGraphicFramePr>
          <p:cNvPr id="18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27678"/>
              </p:ext>
            </p:extLst>
          </p:nvPr>
        </p:nvGraphicFramePr>
        <p:xfrm>
          <a:off x="9286875" y="793264"/>
          <a:ext cx="2819019" cy="3522196"/>
        </p:xfrm>
        <a:graphic>
          <a:graphicData uri="http://schemas.openxmlformats.org/drawingml/2006/table">
            <a:tbl>
              <a:tblPr/>
              <a:tblGrid>
                <a:gridCol w="17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 gridSpan="2">
                  <a:txBody>
                    <a:bodyPr/>
                    <a:lstStyle/>
                    <a:p>
                      <a:pPr marL="0" indent="0" algn="l" defTabSz="914400">
                        <a:buSzPct val="100000"/>
                        <a:buNone/>
                        <a:tabLst/>
                        <a:defRPr sz="2300"/>
                      </a:pP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수정 권한이 없을 경우</a:t>
                      </a:r>
                      <a:r>
                        <a:rPr lang="en-US" altLang="ko-KR" sz="800" kern="120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, </a:t>
                      </a:r>
                    </a:p>
                    <a:p>
                      <a:pPr marL="0" indent="0" algn="l" defTabSz="914400">
                        <a:buSzPct val="100000"/>
                        <a:buNone/>
                        <a:tabLst/>
                        <a:defRPr sz="2300"/>
                      </a:pP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일정 정보 보기 화면으로 출력</a:t>
                      </a:r>
                      <a:r>
                        <a:rPr lang="en-US" altLang="ko-KR" sz="800" kern="120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(view)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b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b="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일반 일정으로 등록됐을 경우 출력되는 정보 구조</a:t>
                      </a: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24491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b="0" smtClean="0">
                          <a:latin typeface="+mj-ea"/>
                          <a:ea typeface="+mj-ea"/>
                          <a:cs typeface="Nanum Gothic" charset="-127"/>
                        </a:rPr>
                        <a:t>1-1</a:t>
                      </a:r>
                      <a:endParaRPr sz="800" b="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음력으로 일정이 등록됐을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</a:t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기본 날짜는 양력으로 출력하고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하단에 음력 날짜를 별도 표기</a:t>
                      </a: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2681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b="0" smtClean="0"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b="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반복 일정으로 등록됐을 경우 출력되는 정보 구조</a:t>
                      </a: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46947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b="0" smtClean="0">
                          <a:latin typeface="+mj-ea"/>
                          <a:ea typeface="+mj-ea"/>
                          <a:cs typeface="Nanum Gothic" charset="-127"/>
                        </a:rPr>
                        <a:t>2-1</a:t>
                      </a:r>
                      <a:endParaRPr sz="800" b="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반복 일정의 요약 정보가 출력</a:t>
                      </a:r>
                      <a:endParaRPr kumimoji="1"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출력 방식은 반복 설정 레이어와 동일</a:t>
                      </a: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182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b="0" smtClean="0"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b="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6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명 이상 공유자가 등록됐을 경우</a:t>
                      </a:r>
                      <a:endParaRPr kumimoji="1"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+ N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명 표기 및 더보기 버튼 출력</a:t>
                      </a:r>
                      <a:endParaRPr kumimoji="1"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더보기 버튼 클릭시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15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명씩 단위로 공유인원 출력</a:t>
                      </a:r>
                      <a:endParaRPr kumimoji="1"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78123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b="0" smtClean="0">
                          <a:latin typeface="+mj-ea"/>
                          <a:ea typeface="+mj-ea"/>
                          <a:cs typeface="Nanum Gothic" charset="-127"/>
                        </a:rPr>
                        <a:t>4</a:t>
                      </a:r>
                      <a:endParaRPr sz="800" b="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첨부파일이 등록됐을 시 출력</a:t>
                      </a:r>
                      <a:endParaRPr kumimoji="1"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다운로드 경로</a:t>
                      </a:r>
                      <a:r>
                        <a:rPr kumimoji="1" lang="en-US" altLang="ko-KR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파일명</a:t>
                      </a:r>
                      <a:r>
                        <a:rPr kumimoji="1" lang="en-US" altLang="ko-KR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+</a:t>
                      </a:r>
                      <a:r>
                        <a:rPr kumimoji="1"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확장자</a:t>
                      </a:r>
                      <a:r>
                        <a:rPr kumimoji="1" lang="en-US" altLang="ko-KR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파일 크기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의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정보로만 출력</a:t>
                      </a:r>
                      <a:endParaRPr kumimoji="1"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435810"/>
                  </a:ext>
                </a:extLst>
              </a:tr>
            </a:tbl>
          </a:graphicData>
        </a:graphic>
      </p:graphicFrame>
      <p:sp>
        <p:nvSpPr>
          <p:cNvPr id="124" name="직사각형 123"/>
          <p:cNvSpPr/>
          <p:nvPr/>
        </p:nvSpPr>
        <p:spPr>
          <a:xfrm>
            <a:off x="1228952" y="1673788"/>
            <a:ext cx="118078" cy="118268"/>
          </a:xfrm>
          <a:prstGeom prst="rect">
            <a:avLst/>
          </a:prstGeom>
          <a:solidFill>
            <a:srgbClr val="FF0066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1818167" y="1673788"/>
            <a:ext cx="118078" cy="118268"/>
          </a:xfrm>
          <a:prstGeom prst="rect">
            <a:avLst/>
          </a:prstGeom>
          <a:solidFill>
            <a:srgbClr val="FFC000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75" name="Rounded Rectangle 457"/>
          <p:cNvSpPr/>
          <p:nvPr/>
        </p:nvSpPr>
        <p:spPr>
          <a:xfrm>
            <a:off x="3356517" y="2993133"/>
            <a:ext cx="540000" cy="180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더보기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203855" y="2153302"/>
            <a:ext cx="257175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음력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7547505" y="810235"/>
            <a:ext cx="0" cy="5413270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 rot="5400000">
            <a:off x="7345575" y="4040115"/>
            <a:ext cx="574444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Scroll Area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상세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_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읽기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CA6.1.1.3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타원 61"/>
          <p:cNvSpPr>
            <a:spLocks noChangeAspect="1"/>
          </p:cNvSpPr>
          <p:nvPr/>
        </p:nvSpPr>
        <p:spPr>
          <a:xfrm>
            <a:off x="3817552" y="3089713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4" name="Picture 3" descr="C:\Users\Administrator\Downloads\flag (1)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77" y="1050998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1441" y="3132432"/>
            <a:ext cx="2333771" cy="666791"/>
          </a:xfrm>
          <a:prstGeom prst="rect">
            <a:avLst/>
          </a:prstGeom>
        </p:spPr>
      </p:pic>
      <p:sp>
        <p:nvSpPr>
          <p:cNvPr id="8" name="모서리가 둥근 직사각형 7"/>
          <p:cNvSpPr/>
          <p:nvPr/>
        </p:nvSpPr>
        <p:spPr>
          <a:xfrm>
            <a:off x="899055" y="1958991"/>
            <a:ext cx="4162425" cy="371475"/>
          </a:xfrm>
          <a:prstGeom prst="roundRect">
            <a:avLst>
              <a:gd name="adj" fmla="val 7408"/>
            </a:avLst>
          </a:prstGeom>
          <a:noFill/>
          <a:ln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899055" y="2397141"/>
            <a:ext cx="4162425" cy="554356"/>
          </a:xfrm>
          <a:prstGeom prst="roundRect">
            <a:avLst>
              <a:gd name="adj" fmla="val 7408"/>
            </a:avLst>
          </a:prstGeom>
          <a:noFill/>
          <a:ln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1203855" y="2595262"/>
            <a:ext cx="257175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음력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86" name="타원 185"/>
          <p:cNvSpPr>
            <a:spLocks noChangeAspect="1"/>
          </p:cNvSpPr>
          <p:nvPr/>
        </p:nvSpPr>
        <p:spPr>
          <a:xfrm>
            <a:off x="800175" y="1888474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0" name="타원 89"/>
          <p:cNvSpPr>
            <a:spLocks noChangeAspect="1"/>
          </p:cNvSpPr>
          <p:nvPr/>
        </p:nvSpPr>
        <p:spPr>
          <a:xfrm>
            <a:off x="800175" y="2353294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1" name="타원 90"/>
          <p:cNvSpPr>
            <a:spLocks noChangeAspect="1"/>
          </p:cNvSpPr>
          <p:nvPr/>
        </p:nvSpPr>
        <p:spPr>
          <a:xfrm>
            <a:off x="1048156" y="2151841"/>
            <a:ext cx="117110" cy="11799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1-1</a:t>
            </a:r>
            <a:endParaRPr kumimoji="1" lang="ko-KR" altLang="en-US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" name="타원 91"/>
          <p:cNvSpPr>
            <a:spLocks noChangeAspect="1"/>
          </p:cNvSpPr>
          <p:nvPr/>
        </p:nvSpPr>
        <p:spPr>
          <a:xfrm>
            <a:off x="1048156" y="2769061"/>
            <a:ext cx="117110" cy="11799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</a:t>
            </a:r>
            <a:endParaRPr kumimoji="1" lang="ko-KR" altLang="en-US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9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671384"/>
              </p:ext>
            </p:extLst>
          </p:nvPr>
        </p:nvGraphicFramePr>
        <p:xfrm>
          <a:off x="9286875" y="6203322"/>
          <a:ext cx="2847975" cy="471256"/>
        </p:xfrm>
        <a:graphic>
          <a:graphicData uri="http://schemas.openxmlformats.org/drawingml/2006/table">
            <a:tbl>
              <a:tblPr/>
              <a:tblGrid>
                <a:gridCol w="284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3/15_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수정내역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8000" marR="138580" marT="1800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228600" indent="-228600" defTabSz="914400">
                        <a:lnSpc>
                          <a:spcPct val="100000"/>
                        </a:lnSpc>
                        <a:buFont typeface="+mj-ea"/>
                        <a:buAutoNum type="circleNumDbPlain" startAt="4"/>
                        <a:defRPr sz="1800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첨부목록 영역 추가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35" name="타원 34"/>
          <p:cNvSpPr>
            <a:spLocks noChangeAspect="1"/>
          </p:cNvSpPr>
          <p:nvPr/>
        </p:nvSpPr>
        <p:spPr>
          <a:xfrm>
            <a:off x="283777" y="4813738"/>
            <a:ext cx="155873" cy="157045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295275" y="5016516"/>
            <a:ext cx="6694495" cy="861164"/>
            <a:chOff x="466725" y="4299406"/>
            <a:chExt cx="6694495" cy="861164"/>
          </a:xfrm>
        </p:grpSpPr>
        <p:sp>
          <p:nvSpPr>
            <p:cNvPr id="46" name="TextBox 45"/>
            <p:cNvSpPr txBox="1"/>
            <p:nvPr/>
          </p:nvSpPr>
          <p:spPr>
            <a:xfrm>
              <a:off x="466725" y="4333875"/>
              <a:ext cx="590550" cy="161925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첨부목록 ▼</a:t>
              </a:r>
            </a:p>
          </p:txBody>
        </p:sp>
        <p:sp>
          <p:nvSpPr>
            <p:cNvPr id="47" name="Rectangle 13"/>
            <p:cNvSpPr/>
            <p:nvPr/>
          </p:nvSpPr>
          <p:spPr>
            <a:xfrm>
              <a:off x="1273249" y="4299406"/>
              <a:ext cx="1189749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2</a:t>
              </a:r>
              <a:r>
                <a:rPr kumimoji="1" lang="ko-KR" altLang="mr-IN" sz="80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개 </a:t>
              </a:r>
              <a:r>
                <a:rPr kumimoji="1" lang="mr-IN" altLang="ko-KR" sz="80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(</a:t>
              </a:r>
              <a:r>
                <a:rPr kumimoji="1" lang="mr-IN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932,4KB</a:t>
              </a:r>
              <a:r>
                <a:rPr kumimoji="1" lang="mr-IN" altLang="ko-KR" sz="80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/100MB)</a:t>
              </a:r>
              <a:endParaRPr kumimoji="1" lang="mr-IN" altLang="ko-KR" sz="8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49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1"/>
              </p:custDataLst>
            </p:nvPr>
          </p:nvSpPr>
          <p:spPr>
            <a:xfrm>
              <a:off x="1345369" y="4566755"/>
              <a:ext cx="5815851" cy="2985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4325" marR="0" lvl="1" indent="-13335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FFFFFF"/>
                  </a:solidFill>
                </a:defRPr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2017</a:t>
              </a:r>
              <a:r>
                <a: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휴가신청서모음 </a:t>
              </a:r>
              <a:r>
                <a:rPr kumimoji="1" lang="en-US" altLang="ko-KR" sz="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UI/UX</a:t>
              </a:r>
              <a:r>
                <a: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팀</a:t>
              </a:r>
              <a:r>
                <a:rPr kumimoji="1" lang="en-US" altLang="ko-KR" sz="8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.zip</a:t>
              </a:r>
              <a:endPara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2"/>
              </p:custDataLst>
            </p:nvPr>
          </p:nvSpPr>
          <p:spPr>
            <a:xfrm>
              <a:off x="1345369" y="4862030"/>
              <a:ext cx="5815851" cy="2985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4325" marR="0" lvl="1" indent="-13335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FFFFFF"/>
                  </a:solidFill>
                </a:defRPr>
              </a:pPr>
              <a:r>
                <a:rPr kumimoji="1" lang="en-US" altLang="ko-KR" sz="800" b="0" i="0" u="none" kern="1200" cap="none" spc="0" normalizeH="0" baseline="0" noProof="0" smtClean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2017</a:t>
              </a:r>
              <a:r>
                <a:rPr kumimoji="1" lang="ko-KR" altLang="en-US" sz="800" b="0" i="0" u="none" kern="1200" cap="none" spc="0" normalizeH="0" baseline="0" noProof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휴가신청서모음 </a:t>
              </a:r>
              <a:r>
                <a:rPr kumimoji="1" lang="en-US" altLang="ko-KR" sz="800" b="0" i="0" u="none" kern="1200" cap="none" spc="0" normalizeH="0" baseline="0" noProof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UI/UX</a:t>
              </a:r>
              <a:r>
                <a:rPr kumimoji="1" lang="ko-KR" altLang="en-US" sz="800" b="0" i="0" u="none" kern="1200" cap="none" spc="0" normalizeH="0" baseline="0" noProof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팀</a:t>
              </a:r>
              <a:r>
                <a:rPr kumimoji="1" lang="en-US" altLang="ko-KR" sz="800" b="0" i="0" u="none" kern="1200" cap="none" spc="0" normalizeH="0" baseline="0" noProof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.zip</a:t>
              </a:r>
              <a:endParaRPr kumimoji="1" lang="en-US" altLang="ko-KR" sz="800" b="0" i="0" u="non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Freeform 29"/>
            <p:cNvSpPr>
              <a:spLocks noChangeAspect="1" noEditPoints="1"/>
            </p:cNvSpPr>
            <p:nvPr/>
          </p:nvSpPr>
          <p:spPr bwMode="auto">
            <a:xfrm>
              <a:off x="1454324" y="4670314"/>
              <a:ext cx="88991" cy="108000"/>
            </a:xfrm>
            <a:custGeom>
              <a:avLst/>
              <a:gdLst>
                <a:gd name="T0" fmla="*/ 350 w 350"/>
                <a:gd name="T1" fmla="*/ 150 h 425"/>
                <a:gd name="T2" fmla="*/ 250 w 350"/>
                <a:gd name="T3" fmla="*/ 150 h 425"/>
                <a:gd name="T4" fmla="*/ 250 w 350"/>
                <a:gd name="T5" fmla="*/ 0 h 425"/>
                <a:gd name="T6" fmla="*/ 100 w 350"/>
                <a:gd name="T7" fmla="*/ 0 h 425"/>
                <a:gd name="T8" fmla="*/ 100 w 350"/>
                <a:gd name="T9" fmla="*/ 150 h 425"/>
                <a:gd name="T10" fmla="*/ 0 w 350"/>
                <a:gd name="T11" fmla="*/ 150 h 425"/>
                <a:gd name="T12" fmla="*/ 175 w 350"/>
                <a:gd name="T13" fmla="*/ 325 h 425"/>
                <a:gd name="T14" fmla="*/ 350 w 350"/>
                <a:gd name="T15" fmla="*/ 150 h 425"/>
                <a:gd name="T16" fmla="*/ 0 w 350"/>
                <a:gd name="T17" fmla="*/ 375 h 425"/>
                <a:gd name="T18" fmla="*/ 0 w 350"/>
                <a:gd name="T19" fmla="*/ 425 h 425"/>
                <a:gd name="T20" fmla="*/ 350 w 350"/>
                <a:gd name="T21" fmla="*/ 425 h 425"/>
                <a:gd name="T22" fmla="*/ 350 w 350"/>
                <a:gd name="T23" fmla="*/ 375 h 425"/>
                <a:gd name="T24" fmla="*/ 0 w 350"/>
                <a:gd name="T25" fmla="*/ 37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0" h="425">
                  <a:moveTo>
                    <a:pt x="350" y="150"/>
                  </a:moveTo>
                  <a:lnTo>
                    <a:pt x="250" y="150"/>
                  </a:lnTo>
                  <a:lnTo>
                    <a:pt x="250" y="0"/>
                  </a:lnTo>
                  <a:lnTo>
                    <a:pt x="100" y="0"/>
                  </a:lnTo>
                  <a:lnTo>
                    <a:pt x="100" y="150"/>
                  </a:lnTo>
                  <a:lnTo>
                    <a:pt x="0" y="150"/>
                  </a:lnTo>
                  <a:lnTo>
                    <a:pt x="175" y="325"/>
                  </a:lnTo>
                  <a:lnTo>
                    <a:pt x="350" y="150"/>
                  </a:lnTo>
                  <a:close/>
                  <a:moveTo>
                    <a:pt x="0" y="375"/>
                  </a:moveTo>
                  <a:lnTo>
                    <a:pt x="0" y="425"/>
                  </a:lnTo>
                  <a:lnTo>
                    <a:pt x="350" y="425"/>
                  </a:lnTo>
                  <a:lnTo>
                    <a:pt x="350" y="375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52" name="Freeform 29"/>
            <p:cNvSpPr>
              <a:spLocks noChangeAspect="1" noEditPoints="1"/>
            </p:cNvSpPr>
            <p:nvPr/>
          </p:nvSpPr>
          <p:spPr bwMode="auto">
            <a:xfrm>
              <a:off x="1454324" y="4970496"/>
              <a:ext cx="88991" cy="108000"/>
            </a:xfrm>
            <a:custGeom>
              <a:avLst/>
              <a:gdLst>
                <a:gd name="T0" fmla="*/ 350 w 350"/>
                <a:gd name="T1" fmla="*/ 150 h 425"/>
                <a:gd name="T2" fmla="*/ 250 w 350"/>
                <a:gd name="T3" fmla="*/ 150 h 425"/>
                <a:gd name="T4" fmla="*/ 250 w 350"/>
                <a:gd name="T5" fmla="*/ 0 h 425"/>
                <a:gd name="T6" fmla="*/ 100 w 350"/>
                <a:gd name="T7" fmla="*/ 0 h 425"/>
                <a:gd name="T8" fmla="*/ 100 w 350"/>
                <a:gd name="T9" fmla="*/ 150 h 425"/>
                <a:gd name="T10" fmla="*/ 0 w 350"/>
                <a:gd name="T11" fmla="*/ 150 h 425"/>
                <a:gd name="T12" fmla="*/ 175 w 350"/>
                <a:gd name="T13" fmla="*/ 325 h 425"/>
                <a:gd name="T14" fmla="*/ 350 w 350"/>
                <a:gd name="T15" fmla="*/ 150 h 425"/>
                <a:gd name="T16" fmla="*/ 0 w 350"/>
                <a:gd name="T17" fmla="*/ 375 h 425"/>
                <a:gd name="T18" fmla="*/ 0 w 350"/>
                <a:gd name="T19" fmla="*/ 425 h 425"/>
                <a:gd name="T20" fmla="*/ 350 w 350"/>
                <a:gd name="T21" fmla="*/ 425 h 425"/>
                <a:gd name="T22" fmla="*/ 350 w 350"/>
                <a:gd name="T23" fmla="*/ 375 h 425"/>
                <a:gd name="T24" fmla="*/ 0 w 350"/>
                <a:gd name="T25" fmla="*/ 37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0" h="425">
                  <a:moveTo>
                    <a:pt x="350" y="150"/>
                  </a:moveTo>
                  <a:lnTo>
                    <a:pt x="250" y="150"/>
                  </a:lnTo>
                  <a:lnTo>
                    <a:pt x="250" y="0"/>
                  </a:lnTo>
                  <a:lnTo>
                    <a:pt x="100" y="0"/>
                  </a:lnTo>
                  <a:lnTo>
                    <a:pt x="100" y="150"/>
                  </a:lnTo>
                  <a:lnTo>
                    <a:pt x="0" y="150"/>
                  </a:lnTo>
                  <a:lnTo>
                    <a:pt x="175" y="325"/>
                  </a:lnTo>
                  <a:lnTo>
                    <a:pt x="350" y="150"/>
                  </a:lnTo>
                  <a:close/>
                  <a:moveTo>
                    <a:pt x="0" y="375"/>
                  </a:moveTo>
                  <a:lnTo>
                    <a:pt x="0" y="425"/>
                  </a:lnTo>
                  <a:lnTo>
                    <a:pt x="350" y="425"/>
                  </a:lnTo>
                  <a:lnTo>
                    <a:pt x="350" y="375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261595" y="4658067"/>
              <a:ext cx="914400" cy="14401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25MB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261595" y="4953342"/>
              <a:ext cx="914400" cy="14401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25MB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843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"/>
          <p:cNvSpPr/>
          <p:nvPr/>
        </p:nvSpPr>
        <p:spPr>
          <a:xfrm>
            <a:off x="401099" y="666751"/>
            <a:ext cx="7487538" cy="3467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4B3E3-4387-45AB-8514-9604C265EE2B}"/>
              </a:ext>
            </a:extLst>
          </p:cNvPr>
          <p:cNvSpPr txBox="1"/>
          <p:nvPr/>
        </p:nvSpPr>
        <p:spPr>
          <a:xfrm>
            <a:off x="601195" y="949581"/>
            <a:ext cx="2091354" cy="218709"/>
          </a:xfrm>
          <a:prstGeom prst="rect">
            <a:avLst/>
          </a:prstGeom>
          <a:noFill/>
        </p:spPr>
        <p:txBody>
          <a:bodyPr wrap="squar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</a:t>
            </a: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의견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0/500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peech Bubble">
            <a:extLst>
              <a:ext uri="{FF2B5EF4-FFF2-40B4-BE49-F238E27FC236}">
                <a16:creationId xmlns:a16="http://schemas.microsoft.com/office/drawing/2014/main" id="{F595C086-2C91-44F6-B348-497B66BB5B0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6334" y="984616"/>
            <a:ext cx="192645" cy="161782"/>
          </a:xfrm>
          <a:custGeom>
            <a:avLst/>
            <a:gdLst>
              <a:gd name="T0" fmla="*/ 305 w 611"/>
              <a:gd name="T1" fmla="*/ 0 h 587"/>
              <a:gd name="T2" fmla="*/ 0 w 611"/>
              <a:gd name="T3" fmla="*/ 265 h 587"/>
              <a:gd name="T4" fmla="*/ 119 w 611"/>
              <a:gd name="T5" fmla="*/ 475 h 587"/>
              <a:gd name="T6" fmla="*/ 68 w 611"/>
              <a:gd name="T7" fmla="*/ 584 h 587"/>
              <a:gd name="T8" fmla="*/ 229 w 611"/>
              <a:gd name="T9" fmla="*/ 522 h 587"/>
              <a:gd name="T10" fmla="*/ 305 w 611"/>
              <a:gd name="T11" fmla="*/ 531 h 587"/>
              <a:gd name="T12" fmla="*/ 611 w 611"/>
              <a:gd name="T13" fmla="*/ 265 h 587"/>
              <a:gd name="T14" fmla="*/ 305 w 611"/>
              <a:gd name="T15" fmla="*/ 0 h 587"/>
              <a:gd name="T16" fmla="*/ 305 w 611"/>
              <a:gd name="T17" fmla="*/ 24 h 587"/>
              <a:gd name="T18" fmla="*/ 586 w 611"/>
              <a:gd name="T19" fmla="*/ 265 h 587"/>
              <a:gd name="T20" fmla="*/ 305 w 611"/>
              <a:gd name="T21" fmla="*/ 506 h 587"/>
              <a:gd name="T22" fmla="*/ 221 w 611"/>
              <a:gd name="T23" fmla="*/ 495 h 587"/>
              <a:gd name="T24" fmla="*/ 116 w 611"/>
              <a:gd name="T25" fmla="*/ 555 h 587"/>
              <a:gd name="T26" fmla="*/ 139 w 611"/>
              <a:gd name="T27" fmla="*/ 503 h 587"/>
              <a:gd name="T28" fmla="*/ 144 w 611"/>
              <a:gd name="T29" fmla="*/ 463 h 587"/>
              <a:gd name="T30" fmla="*/ 24 w 611"/>
              <a:gd name="T31" fmla="*/ 265 h 587"/>
              <a:gd name="T32" fmla="*/ 305 w 611"/>
              <a:gd name="T33" fmla="*/ 24 h 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11" h="587">
                <a:moveTo>
                  <a:pt x="305" y="0"/>
                </a:moveTo>
                <a:cubicBezTo>
                  <a:pt x="137" y="0"/>
                  <a:pt x="0" y="118"/>
                  <a:pt x="0" y="265"/>
                </a:cubicBezTo>
                <a:cubicBezTo>
                  <a:pt x="0" y="351"/>
                  <a:pt x="47" y="426"/>
                  <a:pt x="119" y="475"/>
                </a:cubicBezTo>
                <a:cubicBezTo>
                  <a:pt x="117" y="518"/>
                  <a:pt x="88" y="557"/>
                  <a:pt x="68" y="584"/>
                </a:cubicBezTo>
                <a:cubicBezTo>
                  <a:pt x="128" y="587"/>
                  <a:pt x="189" y="568"/>
                  <a:pt x="229" y="522"/>
                </a:cubicBezTo>
                <a:cubicBezTo>
                  <a:pt x="254" y="527"/>
                  <a:pt x="279" y="531"/>
                  <a:pt x="305" y="531"/>
                </a:cubicBezTo>
                <a:cubicBezTo>
                  <a:pt x="473" y="531"/>
                  <a:pt x="611" y="413"/>
                  <a:pt x="611" y="265"/>
                </a:cubicBezTo>
                <a:cubicBezTo>
                  <a:pt x="611" y="118"/>
                  <a:pt x="473" y="0"/>
                  <a:pt x="305" y="0"/>
                </a:cubicBezTo>
                <a:close/>
                <a:moveTo>
                  <a:pt x="305" y="24"/>
                </a:moveTo>
                <a:cubicBezTo>
                  <a:pt x="462" y="24"/>
                  <a:pt x="586" y="133"/>
                  <a:pt x="586" y="265"/>
                </a:cubicBezTo>
                <a:cubicBezTo>
                  <a:pt x="586" y="397"/>
                  <a:pt x="462" y="506"/>
                  <a:pt x="305" y="506"/>
                </a:cubicBezTo>
                <a:cubicBezTo>
                  <a:pt x="274" y="505"/>
                  <a:pt x="248" y="502"/>
                  <a:pt x="221" y="495"/>
                </a:cubicBezTo>
                <a:cubicBezTo>
                  <a:pt x="184" y="538"/>
                  <a:pt x="153" y="548"/>
                  <a:pt x="116" y="555"/>
                </a:cubicBezTo>
                <a:cubicBezTo>
                  <a:pt x="127" y="535"/>
                  <a:pt x="135" y="517"/>
                  <a:pt x="139" y="503"/>
                </a:cubicBezTo>
                <a:cubicBezTo>
                  <a:pt x="143" y="490"/>
                  <a:pt x="144" y="476"/>
                  <a:pt x="144" y="463"/>
                </a:cubicBezTo>
                <a:cubicBezTo>
                  <a:pt x="69" y="408"/>
                  <a:pt x="26" y="337"/>
                  <a:pt x="24" y="265"/>
                </a:cubicBezTo>
                <a:cubicBezTo>
                  <a:pt x="24" y="133"/>
                  <a:pt x="149" y="24"/>
                  <a:pt x="305" y="24"/>
                </a:cubicBez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…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B8D0B7-B2E1-4678-BCD7-A121CAF0D555}"/>
              </a:ext>
            </a:extLst>
          </p:cNvPr>
          <p:cNvSpPr/>
          <p:nvPr/>
        </p:nvSpPr>
        <p:spPr>
          <a:xfrm>
            <a:off x="530363" y="1221227"/>
            <a:ext cx="6727687" cy="5017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t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/>
              <a:ea typeface="나눔고딕" pitchFamily="50" charset="-127"/>
              <a:cs typeface="+mn-cs"/>
            </a:endParaRPr>
          </a:p>
        </p:txBody>
      </p:sp>
      <p:sp>
        <p:nvSpPr>
          <p:cNvPr id="12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7336705" y="1221227"/>
            <a:ext cx="427829" cy="501739"/>
          </a:xfrm>
          <a:prstGeom prst="roundRect">
            <a:avLst>
              <a:gd name="adj" fmla="val 8420"/>
            </a:avLst>
          </a:prstGeom>
          <a:solidFill>
            <a:schemeClr val="bg1">
              <a:lumMod val="85000"/>
            </a:schemeClr>
          </a:solidFill>
          <a:ln w="63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등록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9" name="Oval 656">
            <a:extLst>
              <a:ext uri="{FF2B5EF4-FFF2-40B4-BE49-F238E27FC236}">
                <a16:creationId xmlns:a16="http://schemas.microsoft.com/office/drawing/2014/main" id="{DCCC35E7-ACB2-4986-B618-9260872755A3}"/>
              </a:ext>
            </a:extLst>
          </p:cNvPr>
          <p:cNvSpPr/>
          <p:nvPr/>
        </p:nvSpPr>
        <p:spPr>
          <a:xfrm>
            <a:off x="540004" y="1927812"/>
            <a:ext cx="180000" cy="1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20" name="Freeform 657">
            <a:extLst>
              <a:ext uri="{FF2B5EF4-FFF2-40B4-BE49-F238E27FC236}">
                <a16:creationId xmlns:a16="http://schemas.microsoft.com/office/drawing/2014/main" id="{A6D17029-ACBE-4D68-BD74-8E5866AD17B8}"/>
              </a:ext>
            </a:extLst>
          </p:cNvPr>
          <p:cNvSpPr/>
          <p:nvPr/>
        </p:nvSpPr>
        <p:spPr>
          <a:xfrm>
            <a:off x="569434" y="1972280"/>
            <a:ext cx="126649" cy="135532"/>
          </a:xfrm>
          <a:custGeom>
            <a:avLst/>
            <a:gdLst>
              <a:gd name="connsiteX0" fmla="*/ 59900 w 117168"/>
              <a:gd name="connsiteY0" fmla="*/ 79091 h 125386"/>
              <a:gd name="connsiteX1" fmla="*/ 116885 w 117168"/>
              <a:gd name="connsiteY1" fmla="*/ 97086 h 125386"/>
              <a:gd name="connsiteX2" fmla="*/ 117168 w 117168"/>
              <a:gd name="connsiteY2" fmla="*/ 97653 h 125386"/>
              <a:gd name="connsiteX3" fmla="*/ 114912 w 117168"/>
              <a:gd name="connsiteY3" fmla="*/ 100999 h 125386"/>
              <a:gd name="connsiteX4" fmla="*/ 56036 w 117168"/>
              <a:gd name="connsiteY4" fmla="*/ 125386 h 125386"/>
              <a:gd name="connsiteX5" fmla="*/ 23626 w 117168"/>
              <a:gd name="connsiteY5" fmla="*/ 118843 h 125386"/>
              <a:gd name="connsiteX6" fmla="*/ 0 w 117168"/>
              <a:gd name="connsiteY6" fmla="*/ 102914 h 125386"/>
              <a:gd name="connsiteX7" fmla="*/ 2914 w 117168"/>
              <a:gd name="connsiteY7" fmla="*/ 97086 h 125386"/>
              <a:gd name="connsiteX8" fmla="*/ 59900 w 117168"/>
              <a:gd name="connsiteY8" fmla="*/ 79091 h 125386"/>
              <a:gd name="connsiteX9" fmla="*/ 59900 w 117168"/>
              <a:gd name="connsiteY9" fmla="*/ 0 h 125386"/>
              <a:gd name="connsiteX10" fmla="*/ 91891 w 117168"/>
              <a:gd name="connsiteY10" fmla="*/ 31992 h 125386"/>
              <a:gd name="connsiteX11" fmla="*/ 59900 w 117168"/>
              <a:gd name="connsiteY11" fmla="*/ 63984 h 125386"/>
              <a:gd name="connsiteX12" fmla="*/ 27908 w 117168"/>
              <a:gd name="connsiteY12" fmla="*/ 31992 h 125386"/>
              <a:gd name="connsiteX13" fmla="*/ 59900 w 117168"/>
              <a:gd name="connsiteY13" fmla="*/ 0 h 125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7168" h="125386">
                <a:moveTo>
                  <a:pt x="59900" y="79091"/>
                </a:moveTo>
                <a:cubicBezTo>
                  <a:pt x="75895" y="79091"/>
                  <a:pt x="103888" y="85089"/>
                  <a:pt x="116885" y="97086"/>
                </a:cubicBezTo>
                <a:lnTo>
                  <a:pt x="117168" y="97653"/>
                </a:lnTo>
                <a:lnTo>
                  <a:pt x="114912" y="100999"/>
                </a:lnTo>
                <a:cubicBezTo>
                  <a:pt x="99844" y="116067"/>
                  <a:pt x="79029" y="125386"/>
                  <a:pt x="56036" y="125386"/>
                </a:cubicBezTo>
                <a:cubicBezTo>
                  <a:pt x="44540" y="125386"/>
                  <a:pt x="33588" y="123056"/>
                  <a:pt x="23626" y="118843"/>
                </a:cubicBezTo>
                <a:lnTo>
                  <a:pt x="0" y="102914"/>
                </a:lnTo>
                <a:lnTo>
                  <a:pt x="2914" y="97086"/>
                </a:lnTo>
                <a:cubicBezTo>
                  <a:pt x="15911" y="85089"/>
                  <a:pt x="43904" y="79091"/>
                  <a:pt x="59900" y="79091"/>
                </a:cubicBezTo>
                <a:close/>
                <a:moveTo>
                  <a:pt x="59900" y="0"/>
                </a:moveTo>
                <a:cubicBezTo>
                  <a:pt x="77376" y="0"/>
                  <a:pt x="91891" y="14515"/>
                  <a:pt x="91891" y="31992"/>
                </a:cubicBezTo>
                <a:cubicBezTo>
                  <a:pt x="91891" y="49469"/>
                  <a:pt x="76488" y="63984"/>
                  <a:pt x="59900" y="63984"/>
                </a:cubicBezTo>
                <a:cubicBezTo>
                  <a:pt x="41534" y="63984"/>
                  <a:pt x="27908" y="49469"/>
                  <a:pt x="27908" y="31992"/>
                </a:cubicBezTo>
                <a:cubicBezTo>
                  <a:pt x="27908" y="14515"/>
                  <a:pt x="42423" y="0"/>
                  <a:pt x="59900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52501B0-5318-4500-849D-600B5C058F5A}"/>
              </a:ext>
            </a:extLst>
          </p:cNvPr>
          <p:cNvSpPr/>
          <p:nvPr/>
        </p:nvSpPr>
        <p:spPr>
          <a:xfrm>
            <a:off x="720004" y="1919381"/>
            <a:ext cx="4237581" cy="34951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홍길동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사원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경영지원센터 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| 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2017-08-20 18:30 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알겠습니다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~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3EAB413-DDBE-4DD4-83FB-4C9AEBA19149}"/>
              </a:ext>
            </a:extLst>
          </p:cNvPr>
          <p:cNvGrpSpPr/>
          <p:nvPr/>
        </p:nvGrpSpPr>
        <p:grpSpPr>
          <a:xfrm>
            <a:off x="7127795" y="1934249"/>
            <a:ext cx="636739" cy="167125"/>
            <a:chOff x="3616696" y="5870729"/>
            <a:chExt cx="636739" cy="167125"/>
          </a:xfrm>
        </p:grpSpPr>
        <p:sp>
          <p:nvSpPr>
            <p:cNvPr id="23" name="Rounded Rectangle 939">
              <a:extLst>
                <a:ext uri="{FF2B5EF4-FFF2-40B4-BE49-F238E27FC236}">
                  <a16:creationId xmlns:a16="http://schemas.microsoft.com/office/drawing/2014/main" id="{9B16D025-2755-4B9C-922C-54DDFB0E189D}"/>
                </a:ext>
              </a:extLst>
            </p:cNvPr>
            <p:cNvSpPr/>
            <p:nvPr/>
          </p:nvSpPr>
          <p:spPr>
            <a:xfrm>
              <a:off x="3616696" y="5870729"/>
              <a:ext cx="299782" cy="167125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수정</a:t>
              </a:r>
              <a:endPara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Rounded Rectangle 939">
              <a:extLst>
                <a:ext uri="{FF2B5EF4-FFF2-40B4-BE49-F238E27FC236}">
                  <a16:creationId xmlns:a16="http://schemas.microsoft.com/office/drawing/2014/main" id="{7075FA47-43D0-47D4-8167-3E8E073762F5}"/>
                </a:ext>
              </a:extLst>
            </p:cNvPr>
            <p:cNvSpPr/>
            <p:nvPr/>
          </p:nvSpPr>
          <p:spPr>
            <a:xfrm>
              <a:off x="3953653" y="5870729"/>
              <a:ext cx="299782" cy="167125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삭제</a:t>
              </a:r>
              <a:endPara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5" name="Group 654">
            <a:extLst>
              <a:ext uri="{FF2B5EF4-FFF2-40B4-BE49-F238E27FC236}">
                <a16:creationId xmlns:a16="http://schemas.microsoft.com/office/drawing/2014/main" id="{4F835D10-84BF-4F99-B230-67E4D572BD15}"/>
              </a:ext>
            </a:extLst>
          </p:cNvPr>
          <p:cNvGrpSpPr>
            <a:grpSpLocks noChangeAspect="1"/>
          </p:cNvGrpSpPr>
          <p:nvPr/>
        </p:nvGrpSpPr>
        <p:grpSpPr>
          <a:xfrm>
            <a:off x="526334" y="2500452"/>
            <a:ext cx="180000" cy="180000"/>
            <a:chOff x="2641494" y="3129745"/>
            <a:chExt cx="166525" cy="166525"/>
          </a:xfrm>
        </p:grpSpPr>
        <p:sp>
          <p:nvSpPr>
            <p:cNvPr id="26" name="Oval 656">
              <a:extLst>
                <a:ext uri="{FF2B5EF4-FFF2-40B4-BE49-F238E27FC236}">
                  <a16:creationId xmlns:a16="http://schemas.microsoft.com/office/drawing/2014/main" id="{DCCC35E7-ACB2-4986-B618-9260872755A3}"/>
                </a:ext>
              </a:extLst>
            </p:cNvPr>
            <p:cNvSpPr/>
            <p:nvPr/>
          </p:nvSpPr>
          <p:spPr>
            <a:xfrm>
              <a:off x="2641494" y="3129745"/>
              <a:ext cx="166525" cy="16652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27" name="Freeform 657">
              <a:extLst>
                <a:ext uri="{FF2B5EF4-FFF2-40B4-BE49-F238E27FC236}">
                  <a16:creationId xmlns:a16="http://schemas.microsoft.com/office/drawing/2014/main" id="{A6D17029-ACBE-4D68-BD74-8E5866AD17B8}"/>
                </a:ext>
              </a:extLst>
            </p:cNvPr>
            <p:cNvSpPr/>
            <p:nvPr/>
          </p:nvSpPr>
          <p:spPr>
            <a:xfrm>
              <a:off x="2668721" y="3170884"/>
              <a:ext cx="117168" cy="125386"/>
            </a:xfrm>
            <a:custGeom>
              <a:avLst/>
              <a:gdLst>
                <a:gd name="connsiteX0" fmla="*/ 59900 w 117168"/>
                <a:gd name="connsiteY0" fmla="*/ 79091 h 125386"/>
                <a:gd name="connsiteX1" fmla="*/ 116885 w 117168"/>
                <a:gd name="connsiteY1" fmla="*/ 97086 h 125386"/>
                <a:gd name="connsiteX2" fmla="*/ 117168 w 117168"/>
                <a:gd name="connsiteY2" fmla="*/ 97653 h 125386"/>
                <a:gd name="connsiteX3" fmla="*/ 114912 w 117168"/>
                <a:gd name="connsiteY3" fmla="*/ 100999 h 125386"/>
                <a:gd name="connsiteX4" fmla="*/ 56036 w 117168"/>
                <a:gd name="connsiteY4" fmla="*/ 125386 h 125386"/>
                <a:gd name="connsiteX5" fmla="*/ 23626 w 117168"/>
                <a:gd name="connsiteY5" fmla="*/ 118843 h 125386"/>
                <a:gd name="connsiteX6" fmla="*/ 0 w 117168"/>
                <a:gd name="connsiteY6" fmla="*/ 102914 h 125386"/>
                <a:gd name="connsiteX7" fmla="*/ 2914 w 117168"/>
                <a:gd name="connsiteY7" fmla="*/ 97086 h 125386"/>
                <a:gd name="connsiteX8" fmla="*/ 59900 w 117168"/>
                <a:gd name="connsiteY8" fmla="*/ 79091 h 125386"/>
                <a:gd name="connsiteX9" fmla="*/ 59900 w 117168"/>
                <a:gd name="connsiteY9" fmla="*/ 0 h 125386"/>
                <a:gd name="connsiteX10" fmla="*/ 91891 w 117168"/>
                <a:gd name="connsiteY10" fmla="*/ 31992 h 125386"/>
                <a:gd name="connsiteX11" fmla="*/ 59900 w 117168"/>
                <a:gd name="connsiteY11" fmla="*/ 63984 h 125386"/>
                <a:gd name="connsiteX12" fmla="*/ 27908 w 117168"/>
                <a:gd name="connsiteY12" fmla="*/ 31992 h 125386"/>
                <a:gd name="connsiteX13" fmla="*/ 59900 w 117168"/>
                <a:gd name="connsiteY13" fmla="*/ 0 h 125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168" h="125386">
                  <a:moveTo>
                    <a:pt x="59900" y="79091"/>
                  </a:moveTo>
                  <a:cubicBezTo>
                    <a:pt x="75895" y="79091"/>
                    <a:pt x="103888" y="85089"/>
                    <a:pt x="116885" y="97086"/>
                  </a:cubicBezTo>
                  <a:lnTo>
                    <a:pt x="117168" y="97653"/>
                  </a:lnTo>
                  <a:lnTo>
                    <a:pt x="114912" y="100999"/>
                  </a:lnTo>
                  <a:cubicBezTo>
                    <a:pt x="99844" y="116067"/>
                    <a:pt x="79029" y="125386"/>
                    <a:pt x="56036" y="125386"/>
                  </a:cubicBezTo>
                  <a:cubicBezTo>
                    <a:pt x="44540" y="125386"/>
                    <a:pt x="33588" y="123056"/>
                    <a:pt x="23626" y="118843"/>
                  </a:cubicBezTo>
                  <a:lnTo>
                    <a:pt x="0" y="102914"/>
                  </a:lnTo>
                  <a:lnTo>
                    <a:pt x="2914" y="97086"/>
                  </a:lnTo>
                  <a:cubicBezTo>
                    <a:pt x="15911" y="85089"/>
                    <a:pt x="43904" y="79091"/>
                    <a:pt x="59900" y="79091"/>
                  </a:cubicBezTo>
                  <a:close/>
                  <a:moveTo>
                    <a:pt x="59900" y="0"/>
                  </a:moveTo>
                  <a:cubicBezTo>
                    <a:pt x="77376" y="0"/>
                    <a:pt x="91891" y="14515"/>
                    <a:pt x="91891" y="31992"/>
                  </a:cubicBezTo>
                  <a:cubicBezTo>
                    <a:pt x="91891" y="49469"/>
                    <a:pt x="76488" y="63984"/>
                    <a:pt x="59900" y="63984"/>
                  </a:cubicBezTo>
                  <a:cubicBezTo>
                    <a:pt x="41534" y="63984"/>
                    <a:pt x="27908" y="49469"/>
                    <a:pt x="27908" y="31992"/>
                  </a:cubicBezTo>
                  <a:cubicBezTo>
                    <a:pt x="27908" y="14515"/>
                    <a:pt x="42423" y="0"/>
                    <a:pt x="59900" y="0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52501B0-5318-4500-849D-600B5C058F5A}"/>
              </a:ext>
            </a:extLst>
          </p:cNvPr>
          <p:cNvSpPr/>
          <p:nvPr/>
        </p:nvSpPr>
        <p:spPr>
          <a:xfrm>
            <a:off x="706334" y="2492021"/>
            <a:ext cx="4237581" cy="34951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홍길동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사원 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경영지원센터 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| 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2017-08-20 18:30 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알겠습니다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~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7336705" y="2701900"/>
            <a:ext cx="427829" cy="501739"/>
            <a:chOff x="6459097" y="2559025"/>
            <a:chExt cx="427829" cy="501739"/>
          </a:xfrm>
        </p:grpSpPr>
        <p:sp>
          <p:nvSpPr>
            <p:cNvPr id="29" name="Rounded Rectangle 939">
              <a:extLst>
                <a:ext uri="{FF2B5EF4-FFF2-40B4-BE49-F238E27FC236}">
                  <a16:creationId xmlns:a16="http://schemas.microsoft.com/office/drawing/2014/main" id="{06E28BB8-90D3-4A06-ABEF-48084301FC19}"/>
                </a:ext>
              </a:extLst>
            </p:cNvPr>
            <p:cNvSpPr/>
            <p:nvPr/>
          </p:nvSpPr>
          <p:spPr>
            <a:xfrm>
              <a:off x="6459097" y="2559025"/>
              <a:ext cx="427829" cy="287259"/>
            </a:xfrm>
            <a:prstGeom prst="roundRect">
              <a:avLst>
                <a:gd name="adj" fmla="val 8420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 cap="flat" cmpd="sng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저장</a:t>
              </a:r>
              <a:endPara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Rounded Rectangle 939">
              <a:extLst>
                <a:ext uri="{FF2B5EF4-FFF2-40B4-BE49-F238E27FC236}">
                  <a16:creationId xmlns:a16="http://schemas.microsoft.com/office/drawing/2014/main" id="{06E28BB8-90D3-4A06-ABEF-48084301FC19}"/>
                </a:ext>
              </a:extLst>
            </p:cNvPr>
            <p:cNvSpPr/>
            <p:nvPr/>
          </p:nvSpPr>
          <p:spPr>
            <a:xfrm>
              <a:off x="6459097" y="2893639"/>
              <a:ext cx="427829" cy="167125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취소</a:t>
              </a:r>
              <a:endPara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DB8D0B7-B2E1-4678-BCD7-A121CAF0D555}"/>
              </a:ext>
            </a:extLst>
          </p:cNvPr>
          <p:cNvSpPr/>
          <p:nvPr/>
        </p:nvSpPr>
        <p:spPr>
          <a:xfrm>
            <a:off x="766615" y="2701900"/>
            <a:ext cx="6491435" cy="5017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t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나눔고딕" pitchFamily="50" charset="-127"/>
                <a:cs typeface="+mn-cs"/>
              </a:rPr>
              <a:t>알겠습니다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나눔고딕" pitchFamily="50" charset="-127"/>
                <a:cs typeface="+mn-cs"/>
              </a:rPr>
              <a:t>~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/>
              <a:ea typeface="나눔고딕" pitchFamily="50" charset="-127"/>
              <a:cs typeface="+mn-cs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237067" y="533400"/>
            <a:ext cx="8255000" cy="151342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7291917" y="2133600"/>
            <a:ext cx="0" cy="478199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7215753" y="3730425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>
            <a:solidFill>
              <a:schemeClr val="tx1">
                <a:lumMod val="95000"/>
                <a:lumOff val="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확인</a:t>
            </a: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Rectangle 4"/>
          <p:cNvSpPr/>
          <p:nvPr/>
        </p:nvSpPr>
        <p:spPr>
          <a:xfrm>
            <a:off x="7029450" y="1855949"/>
            <a:ext cx="819150" cy="334801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42" name="타원 41"/>
          <p:cNvSpPr>
            <a:spLocks noChangeAspect="1"/>
          </p:cNvSpPr>
          <p:nvPr/>
        </p:nvSpPr>
        <p:spPr>
          <a:xfrm>
            <a:off x="6921107" y="1798163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476250" y="2436974"/>
            <a:ext cx="7372350" cy="1125376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45" name="타원 44"/>
          <p:cNvSpPr>
            <a:spLocks noChangeAspect="1"/>
          </p:cNvSpPr>
          <p:nvPr/>
        </p:nvSpPr>
        <p:spPr>
          <a:xfrm>
            <a:off x="396482" y="2369663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4-1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580043"/>
              </p:ext>
            </p:extLst>
          </p:nvPr>
        </p:nvGraphicFramePr>
        <p:xfrm>
          <a:off x="9276996" y="745639"/>
          <a:ext cx="2857473" cy="1198712"/>
        </p:xfrm>
        <a:graphic>
          <a:graphicData uri="http://schemas.openxmlformats.org/drawingml/2006/table">
            <a:tbl>
              <a:tblPr/>
              <a:tblGrid>
                <a:gridCol w="21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smtClean="0">
                          <a:latin typeface="+mj-ea"/>
                          <a:ea typeface="+mj-ea"/>
                          <a:cs typeface="Nanum Gothic" charset="-127"/>
                        </a:rPr>
                        <a:t>4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내가 작성한 의견에만 편집 버튼 출력</a:t>
                      </a:r>
                      <a:endParaRPr kumimoji="1"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수정 버튼 클릭시 의견을 수정할 수 있는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4-1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로 변환</a:t>
                      </a: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smtClean="0">
                          <a:latin typeface="+mj-ea"/>
                          <a:ea typeface="+mj-ea"/>
                          <a:cs typeface="Nanum Gothic" charset="-127"/>
                        </a:rPr>
                        <a:t>4-1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등록한 의견 수정 영역</a:t>
                      </a:r>
                      <a:endParaRPr kumimoji="1"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latin typeface="+mj-ea"/>
                          <a:ea typeface="+mj-ea"/>
                          <a:cs typeface="Nanum Gothic" charset="-127"/>
                        </a:rPr>
                        <a:t>5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, “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일정을 복사하시겠습니까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?”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alert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출력 후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확인 클릭시 동일 일정으로 복사 처리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1312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9696450" y="2769116"/>
            <a:ext cx="45719" cy="200055"/>
          </a:xfrm>
          <a:prstGeom prst="rect">
            <a:avLst/>
          </a:prstGeom>
          <a:noFill/>
        </p:spPr>
        <p:txBody>
          <a:bodyPr wrap="square" lIns="36000" rIns="36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953250" y="3206978"/>
            <a:ext cx="337199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0/500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6657975" y="3219450"/>
            <a:ext cx="657225" cy="180975"/>
          </a:xfrm>
          <a:prstGeom prst="roundRect">
            <a:avLst/>
          </a:prstGeom>
          <a:noFill/>
          <a:ln>
            <a:solidFill>
              <a:srgbClr val="0000FF"/>
            </a:solidFill>
            <a:prstDash val="sys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(2/2)</a:t>
            </a:r>
            <a:endParaRPr kumimoji="1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CA6.1.1.3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540004" y="3730425"/>
            <a:ext cx="1041121" cy="24338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복사</a:t>
            </a:r>
            <a:endParaRPr 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 45"/>
          <p:cNvSpPr>
            <a:spLocks noChangeAspect="1"/>
          </p:cNvSpPr>
          <p:nvPr/>
        </p:nvSpPr>
        <p:spPr>
          <a:xfrm>
            <a:off x="463227" y="3728379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8" name="Cutout"/>
          <p:cNvGrpSpPr/>
          <p:nvPr/>
        </p:nvGrpSpPr>
        <p:grpSpPr>
          <a:xfrm rot="16200000">
            <a:off x="4050108" y="-3236517"/>
            <a:ext cx="310358" cy="789622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79" name="Fill"/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0" name="Border"/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915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"/>
          <p:cNvSpPr/>
          <p:nvPr/>
        </p:nvSpPr>
        <p:spPr>
          <a:xfrm>
            <a:off x="414337" y="734232"/>
            <a:ext cx="7487538" cy="46950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aphicFrame>
        <p:nvGraphicFramePr>
          <p:cNvPr id="3" name="내용 개체 틀 1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2272260"/>
              </p:ext>
            </p:extLst>
          </p:nvPr>
        </p:nvGraphicFramePr>
        <p:xfrm>
          <a:off x="447675" y="1201738"/>
          <a:ext cx="6414029" cy="304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496">
                  <a:extLst>
                    <a:ext uri="{9D8B030D-6E8A-4147-A177-3AD203B41FA5}">
                      <a16:colId xmlns:a16="http://schemas.microsoft.com/office/drawing/2014/main" val="2744069476"/>
                    </a:ext>
                  </a:extLst>
                </a:gridCol>
                <a:gridCol w="5579533">
                  <a:extLst>
                    <a:ext uri="{9D8B030D-6E8A-4147-A177-3AD203B41FA5}">
                      <a16:colId xmlns:a16="http://schemas.microsoft.com/office/drawing/2014/main" val="2490272663"/>
                    </a:ext>
                  </a:extLst>
                </a:gridCol>
              </a:tblGrid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제목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kumimoji="1"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프로젝트 업무회의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76769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작성자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127724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달력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통신사 서비스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TF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975024"/>
                  </a:ext>
                </a:extLst>
              </a:tr>
              <a:tr h="436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일시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2017-09-20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11:00 ~ 2017-09-22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3:00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ㅣ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종일</a:t>
                      </a:r>
                      <a:endParaRPr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음력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2017-09-21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11:00 ~ 2017-09-22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3:00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364343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설비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층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Bahama,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53376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알림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분전 알림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메일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738479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기타제목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기타내용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기타제목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기타내용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127556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내용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개발 리뷰를 위한 업무 회의 입니다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개발 리뷰를 위한 업무 회의 입니다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개발 리뷰를 위한 업무 회의 입니다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개발 리뷰를 위한 업무 회의 입니다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140816"/>
                  </a:ext>
                </a:extLst>
              </a:tr>
            </a:tbl>
          </a:graphicData>
        </a:graphic>
      </p:graphicFrame>
      <p:sp>
        <p:nvSpPr>
          <p:cNvPr id="4" name="Rectangle 212"/>
          <p:cNvSpPr/>
          <p:nvPr/>
        </p:nvSpPr>
        <p:spPr>
          <a:xfrm>
            <a:off x="434787" y="759918"/>
            <a:ext cx="7453849" cy="29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텍스트 상자 31"/>
          <p:cNvSpPr txBox="1"/>
          <p:nvPr/>
        </p:nvSpPr>
        <p:spPr>
          <a:xfrm>
            <a:off x="518010" y="856522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 정보</a:t>
            </a:r>
            <a:endParaRPr kumimoji="1" lang="ko-KR" altLang="en-US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387172" y="1924596"/>
            <a:ext cx="118078" cy="11826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381125" y="2394585"/>
            <a:ext cx="257175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음력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pic>
        <p:nvPicPr>
          <p:cNvPr id="12" name="Picture 3" descr="C:\Users\Administrator\Downloads\flag (1)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547" y="1292281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Cutout"/>
          <p:cNvGrpSpPr/>
          <p:nvPr/>
        </p:nvGrpSpPr>
        <p:grpSpPr>
          <a:xfrm rot="16200000">
            <a:off x="4050108" y="1497408"/>
            <a:ext cx="310358" cy="789622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21" name="Fill"/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" name="Border"/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3572318" y="5803955"/>
            <a:ext cx="1171575" cy="1905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이하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동일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스퀘어 일정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정보</a:t>
            </a:r>
          </a:p>
        </p:txBody>
      </p:sp>
      <p:graphicFrame>
        <p:nvGraphicFramePr>
          <p:cNvPr id="2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751428"/>
              </p:ext>
            </p:extLst>
          </p:nvPr>
        </p:nvGraphicFramePr>
        <p:xfrm>
          <a:off x="9286875" y="793264"/>
          <a:ext cx="2838450" cy="715096"/>
        </p:xfrm>
        <a:graphic>
          <a:graphicData uri="http://schemas.openxmlformats.org/drawingml/2006/table">
            <a:tbl>
              <a:tblPr/>
              <a:tblGrid>
                <a:gridCol w="211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스퀘어 일정 상세 정보인 경우</a:t>
                      </a:r>
                      <a:endParaRPr kumimoji="1"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달력은 스퀘어 그룹 달력으로 고정되고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공유자 정보는 출력하지 않음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그외 항목은 동일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)</a:t>
                      </a: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타원 25"/>
          <p:cNvSpPr>
            <a:spLocks noChangeAspect="1"/>
          </p:cNvSpPr>
          <p:nvPr/>
        </p:nvSpPr>
        <p:spPr>
          <a:xfrm>
            <a:off x="348927" y="651804"/>
            <a:ext cx="155873" cy="15704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6725" y="4333875"/>
            <a:ext cx="590550" cy="1619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첨부목록 ▼</a:t>
            </a:r>
          </a:p>
        </p:txBody>
      </p:sp>
      <p:sp>
        <p:nvSpPr>
          <p:cNvPr id="29" name="Rectangle 13"/>
          <p:cNvSpPr/>
          <p:nvPr/>
        </p:nvSpPr>
        <p:spPr>
          <a:xfrm>
            <a:off x="1273249" y="4299406"/>
            <a:ext cx="11897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rPr>
              <a:t>2</a:t>
            </a:r>
            <a:r>
              <a:rPr kumimoji="1" lang="ko-KR" altLang="mr-IN" sz="800" smtClean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rPr>
              <a:t>개 </a:t>
            </a:r>
            <a:r>
              <a:rPr kumimoji="1" lang="mr-IN" altLang="ko-KR" sz="800" smtClean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rPr>
              <a:t>(</a:t>
            </a:r>
            <a:r>
              <a:rPr kumimoji="1" lang="mr-IN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932,4KB</a:t>
            </a:r>
            <a:r>
              <a:rPr kumimoji="1" lang="mr-IN" altLang="ko-KR" sz="800" smtClean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rPr>
              <a:t>/100MB)</a:t>
            </a:r>
            <a:endParaRPr kumimoji="1" lang="mr-IN" altLang="ko-KR" sz="800" dirty="0">
              <a:solidFill>
                <a:prstClr val="black">
                  <a:lumMod val="50000"/>
                  <a:lumOff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30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1"/>
            </p:custDataLst>
          </p:nvPr>
        </p:nvSpPr>
        <p:spPr>
          <a:xfrm>
            <a:off x="1345369" y="4566755"/>
            <a:ext cx="5815851" cy="2985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4325" marR="0" lvl="1" indent="-1333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2017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휴가신청서모음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UI/UX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팀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1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2"/>
            </p:custDataLst>
          </p:nvPr>
        </p:nvSpPr>
        <p:spPr>
          <a:xfrm>
            <a:off x="1345369" y="4862030"/>
            <a:ext cx="5815851" cy="2985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4325" marR="0" lvl="1" indent="-1333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rgbClr val="FFFFFF"/>
                </a:solidFill>
              </a:defRPr>
            </a:pPr>
            <a:r>
              <a:rPr kumimoji="1" lang="en-US" altLang="ko-KR" sz="800" b="0" i="0" u="none" kern="120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2017</a:t>
            </a:r>
            <a:r>
              <a:rPr kumimoji="1" lang="ko-KR" altLang="en-US" sz="800" b="0" i="0" u="none" kern="120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휴가신청서모음 </a:t>
            </a:r>
            <a:r>
              <a:rPr kumimoji="1" lang="en-US" altLang="ko-KR" sz="800" b="0" i="0" u="none" kern="120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UI/UX</a:t>
            </a:r>
            <a:r>
              <a:rPr kumimoji="1" lang="ko-KR" altLang="en-US" sz="800" b="0" i="0" u="none" kern="120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팀</a:t>
            </a:r>
            <a:r>
              <a:rPr kumimoji="1" lang="en-US" altLang="ko-KR" sz="800" b="0" i="0" u="none" kern="1200" cap="none" spc="0" normalizeH="0" baseline="0" noProof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.zip</a:t>
            </a:r>
            <a:endParaRPr kumimoji="1" lang="en-US" altLang="ko-KR" sz="800" b="0" i="0" u="non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Freeform 29"/>
          <p:cNvSpPr>
            <a:spLocks noChangeAspect="1" noEditPoints="1"/>
          </p:cNvSpPr>
          <p:nvPr/>
        </p:nvSpPr>
        <p:spPr bwMode="auto">
          <a:xfrm>
            <a:off x="1454324" y="4670314"/>
            <a:ext cx="88991" cy="108000"/>
          </a:xfrm>
          <a:custGeom>
            <a:avLst/>
            <a:gdLst>
              <a:gd name="T0" fmla="*/ 350 w 350"/>
              <a:gd name="T1" fmla="*/ 150 h 425"/>
              <a:gd name="T2" fmla="*/ 250 w 350"/>
              <a:gd name="T3" fmla="*/ 150 h 425"/>
              <a:gd name="T4" fmla="*/ 250 w 350"/>
              <a:gd name="T5" fmla="*/ 0 h 425"/>
              <a:gd name="T6" fmla="*/ 100 w 350"/>
              <a:gd name="T7" fmla="*/ 0 h 425"/>
              <a:gd name="T8" fmla="*/ 100 w 350"/>
              <a:gd name="T9" fmla="*/ 150 h 425"/>
              <a:gd name="T10" fmla="*/ 0 w 350"/>
              <a:gd name="T11" fmla="*/ 150 h 425"/>
              <a:gd name="T12" fmla="*/ 175 w 350"/>
              <a:gd name="T13" fmla="*/ 325 h 425"/>
              <a:gd name="T14" fmla="*/ 350 w 350"/>
              <a:gd name="T15" fmla="*/ 150 h 425"/>
              <a:gd name="T16" fmla="*/ 0 w 350"/>
              <a:gd name="T17" fmla="*/ 375 h 425"/>
              <a:gd name="T18" fmla="*/ 0 w 350"/>
              <a:gd name="T19" fmla="*/ 425 h 425"/>
              <a:gd name="T20" fmla="*/ 350 w 350"/>
              <a:gd name="T21" fmla="*/ 425 h 425"/>
              <a:gd name="T22" fmla="*/ 350 w 350"/>
              <a:gd name="T23" fmla="*/ 375 h 425"/>
              <a:gd name="T24" fmla="*/ 0 w 350"/>
              <a:gd name="T25" fmla="*/ 375 h 4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50" h="425">
                <a:moveTo>
                  <a:pt x="350" y="150"/>
                </a:moveTo>
                <a:lnTo>
                  <a:pt x="250" y="150"/>
                </a:lnTo>
                <a:lnTo>
                  <a:pt x="250" y="0"/>
                </a:lnTo>
                <a:lnTo>
                  <a:pt x="100" y="0"/>
                </a:lnTo>
                <a:lnTo>
                  <a:pt x="100" y="150"/>
                </a:lnTo>
                <a:lnTo>
                  <a:pt x="0" y="150"/>
                </a:lnTo>
                <a:lnTo>
                  <a:pt x="175" y="325"/>
                </a:lnTo>
                <a:lnTo>
                  <a:pt x="350" y="150"/>
                </a:lnTo>
                <a:close/>
                <a:moveTo>
                  <a:pt x="0" y="375"/>
                </a:moveTo>
                <a:lnTo>
                  <a:pt x="0" y="425"/>
                </a:lnTo>
                <a:lnTo>
                  <a:pt x="350" y="425"/>
                </a:lnTo>
                <a:lnTo>
                  <a:pt x="350" y="375"/>
                </a:lnTo>
                <a:lnTo>
                  <a:pt x="0" y="37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33" name="Freeform 29"/>
          <p:cNvSpPr>
            <a:spLocks noChangeAspect="1" noEditPoints="1"/>
          </p:cNvSpPr>
          <p:nvPr/>
        </p:nvSpPr>
        <p:spPr bwMode="auto">
          <a:xfrm>
            <a:off x="1454324" y="4970496"/>
            <a:ext cx="88991" cy="108000"/>
          </a:xfrm>
          <a:custGeom>
            <a:avLst/>
            <a:gdLst>
              <a:gd name="T0" fmla="*/ 350 w 350"/>
              <a:gd name="T1" fmla="*/ 150 h 425"/>
              <a:gd name="T2" fmla="*/ 250 w 350"/>
              <a:gd name="T3" fmla="*/ 150 h 425"/>
              <a:gd name="T4" fmla="*/ 250 w 350"/>
              <a:gd name="T5" fmla="*/ 0 h 425"/>
              <a:gd name="T6" fmla="*/ 100 w 350"/>
              <a:gd name="T7" fmla="*/ 0 h 425"/>
              <a:gd name="T8" fmla="*/ 100 w 350"/>
              <a:gd name="T9" fmla="*/ 150 h 425"/>
              <a:gd name="T10" fmla="*/ 0 w 350"/>
              <a:gd name="T11" fmla="*/ 150 h 425"/>
              <a:gd name="T12" fmla="*/ 175 w 350"/>
              <a:gd name="T13" fmla="*/ 325 h 425"/>
              <a:gd name="T14" fmla="*/ 350 w 350"/>
              <a:gd name="T15" fmla="*/ 150 h 425"/>
              <a:gd name="T16" fmla="*/ 0 w 350"/>
              <a:gd name="T17" fmla="*/ 375 h 425"/>
              <a:gd name="T18" fmla="*/ 0 w 350"/>
              <a:gd name="T19" fmla="*/ 425 h 425"/>
              <a:gd name="T20" fmla="*/ 350 w 350"/>
              <a:gd name="T21" fmla="*/ 425 h 425"/>
              <a:gd name="T22" fmla="*/ 350 w 350"/>
              <a:gd name="T23" fmla="*/ 375 h 425"/>
              <a:gd name="T24" fmla="*/ 0 w 350"/>
              <a:gd name="T25" fmla="*/ 375 h 4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50" h="425">
                <a:moveTo>
                  <a:pt x="350" y="150"/>
                </a:moveTo>
                <a:lnTo>
                  <a:pt x="250" y="150"/>
                </a:lnTo>
                <a:lnTo>
                  <a:pt x="250" y="0"/>
                </a:lnTo>
                <a:lnTo>
                  <a:pt x="100" y="0"/>
                </a:lnTo>
                <a:lnTo>
                  <a:pt x="100" y="150"/>
                </a:lnTo>
                <a:lnTo>
                  <a:pt x="0" y="150"/>
                </a:lnTo>
                <a:lnTo>
                  <a:pt x="175" y="325"/>
                </a:lnTo>
                <a:lnTo>
                  <a:pt x="350" y="150"/>
                </a:lnTo>
                <a:close/>
                <a:moveTo>
                  <a:pt x="0" y="375"/>
                </a:moveTo>
                <a:lnTo>
                  <a:pt x="0" y="425"/>
                </a:lnTo>
                <a:lnTo>
                  <a:pt x="350" y="425"/>
                </a:lnTo>
                <a:lnTo>
                  <a:pt x="350" y="375"/>
                </a:lnTo>
                <a:lnTo>
                  <a:pt x="0" y="375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261595" y="4658067"/>
            <a:ext cx="914400" cy="144016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25MB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261595" y="4953342"/>
            <a:ext cx="914400" cy="144016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rPr>
              <a:t>25MB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694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"/>
          <p:cNvSpPr/>
          <p:nvPr/>
        </p:nvSpPr>
        <p:spPr>
          <a:xfrm>
            <a:off x="401099" y="648506"/>
            <a:ext cx="7487538" cy="444736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8" name="Rectangle 212"/>
          <p:cNvSpPr/>
          <p:nvPr/>
        </p:nvSpPr>
        <p:spPr>
          <a:xfrm>
            <a:off x="414337" y="674193"/>
            <a:ext cx="7474300" cy="29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9" name="텍스트 상자 31"/>
          <p:cNvSpPr txBox="1"/>
          <p:nvPr/>
        </p:nvSpPr>
        <p:spPr>
          <a:xfrm>
            <a:off x="518010" y="770797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[R] 7"/>
          <p:cNvCxnSpPr/>
          <p:nvPr/>
        </p:nvCxnSpPr>
        <p:spPr>
          <a:xfrm>
            <a:off x="402456" y="1318727"/>
            <a:ext cx="748618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14" name="텍스트 상자 31"/>
          <p:cNvSpPr txBox="1"/>
          <p:nvPr/>
        </p:nvSpPr>
        <p:spPr>
          <a:xfrm>
            <a:off x="583051" y="152759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제목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15" name="직선 연결선[R] 7"/>
          <p:cNvCxnSpPr/>
          <p:nvPr/>
        </p:nvCxnSpPr>
        <p:spPr>
          <a:xfrm>
            <a:off x="1122876" y="1727380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16" name="텍스트 상자 31"/>
          <p:cNvSpPr txBox="1"/>
          <p:nvPr/>
        </p:nvSpPr>
        <p:spPr>
          <a:xfrm>
            <a:off x="583051" y="1950437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달력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7" name="Group 15"/>
          <p:cNvGrpSpPr/>
          <p:nvPr/>
        </p:nvGrpSpPr>
        <p:grpSpPr>
          <a:xfrm>
            <a:off x="3160479" y="1134392"/>
            <a:ext cx="1982016" cy="176117"/>
            <a:chOff x="4223944" y="1715997"/>
            <a:chExt cx="1982016" cy="176117"/>
          </a:xfrm>
        </p:grpSpPr>
        <p:sp>
          <p:nvSpPr>
            <p:cNvPr id="18" name="텍스트 상자 31"/>
            <p:cNvSpPr txBox="1"/>
            <p:nvPr/>
          </p:nvSpPr>
          <p:spPr>
            <a:xfrm>
              <a:off x="4935567" y="1715997"/>
              <a:ext cx="127039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공유자 ∙ 설비 일정확인</a:t>
              </a:r>
              <a:endParaRPr kumimoji="1" lang="ko-KR" altLang="en-US" sz="9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9" name="Group 13"/>
            <p:cNvGrpSpPr/>
            <p:nvPr/>
          </p:nvGrpSpPr>
          <p:grpSpPr>
            <a:xfrm>
              <a:off x="4223944" y="1715997"/>
              <a:ext cx="612000" cy="176117"/>
              <a:chOff x="4223944" y="1715997"/>
              <a:chExt cx="612000" cy="176117"/>
            </a:xfrm>
          </p:grpSpPr>
          <p:sp>
            <p:nvSpPr>
              <p:cNvPr id="20" name="텍스트 상자 31"/>
              <p:cNvSpPr txBox="1"/>
              <p:nvPr/>
            </p:nvSpPr>
            <p:spPr>
              <a:xfrm>
                <a:off x="4223944" y="1715997"/>
                <a:ext cx="6120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일정 상세</a:t>
                </a:r>
                <a:endPara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21" name="직선 연결선[R] 7"/>
              <p:cNvCxnSpPr/>
              <p:nvPr/>
            </p:nvCxnSpPr>
            <p:spPr>
              <a:xfrm>
                <a:off x="4277944" y="1892114"/>
                <a:ext cx="504000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miter lim="400000"/>
              </a:ln>
            </p:spPr>
          </p:cxnSp>
        </p:grpSp>
      </p:grpSp>
      <p:sp>
        <p:nvSpPr>
          <p:cNvPr id="23" name="텍스트 상자 31"/>
          <p:cNvSpPr txBox="1"/>
          <p:nvPr/>
        </p:nvSpPr>
        <p:spPr>
          <a:xfrm>
            <a:off x="583051" y="3068368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5" name="텍스트 상자 31"/>
          <p:cNvSpPr txBox="1"/>
          <p:nvPr/>
        </p:nvSpPr>
        <p:spPr>
          <a:xfrm>
            <a:off x="583051" y="4603216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알림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" name="텍스트 상자 31"/>
          <p:cNvSpPr txBox="1"/>
          <p:nvPr/>
        </p:nvSpPr>
        <p:spPr>
          <a:xfrm>
            <a:off x="1342511" y="1551862"/>
            <a:ext cx="1188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8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일정 제목을 선택하세요</a:t>
            </a:r>
            <a:endParaRPr kumimoji="1" lang="ko-KR" altLang="en-US" sz="8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9" name="Group 23"/>
          <p:cNvGrpSpPr/>
          <p:nvPr/>
        </p:nvGrpSpPr>
        <p:grpSpPr>
          <a:xfrm>
            <a:off x="2886490" y="1880113"/>
            <a:ext cx="519293" cy="214533"/>
            <a:chOff x="3600083" y="2455609"/>
            <a:chExt cx="576000" cy="237960"/>
          </a:xfrm>
        </p:grpSpPr>
        <p:sp>
          <p:nvSpPr>
            <p:cNvPr id="30" name="Rounded Rectangle 224"/>
            <p:cNvSpPr/>
            <p:nvPr/>
          </p:nvSpPr>
          <p:spPr>
            <a:xfrm>
              <a:off x="3600083" y="2455609"/>
              <a:ext cx="576000" cy="237960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내 일정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1" name="Freeform 11"/>
            <p:cNvSpPr>
              <a:spLocks noChangeAspect="1" noChangeArrowheads="1"/>
            </p:cNvSpPr>
            <p:nvPr/>
          </p:nvSpPr>
          <p:spPr bwMode="auto">
            <a:xfrm>
              <a:off x="4033987" y="2529589"/>
              <a:ext cx="90000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cxnSp>
        <p:nvCxnSpPr>
          <p:cNvPr id="36" name="직선 연결선[R] 7"/>
          <p:cNvCxnSpPr/>
          <p:nvPr/>
        </p:nvCxnSpPr>
        <p:spPr>
          <a:xfrm>
            <a:off x="1122876" y="2184066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grpSp>
        <p:nvGrpSpPr>
          <p:cNvPr id="37" name="Group 25"/>
          <p:cNvGrpSpPr/>
          <p:nvPr/>
        </p:nvGrpSpPr>
        <p:grpSpPr>
          <a:xfrm>
            <a:off x="3452960" y="1880113"/>
            <a:ext cx="1188000" cy="214533"/>
            <a:chOff x="2680673" y="2469193"/>
            <a:chExt cx="1188000" cy="214533"/>
          </a:xfrm>
        </p:grpSpPr>
        <p:sp>
          <p:nvSpPr>
            <p:cNvPr id="38" name="Rounded Rectangle 459"/>
            <p:cNvSpPr/>
            <p:nvPr/>
          </p:nvSpPr>
          <p:spPr>
            <a:xfrm>
              <a:off x="2680673" y="2469193"/>
              <a:ext cx="1188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r>
                <a:rPr kumimoji="1" lang="en-US" altLang="ko-KR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UI</a:t>
              </a:r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프로젝트 일정 공유</a:t>
              </a:r>
            </a:p>
          </p:txBody>
        </p:sp>
        <p:sp>
          <p:nvSpPr>
            <p:cNvPr id="39" name="Freeform 11"/>
            <p:cNvSpPr>
              <a:spLocks noChangeAspect="1" noChangeArrowheads="1"/>
            </p:cNvSpPr>
            <p:nvPr/>
          </p:nvSpPr>
          <p:spPr bwMode="auto">
            <a:xfrm>
              <a:off x="3738907" y="2535890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40" name="Group 461"/>
          <p:cNvGrpSpPr/>
          <p:nvPr/>
        </p:nvGrpSpPr>
        <p:grpSpPr>
          <a:xfrm>
            <a:off x="4688137" y="1880113"/>
            <a:ext cx="828000" cy="214533"/>
            <a:chOff x="2680673" y="2469193"/>
            <a:chExt cx="828000" cy="214533"/>
          </a:xfrm>
        </p:grpSpPr>
        <p:sp>
          <p:nvSpPr>
            <p:cNvPr id="41" name="Rounded Rectangle 462"/>
            <p:cNvSpPr/>
            <p:nvPr/>
          </p:nvSpPr>
          <p:spPr>
            <a:xfrm>
              <a:off x="2680673" y="2469193"/>
              <a:ext cx="828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자동차 </a:t>
              </a:r>
              <a:r>
                <a:rPr kumimoji="1" lang="en-US" altLang="ko-KR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 </a:t>
              </a:r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</a:t>
              </a:r>
            </a:p>
          </p:txBody>
        </p:sp>
        <p:sp>
          <p:nvSpPr>
            <p:cNvPr id="42" name="Freeform 11"/>
            <p:cNvSpPr>
              <a:spLocks noChangeAspect="1" noChangeArrowheads="1"/>
            </p:cNvSpPr>
            <p:nvPr/>
          </p:nvSpPr>
          <p:spPr bwMode="auto">
            <a:xfrm>
              <a:off x="3382291" y="2535890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sp>
        <p:nvSpPr>
          <p:cNvPr id="58" name="텍스트 상자 31"/>
          <p:cNvSpPr txBox="1"/>
          <p:nvPr/>
        </p:nvSpPr>
        <p:spPr>
          <a:xfrm>
            <a:off x="1122877" y="4599765"/>
            <a:ext cx="68400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en-US" altLang="ko-KR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+</a:t>
            </a:r>
            <a:r>
              <a:rPr kumimoji="1" lang="ko-KR" altLang="en-US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알림 추가</a:t>
            </a:r>
            <a:endParaRPr kumimoji="1" lang="ko-KR" altLang="en-US" sz="800" u="sng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9" name="텍스트 상자 31"/>
          <p:cNvSpPr txBox="1"/>
          <p:nvPr/>
        </p:nvSpPr>
        <p:spPr>
          <a:xfrm>
            <a:off x="583051" y="2363632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일시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0" name="텍스트 상자 31"/>
          <p:cNvSpPr txBox="1"/>
          <p:nvPr/>
        </p:nvSpPr>
        <p:spPr>
          <a:xfrm>
            <a:off x="583051" y="4200527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72" name="Group 96"/>
          <p:cNvGrpSpPr/>
          <p:nvPr/>
        </p:nvGrpSpPr>
        <p:grpSpPr>
          <a:xfrm>
            <a:off x="1817387" y="4133065"/>
            <a:ext cx="756000" cy="214533"/>
            <a:chOff x="2140462" y="3941059"/>
            <a:chExt cx="756000" cy="214533"/>
          </a:xfrm>
        </p:grpSpPr>
        <p:sp>
          <p:nvSpPr>
            <p:cNvPr id="73" name="Rounded Rectangle 666"/>
            <p:cNvSpPr/>
            <p:nvPr/>
          </p:nvSpPr>
          <p:spPr>
            <a:xfrm>
              <a:off x="2140462" y="3941059"/>
              <a:ext cx="756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</a:t>
              </a: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층 </a:t>
              </a: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Bahama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4" name="Freeform 11"/>
            <p:cNvSpPr>
              <a:spLocks noChangeAspect="1" noChangeArrowheads="1"/>
            </p:cNvSpPr>
            <p:nvPr/>
          </p:nvSpPr>
          <p:spPr bwMode="auto">
            <a:xfrm>
              <a:off x="2758703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75" name="Group 95"/>
          <p:cNvGrpSpPr/>
          <p:nvPr/>
        </p:nvGrpSpPr>
        <p:grpSpPr>
          <a:xfrm>
            <a:off x="2630345" y="4133065"/>
            <a:ext cx="756000" cy="214533"/>
            <a:chOff x="2956893" y="3941059"/>
            <a:chExt cx="756000" cy="214533"/>
          </a:xfrm>
        </p:grpSpPr>
        <p:sp>
          <p:nvSpPr>
            <p:cNvPr id="76" name="Rounded Rectangle 681"/>
            <p:cNvSpPr/>
            <p:nvPr/>
          </p:nvSpPr>
          <p:spPr>
            <a:xfrm>
              <a:off x="2956893" y="3941059"/>
              <a:ext cx="756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빔프로젝터</a:t>
              </a: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7" name="Freeform 11"/>
            <p:cNvSpPr>
              <a:spLocks noChangeAspect="1" noChangeArrowheads="1"/>
            </p:cNvSpPr>
            <p:nvPr/>
          </p:nvSpPr>
          <p:spPr bwMode="auto">
            <a:xfrm>
              <a:off x="3575134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78" name="Group 94"/>
          <p:cNvGrpSpPr/>
          <p:nvPr/>
        </p:nvGrpSpPr>
        <p:grpSpPr>
          <a:xfrm>
            <a:off x="3443304" y="4133065"/>
            <a:ext cx="792000" cy="214533"/>
            <a:chOff x="3766868" y="3941059"/>
            <a:chExt cx="792000" cy="214533"/>
          </a:xfrm>
        </p:grpSpPr>
        <p:sp>
          <p:nvSpPr>
            <p:cNvPr id="79" name="Rounded Rectangle 683"/>
            <p:cNvSpPr/>
            <p:nvPr/>
          </p:nvSpPr>
          <p:spPr>
            <a:xfrm>
              <a:off x="3766868" y="3941059"/>
              <a:ext cx="792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ASUS</a:t>
              </a: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노트북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0" name="Freeform 11"/>
            <p:cNvSpPr>
              <a:spLocks noChangeAspect="1" noChangeArrowheads="1"/>
            </p:cNvSpPr>
            <p:nvPr/>
          </p:nvSpPr>
          <p:spPr bwMode="auto">
            <a:xfrm>
              <a:off x="4408259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110" name="Group 122"/>
          <p:cNvGrpSpPr/>
          <p:nvPr/>
        </p:nvGrpSpPr>
        <p:grpSpPr>
          <a:xfrm>
            <a:off x="1122876" y="3000906"/>
            <a:ext cx="592646" cy="228857"/>
            <a:chOff x="1122876" y="3618561"/>
            <a:chExt cx="504000" cy="228857"/>
          </a:xfrm>
        </p:grpSpPr>
        <p:sp>
          <p:nvSpPr>
            <p:cNvPr id="111" name="Rounded Rectangle 939"/>
            <p:cNvSpPr/>
            <p:nvPr/>
          </p:nvSpPr>
          <p:spPr>
            <a:xfrm>
              <a:off x="1122876" y="3618561"/>
              <a:ext cx="504000" cy="228857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algn="ctr"/>
              <a:r>
                <a:rPr kumimoji="1"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추가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112" name="Picture 157" descr="man-user (1).png"/>
            <p:cNvPicPr>
              <a:picLocks noChangeAspect="1"/>
            </p:cNvPicPr>
            <p:nvPr/>
          </p:nvPicPr>
          <p:blipFill>
            <a:blip r:embed="rId2" cstate="print">
              <a:alphaModFix amt="3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956" y="3684586"/>
              <a:ext cx="109070" cy="109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589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113" name="Rounded Rectangle 939"/>
          <p:cNvSpPr/>
          <p:nvPr/>
        </p:nvSpPr>
        <p:spPr>
          <a:xfrm>
            <a:off x="1122876" y="4136477"/>
            <a:ext cx="612000" cy="228857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r>
              <a:rPr kumimoji="1"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추가</a:t>
            </a:r>
            <a:endParaRPr kumimoji="1" lang="ko-KR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5" name="Rectangle 223"/>
          <p:cNvSpPr/>
          <p:nvPr/>
        </p:nvSpPr>
        <p:spPr>
          <a:xfrm>
            <a:off x="3128900" y="1030665"/>
            <a:ext cx="2038995" cy="358057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126" name="Triangle 942"/>
          <p:cNvSpPr>
            <a:spLocks noChangeAspect="1"/>
          </p:cNvSpPr>
          <p:nvPr/>
        </p:nvSpPr>
        <p:spPr>
          <a:xfrm flipV="1">
            <a:off x="1622735" y="4224629"/>
            <a:ext cx="91689" cy="5255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33">
              <a:solidFill>
                <a:schemeClr val="tx1"/>
              </a:solidFill>
              <a:latin typeface="+mn-ea"/>
              <a:ea typeface="+mn-ea"/>
              <a:cs typeface="ＭＳ Ｐゴシック" charset="0"/>
            </a:endParaRPr>
          </a:p>
        </p:txBody>
      </p:sp>
      <p:sp>
        <p:nvSpPr>
          <p:cNvPr id="189" name="타원 188"/>
          <p:cNvSpPr>
            <a:spLocks noChangeAspect="1"/>
          </p:cNvSpPr>
          <p:nvPr/>
        </p:nvSpPr>
        <p:spPr>
          <a:xfrm>
            <a:off x="3035822" y="954392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0" name="타원 189"/>
          <p:cNvSpPr>
            <a:spLocks noChangeAspect="1"/>
          </p:cNvSpPr>
          <p:nvPr/>
        </p:nvSpPr>
        <p:spPr>
          <a:xfrm>
            <a:off x="319120" y="149232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2" name="타원 191"/>
          <p:cNvSpPr>
            <a:spLocks noChangeAspect="1"/>
          </p:cNvSpPr>
          <p:nvPr/>
        </p:nvSpPr>
        <p:spPr>
          <a:xfrm>
            <a:off x="928720" y="2329437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3" name="타원 192"/>
          <p:cNvSpPr>
            <a:spLocks noChangeAspect="1"/>
          </p:cNvSpPr>
          <p:nvPr/>
        </p:nvSpPr>
        <p:spPr>
          <a:xfrm>
            <a:off x="319120" y="303543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098503"/>
              </p:ext>
            </p:extLst>
          </p:nvPr>
        </p:nvGraphicFramePr>
        <p:xfrm>
          <a:off x="9267471" y="745639"/>
          <a:ext cx="2857473" cy="4403789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 gridSpan="2">
                  <a:txBody>
                    <a:bodyPr/>
                    <a:lstStyle/>
                    <a:p>
                      <a:pPr marL="138113" indent="-138113" algn="l" defTabSz="914400">
                        <a:buSzPct val="100000"/>
                        <a:buChar char="•"/>
                        <a:tabLst/>
                        <a:defRPr sz="2300"/>
                      </a:pPr>
                      <a:r>
                        <a:rPr lang="ko-KR" alt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달력 </a:t>
                      </a:r>
                      <a:r>
                        <a:rPr lang="ko-KR" altLang="en-US" sz="7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뷰에서</a:t>
                      </a:r>
                      <a:r>
                        <a:rPr lang="ko-KR" alt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날짜</a:t>
                      </a:r>
                      <a:r>
                        <a:rPr lang="en-US" altLang="ko-KR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/</a:t>
                      </a:r>
                      <a:r>
                        <a:rPr lang="ko-KR" alt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시간대 선택</a:t>
                      </a:r>
                      <a:r>
                        <a:rPr lang="en-US" altLang="ko-KR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(</a:t>
                      </a:r>
                      <a:r>
                        <a:rPr lang="ko-KR" alt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더블클릭</a:t>
                      </a:r>
                      <a:r>
                        <a:rPr lang="en-US" altLang="ko-KR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)</a:t>
                      </a:r>
                      <a:r>
                        <a:rPr lang="ko-KR" alt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시 제공하는 팝업</a:t>
                      </a:r>
                    </a:p>
                    <a:p>
                      <a:pPr marL="138113" indent="-138113" algn="l" defTabSz="914400">
                        <a:buSzPct val="100000"/>
                        <a:buChar char="•"/>
                        <a:tabLst/>
                        <a:defRPr sz="2300"/>
                      </a:pPr>
                      <a:r>
                        <a:rPr lang="ko-KR" altLang="en-US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일정 상세 탭 선택 화면</a:t>
                      </a:r>
                      <a:r>
                        <a:rPr lang="en-US" altLang="ko-KR" sz="7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(Default)</a:t>
                      </a: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90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7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7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  <a:cs typeface="Malgun Gothic" charset="0"/>
                        </a:rPr>
                        <a:t>상단 탭</a:t>
                      </a:r>
                      <a:endParaRPr lang="en-US" altLang="ko-KR" sz="700" dirty="0" smtClean="0">
                        <a:latin typeface="+mn-ea"/>
                        <a:ea typeface="+mn-ea"/>
                        <a:cs typeface="Malgun Gothic" charset="0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선택된 탭 화면을 제공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탭 항목 </a:t>
                      </a:r>
                      <a:r>
                        <a:rPr kumimoji="1"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일정 상세</a:t>
                      </a:r>
                      <a:r>
                        <a:rPr kumimoji="1"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(Default)</a:t>
                      </a:r>
                      <a:r>
                        <a:rPr kumimoji="1"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공유자∙설비 일정확인 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등록은 일정 상세 탭에서만 제공</a:t>
                      </a:r>
                    </a:p>
                  </a:txBody>
                  <a:tcPr marL="18000" marR="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700" smtClean="0"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7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dirty="0" smtClean="0">
                          <a:latin typeface="+mn-ea"/>
                          <a:ea typeface="+mn-ea"/>
                          <a:cs typeface="Malgun Gothic" charset="0"/>
                        </a:rPr>
                        <a:t>일정 제목</a:t>
                      </a:r>
                      <a:endParaRPr lang="en-US" altLang="ko-KR" sz="700" dirty="0" smtClean="0">
                        <a:latin typeface="+mn-ea"/>
                        <a:ea typeface="+mn-ea"/>
                        <a:cs typeface="Malgun Gothic" charset="0"/>
                      </a:endParaRPr>
                    </a:p>
                    <a:p>
                      <a:pPr marL="93663" marR="0" indent="-93663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일정 제목 입력 필드 제공 </a:t>
                      </a:r>
                      <a:r>
                        <a:rPr kumimoji="1"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kumimoji="1"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</a:t>
                      </a:r>
                      <a:r>
                        <a:rPr kumimoji="1" lang="en-US" altLang="ko-KR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7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700" dirty="0" smtClean="0"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7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2563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smtClean="0">
                          <a:solidFill>
                            <a:schemeClr val="tx1"/>
                          </a:solidFill>
                          <a:latin typeface="+mn-ea"/>
                        </a:rPr>
                        <a:t>일정</a:t>
                      </a:r>
                      <a:r>
                        <a:rPr kumimoji="1" lang="en-US" altLang="ko-KR" sz="700" smtClean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700" smtClean="0">
                          <a:solidFill>
                            <a:schemeClr val="tx1"/>
                          </a:solidFill>
                          <a:latin typeface="+mn-ea"/>
                        </a:rPr>
                        <a:t>설비 등록시</a:t>
                      </a:r>
                      <a:r>
                        <a:rPr kumimoji="1" lang="en-US" altLang="ko-KR" sz="70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700" smtClean="0">
                          <a:solidFill>
                            <a:schemeClr val="tx1"/>
                          </a:solidFill>
                          <a:latin typeface="+mn-ea"/>
                        </a:rPr>
                        <a:t>스퀘어에 가입된 사용자일 경우</a:t>
                      </a:r>
                      <a:r>
                        <a:rPr kumimoji="1" lang="en-US" altLang="ko-KR" sz="700" smtClean="0">
                          <a:solidFill>
                            <a:schemeClr val="tx1"/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700" smtClean="0">
                          <a:solidFill>
                            <a:schemeClr val="tx1"/>
                          </a:solidFill>
                          <a:latin typeface="+mn-ea"/>
                        </a:rPr>
                      </a:br>
                      <a:r>
                        <a:rPr kumimoji="1" lang="ko-KR" altLang="en-US" sz="700" smtClean="0">
                          <a:solidFill>
                            <a:schemeClr val="tx1"/>
                          </a:solidFill>
                          <a:latin typeface="+mn-ea"/>
                        </a:rPr>
                        <a:t>개인달력과 스퀘어 달력을 선택할 수 있는 </a:t>
                      </a:r>
                      <a:r>
                        <a:rPr kumimoji="1" lang="en-US" altLang="ko-KR" sz="700" smtClean="0">
                          <a:solidFill>
                            <a:schemeClr val="tx1"/>
                          </a:solidFill>
                          <a:latin typeface="+mn-ea"/>
                        </a:rPr>
                        <a:t>selec box </a:t>
                      </a:r>
                      <a:r>
                        <a:rPr kumimoji="1" lang="ko-KR" altLang="en-US" sz="700" smtClean="0">
                          <a:solidFill>
                            <a:schemeClr val="tx1"/>
                          </a:solidFill>
                          <a:latin typeface="+mn-ea"/>
                        </a:rPr>
                        <a:t>출력</a:t>
                      </a:r>
                      <a:endParaRPr kumimoji="1" lang="en-US" altLang="ko-KR" sz="70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82563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smtClean="0">
                          <a:solidFill>
                            <a:schemeClr val="tx1"/>
                          </a:solidFill>
                          <a:latin typeface="+mn-ea"/>
                        </a:rPr>
                        <a:t>개인달력 선택시 기본 일정 등록에 해당 되는 정보들이 출력되고</a:t>
                      </a:r>
                      <a:r>
                        <a:rPr kumimoji="1" lang="en-US" altLang="ko-KR" sz="70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700" smtClean="0">
                          <a:solidFill>
                            <a:schemeClr val="tx1"/>
                          </a:solidFill>
                          <a:latin typeface="+mn-ea"/>
                        </a:rPr>
                        <a:t>달력 선택 항목에 개인 달력이 출력</a:t>
                      </a:r>
                      <a:endParaRPr kumimoji="1" lang="en-US" altLang="ko-KR" sz="70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82563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smtClean="0">
                          <a:solidFill>
                            <a:schemeClr val="tx1"/>
                          </a:solidFill>
                          <a:latin typeface="+mn-ea"/>
                        </a:rPr>
                        <a:t>스퀘어 달력 선택시</a:t>
                      </a:r>
                      <a:r>
                        <a:rPr kumimoji="1" lang="en-US" altLang="ko-KR" sz="700" smtClean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  <a:r>
                        <a:rPr kumimoji="1" lang="en-US" altLang="ko-KR" sz="7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7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스퀘어 일정에 제한되는 정보들 히든 처리</a:t>
                      </a:r>
                      <a:r>
                        <a:rPr kumimoji="1" lang="en-US" altLang="ko-KR" sz="7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7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공유자</a:t>
                      </a:r>
                      <a:r>
                        <a:rPr kumimoji="1" lang="en-US" altLang="ko-KR" sz="7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7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항목</a:t>
                      </a:r>
                      <a:r>
                        <a:rPr kumimoji="1" lang="en-US" altLang="ko-KR" sz="7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82563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개인 일정</a:t>
                      </a:r>
                      <a:r>
                        <a:rPr kumimoji="1" lang="en-US" altLang="ko-KR" sz="7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7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스퀘어 일정에 따라 달력 선택 기준은 그림</a:t>
                      </a:r>
                      <a:r>
                        <a:rPr kumimoji="1" lang="en-US" altLang="ko-KR" sz="7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1) </a:t>
                      </a:r>
                      <a:r>
                        <a:rPr kumimoji="1" lang="ko-KR" altLang="en-US" sz="7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참고</a:t>
                      </a:r>
                      <a:r>
                        <a:rPr kumimoji="1" lang="ko-KR" altLang="en-US" sz="700" smtClean="0">
                          <a:solidFill>
                            <a:schemeClr val="tx1"/>
                          </a:solidFill>
                          <a:latin typeface="+mn-ea"/>
                        </a:rPr>
                        <a:t>  </a:t>
                      </a:r>
                      <a:endParaRPr kumimoji="1" lang="en-US" altLang="ko-KR" sz="70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18000" marR="0" marT="36000" marB="36000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700" dirty="0" smtClean="0">
                          <a:latin typeface="+mj-ea"/>
                          <a:ea typeface="+mj-ea"/>
                          <a:cs typeface="Nanum Gothic" charset="-127"/>
                        </a:rPr>
                        <a:t>4</a:t>
                      </a:r>
                      <a:endParaRPr sz="7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일정 설정</a:t>
                      </a:r>
                      <a:endParaRPr kumimoji="1" lang="en-US" altLang="ko-KR" sz="7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7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Default: 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일시 선택 영역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반복 설정 버튼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종일 옵션</a:t>
                      </a:r>
                      <a:r>
                        <a:rPr kumimoji="1" lang="en-US" altLang="ko-KR" sz="7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일시 선택 영역 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사용자가 이전 화면에서 선택한 날짜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시간대로 설정된 상태로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일시 선택 시 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달력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시간 선택 컴포넌트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반복설정 버튼 선택 시 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반복설정 팝업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종일 옵션 선택 시 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일시 선택 영역에서 시간 정보 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Dimmed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처리</a:t>
                      </a:r>
                    </a:p>
                  </a:txBody>
                  <a:tcPr marL="18000" marR="0" marT="36000" marB="36000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700" smtClean="0">
                          <a:latin typeface="+mj-ea"/>
                          <a:ea typeface="+mj-ea"/>
                          <a:cs typeface="Nanum Gothic" charset="-127"/>
                        </a:rPr>
                        <a:t>4-2</a:t>
                      </a:r>
                      <a:endParaRPr sz="7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kumimoji="1" lang="ko-KR" altLang="en-US" sz="7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음력으로 설정 후 날짜 세팅시</a:t>
                      </a:r>
                      <a:r>
                        <a:rPr kumimoji="1" lang="en-US" altLang="ko-KR" sz="7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en-US" altLang="ko-KR" sz="7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7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양력으로 전환된 날짜 출력</a:t>
                      </a:r>
                      <a:endParaRPr kumimoji="1" lang="ko-KR" altLang="en-US" sz="7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395081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700" dirty="0" smtClean="0">
                          <a:latin typeface="+mj-ea"/>
                          <a:ea typeface="+mj-ea"/>
                          <a:cs typeface="Nanum Gothic" charset="-127"/>
                        </a:rPr>
                        <a:t>5</a:t>
                      </a:r>
                      <a:endParaRPr sz="7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공유자 추가</a:t>
                      </a:r>
                      <a:endParaRPr kumimoji="1" lang="en-US" altLang="ko-KR" sz="7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해당 일정을 공유할 사람을 선택하는 항목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Default</a:t>
                      </a:r>
                      <a:r>
                        <a:rPr kumimoji="1" lang="en-US" altLang="ko-KR" sz="7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kumimoji="1" lang="ko-KR" altLang="en-US" sz="7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공유자 추가 버튼 제공</a:t>
                      </a:r>
                      <a:endParaRPr kumimoji="1" lang="en-US" altLang="ko-KR" sz="7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추가 시 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공유자 추가 버튼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선택한 공유자 표시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공유</a:t>
                      </a:r>
                      <a:r>
                        <a:rPr kumimoji="1" lang="ko-KR" altLang="en-US" sz="7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일정 확인 버튼 제공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공유자 추가 버튼 선택 시 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7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조직도 팝업</a:t>
                      </a:r>
                      <a:r>
                        <a:rPr kumimoji="1" lang="en-US" altLang="ko-KR" sz="7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6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CA6.2.1.2)</a:t>
                      </a:r>
                      <a:r>
                        <a:rPr kumimoji="1" lang="ko-KR" altLang="en-US" sz="7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제공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공유자 추가 시 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7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추가한 공유자 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우측에 제공 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삭제 버튼 선택 시 삭제됨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7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공유자 일정</a:t>
                      </a:r>
                      <a:r>
                        <a:rPr kumimoji="1" lang="en-US" altLang="ko-KR" sz="7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7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설비 일정 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확인 버튼 선택 시 </a:t>
                      </a:r>
                      <a:r>
                        <a:rPr kumimoji="1" lang="en-US" altLang="ko-KR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7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7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공유자∙설비 일정확인 </a:t>
                      </a:r>
                      <a:r>
                        <a:rPr kumimoji="1" lang="ko-KR" altLang="en-US" sz="7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탭으로 이동</a:t>
                      </a:r>
                      <a:endParaRPr kumimoji="1" lang="en-US" altLang="ko-KR" sz="70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1" name="Rounded Rectangle 939"/>
          <p:cNvSpPr/>
          <p:nvPr/>
        </p:nvSpPr>
        <p:spPr>
          <a:xfrm>
            <a:off x="5186088" y="2285070"/>
            <a:ext cx="648000" cy="290149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6350" cap="flat" cmpd="sng">
            <a:solidFill>
              <a:sysClr val="window" lastClr="FFFFFF">
                <a:lumMod val="65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반복 설정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2" name="Group 67"/>
          <p:cNvGrpSpPr/>
          <p:nvPr/>
        </p:nvGrpSpPr>
        <p:grpSpPr>
          <a:xfrm>
            <a:off x="1593510" y="2285070"/>
            <a:ext cx="3555600" cy="290149"/>
            <a:chOff x="1135173" y="2884869"/>
            <a:chExt cx="3555600" cy="290149"/>
          </a:xfrm>
        </p:grpSpPr>
        <p:sp>
          <p:nvSpPr>
            <p:cNvPr id="133" name="Rounded Rectangle 939"/>
            <p:cNvSpPr/>
            <p:nvPr/>
          </p:nvSpPr>
          <p:spPr>
            <a:xfrm>
              <a:off x="11351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2017-09-20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4" name="Rounded Rectangle 939"/>
            <p:cNvSpPr/>
            <p:nvPr/>
          </p:nvSpPr>
          <p:spPr>
            <a:xfrm>
              <a:off x="19352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오전 </a:t>
              </a: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11:00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5" name="직선 연결선[R] 7"/>
            <p:cNvCxnSpPr/>
            <p:nvPr/>
          </p:nvCxnSpPr>
          <p:spPr>
            <a:xfrm>
              <a:off x="2858973" y="3029943"/>
              <a:ext cx="108000" cy="0"/>
            </a:xfrm>
            <a:prstGeom prst="line">
              <a:avLst/>
            </a:prstGeom>
            <a:ln w="12700">
              <a:solidFill>
                <a:sysClr val="window" lastClr="FFFFFF">
                  <a:lumMod val="50000"/>
                </a:sysClr>
              </a:solidFill>
              <a:miter lim="400000"/>
            </a:ln>
          </p:spPr>
        </p:cxnSp>
        <p:sp>
          <p:nvSpPr>
            <p:cNvPr id="136" name="Triangle 942"/>
            <p:cNvSpPr>
              <a:spLocks noChangeAspect="1"/>
            </p:cNvSpPr>
            <p:nvPr/>
          </p:nvSpPr>
          <p:spPr>
            <a:xfrm flipV="1">
              <a:off x="2620251" y="2998992"/>
              <a:ext cx="108000" cy="61902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7" name="Rounded Rectangle 939"/>
            <p:cNvSpPr/>
            <p:nvPr/>
          </p:nvSpPr>
          <p:spPr>
            <a:xfrm>
              <a:off x="30266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2017-09-20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8" name="Rounded Rectangle 939"/>
            <p:cNvSpPr/>
            <p:nvPr/>
          </p:nvSpPr>
          <p:spPr>
            <a:xfrm>
              <a:off x="38267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오후 </a:t>
              </a: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03:00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9" name="Triangle 942"/>
            <p:cNvSpPr>
              <a:spLocks noChangeAspect="1"/>
            </p:cNvSpPr>
            <p:nvPr/>
          </p:nvSpPr>
          <p:spPr>
            <a:xfrm flipV="1">
              <a:off x="4511751" y="2998992"/>
              <a:ext cx="108000" cy="61902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40" name="Group 121"/>
          <p:cNvGrpSpPr/>
          <p:nvPr/>
        </p:nvGrpSpPr>
        <p:grpSpPr>
          <a:xfrm>
            <a:off x="5897179" y="2336388"/>
            <a:ext cx="365833" cy="187731"/>
            <a:chOff x="10514817" y="2798956"/>
            <a:chExt cx="365833" cy="187731"/>
          </a:xfrm>
        </p:grpSpPr>
        <p:sp>
          <p:nvSpPr>
            <p:cNvPr id="141" name="Rounded Rectangle 722"/>
            <p:cNvSpPr/>
            <p:nvPr/>
          </p:nvSpPr>
          <p:spPr>
            <a:xfrm>
              <a:off x="10664650" y="2798956"/>
              <a:ext cx="21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종일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42" name="Rounded Rectangle 723"/>
            <p:cNvSpPr/>
            <p:nvPr/>
          </p:nvSpPr>
          <p:spPr>
            <a:xfrm>
              <a:off x="10514817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143" name="Group 186"/>
          <p:cNvGrpSpPr/>
          <p:nvPr/>
        </p:nvGrpSpPr>
        <p:grpSpPr>
          <a:xfrm>
            <a:off x="6271324" y="2336388"/>
            <a:ext cx="473833" cy="187731"/>
            <a:chOff x="10514817" y="2798956"/>
            <a:chExt cx="473833" cy="187731"/>
          </a:xfrm>
        </p:grpSpPr>
        <p:sp>
          <p:nvSpPr>
            <p:cNvPr id="144" name="Rounded Rectangle 187"/>
            <p:cNvSpPr/>
            <p:nvPr/>
          </p:nvSpPr>
          <p:spPr>
            <a:xfrm>
              <a:off x="10664650" y="2798956"/>
              <a:ext cx="324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기념일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45" name="Rounded Rectangle 188"/>
            <p:cNvSpPr/>
            <p:nvPr/>
          </p:nvSpPr>
          <p:spPr>
            <a:xfrm>
              <a:off x="10514817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146" name="Group 1"/>
          <p:cNvGrpSpPr/>
          <p:nvPr/>
        </p:nvGrpSpPr>
        <p:grpSpPr>
          <a:xfrm>
            <a:off x="1122876" y="2316726"/>
            <a:ext cx="432000" cy="228857"/>
            <a:chOff x="1122876" y="2916525"/>
            <a:chExt cx="432000" cy="228857"/>
          </a:xfrm>
        </p:grpSpPr>
        <p:sp>
          <p:nvSpPr>
            <p:cNvPr id="147" name="Rounded Rectangle 939"/>
            <p:cNvSpPr/>
            <p:nvPr/>
          </p:nvSpPr>
          <p:spPr>
            <a:xfrm>
              <a:off x="1122876" y="2916525"/>
              <a:ext cx="432000" cy="228857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양력</a:t>
              </a:r>
            </a:p>
          </p:txBody>
        </p:sp>
        <p:sp>
          <p:nvSpPr>
            <p:cNvPr id="148" name="Triangle 942"/>
            <p:cNvSpPr>
              <a:spLocks noChangeAspect="1"/>
            </p:cNvSpPr>
            <p:nvPr/>
          </p:nvSpPr>
          <p:spPr>
            <a:xfrm flipV="1">
              <a:off x="1419199" y="3004677"/>
              <a:ext cx="91689" cy="52553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1817387" y="3028950"/>
            <a:ext cx="3987681" cy="148389"/>
            <a:chOff x="1817387" y="3543300"/>
            <a:chExt cx="3987681" cy="148389"/>
          </a:xfrm>
        </p:grpSpPr>
        <p:sp>
          <p:nvSpPr>
            <p:cNvPr id="44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5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47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8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0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1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3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4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6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7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62" name="그룹 61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114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5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195" name="그룹 194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196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00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01" name="그룹 200"/>
          <p:cNvGrpSpPr/>
          <p:nvPr/>
        </p:nvGrpSpPr>
        <p:grpSpPr>
          <a:xfrm>
            <a:off x="1817387" y="3305175"/>
            <a:ext cx="3987681" cy="148389"/>
            <a:chOff x="1817387" y="3543300"/>
            <a:chExt cx="3987681" cy="148389"/>
          </a:xfrm>
        </p:grpSpPr>
        <p:sp>
          <p:nvSpPr>
            <p:cNvPr id="202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3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04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5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06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7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08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9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10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11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212" name="그룹 211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216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17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213" name="그룹 212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214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15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18" name="그룹 217"/>
          <p:cNvGrpSpPr/>
          <p:nvPr/>
        </p:nvGrpSpPr>
        <p:grpSpPr>
          <a:xfrm>
            <a:off x="1817387" y="3562350"/>
            <a:ext cx="3987681" cy="148389"/>
            <a:chOff x="1817387" y="3543300"/>
            <a:chExt cx="3987681" cy="148389"/>
          </a:xfrm>
        </p:grpSpPr>
        <p:sp>
          <p:nvSpPr>
            <p:cNvPr id="219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0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1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2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3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4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5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6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7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8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229" name="그룹 228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233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34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230" name="그룹 229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231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32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197" name="TextBox 196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(1/2)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CA6.2.1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34108" y="2640746"/>
            <a:ext cx="1085850" cy="11055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양력 </a:t>
            </a:r>
            <a:r>
              <a:rPr lang="en-US" altLang="ko-KR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: 2017-12-10</a:t>
            </a:r>
            <a:endParaRPr lang="ko-KR" altLang="en-US" sz="80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51372" y="3000906"/>
            <a:ext cx="4763727" cy="9144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50" name="그룹 149"/>
          <p:cNvGrpSpPr/>
          <p:nvPr/>
        </p:nvGrpSpPr>
        <p:grpSpPr>
          <a:xfrm>
            <a:off x="6372225" y="3099914"/>
            <a:ext cx="47625" cy="677223"/>
            <a:chOff x="6858000" y="2907897"/>
            <a:chExt cx="47625" cy="508807"/>
          </a:xfrm>
        </p:grpSpPr>
        <p:sp>
          <p:nvSpPr>
            <p:cNvPr id="151" name="모서리가 둥근 직사각형 150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52" name="모서리가 둥근 직사각형 151"/>
            <p:cNvSpPr/>
            <p:nvPr/>
          </p:nvSpPr>
          <p:spPr>
            <a:xfrm>
              <a:off x="6858000" y="2997258"/>
              <a:ext cx="47625" cy="21578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55" name="Rounded Rectangle 939"/>
          <p:cNvSpPr/>
          <p:nvPr/>
        </p:nvSpPr>
        <p:spPr>
          <a:xfrm>
            <a:off x="6581114" y="2987116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공유자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6" name="Rounded Rectangle 939"/>
          <p:cNvSpPr/>
          <p:nvPr/>
        </p:nvSpPr>
        <p:spPr>
          <a:xfrm>
            <a:off x="6581114" y="4149826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설비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57" name="직선 연결선[R] 7"/>
          <p:cNvCxnSpPr/>
          <p:nvPr/>
        </p:nvCxnSpPr>
        <p:spPr>
          <a:xfrm>
            <a:off x="1122876" y="4451530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graphicFrame>
        <p:nvGraphicFramePr>
          <p:cNvPr id="15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806025"/>
              </p:ext>
            </p:extLst>
          </p:nvPr>
        </p:nvGraphicFramePr>
        <p:xfrm>
          <a:off x="9290533" y="6203322"/>
          <a:ext cx="2834411" cy="471256"/>
        </p:xfrm>
        <a:graphic>
          <a:graphicData uri="http://schemas.openxmlformats.org/drawingml/2006/table">
            <a:tbl>
              <a:tblPr/>
              <a:tblGrid>
                <a:gridCol w="283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1/23_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수정내역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8000" marR="138580" marT="1800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228600" indent="-228600" defTabSz="914400">
                        <a:lnSpc>
                          <a:spcPct val="100000"/>
                        </a:lnSpc>
                        <a:buFont typeface="+mj-ea"/>
                        <a:buAutoNum type="circleNumDbPlain" startAt="3"/>
                        <a:defRPr sz="1800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개인달력 및 스퀘어달력 선택 항목 추가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154" name="Rounded Rectangle 939"/>
          <p:cNvSpPr/>
          <p:nvPr/>
        </p:nvSpPr>
        <p:spPr>
          <a:xfrm>
            <a:off x="1123436" y="1861884"/>
            <a:ext cx="695078" cy="273644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rgbClr val="0000FF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r>
              <a:rPr lang="ko-KR" alt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개인 달력 ▼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58" name="Group 24"/>
          <p:cNvGrpSpPr/>
          <p:nvPr/>
        </p:nvGrpSpPr>
        <p:grpSpPr>
          <a:xfrm>
            <a:off x="1894840" y="1861883"/>
            <a:ext cx="900000" cy="273645"/>
            <a:chOff x="1135174" y="2435818"/>
            <a:chExt cx="900000" cy="273645"/>
          </a:xfrm>
        </p:grpSpPr>
        <p:sp>
          <p:nvSpPr>
            <p:cNvPr id="159" name="Rounded Rectangle 939"/>
            <p:cNvSpPr/>
            <p:nvPr/>
          </p:nvSpPr>
          <p:spPr>
            <a:xfrm>
              <a:off x="1135174" y="2435818"/>
              <a:ext cx="900000" cy="273645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latin typeface="+mn-ea"/>
                <a:ea typeface="+mn-ea"/>
              </a:endParaRPr>
            </a:p>
          </p:txBody>
        </p:sp>
        <p:sp>
          <p:nvSpPr>
            <p:cNvPr id="160" name="텍스트 상자 31"/>
            <p:cNvSpPr txBox="1"/>
            <p:nvPr/>
          </p:nvSpPr>
          <p:spPr>
            <a:xfrm>
              <a:off x="1201376" y="2494592"/>
              <a:ext cx="612000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8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달력 선택 </a:t>
              </a:r>
              <a:r>
                <a:rPr lang="ko-KR" altLang="en-US"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▼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91" name="타원 190"/>
          <p:cNvSpPr>
            <a:spLocks noChangeAspect="1"/>
          </p:cNvSpPr>
          <p:nvPr/>
        </p:nvSpPr>
        <p:spPr>
          <a:xfrm>
            <a:off x="1033547" y="1771883"/>
            <a:ext cx="178657" cy="180000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8" name="타원 167"/>
          <p:cNvSpPr>
            <a:spLocks noChangeAspect="1"/>
          </p:cNvSpPr>
          <p:nvPr/>
        </p:nvSpPr>
        <p:spPr>
          <a:xfrm>
            <a:off x="1385906" y="2594987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4-2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1" name="모서리가 둥근 직사각형 170"/>
          <p:cNvSpPr/>
          <p:nvPr/>
        </p:nvSpPr>
        <p:spPr>
          <a:xfrm>
            <a:off x="1123950" y="2228849"/>
            <a:ext cx="6105525" cy="620098"/>
          </a:xfrm>
          <a:prstGeom prst="roundRect">
            <a:avLst>
              <a:gd name="adj" fmla="val 7408"/>
            </a:avLst>
          </a:prstGeom>
          <a:noFill/>
          <a:ln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9" name="타원 148"/>
          <p:cNvSpPr>
            <a:spLocks noChangeAspect="1"/>
          </p:cNvSpPr>
          <p:nvPr/>
        </p:nvSpPr>
        <p:spPr>
          <a:xfrm>
            <a:off x="5214956" y="2185412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4-1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2" name="Cutout"/>
          <p:cNvGrpSpPr/>
          <p:nvPr/>
        </p:nvGrpSpPr>
        <p:grpSpPr>
          <a:xfrm rot="16200000">
            <a:off x="3935808" y="1154508"/>
            <a:ext cx="310358" cy="789622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73" name="Fill"/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4" name="Border"/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919" y="5345478"/>
            <a:ext cx="4075947" cy="1478672"/>
          </a:xfrm>
          <a:prstGeom prst="rect">
            <a:avLst/>
          </a:prstGeom>
        </p:spPr>
      </p:pic>
      <p:sp>
        <p:nvSpPr>
          <p:cNvPr id="175" name="타원 174"/>
          <p:cNvSpPr>
            <a:spLocks noChangeAspect="1"/>
          </p:cNvSpPr>
          <p:nvPr/>
        </p:nvSpPr>
        <p:spPr>
          <a:xfrm>
            <a:off x="4616282" y="5391383"/>
            <a:ext cx="178657" cy="180000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942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"/>
          <p:cNvSpPr/>
          <p:nvPr/>
        </p:nvSpPr>
        <p:spPr>
          <a:xfrm>
            <a:off x="401099" y="648507"/>
            <a:ext cx="7487538" cy="29709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8" name="텍스트 상자 31"/>
          <p:cNvSpPr txBox="1"/>
          <p:nvPr/>
        </p:nvSpPr>
        <p:spPr>
          <a:xfrm>
            <a:off x="828148" y="1072091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내용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Rounded Rectangle 939"/>
          <p:cNvSpPr/>
          <p:nvPr/>
        </p:nvSpPr>
        <p:spPr>
          <a:xfrm>
            <a:off x="1622497" y="1019217"/>
            <a:ext cx="5855902" cy="408312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endParaRPr kumimoji="1" lang="ko-KR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텍스트 상자 31"/>
          <p:cNvSpPr txBox="1"/>
          <p:nvPr/>
        </p:nvSpPr>
        <p:spPr>
          <a:xfrm>
            <a:off x="828148" y="1564178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기타항목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Rounded Rectangle 939"/>
          <p:cNvSpPr/>
          <p:nvPr/>
        </p:nvSpPr>
        <p:spPr>
          <a:xfrm>
            <a:off x="1622497" y="1510756"/>
            <a:ext cx="1393892" cy="228857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r>
              <a:rPr kumimoji="1" lang="ko-KR" altLang="en-US" sz="75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제목을 입력하세요</a:t>
            </a:r>
            <a:endParaRPr kumimoji="1" lang="ko-KR" altLang="en-US" sz="75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Rounded Rectangle 939"/>
          <p:cNvSpPr/>
          <p:nvPr/>
        </p:nvSpPr>
        <p:spPr>
          <a:xfrm>
            <a:off x="3111219" y="1510756"/>
            <a:ext cx="4112656" cy="228857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r>
              <a:rPr lang="ko-KR" altLang="en-US" sz="75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내용</a:t>
            </a:r>
            <a:r>
              <a:rPr kumimoji="1" lang="ko-KR" altLang="en-US" sz="75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을 입력하세요</a:t>
            </a:r>
            <a:endParaRPr kumimoji="1" lang="ko-KR" altLang="en-US" sz="75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99" y="1544184"/>
            <a:ext cx="162000" cy="162000"/>
          </a:xfrm>
          <a:prstGeom prst="rect">
            <a:avLst/>
          </a:prstGeom>
        </p:spPr>
      </p:pic>
      <p:sp>
        <p:nvSpPr>
          <p:cNvPr id="15" name="Freeform 11"/>
          <p:cNvSpPr>
            <a:spLocks noChangeAspect="1" noChangeArrowheads="1"/>
          </p:cNvSpPr>
          <p:nvPr/>
        </p:nvSpPr>
        <p:spPr bwMode="auto">
          <a:xfrm>
            <a:off x="7299557" y="1580606"/>
            <a:ext cx="81140" cy="8114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19120" y="648508"/>
            <a:ext cx="7748555" cy="89154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(2/2)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CA6.2.1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44" name="Group 3"/>
          <p:cNvGraphicFramePr>
            <a:graphicFrameLocks noGrp="1"/>
          </p:cNvGraphicFramePr>
          <p:nvPr>
            <p:extLst/>
          </p:nvPr>
        </p:nvGraphicFramePr>
        <p:xfrm>
          <a:off x="9284677" y="798395"/>
          <a:ext cx="2839915" cy="471256"/>
        </p:xfrm>
        <a:graphic>
          <a:graphicData uri="http://schemas.openxmlformats.org/drawingml/2006/table">
            <a:tbl>
              <a:tblPr/>
              <a:tblGrid>
                <a:gridCol w="21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7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latin typeface="+mj-ea"/>
                          <a:ea typeface="+mj-ea"/>
                          <a:cs typeface="Nanum Gothic" charset="-127"/>
                        </a:rPr>
                        <a:t>6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이하 입력항목은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as-is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동일</a:t>
                      </a: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" name="타원 44"/>
          <p:cNvSpPr>
            <a:spLocks noChangeAspect="1"/>
          </p:cNvSpPr>
          <p:nvPr/>
        </p:nvSpPr>
        <p:spPr>
          <a:xfrm>
            <a:off x="498826" y="784428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6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</a:p>
        </p:txBody>
      </p:sp>
      <p:sp>
        <p:nvSpPr>
          <p:cNvPr id="40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6361012" y="3187500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>
            <a:solidFill>
              <a:schemeClr val="tx1">
                <a:lumMod val="95000"/>
                <a:lumOff val="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등록</a:t>
            </a: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7027762" y="3187500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"/>
          <p:cNvSpPr/>
          <p:nvPr/>
        </p:nvSpPr>
        <p:spPr>
          <a:xfrm>
            <a:off x="1614533" y="2187643"/>
            <a:ext cx="5813678" cy="517457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rPr lang="en-US" altLang="ko-KR" sz="7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        </a:t>
            </a:r>
            <a:r>
              <a:rPr lang="ko-KR" altLang="en-US" sz="7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    </a:t>
            </a:r>
            <a:endParaRPr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2" name="텍스트 상자 31"/>
          <p:cNvSpPr txBox="1"/>
          <p:nvPr/>
        </p:nvSpPr>
        <p:spPr>
          <a:xfrm>
            <a:off x="5957417" y="2486643"/>
            <a:ext cx="437799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kumimoji="1"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5MB</a:t>
            </a:r>
            <a:endParaRPr kumimoji="1"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6" name="Freeform 11"/>
          <p:cNvSpPr>
            <a:spLocks noChangeAspect="1" noChangeArrowheads="1"/>
          </p:cNvSpPr>
          <p:nvPr/>
        </p:nvSpPr>
        <p:spPr bwMode="auto">
          <a:xfrm>
            <a:off x="7047477" y="2508257"/>
            <a:ext cx="71999" cy="72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60290" y="2483265"/>
            <a:ext cx="1861289" cy="14594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[</a:t>
            </a:r>
            <a:r>
              <a: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서식</a:t>
            </a:r>
            <a:r>
              <a: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]</a:t>
            </a:r>
            <a:r>
              <a: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2017</a:t>
            </a:r>
            <a:r>
              <a: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 휴가 신청서</a:t>
            </a:r>
            <a:r>
              <a: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.</a:t>
            </a:r>
            <a:r>
              <a:rPr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docx</a:t>
            </a: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760534" y="2245140"/>
            <a:ext cx="1861289" cy="14594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[</a:t>
            </a:r>
            <a:r>
              <a: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서식</a:t>
            </a:r>
            <a:r>
              <a: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]</a:t>
            </a:r>
            <a:r>
              <a: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2017</a:t>
            </a:r>
            <a:r>
              <a: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 휴가 신청서</a:t>
            </a:r>
            <a:r>
              <a:rPr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.zip</a:t>
            </a: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941328" y="2245140"/>
            <a:ext cx="523820" cy="14594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10MB</a:t>
            </a: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3" name="Freeform 11"/>
          <p:cNvSpPr>
            <a:spLocks noChangeAspect="1" noChangeArrowheads="1"/>
          </p:cNvSpPr>
          <p:nvPr/>
        </p:nvSpPr>
        <p:spPr bwMode="auto">
          <a:xfrm>
            <a:off x="7047477" y="2285372"/>
            <a:ext cx="71999" cy="72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167782" y="1924040"/>
            <a:ext cx="1042520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lvl="0" fontAlgn="ctr"/>
            <a:r>
              <a:rPr lang="ko-KR" altLang="en-US" sz="80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내</a:t>
            </a:r>
            <a:r>
              <a:rPr lang="en-US" altLang="ko-KR" sz="80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PC</a:t>
            </a:r>
            <a:r>
              <a:rPr lang="ko-KR" altLang="en-US" sz="80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 </a:t>
            </a:r>
            <a:r>
              <a:rPr lang="en-US" altLang="ko-KR" sz="80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: </a:t>
            </a:r>
            <a:r>
              <a:rPr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15MB</a:t>
            </a:r>
            <a:r>
              <a:rPr lang="en-US" altLang="ko-KR" sz="80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 / 30MB</a:t>
            </a:r>
            <a:endParaRPr lang="en-US" altLang="ko-KR" sz="80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889193" y="1933565"/>
            <a:ext cx="51994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lvl="0" fontAlgn="ctr"/>
            <a:r>
              <a:rPr lang="ko-KR" altLang="en-US" sz="800" u="sng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모두 삭제</a:t>
            </a:r>
            <a:endParaRPr lang="en-US" altLang="ko-KR" sz="800" u="sng">
              <a:solidFill>
                <a:prstClr val="white">
                  <a:lumMod val="50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47144" y="1938139"/>
            <a:ext cx="921313" cy="19583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첨부 파일 ▲</a:t>
            </a: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372350" y="2260503"/>
            <a:ext cx="31204" cy="243723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1607405" y="1904715"/>
            <a:ext cx="465629" cy="2258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t">
            <a:noAutofit/>
          </a:bodyPr>
          <a:lstStyle/>
          <a:p>
            <a:pPr marR="0" lvl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</a:t>
            </a: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03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"/>
          <p:cNvSpPr/>
          <p:nvPr/>
        </p:nvSpPr>
        <p:spPr>
          <a:xfrm>
            <a:off x="401099" y="648506"/>
            <a:ext cx="7487538" cy="482836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8" name="Rectangle 212"/>
          <p:cNvSpPr/>
          <p:nvPr/>
        </p:nvSpPr>
        <p:spPr>
          <a:xfrm>
            <a:off x="414337" y="674193"/>
            <a:ext cx="7474300" cy="29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9" name="텍스트 상자 31"/>
          <p:cNvSpPr txBox="1"/>
          <p:nvPr/>
        </p:nvSpPr>
        <p:spPr>
          <a:xfrm>
            <a:off x="518010" y="770797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[R] 7"/>
          <p:cNvCxnSpPr/>
          <p:nvPr/>
        </p:nvCxnSpPr>
        <p:spPr>
          <a:xfrm>
            <a:off x="402456" y="1318727"/>
            <a:ext cx="748618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14" name="텍스트 상자 31"/>
          <p:cNvSpPr txBox="1"/>
          <p:nvPr/>
        </p:nvSpPr>
        <p:spPr>
          <a:xfrm>
            <a:off x="583051" y="152759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제목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15" name="직선 연결선[R] 7"/>
          <p:cNvCxnSpPr/>
          <p:nvPr/>
        </p:nvCxnSpPr>
        <p:spPr>
          <a:xfrm>
            <a:off x="1122876" y="1727380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16" name="텍스트 상자 31"/>
          <p:cNvSpPr txBox="1"/>
          <p:nvPr/>
        </p:nvSpPr>
        <p:spPr>
          <a:xfrm>
            <a:off x="583051" y="1950437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달력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7" name="Group 15"/>
          <p:cNvGrpSpPr/>
          <p:nvPr/>
        </p:nvGrpSpPr>
        <p:grpSpPr>
          <a:xfrm>
            <a:off x="3160479" y="1134392"/>
            <a:ext cx="1982016" cy="176117"/>
            <a:chOff x="4223944" y="1715997"/>
            <a:chExt cx="1982016" cy="176117"/>
          </a:xfrm>
        </p:grpSpPr>
        <p:sp>
          <p:nvSpPr>
            <p:cNvPr id="18" name="텍스트 상자 31"/>
            <p:cNvSpPr txBox="1"/>
            <p:nvPr/>
          </p:nvSpPr>
          <p:spPr>
            <a:xfrm>
              <a:off x="4935567" y="1715997"/>
              <a:ext cx="127039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공유자 ∙ 설비 일정확인</a:t>
              </a:r>
              <a:endParaRPr kumimoji="1" lang="ko-KR" altLang="en-US" sz="9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9" name="Group 13"/>
            <p:cNvGrpSpPr/>
            <p:nvPr/>
          </p:nvGrpSpPr>
          <p:grpSpPr>
            <a:xfrm>
              <a:off x="4223944" y="1715997"/>
              <a:ext cx="612000" cy="176117"/>
              <a:chOff x="4223944" y="1715997"/>
              <a:chExt cx="612000" cy="176117"/>
            </a:xfrm>
          </p:grpSpPr>
          <p:sp>
            <p:nvSpPr>
              <p:cNvPr id="20" name="텍스트 상자 31"/>
              <p:cNvSpPr txBox="1"/>
              <p:nvPr/>
            </p:nvSpPr>
            <p:spPr>
              <a:xfrm>
                <a:off x="4223944" y="1715997"/>
                <a:ext cx="6120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일정 상세</a:t>
                </a:r>
                <a:endPara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21" name="직선 연결선[R] 7"/>
              <p:cNvCxnSpPr/>
              <p:nvPr/>
            </p:nvCxnSpPr>
            <p:spPr>
              <a:xfrm>
                <a:off x="4277944" y="1892114"/>
                <a:ext cx="504000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miter lim="400000"/>
              </a:ln>
            </p:spPr>
          </p:cxnSp>
        </p:grpSp>
      </p:grpSp>
      <p:sp>
        <p:nvSpPr>
          <p:cNvPr id="23" name="텍스트 상자 31"/>
          <p:cNvSpPr txBox="1"/>
          <p:nvPr/>
        </p:nvSpPr>
        <p:spPr>
          <a:xfrm>
            <a:off x="583051" y="2992168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5" name="텍스트 상자 31"/>
          <p:cNvSpPr txBox="1"/>
          <p:nvPr/>
        </p:nvSpPr>
        <p:spPr>
          <a:xfrm>
            <a:off x="583051" y="4527016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알림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" name="텍스트 상자 31"/>
          <p:cNvSpPr txBox="1"/>
          <p:nvPr/>
        </p:nvSpPr>
        <p:spPr>
          <a:xfrm>
            <a:off x="1342511" y="1551862"/>
            <a:ext cx="1188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8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일정 제목을 선택하세요</a:t>
            </a:r>
            <a:endParaRPr kumimoji="1" lang="ko-KR" altLang="en-US" sz="8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9" name="Group 23"/>
          <p:cNvGrpSpPr/>
          <p:nvPr/>
        </p:nvGrpSpPr>
        <p:grpSpPr>
          <a:xfrm>
            <a:off x="2886490" y="1880113"/>
            <a:ext cx="519293" cy="214533"/>
            <a:chOff x="3600083" y="2455609"/>
            <a:chExt cx="576000" cy="237960"/>
          </a:xfrm>
        </p:grpSpPr>
        <p:sp>
          <p:nvSpPr>
            <p:cNvPr id="30" name="Rounded Rectangle 224"/>
            <p:cNvSpPr/>
            <p:nvPr/>
          </p:nvSpPr>
          <p:spPr>
            <a:xfrm>
              <a:off x="3600083" y="2455609"/>
              <a:ext cx="576000" cy="237960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내 일정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1" name="Freeform 11"/>
            <p:cNvSpPr>
              <a:spLocks noChangeAspect="1" noChangeArrowheads="1"/>
            </p:cNvSpPr>
            <p:nvPr/>
          </p:nvSpPr>
          <p:spPr bwMode="auto">
            <a:xfrm>
              <a:off x="4033987" y="2529589"/>
              <a:ext cx="90000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37" name="Group 25"/>
          <p:cNvGrpSpPr/>
          <p:nvPr/>
        </p:nvGrpSpPr>
        <p:grpSpPr>
          <a:xfrm>
            <a:off x="3452960" y="1880113"/>
            <a:ext cx="1188000" cy="214533"/>
            <a:chOff x="2680673" y="2469193"/>
            <a:chExt cx="1188000" cy="214533"/>
          </a:xfrm>
        </p:grpSpPr>
        <p:sp>
          <p:nvSpPr>
            <p:cNvPr id="38" name="Rounded Rectangle 459"/>
            <p:cNvSpPr/>
            <p:nvPr/>
          </p:nvSpPr>
          <p:spPr>
            <a:xfrm>
              <a:off x="2680673" y="2469193"/>
              <a:ext cx="1188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r>
                <a:rPr kumimoji="1" lang="en-US" altLang="ko-KR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UI</a:t>
              </a:r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프로젝트 일정 공유</a:t>
              </a:r>
            </a:p>
          </p:txBody>
        </p:sp>
        <p:sp>
          <p:nvSpPr>
            <p:cNvPr id="39" name="Freeform 11"/>
            <p:cNvSpPr>
              <a:spLocks noChangeAspect="1" noChangeArrowheads="1"/>
            </p:cNvSpPr>
            <p:nvPr/>
          </p:nvSpPr>
          <p:spPr bwMode="auto">
            <a:xfrm>
              <a:off x="3738907" y="2535890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40" name="Group 461"/>
          <p:cNvGrpSpPr/>
          <p:nvPr/>
        </p:nvGrpSpPr>
        <p:grpSpPr>
          <a:xfrm>
            <a:off x="4688137" y="1880113"/>
            <a:ext cx="828000" cy="214533"/>
            <a:chOff x="2680673" y="2469193"/>
            <a:chExt cx="828000" cy="214533"/>
          </a:xfrm>
        </p:grpSpPr>
        <p:sp>
          <p:nvSpPr>
            <p:cNvPr id="41" name="Rounded Rectangle 462"/>
            <p:cNvSpPr/>
            <p:nvPr/>
          </p:nvSpPr>
          <p:spPr>
            <a:xfrm>
              <a:off x="2680673" y="2469193"/>
              <a:ext cx="828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자동차 </a:t>
              </a:r>
              <a:r>
                <a:rPr kumimoji="1" lang="en-US" altLang="ko-KR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 </a:t>
              </a:r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</a:t>
              </a:r>
            </a:p>
          </p:txBody>
        </p:sp>
        <p:sp>
          <p:nvSpPr>
            <p:cNvPr id="42" name="Freeform 11"/>
            <p:cNvSpPr>
              <a:spLocks noChangeAspect="1" noChangeArrowheads="1"/>
            </p:cNvSpPr>
            <p:nvPr/>
          </p:nvSpPr>
          <p:spPr bwMode="auto">
            <a:xfrm>
              <a:off x="3382291" y="2535890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sp>
        <p:nvSpPr>
          <p:cNvPr id="58" name="텍스트 상자 31"/>
          <p:cNvSpPr txBox="1"/>
          <p:nvPr/>
        </p:nvSpPr>
        <p:spPr>
          <a:xfrm>
            <a:off x="1122877" y="4523565"/>
            <a:ext cx="68400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en-US" altLang="ko-KR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+</a:t>
            </a:r>
            <a:r>
              <a:rPr kumimoji="1" lang="ko-KR" altLang="en-US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알림 추가</a:t>
            </a:r>
            <a:endParaRPr kumimoji="1" lang="ko-KR" altLang="en-US" sz="800" u="sng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0" name="텍스트 상자 31"/>
          <p:cNvSpPr txBox="1"/>
          <p:nvPr/>
        </p:nvSpPr>
        <p:spPr>
          <a:xfrm>
            <a:off x="583051" y="4124327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72" name="Group 96"/>
          <p:cNvGrpSpPr/>
          <p:nvPr/>
        </p:nvGrpSpPr>
        <p:grpSpPr>
          <a:xfrm>
            <a:off x="1817387" y="4056865"/>
            <a:ext cx="756000" cy="214533"/>
            <a:chOff x="2140462" y="3941059"/>
            <a:chExt cx="756000" cy="214533"/>
          </a:xfrm>
        </p:grpSpPr>
        <p:sp>
          <p:nvSpPr>
            <p:cNvPr id="73" name="Rounded Rectangle 666"/>
            <p:cNvSpPr/>
            <p:nvPr/>
          </p:nvSpPr>
          <p:spPr>
            <a:xfrm>
              <a:off x="2140462" y="3941059"/>
              <a:ext cx="756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</a:t>
              </a: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층 </a:t>
              </a: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Bahama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4" name="Freeform 11"/>
            <p:cNvSpPr>
              <a:spLocks noChangeAspect="1" noChangeArrowheads="1"/>
            </p:cNvSpPr>
            <p:nvPr/>
          </p:nvSpPr>
          <p:spPr bwMode="auto">
            <a:xfrm>
              <a:off x="2758703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75" name="Group 95"/>
          <p:cNvGrpSpPr/>
          <p:nvPr/>
        </p:nvGrpSpPr>
        <p:grpSpPr>
          <a:xfrm>
            <a:off x="2630345" y="4056865"/>
            <a:ext cx="756000" cy="214533"/>
            <a:chOff x="2956893" y="3941059"/>
            <a:chExt cx="756000" cy="214533"/>
          </a:xfrm>
        </p:grpSpPr>
        <p:sp>
          <p:nvSpPr>
            <p:cNvPr id="76" name="Rounded Rectangle 681"/>
            <p:cNvSpPr/>
            <p:nvPr/>
          </p:nvSpPr>
          <p:spPr>
            <a:xfrm>
              <a:off x="2956893" y="3941059"/>
              <a:ext cx="756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빔프로젝터</a:t>
              </a: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7" name="Freeform 11"/>
            <p:cNvSpPr>
              <a:spLocks noChangeAspect="1" noChangeArrowheads="1"/>
            </p:cNvSpPr>
            <p:nvPr/>
          </p:nvSpPr>
          <p:spPr bwMode="auto">
            <a:xfrm>
              <a:off x="3575134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78" name="Group 94"/>
          <p:cNvGrpSpPr/>
          <p:nvPr/>
        </p:nvGrpSpPr>
        <p:grpSpPr>
          <a:xfrm>
            <a:off x="3443304" y="4056865"/>
            <a:ext cx="792000" cy="214533"/>
            <a:chOff x="3766868" y="3941059"/>
            <a:chExt cx="792000" cy="214533"/>
          </a:xfrm>
        </p:grpSpPr>
        <p:sp>
          <p:nvSpPr>
            <p:cNvPr id="79" name="Rounded Rectangle 683"/>
            <p:cNvSpPr/>
            <p:nvPr/>
          </p:nvSpPr>
          <p:spPr>
            <a:xfrm>
              <a:off x="3766868" y="3941059"/>
              <a:ext cx="792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ASUS</a:t>
              </a: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노트북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0" name="Freeform 11"/>
            <p:cNvSpPr>
              <a:spLocks noChangeAspect="1" noChangeArrowheads="1"/>
            </p:cNvSpPr>
            <p:nvPr/>
          </p:nvSpPr>
          <p:spPr bwMode="auto">
            <a:xfrm>
              <a:off x="4408259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110" name="Group 122"/>
          <p:cNvGrpSpPr/>
          <p:nvPr/>
        </p:nvGrpSpPr>
        <p:grpSpPr>
          <a:xfrm>
            <a:off x="1122876" y="2924706"/>
            <a:ext cx="592646" cy="228857"/>
            <a:chOff x="1122876" y="3618561"/>
            <a:chExt cx="504000" cy="228857"/>
          </a:xfrm>
        </p:grpSpPr>
        <p:sp>
          <p:nvSpPr>
            <p:cNvPr id="111" name="Rounded Rectangle 939"/>
            <p:cNvSpPr/>
            <p:nvPr/>
          </p:nvSpPr>
          <p:spPr>
            <a:xfrm>
              <a:off x="1122876" y="3618561"/>
              <a:ext cx="504000" cy="228857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algn="ctr"/>
              <a:r>
                <a:rPr kumimoji="1"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추가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112" name="Picture 157" descr="man-user (1).png"/>
            <p:cNvPicPr>
              <a:picLocks noChangeAspect="1"/>
            </p:cNvPicPr>
            <p:nvPr/>
          </p:nvPicPr>
          <p:blipFill>
            <a:blip r:embed="rId2" cstate="print">
              <a:alphaModFix amt="3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956" y="3684586"/>
              <a:ext cx="109070" cy="109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589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113" name="Rounded Rectangle 939"/>
          <p:cNvSpPr/>
          <p:nvPr/>
        </p:nvSpPr>
        <p:spPr>
          <a:xfrm>
            <a:off x="1122876" y="4060277"/>
            <a:ext cx="612000" cy="228857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r>
              <a:rPr kumimoji="1"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추가</a:t>
            </a:r>
            <a:endParaRPr kumimoji="1" lang="ko-KR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6" name="Triangle 942"/>
          <p:cNvSpPr>
            <a:spLocks noChangeAspect="1"/>
          </p:cNvSpPr>
          <p:nvPr/>
        </p:nvSpPr>
        <p:spPr>
          <a:xfrm flipV="1">
            <a:off x="1622735" y="4148429"/>
            <a:ext cx="91689" cy="5255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33">
              <a:solidFill>
                <a:schemeClr val="tx1"/>
              </a:solidFill>
              <a:latin typeface="+mn-ea"/>
              <a:ea typeface="+mn-ea"/>
              <a:cs typeface="ＭＳ Ｐゴシック" charset="0"/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1817387" y="2952750"/>
            <a:ext cx="3987681" cy="148389"/>
            <a:chOff x="1817387" y="3543300"/>
            <a:chExt cx="3987681" cy="148389"/>
          </a:xfrm>
        </p:grpSpPr>
        <p:sp>
          <p:nvSpPr>
            <p:cNvPr id="44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5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47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8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0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1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3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4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6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7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62" name="그룹 61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114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5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195" name="그룹 194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196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00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01" name="그룹 200"/>
          <p:cNvGrpSpPr/>
          <p:nvPr/>
        </p:nvGrpSpPr>
        <p:grpSpPr>
          <a:xfrm>
            <a:off x="1817387" y="3228975"/>
            <a:ext cx="3987681" cy="148389"/>
            <a:chOff x="1817387" y="3543300"/>
            <a:chExt cx="3987681" cy="148389"/>
          </a:xfrm>
        </p:grpSpPr>
        <p:sp>
          <p:nvSpPr>
            <p:cNvPr id="202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3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04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5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06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7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08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9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10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11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212" name="그룹 211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216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17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213" name="그룹 212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214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15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18" name="그룹 217"/>
          <p:cNvGrpSpPr/>
          <p:nvPr/>
        </p:nvGrpSpPr>
        <p:grpSpPr>
          <a:xfrm>
            <a:off x="1817387" y="3486150"/>
            <a:ext cx="3987681" cy="148389"/>
            <a:chOff x="1817387" y="3543300"/>
            <a:chExt cx="3987681" cy="148389"/>
          </a:xfrm>
        </p:grpSpPr>
        <p:sp>
          <p:nvSpPr>
            <p:cNvPr id="219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0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1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2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3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4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5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6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7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8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229" name="그룹 228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233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34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230" name="그룹 229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231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32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197" name="TextBox 196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반복 설정시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CA6.2.1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51372" y="2924706"/>
            <a:ext cx="4763727" cy="9144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50" name="그룹 149"/>
          <p:cNvGrpSpPr/>
          <p:nvPr/>
        </p:nvGrpSpPr>
        <p:grpSpPr>
          <a:xfrm>
            <a:off x="6372225" y="3023714"/>
            <a:ext cx="47625" cy="677223"/>
            <a:chOff x="6858000" y="2907897"/>
            <a:chExt cx="47625" cy="508807"/>
          </a:xfrm>
        </p:grpSpPr>
        <p:sp>
          <p:nvSpPr>
            <p:cNvPr id="151" name="모서리가 둥근 직사각형 150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52" name="모서리가 둥근 직사각형 151"/>
            <p:cNvSpPr/>
            <p:nvPr/>
          </p:nvSpPr>
          <p:spPr>
            <a:xfrm>
              <a:off x="6858000" y="2997258"/>
              <a:ext cx="47625" cy="21578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55" name="Rounded Rectangle 939"/>
          <p:cNvSpPr/>
          <p:nvPr/>
        </p:nvSpPr>
        <p:spPr>
          <a:xfrm>
            <a:off x="6581114" y="2910916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공유자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6" name="Rounded Rectangle 939"/>
          <p:cNvSpPr/>
          <p:nvPr/>
        </p:nvSpPr>
        <p:spPr>
          <a:xfrm>
            <a:off x="6581114" y="4073626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설비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57" name="직선 연결선[R] 7"/>
          <p:cNvCxnSpPr/>
          <p:nvPr/>
        </p:nvCxnSpPr>
        <p:spPr>
          <a:xfrm>
            <a:off x="1122876" y="4375330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graphicFrame>
        <p:nvGraphicFramePr>
          <p:cNvPr id="15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626112"/>
              </p:ext>
            </p:extLst>
          </p:nvPr>
        </p:nvGraphicFramePr>
        <p:xfrm>
          <a:off x="9290533" y="6203322"/>
          <a:ext cx="2834411" cy="471256"/>
        </p:xfrm>
        <a:graphic>
          <a:graphicData uri="http://schemas.openxmlformats.org/drawingml/2006/table">
            <a:tbl>
              <a:tblPr/>
              <a:tblGrid>
                <a:gridCol w="283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1/23_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수정내역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8000" marR="138580" marT="1800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228600" indent="-228600" defTabSz="914400">
                        <a:lnSpc>
                          <a:spcPct val="100000"/>
                        </a:lnSpc>
                        <a:buFont typeface="+mj-ea"/>
                        <a:buAutoNum type="circleNumDbPlain"/>
                        <a:defRPr sz="1800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반복 일정으로 등록시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해댱 유형 추가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154" name="Rounded Rectangle 939"/>
          <p:cNvSpPr/>
          <p:nvPr/>
        </p:nvSpPr>
        <p:spPr>
          <a:xfrm>
            <a:off x="1123436" y="1861884"/>
            <a:ext cx="695078" cy="273644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r>
              <a:rPr lang="ko-KR" alt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개인 달력 ▼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58" name="Group 24"/>
          <p:cNvGrpSpPr/>
          <p:nvPr/>
        </p:nvGrpSpPr>
        <p:grpSpPr>
          <a:xfrm>
            <a:off x="1894840" y="1861883"/>
            <a:ext cx="900000" cy="273645"/>
            <a:chOff x="1135174" y="2435818"/>
            <a:chExt cx="900000" cy="273645"/>
          </a:xfrm>
        </p:grpSpPr>
        <p:sp>
          <p:nvSpPr>
            <p:cNvPr id="159" name="Rounded Rectangle 939"/>
            <p:cNvSpPr/>
            <p:nvPr/>
          </p:nvSpPr>
          <p:spPr>
            <a:xfrm>
              <a:off x="1135174" y="2435818"/>
              <a:ext cx="900000" cy="273645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latin typeface="+mn-ea"/>
                <a:ea typeface="+mn-ea"/>
              </a:endParaRPr>
            </a:p>
          </p:txBody>
        </p:sp>
        <p:sp>
          <p:nvSpPr>
            <p:cNvPr id="160" name="텍스트 상자 31"/>
            <p:cNvSpPr txBox="1"/>
            <p:nvPr/>
          </p:nvSpPr>
          <p:spPr>
            <a:xfrm>
              <a:off x="1201376" y="2494592"/>
              <a:ext cx="612000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8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달력 선택 </a:t>
              </a:r>
              <a:r>
                <a:rPr lang="ko-KR" altLang="en-US"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▼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18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376463"/>
              </p:ext>
            </p:extLst>
          </p:nvPr>
        </p:nvGraphicFramePr>
        <p:xfrm>
          <a:off x="9286875" y="793264"/>
          <a:ext cx="2838450" cy="1854509"/>
        </p:xfrm>
        <a:graphic>
          <a:graphicData uri="http://schemas.openxmlformats.org/drawingml/2006/table">
            <a:tbl>
              <a:tblPr/>
              <a:tblGrid>
                <a:gridCol w="211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반복 일정이 설정 됐을 경우 기본 일시 정보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input</a:t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박스 대신 반복 일정 정보가 출력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반복 일정 설정 방식은 반복 설정 레이어 참고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99501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1-1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음력으로 반복 일정이 설정됐을 경우 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80357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1-2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반복 일정의 날짜 정보는 다음과 같이 출력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시작 기간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~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종료 기간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+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시작 시간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~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종료 시간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50713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1-3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반복 설정 레이어의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‘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요약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’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항목에서 날짜 기간을 제외한 정보를 출력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그림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1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참고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7823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1-4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클릭시 반복 설정 레이어 출력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삭제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클릭시 일반 일시 정보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input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으로 전환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6" name="직사각형"/>
          <p:cNvSpPr/>
          <p:nvPr/>
        </p:nvSpPr>
        <p:spPr>
          <a:xfrm>
            <a:off x="401099" y="648506"/>
            <a:ext cx="7487538" cy="4828369"/>
          </a:xfrm>
          <a:prstGeom prst="rect">
            <a:avLst/>
          </a:prstGeom>
          <a:solidFill>
            <a:schemeClr val="bg1">
              <a:lumMod val="75000"/>
              <a:alpha val="70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68581" y="2190749"/>
            <a:ext cx="7084743" cy="63388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899" y="402205"/>
            <a:ext cx="2461421" cy="2009488"/>
          </a:xfrm>
          <a:prstGeom prst="rect">
            <a:avLst/>
          </a:prstGeom>
        </p:spPr>
      </p:pic>
      <p:sp>
        <p:nvSpPr>
          <p:cNvPr id="325" name="모서리가 둥근 직사각형 324"/>
          <p:cNvSpPr/>
          <p:nvPr/>
        </p:nvSpPr>
        <p:spPr>
          <a:xfrm>
            <a:off x="6537960" y="1817369"/>
            <a:ext cx="567544" cy="110491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36" name="직선 연결선[R] 7"/>
          <p:cNvCxnSpPr/>
          <p:nvPr/>
        </p:nvCxnSpPr>
        <p:spPr>
          <a:xfrm>
            <a:off x="1122876" y="2184066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59" name="텍스트 상자 31"/>
          <p:cNvSpPr txBox="1"/>
          <p:nvPr/>
        </p:nvSpPr>
        <p:spPr>
          <a:xfrm>
            <a:off x="583051" y="2363632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일시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144601" y="2252092"/>
            <a:ext cx="3339623" cy="481029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음력 ㅣ </a:t>
            </a: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2018-01-22 ~ 2018-01-22 </a:t>
            </a: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ㅣ </a:t>
            </a: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11:00 ~ </a:t>
            </a: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11:30</a:t>
            </a: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매일 반복</a:t>
            </a:r>
            <a:endParaRPr kumimoji="1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grpSp>
        <p:nvGrpSpPr>
          <p:cNvPr id="163" name="그룹 162"/>
          <p:cNvGrpSpPr/>
          <p:nvPr/>
        </p:nvGrpSpPr>
        <p:grpSpPr>
          <a:xfrm>
            <a:off x="1784001" y="2534917"/>
            <a:ext cx="567788" cy="162000"/>
            <a:chOff x="2980341" y="3443602"/>
            <a:chExt cx="567788" cy="162000"/>
          </a:xfrm>
        </p:grpSpPr>
        <p:sp>
          <p:nvSpPr>
            <p:cNvPr id="164" name="Rounded Rectangle 861"/>
            <p:cNvSpPr/>
            <p:nvPr/>
          </p:nvSpPr>
          <p:spPr>
            <a:xfrm>
              <a:off x="2980341" y="3443602"/>
              <a:ext cx="271574" cy="162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수정</a:t>
              </a:r>
              <a:endPara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5" name="Rounded Rectangle 861"/>
            <p:cNvSpPr/>
            <p:nvPr/>
          </p:nvSpPr>
          <p:spPr>
            <a:xfrm>
              <a:off x="3276555" y="3443602"/>
              <a:ext cx="271574" cy="162000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삭제</a:t>
              </a:r>
              <a:endPara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66" name="모서리가 둥근 직사각형 165"/>
          <p:cNvSpPr/>
          <p:nvPr/>
        </p:nvSpPr>
        <p:spPr>
          <a:xfrm>
            <a:off x="1169671" y="2312669"/>
            <a:ext cx="255269" cy="171451"/>
          </a:xfrm>
          <a:prstGeom prst="roundRect">
            <a:avLst>
              <a:gd name="adj" fmla="val 0"/>
            </a:avLst>
          </a:prstGeom>
          <a:noFill/>
          <a:ln>
            <a:solidFill>
              <a:srgbClr val="0000FF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1565911" y="2312669"/>
            <a:ext cx="2918313" cy="171451"/>
          </a:xfrm>
          <a:prstGeom prst="roundRect">
            <a:avLst>
              <a:gd name="adj" fmla="val 0"/>
            </a:avLst>
          </a:prstGeom>
          <a:noFill/>
          <a:ln>
            <a:solidFill>
              <a:srgbClr val="0000FF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1169671" y="2526029"/>
            <a:ext cx="554957" cy="171451"/>
          </a:xfrm>
          <a:prstGeom prst="roundRect">
            <a:avLst>
              <a:gd name="adj" fmla="val 0"/>
            </a:avLst>
          </a:prstGeom>
          <a:noFill/>
          <a:ln>
            <a:solidFill>
              <a:srgbClr val="0000FF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1" name="타원 160"/>
          <p:cNvSpPr>
            <a:spLocks noChangeAspect="1"/>
          </p:cNvSpPr>
          <p:nvPr/>
        </p:nvSpPr>
        <p:spPr>
          <a:xfrm>
            <a:off x="1064676" y="2220686"/>
            <a:ext cx="147651" cy="148760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7" name="타원 176"/>
          <p:cNvSpPr>
            <a:spLocks noChangeAspect="1"/>
          </p:cNvSpPr>
          <p:nvPr/>
        </p:nvSpPr>
        <p:spPr>
          <a:xfrm>
            <a:off x="1525734" y="2220686"/>
            <a:ext cx="147651" cy="148760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1-2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9" name="타원 178"/>
          <p:cNvSpPr>
            <a:spLocks noChangeAspect="1"/>
          </p:cNvSpPr>
          <p:nvPr/>
        </p:nvSpPr>
        <p:spPr>
          <a:xfrm>
            <a:off x="1064676" y="2473400"/>
            <a:ext cx="147651" cy="148760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1-3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0" name="타원 179"/>
          <p:cNvSpPr>
            <a:spLocks noChangeAspect="1"/>
          </p:cNvSpPr>
          <p:nvPr/>
        </p:nvSpPr>
        <p:spPr>
          <a:xfrm>
            <a:off x="2389977" y="2537061"/>
            <a:ext cx="147651" cy="148760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1-4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2" name="타원 181"/>
          <p:cNvSpPr>
            <a:spLocks noChangeAspect="1"/>
          </p:cNvSpPr>
          <p:nvPr/>
        </p:nvSpPr>
        <p:spPr>
          <a:xfrm>
            <a:off x="404897" y="2114783"/>
            <a:ext cx="178657" cy="180000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6" name="꺾인 연결선 5"/>
          <p:cNvCxnSpPr>
            <a:stCxn id="325" idx="2"/>
            <a:endCxn id="176" idx="2"/>
          </p:cNvCxnSpPr>
          <p:nvPr/>
        </p:nvCxnSpPr>
        <p:spPr>
          <a:xfrm rot="5400000">
            <a:off x="3749631" y="-374621"/>
            <a:ext cx="769620" cy="5374582"/>
          </a:xfrm>
          <a:prstGeom prst="bentConnector3">
            <a:avLst>
              <a:gd name="adj1" fmla="val 149010"/>
            </a:avLst>
          </a:prstGeom>
          <a:ln w="3175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Cutout"/>
          <p:cNvGrpSpPr/>
          <p:nvPr/>
        </p:nvGrpSpPr>
        <p:grpSpPr>
          <a:xfrm rot="16200000">
            <a:off x="3935808" y="1535508"/>
            <a:ext cx="310358" cy="789622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73" name="Fill"/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4" name="Border"/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352799" y="3641905"/>
            <a:ext cx="1362075" cy="33954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그외 항목은 동일</a:t>
            </a:r>
          </a:p>
        </p:txBody>
      </p:sp>
    </p:spTree>
    <p:extLst>
      <p:ext uri="{BB962C8B-B14F-4D97-AF65-F5344CB8AC3E}">
        <p14:creationId xmlns:p14="http://schemas.microsoft.com/office/powerpoint/2010/main" val="24050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직사각형"/>
          <p:cNvSpPr/>
          <p:nvPr/>
        </p:nvSpPr>
        <p:spPr>
          <a:xfrm>
            <a:off x="324041" y="3072385"/>
            <a:ext cx="3600570" cy="2175416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ysClr val="windowText" lastClr="000000">
                <a:lumMod val="65000"/>
                <a:lumOff val="35000"/>
              </a:sys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marL="0" marR="0" lvl="0" indent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33" name="텍스트 상자 31"/>
          <p:cNvSpPr txBox="1"/>
          <p:nvPr/>
        </p:nvSpPr>
        <p:spPr>
          <a:xfrm>
            <a:off x="464668" y="3196974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반복설정</a:t>
            </a:r>
            <a:endParaRPr lang="ko-KR" altLang="en-US" sz="1000" b="1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135" name="Rectangle 127"/>
          <p:cNvSpPr/>
          <p:nvPr/>
        </p:nvSpPr>
        <p:spPr>
          <a:xfrm>
            <a:off x="773262" y="3577557"/>
            <a:ext cx="616611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R="0" lvl="0" indent="87313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매일 ▼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cxnSp>
        <p:nvCxnSpPr>
          <p:cNvPr id="139" name="직선 연결선 138"/>
          <p:cNvCxnSpPr/>
          <p:nvPr/>
        </p:nvCxnSpPr>
        <p:spPr>
          <a:xfrm>
            <a:off x="405310" y="3397619"/>
            <a:ext cx="3400002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55371" y="3450592"/>
            <a:ext cx="252239" cy="630942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빈도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범위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7" name="Freeform 11"/>
          <p:cNvSpPr>
            <a:spLocks noChangeAspect="1" noChangeArrowheads="1"/>
          </p:cNvSpPr>
          <p:nvPr/>
        </p:nvSpPr>
        <p:spPr bwMode="auto">
          <a:xfrm>
            <a:off x="3671107" y="3222508"/>
            <a:ext cx="97398" cy="97398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sp>
        <p:nvSpPr>
          <p:cNvPr id="158" name="직사각형"/>
          <p:cNvSpPr/>
          <p:nvPr/>
        </p:nvSpPr>
        <p:spPr>
          <a:xfrm>
            <a:off x="336583" y="577308"/>
            <a:ext cx="3600570" cy="2175416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ysClr val="windowText" lastClr="000000">
                <a:lumMod val="65000"/>
                <a:lumOff val="35000"/>
              </a:sys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marL="0" marR="0" lvl="0" indent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59" name="텍스트 상자 31"/>
          <p:cNvSpPr txBox="1"/>
          <p:nvPr/>
        </p:nvSpPr>
        <p:spPr>
          <a:xfrm>
            <a:off x="477210" y="701897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반복설정</a:t>
            </a:r>
            <a:endParaRPr lang="ko-KR" altLang="en-US" sz="1000" b="1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grpSp>
        <p:nvGrpSpPr>
          <p:cNvPr id="160" name="Group 291"/>
          <p:cNvGrpSpPr/>
          <p:nvPr/>
        </p:nvGrpSpPr>
        <p:grpSpPr>
          <a:xfrm>
            <a:off x="1474821" y="2447111"/>
            <a:ext cx="1143107" cy="187731"/>
            <a:chOff x="519769" y="7004980"/>
            <a:chExt cx="1143107" cy="187731"/>
          </a:xfrm>
        </p:grpSpPr>
        <p:sp>
          <p:nvSpPr>
            <p:cNvPr id="178" name="Rounded Rectangle 292"/>
            <p:cNvSpPr/>
            <p:nvPr/>
          </p:nvSpPr>
          <p:spPr>
            <a:xfrm>
              <a:off x="1122876" y="7004980"/>
              <a:ext cx="540000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취소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9" name="Rounded Rectangle 313"/>
            <p:cNvSpPr/>
            <p:nvPr/>
          </p:nvSpPr>
          <p:spPr>
            <a:xfrm>
              <a:off x="519769" y="7004980"/>
              <a:ext cx="536766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설정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61" name="Rectangle 127"/>
          <p:cNvSpPr/>
          <p:nvPr/>
        </p:nvSpPr>
        <p:spPr>
          <a:xfrm>
            <a:off x="785804" y="1082480"/>
            <a:ext cx="616611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R="0" lvl="0" indent="87313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매일 ▼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7" name="Rectangle 127"/>
          <p:cNvSpPr/>
          <p:nvPr/>
        </p:nvSpPr>
        <p:spPr>
          <a:xfrm>
            <a:off x="775618" y="1571324"/>
            <a:ext cx="759858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36000" tIns="0" rIns="0" bIns="0" rtlCol="0" anchor="ctr"/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오전 </a:t>
            </a:r>
            <a:r>
              <a:rPr kumimoji="0" lang="en-US" altLang="ko-KR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11:00 </a:t>
            </a: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▼</a:t>
            </a:r>
            <a:endParaRPr kumimoji="0" lang="en-US" sz="700" kern="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cxnSp>
        <p:nvCxnSpPr>
          <p:cNvPr id="165" name="직선 연결선 164"/>
          <p:cNvCxnSpPr/>
          <p:nvPr/>
        </p:nvCxnSpPr>
        <p:spPr>
          <a:xfrm>
            <a:off x="417852" y="902542"/>
            <a:ext cx="3400002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467913" y="955515"/>
            <a:ext cx="252239" cy="630942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빈도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범위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67913" y="1806415"/>
            <a:ext cx="252239" cy="313868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요약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70" name="직선 연결선 169"/>
          <p:cNvCxnSpPr/>
          <p:nvPr/>
        </p:nvCxnSpPr>
        <p:spPr>
          <a:xfrm>
            <a:off x="417852" y="1848692"/>
            <a:ext cx="340000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>
            <a:off x="417852" y="2322402"/>
            <a:ext cx="340000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794081" y="1875282"/>
            <a:ext cx="2281641" cy="415498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2018-01-22 ~ 2018-01-22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ㅣ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lang="en-US" altLang="ko-KR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11:00 ~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lang="en-US" altLang="ko-KR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</a:t>
            </a:r>
          </a:p>
          <a:p>
            <a:pPr lvl="0"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매일 반복</a:t>
            </a:r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3" name="Freeform 11"/>
          <p:cNvSpPr>
            <a:spLocks noChangeAspect="1" noChangeArrowheads="1"/>
          </p:cNvSpPr>
          <p:nvPr/>
        </p:nvSpPr>
        <p:spPr bwMode="auto">
          <a:xfrm>
            <a:off x="3683649" y="727431"/>
            <a:ext cx="97398" cy="97398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graphicFrame>
        <p:nvGraphicFramePr>
          <p:cNvPr id="258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109352"/>
              </p:ext>
            </p:extLst>
          </p:nvPr>
        </p:nvGraphicFramePr>
        <p:xfrm>
          <a:off x="9290533" y="786383"/>
          <a:ext cx="2825267" cy="1870456"/>
        </p:xfrm>
        <a:graphic>
          <a:graphicData uri="http://schemas.openxmlformats.org/drawingml/2006/table">
            <a:tbl>
              <a:tblPr/>
              <a:tblGrid>
                <a:gridCol w="17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8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8000" marR="138580" marT="1800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스퀘어 일정 등록 또는 수정화면에서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[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반복설정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] 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버튼 클릭시 출력되는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layer</a:t>
                      </a: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반복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‘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빈도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’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설정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select box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로 클릭시 다음과 같은 항목 출력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: 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매일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/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매주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/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매월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/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매년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753715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기간 맟 시간 설정하는 항목으로 오늘 날짜 및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/>
                      </a:r>
                      <a:b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오늘 시간 기준으로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30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분단위로 출력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3647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4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②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~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③에서 설정된 정보를 기반으로 요약 정보 출력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70890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6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종일 체크시 시간 입력 항목 비활성화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요약정보의 시간 정보는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‘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종일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’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로 출력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283165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7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날짜 기본 세팅 값은 시작일은 오늘 날짜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, 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종료일은 한달 이후 날짜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622139"/>
                  </a:ext>
                </a:extLst>
              </a:tr>
            </a:tbl>
          </a:graphicData>
        </a:graphic>
      </p:graphicFrame>
      <p:sp>
        <p:nvSpPr>
          <p:cNvPr id="259" name="타원 258"/>
          <p:cNvSpPr>
            <a:spLocks noChangeAspect="1"/>
          </p:cNvSpPr>
          <p:nvPr/>
        </p:nvSpPr>
        <p:spPr>
          <a:xfrm>
            <a:off x="247623" y="48887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6" name="TextBox 265"/>
          <p:cNvSpPr txBox="1"/>
          <p:nvPr/>
        </p:nvSpPr>
        <p:spPr>
          <a:xfrm>
            <a:off x="1247775" y="90024"/>
            <a:ext cx="1076183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반복설정 레이어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매일</a:t>
            </a: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0" name="Rectangle 127"/>
          <p:cNvSpPr/>
          <p:nvPr/>
        </p:nvSpPr>
        <p:spPr>
          <a:xfrm>
            <a:off x="1668240" y="1571324"/>
            <a:ext cx="749672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36000" tIns="0" rIns="0" bIns="0" rtlCol="0" anchor="ctr"/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오전 </a:t>
            </a:r>
            <a:r>
              <a:rPr kumimoji="0" lang="en-US" altLang="ko-KR" sz="7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11:30 </a:t>
            </a: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▼</a:t>
            </a:r>
            <a:endParaRPr kumimoji="0" lang="en-US" sz="700" kern="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532483" y="1559997"/>
            <a:ext cx="135221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~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72" name="Group 291"/>
          <p:cNvGrpSpPr/>
          <p:nvPr/>
        </p:nvGrpSpPr>
        <p:grpSpPr>
          <a:xfrm>
            <a:off x="1462071" y="4932692"/>
            <a:ext cx="1143107" cy="187731"/>
            <a:chOff x="519769" y="7004980"/>
            <a:chExt cx="1143107" cy="187731"/>
          </a:xfrm>
        </p:grpSpPr>
        <p:sp>
          <p:nvSpPr>
            <p:cNvPr id="73" name="Rounded Rectangle 292"/>
            <p:cNvSpPr/>
            <p:nvPr/>
          </p:nvSpPr>
          <p:spPr>
            <a:xfrm>
              <a:off x="1122876" y="7004980"/>
              <a:ext cx="540000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취소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4" name="Rounded Rectangle 313"/>
            <p:cNvSpPr/>
            <p:nvPr/>
          </p:nvSpPr>
          <p:spPr>
            <a:xfrm>
              <a:off x="519769" y="7004980"/>
              <a:ext cx="536766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설정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76" name="Rectangle 127"/>
          <p:cNvSpPr/>
          <p:nvPr/>
        </p:nvSpPr>
        <p:spPr>
          <a:xfrm>
            <a:off x="762868" y="4056905"/>
            <a:ext cx="759858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36000" tIns="0" rIns="0" bIns="0" rtlCol="0" anchor="ctr"/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오전 </a:t>
            </a:r>
            <a:r>
              <a:rPr kumimoji="0" lang="en-US" altLang="ko-KR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11:00 </a:t>
            </a: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▼</a:t>
            </a:r>
            <a:endParaRPr kumimoji="0" lang="en-US" sz="700" kern="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55163" y="4291996"/>
            <a:ext cx="252239" cy="313868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요약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2" name="직선 연결선 81"/>
          <p:cNvCxnSpPr/>
          <p:nvPr/>
        </p:nvCxnSpPr>
        <p:spPr>
          <a:xfrm>
            <a:off x="405102" y="4334273"/>
            <a:ext cx="340000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405102" y="4807983"/>
            <a:ext cx="340000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81331" y="4371282"/>
            <a:ext cx="1475331" cy="394660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2018-01-22 ~ 2018-01-22 </a:t>
            </a:r>
            <a:r>
              <a:rPr lang="ko-KR" altLang="en-US" sz="7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ㅣ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종일</a:t>
            </a:r>
            <a:endParaRPr lang="en-US" altLang="ko-KR" sz="700" smtClean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매일 반복</a:t>
            </a:r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87" name="Rectangle 127"/>
          <p:cNvSpPr/>
          <p:nvPr/>
        </p:nvSpPr>
        <p:spPr>
          <a:xfrm>
            <a:off x="1655490" y="4056905"/>
            <a:ext cx="749672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36000" tIns="0" rIns="0" bIns="0" rtlCol="0" anchor="ctr"/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오전 </a:t>
            </a:r>
            <a:r>
              <a:rPr kumimoji="0" lang="en-US" altLang="ko-KR" sz="7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11:30 </a:t>
            </a: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▼</a:t>
            </a:r>
            <a:endParaRPr kumimoji="0" lang="en-US" sz="700" kern="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519733" y="4045578"/>
            <a:ext cx="135221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~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2" name="타원 91"/>
          <p:cNvSpPr>
            <a:spLocks noChangeAspect="1"/>
          </p:cNvSpPr>
          <p:nvPr/>
        </p:nvSpPr>
        <p:spPr>
          <a:xfrm>
            <a:off x="293343" y="132707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" name="타원 92"/>
          <p:cNvSpPr>
            <a:spLocks noChangeAspect="1"/>
          </p:cNvSpPr>
          <p:nvPr/>
        </p:nvSpPr>
        <p:spPr>
          <a:xfrm>
            <a:off x="293343" y="193667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" name="타원 93"/>
          <p:cNvSpPr>
            <a:spLocks noChangeAspect="1"/>
          </p:cNvSpPr>
          <p:nvPr/>
        </p:nvSpPr>
        <p:spPr>
          <a:xfrm>
            <a:off x="1322043" y="99941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825029" y="2103366"/>
            <a:ext cx="196615" cy="171215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4" name="꺾인 연결선 3"/>
          <p:cNvCxnSpPr>
            <a:stCxn id="161" idx="1"/>
            <a:endCxn id="101" idx="1"/>
          </p:cNvCxnSpPr>
          <p:nvPr/>
        </p:nvCxnSpPr>
        <p:spPr>
          <a:xfrm rot="10800000" flipH="1" flipV="1">
            <a:off x="785803" y="1176180"/>
            <a:ext cx="39225" cy="1012793"/>
          </a:xfrm>
          <a:prstGeom prst="bentConnector3">
            <a:avLst>
              <a:gd name="adj1" fmla="val -582792"/>
            </a:avLst>
          </a:prstGeom>
          <a:ln w="3175">
            <a:solidFill>
              <a:srgbClr val="FF0000"/>
            </a:solidFill>
            <a:headEnd type="none" w="med" len="med"/>
            <a:tailEnd type="triangl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/>
          <p:cNvGrpSpPr/>
          <p:nvPr/>
        </p:nvGrpSpPr>
        <p:grpSpPr>
          <a:xfrm>
            <a:off x="2467431" y="1586097"/>
            <a:ext cx="546080" cy="187731"/>
            <a:chOff x="791030" y="1539338"/>
            <a:chExt cx="546080" cy="187731"/>
          </a:xfrm>
        </p:grpSpPr>
        <p:sp>
          <p:nvSpPr>
            <p:cNvPr id="107" name="Rounded Rectangle 265"/>
            <p:cNvSpPr/>
            <p:nvPr/>
          </p:nvSpPr>
          <p:spPr>
            <a:xfrm>
              <a:off x="941110" y="1539338"/>
              <a:ext cx="39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종일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8" name="Rounded Rectangle 238"/>
            <p:cNvSpPr/>
            <p:nvPr/>
          </p:nvSpPr>
          <p:spPr>
            <a:xfrm>
              <a:off x="791030" y="1579812"/>
              <a:ext cx="112049" cy="109096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9525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30000"/>
                </a:lnSpc>
              </a:pP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10" name="Rounded Rectangle 265"/>
          <p:cNvSpPr/>
          <p:nvPr/>
        </p:nvSpPr>
        <p:spPr>
          <a:xfrm>
            <a:off x="2617511" y="4053072"/>
            <a:ext cx="396000" cy="187731"/>
          </a:xfrm>
          <a:prstGeom prst="roundRect">
            <a:avLst>
              <a:gd name="adj" fmla="val 8420"/>
            </a:avLst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defTabSz="57681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종일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5" name="Freeform 317"/>
          <p:cNvSpPr>
            <a:spLocks noChangeAspect="1" noChangeArrowheads="1"/>
          </p:cNvSpPr>
          <p:nvPr/>
        </p:nvSpPr>
        <p:spPr bwMode="auto">
          <a:xfrm>
            <a:off x="2458730" y="4093712"/>
            <a:ext cx="108000" cy="108000"/>
          </a:xfrm>
          <a:custGeom>
            <a:avLst/>
            <a:gdLst>
              <a:gd name="T0" fmla="*/ 523 w 587"/>
              <a:gd name="T1" fmla="*/ 0 h 586"/>
              <a:gd name="T2" fmla="*/ 69 w 587"/>
              <a:gd name="T3" fmla="*/ 0 h 586"/>
              <a:gd name="T4" fmla="*/ 0 w 587"/>
              <a:gd name="T5" fmla="*/ 68 h 586"/>
              <a:gd name="T6" fmla="*/ 0 w 587"/>
              <a:gd name="T7" fmla="*/ 523 h 586"/>
              <a:gd name="T8" fmla="*/ 69 w 587"/>
              <a:gd name="T9" fmla="*/ 585 h 586"/>
              <a:gd name="T10" fmla="*/ 523 w 587"/>
              <a:gd name="T11" fmla="*/ 585 h 586"/>
              <a:gd name="T12" fmla="*/ 586 w 587"/>
              <a:gd name="T13" fmla="*/ 523 h 586"/>
              <a:gd name="T14" fmla="*/ 586 w 587"/>
              <a:gd name="T15" fmla="*/ 68 h 586"/>
              <a:gd name="T16" fmla="*/ 523 w 587"/>
              <a:gd name="T17" fmla="*/ 0 h 586"/>
              <a:gd name="T18" fmla="*/ 231 w 587"/>
              <a:gd name="T19" fmla="*/ 454 h 586"/>
              <a:gd name="T20" fmla="*/ 69 w 587"/>
              <a:gd name="T21" fmla="*/ 292 h 586"/>
              <a:gd name="T22" fmla="*/ 113 w 587"/>
              <a:gd name="T23" fmla="*/ 249 h 586"/>
              <a:gd name="T24" fmla="*/ 231 w 587"/>
              <a:gd name="T25" fmla="*/ 367 h 586"/>
              <a:gd name="T26" fmla="*/ 480 w 587"/>
              <a:gd name="T27" fmla="*/ 118 h 586"/>
              <a:gd name="T28" fmla="*/ 523 w 587"/>
              <a:gd name="T29" fmla="*/ 161 h 586"/>
              <a:gd name="T30" fmla="*/ 231 w 587"/>
              <a:gd name="T31" fmla="*/ 454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87" h="586">
                <a:moveTo>
                  <a:pt x="523" y="0"/>
                </a:moveTo>
                <a:lnTo>
                  <a:pt x="69" y="0"/>
                </a:lnTo>
                <a:cubicBezTo>
                  <a:pt x="32" y="0"/>
                  <a:pt x="0" y="31"/>
                  <a:pt x="0" y="68"/>
                </a:cubicBezTo>
                <a:lnTo>
                  <a:pt x="0" y="523"/>
                </a:lnTo>
                <a:cubicBezTo>
                  <a:pt x="0" y="554"/>
                  <a:pt x="32" y="585"/>
                  <a:pt x="69" y="585"/>
                </a:cubicBezTo>
                <a:lnTo>
                  <a:pt x="523" y="585"/>
                </a:lnTo>
                <a:cubicBezTo>
                  <a:pt x="561" y="585"/>
                  <a:pt x="586" y="554"/>
                  <a:pt x="586" y="523"/>
                </a:cubicBezTo>
                <a:lnTo>
                  <a:pt x="586" y="68"/>
                </a:lnTo>
                <a:cubicBezTo>
                  <a:pt x="586" y="31"/>
                  <a:pt x="561" y="0"/>
                  <a:pt x="523" y="0"/>
                </a:cubicBezTo>
                <a:close/>
                <a:moveTo>
                  <a:pt x="231" y="454"/>
                </a:moveTo>
                <a:lnTo>
                  <a:pt x="69" y="292"/>
                </a:lnTo>
                <a:lnTo>
                  <a:pt x="113" y="249"/>
                </a:lnTo>
                <a:lnTo>
                  <a:pt x="231" y="367"/>
                </a:lnTo>
                <a:lnTo>
                  <a:pt x="480" y="118"/>
                </a:lnTo>
                <a:lnTo>
                  <a:pt x="523" y="161"/>
                </a:lnTo>
                <a:lnTo>
                  <a:pt x="231" y="454"/>
                </a:lnTo>
                <a:close/>
              </a:path>
            </a:pathLst>
          </a:custGeom>
          <a:solidFill>
            <a:sysClr val="window" lastClr="FFFFFF">
              <a:lumMod val="50000"/>
            </a:sys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l" defTabSz="57681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charset="0"/>
              <a:ea typeface="ＭＳ Ｐゴシック" charset="0"/>
            </a:endParaRPr>
          </a:p>
        </p:txBody>
      </p:sp>
      <p:sp>
        <p:nvSpPr>
          <p:cNvPr id="116" name="타원 115"/>
          <p:cNvSpPr>
            <a:spLocks noChangeAspect="1"/>
          </p:cNvSpPr>
          <p:nvPr/>
        </p:nvSpPr>
        <p:spPr>
          <a:xfrm>
            <a:off x="2818184" y="404464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7" name="Rectangle 127"/>
          <p:cNvSpPr/>
          <p:nvPr/>
        </p:nvSpPr>
        <p:spPr>
          <a:xfrm>
            <a:off x="764414" y="4060511"/>
            <a:ext cx="749672" cy="187401"/>
          </a:xfrm>
          <a:prstGeom prst="rect">
            <a:avLst/>
          </a:prstGeom>
          <a:solidFill>
            <a:schemeClr val="bg1">
              <a:lumMod val="85000"/>
              <a:alpha val="82000"/>
            </a:schemeClr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36000" tIns="0" rIns="0" bIns="0" rtlCol="0" anchor="ctr"/>
          <a:lstStyle/>
          <a:p>
            <a:pPr marR="0" lvl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18" name="Rectangle 127"/>
          <p:cNvSpPr/>
          <p:nvPr/>
        </p:nvSpPr>
        <p:spPr>
          <a:xfrm>
            <a:off x="1656751" y="4060511"/>
            <a:ext cx="749672" cy="187401"/>
          </a:xfrm>
          <a:prstGeom prst="rect">
            <a:avLst/>
          </a:prstGeom>
          <a:solidFill>
            <a:schemeClr val="bg1">
              <a:lumMod val="85000"/>
              <a:alpha val="82000"/>
            </a:schemeClr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36000" tIns="0" rIns="0" bIns="0" rtlCol="0" anchor="ctr"/>
          <a:lstStyle/>
          <a:p>
            <a:pPr marR="0" lvl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75618" y="1322139"/>
            <a:ext cx="2089334" cy="206613"/>
            <a:chOff x="775618" y="1322139"/>
            <a:chExt cx="2089334" cy="206613"/>
          </a:xfrm>
        </p:grpSpPr>
        <p:grpSp>
          <p:nvGrpSpPr>
            <p:cNvPr id="3" name="그룹 2"/>
            <p:cNvGrpSpPr/>
            <p:nvPr/>
          </p:nvGrpSpPr>
          <p:grpSpPr>
            <a:xfrm>
              <a:off x="1232844" y="1322139"/>
              <a:ext cx="1632108" cy="206613"/>
              <a:chOff x="785804" y="1322139"/>
              <a:chExt cx="1632108" cy="206613"/>
            </a:xfrm>
          </p:grpSpPr>
          <p:sp>
            <p:nvSpPr>
              <p:cNvPr id="176" name="Rectangle 127"/>
              <p:cNvSpPr/>
              <p:nvPr/>
            </p:nvSpPr>
            <p:spPr>
              <a:xfrm>
                <a:off x="785804" y="1341351"/>
                <a:ext cx="749672" cy="187401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lIns="36000" tIns="0" rIns="0" bIns="0" rtlCol="0" anchor="ctr"/>
              <a:lstStyle/>
              <a:p>
                <a:pPr marR="0" lvl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</a:rPr>
                  <a:t>      2018-01-22 </a:t>
                </a:r>
                <a:endParaRPr kumimoji="0" 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74" name="Rectangle 127"/>
              <p:cNvSpPr/>
              <p:nvPr/>
            </p:nvSpPr>
            <p:spPr>
              <a:xfrm>
                <a:off x="1668240" y="1341351"/>
                <a:ext cx="749672" cy="187401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lIns="36000" tIns="0" rIns="0" bIns="0" rtlCol="0" anchor="ctr"/>
              <a:lstStyle/>
              <a:p>
                <a:pPr marR="0" lvl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</a:rPr>
                  <a:t>       2018-02-22 </a:t>
                </a:r>
                <a:endParaRPr kumimoji="0" 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64" name="TextBox 163"/>
              <p:cNvSpPr txBox="1"/>
              <p:nvPr/>
            </p:nvSpPr>
            <p:spPr>
              <a:xfrm>
                <a:off x="1532483" y="1322139"/>
                <a:ext cx="135221" cy="200055"/>
              </a:xfrm>
              <a:prstGeom prst="rect">
                <a:avLst/>
              </a:prstGeom>
              <a:noFill/>
            </p:spPr>
            <p:txBody>
              <a:bodyPr wrap="none" lIns="36000" rIns="36000" rtlCol="0" anchor="ctr">
                <a:spAutoFit/>
              </a:bodyPr>
              <a:lstStyle/>
              <a:p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~</a:t>
                </a:r>
                <a:endPara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70" name="Freeform 33"/>
              <p:cNvSpPr>
                <a:spLocks noChangeAspect="1" noEditPoints="1"/>
              </p:cNvSpPr>
              <p:nvPr/>
            </p:nvSpPr>
            <p:spPr bwMode="auto">
              <a:xfrm>
                <a:off x="816633" y="1372856"/>
                <a:ext cx="109378" cy="121714"/>
              </a:xfrm>
              <a:custGeom>
                <a:avLst/>
                <a:gdLst>
                  <a:gd name="T0" fmla="*/ 338 w 450"/>
                  <a:gd name="T1" fmla="*/ 252 h 500"/>
                  <a:gd name="T2" fmla="*/ 312 w 450"/>
                  <a:gd name="T3" fmla="*/ 225 h 500"/>
                  <a:gd name="T4" fmla="*/ 190 w 450"/>
                  <a:gd name="T5" fmla="*/ 347 h 500"/>
                  <a:gd name="T6" fmla="*/ 137 w 450"/>
                  <a:gd name="T7" fmla="*/ 294 h 500"/>
                  <a:gd name="T8" fmla="*/ 110 w 450"/>
                  <a:gd name="T9" fmla="*/ 320 h 500"/>
                  <a:gd name="T10" fmla="*/ 190 w 450"/>
                  <a:gd name="T11" fmla="*/ 400 h 500"/>
                  <a:gd name="T12" fmla="*/ 338 w 450"/>
                  <a:gd name="T13" fmla="*/ 252 h 500"/>
                  <a:gd name="T14" fmla="*/ 400 w 450"/>
                  <a:gd name="T15" fmla="*/ 50 h 500"/>
                  <a:gd name="T16" fmla="*/ 375 w 450"/>
                  <a:gd name="T17" fmla="*/ 50 h 500"/>
                  <a:gd name="T18" fmla="*/ 375 w 450"/>
                  <a:gd name="T19" fmla="*/ 0 h 500"/>
                  <a:gd name="T20" fmla="*/ 325 w 450"/>
                  <a:gd name="T21" fmla="*/ 0 h 500"/>
                  <a:gd name="T22" fmla="*/ 325 w 450"/>
                  <a:gd name="T23" fmla="*/ 50 h 500"/>
                  <a:gd name="T24" fmla="*/ 125 w 450"/>
                  <a:gd name="T25" fmla="*/ 50 h 500"/>
                  <a:gd name="T26" fmla="*/ 125 w 450"/>
                  <a:gd name="T27" fmla="*/ 0 h 500"/>
                  <a:gd name="T28" fmla="*/ 75 w 450"/>
                  <a:gd name="T29" fmla="*/ 0 h 500"/>
                  <a:gd name="T30" fmla="*/ 75 w 450"/>
                  <a:gd name="T31" fmla="*/ 50 h 500"/>
                  <a:gd name="T32" fmla="*/ 50 w 450"/>
                  <a:gd name="T33" fmla="*/ 50 h 500"/>
                  <a:gd name="T34" fmla="*/ 0 w 450"/>
                  <a:gd name="T35" fmla="*/ 100 h 500"/>
                  <a:gd name="T36" fmla="*/ 0 w 450"/>
                  <a:gd name="T37" fmla="*/ 450 h 500"/>
                  <a:gd name="T38" fmla="*/ 50 w 450"/>
                  <a:gd name="T39" fmla="*/ 500 h 500"/>
                  <a:gd name="T40" fmla="*/ 400 w 450"/>
                  <a:gd name="T41" fmla="*/ 500 h 500"/>
                  <a:gd name="T42" fmla="*/ 450 w 450"/>
                  <a:gd name="T43" fmla="*/ 450 h 500"/>
                  <a:gd name="T44" fmla="*/ 450 w 450"/>
                  <a:gd name="T45" fmla="*/ 100 h 500"/>
                  <a:gd name="T46" fmla="*/ 400 w 450"/>
                  <a:gd name="T47" fmla="*/ 50 h 500"/>
                  <a:gd name="T48" fmla="*/ 400 w 450"/>
                  <a:gd name="T49" fmla="*/ 450 h 500"/>
                  <a:gd name="T50" fmla="*/ 50 w 450"/>
                  <a:gd name="T51" fmla="*/ 450 h 500"/>
                  <a:gd name="T52" fmla="*/ 50 w 450"/>
                  <a:gd name="T53" fmla="*/ 175 h 500"/>
                  <a:gd name="T54" fmla="*/ 400 w 450"/>
                  <a:gd name="T55" fmla="*/ 175 h 500"/>
                  <a:gd name="T56" fmla="*/ 400 w 450"/>
                  <a:gd name="T57" fmla="*/ 45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0" h="500">
                    <a:moveTo>
                      <a:pt x="338" y="252"/>
                    </a:moveTo>
                    <a:lnTo>
                      <a:pt x="312" y="225"/>
                    </a:lnTo>
                    <a:lnTo>
                      <a:pt x="190" y="347"/>
                    </a:lnTo>
                    <a:lnTo>
                      <a:pt x="137" y="294"/>
                    </a:lnTo>
                    <a:lnTo>
                      <a:pt x="110" y="320"/>
                    </a:lnTo>
                    <a:lnTo>
                      <a:pt x="190" y="400"/>
                    </a:lnTo>
                    <a:lnTo>
                      <a:pt x="338" y="252"/>
                    </a:lnTo>
                    <a:close/>
                    <a:moveTo>
                      <a:pt x="400" y="50"/>
                    </a:moveTo>
                    <a:lnTo>
                      <a:pt x="375" y="50"/>
                    </a:lnTo>
                    <a:lnTo>
                      <a:pt x="375" y="0"/>
                    </a:lnTo>
                    <a:lnTo>
                      <a:pt x="325" y="0"/>
                    </a:lnTo>
                    <a:lnTo>
                      <a:pt x="325" y="50"/>
                    </a:lnTo>
                    <a:lnTo>
                      <a:pt x="125" y="50"/>
                    </a:lnTo>
                    <a:lnTo>
                      <a:pt x="125" y="0"/>
                    </a:lnTo>
                    <a:lnTo>
                      <a:pt x="75" y="0"/>
                    </a:lnTo>
                    <a:lnTo>
                      <a:pt x="75" y="50"/>
                    </a:lnTo>
                    <a:lnTo>
                      <a:pt x="50" y="50"/>
                    </a:lnTo>
                    <a:cubicBezTo>
                      <a:pt x="22" y="50"/>
                      <a:pt x="0" y="73"/>
                      <a:pt x="0" y="100"/>
                    </a:cubicBezTo>
                    <a:lnTo>
                      <a:pt x="0" y="450"/>
                    </a:lnTo>
                    <a:cubicBezTo>
                      <a:pt x="0" y="478"/>
                      <a:pt x="22" y="500"/>
                      <a:pt x="50" y="500"/>
                    </a:cubicBezTo>
                    <a:lnTo>
                      <a:pt x="400" y="500"/>
                    </a:lnTo>
                    <a:cubicBezTo>
                      <a:pt x="428" y="500"/>
                      <a:pt x="450" y="478"/>
                      <a:pt x="450" y="450"/>
                    </a:cubicBezTo>
                    <a:lnTo>
                      <a:pt x="450" y="100"/>
                    </a:lnTo>
                    <a:cubicBezTo>
                      <a:pt x="450" y="73"/>
                      <a:pt x="428" y="50"/>
                      <a:pt x="400" y="50"/>
                    </a:cubicBezTo>
                    <a:close/>
                    <a:moveTo>
                      <a:pt x="400" y="450"/>
                    </a:moveTo>
                    <a:lnTo>
                      <a:pt x="50" y="450"/>
                    </a:lnTo>
                    <a:lnTo>
                      <a:pt x="50" y="175"/>
                    </a:lnTo>
                    <a:lnTo>
                      <a:pt x="400" y="175"/>
                    </a:lnTo>
                    <a:lnTo>
                      <a:pt x="400" y="450"/>
                    </a:lnTo>
                    <a:close/>
                  </a:path>
                </a:pathLst>
              </a:custGeom>
              <a:solidFill>
                <a:sysClr val="windowText" lastClr="000000">
                  <a:lumMod val="65000"/>
                  <a:lumOff val="35000"/>
                </a:sys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3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71" name="Freeform 33"/>
              <p:cNvSpPr>
                <a:spLocks noChangeAspect="1" noEditPoints="1"/>
              </p:cNvSpPr>
              <p:nvPr/>
            </p:nvSpPr>
            <p:spPr bwMode="auto">
              <a:xfrm>
                <a:off x="1707644" y="1372856"/>
                <a:ext cx="109378" cy="121714"/>
              </a:xfrm>
              <a:custGeom>
                <a:avLst/>
                <a:gdLst>
                  <a:gd name="T0" fmla="*/ 338 w 450"/>
                  <a:gd name="T1" fmla="*/ 252 h 500"/>
                  <a:gd name="T2" fmla="*/ 312 w 450"/>
                  <a:gd name="T3" fmla="*/ 225 h 500"/>
                  <a:gd name="T4" fmla="*/ 190 w 450"/>
                  <a:gd name="T5" fmla="*/ 347 h 500"/>
                  <a:gd name="T6" fmla="*/ 137 w 450"/>
                  <a:gd name="T7" fmla="*/ 294 h 500"/>
                  <a:gd name="T8" fmla="*/ 110 w 450"/>
                  <a:gd name="T9" fmla="*/ 320 h 500"/>
                  <a:gd name="T10" fmla="*/ 190 w 450"/>
                  <a:gd name="T11" fmla="*/ 400 h 500"/>
                  <a:gd name="T12" fmla="*/ 338 w 450"/>
                  <a:gd name="T13" fmla="*/ 252 h 500"/>
                  <a:gd name="T14" fmla="*/ 400 w 450"/>
                  <a:gd name="T15" fmla="*/ 50 h 500"/>
                  <a:gd name="T16" fmla="*/ 375 w 450"/>
                  <a:gd name="T17" fmla="*/ 50 h 500"/>
                  <a:gd name="T18" fmla="*/ 375 w 450"/>
                  <a:gd name="T19" fmla="*/ 0 h 500"/>
                  <a:gd name="T20" fmla="*/ 325 w 450"/>
                  <a:gd name="T21" fmla="*/ 0 h 500"/>
                  <a:gd name="T22" fmla="*/ 325 w 450"/>
                  <a:gd name="T23" fmla="*/ 50 h 500"/>
                  <a:gd name="T24" fmla="*/ 125 w 450"/>
                  <a:gd name="T25" fmla="*/ 50 h 500"/>
                  <a:gd name="T26" fmla="*/ 125 w 450"/>
                  <a:gd name="T27" fmla="*/ 0 h 500"/>
                  <a:gd name="T28" fmla="*/ 75 w 450"/>
                  <a:gd name="T29" fmla="*/ 0 h 500"/>
                  <a:gd name="T30" fmla="*/ 75 w 450"/>
                  <a:gd name="T31" fmla="*/ 50 h 500"/>
                  <a:gd name="T32" fmla="*/ 50 w 450"/>
                  <a:gd name="T33" fmla="*/ 50 h 500"/>
                  <a:gd name="T34" fmla="*/ 0 w 450"/>
                  <a:gd name="T35" fmla="*/ 100 h 500"/>
                  <a:gd name="T36" fmla="*/ 0 w 450"/>
                  <a:gd name="T37" fmla="*/ 450 h 500"/>
                  <a:gd name="T38" fmla="*/ 50 w 450"/>
                  <a:gd name="T39" fmla="*/ 500 h 500"/>
                  <a:gd name="T40" fmla="*/ 400 w 450"/>
                  <a:gd name="T41" fmla="*/ 500 h 500"/>
                  <a:gd name="T42" fmla="*/ 450 w 450"/>
                  <a:gd name="T43" fmla="*/ 450 h 500"/>
                  <a:gd name="T44" fmla="*/ 450 w 450"/>
                  <a:gd name="T45" fmla="*/ 100 h 500"/>
                  <a:gd name="T46" fmla="*/ 400 w 450"/>
                  <a:gd name="T47" fmla="*/ 50 h 500"/>
                  <a:gd name="T48" fmla="*/ 400 w 450"/>
                  <a:gd name="T49" fmla="*/ 450 h 500"/>
                  <a:gd name="T50" fmla="*/ 50 w 450"/>
                  <a:gd name="T51" fmla="*/ 450 h 500"/>
                  <a:gd name="T52" fmla="*/ 50 w 450"/>
                  <a:gd name="T53" fmla="*/ 175 h 500"/>
                  <a:gd name="T54" fmla="*/ 400 w 450"/>
                  <a:gd name="T55" fmla="*/ 175 h 500"/>
                  <a:gd name="T56" fmla="*/ 400 w 450"/>
                  <a:gd name="T57" fmla="*/ 45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0" h="500">
                    <a:moveTo>
                      <a:pt x="338" y="252"/>
                    </a:moveTo>
                    <a:lnTo>
                      <a:pt x="312" y="225"/>
                    </a:lnTo>
                    <a:lnTo>
                      <a:pt x="190" y="347"/>
                    </a:lnTo>
                    <a:lnTo>
                      <a:pt x="137" y="294"/>
                    </a:lnTo>
                    <a:lnTo>
                      <a:pt x="110" y="320"/>
                    </a:lnTo>
                    <a:lnTo>
                      <a:pt x="190" y="400"/>
                    </a:lnTo>
                    <a:lnTo>
                      <a:pt x="338" y="252"/>
                    </a:lnTo>
                    <a:close/>
                    <a:moveTo>
                      <a:pt x="400" y="50"/>
                    </a:moveTo>
                    <a:lnTo>
                      <a:pt x="375" y="50"/>
                    </a:lnTo>
                    <a:lnTo>
                      <a:pt x="375" y="0"/>
                    </a:lnTo>
                    <a:lnTo>
                      <a:pt x="325" y="0"/>
                    </a:lnTo>
                    <a:lnTo>
                      <a:pt x="325" y="50"/>
                    </a:lnTo>
                    <a:lnTo>
                      <a:pt x="125" y="50"/>
                    </a:lnTo>
                    <a:lnTo>
                      <a:pt x="125" y="0"/>
                    </a:lnTo>
                    <a:lnTo>
                      <a:pt x="75" y="0"/>
                    </a:lnTo>
                    <a:lnTo>
                      <a:pt x="75" y="50"/>
                    </a:lnTo>
                    <a:lnTo>
                      <a:pt x="50" y="50"/>
                    </a:lnTo>
                    <a:cubicBezTo>
                      <a:pt x="22" y="50"/>
                      <a:pt x="0" y="73"/>
                      <a:pt x="0" y="100"/>
                    </a:cubicBezTo>
                    <a:lnTo>
                      <a:pt x="0" y="450"/>
                    </a:lnTo>
                    <a:cubicBezTo>
                      <a:pt x="0" y="478"/>
                      <a:pt x="22" y="500"/>
                      <a:pt x="50" y="500"/>
                    </a:cubicBezTo>
                    <a:lnTo>
                      <a:pt x="400" y="500"/>
                    </a:lnTo>
                    <a:cubicBezTo>
                      <a:pt x="428" y="500"/>
                      <a:pt x="450" y="478"/>
                      <a:pt x="450" y="450"/>
                    </a:cubicBezTo>
                    <a:lnTo>
                      <a:pt x="450" y="100"/>
                    </a:lnTo>
                    <a:cubicBezTo>
                      <a:pt x="450" y="73"/>
                      <a:pt x="428" y="50"/>
                      <a:pt x="400" y="50"/>
                    </a:cubicBezTo>
                    <a:close/>
                    <a:moveTo>
                      <a:pt x="400" y="450"/>
                    </a:moveTo>
                    <a:lnTo>
                      <a:pt x="50" y="450"/>
                    </a:lnTo>
                    <a:lnTo>
                      <a:pt x="50" y="175"/>
                    </a:lnTo>
                    <a:lnTo>
                      <a:pt x="400" y="175"/>
                    </a:lnTo>
                    <a:lnTo>
                      <a:pt x="400" y="450"/>
                    </a:lnTo>
                    <a:close/>
                  </a:path>
                </a:pathLst>
              </a:custGeom>
              <a:solidFill>
                <a:sysClr val="windowText" lastClr="000000">
                  <a:lumMod val="65000"/>
                  <a:lumOff val="35000"/>
                </a:sys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3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78" name="Rectangle 127"/>
            <p:cNvSpPr/>
            <p:nvPr/>
          </p:nvSpPr>
          <p:spPr>
            <a:xfrm>
              <a:off x="775618" y="1341351"/>
              <a:ext cx="413076" cy="187401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36000" tIns="0" rIns="0" bIns="0" rtlCol="0" anchor="ctr"/>
            <a:lstStyle/>
            <a:p>
              <a:pPr marR="0" lvl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양력 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97" name="그룹 96"/>
          <p:cNvGrpSpPr/>
          <p:nvPr/>
        </p:nvGrpSpPr>
        <p:grpSpPr>
          <a:xfrm>
            <a:off x="775618" y="3808164"/>
            <a:ext cx="2089334" cy="206613"/>
            <a:chOff x="775618" y="1322139"/>
            <a:chExt cx="2089334" cy="206613"/>
          </a:xfrm>
        </p:grpSpPr>
        <p:grpSp>
          <p:nvGrpSpPr>
            <p:cNvPr id="102" name="그룹 101"/>
            <p:cNvGrpSpPr/>
            <p:nvPr/>
          </p:nvGrpSpPr>
          <p:grpSpPr>
            <a:xfrm>
              <a:off x="1232844" y="1322139"/>
              <a:ext cx="1632108" cy="206613"/>
              <a:chOff x="785804" y="1322139"/>
              <a:chExt cx="1632108" cy="206613"/>
            </a:xfrm>
          </p:grpSpPr>
          <p:sp>
            <p:nvSpPr>
              <p:cNvPr id="104" name="Rectangle 127"/>
              <p:cNvSpPr/>
              <p:nvPr/>
            </p:nvSpPr>
            <p:spPr>
              <a:xfrm>
                <a:off x="785804" y="1341351"/>
                <a:ext cx="749672" cy="187401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lIns="36000" tIns="0" rIns="0" bIns="0" rtlCol="0" anchor="ctr"/>
              <a:lstStyle/>
              <a:p>
                <a:pPr marR="0" lvl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</a:rPr>
                  <a:t>      2018-01-22 </a:t>
                </a:r>
                <a:endParaRPr kumimoji="0" 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09" name="Rectangle 127"/>
              <p:cNvSpPr/>
              <p:nvPr/>
            </p:nvSpPr>
            <p:spPr>
              <a:xfrm>
                <a:off x="1668240" y="1341351"/>
                <a:ext cx="749672" cy="187401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lIns="36000" tIns="0" rIns="0" bIns="0" rtlCol="0" anchor="ctr"/>
              <a:lstStyle/>
              <a:p>
                <a:pPr marR="0" lvl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</a:rPr>
                  <a:t>       2018-01-22 </a:t>
                </a:r>
                <a:endParaRPr kumimoji="0" 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1532483" y="1322139"/>
                <a:ext cx="135221" cy="200055"/>
              </a:xfrm>
              <a:prstGeom prst="rect">
                <a:avLst/>
              </a:prstGeom>
              <a:noFill/>
            </p:spPr>
            <p:txBody>
              <a:bodyPr wrap="none" lIns="36000" rIns="36000" rtlCol="0" anchor="ctr">
                <a:spAutoFit/>
              </a:bodyPr>
              <a:lstStyle/>
              <a:p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~</a:t>
                </a:r>
                <a:endPara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2" name="Freeform 33"/>
              <p:cNvSpPr>
                <a:spLocks noChangeAspect="1" noEditPoints="1"/>
              </p:cNvSpPr>
              <p:nvPr/>
            </p:nvSpPr>
            <p:spPr bwMode="auto">
              <a:xfrm>
                <a:off x="816633" y="1372856"/>
                <a:ext cx="109378" cy="121714"/>
              </a:xfrm>
              <a:custGeom>
                <a:avLst/>
                <a:gdLst>
                  <a:gd name="T0" fmla="*/ 338 w 450"/>
                  <a:gd name="T1" fmla="*/ 252 h 500"/>
                  <a:gd name="T2" fmla="*/ 312 w 450"/>
                  <a:gd name="T3" fmla="*/ 225 h 500"/>
                  <a:gd name="T4" fmla="*/ 190 w 450"/>
                  <a:gd name="T5" fmla="*/ 347 h 500"/>
                  <a:gd name="T6" fmla="*/ 137 w 450"/>
                  <a:gd name="T7" fmla="*/ 294 h 500"/>
                  <a:gd name="T8" fmla="*/ 110 w 450"/>
                  <a:gd name="T9" fmla="*/ 320 h 500"/>
                  <a:gd name="T10" fmla="*/ 190 w 450"/>
                  <a:gd name="T11" fmla="*/ 400 h 500"/>
                  <a:gd name="T12" fmla="*/ 338 w 450"/>
                  <a:gd name="T13" fmla="*/ 252 h 500"/>
                  <a:gd name="T14" fmla="*/ 400 w 450"/>
                  <a:gd name="T15" fmla="*/ 50 h 500"/>
                  <a:gd name="T16" fmla="*/ 375 w 450"/>
                  <a:gd name="T17" fmla="*/ 50 h 500"/>
                  <a:gd name="T18" fmla="*/ 375 w 450"/>
                  <a:gd name="T19" fmla="*/ 0 h 500"/>
                  <a:gd name="T20" fmla="*/ 325 w 450"/>
                  <a:gd name="T21" fmla="*/ 0 h 500"/>
                  <a:gd name="T22" fmla="*/ 325 w 450"/>
                  <a:gd name="T23" fmla="*/ 50 h 500"/>
                  <a:gd name="T24" fmla="*/ 125 w 450"/>
                  <a:gd name="T25" fmla="*/ 50 h 500"/>
                  <a:gd name="T26" fmla="*/ 125 w 450"/>
                  <a:gd name="T27" fmla="*/ 0 h 500"/>
                  <a:gd name="T28" fmla="*/ 75 w 450"/>
                  <a:gd name="T29" fmla="*/ 0 h 500"/>
                  <a:gd name="T30" fmla="*/ 75 w 450"/>
                  <a:gd name="T31" fmla="*/ 50 h 500"/>
                  <a:gd name="T32" fmla="*/ 50 w 450"/>
                  <a:gd name="T33" fmla="*/ 50 h 500"/>
                  <a:gd name="T34" fmla="*/ 0 w 450"/>
                  <a:gd name="T35" fmla="*/ 100 h 500"/>
                  <a:gd name="T36" fmla="*/ 0 w 450"/>
                  <a:gd name="T37" fmla="*/ 450 h 500"/>
                  <a:gd name="T38" fmla="*/ 50 w 450"/>
                  <a:gd name="T39" fmla="*/ 500 h 500"/>
                  <a:gd name="T40" fmla="*/ 400 w 450"/>
                  <a:gd name="T41" fmla="*/ 500 h 500"/>
                  <a:gd name="T42" fmla="*/ 450 w 450"/>
                  <a:gd name="T43" fmla="*/ 450 h 500"/>
                  <a:gd name="T44" fmla="*/ 450 w 450"/>
                  <a:gd name="T45" fmla="*/ 100 h 500"/>
                  <a:gd name="T46" fmla="*/ 400 w 450"/>
                  <a:gd name="T47" fmla="*/ 50 h 500"/>
                  <a:gd name="T48" fmla="*/ 400 w 450"/>
                  <a:gd name="T49" fmla="*/ 450 h 500"/>
                  <a:gd name="T50" fmla="*/ 50 w 450"/>
                  <a:gd name="T51" fmla="*/ 450 h 500"/>
                  <a:gd name="T52" fmla="*/ 50 w 450"/>
                  <a:gd name="T53" fmla="*/ 175 h 500"/>
                  <a:gd name="T54" fmla="*/ 400 w 450"/>
                  <a:gd name="T55" fmla="*/ 175 h 500"/>
                  <a:gd name="T56" fmla="*/ 400 w 450"/>
                  <a:gd name="T57" fmla="*/ 45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0" h="500">
                    <a:moveTo>
                      <a:pt x="338" y="252"/>
                    </a:moveTo>
                    <a:lnTo>
                      <a:pt x="312" y="225"/>
                    </a:lnTo>
                    <a:lnTo>
                      <a:pt x="190" y="347"/>
                    </a:lnTo>
                    <a:lnTo>
                      <a:pt x="137" y="294"/>
                    </a:lnTo>
                    <a:lnTo>
                      <a:pt x="110" y="320"/>
                    </a:lnTo>
                    <a:lnTo>
                      <a:pt x="190" y="400"/>
                    </a:lnTo>
                    <a:lnTo>
                      <a:pt x="338" y="252"/>
                    </a:lnTo>
                    <a:close/>
                    <a:moveTo>
                      <a:pt x="400" y="50"/>
                    </a:moveTo>
                    <a:lnTo>
                      <a:pt x="375" y="50"/>
                    </a:lnTo>
                    <a:lnTo>
                      <a:pt x="375" y="0"/>
                    </a:lnTo>
                    <a:lnTo>
                      <a:pt x="325" y="0"/>
                    </a:lnTo>
                    <a:lnTo>
                      <a:pt x="325" y="50"/>
                    </a:lnTo>
                    <a:lnTo>
                      <a:pt x="125" y="50"/>
                    </a:lnTo>
                    <a:lnTo>
                      <a:pt x="125" y="0"/>
                    </a:lnTo>
                    <a:lnTo>
                      <a:pt x="75" y="0"/>
                    </a:lnTo>
                    <a:lnTo>
                      <a:pt x="75" y="50"/>
                    </a:lnTo>
                    <a:lnTo>
                      <a:pt x="50" y="50"/>
                    </a:lnTo>
                    <a:cubicBezTo>
                      <a:pt x="22" y="50"/>
                      <a:pt x="0" y="73"/>
                      <a:pt x="0" y="100"/>
                    </a:cubicBezTo>
                    <a:lnTo>
                      <a:pt x="0" y="450"/>
                    </a:lnTo>
                    <a:cubicBezTo>
                      <a:pt x="0" y="478"/>
                      <a:pt x="22" y="500"/>
                      <a:pt x="50" y="500"/>
                    </a:cubicBezTo>
                    <a:lnTo>
                      <a:pt x="400" y="500"/>
                    </a:lnTo>
                    <a:cubicBezTo>
                      <a:pt x="428" y="500"/>
                      <a:pt x="450" y="478"/>
                      <a:pt x="450" y="450"/>
                    </a:cubicBezTo>
                    <a:lnTo>
                      <a:pt x="450" y="100"/>
                    </a:lnTo>
                    <a:cubicBezTo>
                      <a:pt x="450" y="73"/>
                      <a:pt x="428" y="50"/>
                      <a:pt x="400" y="50"/>
                    </a:cubicBezTo>
                    <a:close/>
                    <a:moveTo>
                      <a:pt x="400" y="450"/>
                    </a:moveTo>
                    <a:lnTo>
                      <a:pt x="50" y="450"/>
                    </a:lnTo>
                    <a:lnTo>
                      <a:pt x="50" y="175"/>
                    </a:lnTo>
                    <a:lnTo>
                      <a:pt x="400" y="175"/>
                    </a:lnTo>
                    <a:lnTo>
                      <a:pt x="400" y="450"/>
                    </a:lnTo>
                    <a:close/>
                  </a:path>
                </a:pathLst>
              </a:custGeom>
              <a:solidFill>
                <a:sysClr val="windowText" lastClr="000000">
                  <a:lumMod val="65000"/>
                  <a:lumOff val="35000"/>
                </a:sys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3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3" name="Freeform 33"/>
              <p:cNvSpPr>
                <a:spLocks noChangeAspect="1" noEditPoints="1"/>
              </p:cNvSpPr>
              <p:nvPr/>
            </p:nvSpPr>
            <p:spPr bwMode="auto">
              <a:xfrm>
                <a:off x="1707644" y="1372856"/>
                <a:ext cx="109378" cy="121714"/>
              </a:xfrm>
              <a:custGeom>
                <a:avLst/>
                <a:gdLst>
                  <a:gd name="T0" fmla="*/ 338 w 450"/>
                  <a:gd name="T1" fmla="*/ 252 h 500"/>
                  <a:gd name="T2" fmla="*/ 312 w 450"/>
                  <a:gd name="T3" fmla="*/ 225 h 500"/>
                  <a:gd name="T4" fmla="*/ 190 w 450"/>
                  <a:gd name="T5" fmla="*/ 347 h 500"/>
                  <a:gd name="T6" fmla="*/ 137 w 450"/>
                  <a:gd name="T7" fmla="*/ 294 h 500"/>
                  <a:gd name="T8" fmla="*/ 110 w 450"/>
                  <a:gd name="T9" fmla="*/ 320 h 500"/>
                  <a:gd name="T10" fmla="*/ 190 w 450"/>
                  <a:gd name="T11" fmla="*/ 400 h 500"/>
                  <a:gd name="T12" fmla="*/ 338 w 450"/>
                  <a:gd name="T13" fmla="*/ 252 h 500"/>
                  <a:gd name="T14" fmla="*/ 400 w 450"/>
                  <a:gd name="T15" fmla="*/ 50 h 500"/>
                  <a:gd name="T16" fmla="*/ 375 w 450"/>
                  <a:gd name="T17" fmla="*/ 50 h 500"/>
                  <a:gd name="T18" fmla="*/ 375 w 450"/>
                  <a:gd name="T19" fmla="*/ 0 h 500"/>
                  <a:gd name="T20" fmla="*/ 325 w 450"/>
                  <a:gd name="T21" fmla="*/ 0 h 500"/>
                  <a:gd name="T22" fmla="*/ 325 w 450"/>
                  <a:gd name="T23" fmla="*/ 50 h 500"/>
                  <a:gd name="T24" fmla="*/ 125 w 450"/>
                  <a:gd name="T25" fmla="*/ 50 h 500"/>
                  <a:gd name="T26" fmla="*/ 125 w 450"/>
                  <a:gd name="T27" fmla="*/ 0 h 500"/>
                  <a:gd name="T28" fmla="*/ 75 w 450"/>
                  <a:gd name="T29" fmla="*/ 0 h 500"/>
                  <a:gd name="T30" fmla="*/ 75 w 450"/>
                  <a:gd name="T31" fmla="*/ 50 h 500"/>
                  <a:gd name="T32" fmla="*/ 50 w 450"/>
                  <a:gd name="T33" fmla="*/ 50 h 500"/>
                  <a:gd name="T34" fmla="*/ 0 w 450"/>
                  <a:gd name="T35" fmla="*/ 100 h 500"/>
                  <a:gd name="T36" fmla="*/ 0 w 450"/>
                  <a:gd name="T37" fmla="*/ 450 h 500"/>
                  <a:gd name="T38" fmla="*/ 50 w 450"/>
                  <a:gd name="T39" fmla="*/ 500 h 500"/>
                  <a:gd name="T40" fmla="*/ 400 w 450"/>
                  <a:gd name="T41" fmla="*/ 500 h 500"/>
                  <a:gd name="T42" fmla="*/ 450 w 450"/>
                  <a:gd name="T43" fmla="*/ 450 h 500"/>
                  <a:gd name="T44" fmla="*/ 450 w 450"/>
                  <a:gd name="T45" fmla="*/ 100 h 500"/>
                  <a:gd name="T46" fmla="*/ 400 w 450"/>
                  <a:gd name="T47" fmla="*/ 50 h 500"/>
                  <a:gd name="T48" fmla="*/ 400 w 450"/>
                  <a:gd name="T49" fmla="*/ 450 h 500"/>
                  <a:gd name="T50" fmla="*/ 50 w 450"/>
                  <a:gd name="T51" fmla="*/ 450 h 500"/>
                  <a:gd name="T52" fmla="*/ 50 w 450"/>
                  <a:gd name="T53" fmla="*/ 175 h 500"/>
                  <a:gd name="T54" fmla="*/ 400 w 450"/>
                  <a:gd name="T55" fmla="*/ 175 h 500"/>
                  <a:gd name="T56" fmla="*/ 400 w 450"/>
                  <a:gd name="T57" fmla="*/ 45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0" h="500">
                    <a:moveTo>
                      <a:pt x="338" y="252"/>
                    </a:moveTo>
                    <a:lnTo>
                      <a:pt x="312" y="225"/>
                    </a:lnTo>
                    <a:lnTo>
                      <a:pt x="190" y="347"/>
                    </a:lnTo>
                    <a:lnTo>
                      <a:pt x="137" y="294"/>
                    </a:lnTo>
                    <a:lnTo>
                      <a:pt x="110" y="320"/>
                    </a:lnTo>
                    <a:lnTo>
                      <a:pt x="190" y="400"/>
                    </a:lnTo>
                    <a:lnTo>
                      <a:pt x="338" y="252"/>
                    </a:lnTo>
                    <a:close/>
                    <a:moveTo>
                      <a:pt x="400" y="50"/>
                    </a:moveTo>
                    <a:lnTo>
                      <a:pt x="375" y="50"/>
                    </a:lnTo>
                    <a:lnTo>
                      <a:pt x="375" y="0"/>
                    </a:lnTo>
                    <a:lnTo>
                      <a:pt x="325" y="0"/>
                    </a:lnTo>
                    <a:lnTo>
                      <a:pt x="325" y="50"/>
                    </a:lnTo>
                    <a:lnTo>
                      <a:pt x="125" y="50"/>
                    </a:lnTo>
                    <a:lnTo>
                      <a:pt x="125" y="0"/>
                    </a:lnTo>
                    <a:lnTo>
                      <a:pt x="75" y="0"/>
                    </a:lnTo>
                    <a:lnTo>
                      <a:pt x="75" y="50"/>
                    </a:lnTo>
                    <a:lnTo>
                      <a:pt x="50" y="50"/>
                    </a:lnTo>
                    <a:cubicBezTo>
                      <a:pt x="22" y="50"/>
                      <a:pt x="0" y="73"/>
                      <a:pt x="0" y="100"/>
                    </a:cubicBezTo>
                    <a:lnTo>
                      <a:pt x="0" y="450"/>
                    </a:lnTo>
                    <a:cubicBezTo>
                      <a:pt x="0" y="478"/>
                      <a:pt x="22" y="500"/>
                      <a:pt x="50" y="500"/>
                    </a:cubicBezTo>
                    <a:lnTo>
                      <a:pt x="400" y="500"/>
                    </a:lnTo>
                    <a:cubicBezTo>
                      <a:pt x="428" y="500"/>
                      <a:pt x="450" y="478"/>
                      <a:pt x="450" y="450"/>
                    </a:cubicBezTo>
                    <a:lnTo>
                      <a:pt x="450" y="100"/>
                    </a:lnTo>
                    <a:cubicBezTo>
                      <a:pt x="450" y="73"/>
                      <a:pt x="428" y="50"/>
                      <a:pt x="400" y="50"/>
                    </a:cubicBezTo>
                    <a:close/>
                    <a:moveTo>
                      <a:pt x="400" y="450"/>
                    </a:moveTo>
                    <a:lnTo>
                      <a:pt x="50" y="450"/>
                    </a:lnTo>
                    <a:lnTo>
                      <a:pt x="50" y="175"/>
                    </a:lnTo>
                    <a:lnTo>
                      <a:pt x="400" y="175"/>
                    </a:lnTo>
                    <a:lnTo>
                      <a:pt x="400" y="450"/>
                    </a:lnTo>
                    <a:close/>
                  </a:path>
                </a:pathLst>
              </a:custGeom>
              <a:solidFill>
                <a:sysClr val="windowText" lastClr="000000">
                  <a:lumMod val="65000"/>
                  <a:lumOff val="35000"/>
                </a:sys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3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03" name="Rectangle 127"/>
            <p:cNvSpPr/>
            <p:nvPr/>
          </p:nvSpPr>
          <p:spPr>
            <a:xfrm>
              <a:off x="775618" y="1341351"/>
              <a:ext cx="413076" cy="187401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36000" tIns="0" rIns="0" bIns="0" rtlCol="0" anchor="ctr"/>
            <a:lstStyle/>
            <a:p>
              <a:pPr marR="0" lvl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양력 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19" name="모서리가 둥근 직사각형 118"/>
          <p:cNvSpPr/>
          <p:nvPr/>
        </p:nvSpPr>
        <p:spPr>
          <a:xfrm>
            <a:off x="825029" y="1903341"/>
            <a:ext cx="1066473" cy="171215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0" name="모서리가 둥근 직사각형 119"/>
          <p:cNvSpPr/>
          <p:nvPr/>
        </p:nvSpPr>
        <p:spPr>
          <a:xfrm>
            <a:off x="2017232" y="1903341"/>
            <a:ext cx="1066473" cy="171215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2016876" y="4408904"/>
            <a:ext cx="196615" cy="171215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6" name="꺾인 연결선 15"/>
          <p:cNvCxnSpPr/>
          <p:nvPr/>
        </p:nvCxnSpPr>
        <p:spPr>
          <a:xfrm rot="5400000">
            <a:off x="2225817" y="4192350"/>
            <a:ext cx="289836" cy="298858"/>
          </a:xfrm>
          <a:prstGeom prst="bentConnector2">
            <a:avLst/>
          </a:prstGeom>
          <a:ln w="3175">
            <a:solidFill>
              <a:srgbClr val="FF0000"/>
            </a:solidFill>
            <a:headEnd type="none" w="med" len="med"/>
            <a:tailEnd type="triangl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CA6.2.1.1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420791" y="90024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</a:p>
        </p:txBody>
      </p:sp>
      <p:graphicFrame>
        <p:nvGraphicFramePr>
          <p:cNvPr id="7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222563"/>
              </p:ext>
            </p:extLst>
          </p:nvPr>
        </p:nvGraphicFramePr>
        <p:xfrm>
          <a:off x="9290533" y="6203322"/>
          <a:ext cx="2834411" cy="471256"/>
        </p:xfrm>
        <a:graphic>
          <a:graphicData uri="http://schemas.openxmlformats.org/drawingml/2006/table">
            <a:tbl>
              <a:tblPr/>
              <a:tblGrid>
                <a:gridCol w="283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1/23_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수정내역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8000" marR="138580" marT="1800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228600" indent="-228600" defTabSz="914400">
                        <a:lnSpc>
                          <a:spcPct val="100000"/>
                        </a:lnSpc>
                        <a:buFont typeface="+mj-ea"/>
                        <a:buAutoNum type="circleNumDbPlain"/>
                        <a:defRPr sz="1800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반복 설정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_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매일 화면 수정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80" name="타원 79"/>
          <p:cNvSpPr>
            <a:spLocks noChangeAspect="1"/>
          </p:cNvSpPr>
          <p:nvPr/>
        </p:nvSpPr>
        <p:spPr>
          <a:xfrm>
            <a:off x="2809848" y="1260401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33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Box 265"/>
          <p:cNvSpPr txBox="1"/>
          <p:nvPr/>
        </p:nvSpPr>
        <p:spPr>
          <a:xfrm>
            <a:off x="1247775" y="90024"/>
            <a:ext cx="1566702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반복설정 레이어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매주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매월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매년</a:t>
            </a: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8" name="직사각형"/>
          <p:cNvSpPr/>
          <p:nvPr/>
        </p:nvSpPr>
        <p:spPr>
          <a:xfrm>
            <a:off x="336583" y="577308"/>
            <a:ext cx="3600570" cy="2920272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ysClr val="windowText" lastClr="000000">
                <a:lumMod val="65000"/>
                <a:lumOff val="35000"/>
              </a:sys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marL="0" marR="0" lvl="0" indent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59" name="텍스트 상자 31"/>
          <p:cNvSpPr txBox="1"/>
          <p:nvPr/>
        </p:nvSpPr>
        <p:spPr>
          <a:xfrm>
            <a:off x="477210" y="701897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반복설정</a:t>
            </a:r>
            <a:endParaRPr lang="ko-KR" altLang="en-US" sz="1000" b="1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grpSp>
        <p:nvGrpSpPr>
          <p:cNvPr id="160" name="Group 291"/>
          <p:cNvGrpSpPr/>
          <p:nvPr/>
        </p:nvGrpSpPr>
        <p:grpSpPr>
          <a:xfrm>
            <a:off x="1474821" y="3031946"/>
            <a:ext cx="1143107" cy="187731"/>
            <a:chOff x="519769" y="7004980"/>
            <a:chExt cx="1143107" cy="187731"/>
          </a:xfrm>
        </p:grpSpPr>
        <p:sp>
          <p:nvSpPr>
            <p:cNvPr id="178" name="Rounded Rectangle 292"/>
            <p:cNvSpPr/>
            <p:nvPr/>
          </p:nvSpPr>
          <p:spPr>
            <a:xfrm>
              <a:off x="1122876" y="7004980"/>
              <a:ext cx="540000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취소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9" name="Rounded Rectangle 313"/>
            <p:cNvSpPr/>
            <p:nvPr/>
          </p:nvSpPr>
          <p:spPr>
            <a:xfrm>
              <a:off x="519769" y="7004980"/>
              <a:ext cx="536766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설정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61" name="Rectangle 127"/>
          <p:cNvSpPr/>
          <p:nvPr/>
        </p:nvSpPr>
        <p:spPr>
          <a:xfrm>
            <a:off x="785804" y="1082480"/>
            <a:ext cx="616611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R="0" lvl="0" indent="87313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매주 ▼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cxnSp>
        <p:nvCxnSpPr>
          <p:cNvPr id="165" name="직선 연결선 164"/>
          <p:cNvCxnSpPr/>
          <p:nvPr/>
        </p:nvCxnSpPr>
        <p:spPr>
          <a:xfrm>
            <a:off x="417852" y="902542"/>
            <a:ext cx="3400002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467913" y="955515"/>
            <a:ext cx="252239" cy="630942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빈도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주기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67913" y="2391250"/>
            <a:ext cx="252239" cy="313868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요약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70" name="직선 연결선 169"/>
          <p:cNvCxnSpPr/>
          <p:nvPr/>
        </p:nvCxnSpPr>
        <p:spPr>
          <a:xfrm>
            <a:off x="417852" y="2433527"/>
            <a:ext cx="340000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/>
          <p:cNvCxnSpPr/>
          <p:nvPr/>
        </p:nvCxnSpPr>
        <p:spPr>
          <a:xfrm>
            <a:off x="417852" y="2907237"/>
            <a:ext cx="340000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794081" y="2460117"/>
            <a:ext cx="2281641" cy="415498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2018-01-22 ~ 2018-01-22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ㅣ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lang="en-US" altLang="ko-KR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11:00 ~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lang="en-US" altLang="ko-KR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</a:t>
            </a:r>
          </a:p>
          <a:p>
            <a:pPr lvl="0">
              <a:lnSpc>
                <a:spcPct val="150000"/>
              </a:lnSpc>
            </a:pPr>
            <a:r>
              <a:rPr lang="en-US" altLang="ko-KR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마다 </a:t>
            </a:r>
            <a:r>
              <a:rPr lang="ko-KR" altLang="en-US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일요일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반복</a:t>
            </a:r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73" name="Freeform 11"/>
          <p:cNvSpPr>
            <a:spLocks noChangeAspect="1" noChangeArrowheads="1"/>
          </p:cNvSpPr>
          <p:nvPr/>
        </p:nvSpPr>
        <p:spPr bwMode="auto">
          <a:xfrm>
            <a:off x="3683649" y="727431"/>
            <a:ext cx="97398" cy="97398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sp>
        <p:nvSpPr>
          <p:cNvPr id="177" name="Rectangle 127"/>
          <p:cNvSpPr/>
          <p:nvPr/>
        </p:nvSpPr>
        <p:spPr>
          <a:xfrm>
            <a:off x="775618" y="2118059"/>
            <a:ext cx="759858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36000" tIns="0" rIns="0" bIns="0" rtlCol="0" anchor="ctr"/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오전 </a:t>
            </a:r>
            <a:r>
              <a:rPr kumimoji="0" lang="en-US" altLang="ko-KR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11:00 </a:t>
            </a: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▼</a:t>
            </a:r>
            <a:endParaRPr kumimoji="0" lang="en-US" sz="700" kern="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70" name="Rectangle 127"/>
          <p:cNvSpPr/>
          <p:nvPr/>
        </p:nvSpPr>
        <p:spPr>
          <a:xfrm>
            <a:off x="1668240" y="2118059"/>
            <a:ext cx="749672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36000" tIns="0" rIns="0" bIns="0" rtlCol="0" anchor="ctr"/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오전 </a:t>
            </a:r>
            <a:r>
              <a:rPr kumimoji="0" lang="en-US" altLang="ko-KR" sz="7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11:30 </a:t>
            </a: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▼</a:t>
            </a:r>
            <a:endParaRPr kumimoji="0" lang="en-US" sz="700" kern="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532483" y="2106732"/>
            <a:ext cx="135221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~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7" name="Rectangle 127"/>
          <p:cNvSpPr/>
          <p:nvPr/>
        </p:nvSpPr>
        <p:spPr>
          <a:xfrm>
            <a:off x="785804" y="1349181"/>
            <a:ext cx="616611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R="0" lvl="0" indent="87313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1</a:t>
            </a:r>
            <a:r>
              <a:rPr kumimoji="0" lang="ko-KR" altLang="en-US" sz="7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주 ▼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8" name="Rounded Rectangle 200"/>
          <p:cNvSpPr/>
          <p:nvPr/>
        </p:nvSpPr>
        <p:spPr>
          <a:xfrm>
            <a:off x="946596" y="1585886"/>
            <a:ext cx="108000" cy="187731"/>
          </a:xfrm>
          <a:prstGeom prst="roundRect">
            <a:avLst>
              <a:gd name="adj" fmla="val 8420"/>
            </a:avLst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defTabSz="57681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일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9" name="Rounded Rectangle 201"/>
          <p:cNvSpPr/>
          <p:nvPr/>
        </p:nvSpPr>
        <p:spPr>
          <a:xfrm>
            <a:off x="796763" y="1621475"/>
            <a:ext cx="108000" cy="108000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12700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0" name="Rounded Rectangle 202"/>
          <p:cNvSpPr/>
          <p:nvPr/>
        </p:nvSpPr>
        <p:spPr>
          <a:xfrm>
            <a:off x="1255030" y="1585886"/>
            <a:ext cx="108000" cy="187731"/>
          </a:xfrm>
          <a:prstGeom prst="roundRect">
            <a:avLst>
              <a:gd name="adj" fmla="val 8420"/>
            </a:avLst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defTabSz="57681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월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1" name="Rounded Rectangle 203"/>
          <p:cNvSpPr/>
          <p:nvPr/>
        </p:nvSpPr>
        <p:spPr>
          <a:xfrm>
            <a:off x="1105197" y="1621475"/>
            <a:ext cx="108000" cy="108000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12700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2" name="Rounded Rectangle 204"/>
          <p:cNvSpPr/>
          <p:nvPr/>
        </p:nvSpPr>
        <p:spPr>
          <a:xfrm>
            <a:off x="1563464" y="1585886"/>
            <a:ext cx="108000" cy="187731"/>
          </a:xfrm>
          <a:prstGeom prst="roundRect">
            <a:avLst>
              <a:gd name="adj" fmla="val 8420"/>
            </a:avLst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defTabSz="57681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화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3" name="Rounded Rectangle 205"/>
          <p:cNvSpPr/>
          <p:nvPr/>
        </p:nvSpPr>
        <p:spPr>
          <a:xfrm>
            <a:off x="1413631" y="1621475"/>
            <a:ext cx="108000" cy="108000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12700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4" name="Rounded Rectangle 206"/>
          <p:cNvSpPr/>
          <p:nvPr/>
        </p:nvSpPr>
        <p:spPr>
          <a:xfrm>
            <a:off x="1871898" y="1585886"/>
            <a:ext cx="108000" cy="187731"/>
          </a:xfrm>
          <a:prstGeom prst="roundRect">
            <a:avLst>
              <a:gd name="adj" fmla="val 8420"/>
            </a:avLst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defTabSz="57681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수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5" name="Rounded Rectangle 207"/>
          <p:cNvSpPr/>
          <p:nvPr/>
        </p:nvSpPr>
        <p:spPr>
          <a:xfrm>
            <a:off x="1722065" y="1621475"/>
            <a:ext cx="108000" cy="108000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12700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6" name="Rounded Rectangle 208"/>
          <p:cNvSpPr/>
          <p:nvPr/>
        </p:nvSpPr>
        <p:spPr>
          <a:xfrm>
            <a:off x="2180332" y="1585886"/>
            <a:ext cx="108000" cy="187731"/>
          </a:xfrm>
          <a:prstGeom prst="roundRect">
            <a:avLst>
              <a:gd name="adj" fmla="val 8420"/>
            </a:avLst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defTabSz="57681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목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7" name="Rounded Rectangle 210"/>
          <p:cNvSpPr/>
          <p:nvPr/>
        </p:nvSpPr>
        <p:spPr>
          <a:xfrm>
            <a:off x="2030499" y="1621475"/>
            <a:ext cx="108000" cy="108000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12700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8" name="Rounded Rectangle 211"/>
          <p:cNvSpPr/>
          <p:nvPr/>
        </p:nvSpPr>
        <p:spPr>
          <a:xfrm>
            <a:off x="2488766" y="1585886"/>
            <a:ext cx="108000" cy="187731"/>
          </a:xfrm>
          <a:prstGeom prst="roundRect">
            <a:avLst>
              <a:gd name="adj" fmla="val 8420"/>
            </a:avLst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defTabSz="57681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금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9" name="Rounded Rectangle 214"/>
          <p:cNvSpPr/>
          <p:nvPr/>
        </p:nvSpPr>
        <p:spPr>
          <a:xfrm>
            <a:off x="2338933" y="1621475"/>
            <a:ext cx="108000" cy="108000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12700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8" name="Rounded Rectangle 225"/>
          <p:cNvSpPr/>
          <p:nvPr/>
        </p:nvSpPr>
        <p:spPr>
          <a:xfrm>
            <a:off x="2797200" y="1585886"/>
            <a:ext cx="108000" cy="187731"/>
          </a:xfrm>
          <a:prstGeom prst="roundRect">
            <a:avLst>
              <a:gd name="adj" fmla="val 8420"/>
            </a:avLst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defTabSz="57681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토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2" name="Rounded Rectangle 227"/>
          <p:cNvSpPr/>
          <p:nvPr/>
        </p:nvSpPr>
        <p:spPr>
          <a:xfrm>
            <a:off x="2647367" y="1621475"/>
            <a:ext cx="108000" cy="108000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12700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3" name="Freeform 317"/>
          <p:cNvSpPr>
            <a:spLocks noChangeAspect="1" noChangeArrowheads="1"/>
          </p:cNvSpPr>
          <p:nvPr/>
        </p:nvSpPr>
        <p:spPr bwMode="auto">
          <a:xfrm>
            <a:off x="796763" y="1621475"/>
            <a:ext cx="108000" cy="108000"/>
          </a:xfrm>
          <a:custGeom>
            <a:avLst/>
            <a:gdLst>
              <a:gd name="T0" fmla="*/ 523 w 587"/>
              <a:gd name="T1" fmla="*/ 0 h 586"/>
              <a:gd name="T2" fmla="*/ 69 w 587"/>
              <a:gd name="T3" fmla="*/ 0 h 586"/>
              <a:gd name="T4" fmla="*/ 0 w 587"/>
              <a:gd name="T5" fmla="*/ 68 h 586"/>
              <a:gd name="T6" fmla="*/ 0 w 587"/>
              <a:gd name="T7" fmla="*/ 523 h 586"/>
              <a:gd name="T8" fmla="*/ 69 w 587"/>
              <a:gd name="T9" fmla="*/ 585 h 586"/>
              <a:gd name="T10" fmla="*/ 523 w 587"/>
              <a:gd name="T11" fmla="*/ 585 h 586"/>
              <a:gd name="T12" fmla="*/ 586 w 587"/>
              <a:gd name="T13" fmla="*/ 523 h 586"/>
              <a:gd name="T14" fmla="*/ 586 w 587"/>
              <a:gd name="T15" fmla="*/ 68 h 586"/>
              <a:gd name="T16" fmla="*/ 523 w 587"/>
              <a:gd name="T17" fmla="*/ 0 h 586"/>
              <a:gd name="T18" fmla="*/ 231 w 587"/>
              <a:gd name="T19" fmla="*/ 454 h 586"/>
              <a:gd name="T20" fmla="*/ 69 w 587"/>
              <a:gd name="T21" fmla="*/ 292 h 586"/>
              <a:gd name="T22" fmla="*/ 113 w 587"/>
              <a:gd name="T23" fmla="*/ 249 h 586"/>
              <a:gd name="T24" fmla="*/ 231 w 587"/>
              <a:gd name="T25" fmla="*/ 367 h 586"/>
              <a:gd name="T26" fmla="*/ 480 w 587"/>
              <a:gd name="T27" fmla="*/ 118 h 586"/>
              <a:gd name="T28" fmla="*/ 523 w 587"/>
              <a:gd name="T29" fmla="*/ 161 h 586"/>
              <a:gd name="T30" fmla="*/ 231 w 587"/>
              <a:gd name="T31" fmla="*/ 454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87" h="586">
                <a:moveTo>
                  <a:pt x="523" y="0"/>
                </a:moveTo>
                <a:lnTo>
                  <a:pt x="69" y="0"/>
                </a:lnTo>
                <a:cubicBezTo>
                  <a:pt x="32" y="0"/>
                  <a:pt x="0" y="31"/>
                  <a:pt x="0" y="68"/>
                </a:cubicBezTo>
                <a:lnTo>
                  <a:pt x="0" y="523"/>
                </a:lnTo>
                <a:cubicBezTo>
                  <a:pt x="0" y="554"/>
                  <a:pt x="32" y="585"/>
                  <a:pt x="69" y="585"/>
                </a:cubicBezTo>
                <a:lnTo>
                  <a:pt x="523" y="585"/>
                </a:lnTo>
                <a:cubicBezTo>
                  <a:pt x="561" y="585"/>
                  <a:pt x="586" y="554"/>
                  <a:pt x="586" y="523"/>
                </a:cubicBezTo>
                <a:lnTo>
                  <a:pt x="586" y="68"/>
                </a:lnTo>
                <a:cubicBezTo>
                  <a:pt x="586" y="31"/>
                  <a:pt x="561" y="0"/>
                  <a:pt x="523" y="0"/>
                </a:cubicBezTo>
                <a:close/>
                <a:moveTo>
                  <a:pt x="231" y="454"/>
                </a:moveTo>
                <a:lnTo>
                  <a:pt x="69" y="292"/>
                </a:lnTo>
                <a:lnTo>
                  <a:pt x="113" y="249"/>
                </a:lnTo>
                <a:lnTo>
                  <a:pt x="231" y="367"/>
                </a:lnTo>
                <a:lnTo>
                  <a:pt x="480" y="118"/>
                </a:lnTo>
                <a:lnTo>
                  <a:pt x="523" y="161"/>
                </a:lnTo>
                <a:lnTo>
                  <a:pt x="231" y="454"/>
                </a:lnTo>
                <a:close/>
              </a:path>
            </a:pathLst>
          </a:custGeom>
          <a:solidFill>
            <a:sysClr val="window" lastClr="FFFFFF">
              <a:lumMod val="50000"/>
            </a:sys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l" defTabSz="57681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charset="0"/>
              <a:ea typeface="ＭＳ Ｐゴシック" charset="0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765762" y="1593615"/>
            <a:ext cx="2180638" cy="171215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67913" y="1768564"/>
            <a:ext cx="252239" cy="361637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범위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7" name="직사각형"/>
          <p:cNvSpPr/>
          <p:nvPr/>
        </p:nvSpPr>
        <p:spPr>
          <a:xfrm>
            <a:off x="336583" y="3742682"/>
            <a:ext cx="3600570" cy="2920272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ysClr val="windowText" lastClr="000000">
                <a:lumMod val="65000"/>
                <a:lumOff val="35000"/>
              </a:sys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marL="0" marR="0" lvl="0" indent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8" name="텍스트 상자 31"/>
          <p:cNvSpPr txBox="1"/>
          <p:nvPr/>
        </p:nvSpPr>
        <p:spPr>
          <a:xfrm>
            <a:off x="477210" y="3867271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반복설정</a:t>
            </a:r>
            <a:endParaRPr lang="ko-KR" altLang="en-US" sz="1000" b="1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grpSp>
        <p:nvGrpSpPr>
          <p:cNvPr id="99" name="Group 291"/>
          <p:cNvGrpSpPr/>
          <p:nvPr/>
        </p:nvGrpSpPr>
        <p:grpSpPr>
          <a:xfrm>
            <a:off x="1474821" y="6197320"/>
            <a:ext cx="1143107" cy="187731"/>
            <a:chOff x="519769" y="7004980"/>
            <a:chExt cx="1143107" cy="187731"/>
          </a:xfrm>
        </p:grpSpPr>
        <p:sp>
          <p:nvSpPr>
            <p:cNvPr id="143" name="Rounded Rectangle 292"/>
            <p:cNvSpPr/>
            <p:nvPr/>
          </p:nvSpPr>
          <p:spPr>
            <a:xfrm>
              <a:off x="1122876" y="7004980"/>
              <a:ext cx="540000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취소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44" name="Rounded Rectangle 313"/>
            <p:cNvSpPr/>
            <p:nvPr/>
          </p:nvSpPr>
          <p:spPr>
            <a:xfrm>
              <a:off x="519769" y="7004980"/>
              <a:ext cx="536766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설정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00" name="Rectangle 127"/>
          <p:cNvSpPr/>
          <p:nvPr/>
        </p:nvSpPr>
        <p:spPr>
          <a:xfrm>
            <a:off x="785804" y="4247854"/>
            <a:ext cx="616611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R="0" lvl="0" indent="87313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매월 ▼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cxnSp>
        <p:nvCxnSpPr>
          <p:cNvPr id="101" name="직선 연결선 100"/>
          <p:cNvCxnSpPr/>
          <p:nvPr/>
        </p:nvCxnSpPr>
        <p:spPr>
          <a:xfrm>
            <a:off x="417852" y="4067916"/>
            <a:ext cx="3400002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467913" y="4120889"/>
            <a:ext cx="252239" cy="630942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빈도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주기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67913" y="5556624"/>
            <a:ext cx="252239" cy="313868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요약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4" name="직선 연결선 103"/>
          <p:cNvCxnSpPr/>
          <p:nvPr/>
        </p:nvCxnSpPr>
        <p:spPr>
          <a:xfrm>
            <a:off x="417852" y="5598901"/>
            <a:ext cx="340000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417852" y="6072611"/>
            <a:ext cx="340000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94081" y="5625491"/>
            <a:ext cx="2281641" cy="415498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2018-01-22 ~ 2018-01-22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ㅣ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lang="en-US" altLang="ko-KR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11:00 ~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lang="en-US" altLang="ko-KR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</a:t>
            </a:r>
          </a:p>
          <a:p>
            <a:pPr lvl="0">
              <a:lnSpc>
                <a:spcPct val="150000"/>
              </a:lnSpc>
            </a:pPr>
            <a:r>
              <a:rPr lang="en-US" altLang="ko-KR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마다 </a:t>
            </a:r>
            <a:r>
              <a:rPr lang="en-US" altLang="ko-KR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r>
            <a:r>
              <a:rPr lang="ko-KR" altLang="en-US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반복</a:t>
            </a:r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07" name="Freeform 11"/>
          <p:cNvSpPr>
            <a:spLocks noChangeAspect="1" noChangeArrowheads="1"/>
          </p:cNvSpPr>
          <p:nvPr/>
        </p:nvSpPr>
        <p:spPr bwMode="auto">
          <a:xfrm>
            <a:off x="3683649" y="3892805"/>
            <a:ext cx="97398" cy="97398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75618" y="5283433"/>
            <a:ext cx="759858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36000" tIns="0" rIns="0" bIns="0" rtlCol="0" anchor="ctr"/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오전 </a:t>
            </a:r>
            <a:r>
              <a:rPr kumimoji="0" lang="en-US" altLang="ko-KR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11:00 </a:t>
            </a: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▼</a:t>
            </a:r>
            <a:endParaRPr kumimoji="0" lang="en-US" sz="700" kern="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137" name="Rectangle 127"/>
          <p:cNvSpPr/>
          <p:nvPr/>
        </p:nvSpPr>
        <p:spPr>
          <a:xfrm>
            <a:off x="1668240" y="5283433"/>
            <a:ext cx="749672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36000" tIns="0" rIns="0" bIns="0" rtlCol="0" anchor="ctr"/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오전 </a:t>
            </a:r>
            <a:r>
              <a:rPr kumimoji="0" lang="en-US" altLang="ko-KR" sz="7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11:30 </a:t>
            </a: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▼</a:t>
            </a:r>
            <a:endParaRPr kumimoji="0" lang="en-US" sz="700" kern="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532483" y="5272106"/>
            <a:ext cx="135221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~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9" name="Rectangle 127"/>
          <p:cNvSpPr/>
          <p:nvPr/>
        </p:nvSpPr>
        <p:spPr>
          <a:xfrm>
            <a:off x="785804" y="4514555"/>
            <a:ext cx="616611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R="0" lvl="0" indent="87313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1</a:t>
            </a:r>
            <a:r>
              <a:rPr kumimoji="0" lang="ko-KR" altLang="en-US" sz="7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개월</a:t>
            </a:r>
            <a:r>
              <a:rPr kumimoji="0" lang="ko-KR" altLang="en-US" sz="7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 ▼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67913" y="4933938"/>
            <a:ext cx="252239" cy="361637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범위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45" name="그룹 144"/>
          <p:cNvGrpSpPr/>
          <p:nvPr/>
        </p:nvGrpSpPr>
        <p:grpSpPr>
          <a:xfrm>
            <a:off x="784504" y="4751546"/>
            <a:ext cx="1387469" cy="187731"/>
            <a:chOff x="4310659" y="5220176"/>
            <a:chExt cx="1387469" cy="187731"/>
          </a:xfrm>
        </p:grpSpPr>
        <p:sp>
          <p:nvSpPr>
            <p:cNvPr id="146" name="Freeform 30"/>
            <p:cNvSpPr>
              <a:spLocks noChangeAspect="1" noChangeArrowheads="1"/>
            </p:cNvSpPr>
            <p:nvPr/>
          </p:nvSpPr>
          <p:spPr bwMode="auto">
            <a:xfrm>
              <a:off x="4310659" y="5242042"/>
              <a:ext cx="144000" cy="144000"/>
            </a:xfrm>
            <a:custGeom>
              <a:avLst/>
              <a:gdLst>
                <a:gd name="T0" fmla="*/ 259 w 514"/>
                <a:gd name="T1" fmla="*/ 132 h 514"/>
                <a:gd name="T2" fmla="*/ 127 w 514"/>
                <a:gd name="T3" fmla="*/ 259 h 514"/>
                <a:gd name="T4" fmla="*/ 259 w 514"/>
                <a:gd name="T5" fmla="*/ 386 h 514"/>
                <a:gd name="T6" fmla="*/ 386 w 514"/>
                <a:gd name="T7" fmla="*/ 259 h 514"/>
                <a:gd name="T8" fmla="*/ 259 w 514"/>
                <a:gd name="T9" fmla="*/ 132 h 514"/>
                <a:gd name="T10" fmla="*/ 259 w 514"/>
                <a:gd name="T11" fmla="*/ 0 h 514"/>
                <a:gd name="T12" fmla="*/ 0 w 514"/>
                <a:gd name="T13" fmla="*/ 259 h 514"/>
                <a:gd name="T14" fmla="*/ 259 w 514"/>
                <a:gd name="T15" fmla="*/ 513 h 514"/>
                <a:gd name="T16" fmla="*/ 513 w 514"/>
                <a:gd name="T17" fmla="*/ 259 h 514"/>
                <a:gd name="T18" fmla="*/ 259 w 514"/>
                <a:gd name="T19" fmla="*/ 0 h 514"/>
                <a:gd name="T20" fmla="*/ 259 w 514"/>
                <a:gd name="T21" fmla="*/ 464 h 514"/>
                <a:gd name="T22" fmla="*/ 54 w 514"/>
                <a:gd name="T23" fmla="*/ 259 h 514"/>
                <a:gd name="T24" fmla="*/ 259 w 514"/>
                <a:gd name="T25" fmla="*/ 54 h 514"/>
                <a:gd name="T26" fmla="*/ 459 w 514"/>
                <a:gd name="T27" fmla="*/ 259 h 514"/>
                <a:gd name="T28" fmla="*/ 259 w 514"/>
                <a:gd name="T29" fmla="*/ 464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4" h="514">
                  <a:moveTo>
                    <a:pt x="259" y="132"/>
                  </a:moveTo>
                  <a:cubicBezTo>
                    <a:pt x="186" y="132"/>
                    <a:pt x="127" y="188"/>
                    <a:pt x="127" y="259"/>
                  </a:cubicBezTo>
                  <a:cubicBezTo>
                    <a:pt x="127" y="330"/>
                    <a:pt x="188" y="386"/>
                    <a:pt x="259" y="386"/>
                  </a:cubicBezTo>
                  <a:cubicBezTo>
                    <a:pt x="330" y="386"/>
                    <a:pt x="386" y="330"/>
                    <a:pt x="386" y="259"/>
                  </a:cubicBezTo>
                  <a:cubicBezTo>
                    <a:pt x="386" y="188"/>
                    <a:pt x="327" y="132"/>
                    <a:pt x="259" y="132"/>
                  </a:cubicBezTo>
                  <a:close/>
                  <a:moveTo>
                    <a:pt x="259" y="0"/>
                  </a:moveTo>
                  <a:cubicBezTo>
                    <a:pt x="117" y="0"/>
                    <a:pt x="0" y="118"/>
                    <a:pt x="0" y="259"/>
                  </a:cubicBezTo>
                  <a:cubicBezTo>
                    <a:pt x="0" y="401"/>
                    <a:pt x="120" y="513"/>
                    <a:pt x="259" y="513"/>
                  </a:cubicBezTo>
                  <a:cubicBezTo>
                    <a:pt x="398" y="513"/>
                    <a:pt x="513" y="401"/>
                    <a:pt x="513" y="259"/>
                  </a:cubicBezTo>
                  <a:cubicBezTo>
                    <a:pt x="513" y="118"/>
                    <a:pt x="396" y="0"/>
                    <a:pt x="259" y="0"/>
                  </a:cubicBezTo>
                  <a:close/>
                  <a:moveTo>
                    <a:pt x="259" y="464"/>
                  </a:moveTo>
                  <a:cubicBezTo>
                    <a:pt x="146" y="464"/>
                    <a:pt x="54" y="372"/>
                    <a:pt x="54" y="259"/>
                  </a:cubicBezTo>
                  <a:cubicBezTo>
                    <a:pt x="54" y="147"/>
                    <a:pt x="146" y="54"/>
                    <a:pt x="259" y="54"/>
                  </a:cubicBezTo>
                  <a:cubicBezTo>
                    <a:pt x="371" y="54"/>
                    <a:pt x="459" y="147"/>
                    <a:pt x="459" y="259"/>
                  </a:cubicBezTo>
                  <a:cubicBezTo>
                    <a:pt x="459" y="372"/>
                    <a:pt x="371" y="464"/>
                    <a:pt x="259" y="464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57681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148" name="Freeform 29"/>
            <p:cNvSpPr>
              <a:spLocks noChangeAspect="1" noChangeArrowheads="1"/>
            </p:cNvSpPr>
            <p:nvPr/>
          </p:nvSpPr>
          <p:spPr bwMode="auto">
            <a:xfrm>
              <a:off x="4759006" y="5242042"/>
              <a:ext cx="141538" cy="144000"/>
            </a:xfrm>
            <a:custGeom>
              <a:avLst/>
              <a:gdLst>
                <a:gd name="T0" fmla="*/ 254 w 509"/>
                <a:gd name="T1" fmla="*/ 0 h 514"/>
                <a:gd name="T2" fmla="*/ 0 w 509"/>
                <a:gd name="T3" fmla="*/ 259 h 514"/>
                <a:gd name="T4" fmla="*/ 254 w 509"/>
                <a:gd name="T5" fmla="*/ 513 h 514"/>
                <a:gd name="T6" fmla="*/ 508 w 509"/>
                <a:gd name="T7" fmla="*/ 259 h 514"/>
                <a:gd name="T8" fmla="*/ 254 w 509"/>
                <a:gd name="T9" fmla="*/ 0 h 514"/>
                <a:gd name="T10" fmla="*/ 254 w 509"/>
                <a:gd name="T11" fmla="*/ 464 h 514"/>
                <a:gd name="T12" fmla="*/ 49 w 509"/>
                <a:gd name="T13" fmla="*/ 259 h 514"/>
                <a:gd name="T14" fmla="*/ 254 w 509"/>
                <a:gd name="T15" fmla="*/ 54 h 514"/>
                <a:gd name="T16" fmla="*/ 459 w 509"/>
                <a:gd name="T17" fmla="*/ 259 h 514"/>
                <a:gd name="T18" fmla="*/ 254 w 509"/>
                <a:gd name="T19" fmla="*/ 464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9" h="514">
                  <a:moveTo>
                    <a:pt x="254" y="0"/>
                  </a:moveTo>
                  <a:cubicBezTo>
                    <a:pt x="112" y="0"/>
                    <a:pt x="0" y="118"/>
                    <a:pt x="0" y="259"/>
                  </a:cubicBezTo>
                  <a:cubicBezTo>
                    <a:pt x="0" y="401"/>
                    <a:pt x="112" y="513"/>
                    <a:pt x="254" y="513"/>
                  </a:cubicBezTo>
                  <a:cubicBezTo>
                    <a:pt x="396" y="513"/>
                    <a:pt x="508" y="401"/>
                    <a:pt x="508" y="259"/>
                  </a:cubicBezTo>
                  <a:cubicBezTo>
                    <a:pt x="508" y="118"/>
                    <a:pt x="396" y="0"/>
                    <a:pt x="254" y="0"/>
                  </a:cubicBezTo>
                  <a:close/>
                  <a:moveTo>
                    <a:pt x="254" y="464"/>
                  </a:moveTo>
                  <a:cubicBezTo>
                    <a:pt x="142" y="464"/>
                    <a:pt x="49" y="372"/>
                    <a:pt x="49" y="259"/>
                  </a:cubicBezTo>
                  <a:cubicBezTo>
                    <a:pt x="49" y="147"/>
                    <a:pt x="142" y="54"/>
                    <a:pt x="254" y="54"/>
                  </a:cubicBezTo>
                  <a:cubicBezTo>
                    <a:pt x="366" y="54"/>
                    <a:pt x="459" y="147"/>
                    <a:pt x="459" y="259"/>
                  </a:cubicBezTo>
                  <a:cubicBezTo>
                    <a:pt x="459" y="372"/>
                    <a:pt x="366" y="464"/>
                    <a:pt x="254" y="464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57681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149" name="Rounded Rectangle 333"/>
            <p:cNvSpPr/>
            <p:nvPr/>
          </p:nvSpPr>
          <p:spPr>
            <a:xfrm>
              <a:off x="4490073" y="5220176"/>
              <a:ext cx="39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defTabSz="576818" fontAlgn="auto" latinLnBrk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22</a:t>
              </a:r>
              <a:r>
                <a:rPr kumimoji="0"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일</a:t>
              </a:r>
              <a:endParaRPr kumimoji="0" 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endParaRPr>
            </a:p>
          </p:txBody>
        </p:sp>
        <p:sp>
          <p:nvSpPr>
            <p:cNvPr id="150" name="Rounded Rectangle 334"/>
            <p:cNvSpPr/>
            <p:nvPr/>
          </p:nvSpPr>
          <p:spPr>
            <a:xfrm>
              <a:off x="4942128" y="5220176"/>
              <a:ext cx="75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defTabSz="576818" fontAlgn="auto" latinLnBrk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4</a:t>
              </a:r>
              <a:r>
                <a:rPr kumimoji="0"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번째 월요일</a:t>
              </a:r>
              <a:endParaRPr kumimoji="0" 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endParaRPr>
            </a:p>
          </p:txBody>
        </p:sp>
      </p:grpSp>
      <p:sp>
        <p:nvSpPr>
          <p:cNvPr id="152" name="직사각형"/>
          <p:cNvSpPr/>
          <p:nvPr/>
        </p:nvSpPr>
        <p:spPr>
          <a:xfrm>
            <a:off x="4734088" y="574616"/>
            <a:ext cx="3600570" cy="2920272"/>
          </a:xfrm>
          <a:prstGeom prst="rect">
            <a:avLst/>
          </a:prstGeom>
          <a:solidFill>
            <a:sysClr val="window" lastClr="FFFFFF"/>
          </a:solidFill>
          <a:ln w="12700">
            <a:solidFill>
              <a:sysClr val="windowText" lastClr="000000">
                <a:lumMod val="65000"/>
                <a:lumOff val="35000"/>
              </a:sys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marL="0" marR="0" lvl="0" indent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53" name="텍스트 상자 31"/>
          <p:cNvSpPr txBox="1"/>
          <p:nvPr/>
        </p:nvSpPr>
        <p:spPr>
          <a:xfrm>
            <a:off x="4874715" y="699205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반복설정</a:t>
            </a:r>
            <a:endParaRPr lang="ko-KR" altLang="en-US" sz="1000" b="1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grpSp>
        <p:nvGrpSpPr>
          <p:cNvPr id="154" name="Group 291"/>
          <p:cNvGrpSpPr/>
          <p:nvPr/>
        </p:nvGrpSpPr>
        <p:grpSpPr>
          <a:xfrm>
            <a:off x="5872326" y="3029254"/>
            <a:ext cx="1143107" cy="187731"/>
            <a:chOff x="519769" y="7004980"/>
            <a:chExt cx="1143107" cy="187731"/>
          </a:xfrm>
        </p:grpSpPr>
        <p:sp>
          <p:nvSpPr>
            <p:cNvPr id="212" name="Rounded Rectangle 292"/>
            <p:cNvSpPr/>
            <p:nvPr/>
          </p:nvSpPr>
          <p:spPr>
            <a:xfrm>
              <a:off x="1122876" y="7004980"/>
              <a:ext cx="540000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취소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13" name="Rounded Rectangle 313"/>
            <p:cNvSpPr/>
            <p:nvPr/>
          </p:nvSpPr>
          <p:spPr>
            <a:xfrm>
              <a:off x="519769" y="7004980"/>
              <a:ext cx="536766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설정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sp>
        <p:nvSpPr>
          <p:cNvPr id="155" name="Rectangle 127"/>
          <p:cNvSpPr/>
          <p:nvPr/>
        </p:nvSpPr>
        <p:spPr>
          <a:xfrm>
            <a:off x="5183309" y="1079788"/>
            <a:ext cx="616611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R="0" lvl="0" indent="87313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매년 ▼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cxnSp>
        <p:nvCxnSpPr>
          <p:cNvPr id="156" name="직선 연결선 155"/>
          <p:cNvCxnSpPr/>
          <p:nvPr/>
        </p:nvCxnSpPr>
        <p:spPr>
          <a:xfrm>
            <a:off x="4815357" y="899850"/>
            <a:ext cx="3400002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4865418" y="952823"/>
            <a:ext cx="252239" cy="630942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빈도</a:t>
            </a:r>
            <a:endParaRPr lang="en-US" altLang="ko-KR" sz="7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주기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865418" y="2388558"/>
            <a:ext cx="252239" cy="313868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요약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63" name="직선 연결선 162"/>
          <p:cNvCxnSpPr/>
          <p:nvPr/>
        </p:nvCxnSpPr>
        <p:spPr>
          <a:xfrm>
            <a:off x="4815357" y="2430835"/>
            <a:ext cx="340000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/>
          <p:nvPr/>
        </p:nvCxnSpPr>
        <p:spPr>
          <a:xfrm>
            <a:off x="4815357" y="2904545"/>
            <a:ext cx="3400002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5191586" y="2457425"/>
            <a:ext cx="2281641" cy="415498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2018-01-22 ~ 2018-01-22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ㅣ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lang="en-US" altLang="ko-KR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11:00 ~ 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lang="en-US" altLang="ko-KR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</a:t>
            </a:r>
          </a:p>
          <a:p>
            <a:pPr lvl="0">
              <a:lnSpc>
                <a:spcPct val="150000"/>
              </a:lnSpc>
            </a:pPr>
            <a:r>
              <a:rPr lang="en-US" altLang="ko-KR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마다 </a:t>
            </a:r>
            <a:r>
              <a:rPr lang="en-US" altLang="ko-KR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r>
            <a:r>
              <a:rPr lang="ko-KR" altLang="en-US" sz="700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 반복</a:t>
            </a:r>
            <a:endParaRPr lang="ko-KR" altLang="en-US" sz="70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81" name="Freeform 11"/>
          <p:cNvSpPr>
            <a:spLocks noChangeAspect="1" noChangeArrowheads="1"/>
          </p:cNvSpPr>
          <p:nvPr/>
        </p:nvSpPr>
        <p:spPr bwMode="auto">
          <a:xfrm>
            <a:off x="8081154" y="724739"/>
            <a:ext cx="97398" cy="97398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sp>
        <p:nvSpPr>
          <p:cNvPr id="202" name="Rectangle 127"/>
          <p:cNvSpPr/>
          <p:nvPr/>
        </p:nvSpPr>
        <p:spPr>
          <a:xfrm>
            <a:off x="5173123" y="2115367"/>
            <a:ext cx="759858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36000" tIns="0" rIns="0" bIns="0" rtlCol="0" anchor="ctr"/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오전 </a:t>
            </a:r>
            <a:r>
              <a:rPr kumimoji="0" lang="en-US" altLang="ko-KR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11:00 </a:t>
            </a: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▼</a:t>
            </a:r>
            <a:endParaRPr kumimoji="0" lang="en-US" sz="700" kern="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208" name="Rectangle 127"/>
          <p:cNvSpPr/>
          <p:nvPr/>
        </p:nvSpPr>
        <p:spPr>
          <a:xfrm>
            <a:off x="6065745" y="2115367"/>
            <a:ext cx="749672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36000" tIns="0" rIns="0" bIns="0" rtlCol="0" anchor="ctr"/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오전 </a:t>
            </a:r>
            <a:r>
              <a:rPr kumimoji="0" lang="en-US" altLang="ko-KR" sz="7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11:30 </a:t>
            </a:r>
            <a:r>
              <a:rPr kumimoji="0" lang="ko-KR" altLang="en-US" sz="700" ker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▼</a:t>
            </a:r>
            <a:endParaRPr kumimoji="0" lang="en-US" sz="700" kern="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5929988" y="2104040"/>
            <a:ext cx="135221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~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3" name="Rectangle 127"/>
          <p:cNvSpPr/>
          <p:nvPr/>
        </p:nvSpPr>
        <p:spPr>
          <a:xfrm>
            <a:off x="5183309" y="1346489"/>
            <a:ext cx="616611" cy="187401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ysClr val="window" lastClr="FFFFFF">
                <a:lumMod val="7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R="0" lvl="0" indent="87313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1</a:t>
            </a:r>
            <a:r>
              <a:rPr kumimoji="0" lang="ko-KR" altLang="en-US" sz="7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년 ▼</a:t>
            </a:r>
            <a:endParaRPr kumimoji="0" lang="en-US" sz="7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4865418" y="1765872"/>
            <a:ext cx="252239" cy="361637"/>
          </a:xfrm>
          <a:prstGeom prst="rect">
            <a:avLst/>
          </a:prstGeom>
          <a:noFill/>
        </p:spPr>
        <p:txBody>
          <a:bodyPr wrap="none" lIns="36000" rIns="36000" rtlCol="0" anchor="t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범위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14" name="Freeform 30"/>
          <p:cNvSpPr>
            <a:spLocks noChangeAspect="1" noChangeArrowheads="1"/>
          </p:cNvSpPr>
          <p:nvPr/>
        </p:nvSpPr>
        <p:spPr bwMode="auto">
          <a:xfrm>
            <a:off x="5183149" y="1620792"/>
            <a:ext cx="144000" cy="144000"/>
          </a:xfrm>
          <a:custGeom>
            <a:avLst/>
            <a:gdLst>
              <a:gd name="T0" fmla="*/ 259 w 514"/>
              <a:gd name="T1" fmla="*/ 132 h 514"/>
              <a:gd name="T2" fmla="*/ 127 w 514"/>
              <a:gd name="T3" fmla="*/ 259 h 514"/>
              <a:gd name="T4" fmla="*/ 259 w 514"/>
              <a:gd name="T5" fmla="*/ 386 h 514"/>
              <a:gd name="T6" fmla="*/ 386 w 514"/>
              <a:gd name="T7" fmla="*/ 259 h 514"/>
              <a:gd name="T8" fmla="*/ 259 w 514"/>
              <a:gd name="T9" fmla="*/ 132 h 514"/>
              <a:gd name="T10" fmla="*/ 259 w 514"/>
              <a:gd name="T11" fmla="*/ 0 h 514"/>
              <a:gd name="T12" fmla="*/ 0 w 514"/>
              <a:gd name="T13" fmla="*/ 259 h 514"/>
              <a:gd name="T14" fmla="*/ 259 w 514"/>
              <a:gd name="T15" fmla="*/ 513 h 514"/>
              <a:gd name="T16" fmla="*/ 513 w 514"/>
              <a:gd name="T17" fmla="*/ 259 h 514"/>
              <a:gd name="T18" fmla="*/ 259 w 514"/>
              <a:gd name="T19" fmla="*/ 0 h 514"/>
              <a:gd name="T20" fmla="*/ 259 w 514"/>
              <a:gd name="T21" fmla="*/ 464 h 514"/>
              <a:gd name="T22" fmla="*/ 54 w 514"/>
              <a:gd name="T23" fmla="*/ 259 h 514"/>
              <a:gd name="T24" fmla="*/ 259 w 514"/>
              <a:gd name="T25" fmla="*/ 54 h 514"/>
              <a:gd name="T26" fmla="*/ 459 w 514"/>
              <a:gd name="T27" fmla="*/ 259 h 514"/>
              <a:gd name="T28" fmla="*/ 259 w 514"/>
              <a:gd name="T29" fmla="*/ 464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14" h="514">
                <a:moveTo>
                  <a:pt x="259" y="132"/>
                </a:moveTo>
                <a:cubicBezTo>
                  <a:pt x="186" y="132"/>
                  <a:pt x="127" y="188"/>
                  <a:pt x="127" y="259"/>
                </a:cubicBezTo>
                <a:cubicBezTo>
                  <a:pt x="127" y="330"/>
                  <a:pt x="188" y="386"/>
                  <a:pt x="259" y="386"/>
                </a:cubicBezTo>
                <a:cubicBezTo>
                  <a:pt x="330" y="386"/>
                  <a:pt x="386" y="330"/>
                  <a:pt x="386" y="259"/>
                </a:cubicBezTo>
                <a:cubicBezTo>
                  <a:pt x="386" y="188"/>
                  <a:pt x="327" y="132"/>
                  <a:pt x="259" y="132"/>
                </a:cubicBezTo>
                <a:close/>
                <a:moveTo>
                  <a:pt x="259" y="0"/>
                </a:moveTo>
                <a:cubicBezTo>
                  <a:pt x="117" y="0"/>
                  <a:pt x="0" y="118"/>
                  <a:pt x="0" y="259"/>
                </a:cubicBezTo>
                <a:cubicBezTo>
                  <a:pt x="0" y="401"/>
                  <a:pt x="120" y="513"/>
                  <a:pt x="259" y="513"/>
                </a:cubicBezTo>
                <a:cubicBezTo>
                  <a:pt x="398" y="513"/>
                  <a:pt x="513" y="401"/>
                  <a:pt x="513" y="259"/>
                </a:cubicBezTo>
                <a:cubicBezTo>
                  <a:pt x="513" y="118"/>
                  <a:pt x="396" y="0"/>
                  <a:pt x="259" y="0"/>
                </a:cubicBezTo>
                <a:close/>
                <a:moveTo>
                  <a:pt x="259" y="464"/>
                </a:moveTo>
                <a:cubicBezTo>
                  <a:pt x="146" y="464"/>
                  <a:pt x="54" y="372"/>
                  <a:pt x="54" y="259"/>
                </a:cubicBezTo>
                <a:cubicBezTo>
                  <a:pt x="54" y="147"/>
                  <a:pt x="146" y="54"/>
                  <a:pt x="259" y="54"/>
                </a:cubicBezTo>
                <a:cubicBezTo>
                  <a:pt x="371" y="54"/>
                  <a:pt x="459" y="147"/>
                  <a:pt x="459" y="259"/>
                </a:cubicBezTo>
                <a:cubicBezTo>
                  <a:pt x="459" y="372"/>
                  <a:pt x="371" y="464"/>
                  <a:pt x="259" y="464"/>
                </a:cubicBezTo>
                <a:close/>
              </a:path>
            </a:pathLst>
          </a:custGeom>
          <a:solidFill>
            <a:sysClr val="window" lastClr="FFFFFF">
              <a:lumMod val="50000"/>
            </a:sys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l" defTabSz="57681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charset="0"/>
              <a:ea typeface="ＭＳ Ｐゴシック" charset="0"/>
            </a:endParaRPr>
          </a:p>
        </p:txBody>
      </p:sp>
      <p:sp>
        <p:nvSpPr>
          <p:cNvPr id="215" name="Rounded Rectangle 333"/>
          <p:cNvSpPr/>
          <p:nvPr/>
        </p:nvSpPr>
        <p:spPr>
          <a:xfrm>
            <a:off x="5362563" y="1598926"/>
            <a:ext cx="396000" cy="187731"/>
          </a:xfrm>
          <a:prstGeom prst="roundRect">
            <a:avLst>
              <a:gd name="adj" fmla="val 8420"/>
            </a:avLst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defTabSz="576818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1</a:t>
            </a:r>
            <a:r>
              <a:rPr kumimoji="0"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월 </a:t>
            </a:r>
            <a:r>
              <a:rPr kumimoji="0" lang="en-US" altLang="ko-KR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22</a:t>
            </a:r>
            <a:r>
              <a:rPr kumimoji="0" lang="ko-KR" altLang="en-US" sz="70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rPr>
              <a:t>일</a:t>
            </a:r>
            <a:endParaRPr kumimoji="0" lang="en-US" sz="70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</a:endParaRPr>
          </a:p>
        </p:txBody>
      </p:sp>
      <p:grpSp>
        <p:nvGrpSpPr>
          <p:cNvPr id="216" name="그룹 215"/>
          <p:cNvGrpSpPr/>
          <p:nvPr/>
        </p:nvGrpSpPr>
        <p:grpSpPr>
          <a:xfrm>
            <a:off x="5799136" y="1598926"/>
            <a:ext cx="939122" cy="187731"/>
            <a:chOff x="5898196" y="1598926"/>
            <a:chExt cx="939122" cy="187731"/>
          </a:xfrm>
        </p:grpSpPr>
        <p:sp>
          <p:nvSpPr>
            <p:cNvPr id="217" name="Freeform 29"/>
            <p:cNvSpPr>
              <a:spLocks noChangeAspect="1" noChangeArrowheads="1"/>
            </p:cNvSpPr>
            <p:nvPr/>
          </p:nvSpPr>
          <p:spPr bwMode="auto">
            <a:xfrm>
              <a:off x="5898196" y="1620792"/>
              <a:ext cx="141538" cy="144000"/>
            </a:xfrm>
            <a:custGeom>
              <a:avLst/>
              <a:gdLst>
                <a:gd name="T0" fmla="*/ 254 w 509"/>
                <a:gd name="T1" fmla="*/ 0 h 514"/>
                <a:gd name="T2" fmla="*/ 0 w 509"/>
                <a:gd name="T3" fmla="*/ 259 h 514"/>
                <a:gd name="T4" fmla="*/ 254 w 509"/>
                <a:gd name="T5" fmla="*/ 513 h 514"/>
                <a:gd name="T6" fmla="*/ 508 w 509"/>
                <a:gd name="T7" fmla="*/ 259 h 514"/>
                <a:gd name="T8" fmla="*/ 254 w 509"/>
                <a:gd name="T9" fmla="*/ 0 h 514"/>
                <a:gd name="T10" fmla="*/ 254 w 509"/>
                <a:gd name="T11" fmla="*/ 464 h 514"/>
                <a:gd name="T12" fmla="*/ 49 w 509"/>
                <a:gd name="T13" fmla="*/ 259 h 514"/>
                <a:gd name="T14" fmla="*/ 254 w 509"/>
                <a:gd name="T15" fmla="*/ 54 h 514"/>
                <a:gd name="T16" fmla="*/ 459 w 509"/>
                <a:gd name="T17" fmla="*/ 259 h 514"/>
                <a:gd name="T18" fmla="*/ 254 w 509"/>
                <a:gd name="T19" fmla="*/ 464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9" h="514">
                  <a:moveTo>
                    <a:pt x="254" y="0"/>
                  </a:moveTo>
                  <a:cubicBezTo>
                    <a:pt x="112" y="0"/>
                    <a:pt x="0" y="118"/>
                    <a:pt x="0" y="259"/>
                  </a:cubicBezTo>
                  <a:cubicBezTo>
                    <a:pt x="0" y="401"/>
                    <a:pt x="112" y="513"/>
                    <a:pt x="254" y="513"/>
                  </a:cubicBezTo>
                  <a:cubicBezTo>
                    <a:pt x="396" y="513"/>
                    <a:pt x="508" y="401"/>
                    <a:pt x="508" y="259"/>
                  </a:cubicBezTo>
                  <a:cubicBezTo>
                    <a:pt x="508" y="118"/>
                    <a:pt x="396" y="0"/>
                    <a:pt x="254" y="0"/>
                  </a:cubicBezTo>
                  <a:close/>
                  <a:moveTo>
                    <a:pt x="254" y="464"/>
                  </a:moveTo>
                  <a:cubicBezTo>
                    <a:pt x="142" y="464"/>
                    <a:pt x="49" y="372"/>
                    <a:pt x="49" y="259"/>
                  </a:cubicBezTo>
                  <a:cubicBezTo>
                    <a:pt x="49" y="147"/>
                    <a:pt x="142" y="54"/>
                    <a:pt x="254" y="54"/>
                  </a:cubicBezTo>
                  <a:cubicBezTo>
                    <a:pt x="366" y="54"/>
                    <a:pt x="459" y="147"/>
                    <a:pt x="459" y="259"/>
                  </a:cubicBezTo>
                  <a:cubicBezTo>
                    <a:pt x="459" y="372"/>
                    <a:pt x="366" y="464"/>
                    <a:pt x="254" y="464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57681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218" name="Rounded Rectangle 334"/>
            <p:cNvSpPr/>
            <p:nvPr/>
          </p:nvSpPr>
          <p:spPr>
            <a:xfrm>
              <a:off x="6081318" y="1598926"/>
              <a:ext cx="75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defTabSz="576818" fontAlgn="auto" latinLnBrk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1</a:t>
              </a:r>
              <a:r>
                <a:rPr kumimoji="0"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월 </a:t>
              </a:r>
              <a:r>
                <a:rPr kumimoji="0"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4</a:t>
              </a:r>
              <a:r>
                <a:rPr kumimoji="0"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번째 월요일</a:t>
              </a:r>
              <a:endParaRPr kumimoji="0" 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endParaRPr>
            </a:p>
          </p:txBody>
        </p:sp>
      </p:grpSp>
      <p:grpSp>
        <p:nvGrpSpPr>
          <p:cNvPr id="219" name="그룹 218"/>
          <p:cNvGrpSpPr/>
          <p:nvPr/>
        </p:nvGrpSpPr>
        <p:grpSpPr>
          <a:xfrm>
            <a:off x="6797356" y="1598926"/>
            <a:ext cx="939122" cy="187731"/>
            <a:chOff x="5898196" y="1598926"/>
            <a:chExt cx="939122" cy="187731"/>
          </a:xfrm>
        </p:grpSpPr>
        <p:sp>
          <p:nvSpPr>
            <p:cNvPr id="220" name="Freeform 29"/>
            <p:cNvSpPr>
              <a:spLocks noChangeAspect="1" noChangeArrowheads="1"/>
            </p:cNvSpPr>
            <p:nvPr/>
          </p:nvSpPr>
          <p:spPr bwMode="auto">
            <a:xfrm>
              <a:off x="5898196" y="1620792"/>
              <a:ext cx="141538" cy="144000"/>
            </a:xfrm>
            <a:custGeom>
              <a:avLst/>
              <a:gdLst>
                <a:gd name="T0" fmla="*/ 254 w 509"/>
                <a:gd name="T1" fmla="*/ 0 h 514"/>
                <a:gd name="T2" fmla="*/ 0 w 509"/>
                <a:gd name="T3" fmla="*/ 259 h 514"/>
                <a:gd name="T4" fmla="*/ 254 w 509"/>
                <a:gd name="T5" fmla="*/ 513 h 514"/>
                <a:gd name="T6" fmla="*/ 508 w 509"/>
                <a:gd name="T7" fmla="*/ 259 h 514"/>
                <a:gd name="T8" fmla="*/ 254 w 509"/>
                <a:gd name="T9" fmla="*/ 0 h 514"/>
                <a:gd name="T10" fmla="*/ 254 w 509"/>
                <a:gd name="T11" fmla="*/ 464 h 514"/>
                <a:gd name="T12" fmla="*/ 49 w 509"/>
                <a:gd name="T13" fmla="*/ 259 h 514"/>
                <a:gd name="T14" fmla="*/ 254 w 509"/>
                <a:gd name="T15" fmla="*/ 54 h 514"/>
                <a:gd name="T16" fmla="*/ 459 w 509"/>
                <a:gd name="T17" fmla="*/ 259 h 514"/>
                <a:gd name="T18" fmla="*/ 254 w 509"/>
                <a:gd name="T19" fmla="*/ 464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9" h="514">
                  <a:moveTo>
                    <a:pt x="254" y="0"/>
                  </a:moveTo>
                  <a:cubicBezTo>
                    <a:pt x="112" y="0"/>
                    <a:pt x="0" y="118"/>
                    <a:pt x="0" y="259"/>
                  </a:cubicBezTo>
                  <a:cubicBezTo>
                    <a:pt x="0" y="401"/>
                    <a:pt x="112" y="513"/>
                    <a:pt x="254" y="513"/>
                  </a:cubicBezTo>
                  <a:cubicBezTo>
                    <a:pt x="396" y="513"/>
                    <a:pt x="508" y="401"/>
                    <a:pt x="508" y="259"/>
                  </a:cubicBezTo>
                  <a:cubicBezTo>
                    <a:pt x="508" y="118"/>
                    <a:pt x="396" y="0"/>
                    <a:pt x="254" y="0"/>
                  </a:cubicBezTo>
                  <a:close/>
                  <a:moveTo>
                    <a:pt x="254" y="464"/>
                  </a:moveTo>
                  <a:cubicBezTo>
                    <a:pt x="142" y="464"/>
                    <a:pt x="49" y="372"/>
                    <a:pt x="49" y="259"/>
                  </a:cubicBezTo>
                  <a:cubicBezTo>
                    <a:pt x="49" y="147"/>
                    <a:pt x="142" y="54"/>
                    <a:pt x="254" y="54"/>
                  </a:cubicBezTo>
                  <a:cubicBezTo>
                    <a:pt x="366" y="54"/>
                    <a:pt x="459" y="147"/>
                    <a:pt x="459" y="259"/>
                  </a:cubicBezTo>
                  <a:cubicBezTo>
                    <a:pt x="459" y="372"/>
                    <a:pt x="366" y="464"/>
                    <a:pt x="254" y="464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57681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221" name="Rounded Rectangle 334"/>
            <p:cNvSpPr/>
            <p:nvPr/>
          </p:nvSpPr>
          <p:spPr>
            <a:xfrm>
              <a:off x="6081318" y="1598926"/>
              <a:ext cx="75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defTabSz="576818" fontAlgn="auto" latinLnBrk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1</a:t>
              </a:r>
              <a:r>
                <a:rPr kumimoji="0" lang="ko-KR" altLang="en-US" sz="7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월 마지막날</a:t>
              </a:r>
              <a:endParaRPr kumimoji="0" 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</a:endParaRPr>
            </a:p>
          </p:txBody>
        </p:sp>
      </p:grpSp>
      <p:sp>
        <p:nvSpPr>
          <p:cNvPr id="222" name="모서리가 둥근 직사각형 221"/>
          <p:cNvSpPr/>
          <p:nvPr/>
        </p:nvSpPr>
        <p:spPr>
          <a:xfrm>
            <a:off x="5152977" y="1603140"/>
            <a:ext cx="2491788" cy="171215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23" name="모서리가 둥근 직사각형 222"/>
          <p:cNvSpPr/>
          <p:nvPr/>
        </p:nvSpPr>
        <p:spPr>
          <a:xfrm>
            <a:off x="765762" y="4746390"/>
            <a:ext cx="2491788" cy="171215"/>
          </a:xfrm>
          <a:prstGeom prst="roundRect">
            <a:avLst/>
          </a:prstGeom>
          <a:noFill/>
          <a:ln w="31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59" name="타원 258"/>
          <p:cNvSpPr>
            <a:spLocks noChangeAspect="1"/>
          </p:cNvSpPr>
          <p:nvPr/>
        </p:nvSpPr>
        <p:spPr>
          <a:xfrm>
            <a:off x="247623" y="48887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dirty="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24" name="그룹 223"/>
          <p:cNvGrpSpPr/>
          <p:nvPr/>
        </p:nvGrpSpPr>
        <p:grpSpPr>
          <a:xfrm>
            <a:off x="816798" y="2688049"/>
            <a:ext cx="638329" cy="142993"/>
            <a:chOff x="797748" y="2430874"/>
            <a:chExt cx="638329" cy="142993"/>
          </a:xfrm>
        </p:grpSpPr>
        <p:sp>
          <p:nvSpPr>
            <p:cNvPr id="225" name="모서리가 둥근 직사각형 224"/>
            <p:cNvSpPr/>
            <p:nvPr/>
          </p:nvSpPr>
          <p:spPr>
            <a:xfrm>
              <a:off x="797748" y="2430874"/>
              <a:ext cx="161808" cy="142993"/>
            </a:xfrm>
            <a:prstGeom prst="roundRect">
              <a:avLst/>
            </a:prstGeom>
            <a:noFill/>
            <a:ln w="3175">
              <a:solidFill>
                <a:srgbClr val="FF0000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226" name="모서리가 둥근 직사각형 225"/>
            <p:cNvSpPr/>
            <p:nvPr/>
          </p:nvSpPr>
          <p:spPr>
            <a:xfrm>
              <a:off x="1177807" y="2430874"/>
              <a:ext cx="258270" cy="142993"/>
            </a:xfrm>
            <a:prstGeom prst="roundRect">
              <a:avLst/>
            </a:prstGeom>
            <a:noFill/>
            <a:ln w="3175">
              <a:solidFill>
                <a:srgbClr val="FF0000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228" name="그룹 227"/>
          <p:cNvGrpSpPr/>
          <p:nvPr/>
        </p:nvGrpSpPr>
        <p:grpSpPr>
          <a:xfrm>
            <a:off x="5229071" y="2688049"/>
            <a:ext cx="700917" cy="142993"/>
            <a:chOff x="797748" y="2430874"/>
            <a:chExt cx="700917" cy="142993"/>
          </a:xfrm>
        </p:grpSpPr>
        <p:sp>
          <p:nvSpPr>
            <p:cNvPr id="229" name="모서리가 둥근 직사각형 228"/>
            <p:cNvSpPr/>
            <p:nvPr/>
          </p:nvSpPr>
          <p:spPr>
            <a:xfrm>
              <a:off x="797748" y="2430874"/>
              <a:ext cx="161808" cy="142993"/>
            </a:xfrm>
            <a:prstGeom prst="roundRect">
              <a:avLst/>
            </a:prstGeom>
            <a:noFill/>
            <a:ln w="3175">
              <a:solidFill>
                <a:srgbClr val="FF0000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230" name="모서리가 둥근 직사각형 229"/>
            <p:cNvSpPr/>
            <p:nvPr/>
          </p:nvSpPr>
          <p:spPr>
            <a:xfrm>
              <a:off x="1143832" y="2430874"/>
              <a:ext cx="354833" cy="142993"/>
            </a:xfrm>
            <a:prstGeom prst="roundRect">
              <a:avLst/>
            </a:prstGeom>
            <a:noFill/>
            <a:ln w="3175">
              <a:solidFill>
                <a:srgbClr val="FF0000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232" name="그룹 231"/>
          <p:cNvGrpSpPr/>
          <p:nvPr/>
        </p:nvGrpSpPr>
        <p:grpSpPr>
          <a:xfrm>
            <a:off x="816798" y="5847621"/>
            <a:ext cx="638329" cy="142993"/>
            <a:chOff x="797748" y="2430874"/>
            <a:chExt cx="638329" cy="142993"/>
          </a:xfrm>
        </p:grpSpPr>
        <p:sp>
          <p:nvSpPr>
            <p:cNvPr id="233" name="모서리가 둥근 직사각형 232"/>
            <p:cNvSpPr/>
            <p:nvPr/>
          </p:nvSpPr>
          <p:spPr>
            <a:xfrm>
              <a:off x="797748" y="2430874"/>
              <a:ext cx="245672" cy="142993"/>
            </a:xfrm>
            <a:prstGeom prst="roundRect">
              <a:avLst/>
            </a:prstGeom>
            <a:noFill/>
            <a:ln w="3175">
              <a:solidFill>
                <a:srgbClr val="FF0000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234" name="모서리가 둥근 직사각형 233"/>
            <p:cNvSpPr/>
            <p:nvPr/>
          </p:nvSpPr>
          <p:spPr>
            <a:xfrm>
              <a:off x="1243445" y="2430874"/>
              <a:ext cx="192632" cy="142993"/>
            </a:xfrm>
            <a:prstGeom prst="roundRect">
              <a:avLst/>
            </a:prstGeom>
            <a:noFill/>
            <a:ln w="3175">
              <a:solidFill>
                <a:srgbClr val="FF0000"/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242" name="타원 241"/>
          <p:cNvSpPr>
            <a:spLocks noChangeAspect="1"/>
          </p:cNvSpPr>
          <p:nvPr/>
        </p:nvSpPr>
        <p:spPr>
          <a:xfrm>
            <a:off x="247623" y="363212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3" name="타원 242"/>
          <p:cNvSpPr>
            <a:spLocks noChangeAspect="1"/>
          </p:cNvSpPr>
          <p:nvPr/>
        </p:nvSpPr>
        <p:spPr>
          <a:xfrm>
            <a:off x="4648173" y="48887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4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023074"/>
              </p:ext>
            </p:extLst>
          </p:nvPr>
        </p:nvGraphicFramePr>
        <p:xfrm>
          <a:off x="9290533" y="786383"/>
          <a:ext cx="2834792" cy="227221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4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8000" marR="138580" marT="1800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빈도 항목의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‘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매주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’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를 선택했을 경우 출력되는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/>
                      </a:r>
                      <a:b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입력 정보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주기 항목의 요일은 오늘 요일을 기본으로 선택 처리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1-1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선택된 주기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/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요일 정보 출력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753715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1-2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날짜 기본 세팅 값은 시작일은 오늘 날짜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, 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종료일은 한달 이후 날짜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245708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빈도 항목의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‘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매월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’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을 선택했을 경우 출력되는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/>
                      </a:r>
                      <a:b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입력 정보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3647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2-1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날짜 기본 세팅 값은 시작일은 오늘 날짜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, 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종료일은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/>
                      </a:r>
                      <a:b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1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년 이후 날짜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92865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빈도 항목의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‘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매년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’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을 선택했을 경우 출력되는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/>
                      </a:r>
                      <a:b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입력 정보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70890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3-1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날짜 기본 세팅 값은 시작일은 오늘 날짜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, 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종료일은 </a:t>
                      </a: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/>
                      </a:r>
                      <a:b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en-US" altLang="ko-KR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1</a:t>
                      </a:r>
                      <a:r>
                        <a:rPr lang="ko-KR" altLang="en-US" sz="800" kern="12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년 이후 날짜</a:t>
                      </a:r>
                      <a:endParaRPr lang="en-US" altLang="ko-KR" sz="800" kern="12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18000" marR="18000" marT="18000" marB="18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74651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398586" y="1357297"/>
            <a:ext cx="870999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700" smtClean="0">
                <a:solidFill>
                  <a:srgbClr val="FF0000"/>
                </a:solidFill>
                <a:latin typeface="+mn-ea"/>
                <a:ea typeface="+mn-ea"/>
              </a:rPr>
              <a:t>//1</a:t>
            </a:r>
            <a:r>
              <a:rPr lang="ko-KR" altLang="en-US" sz="700" smtClean="0">
                <a:solidFill>
                  <a:srgbClr val="FF0000"/>
                </a:solidFill>
                <a:latin typeface="+mn-ea"/>
                <a:ea typeface="+mn-ea"/>
              </a:rPr>
              <a:t>주</a:t>
            </a:r>
            <a:r>
              <a:rPr lang="en-US" altLang="ko-KR" sz="700" smtClean="0">
                <a:solidFill>
                  <a:srgbClr val="FF0000"/>
                </a:solidFill>
                <a:latin typeface="+mn-ea"/>
                <a:ea typeface="+mn-ea"/>
              </a:rPr>
              <a:t>(default)~10</a:t>
            </a:r>
            <a:r>
              <a:rPr lang="ko-KR" altLang="en-US" sz="700" smtClean="0">
                <a:solidFill>
                  <a:srgbClr val="FF0000"/>
                </a:solidFill>
                <a:latin typeface="+mn-ea"/>
                <a:ea typeface="+mn-ea"/>
              </a:rPr>
              <a:t>주</a:t>
            </a:r>
            <a:endParaRPr lang="ko-KR" altLang="en-US" sz="7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1427161" y="4519597"/>
            <a:ext cx="1050535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700" smtClean="0">
                <a:solidFill>
                  <a:srgbClr val="FF0000"/>
                </a:solidFill>
                <a:latin typeface="+mn-ea"/>
                <a:ea typeface="+mn-ea"/>
              </a:rPr>
              <a:t>//1</a:t>
            </a:r>
            <a:r>
              <a:rPr lang="ko-KR" altLang="en-US" sz="700" smtClean="0">
                <a:solidFill>
                  <a:srgbClr val="FF0000"/>
                </a:solidFill>
                <a:latin typeface="+mn-ea"/>
                <a:ea typeface="+mn-ea"/>
              </a:rPr>
              <a:t>개월</a:t>
            </a:r>
            <a:r>
              <a:rPr lang="en-US" altLang="ko-KR" sz="700" smtClean="0">
                <a:solidFill>
                  <a:srgbClr val="FF0000"/>
                </a:solidFill>
                <a:latin typeface="+mn-ea"/>
                <a:ea typeface="+mn-ea"/>
              </a:rPr>
              <a:t>(default)~10</a:t>
            </a:r>
            <a:r>
              <a:rPr lang="ko-KR" altLang="en-US" sz="700" smtClean="0">
                <a:solidFill>
                  <a:srgbClr val="FF0000"/>
                </a:solidFill>
                <a:latin typeface="+mn-ea"/>
                <a:ea typeface="+mn-ea"/>
              </a:rPr>
              <a:t>개월</a:t>
            </a:r>
            <a:endParaRPr lang="ko-KR" altLang="en-US" sz="7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46" name="타원 245"/>
          <p:cNvSpPr>
            <a:spLocks noChangeAspect="1"/>
          </p:cNvSpPr>
          <p:nvPr/>
        </p:nvSpPr>
        <p:spPr>
          <a:xfrm>
            <a:off x="1390623" y="275582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20138" y="4730534"/>
            <a:ext cx="890235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700" smtClean="0">
                <a:solidFill>
                  <a:srgbClr val="FF0000"/>
                </a:solidFill>
                <a:latin typeface="+mn-ea"/>
                <a:ea typeface="+mn-ea"/>
              </a:rPr>
              <a:t>출력 기준 </a:t>
            </a:r>
            <a:r>
              <a:rPr lang="en-US" altLang="ko-KR" sz="700" smtClean="0">
                <a:solidFill>
                  <a:srgbClr val="FF0000"/>
                </a:solidFill>
                <a:latin typeface="+mn-ea"/>
                <a:ea typeface="+mn-ea"/>
              </a:rPr>
              <a:t>as-is </a:t>
            </a:r>
            <a:r>
              <a:rPr lang="ko-KR" altLang="en-US" sz="700" smtClean="0">
                <a:solidFill>
                  <a:srgbClr val="FF0000"/>
                </a:solidFill>
                <a:latin typeface="+mn-ea"/>
                <a:ea typeface="+mn-ea"/>
              </a:rPr>
              <a:t>동일</a:t>
            </a:r>
            <a:endParaRPr lang="ko-KR" altLang="en-US" sz="7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7673063" y="1568234"/>
            <a:ext cx="890235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700" smtClean="0">
                <a:solidFill>
                  <a:srgbClr val="FF0000"/>
                </a:solidFill>
                <a:latin typeface="+mn-ea"/>
                <a:ea typeface="+mn-ea"/>
              </a:rPr>
              <a:t>출력 기준 </a:t>
            </a:r>
            <a:r>
              <a:rPr lang="en-US" altLang="ko-KR" sz="700" smtClean="0">
                <a:solidFill>
                  <a:srgbClr val="FF0000"/>
                </a:solidFill>
                <a:latin typeface="+mn-ea"/>
                <a:ea typeface="+mn-ea"/>
              </a:rPr>
              <a:t>as-is </a:t>
            </a:r>
            <a:r>
              <a:rPr lang="ko-KR" altLang="en-US" sz="700" smtClean="0">
                <a:solidFill>
                  <a:srgbClr val="FF0000"/>
                </a:solidFill>
                <a:latin typeface="+mn-ea"/>
                <a:ea typeface="+mn-ea"/>
              </a:rPr>
              <a:t>동일</a:t>
            </a:r>
            <a:endParaRPr lang="ko-KR" altLang="en-US" sz="7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251" name="그룹 250"/>
          <p:cNvGrpSpPr/>
          <p:nvPr/>
        </p:nvGrpSpPr>
        <p:grpSpPr>
          <a:xfrm>
            <a:off x="2467431" y="2129022"/>
            <a:ext cx="546080" cy="187731"/>
            <a:chOff x="791030" y="1539338"/>
            <a:chExt cx="546080" cy="187731"/>
          </a:xfrm>
        </p:grpSpPr>
        <p:sp>
          <p:nvSpPr>
            <p:cNvPr id="252" name="Rounded Rectangle 265"/>
            <p:cNvSpPr/>
            <p:nvPr/>
          </p:nvSpPr>
          <p:spPr>
            <a:xfrm>
              <a:off x="941110" y="1539338"/>
              <a:ext cx="39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종일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53" name="Rounded Rectangle 238"/>
            <p:cNvSpPr/>
            <p:nvPr/>
          </p:nvSpPr>
          <p:spPr>
            <a:xfrm>
              <a:off x="791030" y="1579812"/>
              <a:ext cx="112049" cy="109096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9525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30000"/>
                </a:lnSpc>
              </a:pP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54" name="그룹 253"/>
          <p:cNvGrpSpPr/>
          <p:nvPr/>
        </p:nvGrpSpPr>
        <p:grpSpPr>
          <a:xfrm>
            <a:off x="2467431" y="5281797"/>
            <a:ext cx="546080" cy="187731"/>
            <a:chOff x="791030" y="1539338"/>
            <a:chExt cx="546080" cy="187731"/>
          </a:xfrm>
        </p:grpSpPr>
        <p:sp>
          <p:nvSpPr>
            <p:cNvPr id="255" name="Rounded Rectangle 265"/>
            <p:cNvSpPr/>
            <p:nvPr/>
          </p:nvSpPr>
          <p:spPr>
            <a:xfrm>
              <a:off x="941110" y="1539338"/>
              <a:ext cx="39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종일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56" name="Rounded Rectangle 238"/>
            <p:cNvSpPr/>
            <p:nvPr/>
          </p:nvSpPr>
          <p:spPr>
            <a:xfrm>
              <a:off x="791030" y="1579812"/>
              <a:ext cx="112049" cy="109096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9525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30000"/>
                </a:lnSpc>
              </a:pP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67" name="그룹 266"/>
          <p:cNvGrpSpPr/>
          <p:nvPr/>
        </p:nvGrpSpPr>
        <p:grpSpPr>
          <a:xfrm>
            <a:off x="6877506" y="2109972"/>
            <a:ext cx="546080" cy="187731"/>
            <a:chOff x="791030" y="1539338"/>
            <a:chExt cx="546080" cy="187731"/>
          </a:xfrm>
        </p:grpSpPr>
        <p:sp>
          <p:nvSpPr>
            <p:cNvPr id="272" name="Rounded Rectangle 265"/>
            <p:cNvSpPr/>
            <p:nvPr/>
          </p:nvSpPr>
          <p:spPr>
            <a:xfrm>
              <a:off x="941110" y="1539338"/>
              <a:ext cx="39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종일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73" name="Rounded Rectangle 238"/>
            <p:cNvSpPr/>
            <p:nvPr/>
          </p:nvSpPr>
          <p:spPr>
            <a:xfrm>
              <a:off x="791030" y="1579812"/>
              <a:ext cx="112049" cy="109096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9525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30000"/>
                </a:lnSpc>
              </a:pP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84" name="그룹 183"/>
          <p:cNvGrpSpPr/>
          <p:nvPr/>
        </p:nvGrpSpPr>
        <p:grpSpPr>
          <a:xfrm>
            <a:off x="775618" y="1846014"/>
            <a:ext cx="2089334" cy="206613"/>
            <a:chOff x="775618" y="1322139"/>
            <a:chExt cx="2089334" cy="206613"/>
          </a:xfrm>
        </p:grpSpPr>
        <p:grpSp>
          <p:nvGrpSpPr>
            <p:cNvPr id="185" name="그룹 184"/>
            <p:cNvGrpSpPr/>
            <p:nvPr/>
          </p:nvGrpSpPr>
          <p:grpSpPr>
            <a:xfrm>
              <a:off x="1232844" y="1322139"/>
              <a:ext cx="1632108" cy="206613"/>
              <a:chOff x="785804" y="1322139"/>
              <a:chExt cx="1632108" cy="206613"/>
            </a:xfrm>
          </p:grpSpPr>
          <p:sp>
            <p:nvSpPr>
              <p:cNvPr id="187" name="Rectangle 127"/>
              <p:cNvSpPr/>
              <p:nvPr/>
            </p:nvSpPr>
            <p:spPr>
              <a:xfrm>
                <a:off x="785804" y="1341351"/>
                <a:ext cx="749672" cy="187401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lIns="36000" tIns="0" rIns="0" bIns="0" rtlCol="0" anchor="ctr"/>
              <a:lstStyle/>
              <a:p>
                <a:pPr marR="0" lvl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</a:rPr>
                  <a:t>      2018-01-22 </a:t>
                </a:r>
                <a:endParaRPr kumimoji="0" 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88" name="Rectangle 127"/>
              <p:cNvSpPr/>
              <p:nvPr/>
            </p:nvSpPr>
            <p:spPr>
              <a:xfrm>
                <a:off x="1668240" y="1341351"/>
                <a:ext cx="749672" cy="187401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lIns="36000" tIns="0" rIns="0" bIns="0" rtlCol="0" anchor="ctr"/>
              <a:lstStyle/>
              <a:p>
                <a:pPr marR="0" lvl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</a:rPr>
                  <a:t>       2018-02-22 </a:t>
                </a:r>
                <a:endParaRPr kumimoji="0" 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89" name="TextBox 188"/>
              <p:cNvSpPr txBox="1"/>
              <p:nvPr/>
            </p:nvSpPr>
            <p:spPr>
              <a:xfrm>
                <a:off x="1532483" y="1322139"/>
                <a:ext cx="135221" cy="200055"/>
              </a:xfrm>
              <a:prstGeom prst="rect">
                <a:avLst/>
              </a:prstGeom>
              <a:noFill/>
            </p:spPr>
            <p:txBody>
              <a:bodyPr wrap="none" lIns="36000" rIns="36000" rtlCol="0" anchor="ctr">
                <a:spAutoFit/>
              </a:bodyPr>
              <a:lstStyle/>
              <a:p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~</a:t>
                </a:r>
                <a:endPara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90" name="Freeform 33"/>
              <p:cNvSpPr>
                <a:spLocks noChangeAspect="1" noEditPoints="1"/>
              </p:cNvSpPr>
              <p:nvPr/>
            </p:nvSpPr>
            <p:spPr bwMode="auto">
              <a:xfrm>
                <a:off x="816633" y="1372856"/>
                <a:ext cx="109378" cy="121714"/>
              </a:xfrm>
              <a:custGeom>
                <a:avLst/>
                <a:gdLst>
                  <a:gd name="T0" fmla="*/ 338 w 450"/>
                  <a:gd name="T1" fmla="*/ 252 h 500"/>
                  <a:gd name="T2" fmla="*/ 312 w 450"/>
                  <a:gd name="T3" fmla="*/ 225 h 500"/>
                  <a:gd name="T4" fmla="*/ 190 w 450"/>
                  <a:gd name="T5" fmla="*/ 347 h 500"/>
                  <a:gd name="T6" fmla="*/ 137 w 450"/>
                  <a:gd name="T7" fmla="*/ 294 h 500"/>
                  <a:gd name="T8" fmla="*/ 110 w 450"/>
                  <a:gd name="T9" fmla="*/ 320 h 500"/>
                  <a:gd name="T10" fmla="*/ 190 w 450"/>
                  <a:gd name="T11" fmla="*/ 400 h 500"/>
                  <a:gd name="T12" fmla="*/ 338 w 450"/>
                  <a:gd name="T13" fmla="*/ 252 h 500"/>
                  <a:gd name="T14" fmla="*/ 400 w 450"/>
                  <a:gd name="T15" fmla="*/ 50 h 500"/>
                  <a:gd name="T16" fmla="*/ 375 w 450"/>
                  <a:gd name="T17" fmla="*/ 50 h 500"/>
                  <a:gd name="T18" fmla="*/ 375 w 450"/>
                  <a:gd name="T19" fmla="*/ 0 h 500"/>
                  <a:gd name="T20" fmla="*/ 325 w 450"/>
                  <a:gd name="T21" fmla="*/ 0 h 500"/>
                  <a:gd name="T22" fmla="*/ 325 w 450"/>
                  <a:gd name="T23" fmla="*/ 50 h 500"/>
                  <a:gd name="T24" fmla="*/ 125 w 450"/>
                  <a:gd name="T25" fmla="*/ 50 h 500"/>
                  <a:gd name="T26" fmla="*/ 125 w 450"/>
                  <a:gd name="T27" fmla="*/ 0 h 500"/>
                  <a:gd name="T28" fmla="*/ 75 w 450"/>
                  <a:gd name="T29" fmla="*/ 0 h 500"/>
                  <a:gd name="T30" fmla="*/ 75 w 450"/>
                  <a:gd name="T31" fmla="*/ 50 h 500"/>
                  <a:gd name="T32" fmla="*/ 50 w 450"/>
                  <a:gd name="T33" fmla="*/ 50 h 500"/>
                  <a:gd name="T34" fmla="*/ 0 w 450"/>
                  <a:gd name="T35" fmla="*/ 100 h 500"/>
                  <a:gd name="T36" fmla="*/ 0 w 450"/>
                  <a:gd name="T37" fmla="*/ 450 h 500"/>
                  <a:gd name="T38" fmla="*/ 50 w 450"/>
                  <a:gd name="T39" fmla="*/ 500 h 500"/>
                  <a:gd name="T40" fmla="*/ 400 w 450"/>
                  <a:gd name="T41" fmla="*/ 500 h 500"/>
                  <a:gd name="T42" fmla="*/ 450 w 450"/>
                  <a:gd name="T43" fmla="*/ 450 h 500"/>
                  <a:gd name="T44" fmla="*/ 450 w 450"/>
                  <a:gd name="T45" fmla="*/ 100 h 500"/>
                  <a:gd name="T46" fmla="*/ 400 w 450"/>
                  <a:gd name="T47" fmla="*/ 50 h 500"/>
                  <a:gd name="T48" fmla="*/ 400 w 450"/>
                  <a:gd name="T49" fmla="*/ 450 h 500"/>
                  <a:gd name="T50" fmla="*/ 50 w 450"/>
                  <a:gd name="T51" fmla="*/ 450 h 500"/>
                  <a:gd name="T52" fmla="*/ 50 w 450"/>
                  <a:gd name="T53" fmla="*/ 175 h 500"/>
                  <a:gd name="T54" fmla="*/ 400 w 450"/>
                  <a:gd name="T55" fmla="*/ 175 h 500"/>
                  <a:gd name="T56" fmla="*/ 400 w 450"/>
                  <a:gd name="T57" fmla="*/ 45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0" h="500">
                    <a:moveTo>
                      <a:pt x="338" y="252"/>
                    </a:moveTo>
                    <a:lnTo>
                      <a:pt x="312" y="225"/>
                    </a:lnTo>
                    <a:lnTo>
                      <a:pt x="190" y="347"/>
                    </a:lnTo>
                    <a:lnTo>
                      <a:pt x="137" y="294"/>
                    </a:lnTo>
                    <a:lnTo>
                      <a:pt x="110" y="320"/>
                    </a:lnTo>
                    <a:lnTo>
                      <a:pt x="190" y="400"/>
                    </a:lnTo>
                    <a:lnTo>
                      <a:pt x="338" y="252"/>
                    </a:lnTo>
                    <a:close/>
                    <a:moveTo>
                      <a:pt x="400" y="50"/>
                    </a:moveTo>
                    <a:lnTo>
                      <a:pt x="375" y="50"/>
                    </a:lnTo>
                    <a:lnTo>
                      <a:pt x="375" y="0"/>
                    </a:lnTo>
                    <a:lnTo>
                      <a:pt x="325" y="0"/>
                    </a:lnTo>
                    <a:lnTo>
                      <a:pt x="325" y="50"/>
                    </a:lnTo>
                    <a:lnTo>
                      <a:pt x="125" y="50"/>
                    </a:lnTo>
                    <a:lnTo>
                      <a:pt x="125" y="0"/>
                    </a:lnTo>
                    <a:lnTo>
                      <a:pt x="75" y="0"/>
                    </a:lnTo>
                    <a:lnTo>
                      <a:pt x="75" y="50"/>
                    </a:lnTo>
                    <a:lnTo>
                      <a:pt x="50" y="50"/>
                    </a:lnTo>
                    <a:cubicBezTo>
                      <a:pt x="22" y="50"/>
                      <a:pt x="0" y="73"/>
                      <a:pt x="0" y="100"/>
                    </a:cubicBezTo>
                    <a:lnTo>
                      <a:pt x="0" y="450"/>
                    </a:lnTo>
                    <a:cubicBezTo>
                      <a:pt x="0" y="478"/>
                      <a:pt x="22" y="500"/>
                      <a:pt x="50" y="500"/>
                    </a:cubicBezTo>
                    <a:lnTo>
                      <a:pt x="400" y="500"/>
                    </a:lnTo>
                    <a:cubicBezTo>
                      <a:pt x="428" y="500"/>
                      <a:pt x="450" y="478"/>
                      <a:pt x="450" y="450"/>
                    </a:cubicBezTo>
                    <a:lnTo>
                      <a:pt x="450" y="100"/>
                    </a:lnTo>
                    <a:cubicBezTo>
                      <a:pt x="450" y="73"/>
                      <a:pt x="428" y="50"/>
                      <a:pt x="400" y="50"/>
                    </a:cubicBezTo>
                    <a:close/>
                    <a:moveTo>
                      <a:pt x="400" y="450"/>
                    </a:moveTo>
                    <a:lnTo>
                      <a:pt x="50" y="450"/>
                    </a:lnTo>
                    <a:lnTo>
                      <a:pt x="50" y="175"/>
                    </a:lnTo>
                    <a:lnTo>
                      <a:pt x="400" y="175"/>
                    </a:lnTo>
                    <a:lnTo>
                      <a:pt x="400" y="450"/>
                    </a:lnTo>
                    <a:close/>
                  </a:path>
                </a:pathLst>
              </a:custGeom>
              <a:solidFill>
                <a:sysClr val="windowText" lastClr="000000">
                  <a:lumMod val="65000"/>
                  <a:lumOff val="35000"/>
                </a:sys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3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1" name="Freeform 33"/>
              <p:cNvSpPr>
                <a:spLocks noChangeAspect="1" noEditPoints="1"/>
              </p:cNvSpPr>
              <p:nvPr/>
            </p:nvSpPr>
            <p:spPr bwMode="auto">
              <a:xfrm>
                <a:off x="1707644" y="1372856"/>
                <a:ext cx="109378" cy="121714"/>
              </a:xfrm>
              <a:custGeom>
                <a:avLst/>
                <a:gdLst>
                  <a:gd name="T0" fmla="*/ 338 w 450"/>
                  <a:gd name="T1" fmla="*/ 252 h 500"/>
                  <a:gd name="T2" fmla="*/ 312 w 450"/>
                  <a:gd name="T3" fmla="*/ 225 h 500"/>
                  <a:gd name="T4" fmla="*/ 190 w 450"/>
                  <a:gd name="T5" fmla="*/ 347 h 500"/>
                  <a:gd name="T6" fmla="*/ 137 w 450"/>
                  <a:gd name="T7" fmla="*/ 294 h 500"/>
                  <a:gd name="T8" fmla="*/ 110 w 450"/>
                  <a:gd name="T9" fmla="*/ 320 h 500"/>
                  <a:gd name="T10" fmla="*/ 190 w 450"/>
                  <a:gd name="T11" fmla="*/ 400 h 500"/>
                  <a:gd name="T12" fmla="*/ 338 w 450"/>
                  <a:gd name="T13" fmla="*/ 252 h 500"/>
                  <a:gd name="T14" fmla="*/ 400 w 450"/>
                  <a:gd name="T15" fmla="*/ 50 h 500"/>
                  <a:gd name="T16" fmla="*/ 375 w 450"/>
                  <a:gd name="T17" fmla="*/ 50 h 500"/>
                  <a:gd name="T18" fmla="*/ 375 w 450"/>
                  <a:gd name="T19" fmla="*/ 0 h 500"/>
                  <a:gd name="T20" fmla="*/ 325 w 450"/>
                  <a:gd name="T21" fmla="*/ 0 h 500"/>
                  <a:gd name="T22" fmla="*/ 325 w 450"/>
                  <a:gd name="T23" fmla="*/ 50 h 500"/>
                  <a:gd name="T24" fmla="*/ 125 w 450"/>
                  <a:gd name="T25" fmla="*/ 50 h 500"/>
                  <a:gd name="T26" fmla="*/ 125 w 450"/>
                  <a:gd name="T27" fmla="*/ 0 h 500"/>
                  <a:gd name="T28" fmla="*/ 75 w 450"/>
                  <a:gd name="T29" fmla="*/ 0 h 500"/>
                  <a:gd name="T30" fmla="*/ 75 w 450"/>
                  <a:gd name="T31" fmla="*/ 50 h 500"/>
                  <a:gd name="T32" fmla="*/ 50 w 450"/>
                  <a:gd name="T33" fmla="*/ 50 h 500"/>
                  <a:gd name="T34" fmla="*/ 0 w 450"/>
                  <a:gd name="T35" fmla="*/ 100 h 500"/>
                  <a:gd name="T36" fmla="*/ 0 w 450"/>
                  <a:gd name="T37" fmla="*/ 450 h 500"/>
                  <a:gd name="T38" fmla="*/ 50 w 450"/>
                  <a:gd name="T39" fmla="*/ 500 h 500"/>
                  <a:gd name="T40" fmla="*/ 400 w 450"/>
                  <a:gd name="T41" fmla="*/ 500 h 500"/>
                  <a:gd name="T42" fmla="*/ 450 w 450"/>
                  <a:gd name="T43" fmla="*/ 450 h 500"/>
                  <a:gd name="T44" fmla="*/ 450 w 450"/>
                  <a:gd name="T45" fmla="*/ 100 h 500"/>
                  <a:gd name="T46" fmla="*/ 400 w 450"/>
                  <a:gd name="T47" fmla="*/ 50 h 500"/>
                  <a:gd name="T48" fmla="*/ 400 w 450"/>
                  <a:gd name="T49" fmla="*/ 450 h 500"/>
                  <a:gd name="T50" fmla="*/ 50 w 450"/>
                  <a:gd name="T51" fmla="*/ 450 h 500"/>
                  <a:gd name="T52" fmla="*/ 50 w 450"/>
                  <a:gd name="T53" fmla="*/ 175 h 500"/>
                  <a:gd name="T54" fmla="*/ 400 w 450"/>
                  <a:gd name="T55" fmla="*/ 175 h 500"/>
                  <a:gd name="T56" fmla="*/ 400 w 450"/>
                  <a:gd name="T57" fmla="*/ 45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0" h="500">
                    <a:moveTo>
                      <a:pt x="338" y="252"/>
                    </a:moveTo>
                    <a:lnTo>
                      <a:pt x="312" y="225"/>
                    </a:lnTo>
                    <a:lnTo>
                      <a:pt x="190" y="347"/>
                    </a:lnTo>
                    <a:lnTo>
                      <a:pt x="137" y="294"/>
                    </a:lnTo>
                    <a:lnTo>
                      <a:pt x="110" y="320"/>
                    </a:lnTo>
                    <a:lnTo>
                      <a:pt x="190" y="400"/>
                    </a:lnTo>
                    <a:lnTo>
                      <a:pt x="338" y="252"/>
                    </a:lnTo>
                    <a:close/>
                    <a:moveTo>
                      <a:pt x="400" y="50"/>
                    </a:moveTo>
                    <a:lnTo>
                      <a:pt x="375" y="50"/>
                    </a:lnTo>
                    <a:lnTo>
                      <a:pt x="375" y="0"/>
                    </a:lnTo>
                    <a:lnTo>
                      <a:pt x="325" y="0"/>
                    </a:lnTo>
                    <a:lnTo>
                      <a:pt x="325" y="50"/>
                    </a:lnTo>
                    <a:lnTo>
                      <a:pt x="125" y="50"/>
                    </a:lnTo>
                    <a:lnTo>
                      <a:pt x="125" y="0"/>
                    </a:lnTo>
                    <a:lnTo>
                      <a:pt x="75" y="0"/>
                    </a:lnTo>
                    <a:lnTo>
                      <a:pt x="75" y="50"/>
                    </a:lnTo>
                    <a:lnTo>
                      <a:pt x="50" y="50"/>
                    </a:lnTo>
                    <a:cubicBezTo>
                      <a:pt x="22" y="50"/>
                      <a:pt x="0" y="73"/>
                      <a:pt x="0" y="100"/>
                    </a:cubicBezTo>
                    <a:lnTo>
                      <a:pt x="0" y="450"/>
                    </a:lnTo>
                    <a:cubicBezTo>
                      <a:pt x="0" y="478"/>
                      <a:pt x="22" y="500"/>
                      <a:pt x="50" y="500"/>
                    </a:cubicBezTo>
                    <a:lnTo>
                      <a:pt x="400" y="500"/>
                    </a:lnTo>
                    <a:cubicBezTo>
                      <a:pt x="428" y="500"/>
                      <a:pt x="450" y="478"/>
                      <a:pt x="450" y="450"/>
                    </a:cubicBezTo>
                    <a:lnTo>
                      <a:pt x="450" y="100"/>
                    </a:lnTo>
                    <a:cubicBezTo>
                      <a:pt x="450" y="73"/>
                      <a:pt x="428" y="50"/>
                      <a:pt x="400" y="50"/>
                    </a:cubicBezTo>
                    <a:close/>
                    <a:moveTo>
                      <a:pt x="400" y="450"/>
                    </a:moveTo>
                    <a:lnTo>
                      <a:pt x="50" y="450"/>
                    </a:lnTo>
                    <a:lnTo>
                      <a:pt x="50" y="175"/>
                    </a:lnTo>
                    <a:lnTo>
                      <a:pt x="400" y="175"/>
                    </a:lnTo>
                    <a:lnTo>
                      <a:pt x="400" y="450"/>
                    </a:lnTo>
                    <a:close/>
                  </a:path>
                </a:pathLst>
              </a:custGeom>
              <a:solidFill>
                <a:sysClr val="windowText" lastClr="000000">
                  <a:lumMod val="65000"/>
                  <a:lumOff val="35000"/>
                </a:sys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3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86" name="Rectangle 127"/>
            <p:cNvSpPr/>
            <p:nvPr/>
          </p:nvSpPr>
          <p:spPr>
            <a:xfrm>
              <a:off x="775618" y="1341351"/>
              <a:ext cx="413076" cy="187401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36000" tIns="0" rIns="0" bIns="0" rtlCol="0" anchor="ctr"/>
            <a:lstStyle/>
            <a:p>
              <a:pPr marR="0" lvl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양력 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cxnSp>
        <p:nvCxnSpPr>
          <p:cNvPr id="9" name="꺾인 연결선 8"/>
          <p:cNvCxnSpPr>
            <a:stCxn id="57" idx="1"/>
            <a:endCxn id="225" idx="1"/>
          </p:cNvCxnSpPr>
          <p:nvPr/>
        </p:nvCxnSpPr>
        <p:spPr>
          <a:xfrm rot="10800000" flipH="1" flipV="1">
            <a:off x="785804" y="1442882"/>
            <a:ext cx="30994" cy="1316664"/>
          </a:xfrm>
          <a:prstGeom prst="bentConnector3">
            <a:avLst>
              <a:gd name="adj1" fmla="val -215122"/>
            </a:avLst>
          </a:prstGeom>
          <a:ln w="3175">
            <a:solidFill>
              <a:srgbClr val="FF0000"/>
            </a:solidFill>
            <a:headEnd type="none" w="med" len="med"/>
            <a:tailEnd type="triangl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>
            <a:off x="1304925" y="1766353"/>
            <a:ext cx="0" cy="916001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triangl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그룹 191"/>
          <p:cNvGrpSpPr/>
          <p:nvPr/>
        </p:nvGrpSpPr>
        <p:grpSpPr>
          <a:xfrm>
            <a:off x="775618" y="5036889"/>
            <a:ext cx="2089334" cy="206613"/>
            <a:chOff x="775618" y="1322139"/>
            <a:chExt cx="2089334" cy="206613"/>
          </a:xfrm>
        </p:grpSpPr>
        <p:grpSp>
          <p:nvGrpSpPr>
            <p:cNvPr id="193" name="그룹 192"/>
            <p:cNvGrpSpPr/>
            <p:nvPr/>
          </p:nvGrpSpPr>
          <p:grpSpPr>
            <a:xfrm>
              <a:off x="1232844" y="1322139"/>
              <a:ext cx="1632108" cy="206613"/>
              <a:chOff x="785804" y="1322139"/>
              <a:chExt cx="1632108" cy="206613"/>
            </a:xfrm>
          </p:grpSpPr>
          <p:sp>
            <p:nvSpPr>
              <p:cNvPr id="195" name="Rectangle 127"/>
              <p:cNvSpPr/>
              <p:nvPr/>
            </p:nvSpPr>
            <p:spPr>
              <a:xfrm>
                <a:off x="785804" y="1341351"/>
                <a:ext cx="749672" cy="187401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lIns="36000" tIns="0" rIns="0" bIns="0" rtlCol="0" anchor="ctr"/>
              <a:lstStyle/>
              <a:p>
                <a:pPr marR="0" lvl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</a:rPr>
                  <a:t>      2018-01-22 </a:t>
                </a:r>
                <a:endParaRPr kumimoji="0" 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96" name="Rectangle 127"/>
              <p:cNvSpPr/>
              <p:nvPr/>
            </p:nvSpPr>
            <p:spPr>
              <a:xfrm>
                <a:off x="1668240" y="1341351"/>
                <a:ext cx="749672" cy="187401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lIns="36000" tIns="0" rIns="0" bIns="0" rtlCol="0" anchor="ctr"/>
              <a:lstStyle/>
              <a:p>
                <a:pPr marR="0" lvl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</a:rPr>
                  <a:t>       2019-01-22 </a:t>
                </a:r>
                <a:endParaRPr kumimoji="0" 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197" name="TextBox 196"/>
              <p:cNvSpPr txBox="1"/>
              <p:nvPr/>
            </p:nvSpPr>
            <p:spPr>
              <a:xfrm>
                <a:off x="1532483" y="1322139"/>
                <a:ext cx="135221" cy="200055"/>
              </a:xfrm>
              <a:prstGeom prst="rect">
                <a:avLst/>
              </a:prstGeom>
              <a:noFill/>
            </p:spPr>
            <p:txBody>
              <a:bodyPr wrap="none" lIns="36000" rIns="36000" rtlCol="0" anchor="ctr">
                <a:spAutoFit/>
              </a:bodyPr>
              <a:lstStyle/>
              <a:p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~</a:t>
                </a:r>
                <a:endPara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98" name="Freeform 33"/>
              <p:cNvSpPr>
                <a:spLocks noChangeAspect="1" noEditPoints="1"/>
              </p:cNvSpPr>
              <p:nvPr/>
            </p:nvSpPr>
            <p:spPr bwMode="auto">
              <a:xfrm>
                <a:off x="816633" y="1372856"/>
                <a:ext cx="109378" cy="121714"/>
              </a:xfrm>
              <a:custGeom>
                <a:avLst/>
                <a:gdLst>
                  <a:gd name="T0" fmla="*/ 338 w 450"/>
                  <a:gd name="T1" fmla="*/ 252 h 500"/>
                  <a:gd name="T2" fmla="*/ 312 w 450"/>
                  <a:gd name="T3" fmla="*/ 225 h 500"/>
                  <a:gd name="T4" fmla="*/ 190 w 450"/>
                  <a:gd name="T5" fmla="*/ 347 h 500"/>
                  <a:gd name="T6" fmla="*/ 137 w 450"/>
                  <a:gd name="T7" fmla="*/ 294 h 500"/>
                  <a:gd name="T8" fmla="*/ 110 w 450"/>
                  <a:gd name="T9" fmla="*/ 320 h 500"/>
                  <a:gd name="T10" fmla="*/ 190 w 450"/>
                  <a:gd name="T11" fmla="*/ 400 h 500"/>
                  <a:gd name="T12" fmla="*/ 338 w 450"/>
                  <a:gd name="T13" fmla="*/ 252 h 500"/>
                  <a:gd name="T14" fmla="*/ 400 w 450"/>
                  <a:gd name="T15" fmla="*/ 50 h 500"/>
                  <a:gd name="T16" fmla="*/ 375 w 450"/>
                  <a:gd name="T17" fmla="*/ 50 h 500"/>
                  <a:gd name="T18" fmla="*/ 375 w 450"/>
                  <a:gd name="T19" fmla="*/ 0 h 500"/>
                  <a:gd name="T20" fmla="*/ 325 w 450"/>
                  <a:gd name="T21" fmla="*/ 0 h 500"/>
                  <a:gd name="T22" fmla="*/ 325 w 450"/>
                  <a:gd name="T23" fmla="*/ 50 h 500"/>
                  <a:gd name="T24" fmla="*/ 125 w 450"/>
                  <a:gd name="T25" fmla="*/ 50 h 500"/>
                  <a:gd name="T26" fmla="*/ 125 w 450"/>
                  <a:gd name="T27" fmla="*/ 0 h 500"/>
                  <a:gd name="T28" fmla="*/ 75 w 450"/>
                  <a:gd name="T29" fmla="*/ 0 h 500"/>
                  <a:gd name="T30" fmla="*/ 75 w 450"/>
                  <a:gd name="T31" fmla="*/ 50 h 500"/>
                  <a:gd name="T32" fmla="*/ 50 w 450"/>
                  <a:gd name="T33" fmla="*/ 50 h 500"/>
                  <a:gd name="T34" fmla="*/ 0 w 450"/>
                  <a:gd name="T35" fmla="*/ 100 h 500"/>
                  <a:gd name="T36" fmla="*/ 0 w 450"/>
                  <a:gd name="T37" fmla="*/ 450 h 500"/>
                  <a:gd name="T38" fmla="*/ 50 w 450"/>
                  <a:gd name="T39" fmla="*/ 500 h 500"/>
                  <a:gd name="T40" fmla="*/ 400 w 450"/>
                  <a:gd name="T41" fmla="*/ 500 h 500"/>
                  <a:gd name="T42" fmla="*/ 450 w 450"/>
                  <a:gd name="T43" fmla="*/ 450 h 500"/>
                  <a:gd name="T44" fmla="*/ 450 w 450"/>
                  <a:gd name="T45" fmla="*/ 100 h 500"/>
                  <a:gd name="T46" fmla="*/ 400 w 450"/>
                  <a:gd name="T47" fmla="*/ 50 h 500"/>
                  <a:gd name="T48" fmla="*/ 400 w 450"/>
                  <a:gd name="T49" fmla="*/ 450 h 500"/>
                  <a:gd name="T50" fmla="*/ 50 w 450"/>
                  <a:gd name="T51" fmla="*/ 450 h 500"/>
                  <a:gd name="T52" fmla="*/ 50 w 450"/>
                  <a:gd name="T53" fmla="*/ 175 h 500"/>
                  <a:gd name="T54" fmla="*/ 400 w 450"/>
                  <a:gd name="T55" fmla="*/ 175 h 500"/>
                  <a:gd name="T56" fmla="*/ 400 w 450"/>
                  <a:gd name="T57" fmla="*/ 45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0" h="500">
                    <a:moveTo>
                      <a:pt x="338" y="252"/>
                    </a:moveTo>
                    <a:lnTo>
                      <a:pt x="312" y="225"/>
                    </a:lnTo>
                    <a:lnTo>
                      <a:pt x="190" y="347"/>
                    </a:lnTo>
                    <a:lnTo>
                      <a:pt x="137" y="294"/>
                    </a:lnTo>
                    <a:lnTo>
                      <a:pt x="110" y="320"/>
                    </a:lnTo>
                    <a:lnTo>
                      <a:pt x="190" y="400"/>
                    </a:lnTo>
                    <a:lnTo>
                      <a:pt x="338" y="252"/>
                    </a:lnTo>
                    <a:close/>
                    <a:moveTo>
                      <a:pt x="400" y="50"/>
                    </a:moveTo>
                    <a:lnTo>
                      <a:pt x="375" y="50"/>
                    </a:lnTo>
                    <a:lnTo>
                      <a:pt x="375" y="0"/>
                    </a:lnTo>
                    <a:lnTo>
                      <a:pt x="325" y="0"/>
                    </a:lnTo>
                    <a:lnTo>
                      <a:pt x="325" y="50"/>
                    </a:lnTo>
                    <a:lnTo>
                      <a:pt x="125" y="50"/>
                    </a:lnTo>
                    <a:lnTo>
                      <a:pt x="125" y="0"/>
                    </a:lnTo>
                    <a:lnTo>
                      <a:pt x="75" y="0"/>
                    </a:lnTo>
                    <a:lnTo>
                      <a:pt x="75" y="50"/>
                    </a:lnTo>
                    <a:lnTo>
                      <a:pt x="50" y="50"/>
                    </a:lnTo>
                    <a:cubicBezTo>
                      <a:pt x="22" y="50"/>
                      <a:pt x="0" y="73"/>
                      <a:pt x="0" y="100"/>
                    </a:cubicBezTo>
                    <a:lnTo>
                      <a:pt x="0" y="450"/>
                    </a:lnTo>
                    <a:cubicBezTo>
                      <a:pt x="0" y="478"/>
                      <a:pt x="22" y="500"/>
                      <a:pt x="50" y="500"/>
                    </a:cubicBezTo>
                    <a:lnTo>
                      <a:pt x="400" y="500"/>
                    </a:lnTo>
                    <a:cubicBezTo>
                      <a:pt x="428" y="500"/>
                      <a:pt x="450" y="478"/>
                      <a:pt x="450" y="450"/>
                    </a:cubicBezTo>
                    <a:lnTo>
                      <a:pt x="450" y="100"/>
                    </a:lnTo>
                    <a:cubicBezTo>
                      <a:pt x="450" y="73"/>
                      <a:pt x="428" y="50"/>
                      <a:pt x="400" y="50"/>
                    </a:cubicBezTo>
                    <a:close/>
                    <a:moveTo>
                      <a:pt x="400" y="450"/>
                    </a:moveTo>
                    <a:lnTo>
                      <a:pt x="50" y="450"/>
                    </a:lnTo>
                    <a:lnTo>
                      <a:pt x="50" y="175"/>
                    </a:lnTo>
                    <a:lnTo>
                      <a:pt x="400" y="175"/>
                    </a:lnTo>
                    <a:lnTo>
                      <a:pt x="400" y="450"/>
                    </a:lnTo>
                    <a:close/>
                  </a:path>
                </a:pathLst>
              </a:custGeom>
              <a:solidFill>
                <a:sysClr val="windowText" lastClr="000000">
                  <a:lumMod val="65000"/>
                  <a:lumOff val="35000"/>
                </a:sys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3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99" name="Freeform 33"/>
              <p:cNvSpPr>
                <a:spLocks noChangeAspect="1" noEditPoints="1"/>
              </p:cNvSpPr>
              <p:nvPr/>
            </p:nvSpPr>
            <p:spPr bwMode="auto">
              <a:xfrm>
                <a:off x="1707644" y="1372856"/>
                <a:ext cx="109378" cy="121714"/>
              </a:xfrm>
              <a:custGeom>
                <a:avLst/>
                <a:gdLst>
                  <a:gd name="T0" fmla="*/ 338 w 450"/>
                  <a:gd name="T1" fmla="*/ 252 h 500"/>
                  <a:gd name="T2" fmla="*/ 312 w 450"/>
                  <a:gd name="T3" fmla="*/ 225 h 500"/>
                  <a:gd name="T4" fmla="*/ 190 w 450"/>
                  <a:gd name="T5" fmla="*/ 347 h 500"/>
                  <a:gd name="T6" fmla="*/ 137 w 450"/>
                  <a:gd name="T7" fmla="*/ 294 h 500"/>
                  <a:gd name="T8" fmla="*/ 110 w 450"/>
                  <a:gd name="T9" fmla="*/ 320 h 500"/>
                  <a:gd name="T10" fmla="*/ 190 w 450"/>
                  <a:gd name="T11" fmla="*/ 400 h 500"/>
                  <a:gd name="T12" fmla="*/ 338 w 450"/>
                  <a:gd name="T13" fmla="*/ 252 h 500"/>
                  <a:gd name="T14" fmla="*/ 400 w 450"/>
                  <a:gd name="T15" fmla="*/ 50 h 500"/>
                  <a:gd name="T16" fmla="*/ 375 w 450"/>
                  <a:gd name="T17" fmla="*/ 50 h 500"/>
                  <a:gd name="T18" fmla="*/ 375 w 450"/>
                  <a:gd name="T19" fmla="*/ 0 h 500"/>
                  <a:gd name="T20" fmla="*/ 325 w 450"/>
                  <a:gd name="T21" fmla="*/ 0 h 500"/>
                  <a:gd name="T22" fmla="*/ 325 w 450"/>
                  <a:gd name="T23" fmla="*/ 50 h 500"/>
                  <a:gd name="T24" fmla="*/ 125 w 450"/>
                  <a:gd name="T25" fmla="*/ 50 h 500"/>
                  <a:gd name="T26" fmla="*/ 125 w 450"/>
                  <a:gd name="T27" fmla="*/ 0 h 500"/>
                  <a:gd name="T28" fmla="*/ 75 w 450"/>
                  <a:gd name="T29" fmla="*/ 0 h 500"/>
                  <a:gd name="T30" fmla="*/ 75 w 450"/>
                  <a:gd name="T31" fmla="*/ 50 h 500"/>
                  <a:gd name="T32" fmla="*/ 50 w 450"/>
                  <a:gd name="T33" fmla="*/ 50 h 500"/>
                  <a:gd name="T34" fmla="*/ 0 w 450"/>
                  <a:gd name="T35" fmla="*/ 100 h 500"/>
                  <a:gd name="T36" fmla="*/ 0 w 450"/>
                  <a:gd name="T37" fmla="*/ 450 h 500"/>
                  <a:gd name="T38" fmla="*/ 50 w 450"/>
                  <a:gd name="T39" fmla="*/ 500 h 500"/>
                  <a:gd name="T40" fmla="*/ 400 w 450"/>
                  <a:gd name="T41" fmla="*/ 500 h 500"/>
                  <a:gd name="T42" fmla="*/ 450 w 450"/>
                  <a:gd name="T43" fmla="*/ 450 h 500"/>
                  <a:gd name="T44" fmla="*/ 450 w 450"/>
                  <a:gd name="T45" fmla="*/ 100 h 500"/>
                  <a:gd name="T46" fmla="*/ 400 w 450"/>
                  <a:gd name="T47" fmla="*/ 50 h 500"/>
                  <a:gd name="T48" fmla="*/ 400 w 450"/>
                  <a:gd name="T49" fmla="*/ 450 h 500"/>
                  <a:gd name="T50" fmla="*/ 50 w 450"/>
                  <a:gd name="T51" fmla="*/ 450 h 500"/>
                  <a:gd name="T52" fmla="*/ 50 w 450"/>
                  <a:gd name="T53" fmla="*/ 175 h 500"/>
                  <a:gd name="T54" fmla="*/ 400 w 450"/>
                  <a:gd name="T55" fmla="*/ 175 h 500"/>
                  <a:gd name="T56" fmla="*/ 400 w 450"/>
                  <a:gd name="T57" fmla="*/ 45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0" h="500">
                    <a:moveTo>
                      <a:pt x="338" y="252"/>
                    </a:moveTo>
                    <a:lnTo>
                      <a:pt x="312" y="225"/>
                    </a:lnTo>
                    <a:lnTo>
                      <a:pt x="190" y="347"/>
                    </a:lnTo>
                    <a:lnTo>
                      <a:pt x="137" y="294"/>
                    </a:lnTo>
                    <a:lnTo>
                      <a:pt x="110" y="320"/>
                    </a:lnTo>
                    <a:lnTo>
                      <a:pt x="190" y="400"/>
                    </a:lnTo>
                    <a:lnTo>
                      <a:pt x="338" y="252"/>
                    </a:lnTo>
                    <a:close/>
                    <a:moveTo>
                      <a:pt x="400" y="50"/>
                    </a:moveTo>
                    <a:lnTo>
                      <a:pt x="375" y="50"/>
                    </a:lnTo>
                    <a:lnTo>
                      <a:pt x="375" y="0"/>
                    </a:lnTo>
                    <a:lnTo>
                      <a:pt x="325" y="0"/>
                    </a:lnTo>
                    <a:lnTo>
                      <a:pt x="325" y="50"/>
                    </a:lnTo>
                    <a:lnTo>
                      <a:pt x="125" y="50"/>
                    </a:lnTo>
                    <a:lnTo>
                      <a:pt x="125" y="0"/>
                    </a:lnTo>
                    <a:lnTo>
                      <a:pt x="75" y="0"/>
                    </a:lnTo>
                    <a:lnTo>
                      <a:pt x="75" y="50"/>
                    </a:lnTo>
                    <a:lnTo>
                      <a:pt x="50" y="50"/>
                    </a:lnTo>
                    <a:cubicBezTo>
                      <a:pt x="22" y="50"/>
                      <a:pt x="0" y="73"/>
                      <a:pt x="0" y="100"/>
                    </a:cubicBezTo>
                    <a:lnTo>
                      <a:pt x="0" y="450"/>
                    </a:lnTo>
                    <a:cubicBezTo>
                      <a:pt x="0" y="478"/>
                      <a:pt x="22" y="500"/>
                      <a:pt x="50" y="500"/>
                    </a:cubicBezTo>
                    <a:lnTo>
                      <a:pt x="400" y="500"/>
                    </a:lnTo>
                    <a:cubicBezTo>
                      <a:pt x="428" y="500"/>
                      <a:pt x="450" y="478"/>
                      <a:pt x="450" y="450"/>
                    </a:cubicBezTo>
                    <a:lnTo>
                      <a:pt x="450" y="100"/>
                    </a:lnTo>
                    <a:cubicBezTo>
                      <a:pt x="450" y="73"/>
                      <a:pt x="428" y="50"/>
                      <a:pt x="400" y="50"/>
                    </a:cubicBezTo>
                    <a:close/>
                    <a:moveTo>
                      <a:pt x="400" y="450"/>
                    </a:moveTo>
                    <a:lnTo>
                      <a:pt x="50" y="450"/>
                    </a:lnTo>
                    <a:lnTo>
                      <a:pt x="50" y="175"/>
                    </a:lnTo>
                    <a:lnTo>
                      <a:pt x="400" y="175"/>
                    </a:lnTo>
                    <a:lnTo>
                      <a:pt x="400" y="450"/>
                    </a:lnTo>
                    <a:close/>
                  </a:path>
                </a:pathLst>
              </a:custGeom>
              <a:solidFill>
                <a:sysClr val="windowText" lastClr="000000">
                  <a:lumMod val="65000"/>
                  <a:lumOff val="35000"/>
                </a:sys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3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94" name="Rectangle 127"/>
            <p:cNvSpPr/>
            <p:nvPr/>
          </p:nvSpPr>
          <p:spPr>
            <a:xfrm>
              <a:off x="775618" y="1341351"/>
              <a:ext cx="413076" cy="187401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36000" tIns="0" rIns="0" bIns="0" rtlCol="0" anchor="ctr"/>
            <a:lstStyle/>
            <a:p>
              <a:pPr marR="0" lvl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양력 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235" name="그룹 234"/>
          <p:cNvGrpSpPr/>
          <p:nvPr/>
        </p:nvGrpSpPr>
        <p:grpSpPr>
          <a:xfrm>
            <a:off x="793424" y="4597562"/>
            <a:ext cx="519121" cy="1316664"/>
            <a:chOff x="785804" y="1442882"/>
            <a:chExt cx="519121" cy="1316664"/>
          </a:xfrm>
        </p:grpSpPr>
        <p:cxnSp>
          <p:nvCxnSpPr>
            <p:cNvPr id="236" name="꺾인 연결선 235"/>
            <p:cNvCxnSpPr/>
            <p:nvPr/>
          </p:nvCxnSpPr>
          <p:spPr>
            <a:xfrm rot="10800000" flipH="1" flipV="1">
              <a:off x="785804" y="1442882"/>
              <a:ext cx="30994" cy="1316664"/>
            </a:xfrm>
            <a:prstGeom prst="bentConnector3">
              <a:avLst>
                <a:gd name="adj1" fmla="val -215122"/>
              </a:avLst>
            </a:prstGeom>
            <a:ln w="3175">
              <a:solidFill>
                <a:srgbClr val="FF0000"/>
              </a:solidFill>
              <a:headEnd type="none" w="med" len="med"/>
              <a:tailEnd type="triangle" w="sm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화살표 연결선 236"/>
            <p:cNvCxnSpPr/>
            <p:nvPr/>
          </p:nvCxnSpPr>
          <p:spPr>
            <a:xfrm>
              <a:off x="1304925" y="1766353"/>
              <a:ext cx="0" cy="916001"/>
            </a:xfrm>
            <a:prstGeom prst="straightConnector1">
              <a:avLst/>
            </a:prstGeom>
            <a:ln w="3175">
              <a:solidFill>
                <a:srgbClr val="FF0000"/>
              </a:solidFill>
              <a:headEnd type="none" w="med" len="med"/>
              <a:tailEnd type="triangle" w="sm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7" name="그룹 226"/>
          <p:cNvGrpSpPr/>
          <p:nvPr/>
        </p:nvGrpSpPr>
        <p:grpSpPr>
          <a:xfrm>
            <a:off x="5176168" y="1846014"/>
            <a:ext cx="2089334" cy="206613"/>
            <a:chOff x="775618" y="1322139"/>
            <a:chExt cx="2089334" cy="206613"/>
          </a:xfrm>
        </p:grpSpPr>
        <p:grpSp>
          <p:nvGrpSpPr>
            <p:cNvPr id="231" name="그룹 230"/>
            <p:cNvGrpSpPr/>
            <p:nvPr/>
          </p:nvGrpSpPr>
          <p:grpSpPr>
            <a:xfrm>
              <a:off x="1232844" y="1322139"/>
              <a:ext cx="1632108" cy="206613"/>
              <a:chOff x="785804" y="1322139"/>
              <a:chExt cx="1632108" cy="206613"/>
            </a:xfrm>
          </p:grpSpPr>
          <p:sp>
            <p:nvSpPr>
              <p:cNvPr id="247" name="Rectangle 127"/>
              <p:cNvSpPr/>
              <p:nvPr/>
            </p:nvSpPr>
            <p:spPr>
              <a:xfrm>
                <a:off x="785804" y="1341351"/>
                <a:ext cx="749672" cy="187401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lIns="36000" tIns="0" rIns="0" bIns="0" rtlCol="0" anchor="ctr"/>
              <a:lstStyle/>
              <a:p>
                <a:pPr marR="0" lvl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</a:rPr>
                  <a:t>      2018-01-22 </a:t>
                </a:r>
                <a:endParaRPr kumimoji="0" 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49" name="Rectangle 127"/>
              <p:cNvSpPr/>
              <p:nvPr/>
            </p:nvSpPr>
            <p:spPr>
              <a:xfrm>
                <a:off x="1668240" y="1341351"/>
                <a:ext cx="749672" cy="187401"/>
              </a:xfrm>
              <a:prstGeom prst="rect">
                <a:avLst/>
              </a:pr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</a:ln>
              <a:effectLst/>
            </p:spPr>
            <p:txBody>
              <a:bodyPr lIns="36000" tIns="0" rIns="0" bIns="0" rtlCol="0" anchor="ctr"/>
              <a:lstStyle/>
              <a:p>
                <a:pPr marR="0" lvl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0" cap="none" spc="0" normalizeH="0" baseline="0" noProof="0" smtClean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Calibri"/>
                    <a:ea typeface="맑은 고딕" panose="020B0503020000020004" pitchFamily="50" charset="-127"/>
                  </a:rPr>
                  <a:t>       2019-01-22 </a:t>
                </a:r>
                <a:endParaRPr kumimoji="0" 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50" name="TextBox 249"/>
              <p:cNvSpPr txBox="1"/>
              <p:nvPr/>
            </p:nvSpPr>
            <p:spPr>
              <a:xfrm>
                <a:off x="1532483" y="1322139"/>
                <a:ext cx="135221" cy="200055"/>
              </a:xfrm>
              <a:prstGeom prst="rect">
                <a:avLst/>
              </a:prstGeom>
              <a:noFill/>
            </p:spPr>
            <p:txBody>
              <a:bodyPr wrap="none" lIns="36000" rIns="36000" rtlCol="0" anchor="ctr">
                <a:spAutoFit/>
              </a:bodyPr>
              <a:lstStyle/>
              <a:p>
                <a:r>
                  <a:rPr lang="en-US" altLang="ko-KR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~</a:t>
                </a:r>
                <a:endPara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58" name="Freeform 33"/>
              <p:cNvSpPr>
                <a:spLocks noChangeAspect="1" noEditPoints="1"/>
              </p:cNvSpPr>
              <p:nvPr/>
            </p:nvSpPr>
            <p:spPr bwMode="auto">
              <a:xfrm>
                <a:off x="816633" y="1372856"/>
                <a:ext cx="109378" cy="121714"/>
              </a:xfrm>
              <a:custGeom>
                <a:avLst/>
                <a:gdLst>
                  <a:gd name="T0" fmla="*/ 338 w 450"/>
                  <a:gd name="T1" fmla="*/ 252 h 500"/>
                  <a:gd name="T2" fmla="*/ 312 w 450"/>
                  <a:gd name="T3" fmla="*/ 225 h 500"/>
                  <a:gd name="T4" fmla="*/ 190 w 450"/>
                  <a:gd name="T5" fmla="*/ 347 h 500"/>
                  <a:gd name="T6" fmla="*/ 137 w 450"/>
                  <a:gd name="T7" fmla="*/ 294 h 500"/>
                  <a:gd name="T8" fmla="*/ 110 w 450"/>
                  <a:gd name="T9" fmla="*/ 320 h 500"/>
                  <a:gd name="T10" fmla="*/ 190 w 450"/>
                  <a:gd name="T11" fmla="*/ 400 h 500"/>
                  <a:gd name="T12" fmla="*/ 338 w 450"/>
                  <a:gd name="T13" fmla="*/ 252 h 500"/>
                  <a:gd name="T14" fmla="*/ 400 w 450"/>
                  <a:gd name="T15" fmla="*/ 50 h 500"/>
                  <a:gd name="T16" fmla="*/ 375 w 450"/>
                  <a:gd name="T17" fmla="*/ 50 h 500"/>
                  <a:gd name="T18" fmla="*/ 375 w 450"/>
                  <a:gd name="T19" fmla="*/ 0 h 500"/>
                  <a:gd name="T20" fmla="*/ 325 w 450"/>
                  <a:gd name="T21" fmla="*/ 0 h 500"/>
                  <a:gd name="T22" fmla="*/ 325 w 450"/>
                  <a:gd name="T23" fmla="*/ 50 h 500"/>
                  <a:gd name="T24" fmla="*/ 125 w 450"/>
                  <a:gd name="T25" fmla="*/ 50 h 500"/>
                  <a:gd name="T26" fmla="*/ 125 w 450"/>
                  <a:gd name="T27" fmla="*/ 0 h 500"/>
                  <a:gd name="T28" fmla="*/ 75 w 450"/>
                  <a:gd name="T29" fmla="*/ 0 h 500"/>
                  <a:gd name="T30" fmla="*/ 75 w 450"/>
                  <a:gd name="T31" fmla="*/ 50 h 500"/>
                  <a:gd name="T32" fmla="*/ 50 w 450"/>
                  <a:gd name="T33" fmla="*/ 50 h 500"/>
                  <a:gd name="T34" fmla="*/ 0 w 450"/>
                  <a:gd name="T35" fmla="*/ 100 h 500"/>
                  <a:gd name="T36" fmla="*/ 0 w 450"/>
                  <a:gd name="T37" fmla="*/ 450 h 500"/>
                  <a:gd name="T38" fmla="*/ 50 w 450"/>
                  <a:gd name="T39" fmla="*/ 500 h 500"/>
                  <a:gd name="T40" fmla="*/ 400 w 450"/>
                  <a:gd name="T41" fmla="*/ 500 h 500"/>
                  <a:gd name="T42" fmla="*/ 450 w 450"/>
                  <a:gd name="T43" fmla="*/ 450 h 500"/>
                  <a:gd name="T44" fmla="*/ 450 w 450"/>
                  <a:gd name="T45" fmla="*/ 100 h 500"/>
                  <a:gd name="T46" fmla="*/ 400 w 450"/>
                  <a:gd name="T47" fmla="*/ 50 h 500"/>
                  <a:gd name="T48" fmla="*/ 400 w 450"/>
                  <a:gd name="T49" fmla="*/ 450 h 500"/>
                  <a:gd name="T50" fmla="*/ 50 w 450"/>
                  <a:gd name="T51" fmla="*/ 450 h 500"/>
                  <a:gd name="T52" fmla="*/ 50 w 450"/>
                  <a:gd name="T53" fmla="*/ 175 h 500"/>
                  <a:gd name="T54" fmla="*/ 400 w 450"/>
                  <a:gd name="T55" fmla="*/ 175 h 500"/>
                  <a:gd name="T56" fmla="*/ 400 w 450"/>
                  <a:gd name="T57" fmla="*/ 45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0" h="500">
                    <a:moveTo>
                      <a:pt x="338" y="252"/>
                    </a:moveTo>
                    <a:lnTo>
                      <a:pt x="312" y="225"/>
                    </a:lnTo>
                    <a:lnTo>
                      <a:pt x="190" y="347"/>
                    </a:lnTo>
                    <a:lnTo>
                      <a:pt x="137" y="294"/>
                    </a:lnTo>
                    <a:lnTo>
                      <a:pt x="110" y="320"/>
                    </a:lnTo>
                    <a:lnTo>
                      <a:pt x="190" y="400"/>
                    </a:lnTo>
                    <a:lnTo>
                      <a:pt x="338" y="252"/>
                    </a:lnTo>
                    <a:close/>
                    <a:moveTo>
                      <a:pt x="400" y="50"/>
                    </a:moveTo>
                    <a:lnTo>
                      <a:pt x="375" y="50"/>
                    </a:lnTo>
                    <a:lnTo>
                      <a:pt x="375" y="0"/>
                    </a:lnTo>
                    <a:lnTo>
                      <a:pt x="325" y="0"/>
                    </a:lnTo>
                    <a:lnTo>
                      <a:pt x="325" y="50"/>
                    </a:lnTo>
                    <a:lnTo>
                      <a:pt x="125" y="50"/>
                    </a:lnTo>
                    <a:lnTo>
                      <a:pt x="125" y="0"/>
                    </a:lnTo>
                    <a:lnTo>
                      <a:pt x="75" y="0"/>
                    </a:lnTo>
                    <a:lnTo>
                      <a:pt x="75" y="50"/>
                    </a:lnTo>
                    <a:lnTo>
                      <a:pt x="50" y="50"/>
                    </a:lnTo>
                    <a:cubicBezTo>
                      <a:pt x="22" y="50"/>
                      <a:pt x="0" y="73"/>
                      <a:pt x="0" y="100"/>
                    </a:cubicBezTo>
                    <a:lnTo>
                      <a:pt x="0" y="450"/>
                    </a:lnTo>
                    <a:cubicBezTo>
                      <a:pt x="0" y="478"/>
                      <a:pt x="22" y="500"/>
                      <a:pt x="50" y="500"/>
                    </a:cubicBezTo>
                    <a:lnTo>
                      <a:pt x="400" y="500"/>
                    </a:lnTo>
                    <a:cubicBezTo>
                      <a:pt x="428" y="500"/>
                      <a:pt x="450" y="478"/>
                      <a:pt x="450" y="450"/>
                    </a:cubicBezTo>
                    <a:lnTo>
                      <a:pt x="450" y="100"/>
                    </a:lnTo>
                    <a:cubicBezTo>
                      <a:pt x="450" y="73"/>
                      <a:pt x="428" y="50"/>
                      <a:pt x="400" y="50"/>
                    </a:cubicBezTo>
                    <a:close/>
                    <a:moveTo>
                      <a:pt x="400" y="450"/>
                    </a:moveTo>
                    <a:lnTo>
                      <a:pt x="50" y="450"/>
                    </a:lnTo>
                    <a:lnTo>
                      <a:pt x="50" y="175"/>
                    </a:lnTo>
                    <a:lnTo>
                      <a:pt x="400" y="175"/>
                    </a:lnTo>
                    <a:lnTo>
                      <a:pt x="400" y="450"/>
                    </a:lnTo>
                    <a:close/>
                  </a:path>
                </a:pathLst>
              </a:custGeom>
              <a:solidFill>
                <a:sysClr val="windowText" lastClr="000000">
                  <a:lumMod val="65000"/>
                  <a:lumOff val="35000"/>
                </a:sys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3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60" name="Freeform 33"/>
              <p:cNvSpPr>
                <a:spLocks noChangeAspect="1" noEditPoints="1"/>
              </p:cNvSpPr>
              <p:nvPr/>
            </p:nvSpPr>
            <p:spPr bwMode="auto">
              <a:xfrm>
                <a:off x="1707644" y="1372856"/>
                <a:ext cx="109378" cy="121714"/>
              </a:xfrm>
              <a:custGeom>
                <a:avLst/>
                <a:gdLst>
                  <a:gd name="T0" fmla="*/ 338 w 450"/>
                  <a:gd name="T1" fmla="*/ 252 h 500"/>
                  <a:gd name="T2" fmla="*/ 312 w 450"/>
                  <a:gd name="T3" fmla="*/ 225 h 500"/>
                  <a:gd name="T4" fmla="*/ 190 w 450"/>
                  <a:gd name="T5" fmla="*/ 347 h 500"/>
                  <a:gd name="T6" fmla="*/ 137 w 450"/>
                  <a:gd name="T7" fmla="*/ 294 h 500"/>
                  <a:gd name="T8" fmla="*/ 110 w 450"/>
                  <a:gd name="T9" fmla="*/ 320 h 500"/>
                  <a:gd name="T10" fmla="*/ 190 w 450"/>
                  <a:gd name="T11" fmla="*/ 400 h 500"/>
                  <a:gd name="T12" fmla="*/ 338 w 450"/>
                  <a:gd name="T13" fmla="*/ 252 h 500"/>
                  <a:gd name="T14" fmla="*/ 400 w 450"/>
                  <a:gd name="T15" fmla="*/ 50 h 500"/>
                  <a:gd name="T16" fmla="*/ 375 w 450"/>
                  <a:gd name="T17" fmla="*/ 50 h 500"/>
                  <a:gd name="T18" fmla="*/ 375 w 450"/>
                  <a:gd name="T19" fmla="*/ 0 h 500"/>
                  <a:gd name="T20" fmla="*/ 325 w 450"/>
                  <a:gd name="T21" fmla="*/ 0 h 500"/>
                  <a:gd name="T22" fmla="*/ 325 w 450"/>
                  <a:gd name="T23" fmla="*/ 50 h 500"/>
                  <a:gd name="T24" fmla="*/ 125 w 450"/>
                  <a:gd name="T25" fmla="*/ 50 h 500"/>
                  <a:gd name="T26" fmla="*/ 125 w 450"/>
                  <a:gd name="T27" fmla="*/ 0 h 500"/>
                  <a:gd name="T28" fmla="*/ 75 w 450"/>
                  <a:gd name="T29" fmla="*/ 0 h 500"/>
                  <a:gd name="T30" fmla="*/ 75 w 450"/>
                  <a:gd name="T31" fmla="*/ 50 h 500"/>
                  <a:gd name="T32" fmla="*/ 50 w 450"/>
                  <a:gd name="T33" fmla="*/ 50 h 500"/>
                  <a:gd name="T34" fmla="*/ 0 w 450"/>
                  <a:gd name="T35" fmla="*/ 100 h 500"/>
                  <a:gd name="T36" fmla="*/ 0 w 450"/>
                  <a:gd name="T37" fmla="*/ 450 h 500"/>
                  <a:gd name="T38" fmla="*/ 50 w 450"/>
                  <a:gd name="T39" fmla="*/ 500 h 500"/>
                  <a:gd name="T40" fmla="*/ 400 w 450"/>
                  <a:gd name="T41" fmla="*/ 500 h 500"/>
                  <a:gd name="T42" fmla="*/ 450 w 450"/>
                  <a:gd name="T43" fmla="*/ 450 h 500"/>
                  <a:gd name="T44" fmla="*/ 450 w 450"/>
                  <a:gd name="T45" fmla="*/ 100 h 500"/>
                  <a:gd name="T46" fmla="*/ 400 w 450"/>
                  <a:gd name="T47" fmla="*/ 50 h 500"/>
                  <a:gd name="T48" fmla="*/ 400 w 450"/>
                  <a:gd name="T49" fmla="*/ 450 h 500"/>
                  <a:gd name="T50" fmla="*/ 50 w 450"/>
                  <a:gd name="T51" fmla="*/ 450 h 500"/>
                  <a:gd name="T52" fmla="*/ 50 w 450"/>
                  <a:gd name="T53" fmla="*/ 175 h 500"/>
                  <a:gd name="T54" fmla="*/ 400 w 450"/>
                  <a:gd name="T55" fmla="*/ 175 h 500"/>
                  <a:gd name="T56" fmla="*/ 400 w 450"/>
                  <a:gd name="T57" fmla="*/ 45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50" h="500">
                    <a:moveTo>
                      <a:pt x="338" y="252"/>
                    </a:moveTo>
                    <a:lnTo>
                      <a:pt x="312" y="225"/>
                    </a:lnTo>
                    <a:lnTo>
                      <a:pt x="190" y="347"/>
                    </a:lnTo>
                    <a:lnTo>
                      <a:pt x="137" y="294"/>
                    </a:lnTo>
                    <a:lnTo>
                      <a:pt x="110" y="320"/>
                    </a:lnTo>
                    <a:lnTo>
                      <a:pt x="190" y="400"/>
                    </a:lnTo>
                    <a:lnTo>
                      <a:pt x="338" y="252"/>
                    </a:lnTo>
                    <a:close/>
                    <a:moveTo>
                      <a:pt x="400" y="50"/>
                    </a:moveTo>
                    <a:lnTo>
                      <a:pt x="375" y="50"/>
                    </a:lnTo>
                    <a:lnTo>
                      <a:pt x="375" y="0"/>
                    </a:lnTo>
                    <a:lnTo>
                      <a:pt x="325" y="0"/>
                    </a:lnTo>
                    <a:lnTo>
                      <a:pt x="325" y="50"/>
                    </a:lnTo>
                    <a:lnTo>
                      <a:pt x="125" y="50"/>
                    </a:lnTo>
                    <a:lnTo>
                      <a:pt x="125" y="0"/>
                    </a:lnTo>
                    <a:lnTo>
                      <a:pt x="75" y="0"/>
                    </a:lnTo>
                    <a:lnTo>
                      <a:pt x="75" y="50"/>
                    </a:lnTo>
                    <a:lnTo>
                      <a:pt x="50" y="50"/>
                    </a:lnTo>
                    <a:cubicBezTo>
                      <a:pt x="22" y="50"/>
                      <a:pt x="0" y="73"/>
                      <a:pt x="0" y="100"/>
                    </a:cubicBezTo>
                    <a:lnTo>
                      <a:pt x="0" y="450"/>
                    </a:lnTo>
                    <a:cubicBezTo>
                      <a:pt x="0" y="478"/>
                      <a:pt x="22" y="500"/>
                      <a:pt x="50" y="500"/>
                    </a:cubicBezTo>
                    <a:lnTo>
                      <a:pt x="400" y="500"/>
                    </a:lnTo>
                    <a:cubicBezTo>
                      <a:pt x="428" y="500"/>
                      <a:pt x="450" y="478"/>
                      <a:pt x="450" y="450"/>
                    </a:cubicBezTo>
                    <a:lnTo>
                      <a:pt x="450" y="100"/>
                    </a:lnTo>
                    <a:cubicBezTo>
                      <a:pt x="450" y="73"/>
                      <a:pt x="428" y="50"/>
                      <a:pt x="400" y="50"/>
                    </a:cubicBezTo>
                    <a:close/>
                    <a:moveTo>
                      <a:pt x="400" y="450"/>
                    </a:moveTo>
                    <a:lnTo>
                      <a:pt x="50" y="450"/>
                    </a:lnTo>
                    <a:lnTo>
                      <a:pt x="50" y="175"/>
                    </a:lnTo>
                    <a:lnTo>
                      <a:pt x="400" y="175"/>
                    </a:lnTo>
                    <a:lnTo>
                      <a:pt x="400" y="450"/>
                    </a:lnTo>
                    <a:close/>
                  </a:path>
                </a:pathLst>
              </a:custGeom>
              <a:solidFill>
                <a:sysClr val="windowText" lastClr="000000">
                  <a:lumMod val="65000"/>
                  <a:lumOff val="35000"/>
                </a:sys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57681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3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41" name="Rectangle 127"/>
            <p:cNvSpPr/>
            <p:nvPr/>
          </p:nvSpPr>
          <p:spPr>
            <a:xfrm>
              <a:off x="775618" y="1341351"/>
              <a:ext cx="413076" cy="187401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36000" tIns="0" rIns="0" bIns="0" rtlCol="0" anchor="ctr"/>
            <a:lstStyle/>
            <a:p>
              <a:pPr marR="0" lvl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양력 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238" name="그룹 237"/>
          <p:cNvGrpSpPr/>
          <p:nvPr/>
        </p:nvGrpSpPr>
        <p:grpSpPr>
          <a:xfrm>
            <a:off x="5182544" y="1427642"/>
            <a:ext cx="519121" cy="1316664"/>
            <a:chOff x="785804" y="1442882"/>
            <a:chExt cx="519121" cy="1316664"/>
          </a:xfrm>
        </p:grpSpPr>
        <p:cxnSp>
          <p:nvCxnSpPr>
            <p:cNvPr id="239" name="꺾인 연결선 238"/>
            <p:cNvCxnSpPr/>
            <p:nvPr/>
          </p:nvCxnSpPr>
          <p:spPr>
            <a:xfrm rot="10800000" flipH="1" flipV="1">
              <a:off x="785804" y="1442882"/>
              <a:ext cx="30994" cy="1316664"/>
            </a:xfrm>
            <a:prstGeom prst="bentConnector3">
              <a:avLst>
                <a:gd name="adj1" fmla="val -215122"/>
              </a:avLst>
            </a:prstGeom>
            <a:ln w="3175">
              <a:solidFill>
                <a:srgbClr val="FF0000"/>
              </a:solidFill>
              <a:headEnd type="none" w="med" len="med"/>
              <a:tailEnd type="triangle" w="sm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화살표 연결선 239"/>
            <p:cNvCxnSpPr/>
            <p:nvPr/>
          </p:nvCxnSpPr>
          <p:spPr>
            <a:xfrm>
              <a:off x="1304925" y="1766353"/>
              <a:ext cx="0" cy="916001"/>
            </a:xfrm>
            <a:prstGeom prst="straightConnector1">
              <a:avLst/>
            </a:prstGeom>
            <a:ln w="3175">
              <a:solidFill>
                <a:srgbClr val="FF0000"/>
              </a:solidFill>
              <a:headEnd type="none" w="med" len="med"/>
              <a:tailEnd type="triangle" w="sm" len="sm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/>
          <p:cNvSpPr txBox="1"/>
          <p:nvPr/>
        </p:nvSpPr>
        <p:spPr>
          <a:xfrm>
            <a:off x="5420791" y="90024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</a:p>
        </p:txBody>
      </p:sp>
      <p:graphicFrame>
        <p:nvGraphicFramePr>
          <p:cNvPr id="16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893612"/>
              </p:ext>
            </p:extLst>
          </p:nvPr>
        </p:nvGraphicFramePr>
        <p:xfrm>
          <a:off x="9290533" y="6422397"/>
          <a:ext cx="2834411" cy="247736"/>
        </p:xfrm>
        <a:graphic>
          <a:graphicData uri="http://schemas.openxmlformats.org/drawingml/2006/table">
            <a:tbl>
              <a:tblPr/>
              <a:tblGrid>
                <a:gridCol w="283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1/23_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화면 추가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8000" marR="138580" marT="1800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2550186" y="482084"/>
            <a:ext cx="688009" cy="215444"/>
          </a:xfrm>
          <a:prstGeom prst="rect">
            <a:avLst/>
          </a:prstGeom>
          <a:solidFill>
            <a:srgbClr val="0000FF"/>
          </a:solidFill>
        </p:spPr>
        <p:txBody>
          <a:bodyPr wrap="none">
            <a:spAutoFit/>
          </a:bodyPr>
          <a:lstStyle/>
          <a:p>
            <a:r>
              <a:rPr lang="ko-KR" altLang="en-US" sz="800">
                <a:solidFill>
                  <a:schemeClr val="bg1"/>
                </a:solidFill>
                <a:latin typeface="+mn-ea"/>
                <a:ea typeface="+mn-ea"/>
              </a:rPr>
              <a:t>CA6.2.1.1.1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2550186" y="3625334"/>
            <a:ext cx="688009" cy="215444"/>
          </a:xfrm>
          <a:prstGeom prst="rect">
            <a:avLst/>
          </a:prstGeom>
          <a:solidFill>
            <a:srgbClr val="0000FF"/>
          </a:solidFill>
        </p:spPr>
        <p:txBody>
          <a:bodyPr wrap="none">
            <a:spAutoFit/>
          </a:bodyPr>
          <a:lstStyle/>
          <a:p>
            <a:r>
              <a:rPr lang="ko-KR" altLang="en-US" sz="800" smtClean="0">
                <a:solidFill>
                  <a:schemeClr val="bg1"/>
                </a:solidFill>
                <a:latin typeface="+mn-ea"/>
                <a:ea typeface="+mn-ea"/>
              </a:rPr>
              <a:t>CA6.2.1.1.</a:t>
            </a:r>
            <a:r>
              <a:rPr lang="en-US" altLang="ko-KR" sz="800" smtClean="0">
                <a:solidFill>
                  <a:schemeClr val="bg1"/>
                </a:solidFill>
                <a:latin typeface="+mn-ea"/>
                <a:ea typeface="+mn-ea"/>
              </a:rPr>
              <a:t>2</a:t>
            </a:r>
            <a:endParaRPr lang="ko-KR" altLang="en-US" sz="80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7036461" y="482084"/>
            <a:ext cx="688009" cy="215444"/>
          </a:xfrm>
          <a:prstGeom prst="rect">
            <a:avLst/>
          </a:prstGeom>
          <a:solidFill>
            <a:srgbClr val="0000FF"/>
          </a:solidFill>
        </p:spPr>
        <p:txBody>
          <a:bodyPr wrap="none">
            <a:spAutoFit/>
          </a:bodyPr>
          <a:lstStyle/>
          <a:p>
            <a:r>
              <a:rPr lang="ko-KR" altLang="en-US" sz="800" smtClean="0">
                <a:solidFill>
                  <a:schemeClr val="bg1"/>
                </a:solidFill>
                <a:latin typeface="+mn-ea"/>
                <a:ea typeface="+mn-ea"/>
              </a:rPr>
              <a:t>CA6.2.1.1.</a:t>
            </a:r>
            <a:r>
              <a:rPr lang="en-US" altLang="ko-KR" sz="800">
                <a:solidFill>
                  <a:schemeClr val="bg1"/>
                </a:solidFill>
                <a:latin typeface="+mn-ea"/>
                <a:ea typeface="+mn-ea"/>
              </a:rPr>
              <a:t>3</a:t>
            </a:r>
            <a:endParaRPr lang="ko-KR" altLang="en-US" sz="80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1017376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본문 참조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6" name="타원 175"/>
          <p:cNvSpPr>
            <a:spLocks noChangeAspect="1"/>
          </p:cNvSpPr>
          <p:nvPr/>
        </p:nvSpPr>
        <p:spPr>
          <a:xfrm>
            <a:off x="2914623" y="1870001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2" name="타원 181"/>
          <p:cNvSpPr>
            <a:spLocks noChangeAspect="1"/>
          </p:cNvSpPr>
          <p:nvPr/>
        </p:nvSpPr>
        <p:spPr>
          <a:xfrm>
            <a:off x="2914623" y="5070401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1" name="타원 200"/>
          <p:cNvSpPr>
            <a:spLocks noChangeAspect="1"/>
          </p:cNvSpPr>
          <p:nvPr/>
        </p:nvSpPr>
        <p:spPr>
          <a:xfrm>
            <a:off x="7334223" y="187952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3-1</a:t>
            </a:r>
            <a:endParaRPr kumimoji="1" lang="en-US" altLang="ko-KR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08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"/>
          <p:cNvSpPr/>
          <p:nvPr/>
        </p:nvSpPr>
        <p:spPr>
          <a:xfrm>
            <a:off x="363391" y="775479"/>
            <a:ext cx="7487538" cy="200582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grpSp>
        <p:nvGrpSpPr>
          <p:cNvPr id="32" name="Group 357"/>
          <p:cNvGrpSpPr/>
          <p:nvPr/>
        </p:nvGrpSpPr>
        <p:grpSpPr>
          <a:xfrm>
            <a:off x="250836" y="623967"/>
            <a:ext cx="7724753" cy="278363"/>
            <a:chOff x="278478" y="6627607"/>
            <a:chExt cx="5264545" cy="281875"/>
          </a:xfrm>
        </p:grpSpPr>
        <p:sp>
          <p:nvSpPr>
            <p:cNvPr id="33" name="Shape 164"/>
            <p:cNvSpPr/>
            <p:nvPr/>
          </p:nvSpPr>
          <p:spPr>
            <a:xfrm>
              <a:off x="278478" y="6627961"/>
              <a:ext cx="5245391" cy="2797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719" extrusionOk="0">
                  <a:moveTo>
                    <a:pt x="21600" y="17027"/>
                  </a:moveTo>
                  <a:lnTo>
                    <a:pt x="21600" y="5324"/>
                  </a:lnTo>
                  <a:cubicBezTo>
                    <a:pt x="19983" y="1823"/>
                    <a:pt x="18313" y="33"/>
                    <a:pt x="16635" y="0"/>
                  </a:cubicBezTo>
                  <a:cubicBezTo>
                    <a:pt x="13681" y="-56"/>
                    <a:pt x="10782" y="5313"/>
                    <a:pt x="7848" y="7424"/>
                  </a:cubicBezTo>
                  <a:cubicBezTo>
                    <a:pt x="5234" y="9305"/>
                    <a:pt x="2597" y="8604"/>
                    <a:pt x="0" y="5324"/>
                  </a:cubicBezTo>
                  <a:lnTo>
                    <a:pt x="0" y="17701"/>
                  </a:lnTo>
                  <a:cubicBezTo>
                    <a:pt x="2589" y="20870"/>
                    <a:pt x="5215" y="21544"/>
                    <a:pt x="7821" y="19720"/>
                  </a:cubicBezTo>
                  <a:cubicBezTo>
                    <a:pt x="10753" y="17669"/>
                    <a:pt x="13648" y="12452"/>
                    <a:pt x="16598" y="12310"/>
                  </a:cubicBezTo>
                  <a:cubicBezTo>
                    <a:pt x="18284" y="12229"/>
                    <a:pt x="19965" y="13814"/>
                    <a:pt x="21600" y="17027"/>
                  </a:cubicBezTo>
                  <a:close/>
                </a:path>
              </a:pathLst>
            </a:custGeom>
            <a:solidFill>
              <a:srgbClr val="FFFFFF"/>
            </a:solidFill>
            <a:ln w="3175" cap="flat">
              <a:noFill/>
              <a:miter lim="400000"/>
            </a:ln>
            <a:effectLst/>
          </p:spPr>
          <p:txBody>
            <a:bodyPr wrap="square" lIns="20858" tIns="20858" rIns="20858" bIns="20858" numCol="1" anchor="ctr">
              <a:noAutofit/>
            </a:bodyPr>
            <a:lstStyle/>
            <a:p>
              <a:pPr lvl="0"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latin typeface="+mn-ea"/>
                <a:ea typeface="+mn-ea"/>
              </a:endParaRPr>
            </a:p>
          </p:txBody>
        </p:sp>
        <p:sp>
          <p:nvSpPr>
            <p:cNvPr id="34" name="Shape 165"/>
            <p:cNvSpPr/>
            <p:nvPr/>
          </p:nvSpPr>
          <p:spPr>
            <a:xfrm>
              <a:off x="291584" y="6794712"/>
              <a:ext cx="5251439" cy="114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85" extrusionOk="0">
                  <a:moveTo>
                    <a:pt x="0" y="13843"/>
                  </a:moveTo>
                  <a:cubicBezTo>
                    <a:pt x="2066" y="19723"/>
                    <a:pt x="4161" y="21389"/>
                    <a:pt x="6247" y="18810"/>
                  </a:cubicBezTo>
                  <a:cubicBezTo>
                    <a:pt x="9577" y="14691"/>
                    <a:pt x="12855" y="-211"/>
                    <a:pt x="16195" y="3"/>
                  </a:cubicBezTo>
                  <a:cubicBezTo>
                    <a:pt x="18022" y="120"/>
                    <a:pt x="19841" y="4775"/>
                    <a:pt x="21600" y="13843"/>
                  </a:cubicBezTo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ysDash"/>
              <a:miter lim="400000"/>
            </a:ln>
            <a:effectLst/>
          </p:spPr>
          <p:txBody>
            <a:bodyPr wrap="square" lIns="20858" tIns="20858" rIns="20858" bIns="20858" numCol="1" anchor="ctr">
              <a:noAutofit/>
            </a:bodyPr>
            <a:lstStyle/>
            <a:p>
              <a:pPr lvl="0"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latin typeface="+mn-ea"/>
                <a:ea typeface="+mn-ea"/>
              </a:endParaRPr>
            </a:p>
          </p:txBody>
        </p:sp>
        <p:sp>
          <p:nvSpPr>
            <p:cNvPr id="35" name="Shape 166"/>
            <p:cNvSpPr/>
            <p:nvPr/>
          </p:nvSpPr>
          <p:spPr>
            <a:xfrm>
              <a:off x="291584" y="6627607"/>
              <a:ext cx="5251439" cy="114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85" extrusionOk="0">
                  <a:moveTo>
                    <a:pt x="0" y="13843"/>
                  </a:moveTo>
                  <a:cubicBezTo>
                    <a:pt x="2066" y="19723"/>
                    <a:pt x="4161" y="21389"/>
                    <a:pt x="6247" y="18810"/>
                  </a:cubicBezTo>
                  <a:cubicBezTo>
                    <a:pt x="9577" y="14691"/>
                    <a:pt x="12855" y="-211"/>
                    <a:pt x="16195" y="3"/>
                  </a:cubicBezTo>
                  <a:cubicBezTo>
                    <a:pt x="18022" y="120"/>
                    <a:pt x="19841" y="4775"/>
                    <a:pt x="21600" y="13843"/>
                  </a:cubicBezTo>
                </a:path>
              </a:pathLst>
            </a:custGeom>
            <a:noFill/>
            <a:ln w="3175" cap="flat">
              <a:solidFill>
                <a:schemeClr val="bg1">
                  <a:lumMod val="50000"/>
                </a:schemeClr>
              </a:solidFill>
              <a:prstDash val="sysDash"/>
              <a:miter lim="400000"/>
            </a:ln>
            <a:effectLst/>
          </p:spPr>
          <p:txBody>
            <a:bodyPr wrap="square" lIns="20858" tIns="20858" rIns="20858" bIns="20858" numCol="1" anchor="ctr">
              <a:noAutofit/>
            </a:bodyPr>
            <a:lstStyle/>
            <a:p>
              <a:pPr lvl="0" algn="l" defTabSz="457200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latin typeface="+mn-ea"/>
                <a:ea typeface="+mn-ea"/>
              </a:endParaRPr>
            </a:p>
          </p:txBody>
        </p:sp>
      </p:grpSp>
      <p:grpSp>
        <p:nvGrpSpPr>
          <p:cNvPr id="39" name="Group 262"/>
          <p:cNvGrpSpPr/>
          <p:nvPr/>
        </p:nvGrpSpPr>
        <p:grpSpPr>
          <a:xfrm>
            <a:off x="545343" y="1088985"/>
            <a:ext cx="5501973" cy="199787"/>
            <a:chOff x="583051" y="2407589"/>
            <a:chExt cx="5501973" cy="199787"/>
          </a:xfrm>
        </p:grpSpPr>
        <p:sp>
          <p:nvSpPr>
            <p:cNvPr id="40" name="텍스트 상자 31"/>
            <p:cNvSpPr txBox="1"/>
            <p:nvPr/>
          </p:nvSpPr>
          <p:spPr>
            <a:xfrm>
              <a:off x="583051" y="2407589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공유자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cxnSp>
          <p:nvCxnSpPr>
            <p:cNvPr id="41" name="직선 연결선[R] 7"/>
            <p:cNvCxnSpPr/>
            <p:nvPr/>
          </p:nvCxnSpPr>
          <p:spPr>
            <a:xfrm>
              <a:off x="1122876" y="2607376"/>
              <a:ext cx="4962148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</p:cxnSp>
      </p:grpSp>
      <p:sp>
        <p:nvSpPr>
          <p:cNvPr id="42" name="텍스트 상자 31"/>
          <p:cNvSpPr txBox="1"/>
          <p:nvPr/>
        </p:nvSpPr>
        <p:spPr>
          <a:xfrm>
            <a:off x="545343" y="2178739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알림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45" name="Group 467"/>
          <p:cNvGrpSpPr/>
          <p:nvPr/>
        </p:nvGrpSpPr>
        <p:grpSpPr>
          <a:xfrm>
            <a:off x="1779679" y="1021523"/>
            <a:ext cx="519293" cy="214533"/>
            <a:chOff x="3600083" y="2455609"/>
            <a:chExt cx="576000" cy="237960"/>
          </a:xfrm>
        </p:grpSpPr>
        <p:sp>
          <p:nvSpPr>
            <p:cNvPr id="46" name="Rounded Rectangle 468"/>
            <p:cNvSpPr/>
            <p:nvPr/>
          </p:nvSpPr>
          <p:spPr>
            <a:xfrm>
              <a:off x="3600083" y="2455609"/>
              <a:ext cx="576000" cy="237960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7" name="Freeform 11"/>
            <p:cNvSpPr>
              <a:spLocks noChangeAspect="1" noChangeArrowheads="1"/>
            </p:cNvSpPr>
            <p:nvPr/>
          </p:nvSpPr>
          <p:spPr bwMode="auto">
            <a:xfrm>
              <a:off x="4033987" y="2529589"/>
              <a:ext cx="90000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48" name="Group 470"/>
          <p:cNvGrpSpPr/>
          <p:nvPr/>
        </p:nvGrpSpPr>
        <p:grpSpPr>
          <a:xfrm>
            <a:off x="2356263" y="1021523"/>
            <a:ext cx="519293" cy="214533"/>
            <a:chOff x="3600083" y="2455609"/>
            <a:chExt cx="576000" cy="237960"/>
          </a:xfrm>
        </p:grpSpPr>
        <p:sp>
          <p:nvSpPr>
            <p:cNvPr id="49" name="Rounded Rectangle 471"/>
            <p:cNvSpPr/>
            <p:nvPr/>
          </p:nvSpPr>
          <p:spPr>
            <a:xfrm>
              <a:off x="3600083" y="2455609"/>
              <a:ext cx="576000" cy="237960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0" name="Freeform 11"/>
            <p:cNvSpPr>
              <a:spLocks noChangeAspect="1" noChangeArrowheads="1"/>
            </p:cNvSpPr>
            <p:nvPr/>
          </p:nvSpPr>
          <p:spPr bwMode="auto">
            <a:xfrm>
              <a:off x="4033987" y="2529589"/>
              <a:ext cx="90000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51" name="Group 479"/>
          <p:cNvGrpSpPr/>
          <p:nvPr/>
        </p:nvGrpSpPr>
        <p:grpSpPr>
          <a:xfrm>
            <a:off x="2932848" y="1021523"/>
            <a:ext cx="519293" cy="214533"/>
            <a:chOff x="3600083" y="2455609"/>
            <a:chExt cx="576000" cy="237960"/>
          </a:xfrm>
        </p:grpSpPr>
        <p:sp>
          <p:nvSpPr>
            <p:cNvPr id="52" name="Rounded Rectangle 480"/>
            <p:cNvSpPr/>
            <p:nvPr/>
          </p:nvSpPr>
          <p:spPr>
            <a:xfrm>
              <a:off x="3600083" y="2455609"/>
              <a:ext cx="576000" cy="237960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3" name="Freeform 11"/>
            <p:cNvSpPr>
              <a:spLocks noChangeAspect="1" noChangeArrowheads="1"/>
            </p:cNvSpPr>
            <p:nvPr/>
          </p:nvSpPr>
          <p:spPr bwMode="auto">
            <a:xfrm>
              <a:off x="4033987" y="2529589"/>
              <a:ext cx="90000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54" name="Group 482"/>
          <p:cNvGrpSpPr/>
          <p:nvPr/>
        </p:nvGrpSpPr>
        <p:grpSpPr>
          <a:xfrm>
            <a:off x="3509433" y="1021523"/>
            <a:ext cx="519293" cy="214533"/>
            <a:chOff x="3600083" y="2455609"/>
            <a:chExt cx="576000" cy="237960"/>
          </a:xfrm>
        </p:grpSpPr>
        <p:sp>
          <p:nvSpPr>
            <p:cNvPr id="55" name="Rounded Rectangle 483"/>
            <p:cNvSpPr/>
            <p:nvPr/>
          </p:nvSpPr>
          <p:spPr>
            <a:xfrm>
              <a:off x="3600083" y="2455609"/>
              <a:ext cx="576000" cy="237960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6" name="Freeform 11"/>
            <p:cNvSpPr>
              <a:spLocks noChangeAspect="1" noChangeArrowheads="1"/>
            </p:cNvSpPr>
            <p:nvPr/>
          </p:nvSpPr>
          <p:spPr bwMode="auto">
            <a:xfrm>
              <a:off x="4033987" y="2529589"/>
              <a:ext cx="90000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57" name="Group 485"/>
          <p:cNvGrpSpPr/>
          <p:nvPr/>
        </p:nvGrpSpPr>
        <p:grpSpPr>
          <a:xfrm>
            <a:off x="4086017" y="1021523"/>
            <a:ext cx="519293" cy="214533"/>
            <a:chOff x="3600083" y="2455609"/>
            <a:chExt cx="576000" cy="237960"/>
          </a:xfrm>
        </p:grpSpPr>
        <p:sp>
          <p:nvSpPr>
            <p:cNvPr id="58" name="Rounded Rectangle 486"/>
            <p:cNvSpPr/>
            <p:nvPr/>
          </p:nvSpPr>
          <p:spPr>
            <a:xfrm>
              <a:off x="3600083" y="2455609"/>
              <a:ext cx="576000" cy="237960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9" name="Freeform 11"/>
            <p:cNvSpPr>
              <a:spLocks noChangeAspect="1" noChangeArrowheads="1"/>
            </p:cNvSpPr>
            <p:nvPr/>
          </p:nvSpPr>
          <p:spPr bwMode="auto">
            <a:xfrm>
              <a:off x="4033987" y="2529589"/>
              <a:ext cx="90000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sp>
        <p:nvSpPr>
          <p:cNvPr id="60" name="텍스트 상자 31"/>
          <p:cNvSpPr txBox="1"/>
          <p:nvPr/>
        </p:nvSpPr>
        <p:spPr>
          <a:xfrm>
            <a:off x="1085169" y="2175288"/>
            <a:ext cx="68400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en-US" altLang="ko-KR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+</a:t>
            </a:r>
            <a:r>
              <a:rPr kumimoji="1" lang="ko-KR" altLang="en-US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알림 추가</a:t>
            </a:r>
            <a:endParaRPr kumimoji="1" lang="ko-KR" altLang="en-US" sz="800" u="sng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61" name="Group 661"/>
          <p:cNvGrpSpPr/>
          <p:nvPr/>
        </p:nvGrpSpPr>
        <p:grpSpPr>
          <a:xfrm>
            <a:off x="545343" y="1525819"/>
            <a:ext cx="5501973" cy="199787"/>
            <a:chOff x="583051" y="2407589"/>
            <a:chExt cx="5501973" cy="199787"/>
          </a:xfrm>
        </p:grpSpPr>
        <p:sp>
          <p:nvSpPr>
            <p:cNvPr id="62" name="텍스트 상자 31"/>
            <p:cNvSpPr txBox="1"/>
            <p:nvPr/>
          </p:nvSpPr>
          <p:spPr>
            <a:xfrm>
              <a:off x="583051" y="2407589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설비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cxnSp>
          <p:nvCxnSpPr>
            <p:cNvPr id="63" name="직선 연결선[R] 7"/>
            <p:cNvCxnSpPr/>
            <p:nvPr/>
          </p:nvCxnSpPr>
          <p:spPr>
            <a:xfrm>
              <a:off x="1122876" y="2607376"/>
              <a:ext cx="4962148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</p:cxnSp>
      </p:grpSp>
      <p:grpSp>
        <p:nvGrpSpPr>
          <p:cNvPr id="64" name="Group 96"/>
          <p:cNvGrpSpPr/>
          <p:nvPr/>
        </p:nvGrpSpPr>
        <p:grpSpPr>
          <a:xfrm>
            <a:off x="1779679" y="1458357"/>
            <a:ext cx="756000" cy="214533"/>
            <a:chOff x="2140462" y="3941059"/>
            <a:chExt cx="756000" cy="214533"/>
          </a:xfrm>
        </p:grpSpPr>
        <p:sp>
          <p:nvSpPr>
            <p:cNvPr id="65" name="Rounded Rectangle 666"/>
            <p:cNvSpPr/>
            <p:nvPr/>
          </p:nvSpPr>
          <p:spPr>
            <a:xfrm>
              <a:off x="2140462" y="3941059"/>
              <a:ext cx="756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</a:t>
              </a: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층 </a:t>
              </a: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Bahama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6" name="Freeform 11"/>
            <p:cNvSpPr>
              <a:spLocks noChangeAspect="1" noChangeArrowheads="1"/>
            </p:cNvSpPr>
            <p:nvPr/>
          </p:nvSpPr>
          <p:spPr bwMode="auto">
            <a:xfrm>
              <a:off x="2758703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67" name="Group 95"/>
          <p:cNvGrpSpPr/>
          <p:nvPr/>
        </p:nvGrpSpPr>
        <p:grpSpPr>
          <a:xfrm>
            <a:off x="2592637" y="1458357"/>
            <a:ext cx="756000" cy="214533"/>
            <a:chOff x="2956893" y="3941059"/>
            <a:chExt cx="756000" cy="214533"/>
          </a:xfrm>
        </p:grpSpPr>
        <p:sp>
          <p:nvSpPr>
            <p:cNvPr id="68" name="Rounded Rectangle 681"/>
            <p:cNvSpPr/>
            <p:nvPr/>
          </p:nvSpPr>
          <p:spPr>
            <a:xfrm>
              <a:off x="2956893" y="3941059"/>
              <a:ext cx="756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빔프로젝터</a:t>
              </a: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9" name="Freeform 11"/>
            <p:cNvSpPr>
              <a:spLocks noChangeAspect="1" noChangeArrowheads="1"/>
            </p:cNvSpPr>
            <p:nvPr/>
          </p:nvSpPr>
          <p:spPr bwMode="auto">
            <a:xfrm>
              <a:off x="3575134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70" name="Group 94"/>
          <p:cNvGrpSpPr/>
          <p:nvPr/>
        </p:nvGrpSpPr>
        <p:grpSpPr>
          <a:xfrm>
            <a:off x="3405596" y="1458357"/>
            <a:ext cx="792000" cy="214533"/>
            <a:chOff x="3766868" y="3941059"/>
            <a:chExt cx="792000" cy="214533"/>
          </a:xfrm>
        </p:grpSpPr>
        <p:sp>
          <p:nvSpPr>
            <p:cNvPr id="71" name="Rounded Rectangle 683"/>
            <p:cNvSpPr/>
            <p:nvPr/>
          </p:nvSpPr>
          <p:spPr>
            <a:xfrm>
              <a:off x="3766868" y="3941059"/>
              <a:ext cx="792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ASUS</a:t>
              </a: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노트북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2" name="Freeform 11"/>
            <p:cNvSpPr>
              <a:spLocks noChangeAspect="1" noChangeArrowheads="1"/>
            </p:cNvSpPr>
            <p:nvPr/>
          </p:nvSpPr>
          <p:spPr bwMode="auto">
            <a:xfrm>
              <a:off x="4408259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sp>
        <p:nvSpPr>
          <p:cNvPr id="73" name="Rounded Rectangle 939"/>
          <p:cNvSpPr/>
          <p:nvPr/>
        </p:nvSpPr>
        <p:spPr>
          <a:xfrm>
            <a:off x="6113070" y="1501095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설비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74" name="Group 122"/>
          <p:cNvGrpSpPr/>
          <p:nvPr/>
        </p:nvGrpSpPr>
        <p:grpSpPr>
          <a:xfrm>
            <a:off x="1085168" y="1021523"/>
            <a:ext cx="592646" cy="228857"/>
            <a:chOff x="1122876" y="3618561"/>
            <a:chExt cx="504000" cy="228857"/>
          </a:xfrm>
        </p:grpSpPr>
        <p:sp>
          <p:nvSpPr>
            <p:cNvPr id="75" name="Rounded Rectangle 939"/>
            <p:cNvSpPr/>
            <p:nvPr/>
          </p:nvSpPr>
          <p:spPr>
            <a:xfrm>
              <a:off x="1122876" y="3618561"/>
              <a:ext cx="504000" cy="228857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algn="ctr"/>
              <a:r>
                <a:rPr kumimoji="1"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추가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76" name="Picture 157" descr="man-user (1).png"/>
            <p:cNvPicPr>
              <a:picLocks noChangeAspect="1"/>
            </p:cNvPicPr>
            <p:nvPr/>
          </p:nvPicPr>
          <p:blipFill>
            <a:blip r:embed="rId2" cstate="print">
              <a:alphaModFix amt="3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956" y="3684586"/>
              <a:ext cx="109070" cy="109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589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77" name="Rounded Rectangle 939"/>
          <p:cNvSpPr/>
          <p:nvPr/>
        </p:nvSpPr>
        <p:spPr>
          <a:xfrm>
            <a:off x="1085168" y="1461769"/>
            <a:ext cx="612000" cy="228857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r>
              <a:rPr kumimoji="1"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추가</a:t>
            </a:r>
            <a:endParaRPr kumimoji="1" lang="ko-KR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8" name="Triangle 942"/>
          <p:cNvSpPr>
            <a:spLocks noChangeAspect="1"/>
          </p:cNvSpPr>
          <p:nvPr/>
        </p:nvSpPr>
        <p:spPr>
          <a:xfrm flipV="1">
            <a:off x="1585027" y="1549921"/>
            <a:ext cx="91689" cy="5255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33">
              <a:solidFill>
                <a:schemeClr val="tx1"/>
              </a:solidFill>
              <a:latin typeface="+mn-ea"/>
              <a:ea typeface="+mn-ea"/>
              <a:cs typeface="ＭＳ Ｐゴシック" charset="0"/>
            </a:endParaRPr>
          </a:p>
        </p:txBody>
      </p:sp>
      <p:sp>
        <p:nvSpPr>
          <p:cNvPr id="79" name="Rounded Rectangle 939"/>
          <p:cNvSpPr/>
          <p:nvPr/>
        </p:nvSpPr>
        <p:spPr>
          <a:xfrm>
            <a:off x="6113070" y="1062774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공유자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0" name="타원 79"/>
          <p:cNvSpPr>
            <a:spLocks noChangeAspect="1"/>
          </p:cNvSpPr>
          <p:nvPr/>
        </p:nvSpPr>
        <p:spPr>
          <a:xfrm>
            <a:off x="281412" y="105605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타원 80"/>
          <p:cNvSpPr>
            <a:spLocks noChangeAspect="1"/>
          </p:cNvSpPr>
          <p:nvPr/>
        </p:nvSpPr>
        <p:spPr>
          <a:xfrm>
            <a:off x="281412" y="1486790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6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타원 81"/>
          <p:cNvSpPr>
            <a:spLocks noChangeAspect="1"/>
          </p:cNvSpPr>
          <p:nvPr/>
        </p:nvSpPr>
        <p:spPr>
          <a:xfrm>
            <a:off x="281412" y="2146843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5" name="텍스트 상자 31"/>
          <p:cNvSpPr txBox="1"/>
          <p:nvPr/>
        </p:nvSpPr>
        <p:spPr>
          <a:xfrm>
            <a:off x="6075526" y="4501328"/>
            <a:ext cx="68400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en-US" altLang="ko-KR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+</a:t>
            </a:r>
            <a:r>
              <a:rPr kumimoji="1" lang="ko-KR" altLang="en-US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알림 추가</a:t>
            </a:r>
            <a:endParaRPr kumimoji="1" lang="ko-KR" altLang="en-US" sz="800" u="sng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6" name="Rounded Rectangle 939"/>
          <p:cNvSpPr/>
          <p:nvPr/>
        </p:nvSpPr>
        <p:spPr>
          <a:xfrm>
            <a:off x="6087824" y="3750985"/>
            <a:ext cx="900000" cy="290149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endParaRPr kumimoji="1" lang="en-US" sz="700" dirty="0">
              <a:latin typeface="+mn-ea"/>
              <a:ea typeface="+mn-ea"/>
            </a:endParaRPr>
          </a:p>
        </p:txBody>
      </p:sp>
      <p:sp>
        <p:nvSpPr>
          <p:cNvPr id="87" name="Triangle 942"/>
          <p:cNvSpPr>
            <a:spLocks noChangeAspect="1"/>
          </p:cNvSpPr>
          <p:nvPr/>
        </p:nvSpPr>
        <p:spPr>
          <a:xfrm flipV="1">
            <a:off x="6835659" y="3877832"/>
            <a:ext cx="108000" cy="6190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33">
              <a:solidFill>
                <a:schemeClr val="tx1"/>
              </a:solidFill>
              <a:latin typeface="+mn-ea"/>
              <a:ea typeface="+mn-ea"/>
              <a:cs typeface="ＭＳ Ｐゴシック" charset="0"/>
            </a:endParaRPr>
          </a:p>
        </p:txBody>
      </p:sp>
      <p:sp>
        <p:nvSpPr>
          <p:cNvPr id="88" name="텍스트 상자 31"/>
          <p:cNvSpPr txBox="1"/>
          <p:nvPr/>
        </p:nvSpPr>
        <p:spPr>
          <a:xfrm>
            <a:off x="6154025" y="3837878"/>
            <a:ext cx="684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10</a:t>
            </a:r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분 전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9" name="Freeform 11"/>
          <p:cNvSpPr>
            <a:spLocks noChangeAspect="1" noChangeArrowheads="1"/>
          </p:cNvSpPr>
          <p:nvPr/>
        </p:nvSpPr>
        <p:spPr bwMode="auto">
          <a:xfrm>
            <a:off x="7687339" y="3855489"/>
            <a:ext cx="81140" cy="8114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grpSp>
        <p:nvGrpSpPr>
          <p:cNvPr id="90" name="Group 298"/>
          <p:cNvGrpSpPr/>
          <p:nvPr/>
        </p:nvGrpSpPr>
        <p:grpSpPr>
          <a:xfrm>
            <a:off x="7055154" y="3791087"/>
            <a:ext cx="542168" cy="217610"/>
            <a:chOff x="2102505" y="5084640"/>
            <a:chExt cx="542168" cy="217610"/>
          </a:xfrm>
        </p:grpSpPr>
        <p:sp>
          <p:nvSpPr>
            <p:cNvPr id="91" name="Rounded Rectangle 939"/>
            <p:cNvSpPr/>
            <p:nvPr/>
          </p:nvSpPr>
          <p:spPr>
            <a:xfrm>
              <a:off x="2104673" y="5084640"/>
              <a:ext cx="540000" cy="209897"/>
            </a:xfrm>
            <a:prstGeom prst="roundRect">
              <a:avLst>
                <a:gd name="adj" fmla="val 8420"/>
              </a:avLst>
            </a:prstGeom>
            <a:solidFill>
              <a:schemeClr val="bg1">
                <a:lumMod val="95000"/>
              </a:schemeClr>
            </a:solidFill>
            <a:ln w="6350" cap="flat" cmpd="sng">
              <a:solidFill>
                <a:schemeClr val="bg1">
                  <a:lumMod val="7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92" name="Rounded Rectangle 939"/>
            <p:cNvSpPr/>
            <p:nvPr/>
          </p:nvSpPr>
          <p:spPr>
            <a:xfrm>
              <a:off x="2102505" y="5092353"/>
              <a:ext cx="286872" cy="209897"/>
            </a:xfrm>
            <a:prstGeom prst="roundRect">
              <a:avLst>
                <a:gd name="adj" fmla="val 8420"/>
              </a:avLst>
            </a:prstGeom>
            <a:solidFill>
              <a:schemeClr val="bg1">
                <a:lumMod val="65000"/>
              </a:schemeClr>
            </a:solidFill>
            <a:ln w="635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r>
                <a:rPr kumimoji="1" lang="ko-KR" altLang="en-US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알림</a:t>
              </a:r>
              <a:endParaRPr kumimoji="1" 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93" name="Rectangle 301"/>
            <p:cNvSpPr/>
            <p:nvPr/>
          </p:nvSpPr>
          <p:spPr>
            <a:xfrm>
              <a:off x="2422621" y="5143440"/>
              <a:ext cx="179536" cy="10772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ko-KR" altLang="en-US" sz="7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메일</a:t>
              </a:r>
              <a:endParaRPr kumimoji="1"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94" name="Rectangle 302"/>
          <p:cNvSpPr/>
          <p:nvPr/>
        </p:nvSpPr>
        <p:spPr>
          <a:xfrm>
            <a:off x="5380317" y="3685208"/>
            <a:ext cx="2490134" cy="1032999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95" name="텍스트 상자 31"/>
          <p:cNvSpPr txBox="1"/>
          <p:nvPr/>
        </p:nvSpPr>
        <p:spPr>
          <a:xfrm>
            <a:off x="5463890" y="3766282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알림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7" name="Rounded Rectangle 939"/>
          <p:cNvSpPr/>
          <p:nvPr/>
        </p:nvSpPr>
        <p:spPr>
          <a:xfrm>
            <a:off x="6087824" y="4113180"/>
            <a:ext cx="900000" cy="290149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endParaRPr kumimoji="1" lang="en-US" sz="700" dirty="0">
              <a:latin typeface="+mn-ea"/>
              <a:ea typeface="+mn-ea"/>
            </a:endParaRPr>
          </a:p>
        </p:txBody>
      </p:sp>
      <p:sp>
        <p:nvSpPr>
          <p:cNvPr id="98" name="Triangle 942"/>
          <p:cNvSpPr>
            <a:spLocks noChangeAspect="1"/>
          </p:cNvSpPr>
          <p:nvPr/>
        </p:nvSpPr>
        <p:spPr>
          <a:xfrm flipV="1">
            <a:off x="6835659" y="4240027"/>
            <a:ext cx="108000" cy="6190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33">
              <a:solidFill>
                <a:schemeClr val="tx1"/>
              </a:solidFill>
              <a:latin typeface="+mn-ea"/>
              <a:ea typeface="+mn-ea"/>
              <a:cs typeface="ＭＳ Ｐゴシック" charset="0"/>
            </a:endParaRPr>
          </a:p>
        </p:txBody>
      </p:sp>
      <p:sp>
        <p:nvSpPr>
          <p:cNvPr id="99" name="텍스트 상자 31"/>
          <p:cNvSpPr txBox="1"/>
          <p:nvPr/>
        </p:nvSpPr>
        <p:spPr>
          <a:xfrm>
            <a:off x="6154025" y="4200073"/>
            <a:ext cx="684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20</a:t>
            </a:r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분 전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0" name="Freeform 11"/>
          <p:cNvSpPr>
            <a:spLocks noChangeAspect="1" noChangeArrowheads="1"/>
          </p:cNvSpPr>
          <p:nvPr/>
        </p:nvSpPr>
        <p:spPr bwMode="auto">
          <a:xfrm>
            <a:off x="7687339" y="4217684"/>
            <a:ext cx="81140" cy="8114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grpSp>
        <p:nvGrpSpPr>
          <p:cNvPr id="101" name="Group 308"/>
          <p:cNvGrpSpPr/>
          <p:nvPr/>
        </p:nvGrpSpPr>
        <p:grpSpPr>
          <a:xfrm>
            <a:off x="7055154" y="4153282"/>
            <a:ext cx="542168" cy="217610"/>
            <a:chOff x="2102505" y="5084640"/>
            <a:chExt cx="542168" cy="217610"/>
          </a:xfrm>
        </p:grpSpPr>
        <p:sp>
          <p:nvSpPr>
            <p:cNvPr id="102" name="Rounded Rectangle 939"/>
            <p:cNvSpPr/>
            <p:nvPr/>
          </p:nvSpPr>
          <p:spPr>
            <a:xfrm>
              <a:off x="2104673" y="5084640"/>
              <a:ext cx="540000" cy="209897"/>
            </a:xfrm>
            <a:prstGeom prst="roundRect">
              <a:avLst>
                <a:gd name="adj" fmla="val 8420"/>
              </a:avLst>
            </a:prstGeom>
            <a:solidFill>
              <a:schemeClr val="bg1">
                <a:lumMod val="95000"/>
              </a:schemeClr>
            </a:solidFill>
            <a:ln w="6350" cap="flat" cmpd="sng">
              <a:solidFill>
                <a:schemeClr val="bg1">
                  <a:lumMod val="7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03" name="Rounded Rectangle 939"/>
            <p:cNvSpPr/>
            <p:nvPr/>
          </p:nvSpPr>
          <p:spPr>
            <a:xfrm>
              <a:off x="2102505" y="5092353"/>
              <a:ext cx="286872" cy="209897"/>
            </a:xfrm>
            <a:prstGeom prst="roundRect">
              <a:avLst>
                <a:gd name="adj" fmla="val 8420"/>
              </a:avLst>
            </a:prstGeom>
            <a:solidFill>
              <a:schemeClr val="bg1">
                <a:lumMod val="65000"/>
              </a:schemeClr>
            </a:solidFill>
            <a:ln w="635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r>
                <a:rPr kumimoji="1" lang="ko-KR" altLang="en-US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알림</a:t>
              </a:r>
              <a:endParaRPr kumimoji="1" 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04" name="Rectangle 311"/>
            <p:cNvSpPr/>
            <p:nvPr/>
          </p:nvSpPr>
          <p:spPr>
            <a:xfrm>
              <a:off x="2422621" y="5143440"/>
              <a:ext cx="179536" cy="10772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ko-KR" altLang="en-US" sz="7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메일</a:t>
              </a:r>
              <a:endParaRPr kumimoji="1"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05" name="AutoShape 63"/>
          <p:cNvSpPr>
            <a:spLocks/>
          </p:cNvSpPr>
          <p:nvPr/>
        </p:nvSpPr>
        <p:spPr bwMode="auto">
          <a:xfrm>
            <a:off x="5375740" y="3532616"/>
            <a:ext cx="993556" cy="12311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57200"/>
            <a:r>
              <a:rPr lang="en-US" altLang="ko-KR" sz="800" dirty="0" smtClean="0">
                <a:latin typeface="+mn-ea"/>
                <a:ea typeface="+mn-ea"/>
              </a:rPr>
              <a:t>* </a:t>
            </a:r>
            <a:r>
              <a:rPr lang="ko-KR" altLang="en-US" sz="800" dirty="0" smtClean="0">
                <a:latin typeface="+mn-ea"/>
                <a:ea typeface="+mn-ea"/>
              </a:rPr>
              <a:t>알림 추가 시 </a:t>
            </a:r>
          </a:p>
        </p:txBody>
      </p:sp>
      <p:grpSp>
        <p:nvGrpSpPr>
          <p:cNvPr id="106" name="Group 120"/>
          <p:cNvGrpSpPr/>
          <p:nvPr/>
        </p:nvGrpSpPr>
        <p:grpSpPr>
          <a:xfrm>
            <a:off x="1884766" y="3251888"/>
            <a:ext cx="2998710" cy="2177362"/>
            <a:chOff x="401099" y="6193063"/>
            <a:chExt cx="2998710" cy="2177362"/>
          </a:xfrm>
        </p:grpSpPr>
        <p:sp>
          <p:nvSpPr>
            <p:cNvPr id="107" name="직사각형"/>
            <p:cNvSpPr/>
            <p:nvPr/>
          </p:nvSpPr>
          <p:spPr>
            <a:xfrm>
              <a:off x="401099" y="6193063"/>
              <a:ext cx="2998710" cy="217736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  <a:effectLst/>
          </p:spPr>
          <p:txBody>
            <a:bodyPr lIns="50800" tIns="50800" rIns="50800" bIns="50800" anchor="ctr"/>
            <a:lstStyle/>
            <a:p>
              <a:endParaRPr sz="2400" dirty="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  <p:sp>
          <p:nvSpPr>
            <p:cNvPr id="108" name="직사각형"/>
            <p:cNvSpPr/>
            <p:nvPr/>
          </p:nvSpPr>
          <p:spPr>
            <a:xfrm>
              <a:off x="428698" y="6193063"/>
              <a:ext cx="851491" cy="21297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  <a:miter lim="400000"/>
            </a:ln>
            <a:effectLst/>
          </p:spPr>
          <p:txBody>
            <a:bodyPr lIns="50800" tIns="50800" rIns="50800" bIns="50800" anchor="ctr"/>
            <a:lstStyle/>
            <a:p>
              <a:endParaRPr sz="2400" dirty="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  <p:sp>
          <p:nvSpPr>
            <p:cNvPr id="109" name="직사각형"/>
            <p:cNvSpPr/>
            <p:nvPr/>
          </p:nvSpPr>
          <p:spPr>
            <a:xfrm>
              <a:off x="418373" y="6193063"/>
              <a:ext cx="851491" cy="36264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noFill/>
              <a:miter lim="400000"/>
            </a:ln>
            <a:effectLst/>
          </p:spPr>
          <p:txBody>
            <a:bodyPr lIns="108000" tIns="50800" rIns="50800" bIns="50800" anchor="ctr"/>
            <a:lstStyle/>
            <a:p>
              <a:r>
                <a:rPr lang="ko-KR" altLang="en-US" sz="900" b="1" dirty="0" smtClean="0">
                  <a:latin typeface="+mn-ea"/>
                  <a:ea typeface="+mn-ea"/>
                </a:rPr>
                <a:t>회의실</a:t>
              </a:r>
              <a:endParaRPr sz="900" b="1" dirty="0">
                <a:latin typeface="+mn-ea"/>
                <a:ea typeface="+mn-ea"/>
              </a:endParaRPr>
            </a:p>
          </p:txBody>
        </p:sp>
        <p:sp>
          <p:nvSpPr>
            <p:cNvPr id="110" name="직사각형"/>
            <p:cNvSpPr/>
            <p:nvPr/>
          </p:nvSpPr>
          <p:spPr>
            <a:xfrm>
              <a:off x="418373" y="6561044"/>
              <a:ext cx="851491" cy="362646"/>
            </a:xfrm>
            <a:prstGeom prst="rect">
              <a:avLst/>
            </a:prstGeom>
            <a:noFill/>
            <a:ln w="12700">
              <a:noFill/>
              <a:miter lim="400000"/>
            </a:ln>
            <a:effectLst/>
          </p:spPr>
          <p:txBody>
            <a:bodyPr lIns="108000" tIns="50800" rIns="50800" bIns="50800" anchor="ctr"/>
            <a:lstStyle/>
            <a:p>
              <a:r>
                <a:rPr lang="ko-KR" altLang="en-US" sz="9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빔 프로젝터</a:t>
              </a:r>
              <a:endParaRPr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1" name="직사각형"/>
            <p:cNvSpPr/>
            <p:nvPr/>
          </p:nvSpPr>
          <p:spPr>
            <a:xfrm>
              <a:off x="418373" y="6930891"/>
              <a:ext cx="851491" cy="362646"/>
            </a:xfrm>
            <a:prstGeom prst="rect">
              <a:avLst/>
            </a:prstGeom>
            <a:noFill/>
            <a:ln w="12700">
              <a:noFill/>
              <a:miter lim="400000"/>
            </a:ln>
            <a:effectLst/>
          </p:spPr>
          <p:txBody>
            <a:bodyPr lIns="108000" tIns="50800" rIns="50800" bIns="50800" anchor="ctr"/>
            <a:lstStyle/>
            <a:p>
              <a:r>
                <a:rPr lang="ko-KR" altLang="en-US" sz="9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노트북</a:t>
              </a:r>
              <a:endParaRPr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2" name="직사각형"/>
            <p:cNvSpPr/>
            <p:nvPr/>
          </p:nvSpPr>
          <p:spPr>
            <a:xfrm>
              <a:off x="418373" y="7291398"/>
              <a:ext cx="851491" cy="362646"/>
            </a:xfrm>
            <a:prstGeom prst="rect">
              <a:avLst/>
            </a:prstGeom>
            <a:noFill/>
            <a:ln w="12700">
              <a:noFill/>
              <a:miter lim="400000"/>
            </a:ln>
            <a:effectLst/>
          </p:spPr>
          <p:txBody>
            <a:bodyPr lIns="108000" tIns="50800" rIns="50800" bIns="50800" anchor="ctr"/>
            <a:lstStyle/>
            <a:p>
              <a:r>
                <a:rPr lang="ko-KR" altLang="en-US" sz="900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차량</a:t>
              </a:r>
              <a:endParaRPr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3" name="직사각형"/>
            <p:cNvSpPr/>
            <p:nvPr/>
          </p:nvSpPr>
          <p:spPr>
            <a:xfrm>
              <a:off x="418373" y="7654142"/>
              <a:ext cx="851491" cy="268705"/>
            </a:xfrm>
            <a:prstGeom prst="rect">
              <a:avLst/>
            </a:prstGeom>
            <a:noFill/>
            <a:ln w="12700">
              <a:noFill/>
              <a:miter lim="400000"/>
            </a:ln>
            <a:effectLst/>
          </p:spPr>
          <p:txBody>
            <a:bodyPr lIns="108000" tIns="50800" rIns="50800" bIns="50800" anchor="ctr"/>
            <a:lstStyle/>
            <a:p>
              <a:endParaRPr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4" name="Rectangle 97"/>
            <p:cNvSpPr/>
            <p:nvPr/>
          </p:nvSpPr>
          <p:spPr>
            <a:xfrm>
              <a:off x="1424027" y="6239718"/>
              <a:ext cx="74732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1</a:t>
              </a:r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층 </a:t>
              </a:r>
              <a:r>
                <a:rPr lang="en-US" altLang="ko-KR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Bahama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  <p:cxnSp>
          <p:nvCxnSpPr>
            <p:cNvPr id="115" name="Straight Connector 105"/>
            <p:cNvCxnSpPr/>
            <p:nvPr/>
          </p:nvCxnSpPr>
          <p:spPr>
            <a:xfrm>
              <a:off x="1280189" y="6483162"/>
              <a:ext cx="211962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ectangle 701"/>
            <p:cNvSpPr/>
            <p:nvPr/>
          </p:nvSpPr>
          <p:spPr>
            <a:xfrm>
              <a:off x="1424027" y="6511162"/>
              <a:ext cx="556563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1</a:t>
              </a:r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층 </a:t>
              </a:r>
              <a:r>
                <a:rPr lang="en-US" altLang="ko-KR" sz="8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Jeju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  <p:cxnSp>
          <p:nvCxnSpPr>
            <p:cNvPr id="117" name="Straight Connector 702"/>
            <p:cNvCxnSpPr/>
            <p:nvPr/>
          </p:nvCxnSpPr>
          <p:spPr>
            <a:xfrm>
              <a:off x="1280189" y="6754606"/>
              <a:ext cx="211962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703"/>
            <p:cNvSpPr/>
            <p:nvPr/>
          </p:nvSpPr>
          <p:spPr>
            <a:xfrm>
              <a:off x="1424027" y="6782606"/>
              <a:ext cx="660758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1</a:t>
              </a:r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층 </a:t>
              </a:r>
              <a:r>
                <a:rPr lang="en-US" altLang="ko-KR" sz="800" dirty="0" err="1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Hawai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  <p:cxnSp>
          <p:nvCxnSpPr>
            <p:cNvPr id="119" name="Straight Connector 704"/>
            <p:cNvCxnSpPr/>
            <p:nvPr/>
          </p:nvCxnSpPr>
          <p:spPr>
            <a:xfrm>
              <a:off x="1280189" y="7026050"/>
              <a:ext cx="211962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Rectangle 705"/>
            <p:cNvSpPr/>
            <p:nvPr/>
          </p:nvSpPr>
          <p:spPr>
            <a:xfrm>
              <a:off x="1424027" y="7054050"/>
              <a:ext cx="7553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1</a:t>
              </a:r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층 </a:t>
              </a:r>
              <a:r>
                <a:rPr lang="en-US" altLang="ko-KR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A</a:t>
              </a:r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회의실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  <p:cxnSp>
          <p:nvCxnSpPr>
            <p:cNvPr id="121" name="Straight Connector 706"/>
            <p:cNvCxnSpPr/>
            <p:nvPr/>
          </p:nvCxnSpPr>
          <p:spPr>
            <a:xfrm>
              <a:off x="1280189" y="7297494"/>
              <a:ext cx="211962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ctangle 707"/>
            <p:cNvSpPr/>
            <p:nvPr/>
          </p:nvSpPr>
          <p:spPr>
            <a:xfrm>
              <a:off x="1424027" y="7325494"/>
              <a:ext cx="7553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2</a:t>
              </a:r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층 </a:t>
              </a:r>
              <a:r>
                <a:rPr lang="en-US" altLang="ko-KR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A</a:t>
              </a:r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회의실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  <p:cxnSp>
          <p:nvCxnSpPr>
            <p:cNvPr id="123" name="Straight Connector 708"/>
            <p:cNvCxnSpPr/>
            <p:nvPr/>
          </p:nvCxnSpPr>
          <p:spPr>
            <a:xfrm>
              <a:off x="1280189" y="7568938"/>
              <a:ext cx="211962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ectangle 709"/>
            <p:cNvSpPr/>
            <p:nvPr/>
          </p:nvSpPr>
          <p:spPr>
            <a:xfrm>
              <a:off x="1424027" y="7596938"/>
              <a:ext cx="755335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3</a:t>
              </a:r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층 </a:t>
              </a:r>
              <a:r>
                <a:rPr lang="en-US" altLang="ko-KR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A</a:t>
              </a:r>
              <a:r>
                <a:rPr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회의실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  <p:cxnSp>
          <p:nvCxnSpPr>
            <p:cNvPr id="125" name="Straight Connector 710"/>
            <p:cNvCxnSpPr/>
            <p:nvPr/>
          </p:nvCxnSpPr>
          <p:spPr>
            <a:xfrm>
              <a:off x="1280189" y="7840379"/>
              <a:ext cx="211962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Rounded Rectangle 711"/>
            <p:cNvSpPr/>
            <p:nvPr/>
          </p:nvSpPr>
          <p:spPr>
            <a:xfrm>
              <a:off x="1344585" y="6288432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30000"/>
                </a:lnSpc>
              </a:pP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27" name="Rounded Rectangle 712"/>
            <p:cNvSpPr/>
            <p:nvPr/>
          </p:nvSpPr>
          <p:spPr>
            <a:xfrm>
              <a:off x="1344585" y="6564883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30000"/>
                </a:lnSpc>
              </a:pP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28" name="Rounded Rectangle 713"/>
            <p:cNvSpPr/>
            <p:nvPr/>
          </p:nvSpPr>
          <p:spPr>
            <a:xfrm>
              <a:off x="1344585" y="6831382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30000"/>
                </a:lnSpc>
              </a:pP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29" name="Rounded Rectangle 714"/>
            <p:cNvSpPr/>
            <p:nvPr/>
          </p:nvSpPr>
          <p:spPr>
            <a:xfrm>
              <a:off x="1344585" y="7095086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30000"/>
                </a:lnSpc>
              </a:pP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0" name="Rounded Rectangle 715"/>
            <p:cNvSpPr/>
            <p:nvPr/>
          </p:nvSpPr>
          <p:spPr>
            <a:xfrm>
              <a:off x="1344585" y="7375956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30000"/>
                </a:lnSpc>
              </a:pP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1" name="Rounded Rectangle 716"/>
            <p:cNvSpPr/>
            <p:nvPr/>
          </p:nvSpPr>
          <p:spPr>
            <a:xfrm>
              <a:off x="1344585" y="7654079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30000"/>
                </a:lnSpc>
              </a:pP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cxnSp>
          <p:nvCxnSpPr>
            <p:cNvPr id="132" name="Straight Connector 718"/>
            <p:cNvCxnSpPr/>
            <p:nvPr/>
          </p:nvCxnSpPr>
          <p:spPr>
            <a:xfrm>
              <a:off x="1274092" y="6201412"/>
              <a:ext cx="0" cy="1695682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Rectangle 108"/>
            <p:cNvSpPr/>
            <p:nvPr/>
          </p:nvSpPr>
          <p:spPr>
            <a:xfrm>
              <a:off x="414337" y="7704660"/>
              <a:ext cx="497252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설비</a:t>
              </a:r>
              <a:r>
                <a:rPr lang="en-US" altLang="ko-KR" sz="9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A</a:t>
              </a:r>
              <a:endParaRPr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34" name="AutoShape 63"/>
          <p:cNvSpPr>
            <a:spLocks/>
          </p:cNvSpPr>
          <p:nvPr/>
        </p:nvSpPr>
        <p:spPr bwMode="auto">
          <a:xfrm>
            <a:off x="701552" y="3177713"/>
            <a:ext cx="791153" cy="49244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57200"/>
            <a:r>
              <a:rPr lang="en-US" altLang="ko-KR" sz="800" dirty="0" smtClean="0">
                <a:latin typeface="+mn-ea"/>
                <a:ea typeface="+mn-ea"/>
              </a:rPr>
              <a:t>* </a:t>
            </a:r>
            <a:r>
              <a:rPr lang="ko-KR" altLang="en-US" sz="800" dirty="0" smtClean="0">
                <a:latin typeface="+mn-ea"/>
                <a:ea typeface="+mn-ea"/>
              </a:rPr>
              <a:t>설비 추가 </a:t>
            </a:r>
            <a:endParaRPr lang="en-US" altLang="ko-KR" sz="800" dirty="0" smtClean="0">
              <a:latin typeface="+mn-ea"/>
              <a:ea typeface="+mn-ea"/>
            </a:endParaRPr>
          </a:p>
          <a:p>
            <a:pPr defTabSz="457200"/>
            <a:r>
              <a:rPr lang="ko-KR" altLang="en-US" sz="800" dirty="0" smtClean="0">
                <a:latin typeface="+mn-ea"/>
                <a:ea typeface="+mn-ea"/>
              </a:rPr>
              <a:t>  </a:t>
            </a:r>
            <a:r>
              <a:rPr lang="ko-KR" altLang="en-US" sz="800" dirty="0" err="1" smtClean="0">
                <a:latin typeface="+mn-ea"/>
                <a:ea typeface="+mn-ea"/>
              </a:rPr>
              <a:t>레이어</a:t>
            </a:r>
            <a:r>
              <a:rPr lang="ko-KR" altLang="en-US" sz="800" dirty="0" smtClean="0">
                <a:latin typeface="+mn-ea"/>
                <a:ea typeface="+mn-ea"/>
              </a:rPr>
              <a:t> 팝업</a:t>
            </a:r>
          </a:p>
          <a:p>
            <a:pPr defTabSz="457200"/>
            <a:r>
              <a:rPr lang="en-US" altLang="ko-KR" sz="800" dirty="0" smtClean="0">
                <a:latin typeface="+mn-ea"/>
                <a:ea typeface="+mn-ea"/>
              </a:rPr>
              <a:t>(</a:t>
            </a:r>
            <a:r>
              <a:rPr lang="ko-KR" altLang="en-US" sz="800" dirty="0" smtClean="0">
                <a:latin typeface="+mn-ea"/>
                <a:ea typeface="+mn-ea"/>
              </a:rPr>
              <a:t>설비 추가 버튼 </a:t>
            </a:r>
            <a:endParaRPr lang="en-US" altLang="ko-KR" sz="800" dirty="0" smtClean="0">
              <a:latin typeface="+mn-ea"/>
              <a:ea typeface="+mn-ea"/>
            </a:endParaRPr>
          </a:p>
          <a:p>
            <a:pPr defTabSz="457200"/>
            <a:r>
              <a:rPr lang="ko-KR" altLang="en-US" sz="800" dirty="0" smtClean="0">
                <a:latin typeface="+mn-ea"/>
                <a:ea typeface="+mn-ea"/>
              </a:rPr>
              <a:t>하단에 제공</a:t>
            </a:r>
            <a:r>
              <a:rPr lang="en-US" altLang="ko-KR" sz="800" dirty="0" smtClean="0">
                <a:latin typeface="+mn-ea"/>
                <a:ea typeface="+mn-ea"/>
              </a:rPr>
              <a:t>) </a:t>
            </a:r>
            <a:endParaRPr lang="ko-KR" altLang="en-US" sz="800" dirty="0" smtClean="0">
              <a:latin typeface="+mn-ea"/>
              <a:ea typeface="+mn-ea"/>
            </a:endParaRPr>
          </a:p>
        </p:txBody>
      </p:sp>
      <p:grpSp>
        <p:nvGrpSpPr>
          <p:cNvPr id="139" name="그룹 217"/>
          <p:cNvGrpSpPr/>
          <p:nvPr/>
        </p:nvGrpSpPr>
        <p:grpSpPr>
          <a:xfrm>
            <a:off x="4686885" y="3251887"/>
            <a:ext cx="513333" cy="1722583"/>
            <a:chOff x="5940387" y="3330324"/>
            <a:chExt cx="2405794" cy="10079005"/>
          </a:xfrm>
        </p:grpSpPr>
        <p:grpSp>
          <p:nvGrpSpPr>
            <p:cNvPr id="140" name="그룹 7"/>
            <p:cNvGrpSpPr/>
            <p:nvPr/>
          </p:nvGrpSpPr>
          <p:grpSpPr>
            <a:xfrm>
              <a:off x="5940387" y="3330324"/>
              <a:ext cx="1645483" cy="10079005"/>
              <a:chOff x="311087" y="3967543"/>
              <a:chExt cx="5315691" cy="9510234"/>
            </a:xfrm>
          </p:grpSpPr>
          <p:cxnSp>
            <p:nvCxnSpPr>
              <p:cNvPr id="142" name="직선 연결선[R] 222"/>
              <p:cNvCxnSpPr/>
              <p:nvPr/>
            </p:nvCxnSpPr>
            <p:spPr>
              <a:xfrm>
                <a:off x="4242742" y="3967543"/>
                <a:ext cx="0" cy="9510234"/>
              </a:xfrm>
              <a:prstGeom prst="line">
                <a:avLst/>
              </a:prstGeom>
              <a:ln w="12700">
                <a:solidFill>
                  <a:srgbClr val="FF2F9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직선 연결선[R] 85"/>
              <p:cNvCxnSpPr/>
              <p:nvPr/>
            </p:nvCxnSpPr>
            <p:spPr>
              <a:xfrm flipH="1">
                <a:off x="475386" y="3967543"/>
                <a:ext cx="5151392" cy="0"/>
              </a:xfrm>
              <a:prstGeom prst="line">
                <a:avLst/>
              </a:prstGeom>
              <a:ln w="12700">
                <a:solidFill>
                  <a:srgbClr val="FF2F9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[R] 86"/>
              <p:cNvCxnSpPr/>
              <p:nvPr/>
            </p:nvCxnSpPr>
            <p:spPr>
              <a:xfrm flipH="1">
                <a:off x="311087" y="13477777"/>
                <a:ext cx="5315691" cy="0"/>
              </a:xfrm>
              <a:prstGeom prst="line">
                <a:avLst/>
              </a:prstGeom>
              <a:ln w="12700">
                <a:solidFill>
                  <a:srgbClr val="FF2F9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173"/>
            <p:cNvSpPr txBox="1"/>
            <p:nvPr/>
          </p:nvSpPr>
          <p:spPr>
            <a:xfrm rot="5400000">
              <a:off x="5833215" y="6383860"/>
              <a:ext cx="4016230" cy="1009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 smtClean="0">
                  <a:solidFill>
                    <a:srgbClr val="FF2F92"/>
                  </a:solidFill>
                  <a:latin typeface="+mn-ea"/>
                  <a:ea typeface="+mn-ea"/>
                  <a:cs typeface="Malgun Gothic" charset="0"/>
                </a:rPr>
                <a:t>Scroll Area</a:t>
              </a:r>
              <a:endParaRPr lang="en-US" sz="800" i="1" dirty="0">
                <a:solidFill>
                  <a:srgbClr val="FF2F92"/>
                </a:solidFill>
                <a:latin typeface="+mn-ea"/>
                <a:ea typeface="+mn-ea"/>
                <a:cs typeface="Malgun Gothic" charset="0"/>
              </a:endParaRPr>
            </a:p>
          </p:txBody>
        </p:sp>
      </p:grpSp>
      <p:grpSp>
        <p:nvGrpSpPr>
          <p:cNvPr id="145" name="그룹 217"/>
          <p:cNvGrpSpPr/>
          <p:nvPr/>
        </p:nvGrpSpPr>
        <p:grpSpPr>
          <a:xfrm rot="10800000">
            <a:off x="1577063" y="3251887"/>
            <a:ext cx="513333" cy="1722583"/>
            <a:chOff x="5940387" y="3330324"/>
            <a:chExt cx="2405794" cy="10079005"/>
          </a:xfrm>
        </p:grpSpPr>
        <p:grpSp>
          <p:nvGrpSpPr>
            <p:cNvPr id="146" name="그룹 7"/>
            <p:cNvGrpSpPr/>
            <p:nvPr/>
          </p:nvGrpSpPr>
          <p:grpSpPr>
            <a:xfrm>
              <a:off x="5940387" y="3330324"/>
              <a:ext cx="1645483" cy="10079005"/>
              <a:chOff x="311087" y="3967543"/>
              <a:chExt cx="5315691" cy="9510234"/>
            </a:xfrm>
          </p:grpSpPr>
          <p:cxnSp>
            <p:nvCxnSpPr>
              <p:cNvPr id="148" name="직선 연결선[R] 222"/>
              <p:cNvCxnSpPr/>
              <p:nvPr/>
            </p:nvCxnSpPr>
            <p:spPr>
              <a:xfrm>
                <a:off x="4242742" y="3967543"/>
                <a:ext cx="0" cy="9510234"/>
              </a:xfrm>
              <a:prstGeom prst="line">
                <a:avLst/>
              </a:prstGeom>
              <a:ln w="12700">
                <a:solidFill>
                  <a:srgbClr val="FF2F9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[R] 85"/>
              <p:cNvCxnSpPr/>
              <p:nvPr/>
            </p:nvCxnSpPr>
            <p:spPr>
              <a:xfrm flipH="1">
                <a:off x="475386" y="3967543"/>
                <a:ext cx="5151392" cy="0"/>
              </a:xfrm>
              <a:prstGeom prst="line">
                <a:avLst/>
              </a:prstGeom>
              <a:ln w="12700">
                <a:solidFill>
                  <a:srgbClr val="FF2F9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[R] 86"/>
              <p:cNvCxnSpPr/>
              <p:nvPr/>
            </p:nvCxnSpPr>
            <p:spPr>
              <a:xfrm flipH="1">
                <a:off x="311087" y="13477777"/>
                <a:ext cx="5315691" cy="0"/>
              </a:xfrm>
              <a:prstGeom prst="line">
                <a:avLst/>
              </a:prstGeom>
              <a:ln w="12700">
                <a:solidFill>
                  <a:srgbClr val="FF2F9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7" name="TextBox 1173"/>
            <p:cNvSpPr txBox="1"/>
            <p:nvPr/>
          </p:nvSpPr>
          <p:spPr>
            <a:xfrm rot="5400000">
              <a:off x="5833215" y="6383860"/>
              <a:ext cx="4016230" cy="1009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i="1" dirty="0" smtClean="0">
                  <a:solidFill>
                    <a:srgbClr val="FF2F92"/>
                  </a:solidFill>
                  <a:latin typeface="+mn-ea"/>
                  <a:ea typeface="+mn-ea"/>
                  <a:cs typeface="Malgun Gothic" charset="0"/>
                </a:rPr>
                <a:t>Scroll Area</a:t>
              </a:r>
              <a:endParaRPr lang="en-US" sz="800" i="1" dirty="0">
                <a:solidFill>
                  <a:srgbClr val="FF2F92"/>
                </a:solidFill>
                <a:latin typeface="+mn-ea"/>
                <a:ea typeface="+mn-ea"/>
                <a:cs typeface="Malgun Gothic" charset="0"/>
              </a:endParaRPr>
            </a:p>
          </p:txBody>
        </p:sp>
      </p:grpSp>
      <p:grpSp>
        <p:nvGrpSpPr>
          <p:cNvPr id="151" name="그룹 143"/>
          <p:cNvGrpSpPr/>
          <p:nvPr/>
        </p:nvGrpSpPr>
        <p:grpSpPr>
          <a:xfrm>
            <a:off x="1781514" y="3134237"/>
            <a:ext cx="216000" cy="252000"/>
            <a:chOff x="2704212" y="2825113"/>
            <a:chExt cx="216000" cy="252000"/>
          </a:xfrm>
        </p:grpSpPr>
        <p:sp>
          <p:nvSpPr>
            <p:cNvPr id="152" name="타원형"/>
            <p:cNvSpPr>
              <a:spLocks noChangeAspect="1"/>
            </p:cNvSpPr>
            <p:nvPr/>
          </p:nvSpPr>
          <p:spPr>
            <a:xfrm>
              <a:off x="2706663" y="2843113"/>
              <a:ext cx="213549" cy="216000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576817">
                <a:defRPr sz="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latin typeface="+mn-ea"/>
                <a:ea typeface="+mn-ea"/>
              </a:endParaRPr>
            </a:p>
          </p:txBody>
        </p:sp>
        <p:sp>
          <p:nvSpPr>
            <p:cNvPr id="153" name="2"/>
            <p:cNvSpPr txBox="1"/>
            <p:nvPr/>
          </p:nvSpPr>
          <p:spPr>
            <a:xfrm>
              <a:off x="2704212" y="2825113"/>
              <a:ext cx="216000" cy="252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76817">
                <a:defRPr sz="20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ctr">
                <a:defRPr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lang="en-US" altLang="ko-KR" sz="900" b="1" dirty="0" smtClean="0">
                  <a:solidFill>
                    <a:srgbClr val="FFFFFF"/>
                  </a:solidFill>
                  <a:latin typeface="+mn-ea"/>
                  <a:ea typeface="+mn-ea"/>
                  <a:cs typeface="Helvetica"/>
                  <a:sym typeface="Helvetica"/>
                </a:rPr>
                <a:t>6-1</a:t>
              </a:r>
              <a:endParaRPr sz="900" b="1" dirty="0">
                <a:solidFill>
                  <a:srgbClr val="FFFFFF"/>
                </a:solidFill>
                <a:latin typeface="+mn-ea"/>
                <a:ea typeface="+mn-ea"/>
                <a:cs typeface="Helvetica"/>
                <a:sym typeface="Helvetica"/>
              </a:endParaRPr>
            </a:p>
          </p:txBody>
        </p:sp>
      </p:grpSp>
      <p:graphicFrame>
        <p:nvGraphicFramePr>
          <p:cNvPr id="156" name="표"/>
          <p:cNvGraphicFramePr/>
          <p:nvPr>
            <p:extLst/>
          </p:nvPr>
        </p:nvGraphicFramePr>
        <p:xfrm>
          <a:off x="8088768" y="558850"/>
          <a:ext cx="3927898" cy="4261089"/>
        </p:xfrm>
        <a:graphic>
          <a:graphicData uri="http://schemas.openxmlformats.org/drawingml/2006/table">
            <a:tbl>
              <a:tblPr/>
              <a:tblGrid>
                <a:gridCol w="2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3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sz="1000" b="1" dirty="0" smtClean="0">
                          <a:latin typeface="+mj-ea"/>
                          <a:ea typeface="+mj-ea"/>
                          <a:cs typeface="Nanum Gothic" charset="-127"/>
                          <a:sym typeface="Apple SD 산돌고딕 Neo 볼드체"/>
                        </a:rPr>
                        <a:t>Description</a:t>
                      </a:r>
                      <a:endParaRPr sz="1000" b="1" dirty="0">
                        <a:latin typeface="+mj-ea"/>
                        <a:ea typeface="+mj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>
                      <a:solidFill>
                        <a:srgbClr val="A6AAA9"/>
                      </a:solidFill>
                      <a:miter lim="400000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689">
                <a:tc gridSpan="3">
                  <a:txBody>
                    <a:bodyPr/>
                    <a:lstStyle/>
                    <a:p>
                      <a:pPr marL="138113" indent="-138113" algn="l" defTabSz="914400">
                        <a:buSzPct val="100000"/>
                        <a:buChar char="•"/>
                        <a:tabLst/>
                        <a:defRPr sz="2300"/>
                      </a:pPr>
                      <a:r>
                        <a:rPr lang="ko-KR" altLang="en-US" sz="1000" dirty="0" smtClean="0">
                          <a:latin typeface="+mj-ea"/>
                          <a:ea typeface="+mj-ea"/>
                          <a:cs typeface="Nanum Gothic" charset="-127"/>
                        </a:rPr>
                        <a:t>달력 뷰에서 날짜</a:t>
                      </a:r>
                      <a:r>
                        <a:rPr lang="en-US" altLang="ko-KR" sz="1000" dirty="0" smtClean="0">
                          <a:latin typeface="+mj-ea"/>
                          <a:ea typeface="+mj-ea"/>
                          <a:cs typeface="Nanum Gothic" charset="-127"/>
                        </a:rPr>
                        <a:t>/</a:t>
                      </a:r>
                      <a:r>
                        <a:rPr lang="ko-KR" altLang="en-US" sz="1000" dirty="0" smtClean="0">
                          <a:latin typeface="+mj-ea"/>
                          <a:ea typeface="+mj-ea"/>
                          <a:cs typeface="Nanum Gothic" charset="-127"/>
                        </a:rPr>
                        <a:t>시간대 선택</a:t>
                      </a:r>
                      <a:r>
                        <a:rPr lang="en-US" altLang="ko-KR" sz="1000" dirty="0" smtClean="0">
                          <a:latin typeface="+mj-ea"/>
                          <a:ea typeface="+mj-ea"/>
                          <a:cs typeface="Nanum Gothic" charset="-127"/>
                        </a:rPr>
                        <a:t>(</a:t>
                      </a:r>
                      <a:r>
                        <a:rPr lang="ko-KR" altLang="en-US" sz="1000" dirty="0" smtClean="0">
                          <a:latin typeface="+mj-ea"/>
                          <a:ea typeface="+mj-ea"/>
                          <a:cs typeface="Nanum Gothic" charset="-127"/>
                        </a:rPr>
                        <a:t>더블클릭</a:t>
                      </a:r>
                      <a:r>
                        <a:rPr lang="en-US" altLang="ko-KR" sz="1000" dirty="0" smtClean="0">
                          <a:latin typeface="+mj-ea"/>
                          <a:ea typeface="+mj-ea"/>
                          <a:cs typeface="Nanum Gothic" charset="-127"/>
                        </a:rPr>
                        <a:t>)</a:t>
                      </a:r>
                      <a:r>
                        <a:rPr lang="ko-KR" altLang="en-US" sz="1000" dirty="0" smtClean="0">
                          <a:latin typeface="+mj-ea"/>
                          <a:ea typeface="+mj-ea"/>
                          <a:cs typeface="Nanum Gothic" charset="-127"/>
                        </a:rPr>
                        <a:t>시 제공하는 팝업</a:t>
                      </a:r>
                    </a:p>
                    <a:p>
                      <a:pPr marL="138113" indent="-138113" algn="l" defTabSz="914400">
                        <a:buSzPct val="100000"/>
                        <a:buChar char="•"/>
                        <a:tabLst/>
                        <a:defRPr sz="2300"/>
                      </a:pPr>
                      <a:r>
                        <a:rPr lang="ko-KR" altLang="en-US" sz="1000" dirty="0" smtClean="0">
                          <a:latin typeface="+mj-ea"/>
                          <a:ea typeface="+mj-ea"/>
                          <a:cs typeface="Nanum Gothic" charset="-127"/>
                        </a:rPr>
                        <a:t>일정 상세 탭 선택 화면</a:t>
                      </a:r>
                      <a:r>
                        <a:rPr lang="en-US" altLang="ko-KR" sz="1000" dirty="0" smtClean="0">
                          <a:latin typeface="+mj-ea"/>
                          <a:ea typeface="+mj-ea"/>
                          <a:cs typeface="Nanum Gothic" charset="-127"/>
                        </a:rPr>
                        <a:t>(Default)</a:t>
                      </a:r>
                    </a:p>
                  </a:txBody>
                  <a:tcPr marL="50800" marR="50800" marT="50800" marB="50800" horzOverflow="overflow">
                    <a:lnL w="0">
                      <a:miter lim="400000"/>
                    </a:lnL>
                    <a:lnR w="0">
                      <a:miter lim="400000"/>
                    </a:lnR>
                    <a:lnT>
                      <a:solidFill>
                        <a:srgbClr val="A6AAA9"/>
                      </a:solidFill>
                      <a:miter lim="400000"/>
                    </a:lnT>
                    <a:lnB w="12700" cap="flat" cmpd="sng" algn="ctr">
                      <a:solidFill>
                        <a:srgbClr val="53585F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68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000" b="1" dirty="0">
                          <a:latin typeface="+mj-ea"/>
                          <a:ea typeface="+mj-ea"/>
                          <a:cs typeface="Nanum Gothic" charset="-127"/>
                          <a:sym typeface="Apple SD 산돌고딕 Neo 볼드체"/>
                        </a:rPr>
                        <a:t>No.</a:t>
                      </a:r>
                    </a:p>
                  </a:txBody>
                  <a:tcPr marL="18000" marR="0" marT="50800" marB="50800" anchor="ctr" horzOverflow="overflow">
                    <a:lnL w="0">
                      <a:miter lim="400000"/>
                    </a:lnL>
                    <a:lnR>
                      <a:solidFill>
                        <a:srgbClr val="A6AAA9"/>
                      </a:solidFill>
                      <a:miter lim="400000"/>
                    </a:lnR>
                    <a:lnT w="12700">
                      <a:solidFill>
                        <a:srgbClr val="53585F"/>
                      </a:solidFill>
                      <a:miter lim="400000"/>
                    </a:lnT>
                    <a:lnB>
                      <a:solidFill>
                        <a:srgbClr val="A6AAA9"/>
                      </a:solidFill>
                      <a:miter lim="400000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76200" algn="l" defTabSz="914400">
                        <a:defRPr sz="1800"/>
                      </a:pPr>
                      <a:r>
                        <a:rPr sz="1000" b="1" dirty="0">
                          <a:latin typeface="+mj-ea"/>
                          <a:ea typeface="+mj-ea"/>
                          <a:cs typeface="Nanum Gothic" charset="-127"/>
                          <a:sym typeface="Apple SD 산돌고딕 Neo 볼드체"/>
                        </a:rPr>
                        <a:t>Name</a:t>
                      </a:r>
                    </a:p>
                  </a:txBody>
                  <a:tcPr marL="50800" marR="50800" marT="50800" marB="50800" anchor="ctr" horzOverflow="overflow">
                    <a:lnL>
                      <a:solidFill>
                        <a:srgbClr val="A6AAA9"/>
                      </a:solidFill>
                      <a:miter lim="400000"/>
                    </a:lnL>
                    <a:lnR>
                      <a:solidFill>
                        <a:srgbClr val="A6AAA9"/>
                      </a:solidFill>
                      <a:miter lim="400000"/>
                    </a:lnR>
                    <a:lnT w="12700">
                      <a:solidFill>
                        <a:srgbClr val="53585F"/>
                      </a:solidFill>
                      <a:miter lim="400000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indent="76200" algn="l" defTabSz="914400">
                        <a:defRPr sz="1800"/>
                      </a:pPr>
                      <a:r>
                        <a:rPr sz="1000" b="1" dirty="0">
                          <a:latin typeface="+mj-ea"/>
                          <a:ea typeface="+mj-ea"/>
                          <a:cs typeface="Nanum Gothic" charset="-127"/>
                          <a:sym typeface="Apple SD 산돌고딕 Neo 볼드체"/>
                        </a:rPr>
                        <a:t>Description</a:t>
                      </a:r>
                    </a:p>
                  </a:txBody>
                  <a:tcPr marL="50800" marR="50800" marT="50800" marB="50800" anchor="ctr" horzOverflow="overflow">
                    <a:lnL>
                      <a:solidFill>
                        <a:srgbClr val="A6AAA9"/>
                      </a:solidFill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53585F"/>
                      </a:solidFill>
                      <a:miter lim="400000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926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6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0">
                      <a:miter lim="400000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설비 추가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50800" marB="50800" anchor="ctr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해당 일정에 사용할 설비를 예약하는 항목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Default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: 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설비 추가 버튼 제공</a:t>
                      </a: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추가 시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설비 추가 드롭다운 버튼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선택한 설비 표시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설비 일정 확인 버튼 제공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설비 추가 버튼 선택 시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버튼 하단에 설비 선택 레이어 제공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설비 추가 시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추가한 설비명 우측에 제공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삭제 버튼 선택 시 삭제됨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설비 일정 확인 버튼 선택 시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공유자∙설비 일정확인 탭으로 이동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설비 구분자가 상단에 고정된 상태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0">
                      <a:miter lim="400000"/>
                    </a:lnR>
                    <a:lnT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2926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6-1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0">
                      <a:miter lim="400000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설비 선택 레이어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50800" marB="50800" anchor="ctr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좌측에 설비종류 리스트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우측에 선택한 설비종류에 해당하는 설비 리스트 제공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설비 복수선택 가능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0">
                      <a:miter lim="400000"/>
                    </a:lnR>
                    <a:lnT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2926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7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0">
                      <a:miter lim="400000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알림 추가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50800" marB="50800" anchor="ctr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Default :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알림 추가 버튼 제공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추가 시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알림 시간 선택 드롭다운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알림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메일 선택 버튼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삭제 버튼 제공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알림시간 선택 시 옵션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정시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10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분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20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분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30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분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시간간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알림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메일 선택 버튼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선택한 알림 방식으로 해당 알림 제공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(Default :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알림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삭제 버튼 선택 시 해당 알림 삭제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0">
                      <a:miter lim="400000"/>
                    </a:lnR>
                    <a:lnT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2926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8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0">
                      <a:miter lim="400000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일정 내용 </a:t>
                      </a:r>
                      <a:r>
                        <a:rPr lang="en-US" altLang="ko-KR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기타 항목 </a:t>
                      </a:r>
                      <a:r>
                        <a:rPr lang="en-US" altLang="ko-KR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</a:t>
                      </a:r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파일첨부 추가하기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50800" marB="50800" anchor="ctr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하단에 일정 내용 입력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기타 항목 입력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파일첨부 추가 항목 추가됨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타 메뉴에서 연계 기능으로 일정 등록 시 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해당 영역 펼쳐진 상태 및 컨텐츠 입력된 상태로 제공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0">
                      <a:miter lim="400000"/>
                    </a:lnR>
                    <a:lnT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4" name="Rectangle 283"/>
          <p:cNvSpPr/>
          <p:nvPr/>
        </p:nvSpPr>
        <p:spPr>
          <a:xfrm>
            <a:off x="440547" y="2095980"/>
            <a:ext cx="2348288" cy="316684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1290846" y="1585418"/>
            <a:ext cx="272097" cy="328781"/>
            <a:chOff x="1290846" y="1585418"/>
            <a:chExt cx="272097" cy="328781"/>
          </a:xfrm>
        </p:grpSpPr>
        <p:pic>
          <p:nvPicPr>
            <p:cNvPr id="137" name="Picture 4" descr="1442995944_cursor.png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0846" y="1642102"/>
              <a:ext cx="272097" cy="272097"/>
            </a:xfrm>
            <a:prstGeom prst="rect">
              <a:avLst/>
            </a:prstGeom>
          </p:spPr>
        </p:pic>
        <p:sp>
          <p:nvSpPr>
            <p:cNvPr id="136" name="AutoShape 133"/>
            <p:cNvSpPr>
              <a:spLocks/>
            </p:cNvSpPr>
            <p:nvPr/>
          </p:nvSpPr>
          <p:spPr bwMode="auto">
            <a:xfrm>
              <a:off x="1300036" y="1585418"/>
              <a:ext cx="126859" cy="126966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1"/>
                  </a:moveTo>
                  <a:cubicBezTo>
                    <a:pt x="20639" y="6724"/>
                    <a:pt x="20639" y="12953"/>
                    <a:pt x="16796" y="16796"/>
                  </a:cubicBezTo>
                  <a:cubicBezTo>
                    <a:pt x="12953" y="20638"/>
                    <a:pt x="6724" y="20638"/>
                    <a:pt x="2881" y="16796"/>
                  </a:cubicBezTo>
                  <a:cubicBezTo>
                    <a:pt x="-961" y="12953"/>
                    <a:pt x="-961" y="6724"/>
                    <a:pt x="2881" y="2881"/>
                  </a:cubicBezTo>
                  <a:cubicBezTo>
                    <a:pt x="6724" y="-961"/>
                    <a:pt x="12953" y="-961"/>
                    <a:pt x="16796" y="2881"/>
                  </a:cubicBezTo>
                  <a:close/>
                </a:path>
              </a:pathLst>
            </a:custGeom>
            <a:solidFill>
              <a:srgbClr val="0000FF">
                <a:alpha val="49000"/>
              </a:srgbClr>
            </a:solidFill>
            <a:ln w="9525" cap="flat" cmpd="sng">
              <a:noFill/>
              <a:prstDash val="dash"/>
              <a:miter lim="0"/>
              <a:headEnd/>
              <a:tailEnd/>
            </a:ln>
            <a:effectLst/>
            <a:extLst/>
          </p:spPr>
          <p:txBody>
            <a:bodyPr lIns="0" tIns="0" rIns="0" bIns="0" anchor="ctr"/>
            <a:lstStyle/>
            <a:p>
              <a:endParaRPr lang="en-US" sz="1800" dirty="0">
                <a:latin typeface="+mn-ea"/>
                <a:ea typeface="+mn-ea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209550" y="2581275"/>
            <a:ext cx="7810500" cy="390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6" name="Elbow Connector 8"/>
          <p:cNvCxnSpPr>
            <a:stCxn id="84" idx="3"/>
            <a:endCxn id="94" idx="0"/>
          </p:cNvCxnSpPr>
          <p:nvPr/>
        </p:nvCxnSpPr>
        <p:spPr>
          <a:xfrm>
            <a:off x="2788835" y="2254322"/>
            <a:ext cx="3836549" cy="1430886"/>
          </a:xfrm>
          <a:prstGeom prst="bentConnector2">
            <a:avLst/>
          </a:prstGeom>
          <a:ln w="6350">
            <a:solidFill>
              <a:srgbClr val="FF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Elbow Connector 130"/>
          <p:cNvCxnSpPr>
            <a:endCxn id="108" idx="1"/>
          </p:cNvCxnSpPr>
          <p:nvPr/>
        </p:nvCxnSpPr>
        <p:spPr>
          <a:xfrm rot="16200000" flipH="1">
            <a:off x="336720" y="2741112"/>
            <a:ext cx="2598284" cy="553005"/>
          </a:xfrm>
          <a:prstGeom prst="bentConnector2">
            <a:avLst/>
          </a:prstGeom>
          <a:ln w="6350">
            <a:solidFill>
              <a:srgbClr val="0432FF"/>
            </a:solidFill>
            <a:prstDash val="sys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08"/>
          <p:cNvSpPr/>
          <p:nvPr/>
        </p:nvSpPr>
        <p:spPr>
          <a:xfrm>
            <a:off x="1884766" y="5058760"/>
            <a:ext cx="48282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그룹</a:t>
            </a:r>
            <a:r>
              <a:rPr lang="en-US" altLang="ko-KR" sz="9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1</a:t>
            </a:r>
            <a:endParaRPr lang="ko-KR" alt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9689" y="5095875"/>
            <a:ext cx="1553878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smtClean="0">
                <a:solidFill>
                  <a:srgbClr val="0000FF"/>
                </a:solidFill>
                <a:latin typeface="+mn-ea"/>
                <a:ea typeface="+mn-ea"/>
              </a:rPr>
              <a:t>설비 그룹일 경우 그룹명을 노출</a:t>
            </a:r>
            <a:endParaRPr lang="ko-KR" altLang="en-US" sz="8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추가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</a:p>
        </p:txBody>
      </p:sp>
    </p:spTree>
    <p:extLst>
      <p:ext uri="{BB962C8B-B14F-4D97-AF65-F5344CB8AC3E}">
        <p14:creationId xmlns:p14="http://schemas.microsoft.com/office/powerpoint/2010/main" val="232572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indow Background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263352" y="476672"/>
            <a:ext cx="7128792" cy="547260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2"/>
            </p:custDataLst>
          </p:nvPr>
        </p:nvSpPr>
        <p:spPr>
          <a:xfrm>
            <a:off x="263352" y="476672"/>
            <a:ext cx="7128792" cy="22145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Browser Title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0" name="Minimize" descr="&lt;SmartSettings&gt;&lt;SmartResize anchorLeft=&quot;None&quot; anchorTop=&quot;Absolute&quot; anchorRight=&quot;Absolute&quot; anchorBottom=&quot;None&quot; /&gt;&lt;/SmartSettings&gt;"/>
          <p:cNvSpPr>
            <a:spLocks noChangeAspect="1" noChangeArrowheads="1"/>
          </p:cNvSpPr>
          <p:nvPr>
            <p:custDataLst>
              <p:tags r:id="rId3"/>
            </p:custDataLst>
          </p:nvPr>
        </p:nvSpPr>
        <p:spPr bwMode="auto">
          <a:xfrm>
            <a:off x="6681916" y="583591"/>
            <a:ext cx="74613" cy="7937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1" name="Maximize" descr="&lt;SmartSettings&gt;&lt;SmartResize anchorLeft=&quot;None&quot; anchorTop=&quot;Absolute&quot; anchorRight=&quot;Absolute&quot; anchorBottom=&quot;None&quot; /&gt;&lt;/SmartSettings&gt;"/>
          <p:cNvSpPr>
            <a:spLocks noChangeAspect="1" noEditPoints="1"/>
          </p:cNvSpPr>
          <p:nvPr>
            <p:custDataLst>
              <p:tags r:id="rId4"/>
            </p:custDataLst>
          </p:nvPr>
        </p:nvSpPr>
        <p:spPr bwMode="auto">
          <a:xfrm>
            <a:off x="6899528" y="549459"/>
            <a:ext cx="73025" cy="76200"/>
          </a:xfrm>
          <a:custGeom>
            <a:avLst/>
            <a:gdLst>
              <a:gd name="T0" fmla="*/ 0 w 282"/>
              <a:gd name="T1" fmla="*/ 0 h 282"/>
              <a:gd name="T2" fmla="*/ 0 w 282"/>
              <a:gd name="T3" fmla="*/ 282 h 282"/>
              <a:gd name="T4" fmla="*/ 282 w 282"/>
              <a:gd name="T5" fmla="*/ 282 h 282"/>
              <a:gd name="T6" fmla="*/ 282 w 282"/>
              <a:gd name="T7" fmla="*/ 0 h 282"/>
              <a:gd name="T8" fmla="*/ 0 w 282"/>
              <a:gd name="T9" fmla="*/ 0 h 282"/>
              <a:gd name="T10" fmla="*/ 28 w 282"/>
              <a:gd name="T11" fmla="*/ 28 h 282"/>
              <a:gd name="T12" fmla="*/ 254 w 282"/>
              <a:gd name="T13" fmla="*/ 28 h 282"/>
              <a:gd name="T14" fmla="*/ 254 w 282"/>
              <a:gd name="T15" fmla="*/ 254 h 282"/>
              <a:gd name="T16" fmla="*/ 28 w 282"/>
              <a:gd name="T17" fmla="*/ 254 h 282"/>
              <a:gd name="T18" fmla="*/ 28 w 282"/>
              <a:gd name="T19" fmla="*/ 28 h 2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2" h="282">
                <a:moveTo>
                  <a:pt x="0" y="0"/>
                </a:moveTo>
                <a:lnTo>
                  <a:pt x="0" y="282"/>
                </a:lnTo>
                <a:lnTo>
                  <a:pt x="282" y="282"/>
                </a:lnTo>
                <a:lnTo>
                  <a:pt x="282" y="0"/>
                </a:lnTo>
                <a:lnTo>
                  <a:pt x="0" y="0"/>
                </a:lnTo>
                <a:close/>
                <a:moveTo>
                  <a:pt x="28" y="28"/>
                </a:moveTo>
                <a:lnTo>
                  <a:pt x="254" y="28"/>
                </a:lnTo>
                <a:lnTo>
                  <a:pt x="254" y="254"/>
                </a:lnTo>
                <a:lnTo>
                  <a:pt x="28" y="254"/>
                </a:lnTo>
                <a:lnTo>
                  <a:pt x="28" y="28"/>
                </a:lnTo>
                <a:close/>
              </a:path>
            </a:pathLst>
          </a:custGeom>
          <a:solidFill>
            <a:srgbClr val="000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Close" descr="&lt;SmartSettings&gt;&lt;SmartResize anchorLeft=&quot;None&quot; anchorTop=&quot;Absolute&quot; anchorRight=&quot;Absolute&quot; anchorBottom=&quot;None&quot; /&gt;&lt;/SmartSettings&gt;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7101507" y="547872"/>
            <a:ext cx="74613" cy="79375"/>
          </a:xfrm>
          <a:custGeom>
            <a:avLst/>
            <a:gdLst>
              <a:gd name="T0" fmla="*/ 3 w 47"/>
              <a:gd name="T1" fmla="*/ 0 h 50"/>
              <a:gd name="T2" fmla="*/ 0 w 47"/>
              <a:gd name="T3" fmla="*/ 3 h 50"/>
              <a:gd name="T4" fmla="*/ 20 w 47"/>
              <a:gd name="T5" fmla="*/ 25 h 50"/>
              <a:gd name="T6" fmla="*/ 0 w 47"/>
              <a:gd name="T7" fmla="*/ 46 h 50"/>
              <a:gd name="T8" fmla="*/ 3 w 47"/>
              <a:gd name="T9" fmla="*/ 50 h 50"/>
              <a:gd name="T10" fmla="*/ 23 w 47"/>
              <a:gd name="T11" fmla="*/ 28 h 50"/>
              <a:gd name="T12" fmla="*/ 44 w 47"/>
              <a:gd name="T13" fmla="*/ 49 h 50"/>
              <a:gd name="T14" fmla="*/ 47 w 47"/>
              <a:gd name="T15" fmla="*/ 46 h 50"/>
              <a:gd name="T16" fmla="*/ 27 w 47"/>
              <a:gd name="T17" fmla="*/ 25 h 50"/>
              <a:gd name="T18" fmla="*/ 47 w 47"/>
              <a:gd name="T19" fmla="*/ 3 h 50"/>
              <a:gd name="T20" fmla="*/ 44 w 47"/>
              <a:gd name="T21" fmla="*/ 0 h 50"/>
              <a:gd name="T22" fmla="*/ 24 w 47"/>
              <a:gd name="T23" fmla="*/ 21 h 50"/>
              <a:gd name="T24" fmla="*/ 3 w 47"/>
              <a:gd name="T25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7" h="50">
                <a:moveTo>
                  <a:pt x="3" y="0"/>
                </a:moveTo>
                <a:lnTo>
                  <a:pt x="0" y="3"/>
                </a:lnTo>
                <a:lnTo>
                  <a:pt x="20" y="25"/>
                </a:lnTo>
                <a:lnTo>
                  <a:pt x="0" y="46"/>
                </a:lnTo>
                <a:lnTo>
                  <a:pt x="3" y="50"/>
                </a:lnTo>
                <a:lnTo>
                  <a:pt x="23" y="28"/>
                </a:lnTo>
                <a:lnTo>
                  <a:pt x="44" y="49"/>
                </a:lnTo>
                <a:lnTo>
                  <a:pt x="47" y="46"/>
                </a:lnTo>
                <a:lnTo>
                  <a:pt x="27" y="25"/>
                </a:lnTo>
                <a:lnTo>
                  <a:pt x="47" y="3"/>
                </a:lnTo>
                <a:lnTo>
                  <a:pt x="44" y="0"/>
                </a:lnTo>
                <a:lnTo>
                  <a:pt x="24" y="21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8818" y="866748"/>
            <a:ext cx="661742" cy="195956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공유자 추가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384142" y="1165212"/>
            <a:ext cx="686855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Window Background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6"/>
            </p:custDataLst>
          </p:nvPr>
        </p:nvSpPr>
        <p:spPr>
          <a:xfrm>
            <a:off x="428233" y="1642517"/>
            <a:ext cx="1686317" cy="28913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6" name="Rectangle 14"/>
          <p:cNvSpPr>
            <a:spLocks/>
          </p:cNvSpPr>
          <p:nvPr/>
        </p:nvSpPr>
        <p:spPr bwMode="auto">
          <a:xfrm>
            <a:off x="469057" y="1688006"/>
            <a:ext cx="1600572" cy="21616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50800" tIns="50800" rIns="50800" bIns="50800" anchor="ctr"/>
          <a:lstStyle/>
          <a:p>
            <a:r>
              <a:rPr lang="ko-KR" altLang="en-US" sz="800" i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부서명</a:t>
            </a:r>
            <a:r>
              <a:rPr lang="en-US" altLang="ko-KR" sz="800" i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800" i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이름</a:t>
            </a:r>
            <a:r>
              <a:rPr lang="en-US" altLang="ko-KR" sz="800" i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800" i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직위 검색</a:t>
            </a:r>
            <a:endParaRPr lang="ko-KR" altLang="en-US" sz="800" i="1" dirty="0">
              <a:solidFill>
                <a:schemeClr val="bg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Freeform 10"/>
          <p:cNvSpPr>
            <a:spLocks noChangeAspect="1" noChangeArrowheads="1"/>
          </p:cNvSpPr>
          <p:nvPr/>
        </p:nvSpPr>
        <p:spPr bwMode="auto">
          <a:xfrm>
            <a:off x="1931844" y="1738407"/>
            <a:ext cx="109310" cy="107389"/>
          </a:xfrm>
          <a:custGeom>
            <a:avLst/>
            <a:gdLst>
              <a:gd name="T0" fmla="*/ 332 w 471"/>
              <a:gd name="T1" fmla="*/ 296 h 471"/>
              <a:gd name="T2" fmla="*/ 312 w 471"/>
              <a:gd name="T3" fmla="*/ 296 h 471"/>
              <a:gd name="T4" fmla="*/ 307 w 471"/>
              <a:gd name="T5" fmla="*/ 286 h 471"/>
              <a:gd name="T6" fmla="*/ 348 w 471"/>
              <a:gd name="T7" fmla="*/ 173 h 471"/>
              <a:gd name="T8" fmla="*/ 174 w 471"/>
              <a:gd name="T9" fmla="*/ 0 h 471"/>
              <a:gd name="T10" fmla="*/ 0 w 471"/>
              <a:gd name="T11" fmla="*/ 173 h 471"/>
              <a:gd name="T12" fmla="*/ 174 w 471"/>
              <a:gd name="T13" fmla="*/ 347 h 471"/>
              <a:gd name="T14" fmla="*/ 286 w 471"/>
              <a:gd name="T15" fmla="*/ 306 h 471"/>
              <a:gd name="T16" fmla="*/ 296 w 471"/>
              <a:gd name="T17" fmla="*/ 311 h 471"/>
              <a:gd name="T18" fmla="*/ 296 w 471"/>
              <a:gd name="T19" fmla="*/ 337 h 471"/>
              <a:gd name="T20" fmla="*/ 429 w 471"/>
              <a:gd name="T21" fmla="*/ 470 h 471"/>
              <a:gd name="T22" fmla="*/ 470 w 471"/>
              <a:gd name="T23" fmla="*/ 429 h 471"/>
              <a:gd name="T24" fmla="*/ 332 w 471"/>
              <a:gd name="T25" fmla="*/ 296 h 471"/>
              <a:gd name="T26" fmla="*/ 174 w 471"/>
              <a:gd name="T27" fmla="*/ 296 h 471"/>
              <a:gd name="T28" fmla="*/ 56 w 471"/>
              <a:gd name="T29" fmla="*/ 173 h 471"/>
              <a:gd name="T30" fmla="*/ 174 w 471"/>
              <a:gd name="T31" fmla="*/ 56 h 471"/>
              <a:gd name="T32" fmla="*/ 296 w 471"/>
              <a:gd name="T33" fmla="*/ 173 h 471"/>
              <a:gd name="T34" fmla="*/ 174 w 471"/>
              <a:gd name="T35" fmla="*/ 296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71" h="471">
                <a:moveTo>
                  <a:pt x="332" y="296"/>
                </a:moveTo>
                <a:lnTo>
                  <a:pt x="312" y="296"/>
                </a:lnTo>
                <a:lnTo>
                  <a:pt x="307" y="286"/>
                </a:lnTo>
                <a:cubicBezTo>
                  <a:pt x="332" y="255"/>
                  <a:pt x="348" y="219"/>
                  <a:pt x="348" y="173"/>
                </a:cubicBezTo>
                <a:cubicBezTo>
                  <a:pt x="348" y="76"/>
                  <a:pt x="271" y="0"/>
                  <a:pt x="174" y="0"/>
                </a:cubicBezTo>
                <a:cubicBezTo>
                  <a:pt x="77" y="0"/>
                  <a:pt x="0" y="76"/>
                  <a:pt x="0" y="173"/>
                </a:cubicBezTo>
                <a:cubicBezTo>
                  <a:pt x="0" y="270"/>
                  <a:pt x="77" y="347"/>
                  <a:pt x="174" y="347"/>
                </a:cubicBezTo>
                <a:cubicBezTo>
                  <a:pt x="215" y="347"/>
                  <a:pt x="256" y="332"/>
                  <a:pt x="286" y="306"/>
                </a:cubicBezTo>
                <a:lnTo>
                  <a:pt x="296" y="311"/>
                </a:lnTo>
                <a:lnTo>
                  <a:pt x="296" y="337"/>
                </a:lnTo>
                <a:lnTo>
                  <a:pt x="429" y="470"/>
                </a:lnTo>
                <a:lnTo>
                  <a:pt x="470" y="429"/>
                </a:lnTo>
                <a:lnTo>
                  <a:pt x="332" y="296"/>
                </a:lnTo>
                <a:close/>
                <a:moveTo>
                  <a:pt x="174" y="296"/>
                </a:moveTo>
                <a:cubicBezTo>
                  <a:pt x="107" y="296"/>
                  <a:pt x="56" y="240"/>
                  <a:pt x="56" y="173"/>
                </a:cubicBezTo>
                <a:cubicBezTo>
                  <a:pt x="56" y="107"/>
                  <a:pt x="107" y="56"/>
                  <a:pt x="174" y="56"/>
                </a:cubicBezTo>
                <a:cubicBezTo>
                  <a:pt x="240" y="56"/>
                  <a:pt x="296" y="107"/>
                  <a:pt x="296" y="173"/>
                </a:cubicBezTo>
                <a:cubicBezTo>
                  <a:pt x="296" y="240"/>
                  <a:pt x="240" y="296"/>
                  <a:pt x="174" y="29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599740" y="5229200"/>
            <a:ext cx="1126484" cy="27739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확인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3817388" y="5229200"/>
            <a:ext cx="1126484" cy="27739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취소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Window Background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7"/>
            </p:custDataLst>
          </p:nvPr>
        </p:nvSpPr>
        <p:spPr>
          <a:xfrm>
            <a:off x="2392536" y="1642517"/>
            <a:ext cx="4855592" cy="289129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2146165" y="2787294"/>
            <a:ext cx="195707" cy="52238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endParaRPr kumimoji="1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4" name="텍스트 상자 31"/>
          <p:cNvSpPr txBox="1"/>
          <p:nvPr/>
        </p:nvSpPr>
        <p:spPr>
          <a:xfrm>
            <a:off x="804996" y="2126279"/>
            <a:ext cx="1156073" cy="19943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80000"/>
              </a:lnSpc>
            </a:pPr>
            <a:r>
              <a:rPr kumimoji="1"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    영업 </a:t>
            </a:r>
            <a:r>
              <a:rPr kumimoji="1" lang="en-US" altLang="ko-KR" sz="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1</a:t>
            </a:r>
            <a:r>
              <a:rPr kumimoji="1" lang="ko-KR" altLang="en-US" sz="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팀 </a:t>
            </a:r>
            <a:r>
              <a:rPr kumimoji="1" lang="en-US" altLang="ko-KR" sz="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(9)</a:t>
            </a:r>
          </a:p>
          <a:p>
            <a:pPr marL="134938" lvl="1" indent="131763">
              <a:lnSpc>
                <a:spcPct val="180000"/>
              </a:lnSpc>
            </a:pPr>
            <a:r>
              <a:rPr kumimoji="1"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김경호  부장</a:t>
            </a:r>
            <a:endParaRPr kumimoji="1" lang="en-US" altLang="ko-KR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  <a:p>
            <a:pPr marL="134938" lvl="1" indent="131763">
              <a:lnSpc>
                <a:spcPct val="180000"/>
              </a:lnSpc>
            </a:pPr>
            <a:r>
              <a:rPr kumimoji="1"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박명수  본부장</a:t>
            </a:r>
            <a:endParaRPr kumimoji="1" lang="en-US" altLang="ko-KR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  <a:p>
            <a:pPr marL="134938" lvl="1" indent="131763">
              <a:lnSpc>
                <a:spcPct val="180000"/>
              </a:lnSpc>
            </a:pPr>
            <a:r>
              <a:rPr kumimoji="1"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김은호  대리</a:t>
            </a:r>
            <a:endParaRPr kumimoji="1" lang="en-US" altLang="ko-KR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  <a:p>
            <a:pPr marL="134938" lvl="1" indent="131763">
              <a:lnSpc>
                <a:spcPct val="180000"/>
              </a:lnSpc>
            </a:pPr>
            <a:r>
              <a:rPr kumimoji="1"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이민수  대리</a:t>
            </a:r>
            <a:endParaRPr kumimoji="1" lang="en-US" altLang="ko-KR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  <a:p>
            <a:pPr marL="134938" lvl="1" indent="131763">
              <a:lnSpc>
                <a:spcPct val="180000"/>
              </a:lnSpc>
            </a:pPr>
            <a:r>
              <a:rPr kumimoji="1"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고진수  사원</a:t>
            </a:r>
            <a:endParaRPr kumimoji="1" lang="en-US" altLang="ko-KR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  <a:p>
            <a:pPr marL="134938" lvl="1" indent="131763">
              <a:lnSpc>
                <a:spcPct val="180000"/>
              </a:lnSpc>
            </a:pPr>
            <a:r>
              <a:rPr kumimoji="1" lang="ko-KR" altLang="en-US" sz="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나민지  </a:t>
            </a:r>
            <a:r>
              <a:rPr kumimoji="1"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사원</a:t>
            </a:r>
          </a:p>
          <a:p>
            <a:pPr marL="134938" lvl="1" indent="131763">
              <a:lnSpc>
                <a:spcPct val="180000"/>
              </a:lnSpc>
            </a:pPr>
            <a:r>
              <a:rPr kumimoji="1" lang="ko-KR" altLang="en-US" sz="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박기수  사원</a:t>
            </a:r>
            <a:endParaRPr kumimoji="1" lang="en-US" altLang="ko-KR" sz="800" dirty="0" smtClean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  <a:p>
            <a:pPr marL="134938" lvl="1" indent="131763">
              <a:lnSpc>
                <a:spcPct val="180000"/>
              </a:lnSpc>
            </a:pPr>
            <a:r>
              <a:rPr kumimoji="1"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박미나  사원</a:t>
            </a:r>
            <a:endParaRPr kumimoji="1" lang="en-US" altLang="ko-KR" sz="800" dirty="0" smtClean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515298" y="1987806"/>
            <a:ext cx="1114397" cy="130150"/>
            <a:chOff x="515298" y="2096029"/>
            <a:chExt cx="1114397" cy="130150"/>
          </a:xfrm>
        </p:grpSpPr>
        <p:sp>
          <p:nvSpPr>
            <p:cNvPr id="26" name="텍스트 상자 31"/>
            <p:cNvSpPr txBox="1"/>
            <p:nvPr/>
          </p:nvSpPr>
          <p:spPr>
            <a:xfrm>
              <a:off x="670721" y="2096029"/>
              <a:ext cx="958974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indent="134938"/>
              <a:r>
                <a:rPr kumimoji="1" lang="ko-KR" altLang="en-US" sz="800" b="1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제품기획팀</a:t>
              </a:r>
              <a:endParaRPr kumimoji="1"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 rot="16200000">
              <a:off x="528072" y="2099474"/>
              <a:ext cx="113931" cy="139479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rPr>
                <a:t>&gt;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 rot="16200000">
            <a:off x="677623" y="2206801"/>
            <a:ext cx="113931" cy="13947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9" name="텍스트 상자 31"/>
          <p:cNvSpPr txBox="1"/>
          <p:nvPr/>
        </p:nvSpPr>
        <p:spPr>
          <a:xfrm>
            <a:off x="670721" y="4264281"/>
            <a:ext cx="958974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indent="139700"/>
            <a:r>
              <a:rPr lang="ko-KR" altLang="en-US" sz="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신뢰성기술팀</a:t>
            </a:r>
            <a:endParaRPr kumimoji="1" lang="ko-KR" altLang="en-US" sz="8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 rot="5400000">
            <a:off x="528072" y="4244397"/>
            <a:ext cx="113931" cy="13947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4418" y="1405136"/>
            <a:ext cx="488082" cy="18471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조직도</a:t>
            </a:r>
          </a:p>
        </p:txBody>
      </p:sp>
      <p:cxnSp>
        <p:nvCxnSpPr>
          <p:cNvPr id="32" name="직선 연결선 31"/>
          <p:cNvCxnSpPr/>
          <p:nvPr/>
        </p:nvCxnSpPr>
        <p:spPr>
          <a:xfrm>
            <a:off x="480856" y="1642517"/>
            <a:ext cx="458233" cy="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/>
          <p:cNvGrpSpPr/>
          <p:nvPr/>
        </p:nvGrpSpPr>
        <p:grpSpPr>
          <a:xfrm>
            <a:off x="2478262" y="1783256"/>
            <a:ext cx="4597275" cy="454292"/>
            <a:chOff x="2478262" y="1783256"/>
            <a:chExt cx="4597275" cy="454292"/>
          </a:xfrm>
        </p:grpSpPr>
        <p:sp>
          <p:nvSpPr>
            <p:cNvPr id="34" name="Window Background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47"/>
              </p:custDataLst>
            </p:nvPr>
          </p:nvSpPr>
          <p:spPr>
            <a:xfrm>
              <a:off x="2478262" y="1783256"/>
              <a:ext cx="4437106" cy="4542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2546235" y="1959946"/>
              <a:ext cx="61694" cy="95279"/>
              <a:chOff x="5418565" y="5312425"/>
              <a:chExt cx="270686" cy="418043"/>
            </a:xfrm>
          </p:grpSpPr>
          <p:sp>
            <p:nvSpPr>
              <p:cNvPr id="40" name="Freeform 26"/>
              <p:cNvSpPr>
                <a:spLocks noChangeArrowheads="1"/>
              </p:cNvSpPr>
              <p:nvPr/>
            </p:nvSpPr>
            <p:spPr bwMode="auto">
              <a:xfrm>
                <a:off x="5418565" y="5312425"/>
                <a:ext cx="107880" cy="418043"/>
              </a:xfrm>
              <a:custGeom>
                <a:avLst/>
                <a:gdLst>
                  <a:gd name="T0" fmla="*/ 49 w 104"/>
                  <a:gd name="T1" fmla="*/ 103 h 411"/>
                  <a:gd name="T2" fmla="*/ 103 w 104"/>
                  <a:gd name="T3" fmla="*/ 49 h 411"/>
                  <a:gd name="T4" fmla="*/ 49 w 104"/>
                  <a:gd name="T5" fmla="*/ 0 h 411"/>
                  <a:gd name="T6" fmla="*/ 0 w 104"/>
                  <a:gd name="T7" fmla="*/ 49 h 411"/>
                  <a:gd name="T8" fmla="*/ 49 w 104"/>
                  <a:gd name="T9" fmla="*/ 103 h 411"/>
                  <a:gd name="T10" fmla="*/ 49 w 104"/>
                  <a:gd name="T11" fmla="*/ 152 h 411"/>
                  <a:gd name="T12" fmla="*/ 0 w 104"/>
                  <a:gd name="T13" fmla="*/ 205 h 411"/>
                  <a:gd name="T14" fmla="*/ 49 w 104"/>
                  <a:gd name="T15" fmla="*/ 254 h 411"/>
                  <a:gd name="T16" fmla="*/ 103 w 104"/>
                  <a:gd name="T17" fmla="*/ 205 h 411"/>
                  <a:gd name="T18" fmla="*/ 49 w 104"/>
                  <a:gd name="T19" fmla="*/ 152 h 411"/>
                  <a:gd name="T20" fmla="*/ 49 w 104"/>
                  <a:gd name="T21" fmla="*/ 308 h 411"/>
                  <a:gd name="T22" fmla="*/ 0 w 104"/>
                  <a:gd name="T23" fmla="*/ 357 h 411"/>
                  <a:gd name="T24" fmla="*/ 49 w 104"/>
                  <a:gd name="T25" fmla="*/ 410 h 411"/>
                  <a:gd name="T26" fmla="*/ 103 w 104"/>
                  <a:gd name="T27" fmla="*/ 357 h 411"/>
                  <a:gd name="T28" fmla="*/ 49 w 104"/>
                  <a:gd name="T29" fmla="*/ 308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4" h="411">
                    <a:moveTo>
                      <a:pt x="49" y="103"/>
                    </a:moveTo>
                    <a:cubicBezTo>
                      <a:pt x="78" y="103"/>
                      <a:pt x="103" y="76"/>
                      <a:pt x="103" y="49"/>
                    </a:cubicBezTo>
                    <a:cubicBezTo>
                      <a:pt x="103" y="22"/>
                      <a:pt x="76" y="0"/>
                      <a:pt x="49" y="0"/>
                    </a:cubicBezTo>
                    <a:cubicBezTo>
                      <a:pt x="22" y="0"/>
                      <a:pt x="0" y="22"/>
                      <a:pt x="0" y="49"/>
                    </a:cubicBezTo>
                    <a:cubicBezTo>
                      <a:pt x="0" y="76"/>
                      <a:pt x="25" y="103"/>
                      <a:pt x="49" y="103"/>
                    </a:cubicBezTo>
                    <a:close/>
                    <a:moveTo>
                      <a:pt x="49" y="152"/>
                    </a:moveTo>
                    <a:cubicBezTo>
                      <a:pt x="25" y="152"/>
                      <a:pt x="0" y="176"/>
                      <a:pt x="0" y="205"/>
                    </a:cubicBezTo>
                    <a:cubicBezTo>
                      <a:pt x="0" y="235"/>
                      <a:pt x="22" y="254"/>
                      <a:pt x="49" y="254"/>
                    </a:cubicBezTo>
                    <a:cubicBezTo>
                      <a:pt x="76" y="254"/>
                      <a:pt x="103" y="235"/>
                      <a:pt x="103" y="205"/>
                    </a:cubicBezTo>
                    <a:cubicBezTo>
                      <a:pt x="103" y="176"/>
                      <a:pt x="78" y="152"/>
                      <a:pt x="49" y="152"/>
                    </a:cubicBezTo>
                    <a:close/>
                    <a:moveTo>
                      <a:pt x="49" y="308"/>
                    </a:moveTo>
                    <a:cubicBezTo>
                      <a:pt x="25" y="308"/>
                      <a:pt x="0" y="327"/>
                      <a:pt x="0" y="357"/>
                    </a:cubicBezTo>
                    <a:cubicBezTo>
                      <a:pt x="0" y="386"/>
                      <a:pt x="22" y="410"/>
                      <a:pt x="49" y="410"/>
                    </a:cubicBezTo>
                    <a:cubicBezTo>
                      <a:pt x="76" y="410"/>
                      <a:pt x="103" y="386"/>
                      <a:pt x="103" y="357"/>
                    </a:cubicBezTo>
                    <a:cubicBezTo>
                      <a:pt x="103" y="327"/>
                      <a:pt x="78" y="308"/>
                      <a:pt x="49" y="30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  <p:sp>
            <p:nvSpPr>
              <p:cNvPr id="41" name="Freeform 26"/>
              <p:cNvSpPr>
                <a:spLocks noChangeArrowheads="1"/>
              </p:cNvSpPr>
              <p:nvPr/>
            </p:nvSpPr>
            <p:spPr bwMode="auto">
              <a:xfrm>
                <a:off x="5581371" y="5312425"/>
                <a:ext cx="107880" cy="418043"/>
              </a:xfrm>
              <a:custGeom>
                <a:avLst/>
                <a:gdLst>
                  <a:gd name="T0" fmla="*/ 49 w 104"/>
                  <a:gd name="T1" fmla="*/ 103 h 411"/>
                  <a:gd name="T2" fmla="*/ 103 w 104"/>
                  <a:gd name="T3" fmla="*/ 49 h 411"/>
                  <a:gd name="T4" fmla="*/ 49 w 104"/>
                  <a:gd name="T5" fmla="*/ 0 h 411"/>
                  <a:gd name="T6" fmla="*/ 0 w 104"/>
                  <a:gd name="T7" fmla="*/ 49 h 411"/>
                  <a:gd name="T8" fmla="*/ 49 w 104"/>
                  <a:gd name="T9" fmla="*/ 103 h 411"/>
                  <a:gd name="T10" fmla="*/ 49 w 104"/>
                  <a:gd name="T11" fmla="*/ 152 h 411"/>
                  <a:gd name="T12" fmla="*/ 0 w 104"/>
                  <a:gd name="T13" fmla="*/ 205 h 411"/>
                  <a:gd name="T14" fmla="*/ 49 w 104"/>
                  <a:gd name="T15" fmla="*/ 254 h 411"/>
                  <a:gd name="T16" fmla="*/ 103 w 104"/>
                  <a:gd name="T17" fmla="*/ 205 h 411"/>
                  <a:gd name="T18" fmla="*/ 49 w 104"/>
                  <a:gd name="T19" fmla="*/ 152 h 411"/>
                  <a:gd name="T20" fmla="*/ 49 w 104"/>
                  <a:gd name="T21" fmla="*/ 308 h 411"/>
                  <a:gd name="T22" fmla="*/ 0 w 104"/>
                  <a:gd name="T23" fmla="*/ 357 h 411"/>
                  <a:gd name="T24" fmla="*/ 49 w 104"/>
                  <a:gd name="T25" fmla="*/ 410 h 411"/>
                  <a:gd name="T26" fmla="*/ 103 w 104"/>
                  <a:gd name="T27" fmla="*/ 357 h 411"/>
                  <a:gd name="T28" fmla="*/ 49 w 104"/>
                  <a:gd name="T29" fmla="*/ 308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4" h="411">
                    <a:moveTo>
                      <a:pt x="49" y="103"/>
                    </a:moveTo>
                    <a:cubicBezTo>
                      <a:pt x="78" y="103"/>
                      <a:pt x="103" y="76"/>
                      <a:pt x="103" y="49"/>
                    </a:cubicBezTo>
                    <a:cubicBezTo>
                      <a:pt x="103" y="22"/>
                      <a:pt x="76" y="0"/>
                      <a:pt x="49" y="0"/>
                    </a:cubicBezTo>
                    <a:cubicBezTo>
                      <a:pt x="22" y="0"/>
                      <a:pt x="0" y="22"/>
                      <a:pt x="0" y="49"/>
                    </a:cubicBezTo>
                    <a:cubicBezTo>
                      <a:pt x="0" y="76"/>
                      <a:pt x="25" y="103"/>
                      <a:pt x="49" y="103"/>
                    </a:cubicBezTo>
                    <a:close/>
                    <a:moveTo>
                      <a:pt x="49" y="152"/>
                    </a:moveTo>
                    <a:cubicBezTo>
                      <a:pt x="25" y="152"/>
                      <a:pt x="0" y="176"/>
                      <a:pt x="0" y="205"/>
                    </a:cubicBezTo>
                    <a:cubicBezTo>
                      <a:pt x="0" y="235"/>
                      <a:pt x="22" y="254"/>
                      <a:pt x="49" y="254"/>
                    </a:cubicBezTo>
                    <a:cubicBezTo>
                      <a:pt x="76" y="254"/>
                      <a:pt x="103" y="235"/>
                      <a:pt x="103" y="205"/>
                    </a:cubicBezTo>
                    <a:cubicBezTo>
                      <a:pt x="103" y="176"/>
                      <a:pt x="78" y="152"/>
                      <a:pt x="49" y="152"/>
                    </a:cubicBezTo>
                    <a:close/>
                    <a:moveTo>
                      <a:pt x="49" y="308"/>
                    </a:moveTo>
                    <a:cubicBezTo>
                      <a:pt x="25" y="308"/>
                      <a:pt x="0" y="327"/>
                      <a:pt x="0" y="357"/>
                    </a:cubicBezTo>
                    <a:cubicBezTo>
                      <a:pt x="0" y="386"/>
                      <a:pt x="22" y="410"/>
                      <a:pt x="49" y="410"/>
                    </a:cubicBezTo>
                    <a:cubicBezTo>
                      <a:pt x="76" y="410"/>
                      <a:pt x="103" y="386"/>
                      <a:pt x="103" y="357"/>
                    </a:cubicBezTo>
                    <a:cubicBezTo>
                      <a:pt x="103" y="327"/>
                      <a:pt x="78" y="308"/>
                      <a:pt x="49" y="30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sp>
          <p:nvSpPr>
            <p:cNvPr id="36" name="Freeform 11"/>
            <p:cNvSpPr>
              <a:spLocks noChangeAspect="1" noChangeArrowheads="1"/>
            </p:cNvSpPr>
            <p:nvPr/>
          </p:nvSpPr>
          <p:spPr bwMode="auto">
            <a:xfrm>
              <a:off x="6985537" y="1960331"/>
              <a:ext cx="90000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/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3462517" y="1893114"/>
              <a:ext cx="237765" cy="231668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3698726" y="1938177"/>
              <a:ext cx="2073424" cy="15649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홍길동          제품기획팀  ㅣ  사원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682540" y="1938177"/>
              <a:ext cx="600597" cy="15649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업무담당자</a:t>
              </a: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2478262" y="2308448"/>
            <a:ext cx="4597275" cy="454292"/>
            <a:chOff x="2478262" y="2308448"/>
            <a:chExt cx="4597275" cy="454292"/>
          </a:xfrm>
        </p:grpSpPr>
        <p:sp>
          <p:nvSpPr>
            <p:cNvPr id="43" name="Window Background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46"/>
              </p:custDataLst>
            </p:nvPr>
          </p:nvSpPr>
          <p:spPr>
            <a:xfrm>
              <a:off x="2478262" y="2308448"/>
              <a:ext cx="4437106" cy="45429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grpSp>
          <p:nvGrpSpPr>
            <p:cNvPr id="44" name="그룹 43"/>
            <p:cNvGrpSpPr/>
            <p:nvPr/>
          </p:nvGrpSpPr>
          <p:grpSpPr>
            <a:xfrm>
              <a:off x="2546235" y="2485138"/>
              <a:ext cx="61694" cy="95279"/>
              <a:chOff x="5418565" y="5312425"/>
              <a:chExt cx="270686" cy="418043"/>
            </a:xfrm>
          </p:grpSpPr>
          <p:sp>
            <p:nvSpPr>
              <p:cNvPr id="49" name="Freeform 26"/>
              <p:cNvSpPr>
                <a:spLocks noChangeArrowheads="1"/>
              </p:cNvSpPr>
              <p:nvPr/>
            </p:nvSpPr>
            <p:spPr bwMode="auto">
              <a:xfrm>
                <a:off x="5418565" y="5312425"/>
                <a:ext cx="107880" cy="418043"/>
              </a:xfrm>
              <a:custGeom>
                <a:avLst/>
                <a:gdLst>
                  <a:gd name="T0" fmla="*/ 49 w 104"/>
                  <a:gd name="T1" fmla="*/ 103 h 411"/>
                  <a:gd name="T2" fmla="*/ 103 w 104"/>
                  <a:gd name="T3" fmla="*/ 49 h 411"/>
                  <a:gd name="T4" fmla="*/ 49 w 104"/>
                  <a:gd name="T5" fmla="*/ 0 h 411"/>
                  <a:gd name="T6" fmla="*/ 0 w 104"/>
                  <a:gd name="T7" fmla="*/ 49 h 411"/>
                  <a:gd name="T8" fmla="*/ 49 w 104"/>
                  <a:gd name="T9" fmla="*/ 103 h 411"/>
                  <a:gd name="T10" fmla="*/ 49 w 104"/>
                  <a:gd name="T11" fmla="*/ 152 h 411"/>
                  <a:gd name="T12" fmla="*/ 0 w 104"/>
                  <a:gd name="T13" fmla="*/ 205 h 411"/>
                  <a:gd name="T14" fmla="*/ 49 w 104"/>
                  <a:gd name="T15" fmla="*/ 254 h 411"/>
                  <a:gd name="T16" fmla="*/ 103 w 104"/>
                  <a:gd name="T17" fmla="*/ 205 h 411"/>
                  <a:gd name="T18" fmla="*/ 49 w 104"/>
                  <a:gd name="T19" fmla="*/ 152 h 411"/>
                  <a:gd name="T20" fmla="*/ 49 w 104"/>
                  <a:gd name="T21" fmla="*/ 308 h 411"/>
                  <a:gd name="T22" fmla="*/ 0 w 104"/>
                  <a:gd name="T23" fmla="*/ 357 h 411"/>
                  <a:gd name="T24" fmla="*/ 49 w 104"/>
                  <a:gd name="T25" fmla="*/ 410 h 411"/>
                  <a:gd name="T26" fmla="*/ 103 w 104"/>
                  <a:gd name="T27" fmla="*/ 357 h 411"/>
                  <a:gd name="T28" fmla="*/ 49 w 104"/>
                  <a:gd name="T29" fmla="*/ 308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4" h="411">
                    <a:moveTo>
                      <a:pt x="49" y="103"/>
                    </a:moveTo>
                    <a:cubicBezTo>
                      <a:pt x="78" y="103"/>
                      <a:pt x="103" y="76"/>
                      <a:pt x="103" y="49"/>
                    </a:cubicBezTo>
                    <a:cubicBezTo>
                      <a:pt x="103" y="22"/>
                      <a:pt x="76" y="0"/>
                      <a:pt x="49" y="0"/>
                    </a:cubicBezTo>
                    <a:cubicBezTo>
                      <a:pt x="22" y="0"/>
                      <a:pt x="0" y="22"/>
                      <a:pt x="0" y="49"/>
                    </a:cubicBezTo>
                    <a:cubicBezTo>
                      <a:pt x="0" y="76"/>
                      <a:pt x="25" y="103"/>
                      <a:pt x="49" y="103"/>
                    </a:cubicBezTo>
                    <a:close/>
                    <a:moveTo>
                      <a:pt x="49" y="152"/>
                    </a:moveTo>
                    <a:cubicBezTo>
                      <a:pt x="25" y="152"/>
                      <a:pt x="0" y="176"/>
                      <a:pt x="0" y="205"/>
                    </a:cubicBezTo>
                    <a:cubicBezTo>
                      <a:pt x="0" y="235"/>
                      <a:pt x="22" y="254"/>
                      <a:pt x="49" y="254"/>
                    </a:cubicBezTo>
                    <a:cubicBezTo>
                      <a:pt x="76" y="254"/>
                      <a:pt x="103" y="235"/>
                      <a:pt x="103" y="205"/>
                    </a:cubicBezTo>
                    <a:cubicBezTo>
                      <a:pt x="103" y="176"/>
                      <a:pt x="78" y="152"/>
                      <a:pt x="49" y="152"/>
                    </a:cubicBezTo>
                    <a:close/>
                    <a:moveTo>
                      <a:pt x="49" y="308"/>
                    </a:moveTo>
                    <a:cubicBezTo>
                      <a:pt x="25" y="308"/>
                      <a:pt x="0" y="327"/>
                      <a:pt x="0" y="357"/>
                    </a:cubicBezTo>
                    <a:cubicBezTo>
                      <a:pt x="0" y="386"/>
                      <a:pt x="22" y="410"/>
                      <a:pt x="49" y="410"/>
                    </a:cubicBezTo>
                    <a:cubicBezTo>
                      <a:pt x="76" y="410"/>
                      <a:pt x="103" y="386"/>
                      <a:pt x="103" y="357"/>
                    </a:cubicBezTo>
                    <a:cubicBezTo>
                      <a:pt x="103" y="327"/>
                      <a:pt x="78" y="308"/>
                      <a:pt x="49" y="30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  <p:sp>
            <p:nvSpPr>
              <p:cNvPr id="50" name="Freeform 26"/>
              <p:cNvSpPr>
                <a:spLocks noChangeArrowheads="1"/>
              </p:cNvSpPr>
              <p:nvPr/>
            </p:nvSpPr>
            <p:spPr bwMode="auto">
              <a:xfrm>
                <a:off x="5581371" y="5312425"/>
                <a:ext cx="107880" cy="418043"/>
              </a:xfrm>
              <a:custGeom>
                <a:avLst/>
                <a:gdLst>
                  <a:gd name="T0" fmla="*/ 49 w 104"/>
                  <a:gd name="T1" fmla="*/ 103 h 411"/>
                  <a:gd name="T2" fmla="*/ 103 w 104"/>
                  <a:gd name="T3" fmla="*/ 49 h 411"/>
                  <a:gd name="T4" fmla="*/ 49 w 104"/>
                  <a:gd name="T5" fmla="*/ 0 h 411"/>
                  <a:gd name="T6" fmla="*/ 0 w 104"/>
                  <a:gd name="T7" fmla="*/ 49 h 411"/>
                  <a:gd name="T8" fmla="*/ 49 w 104"/>
                  <a:gd name="T9" fmla="*/ 103 h 411"/>
                  <a:gd name="T10" fmla="*/ 49 w 104"/>
                  <a:gd name="T11" fmla="*/ 152 h 411"/>
                  <a:gd name="T12" fmla="*/ 0 w 104"/>
                  <a:gd name="T13" fmla="*/ 205 h 411"/>
                  <a:gd name="T14" fmla="*/ 49 w 104"/>
                  <a:gd name="T15" fmla="*/ 254 h 411"/>
                  <a:gd name="T16" fmla="*/ 103 w 104"/>
                  <a:gd name="T17" fmla="*/ 205 h 411"/>
                  <a:gd name="T18" fmla="*/ 49 w 104"/>
                  <a:gd name="T19" fmla="*/ 152 h 411"/>
                  <a:gd name="T20" fmla="*/ 49 w 104"/>
                  <a:gd name="T21" fmla="*/ 308 h 411"/>
                  <a:gd name="T22" fmla="*/ 0 w 104"/>
                  <a:gd name="T23" fmla="*/ 357 h 411"/>
                  <a:gd name="T24" fmla="*/ 49 w 104"/>
                  <a:gd name="T25" fmla="*/ 410 h 411"/>
                  <a:gd name="T26" fmla="*/ 103 w 104"/>
                  <a:gd name="T27" fmla="*/ 357 h 411"/>
                  <a:gd name="T28" fmla="*/ 49 w 104"/>
                  <a:gd name="T29" fmla="*/ 308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4" h="411">
                    <a:moveTo>
                      <a:pt x="49" y="103"/>
                    </a:moveTo>
                    <a:cubicBezTo>
                      <a:pt x="78" y="103"/>
                      <a:pt x="103" y="76"/>
                      <a:pt x="103" y="49"/>
                    </a:cubicBezTo>
                    <a:cubicBezTo>
                      <a:pt x="103" y="22"/>
                      <a:pt x="76" y="0"/>
                      <a:pt x="49" y="0"/>
                    </a:cubicBezTo>
                    <a:cubicBezTo>
                      <a:pt x="22" y="0"/>
                      <a:pt x="0" y="22"/>
                      <a:pt x="0" y="49"/>
                    </a:cubicBezTo>
                    <a:cubicBezTo>
                      <a:pt x="0" y="76"/>
                      <a:pt x="25" y="103"/>
                      <a:pt x="49" y="103"/>
                    </a:cubicBezTo>
                    <a:close/>
                    <a:moveTo>
                      <a:pt x="49" y="152"/>
                    </a:moveTo>
                    <a:cubicBezTo>
                      <a:pt x="25" y="152"/>
                      <a:pt x="0" y="176"/>
                      <a:pt x="0" y="205"/>
                    </a:cubicBezTo>
                    <a:cubicBezTo>
                      <a:pt x="0" y="235"/>
                      <a:pt x="22" y="254"/>
                      <a:pt x="49" y="254"/>
                    </a:cubicBezTo>
                    <a:cubicBezTo>
                      <a:pt x="76" y="254"/>
                      <a:pt x="103" y="235"/>
                      <a:pt x="103" y="205"/>
                    </a:cubicBezTo>
                    <a:cubicBezTo>
                      <a:pt x="103" y="176"/>
                      <a:pt x="78" y="152"/>
                      <a:pt x="49" y="152"/>
                    </a:cubicBezTo>
                    <a:close/>
                    <a:moveTo>
                      <a:pt x="49" y="308"/>
                    </a:moveTo>
                    <a:cubicBezTo>
                      <a:pt x="25" y="308"/>
                      <a:pt x="0" y="327"/>
                      <a:pt x="0" y="357"/>
                    </a:cubicBezTo>
                    <a:cubicBezTo>
                      <a:pt x="0" y="386"/>
                      <a:pt x="22" y="410"/>
                      <a:pt x="49" y="410"/>
                    </a:cubicBezTo>
                    <a:cubicBezTo>
                      <a:pt x="76" y="410"/>
                      <a:pt x="103" y="386"/>
                      <a:pt x="103" y="357"/>
                    </a:cubicBezTo>
                    <a:cubicBezTo>
                      <a:pt x="103" y="327"/>
                      <a:pt x="78" y="308"/>
                      <a:pt x="49" y="30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3462517" y="2418306"/>
              <a:ext cx="237765" cy="231668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3698726" y="2463369"/>
              <a:ext cx="2073424" cy="15649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제품기획팀</a:t>
              </a:r>
            </a:p>
          </p:txBody>
        </p:sp>
        <p:sp>
          <p:nvSpPr>
            <p:cNvPr id="47" name="Freeform 11"/>
            <p:cNvSpPr>
              <a:spLocks noChangeAspect="1" noChangeArrowheads="1"/>
            </p:cNvSpPr>
            <p:nvPr/>
          </p:nvSpPr>
          <p:spPr bwMode="auto">
            <a:xfrm>
              <a:off x="6985537" y="2485523"/>
              <a:ext cx="90000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682540" y="2462052"/>
              <a:ext cx="600597" cy="15649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시행부서</a:t>
              </a:r>
            </a:p>
          </p:txBody>
        </p:sp>
      </p:grpSp>
      <p:grpSp>
        <p:nvGrpSpPr>
          <p:cNvPr id="5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949565" y="2416728"/>
            <a:ext cx="107839" cy="109736"/>
            <a:chOff x="554563" y="2632644"/>
            <a:chExt cx="131556" cy="131556"/>
          </a:xfrm>
        </p:grpSpPr>
        <p:sp>
          <p:nvSpPr>
            <p:cNvPr id="5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4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4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9"/>
            </p:custDataLst>
          </p:nvPr>
        </p:nvGrpSpPr>
        <p:grpSpPr>
          <a:xfrm>
            <a:off x="949565" y="2640625"/>
            <a:ext cx="107839" cy="109736"/>
            <a:chOff x="554563" y="2632644"/>
            <a:chExt cx="131556" cy="131556"/>
          </a:xfrm>
        </p:grpSpPr>
        <p:sp>
          <p:nvSpPr>
            <p:cNvPr id="5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4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6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4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0"/>
            </p:custDataLst>
          </p:nvPr>
        </p:nvGrpSpPr>
        <p:grpSpPr>
          <a:xfrm>
            <a:off x="949565" y="2852936"/>
            <a:ext cx="107839" cy="109736"/>
            <a:chOff x="554563" y="2632644"/>
            <a:chExt cx="131556" cy="131556"/>
          </a:xfrm>
        </p:grpSpPr>
        <p:sp>
          <p:nvSpPr>
            <p:cNvPr id="5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4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9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4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6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1"/>
            </p:custDataLst>
          </p:nvPr>
        </p:nvGrpSpPr>
        <p:grpSpPr>
          <a:xfrm>
            <a:off x="949565" y="3078714"/>
            <a:ext cx="107839" cy="109736"/>
            <a:chOff x="554563" y="2632644"/>
            <a:chExt cx="131556" cy="131556"/>
          </a:xfrm>
        </p:grpSpPr>
        <p:sp>
          <p:nvSpPr>
            <p:cNvPr id="6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2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6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2"/>
            </p:custDataLst>
          </p:nvPr>
        </p:nvGrpSpPr>
        <p:grpSpPr>
          <a:xfrm>
            <a:off x="949565" y="3296966"/>
            <a:ext cx="107839" cy="109736"/>
            <a:chOff x="554563" y="2632644"/>
            <a:chExt cx="131556" cy="131556"/>
          </a:xfrm>
        </p:grpSpPr>
        <p:sp>
          <p:nvSpPr>
            <p:cNvPr id="6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6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3"/>
            </p:custDataLst>
          </p:nvPr>
        </p:nvGrpSpPr>
        <p:grpSpPr>
          <a:xfrm>
            <a:off x="949565" y="3518981"/>
            <a:ext cx="107839" cy="109736"/>
            <a:chOff x="554563" y="2632644"/>
            <a:chExt cx="131556" cy="131556"/>
          </a:xfrm>
        </p:grpSpPr>
        <p:sp>
          <p:nvSpPr>
            <p:cNvPr id="6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6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4"/>
            </p:custDataLst>
          </p:nvPr>
        </p:nvGrpSpPr>
        <p:grpSpPr>
          <a:xfrm>
            <a:off x="949565" y="3733470"/>
            <a:ext cx="107839" cy="109736"/>
            <a:chOff x="554563" y="2632644"/>
            <a:chExt cx="131556" cy="131556"/>
          </a:xfrm>
        </p:grpSpPr>
        <p:sp>
          <p:nvSpPr>
            <p:cNvPr id="7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7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7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5"/>
            </p:custDataLst>
          </p:nvPr>
        </p:nvGrpSpPr>
        <p:grpSpPr>
          <a:xfrm>
            <a:off x="949565" y="3955485"/>
            <a:ext cx="107839" cy="109736"/>
            <a:chOff x="554563" y="2632644"/>
            <a:chExt cx="131556" cy="131556"/>
          </a:xfrm>
        </p:grpSpPr>
        <p:sp>
          <p:nvSpPr>
            <p:cNvPr id="7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7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7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6"/>
            </p:custDataLst>
          </p:nvPr>
        </p:nvGrpSpPr>
        <p:grpSpPr>
          <a:xfrm>
            <a:off x="811111" y="2196501"/>
            <a:ext cx="107839" cy="109736"/>
            <a:chOff x="554563" y="2632644"/>
            <a:chExt cx="131556" cy="131556"/>
          </a:xfrm>
        </p:grpSpPr>
        <p:sp>
          <p:nvSpPr>
            <p:cNvPr id="7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7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7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7"/>
            </p:custDataLst>
          </p:nvPr>
        </p:nvGrpSpPr>
        <p:grpSpPr>
          <a:xfrm>
            <a:off x="677526" y="1987657"/>
            <a:ext cx="107839" cy="109736"/>
            <a:chOff x="554563" y="2632644"/>
            <a:chExt cx="131556" cy="131556"/>
          </a:xfrm>
        </p:grpSpPr>
        <p:sp>
          <p:nvSpPr>
            <p:cNvPr id="7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80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8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8"/>
            </p:custDataLst>
          </p:nvPr>
        </p:nvGrpSpPr>
        <p:grpSpPr>
          <a:xfrm>
            <a:off x="677526" y="4276574"/>
            <a:ext cx="107839" cy="109736"/>
            <a:chOff x="554563" y="2632644"/>
            <a:chExt cx="131556" cy="131556"/>
          </a:xfrm>
        </p:grpSpPr>
        <p:sp>
          <p:nvSpPr>
            <p:cNvPr id="8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8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84" name="Window Background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9"/>
            </p:custDataLst>
          </p:nvPr>
        </p:nvSpPr>
        <p:spPr>
          <a:xfrm>
            <a:off x="2478262" y="1783256"/>
            <a:ext cx="4437106" cy="45429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2546235" y="1959946"/>
            <a:ext cx="61694" cy="95279"/>
            <a:chOff x="5418565" y="5312425"/>
            <a:chExt cx="270686" cy="418043"/>
          </a:xfrm>
        </p:grpSpPr>
        <p:sp>
          <p:nvSpPr>
            <p:cNvPr id="86" name="Freeform 26"/>
            <p:cNvSpPr>
              <a:spLocks noChangeArrowheads="1"/>
            </p:cNvSpPr>
            <p:nvPr/>
          </p:nvSpPr>
          <p:spPr bwMode="auto">
            <a:xfrm>
              <a:off x="5418565" y="5312425"/>
              <a:ext cx="107880" cy="418043"/>
            </a:xfrm>
            <a:custGeom>
              <a:avLst/>
              <a:gdLst>
                <a:gd name="T0" fmla="*/ 49 w 104"/>
                <a:gd name="T1" fmla="*/ 103 h 411"/>
                <a:gd name="T2" fmla="*/ 103 w 104"/>
                <a:gd name="T3" fmla="*/ 49 h 411"/>
                <a:gd name="T4" fmla="*/ 49 w 104"/>
                <a:gd name="T5" fmla="*/ 0 h 411"/>
                <a:gd name="T6" fmla="*/ 0 w 104"/>
                <a:gd name="T7" fmla="*/ 49 h 411"/>
                <a:gd name="T8" fmla="*/ 49 w 104"/>
                <a:gd name="T9" fmla="*/ 103 h 411"/>
                <a:gd name="T10" fmla="*/ 49 w 104"/>
                <a:gd name="T11" fmla="*/ 152 h 411"/>
                <a:gd name="T12" fmla="*/ 0 w 104"/>
                <a:gd name="T13" fmla="*/ 205 h 411"/>
                <a:gd name="T14" fmla="*/ 49 w 104"/>
                <a:gd name="T15" fmla="*/ 254 h 411"/>
                <a:gd name="T16" fmla="*/ 103 w 104"/>
                <a:gd name="T17" fmla="*/ 205 h 411"/>
                <a:gd name="T18" fmla="*/ 49 w 104"/>
                <a:gd name="T19" fmla="*/ 152 h 411"/>
                <a:gd name="T20" fmla="*/ 49 w 104"/>
                <a:gd name="T21" fmla="*/ 308 h 411"/>
                <a:gd name="T22" fmla="*/ 0 w 104"/>
                <a:gd name="T23" fmla="*/ 357 h 411"/>
                <a:gd name="T24" fmla="*/ 49 w 104"/>
                <a:gd name="T25" fmla="*/ 410 h 411"/>
                <a:gd name="T26" fmla="*/ 103 w 104"/>
                <a:gd name="T27" fmla="*/ 357 h 411"/>
                <a:gd name="T28" fmla="*/ 49 w 104"/>
                <a:gd name="T29" fmla="*/ 308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411">
                  <a:moveTo>
                    <a:pt x="49" y="103"/>
                  </a:moveTo>
                  <a:cubicBezTo>
                    <a:pt x="78" y="103"/>
                    <a:pt x="103" y="76"/>
                    <a:pt x="103" y="49"/>
                  </a:cubicBezTo>
                  <a:cubicBezTo>
                    <a:pt x="103" y="22"/>
                    <a:pt x="76" y="0"/>
                    <a:pt x="49" y="0"/>
                  </a:cubicBez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5" y="103"/>
                    <a:pt x="49" y="103"/>
                  </a:cubicBezTo>
                  <a:close/>
                  <a:moveTo>
                    <a:pt x="49" y="152"/>
                  </a:moveTo>
                  <a:cubicBezTo>
                    <a:pt x="25" y="152"/>
                    <a:pt x="0" y="176"/>
                    <a:pt x="0" y="205"/>
                  </a:cubicBezTo>
                  <a:cubicBezTo>
                    <a:pt x="0" y="235"/>
                    <a:pt x="22" y="254"/>
                    <a:pt x="49" y="254"/>
                  </a:cubicBezTo>
                  <a:cubicBezTo>
                    <a:pt x="76" y="254"/>
                    <a:pt x="103" y="235"/>
                    <a:pt x="103" y="205"/>
                  </a:cubicBezTo>
                  <a:cubicBezTo>
                    <a:pt x="103" y="176"/>
                    <a:pt x="78" y="152"/>
                    <a:pt x="49" y="152"/>
                  </a:cubicBezTo>
                  <a:close/>
                  <a:moveTo>
                    <a:pt x="49" y="308"/>
                  </a:moveTo>
                  <a:cubicBezTo>
                    <a:pt x="25" y="308"/>
                    <a:pt x="0" y="327"/>
                    <a:pt x="0" y="357"/>
                  </a:cubicBezTo>
                  <a:cubicBezTo>
                    <a:pt x="0" y="386"/>
                    <a:pt x="22" y="410"/>
                    <a:pt x="49" y="410"/>
                  </a:cubicBezTo>
                  <a:cubicBezTo>
                    <a:pt x="76" y="410"/>
                    <a:pt x="103" y="386"/>
                    <a:pt x="103" y="357"/>
                  </a:cubicBezTo>
                  <a:cubicBezTo>
                    <a:pt x="103" y="327"/>
                    <a:pt x="78" y="308"/>
                    <a:pt x="49" y="3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87" name="Freeform 26"/>
            <p:cNvSpPr>
              <a:spLocks noChangeArrowheads="1"/>
            </p:cNvSpPr>
            <p:nvPr/>
          </p:nvSpPr>
          <p:spPr bwMode="auto">
            <a:xfrm>
              <a:off x="5581371" y="5312425"/>
              <a:ext cx="107880" cy="418043"/>
            </a:xfrm>
            <a:custGeom>
              <a:avLst/>
              <a:gdLst>
                <a:gd name="T0" fmla="*/ 49 w 104"/>
                <a:gd name="T1" fmla="*/ 103 h 411"/>
                <a:gd name="T2" fmla="*/ 103 w 104"/>
                <a:gd name="T3" fmla="*/ 49 h 411"/>
                <a:gd name="T4" fmla="*/ 49 w 104"/>
                <a:gd name="T5" fmla="*/ 0 h 411"/>
                <a:gd name="T6" fmla="*/ 0 w 104"/>
                <a:gd name="T7" fmla="*/ 49 h 411"/>
                <a:gd name="T8" fmla="*/ 49 w 104"/>
                <a:gd name="T9" fmla="*/ 103 h 411"/>
                <a:gd name="T10" fmla="*/ 49 w 104"/>
                <a:gd name="T11" fmla="*/ 152 h 411"/>
                <a:gd name="T12" fmla="*/ 0 w 104"/>
                <a:gd name="T13" fmla="*/ 205 h 411"/>
                <a:gd name="T14" fmla="*/ 49 w 104"/>
                <a:gd name="T15" fmla="*/ 254 h 411"/>
                <a:gd name="T16" fmla="*/ 103 w 104"/>
                <a:gd name="T17" fmla="*/ 205 h 411"/>
                <a:gd name="T18" fmla="*/ 49 w 104"/>
                <a:gd name="T19" fmla="*/ 152 h 411"/>
                <a:gd name="T20" fmla="*/ 49 w 104"/>
                <a:gd name="T21" fmla="*/ 308 h 411"/>
                <a:gd name="T22" fmla="*/ 0 w 104"/>
                <a:gd name="T23" fmla="*/ 357 h 411"/>
                <a:gd name="T24" fmla="*/ 49 w 104"/>
                <a:gd name="T25" fmla="*/ 410 h 411"/>
                <a:gd name="T26" fmla="*/ 103 w 104"/>
                <a:gd name="T27" fmla="*/ 357 h 411"/>
                <a:gd name="T28" fmla="*/ 49 w 104"/>
                <a:gd name="T29" fmla="*/ 308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411">
                  <a:moveTo>
                    <a:pt x="49" y="103"/>
                  </a:moveTo>
                  <a:cubicBezTo>
                    <a:pt x="78" y="103"/>
                    <a:pt x="103" y="76"/>
                    <a:pt x="103" y="49"/>
                  </a:cubicBezTo>
                  <a:cubicBezTo>
                    <a:pt x="103" y="22"/>
                    <a:pt x="76" y="0"/>
                    <a:pt x="49" y="0"/>
                  </a:cubicBez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5" y="103"/>
                    <a:pt x="49" y="103"/>
                  </a:cubicBezTo>
                  <a:close/>
                  <a:moveTo>
                    <a:pt x="49" y="152"/>
                  </a:moveTo>
                  <a:cubicBezTo>
                    <a:pt x="25" y="152"/>
                    <a:pt x="0" y="176"/>
                    <a:pt x="0" y="205"/>
                  </a:cubicBezTo>
                  <a:cubicBezTo>
                    <a:pt x="0" y="235"/>
                    <a:pt x="22" y="254"/>
                    <a:pt x="49" y="254"/>
                  </a:cubicBezTo>
                  <a:cubicBezTo>
                    <a:pt x="76" y="254"/>
                    <a:pt x="103" y="235"/>
                    <a:pt x="103" y="205"/>
                  </a:cubicBezTo>
                  <a:cubicBezTo>
                    <a:pt x="103" y="176"/>
                    <a:pt x="78" y="152"/>
                    <a:pt x="49" y="152"/>
                  </a:cubicBezTo>
                  <a:close/>
                  <a:moveTo>
                    <a:pt x="49" y="308"/>
                  </a:moveTo>
                  <a:cubicBezTo>
                    <a:pt x="25" y="308"/>
                    <a:pt x="0" y="327"/>
                    <a:pt x="0" y="357"/>
                  </a:cubicBezTo>
                  <a:cubicBezTo>
                    <a:pt x="0" y="386"/>
                    <a:pt x="22" y="410"/>
                    <a:pt x="49" y="410"/>
                  </a:cubicBezTo>
                  <a:cubicBezTo>
                    <a:pt x="76" y="410"/>
                    <a:pt x="103" y="386"/>
                    <a:pt x="103" y="357"/>
                  </a:cubicBezTo>
                  <a:cubicBezTo>
                    <a:pt x="103" y="327"/>
                    <a:pt x="78" y="308"/>
                    <a:pt x="49" y="3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pic>
        <p:nvPicPr>
          <p:cNvPr id="88" name="그림 87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711624" y="1893114"/>
            <a:ext cx="237765" cy="23166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947833" y="1938177"/>
            <a:ext cx="2073424" cy="156496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제품기획팀</a:t>
            </a:r>
          </a:p>
        </p:txBody>
      </p:sp>
      <p:sp>
        <p:nvSpPr>
          <p:cNvPr id="90" name="Freeform 11"/>
          <p:cNvSpPr>
            <a:spLocks noChangeAspect="1" noChangeArrowheads="1"/>
          </p:cNvSpPr>
          <p:nvPr/>
        </p:nvSpPr>
        <p:spPr bwMode="auto">
          <a:xfrm>
            <a:off x="6985537" y="1960331"/>
            <a:ext cx="90000" cy="90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/>
          </a:p>
        </p:txBody>
      </p:sp>
      <p:sp>
        <p:nvSpPr>
          <p:cNvPr id="91" name="Window Background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0"/>
            </p:custDataLst>
          </p:nvPr>
        </p:nvSpPr>
        <p:spPr>
          <a:xfrm>
            <a:off x="2478262" y="2308448"/>
            <a:ext cx="4437106" cy="45429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92" name="그룹 91"/>
          <p:cNvGrpSpPr/>
          <p:nvPr/>
        </p:nvGrpSpPr>
        <p:grpSpPr>
          <a:xfrm>
            <a:off x="2546235" y="2485138"/>
            <a:ext cx="61694" cy="95279"/>
            <a:chOff x="5418565" y="5312425"/>
            <a:chExt cx="270686" cy="418043"/>
          </a:xfrm>
        </p:grpSpPr>
        <p:sp>
          <p:nvSpPr>
            <p:cNvPr id="93" name="Freeform 26"/>
            <p:cNvSpPr>
              <a:spLocks noChangeArrowheads="1"/>
            </p:cNvSpPr>
            <p:nvPr/>
          </p:nvSpPr>
          <p:spPr bwMode="auto">
            <a:xfrm>
              <a:off x="5418565" y="5312425"/>
              <a:ext cx="107880" cy="418043"/>
            </a:xfrm>
            <a:custGeom>
              <a:avLst/>
              <a:gdLst>
                <a:gd name="T0" fmla="*/ 49 w 104"/>
                <a:gd name="T1" fmla="*/ 103 h 411"/>
                <a:gd name="T2" fmla="*/ 103 w 104"/>
                <a:gd name="T3" fmla="*/ 49 h 411"/>
                <a:gd name="T4" fmla="*/ 49 w 104"/>
                <a:gd name="T5" fmla="*/ 0 h 411"/>
                <a:gd name="T6" fmla="*/ 0 w 104"/>
                <a:gd name="T7" fmla="*/ 49 h 411"/>
                <a:gd name="T8" fmla="*/ 49 w 104"/>
                <a:gd name="T9" fmla="*/ 103 h 411"/>
                <a:gd name="T10" fmla="*/ 49 w 104"/>
                <a:gd name="T11" fmla="*/ 152 h 411"/>
                <a:gd name="T12" fmla="*/ 0 w 104"/>
                <a:gd name="T13" fmla="*/ 205 h 411"/>
                <a:gd name="T14" fmla="*/ 49 w 104"/>
                <a:gd name="T15" fmla="*/ 254 h 411"/>
                <a:gd name="T16" fmla="*/ 103 w 104"/>
                <a:gd name="T17" fmla="*/ 205 h 411"/>
                <a:gd name="T18" fmla="*/ 49 w 104"/>
                <a:gd name="T19" fmla="*/ 152 h 411"/>
                <a:gd name="T20" fmla="*/ 49 w 104"/>
                <a:gd name="T21" fmla="*/ 308 h 411"/>
                <a:gd name="T22" fmla="*/ 0 w 104"/>
                <a:gd name="T23" fmla="*/ 357 h 411"/>
                <a:gd name="T24" fmla="*/ 49 w 104"/>
                <a:gd name="T25" fmla="*/ 410 h 411"/>
                <a:gd name="T26" fmla="*/ 103 w 104"/>
                <a:gd name="T27" fmla="*/ 357 h 411"/>
                <a:gd name="T28" fmla="*/ 49 w 104"/>
                <a:gd name="T29" fmla="*/ 308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411">
                  <a:moveTo>
                    <a:pt x="49" y="103"/>
                  </a:moveTo>
                  <a:cubicBezTo>
                    <a:pt x="78" y="103"/>
                    <a:pt x="103" y="76"/>
                    <a:pt x="103" y="49"/>
                  </a:cubicBezTo>
                  <a:cubicBezTo>
                    <a:pt x="103" y="22"/>
                    <a:pt x="76" y="0"/>
                    <a:pt x="49" y="0"/>
                  </a:cubicBez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5" y="103"/>
                    <a:pt x="49" y="103"/>
                  </a:cubicBezTo>
                  <a:close/>
                  <a:moveTo>
                    <a:pt x="49" y="152"/>
                  </a:moveTo>
                  <a:cubicBezTo>
                    <a:pt x="25" y="152"/>
                    <a:pt x="0" y="176"/>
                    <a:pt x="0" y="205"/>
                  </a:cubicBezTo>
                  <a:cubicBezTo>
                    <a:pt x="0" y="235"/>
                    <a:pt x="22" y="254"/>
                    <a:pt x="49" y="254"/>
                  </a:cubicBezTo>
                  <a:cubicBezTo>
                    <a:pt x="76" y="254"/>
                    <a:pt x="103" y="235"/>
                    <a:pt x="103" y="205"/>
                  </a:cubicBezTo>
                  <a:cubicBezTo>
                    <a:pt x="103" y="176"/>
                    <a:pt x="78" y="152"/>
                    <a:pt x="49" y="152"/>
                  </a:cubicBezTo>
                  <a:close/>
                  <a:moveTo>
                    <a:pt x="49" y="308"/>
                  </a:moveTo>
                  <a:cubicBezTo>
                    <a:pt x="25" y="308"/>
                    <a:pt x="0" y="327"/>
                    <a:pt x="0" y="357"/>
                  </a:cubicBezTo>
                  <a:cubicBezTo>
                    <a:pt x="0" y="386"/>
                    <a:pt x="22" y="410"/>
                    <a:pt x="49" y="410"/>
                  </a:cubicBezTo>
                  <a:cubicBezTo>
                    <a:pt x="76" y="410"/>
                    <a:pt x="103" y="386"/>
                    <a:pt x="103" y="357"/>
                  </a:cubicBezTo>
                  <a:cubicBezTo>
                    <a:pt x="103" y="327"/>
                    <a:pt x="78" y="308"/>
                    <a:pt x="49" y="3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94" name="Freeform 26"/>
            <p:cNvSpPr>
              <a:spLocks noChangeArrowheads="1"/>
            </p:cNvSpPr>
            <p:nvPr/>
          </p:nvSpPr>
          <p:spPr bwMode="auto">
            <a:xfrm>
              <a:off x="5581371" y="5312425"/>
              <a:ext cx="107880" cy="418043"/>
            </a:xfrm>
            <a:custGeom>
              <a:avLst/>
              <a:gdLst>
                <a:gd name="T0" fmla="*/ 49 w 104"/>
                <a:gd name="T1" fmla="*/ 103 h 411"/>
                <a:gd name="T2" fmla="*/ 103 w 104"/>
                <a:gd name="T3" fmla="*/ 49 h 411"/>
                <a:gd name="T4" fmla="*/ 49 w 104"/>
                <a:gd name="T5" fmla="*/ 0 h 411"/>
                <a:gd name="T6" fmla="*/ 0 w 104"/>
                <a:gd name="T7" fmla="*/ 49 h 411"/>
                <a:gd name="T8" fmla="*/ 49 w 104"/>
                <a:gd name="T9" fmla="*/ 103 h 411"/>
                <a:gd name="T10" fmla="*/ 49 w 104"/>
                <a:gd name="T11" fmla="*/ 152 h 411"/>
                <a:gd name="T12" fmla="*/ 0 w 104"/>
                <a:gd name="T13" fmla="*/ 205 h 411"/>
                <a:gd name="T14" fmla="*/ 49 w 104"/>
                <a:gd name="T15" fmla="*/ 254 h 411"/>
                <a:gd name="T16" fmla="*/ 103 w 104"/>
                <a:gd name="T17" fmla="*/ 205 h 411"/>
                <a:gd name="T18" fmla="*/ 49 w 104"/>
                <a:gd name="T19" fmla="*/ 152 h 411"/>
                <a:gd name="T20" fmla="*/ 49 w 104"/>
                <a:gd name="T21" fmla="*/ 308 h 411"/>
                <a:gd name="T22" fmla="*/ 0 w 104"/>
                <a:gd name="T23" fmla="*/ 357 h 411"/>
                <a:gd name="T24" fmla="*/ 49 w 104"/>
                <a:gd name="T25" fmla="*/ 410 h 411"/>
                <a:gd name="T26" fmla="*/ 103 w 104"/>
                <a:gd name="T27" fmla="*/ 357 h 411"/>
                <a:gd name="T28" fmla="*/ 49 w 104"/>
                <a:gd name="T29" fmla="*/ 308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" h="411">
                  <a:moveTo>
                    <a:pt x="49" y="103"/>
                  </a:moveTo>
                  <a:cubicBezTo>
                    <a:pt x="78" y="103"/>
                    <a:pt x="103" y="76"/>
                    <a:pt x="103" y="49"/>
                  </a:cubicBezTo>
                  <a:cubicBezTo>
                    <a:pt x="103" y="22"/>
                    <a:pt x="76" y="0"/>
                    <a:pt x="49" y="0"/>
                  </a:cubicBez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5" y="103"/>
                    <a:pt x="49" y="103"/>
                  </a:cubicBezTo>
                  <a:close/>
                  <a:moveTo>
                    <a:pt x="49" y="152"/>
                  </a:moveTo>
                  <a:cubicBezTo>
                    <a:pt x="25" y="152"/>
                    <a:pt x="0" y="176"/>
                    <a:pt x="0" y="205"/>
                  </a:cubicBezTo>
                  <a:cubicBezTo>
                    <a:pt x="0" y="235"/>
                    <a:pt x="22" y="254"/>
                    <a:pt x="49" y="254"/>
                  </a:cubicBezTo>
                  <a:cubicBezTo>
                    <a:pt x="76" y="254"/>
                    <a:pt x="103" y="235"/>
                    <a:pt x="103" y="205"/>
                  </a:cubicBezTo>
                  <a:cubicBezTo>
                    <a:pt x="103" y="176"/>
                    <a:pt x="78" y="152"/>
                    <a:pt x="49" y="152"/>
                  </a:cubicBezTo>
                  <a:close/>
                  <a:moveTo>
                    <a:pt x="49" y="308"/>
                  </a:moveTo>
                  <a:cubicBezTo>
                    <a:pt x="25" y="308"/>
                    <a:pt x="0" y="327"/>
                    <a:pt x="0" y="357"/>
                  </a:cubicBezTo>
                  <a:cubicBezTo>
                    <a:pt x="0" y="386"/>
                    <a:pt x="22" y="410"/>
                    <a:pt x="49" y="410"/>
                  </a:cubicBezTo>
                  <a:cubicBezTo>
                    <a:pt x="76" y="410"/>
                    <a:pt x="103" y="386"/>
                    <a:pt x="103" y="357"/>
                  </a:cubicBezTo>
                  <a:cubicBezTo>
                    <a:pt x="103" y="327"/>
                    <a:pt x="78" y="308"/>
                    <a:pt x="49" y="3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sp>
        <p:nvSpPr>
          <p:cNvPr id="95" name="Freeform 11"/>
          <p:cNvSpPr>
            <a:spLocks noChangeAspect="1" noChangeArrowheads="1"/>
          </p:cNvSpPr>
          <p:nvPr/>
        </p:nvSpPr>
        <p:spPr bwMode="auto">
          <a:xfrm>
            <a:off x="6985537" y="2485523"/>
            <a:ext cx="90000" cy="9000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/>
          </a:p>
        </p:txBody>
      </p:sp>
      <p:pic>
        <p:nvPicPr>
          <p:cNvPr id="96" name="그림 95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711624" y="2418306"/>
            <a:ext cx="237765" cy="2316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2947833" y="2463369"/>
            <a:ext cx="2073424" cy="156496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김은호          제품기획팀  ㅣ  대리</a:t>
            </a:r>
          </a:p>
        </p:txBody>
      </p:sp>
      <p:sp>
        <p:nvSpPr>
          <p:cNvPr id="98" name="텍스트 상자 31"/>
          <p:cNvSpPr txBox="1"/>
          <p:nvPr/>
        </p:nvSpPr>
        <p:spPr>
          <a:xfrm>
            <a:off x="473989" y="4594985"/>
            <a:ext cx="1470673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indent="139700"/>
            <a:r>
              <a:rPr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하위 부서 포함 선택</a:t>
            </a:r>
            <a:endParaRPr kumimoji="1"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9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1"/>
            </p:custDataLst>
          </p:nvPr>
        </p:nvGrpSpPr>
        <p:grpSpPr>
          <a:xfrm>
            <a:off x="461745" y="4597753"/>
            <a:ext cx="107839" cy="109736"/>
            <a:chOff x="554563" y="2632644"/>
            <a:chExt cx="131556" cy="131556"/>
          </a:xfrm>
        </p:grpSpPr>
        <p:sp>
          <p:nvSpPr>
            <p:cNvPr id="10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12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388629"/>
              </p:ext>
            </p:extLst>
          </p:nvPr>
        </p:nvGraphicFramePr>
        <p:xfrm>
          <a:off x="9283208" y="764301"/>
          <a:ext cx="2851068" cy="593176"/>
        </p:xfrm>
        <a:graphic>
          <a:graphicData uri="http://schemas.openxmlformats.org/drawingml/2006/table">
            <a:tbl>
              <a:tblPr/>
              <a:tblGrid>
                <a:gridCol w="2851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180975" marR="0" indent="-1381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 sz="2300"/>
                      </a:pP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조직도 팝업을 기반으로 일정 공유자 추가에 맞는 타이틀 및 기능 추가된 팝업</a:t>
                      </a:r>
                      <a:endParaRPr lang="ko-KR" altLang="en-US" sz="800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3" name="TextBox 112"/>
          <p:cNvSpPr txBox="1"/>
          <p:nvPr/>
        </p:nvSpPr>
        <p:spPr>
          <a:xfrm>
            <a:off x="2474193" y="1405136"/>
            <a:ext cx="488082" cy="18471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공유자</a:t>
            </a:r>
          </a:p>
        </p:txBody>
      </p:sp>
      <p:grpSp>
        <p:nvGrpSpPr>
          <p:cNvPr id="118" name="그룹 117"/>
          <p:cNvGrpSpPr/>
          <p:nvPr/>
        </p:nvGrpSpPr>
        <p:grpSpPr>
          <a:xfrm>
            <a:off x="7143750" y="1888546"/>
            <a:ext cx="47625" cy="2337958"/>
            <a:chOff x="6858000" y="2907897"/>
            <a:chExt cx="47625" cy="508807"/>
          </a:xfrm>
        </p:grpSpPr>
        <p:sp>
          <p:nvSpPr>
            <p:cNvPr id="116" name="모서리가 둥근 직사각형 115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17" name="모서리가 둥근 직사각형 116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1981200" y="1993321"/>
            <a:ext cx="47625" cy="2337958"/>
            <a:chOff x="6858000" y="2907897"/>
            <a:chExt cx="47625" cy="508807"/>
          </a:xfrm>
        </p:grpSpPr>
        <p:sp>
          <p:nvSpPr>
            <p:cNvPr id="120" name="모서리가 둥근 직사각형 119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21" name="모서리가 둥근 직사각형 120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공유자 추가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_Window pop-up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CA6.2.1.2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</a:p>
        </p:txBody>
      </p:sp>
    </p:spTree>
    <p:extLst>
      <p:ext uri="{BB962C8B-B14F-4D97-AF65-F5344CB8AC3E}">
        <p14:creationId xmlns:p14="http://schemas.microsoft.com/office/powerpoint/2010/main" val="872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"/>
          <p:cNvSpPr/>
          <p:nvPr/>
        </p:nvSpPr>
        <p:spPr>
          <a:xfrm>
            <a:off x="355088" y="460939"/>
            <a:ext cx="7487538" cy="630181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5" name="Rectangle 212"/>
          <p:cNvSpPr/>
          <p:nvPr/>
        </p:nvSpPr>
        <p:spPr>
          <a:xfrm>
            <a:off x="368326" y="486626"/>
            <a:ext cx="7474300" cy="29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6" name="텍스트 상자 31"/>
          <p:cNvSpPr txBox="1"/>
          <p:nvPr/>
        </p:nvSpPr>
        <p:spPr>
          <a:xfrm>
            <a:off x="471999" y="583230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7" name="직선 연결선[R] 7"/>
          <p:cNvCxnSpPr/>
          <p:nvPr/>
        </p:nvCxnSpPr>
        <p:spPr>
          <a:xfrm>
            <a:off x="356445" y="1131160"/>
            <a:ext cx="748618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8" name="텍스트 상자 31"/>
          <p:cNvSpPr txBox="1"/>
          <p:nvPr/>
        </p:nvSpPr>
        <p:spPr>
          <a:xfrm>
            <a:off x="1154457" y="2757450"/>
            <a:ext cx="374419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8</a:t>
            </a:r>
            <a:endParaRPr kumimoji="1"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텍스트 상자 31"/>
          <p:cNvSpPr txBox="1"/>
          <p:nvPr/>
        </p:nvSpPr>
        <p:spPr>
          <a:xfrm>
            <a:off x="6229923" y="2745261"/>
            <a:ext cx="45740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18</a:t>
            </a:r>
            <a:endParaRPr kumimoji="1"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텍스트 상자 31"/>
          <p:cNvSpPr txBox="1"/>
          <p:nvPr/>
        </p:nvSpPr>
        <p:spPr>
          <a:xfrm>
            <a:off x="3942874" y="2745261"/>
            <a:ext cx="45740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13</a:t>
            </a:r>
            <a:endParaRPr kumimoji="1"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1" name="직선 연결선[R] 7"/>
          <p:cNvCxnSpPr/>
          <p:nvPr/>
        </p:nvCxnSpPr>
        <p:spPr>
          <a:xfrm>
            <a:off x="1332116" y="3240260"/>
            <a:ext cx="6297803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sp>
        <p:nvSpPr>
          <p:cNvPr id="12" name="텍스트 상자 31"/>
          <p:cNvSpPr txBox="1"/>
          <p:nvPr/>
        </p:nvSpPr>
        <p:spPr>
          <a:xfrm>
            <a:off x="2238579" y="2745261"/>
            <a:ext cx="45740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</a:t>
            </a:r>
            <a:endParaRPr kumimoji="1"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텍스트 상자 31"/>
          <p:cNvSpPr txBox="1"/>
          <p:nvPr/>
        </p:nvSpPr>
        <p:spPr>
          <a:xfrm>
            <a:off x="1663836" y="2745261"/>
            <a:ext cx="45740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9</a:t>
            </a:r>
            <a:endParaRPr kumimoji="1"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텍스트 상자 31"/>
          <p:cNvSpPr txBox="1"/>
          <p:nvPr/>
        </p:nvSpPr>
        <p:spPr>
          <a:xfrm>
            <a:off x="2813321" y="2745261"/>
            <a:ext cx="45740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11</a:t>
            </a:r>
            <a:endParaRPr kumimoji="1"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텍스트 상자 31"/>
          <p:cNvSpPr txBox="1"/>
          <p:nvPr/>
        </p:nvSpPr>
        <p:spPr>
          <a:xfrm>
            <a:off x="3385469" y="2745261"/>
            <a:ext cx="45740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12</a:t>
            </a:r>
            <a:endParaRPr kumimoji="1"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" name="텍스트 상자 31"/>
          <p:cNvSpPr txBox="1"/>
          <p:nvPr/>
        </p:nvSpPr>
        <p:spPr>
          <a:xfrm>
            <a:off x="4522059" y="2745261"/>
            <a:ext cx="45740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15</a:t>
            </a:r>
            <a:endParaRPr kumimoji="1"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텍스트 상자 31"/>
          <p:cNvSpPr txBox="1"/>
          <p:nvPr/>
        </p:nvSpPr>
        <p:spPr>
          <a:xfrm>
            <a:off x="5079464" y="2745261"/>
            <a:ext cx="45740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16</a:t>
            </a:r>
            <a:endParaRPr kumimoji="1"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텍스트 상자 31"/>
          <p:cNvSpPr txBox="1"/>
          <p:nvPr/>
        </p:nvSpPr>
        <p:spPr>
          <a:xfrm>
            <a:off x="5672518" y="2745261"/>
            <a:ext cx="45740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17</a:t>
            </a:r>
            <a:endParaRPr kumimoji="1"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" name="텍스트 상자 31"/>
          <p:cNvSpPr txBox="1"/>
          <p:nvPr/>
        </p:nvSpPr>
        <p:spPr>
          <a:xfrm>
            <a:off x="6807570" y="2745261"/>
            <a:ext cx="45740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19</a:t>
            </a:r>
            <a:endParaRPr kumimoji="1"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0" name="직선 연결선[R] 7"/>
          <p:cNvCxnSpPr/>
          <p:nvPr/>
        </p:nvCxnSpPr>
        <p:spPr>
          <a:xfrm>
            <a:off x="1321814" y="2860802"/>
            <a:ext cx="6308105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21" name="텍스트 상자 31"/>
          <p:cNvSpPr txBox="1"/>
          <p:nvPr/>
        </p:nvSpPr>
        <p:spPr>
          <a:xfrm>
            <a:off x="7699543" y="2745261"/>
            <a:ext cx="457408" cy="9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ko-KR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20</a:t>
            </a:r>
            <a:endParaRPr kumimoji="1" lang="ko-KR" alt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3" name="직선 연결선[R] 7"/>
          <p:cNvCxnSpPr/>
          <p:nvPr/>
        </p:nvCxnSpPr>
        <p:spPr>
          <a:xfrm>
            <a:off x="4752414" y="2855436"/>
            <a:ext cx="0" cy="1897485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cxnSp>
        <p:nvCxnSpPr>
          <p:cNvPr id="24" name="직선 연결선[R] 7"/>
          <p:cNvCxnSpPr/>
          <p:nvPr/>
        </p:nvCxnSpPr>
        <p:spPr>
          <a:xfrm>
            <a:off x="1321814" y="2855436"/>
            <a:ext cx="0" cy="1897485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cxnSp>
        <p:nvCxnSpPr>
          <p:cNvPr id="25" name="직선 연결선[R] 7"/>
          <p:cNvCxnSpPr/>
          <p:nvPr/>
        </p:nvCxnSpPr>
        <p:spPr>
          <a:xfrm>
            <a:off x="3609849" y="2855436"/>
            <a:ext cx="0" cy="1897485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miter lim="400000"/>
          </a:ln>
        </p:spPr>
      </p:cxnSp>
      <p:cxnSp>
        <p:nvCxnSpPr>
          <p:cNvPr id="26" name="직선 연결선[R] 7"/>
          <p:cNvCxnSpPr/>
          <p:nvPr/>
        </p:nvCxnSpPr>
        <p:spPr>
          <a:xfrm>
            <a:off x="4181132" y="2855436"/>
            <a:ext cx="0" cy="1897485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miter lim="400000"/>
          </a:ln>
        </p:spPr>
      </p:cxnSp>
      <p:cxnSp>
        <p:nvCxnSpPr>
          <p:cNvPr id="27" name="직선 연결선[R] 7"/>
          <p:cNvCxnSpPr/>
          <p:nvPr/>
        </p:nvCxnSpPr>
        <p:spPr>
          <a:xfrm>
            <a:off x="1896001" y="2855436"/>
            <a:ext cx="0" cy="1897485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miter lim="400000"/>
          </a:ln>
        </p:spPr>
      </p:cxnSp>
      <p:cxnSp>
        <p:nvCxnSpPr>
          <p:cNvPr id="28" name="직선 연결선[R] 7"/>
          <p:cNvCxnSpPr/>
          <p:nvPr/>
        </p:nvCxnSpPr>
        <p:spPr>
          <a:xfrm>
            <a:off x="2467283" y="2855436"/>
            <a:ext cx="0" cy="1897485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miter lim="400000"/>
          </a:ln>
        </p:spPr>
      </p:cxnSp>
      <p:cxnSp>
        <p:nvCxnSpPr>
          <p:cNvPr id="29" name="직선 연결선[R] 7"/>
          <p:cNvCxnSpPr/>
          <p:nvPr/>
        </p:nvCxnSpPr>
        <p:spPr>
          <a:xfrm>
            <a:off x="6466263" y="2855436"/>
            <a:ext cx="0" cy="1897485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cxnSp>
        <p:nvCxnSpPr>
          <p:cNvPr id="30" name="직선 연결선[R] 7"/>
          <p:cNvCxnSpPr/>
          <p:nvPr/>
        </p:nvCxnSpPr>
        <p:spPr>
          <a:xfrm>
            <a:off x="5323697" y="2855436"/>
            <a:ext cx="0" cy="1897485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miter lim="400000"/>
          </a:ln>
        </p:spPr>
      </p:cxnSp>
      <p:cxnSp>
        <p:nvCxnSpPr>
          <p:cNvPr id="31" name="직선 연결선[R] 7"/>
          <p:cNvCxnSpPr/>
          <p:nvPr/>
        </p:nvCxnSpPr>
        <p:spPr>
          <a:xfrm>
            <a:off x="5894980" y="2855436"/>
            <a:ext cx="0" cy="1897485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miter lim="400000"/>
          </a:ln>
        </p:spPr>
      </p:cxnSp>
      <p:cxnSp>
        <p:nvCxnSpPr>
          <p:cNvPr id="32" name="직선 연결선[R] 7"/>
          <p:cNvCxnSpPr/>
          <p:nvPr/>
        </p:nvCxnSpPr>
        <p:spPr>
          <a:xfrm>
            <a:off x="3042125" y="2855436"/>
            <a:ext cx="0" cy="1897485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cxnSp>
        <p:nvCxnSpPr>
          <p:cNvPr id="33" name="직선 연결선[R] 7"/>
          <p:cNvCxnSpPr/>
          <p:nvPr/>
        </p:nvCxnSpPr>
        <p:spPr>
          <a:xfrm>
            <a:off x="7045778" y="2855436"/>
            <a:ext cx="0" cy="1897485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miter lim="400000"/>
          </a:ln>
        </p:spPr>
      </p:cxnSp>
      <p:cxnSp>
        <p:nvCxnSpPr>
          <p:cNvPr id="34" name="직선 연결선[R] 7"/>
          <p:cNvCxnSpPr/>
          <p:nvPr/>
        </p:nvCxnSpPr>
        <p:spPr>
          <a:xfrm>
            <a:off x="7944244" y="2837595"/>
            <a:ext cx="0" cy="1897485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miter lim="400000"/>
          </a:ln>
        </p:spPr>
      </p:cxnSp>
      <p:sp>
        <p:nvSpPr>
          <p:cNvPr id="35" name="텍스트 상자 31"/>
          <p:cNvSpPr txBox="1"/>
          <p:nvPr/>
        </p:nvSpPr>
        <p:spPr>
          <a:xfrm>
            <a:off x="542457" y="2715546"/>
            <a:ext cx="612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공유자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6" name="텍스트 상자 31"/>
          <p:cNvSpPr txBox="1"/>
          <p:nvPr/>
        </p:nvSpPr>
        <p:spPr>
          <a:xfrm>
            <a:off x="542457" y="5833165"/>
            <a:ext cx="612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8" name="Rectangle 178"/>
          <p:cNvSpPr/>
          <p:nvPr/>
        </p:nvSpPr>
        <p:spPr>
          <a:xfrm>
            <a:off x="535269" y="2901400"/>
            <a:ext cx="725626" cy="2900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이은수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9" name="Rectangle 180"/>
          <p:cNvSpPr/>
          <p:nvPr/>
        </p:nvSpPr>
        <p:spPr>
          <a:xfrm>
            <a:off x="535269" y="3281496"/>
            <a:ext cx="725626" cy="2900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강미나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0" name="Rectangle 211"/>
          <p:cNvSpPr/>
          <p:nvPr/>
        </p:nvSpPr>
        <p:spPr>
          <a:xfrm>
            <a:off x="535269" y="3661592"/>
            <a:ext cx="725626" cy="2900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algn="ctr"/>
            <a:r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정종철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1" name="Rectangle 214"/>
          <p:cNvSpPr/>
          <p:nvPr/>
        </p:nvSpPr>
        <p:spPr>
          <a:xfrm>
            <a:off x="535269" y="4041688"/>
            <a:ext cx="725626" cy="2900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김하나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2" name="Rectangle 217"/>
          <p:cNvSpPr/>
          <p:nvPr/>
        </p:nvSpPr>
        <p:spPr>
          <a:xfrm>
            <a:off x="535269" y="4421786"/>
            <a:ext cx="725626" cy="2900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algn="ctr"/>
            <a:r>
              <a:rPr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김민수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3" name="Rectangle 220"/>
          <p:cNvSpPr/>
          <p:nvPr/>
        </p:nvSpPr>
        <p:spPr>
          <a:xfrm>
            <a:off x="535269" y="5463276"/>
            <a:ext cx="725626" cy="2900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algn="ctr"/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층 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Bahama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4" name="Rectangle 221"/>
          <p:cNvSpPr/>
          <p:nvPr/>
        </p:nvSpPr>
        <p:spPr>
          <a:xfrm>
            <a:off x="535269" y="5843372"/>
            <a:ext cx="725626" cy="2900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빔프로젝터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A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5" name="Rectangle 223"/>
          <p:cNvSpPr/>
          <p:nvPr/>
        </p:nvSpPr>
        <p:spPr>
          <a:xfrm>
            <a:off x="535269" y="6223468"/>
            <a:ext cx="725626" cy="2900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algn="ctr"/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ASUS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노트북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46" name="직선 연결선[R] 7"/>
          <p:cNvCxnSpPr/>
          <p:nvPr/>
        </p:nvCxnSpPr>
        <p:spPr>
          <a:xfrm>
            <a:off x="1332116" y="3619718"/>
            <a:ext cx="6297803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cxnSp>
        <p:nvCxnSpPr>
          <p:cNvPr id="47" name="직선 연결선[R] 7"/>
          <p:cNvCxnSpPr/>
          <p:nvPr/>
        </p:nvCxnSpPr>
        <p:spPr>
          <a:xfrm>
            <a:off x="1332116" y="3999176"/>
            <a:ext cx="6297803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cxnSp>
        <p:nvCxnSpPr>
          <p:cNvPr id="48" name="직선 연결선[R] 7"/>
          <p:cNvCxnSpPr/>
          <p:nvPr/>
        </p:nvCxnSpPr>
        <p:spPr>
          <a:xfrm>
            <a:off x="1332116" y="4378634"/>
            <a:ext cx="6297803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cxnSp>
        <p:nvCxnSpPr>
          <p:cNvPr id="49" name="직선 연결선[R] 7"/>
          <p:cNvCxnSpPr/>
          <p:nvPr/>
        </p:nvCxnSpPr>
        <p:spPr>
          <a:xfrm>
            <a:off x="1332116" y="4748565"/>
            <a:ext cx="6297803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cxnSp>
        <p:nvCxnSpPr>
          <p:cNvPr id="50" name="직선 연결선[R] 7"/>
          <p:cNvCxnSpPr/>
          <p:nvPr/>
        </p:nvCxnSpPr>
        <p:spPr>
          <a:xfrm>
            <a:off x="1332116" y="5464413"/>
            <a:ext cx="6297803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cxnSp>
        <p:nvCxnSpPr>
          <p:cNvPr id="51" name="직선 연결선[R] 7"/>
          <p:cNvCxnSpPr/>
          <p:nvPr/>
        </p:nvCxnSpPr>
        <p:spPr>
          <a:xfrm>
            <a:off x="1332116" y="5843871"/>
            <a:ext cx="6297803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cxnSp>
        <p:nvCxnSpPr>
          <p:cNvPr id="52" name="직선 연결선[R] 7"/>
          <p:cNvCxnSpPr/>
          <p:nvPr/>
        </p:nvCxnSpPr>
        <p:spPr>
          <a:xfrm>
            <a:off x="1332116" y="6223329"/>
            <a:ext cx="6297803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sp>
        <p:nvSpPr>
          <p:cNvPr id="53" name="Rectangle 12"/>
          <p:cNvSpPr/>
          <p:nvPr/>
        </p:nvSpPr>
        <p:spPr>
          <a:xfrm>
            <a:off x="2467283" y="3617800"/>
            <a:ext cx="1713849" cy="3800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54" name="Rectangle 248"/>
          <p:cNvSpPr/>
          <p:nvPr/>
        </p:nvSpPr>
        <p:spPr>
          <a:xfrm>
            <a:off x="1893097" y="3988201"/>
            <a:ext cx="1454626" cy="39377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55" name="Rectangle 249"/>
          <p:cNvSpPr/>
          <p:nvPr/>
        </p:nvSpPr>
        <p:spPr>
          <a:xfrm>
            <a:off x="5320138" y="4000457"/>
            <a:ext cx="352380" cy="3800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56" name="Rectangle 250"/>
          <p:cNvSpPr/>
          <p:nvPr/>
        </p:nvSpPr>
        <p:spPr>
          <a:xfrm>
            <a:off x="5672518" y="2870027"/>
            <a:ext cx="798447" cy="3800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57" name="Rectangle 251"/>
          <p:cNvSpPr/>
          <p:nvPr/>
        </p:nvSpPr>
        <p:spPr>
          <a:xfrm>
            <a:off x="1527211" y="2870027"/>
            <a:ext cx="603044" cy="3800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cxnSp>
        <p:nvCxnSpPr>
          <p:cNvPr id="58" name="직선 연결선[R] 7"/>
          <p:cNvCxnSpPr/>
          <p:nvPr/>
        </p:nvCxnSpPr>
        <p:spPr>
          <a:xfrm>
            <a:off x="356445" y="2281582"/>
            <a:ext cx="7486181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miter lim="400000"/>
          </a:ln>
        </p:spPr>
      </p:cxnSp>
      <p:grpSp>
        <p:nvGrpSpPr>
          <p:cNvPr id="59" name="Group 269"/>
          <p:cNvGrpSpPr/>
          <p:nvPr/>
        </p:nvGrpSpPr>
        <p:grpSpPr>
          <a:xfrm>
            <a:off x="1321814" y="5440568"/>
            <a:ext cx="6308105" cy="1065443"/>
            <a:chOff x="1367825" y="2350581"/>
            <a:chExt cx="6308105" cy="3481769"/>
          </a:xfrm>
        </p:grpSpPr>
        <p:cxnSp>
          <p:nvCxnSpPr>
            <p:cNvPr id="60" name="직선 연결선[R] 7"/>
            <p:cNvCxnSpPr/>
            <p:nvPr/>
          </p:nvCxnSpPr>
          <p:spPr>
            <a:xfrm>
              <a:off x="4798425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miter lim="400000"/>
            </a:ln>
          </p:spPr>
        </p:cxnSp>
        <p:cxnSp>
          <p:nvCxnSpPr>
            <p:cNvPr id="61" name="직선 연결선[R] 7"/>
            <p:cNvCxnSpPr/>
            <p:nvPr/>
          </p:nvCxnSpPr>
          <p:spPr>
            <a:xfrm>
              <a:off x="1367825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miter lim="400000"/>
            </a:ln>
          </p:spPr>
        </p:cxnSp>
        <p:cxnSp>
          <p:nvCxnSpPr>
            <p:cNvPr id="62" name="직선 연결선[R] 7"/>
            <p:cNvCxnSpPr/>
            <p:nvPr/>
          </p:nvCxnSpPr>
          <p:spPr>
            <a:xfrm>
              <a:off x="3655860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63" name="직선 연결선[R] 7"/>
            <p:cNvCxnSpPr/>
            <p:nvPr/>
          </p:nvCxnSpPr>
          <p:spPr>
            <a:xfrm>
              <a:off x="4227143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64" name="직선 연결선[R] 7"/>
            <p:cNvCxnSpPr/>
            <p:nvPr/>
          </p:nvCxnSpPr>
          <p:spPr>
            <a:xfrm>
              <a:off x="1942012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65" name="직선 연결선[R] 7"/>
            <p:cNvCxnSpPr/>
            <p:nvPr/>
          </p:nvCxnSpPr>
          <p:spPr>
            <a:xfrm>
              <a:off x="2513294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66" name="직선 연결선[R] 7"/>
            <p:cNvCxnSpPr/>
            <p:nvPr/>
          </p:nvCxnSpPr>
          <p:spPr>
            <a:xfrm>
              <a:off x="6512274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miter lim="400000"/>
            </a:ln>
          </p:spPr>
        </p:cxnSp>
        <p:cxnSp>
          <p:nvCxnSpPr>
            <p:cNvPr id="67" name="직선 연결선[R] 7"/>
            <p:cNvCxnSpPr/>
            <p:nvPr/>
          </p:nvCxnSpPr>
          <p:spPr>
            <a:xfrm>
              <a:off x="5369708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68" name="직선 연결선[R] 7"/>
            <p:cNvCxnSpPr/>
            <p:nvPr/>
          </p:nvCxnSpPr>
          <p:spPr>
            <a:xfrm>
              <a:off x="5940991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69" name="직선 연결선[R] 7"/>
            <p:cNvCxnSpPr/>
            <p:nvPr/>
          </p:nvCxnSpPr>
          <p:spPr>
            <a:xfrm>
              <a:off x="3088136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miter lim="400000"/>
            </a:ln>
          </p:spPr>
        </p:cxnSp>
        <p:cxnSp>
          <p:nvCxnSpPr>
            <p:cNvPr id="70" name="직선 연결선[R] 7"/>
            <p:cNvCxnSpPr/>
            <p:nvPr/>
          </p:nvCxnSpPr>
          <p:spPr>
            <a:xfrm>
              <a:off x="7091789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71" name="직선 연결선[R] 7"/>
            <p:cNvCxnSpPr/>
            <p:nvPr/>
          </p:nvCxnSpPr>
          <p:spPr>
            <a:xfrm>
              <a:off x="7675930" y="2350581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</p:grpSp>
      <p:sp>
        <p:nvSpPr>
          <p:cNvPr id="72" name="Rectangle 252"/>
          <p:cNvSpPr/>
          <p:nvPr/>
        </p:nvSpPr>
        <p:spPr>
          <a:xfrm>
            <a:off x="1576657" y="5463775"/>
            <a:ext cx="3398220" cy="3800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73" name="Rectangle 253"/>
          <p:cNvSpPr/>
          <p:nvPr/>
        </p:nvSpPr>
        <p:spPr>
          <a:xfrm>
            <a:off x="4420415" y="5843871"/>
            <a:ext cx="1503888" cy="3800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cxnSp>
        <p:nvCxnSpPr>
          <p:cNvPr id="74" name="직선 연결선[R] 7"/>
          <p:cNvCxnSpPr/>
          <p:nvPr/>
        </p:nvCxnSpPr>
        <p:spPr>
          <a:xfrm>
            <a:off x="1321814" y="5463775"/>
            <a:ext cx="6308105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75" name="직선 연결선[R] 7"/>
          <p:cNvCxnSpPr/>
          <p:nvPr/>
        </p:nvCxnSpPr>
        <p:spPr>
          <a:xfrm>
            <a:off x="3042125" y="2870028"/>
            <a:ext cx="0" cy="3131999"/>
          </a:xfrm>
          <a:prstGeom prst="line">
            <a:avLst/>
          </a:prstGeom>
          <a:ln w="9525">
            <a:solidFill>
              <a:srgbClr val="FF0000"/>
            </a:solidFill>
            <a:miter lim="400000"/>
            <a:headEnd type="oval"/>
          </a:ln>
        </p:spPr>
      </p:cxnSp>
      <p:cxnSp>
        <p:nvCxnSpPr>
          <p:cNvPr id="76" name="직선 연결선[R] 7"/>
          <p:cNvCxnSpPr/>
          <p:nvPr/>
        </p:nvCxnSpPr>
        <p:spPr>
          <a:xfrm>
            <a:off x="4752414" y="2870028"/>
            <a:ext cx="0" cy="3131999"/>
          </a:xfrm>
          <a:prstGeom prst="line">
            <a:avLst/>
          </a:prstGeom>
          <a:ln w="9525">
            <a:solidFill>
              <a:srgbClr val="FF0000"/>
            </a:solidFill>
            <a:miter lim="400000"/>
            <a:headEnd type="oval"/>
          </a:ln>
        </p:spPr>
      </p:cxnSp>
      <p:sp>
        <p:nvSpPr>
          <p:cNvPr id="77" name="Rectangle 247"/>
          <p:cNvSpPr/>
          <p:nvPr/>
        </p:nvSpPr>
        <p:spPr>
          <a:xfrm>
            <a:off x="3046798" y="2866676"/>
            <a:ext cx="1713849" cy="3130128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85" name="Rectangle 291"/>
          <p:cNvSpPr/>
          <p:nvPr/>
        </p:nvSpPr>
        <p:spPr>
          <a:xfrm>
            <a:off x="4968903" y="4369930"/>
            <a:ext cx="1827606" cy="3800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86" name="Rectangle 292"/>
          <p:cNvSpPr/>
          <p:nvPr/>
        </p:nvSpPr>
        <p:spPr>
          <a:xfrm>
            <a:off x="1883592" y="6239459"/>
            <a:ext cx="590417" cy="2764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164334" y="2692636"/>
            <a:ext cx="110608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200" b="1" dirty="0" smtClean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rPr>
              <a:t>+</a:t>
            </a:r>
            <a:endParaRPr lang="en-US" sz="1200" b="1" dirty="0">
              <a:solidFill>
                <a:prstClr val="white">
                  <a:lumMod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164334" y="5255902"/>
            <a:ext cx="110608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200" b="1" dirty="0" smtClean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rPr>
              <a:t>+</a:t>
            </a:r>
            <a:endParaRPr lang="en-US" sz="1200" b="1" dirty="0">
              <a:solidFill>
                <a:prstClr val="white">
                  <a:lumMod val="50000"/>
                </a:prstClr>
              </a:solidFill>
              <a:latin typeface="+mn-ea"/>
              <a:ea typeface="+mn-ea"/>
            </a:endParaRPr>
          </a:p>
        </p:txBody>
      </p:sp>
      <p:grpSp>
        <p:nvGrpSpPr>
          <p:cNvPr id="99" name="Group 1"/>
          <p:cNvGrpSpPr/>
          <p:nvPr/>
        </p:nvGrpSpPr>
        <p:grpSpPr>
          <a:xfrm>
            <a:off x="3366352" y="2425602"/>
            <a:ext cx="1466367" cy="157533"/>
            <a:chOff x="3555340" y="2426388"/>
            <a:chExt cx="1466367" cy="157533"/>
          </a:xfrm>
        </p:grpSpPr>
        <p:sp>
          <p:nvSpPr>
            <p:cNvPr id="100" name="텍스트 상자 31"/>
            <p:cNvSpPr txBox="1"/>
            <p:nvPr/>
          </p:nvSpPr>
          <p:spPr>
            <a:xfrm>
              <a:off x="3555340" y="2430033"/>
              <a:ext cx="977361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ko-KR" sz="1000" b="1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2017-09-20</a:t>
              </a:r>
              <a:r>
                <a:rPr kumimoji="1" lang="en-US" altLang="ko-KR" sz="10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(</a:t>
              </a:r>
              <a:r>
                <a:rPr kumimoji="1" lang="ko-KR" altLang="en-US" sz="10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수</a:t>
              </a:r>
              <a:r>
                <a:rPr kumimoji="1" lang="en-US" altLang="ko-KR" sz="10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)</a:t>
              </a:r>
              <a:endParaRPr kumimoji="1" lang="ko-KR" altLang="en-US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grpSp>
          <p:nvGrpSpPr>
            <p:cNvPr id="101" name="Group 120"/>
            <p:cNvGrpSpPr/>
            <p:nvPr/>
          </p:nvGrpSpPr>
          <p:grpSpPr>
            <a:xfrm>
              <a:off x="4481097" y="2426388"/>
              <a:ext cx="540610" cy="144000"/>
              <a:chOff x="3113961" y="1702107"/>
              <a:chExt cx="540610" cy="144000"/>
            </a:xfrm>
          </p:grpSpPr>
          <p:sp>
            <p:nvSpPr>
              <p:cNvPr id="102" name="Freeform 9"/>
              <p:cNvSpPr>
                <a:spLocks noChangeArrowheads="1"/>
              </p:cNvSpPr>
              <p:nvPr/>
            </p:nvSpPr>
            <p:spPr bwMode="auto">
              <a:xfrm>
                <a:off x="3113961" y="1741427"/>
                <a:ext cx="50409" cy="80656"/>
              </a:xfrm>
              <a:custGeom>
                <a:avLst/>
                <a:gdLst>
                  <a:gd name="T0" fmla="*/ 243 w 244"/>
                  <a:gd name="T1" fmla="*/ 44 h 387"/>
                  <a:gd name="T2" fmla="*/ 199 w 244"/>
                  <a:gd name="T3" fmla="*/ 0 h 387"/>
                  <a:gd name="T4" fmla="*/ 0 w 244"/>
                  <a:gd name="T5" fmla="*/ 193 h 387"/>
                  <a:gd name="T6" fmla="*/ 199 w 244"/>
                  <a:gd name="T7" fmla="*/ 386 h 387"/>
                  <a:gd name="T8" fmla="*/ 243 w 244"/>
                  <a:gd name="T9" fmla="*/ 343 h 387"/>
                  <a:gd name="T10" fmla="*/ 94 w 244"/>
                  <a:gd name="T11" fmla="*/ 193 h 387"/>
                  <a:gd name="T12" fmla="*/ 243 w 244"/>
                  <a:gd name="T13" fmla="*/ 44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4" h="387">
                    <a:moveTo>
                      <a:pt x="243" y="44"/>
                    </a:moveTo>
                    <a:lnTo>
                      <a:pt x="199" y="0"/>
                    </a:lnTo>
                    <a:lnTo>
                      <a:pt x="0" y="193"/>
                    </a:lnTo>
                    <a:lnTo>
                      <a:pt x="199" y="386"/>
                    </a:lnTo>
                    <a:lnTo>
                      <a:pt x="243" y="343"/>
                    </a:lnTo>
                    <a:lnTo>
                      <a:pt x="94" y="193"/>
                    </a:lnTo>
                    <a:lnTo>
                      <a:pt x="243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  <p:sp>
            <p:nvSpPr>
              <p:cNvPr id="103" name="Freeform 10"/>
              <p:cNvSpPr>
                <a:spLocks noChangeArrowheads="1"/>
              </p:cNvSpPr>
              <p:nvPr/>
            </p:nvSpPr>
            <p:spPr bwMode="auto">
              <a:xfrm>
                <a:off x="3247594" y="1741427"/>
                <a:ext cx="49493" cy="80656"/>
              </a:xfrm>
              <a:custGeom>
                <a:avLst/>
                <a:gdLst>
                  <a:gd name="T0" fmla="*/ 44 w 238"/>
                  <a:gd name="T1" fmla="*/ 0 h 387"/>
                  <a:gd name="T2" fmla="*/ 0 w 238"/>
                  <a:gd name="T3" fmla="*/ 44 h 387"/>
                  <a:gd name="T4" fmla="*/ 150 w 238"/>
                  <a:gd name="T5" fmla="*/ 193 h 387"/>
                  <a:gd name="T6" fmla="*/ 0 w 238"/>
                  <a:gd name="T7" fmla="*/ 343 h 387"/>
                  <a:gd name="T8" fmla="*/ 44 w 238"/>
                  <a:gd name="T9" fmla="*/ 386 h 387"/>
                  <a:gd name="T10" fmla="*/ 237 w 238"/>
                  <a:gd name="T11" fmla="*/ 193 h 387"/>
                  <a:gd name="T12" fmla="*/ 44 w 238"/>
                  <a:gd name="T13" fmla="*/ 0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8" h="387">
                    <a:moveTo>
                      <a:pt x="44" y="0"/>
                    </a:moveTo>
                    <a:lnTo>
                      <a:pt x="0" y="44"/>
                    </a:lnTo>
                    <a:lnTo>
                      <a:pt x="150" y="193"/>
                    </a:lnTo>
                    <a:lnTo>
                      <a:pt x="0" y="343"/>
                    </a:lnTo>
                    <a:lnTo>
                      <a:pt x="44" y="386"/>
                    </a:lnTo>
                    <a:lnTo>
                      <a:pt x="237" y="193"/>
                    </a:lnTo>
                    <a:lnTo>
                      <a:pt x="44" y="0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  <p:sp>
            <p:nvSpPr>
              <p:cNvPr id="104" name="Rounded Rectangle 123"/>
              <p:cNvSpPr/>
              <p:nvPr/>
            </p:nvSpPr>
            <p:spPr>
              <a:xfrm>
                <a:off x="3373429" y="1702107"/>
                <a:ext cx="281142" cy="14400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오늘</a:t>
                </a:r>
                <a:endParaRPr lang="en-US" sz="7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</p:txBody>
          </p:sp>
        </p:grpSp>
      </p:grpSp>
      <p:grpSp>
        <p:nvGrpSpPr>
          <p:cNvPr id="111" name="Group 124"/>
          <p:cNvGrpSpPr/>
          <p:nvPr/>
        </p:nvGrpSpPr>
        <p:grpSpPr>
          <a:xfrm>
            <a:off x="3114468" y="946825"/>
            <a:ext cx="1982016" cy="176117"/>
            <a:chOff x="4223944" y="1715997"/>
            <a:chExt cx="1982016" cy="176117"/>
          </a:xfrm>
        </p:grpSpPr>
        <p:sp>
          <p:nvSpPr>
            <p:cNvPr id="112" name="텍스트 상자 31"/>
            <p:cNvSpPr txBox="1"/>
            <p:nvPr/>
          </p:nvSpPr>
          <p:spPr>
            <a:xfrm>
              <a:off x="4935567" y="1715997"/>
              <a:ext cx="127039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공유자 ∙ 설비 일정확인</a:t>
              </a:r>
              <a:endParaRPr kumimoji="1"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13" name="Group 131"/>
            <p:cNvGrpSpPr/>
            <p:nvPr/>
          </p:nvGrpSpPr>
          <p:grpSpPr>
            <a:xfrm>
              <a:off x="4223944" y="1715997"/>
              <a:ext cx="1964996" cy="176117"/>
              <a:chOff x="4223944" y="1715997"/>
              <a:chExt cx="1964996" cy="176117"/>
            </a:xfrm>
          </p:grpSpPr>
          <p:sp>
            <p:nvSpPr>
              <p:cNvPr id="114" name="텍스트 상자 31"/>
              <p:cNvSpPr txBox="1"/>
              <p:nvPr/>
            </p:nvSpPr>
            <p:spPr>
              <a:xfrm>
                <a:off x="4223944" y="1715997"/>
                <a:ext cx="6120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ko-KR" altLang="en-US" sz="900" dirty="0" smtClean="0">
                    <a:solidFill>
                      <a:schemeClr val="bg1">
                        <a:lumMod val="65000"/>
                      </a:schemeClr>
                    </a:solidFill>
                    <a:latin typeface="+mn-ea"/>
                    <a:ea typeface="+mn-ea"/>
                  </a:rPr>
                  <a:t>일정 상세</a:t>
                </a:r>
                <a:endParaRPr kumimoji="1" lang="ko-KR" altLang="en-US" sz="9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115" name="직선 연결선[R] 7"/>
              <p:cNvCxnSpPr/>
              <p:nvPr/>
            </p:nvCxnSpPr>
            <p:spPr>
              <a:xfrm>
                <a:off x="4990260" y="1892114"/>
                <a:ext cx="1198680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miter lim="400000"/>
              </a:ln>
            </p:spPr>
          </p:cxnSp>
        </p:grpSp>
      </p:grpSp>
      <p:sp>
        <p:nvSpPr>
          <p:cNvPr id="116" name="Rounded Rectangle 939"/>
          <p:cNvSpPr/>
          <p:nvPr/>
        </p:nvSpPr>
        <p:spPr>
          <a:xfrm>
            <a:off x="6333919" y="2410200"/>
            <a:ext cx="1296000" cy="186607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다음 가능 시간 </a:t>
            </a:r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:</a:t>
            </a:r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09-21</a:t>
            </a:r>
            <a:r>
              <a:rPr kumimoji="1"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목</a:t>
            </a:r>
            <a:r>
              <a:rPr kumimoji="1"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17" name="그룹 143"/>
          <p:cNvGrpSpPr/>
          <p:nvPr/>
        </p:nvGrpSpPr>
        <p:grpSpPr>
          <a:xfrm>
            <a:off x="336684" y="1047491"/>
            <a:ext cx="216000" cy="252000"/>
            <a:chOff x="2704212" y="2825113"/>
            <a:chExt cx="216000" cy="252000"/>
          </a:xfrm>
        </p:grpSpPr>
        <p:sp>
          <p:nvSpPr>
            <p:cNvPr id="118" name="타원형"/>
            <p:cNvSpPr>
              <a:spLocks noChangeAspect="1"/>
            </p:cNvSpPr>
            <p:nvPr/>
          </p:nvSpPr>
          <p:spPr>
            <a:xfrm>
              <a:off x="2706663" y="2843113"/>
              <a:ext cx="213549" cy="216000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576817">
                <a:defRPr sz="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latin typeface="+mn-ea"/>
                <a:ea typeface="+mn-ea"/>
              </a:endParaRPr>
            </a:p>
          </p:txBody>
        </p:sp>
        <p:sp>
          <p:nvSpPr>
            <p:cNvPr id="119" name="2"/>
            <p:cNvSpPr txBox="1"/>
            <p:nvPr/>
          </p:nvSpPr>
          <p:spPr>
            <a:xfrm>
              <a:off x="2704212" y="2825113"/>
              <a:ext cx="216000" cy="252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76817">
                <a:defRPr sz="20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ctr">
                <a:defRPr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lang="en-US" altLang="ko-KR" sz="900" b="1" dirty="0" smtClean="0">
                  <a:solidFill>
                    <a:srgbClr val="FFFFFF"/>
                  </a:solidFill>
                  <a:latin typeface="+mn-ea"/>
                  <a:ea typeface="+mn-ea"/>
                  <a:cs typeface="Helvetica"/>
                  <a:sym typeface="Helvetica"/>
                </a:rPr>
                <a:t>1</a:t>
              </a:r>
              <a:endParaRPr sz="900" b="1" dirty="0">
                <a:solidFill>
                  <a:srgbClr val="FFFFFF"/>
                </a:solidFill>
                <a:latin typeface="+mn-ea"/>
                <a:ea typeface="+mn-ea"/>
                <a:cs typeface="Helvetica"/>
                <a:sym typeface="Helvetica"/>
              </a:endParaRPr>
            </a:p>
          </p:txBody>
        </p:sp>
      </p:grpSp>
      <p:sp>
        <p:nvSpPr>
          <p:cNvPr id="120" name="Rectangle 139"/>
          <p:cNvSpPr/>
          <p:nvPr/>
        </p:nvSpPr>
        <p:spPr>
          <a:xfrm>
            <a:off x="414337" y="2357487"/>
            <a:ext cx="7389130" cy="4160827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grpSp>
        <p:nvGrpSpPr>
          <p:cNvPr id="121" name="그룹 120"/>
          <p:cNvGrpSpPr/>
          <p:nvPr/>
        </p:nvGrpSpPr>
        <p:grpSpPr>
          <a:xfrm>
            <a:off x="293921" y="2230984"/>
            <a:ext cx="216000" cy="252000"/>
            <a:chOff x="2704212" y="2825113"/>
            <a:chExt cx="216000" cy="252000"/>
          </a:xfrm>
        </p:grpSpPr>
        <p:sp>
          <p:nvSpPr>
            <p:cNvPr id="122" name="타원형"/>
            <p:cNvSpPr>
              <a:spLocks noChangeAspect="1"/>
            </p:cNvSpPr>
            <p:nvPr/>
          </p:nvSpPr>
          <p:spPr>
            <a:xfrm>
              <a:off x="2706663" y="2843113"/>
              <a:ext cx="213549" cy="216000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576817">
                <a:defRPr sz="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latin typeface="+mn-ea"/>
                <a:ea typeface="+mn-ea"/>
              </a:endParaRPr>
            </a:p>
          </p:txBody>
        </p:sp>
        <p:sp>
          <p:nvSpPr>
            <p:cNvPr id="123" name="2"/>
            <p:cNvSpPr txBox="1"/>
            <p:nvPr/>
          </p:nvSpPr>
          <p:spPr>
            <a:xfrm>
              <a:off x="2704212" y="2825113"/>
              <a:ext cx="216000" cy="252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>
              <a:lvl1pPr defTabSz="576817">
                <a:defRPr sz="20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ctr">
                <a:defRPr b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 lang="en-US" altLang="ko-KR" sz="900" b="1" dirty="0" smtClean="0">
                  <a:solidFill>
                    <a:srgbClr val="FFFFFF"/>
                  </a:solidFill>
                  <a:latin typeface="+mn-ea"/>
                  <a:ea typeface="+mn-ea"/>
                  <a:cs typeface="Helvetica"/>
                  <a:sym typeface="Helvetica"/>
                </a:rPr>
                <a:t>2</a:t>
              </a:r>
              <a:endParaRPr sz="900" b="1" dirty="0">
                <a:solidFill>
                  <a:srgbClr val="FFFFFF"/>
                </a:solidFill>
                <a:latin typeface="+mn-ea"/>
                <a:ea typeface="+mn-ea"/>
                <a:cs typeface="Helvetica"/>
                <a:sym typeface="Helvetica"/>
              </a:endParaRPr>
            </a:p>
          </p:txBody>
        </p:sp>
      </p:grpSp>
      <p:graphicFrame>
        <p:nvGraphicFramePr>
          <p:cNvPr id="13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032200"/>
              </p:ext>
            </p:extLst>
          </p:nvPr>
        </p:nvGraphicFramePr>
        <p:xfrm>
          <a:off x="9267471" y="745639"/>
          <a:ext cx="2857473" cy="3480376"/>
        </p:xfrm>
        <a:graphic>
          <a:graphicData uri="http://schemas.openxmlformats.org/drawingml/2006/table">
            <a:tbl>
              <a:tblPr/>
              <a:tblGrid>
                <a:gridCol w="213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 gridSpan="2">
                  <a:txBody>
                    <a:bodyPr/>
                    <a:lstStyle/>
                    <a:p>
                      <a:pPr marL="93663" marR="0" indent="-9366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 sz="18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공유자∙설비 일정확인 탭 선택 화면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일시</a:t>
                      </a:r>
                      <a:endParaRPr kumimoji="1" lang="en-US" altLang="ko-KR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일정 상세 탭 내 일시 항목과 동일 정보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수정 시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일정 상세에 동일하게 적용</a:t>
                      </a:r>
                    </a:p>
                  </a:txBody>
                  <a:tcPr marL="18000" marR="0" marT="36000" marB="36000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Malgun Gothic" charset="0"/>
                        </a:rPr>
                        <a:t>공유자 및 설비 일정 목록</a:t>
                      </a:r>
                      <a:endParaRPr kumimoji="1" lang="en-US" altLang="ko-KR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일정 상세 탭에서 설정한 공유자 및 설비의 일정을 불러와서 사용자가 설정한 날짜에 각 일정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일자 이동 기능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선택한 공유자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설비 목록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일정 목록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일간뷰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),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다음 가능한 시간 버튼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공유자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설비 목록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선택한 공유자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설비 목록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추가 버튼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공유자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설비 추가 시 해당 목록의 상단에 추가됨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선택한 공유자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설비명에 마우스 오버 시 삭제 버튼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일정 목록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일정이 있는 부분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Dimmed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표현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사용자가 선택한 일정에 강조 표시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다음 가능한 시간 보기 </a:t>
                      </a:r>
                    </a:p>
                    <a:p>
                      <a:pPr marL="182563" indent="-88900" algn="l" defTabSz="914400">
                        <a:buSzPct val="75000"/>
                        <a:buFontTx/>
                        <a:buChar char="-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모든 공유자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설비 일정이 비는 일자 표시</a:t>
                      </a:r>
                    </a:p>
                    <a:p>
                      <a:pPr marL="182563" indent="-88900" algn="l" defTabSz="914400">
                        <a:buSzPct val="75000"/>
                        <a:buFontTx/>
                        <a:buChar char="-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선택 시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해당 일자로 이동</a:t>
                      </a:r>
                    </a:p>
                    <a:p>
                      <a:pPr marL="182563" indent="-88900" algn="l" defTabSz="914400">
                        <a:buSzPct val="75000"/>
                        <a:buFontTx/>
                        <a:buChar char="-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재선택 시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그 다음 일자로 이동</a:t>
                      </a:r>
                    </a:p>
                  </a:txBody>
                  <a:tcPr marL="18000" marR="0" marT="36000" marB="36000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공유자는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명까지만 출력</a:t>
                      </a: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3-1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10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명 초과될 경우 해당 문구 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4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클릭시 수정된 날짜로 ②영역 업데이트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31909"/>
                  </a:ext>
                </a:extLst>
              </a:tr>
            </a:tbl>
          </a:graphicData>
        </a:graphic>
      </p:graphicFrame>
      <p:grpSp>
        <p:nvGrpSpPr>
          <p:cNvPr id="155" name="Group 293"/>
          <p:cNvGrpSpPr/>
          <p:nvPr/>
        </p:nvGrpSpPr>
        <p:grpSpPr>
          <a:xfrm>
            <a:off x="1771419" y="1231306"/>
            <a:ext cx="3555600" cy="290149"/>
            <a:chOff x="1135173" y="2884869"/>
            <a:chExt cx="3555600" cy="290149"/>
          </a:xfrm>
        </p:grpSpPr>
        <p:sp>
          <p:nvSpPr>
            <p:cNvPr id="156" name="Rounded Rectangle 939"/>
            <p:cNvSpPr/>
            <p:nvPr/>
          </p:nvSpPr>
          <p:spPr>
            <a:xfrm>
              <a:off x="11351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2017-09-20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7" name="Rounded Rectangle 939"/>
            <p:cNvSpPr/>
            <p:nvPr/>
          </p:nvSpPr>
          <p:spPr>
            <a:xfrm>
              <a:off x="19352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오전 </a:t>
              </a: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11:00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58" name="직선 연결선[R] 7"/>
            <p:cNvCxnSpPr/>
            <p:nvPr/>
          </p:nvCxnSpPr>
          <p:spPr>
            <a:xfrm>
              <a:off x="2858973" y="3029943"/>
              <a:ext cx="108000" cy="0"/>
            </a:xfrm>
            <a:prstGeom prst="line">
              <a:avLst/>
            </a:prstGeom>
            <a:ln w="12700">
              <a:solidFill>
                <a:sysClr val="window" lastClr="FFFFFF">
                  <a:lumMod val="50000"/>
                </a:sysClr>
              </a:solidFill>
              <a:miter lim="400000"/>
            </a:ln>
          </p:spPr>
        </p:cxnSp>
        <p:sp>
          <p:nvSpPr>
            <p:cNvPr id="159" name="Triangle 942"/>
            <p:cNvSpPr>
              <a:spLocks noChangeAspect="1"/>
            </p:cNvSpPr>
            <p:nvPr/>
          </p:nvSpPr>
          <p:spPr>
            <a:xfrm flipV="1">
              <a:off x="2620251" y="2998992"/>
              <a:ext cx="108000" cy="61902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60" name="Rounded Rectangle 939"/>
            <p:cNvSpPr/>
            <p:nvPr/>
          </p:nvSpPr>
          <p:spPr>
            <a:xfrm>
              <a:off x="30266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2017-09-20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1" name="Rounded Rectangle 939"/>
            <p:cNvSpPr/>
            <p:nvPr/>
          </p:nvSpPr>
          <p:spPr>
            <a:xfrm>
              <a:off x="38267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오후 </a:t>
              </a: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03:00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2" name="Triangle 942"/>
            <p:cNvSpPr>
              <a:spLocks noChangeAspect="1"/>
            </p:cNvSpPr>
            <p:nvPr/>
          </p:nvSpPr>
          <p:spPr>
            <a:xfrm flipV="1">
              <a:off x="4511751" y="2998992"/>
              <a:ext cx="108000" cy="61902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63" name="텍스트 상자 31"/>
          <p:cNvSpPr txBox="1"/>
          <p:nvPr/>
        </p:nvSpPr>
        <p:spPr>
          <a:xfrm>
            <a:off x="537040" y="1245702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8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Calibri"/>
                <a:ea typeface="맑은 고딕" panose="020B0503020000020004" pitchFamily="50" charset="-127"/>
              </a:rPr>
              <a:t>일시</a:t>
            </a:r>
            <a:endParaRPr lang="ko-KR" altLang="en-US" sz="800" b="1" dirty="0">
              <a:solidFill>
                <a:prstClr val="black">
                  <a:lumMod val="65000"/>
                  <a:lumOff val="3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sp>
        <p:nvSpPr>
          <p:cNvPr id="164" name="Rounded Rectangle 939"/>
          <p:cNvSpPr/>
          <p:nvPr/>
        </p:nvSpPr>
        <p:spPr>
          <a:xfrm>
            <a:off x="5363997" y="1222581"/>
            <a:ext cx="648000" cy="290149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6350" cap="flat" cmpd="sng">
            <a:solidFill>
              <a:sysClr val="window" lastClr="FFFFFF">
                <a:lumMod val="65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반복 설정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5" name="Group 127"/>
          <p:cNvGrpSpPr/>
          <p:nvPr/>
        </p:nvGrpSpPr>
        <p:grpSpPr>
          <a:xfrm>
            <a:off x="6065755" y="1274523"/>
            <a:ext cx="365833" cy="187731"/>
            <a:chOff x="10514817" y="2798956"/>
            <a:chExt cx="365833" cy="187731"/>
          </a:xfrm>
        </p:grpSpPr>
        <p:sp>
          <p:nvSpPr>
            <p:cNvPr id="166" name="Rounded Rectangle 128"/>
            <p:cNvSpPr/>
            <p:nvPr/>
          </p:nvSpPr>
          <p:spPr>
            <a:xfrm>
              <a:off x="10664650" y="2798956"/>
              <a:ext cx="21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종일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67" name="Rounded Rectangle 129"/>
            <p:cNvSpPr/>
            <p:nvPr/>
          </p:nvSpPr>
          <p:spPr>
            <a:xfrm>
              <a:off x="10514817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168" name="Group 140"/>
          <p:cNvGrpSpPr/>
          <p:nvPr/>
        </p:nvGrpSpPr>
        <p:grpSpPr>
          <a:xfrm>
            <a:off x="6431588" y="1272650"/>
            <a:ext cx="473833" cy="187731"/>
            <a:chOff x="10514817" y="2798956"/>
            <a:chExt cx="473833" cy="187731"/>
          </a:xfrm>
        </p:grpSpPr>
        <p:sp>
          <p:nvSpPr>
            <p:cNvPr id="169" name="Rounded Rectangle 142"/>
            <p:cNvSpPr/>
            <p:nvPr/>
          </p:nvSpPr>
          <p:spPr>
            <a:xfrm>
              <a:off x="10664650" y="2798956"/>
              <a:ext cx="324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기념일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0" name="Rounded Rectangle 146"/>
            <p:cNvSpPr/>
            <p:nvPr/>
          </p:nvSpPr>
          <p:spPr>
            <a:xfrm>
              <a:off x="10514817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171" name="Group 147"/>
          <p:cNvGrpSpPr/>
          <p:nvPr/>
        </p:nvGrpSpPr>
        <p:grpSpPr>
          <a:xfrm>
            <a:off x="1294685" y="1249929"/>
            <a:ext cx="432000" cy="228857"/>
            <a:chOff x="1122876" y="2916525"/>
            <a:chExt cx="432000" cy="228857"/>
          </a:xfrm>
        </p:grpSpPr>
        <p:sp>
          <p:nvSpPr>
            <p:cNvPr id="172" name="Rounded Rectangle 939"/>
            <p:cNvSpPr/>
            <p:nvPr/>
          </p:nvSpPr>
          <p:spPr>
            <a:xfrm>
              <a:off x="1122876" y="2916525"/>
              <a:ext cx="432000" cy="228857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양력</a:t>
              </a:r>
            </a:p>
          </p:txBody>
        </p:sp>
        <p:sp>
          <p:nvSpPr>
            <p:cNvPr id="173" name="Triangle 942"/>
            <p:cNvSpPr>
              <a:spLocks noChangeAspect="1"/>
            </p:cNvSpPr>
            <p:nvPr/>
          </p:nvSpPr>
          <p:spPr>
            <a:xfrm flipV="1">
              <a:off x="1419199" y="3004677"/>
              <a:ext cx="91689" cy="52553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185" name="AutoShape 63"/>
          <p:cNvSpPr>
            <a:spLocks/>
          </p:cNvSpPr>
          <p:nvPr/>
        </p:nvSpPr>
        <p:spPr bwMode="auto">
          <a:xfrm>
            <a:off x="9515773" y="4435611"/>
            <a:ext cx="2058857" cy="13849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kumimoji="0" lang="ko-KR" altLang="en-US" sz="9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가능 시간 선택</a:t>
            </a:r>
            <a:r>
              <a:rPr kumimoji="0" lang="en-US" altLang="ko-KR" sz="9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9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재선택 시 </a:t>
            </a:r>
            <a:r>
              <a:rPr kumimoji="0" lang="en-US" altLang="ko-KR" sz="900" dirty="0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endParaRPr kumimoji="0" lang="ko-KR" altLang="en-US" sz="9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6" name="Straight Connector 158"/>
          <p:cNvCxnSpPr/>
          <p:nvPr/>
        </p:nvCxnSpPr>
        <p:spPr>
          <a:xfrm>
            <a:off x="10440850" y="4739727"/>
            <a:ext cx="0" cy="361431"/>
          </a:xfrm>
          <a:prstGeom prst="line">
            <a:avLst/>
          </a:prstGeom>
          <a:noFill/>
          <a:ln w="6350" cap="flat" cmpd="sng" algn="ctr">
            <a:solidFill>
              <a:srgbClr val="FF0000"/>
            </a:solidFill>
            <a:prstDash val="dash"/>
            <a:headEnd type="none" w="med" len="med"/>
            <a:tailEnd type="triangle" w="med" len="med"/>
          </a:ln>
          <a:effectLst/>
        </p:spPr>
      </p:cxnSp>
      <p:sp>
        <p:nvSpPr>
          <p:cNvPr id="187" name="AutoShape 63"/>
          <p:cNvSpPr>
            <a:spLocks/>
          </p:cNvSpPr>
          <p:nvPr/>
        </p:nvSpPr>
        <p:spPr bwMode="auto">
          <a:xfrm>
            <a:off x="10463540" y="4886711"/>
            <a:ext cx="281263" cy="13849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Click</a:t>
            </a:r>
            <a:endParaRPr kumimoji="0"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8" name="AutoShape 63"/>
          <p:cNvSpPr>
            <a:spLocks/>
          </p:cNvSpPr>
          <p:nvPr/>
        </p:nvSpPr>
        <p:spPr bwMode="auto">
          <a:xfrm>
            <a:off x="10480196" y="5352216"/>
            <a:ext cx="281263" cy="13849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Click</a:t>
            </a:r>
            <a:endParaRPr kumimoji="0"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Rounded Rectangle 939"/>
          <p:cNvSpPr/>
          <p:nvPr/>
        </p:nvSpPr>
        <p:spPr>
          <a:xfrm>
            <a:off x="9515773" y="4632676"/>
            <a:ext cx="1836000" cy="186606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6350" cap="flat" cmpd="sng">
            <a:solidFill>
              <a:sysClr val="window" lastClr="FFFFFF">
                <a:lumMod val="65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36000" tIns="0" rIns="0" bIns="0" anchor="ctr"/>
          <a:lstStyle/>
          <a:p>
            <a:pPr marL="0" marR="0" lvl="0" indent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다음 가능 시간 </a:t>
            </a:r>
            <a:r>
              <a: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09.21(</a:t>
            </a:r>
            <a:r>
              <a:rPr kumimoji="0" lang="ko-KR" alt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</a:t>
            </a:r>
            <a:r>
              <a: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16:00-17:30</a:t>
            </a:r>
            <a:r>
              <a:rPr kumimoji="0" lang="ko-KR" alt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90" name="Rounded Rectangle 939"/>
          <p:cNvSpPr/>
          <p:nvPr/>
        </p:nvSpPr>
        <p:spPr>
          <a:xfrm>
            <a:off x="9515773" y="5544081"/>
            <a:ext cx="1836000" cy="186606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6350" cap="flat" cmpd="sng">
            <a:solidFill>
              <a:sysClr val="window" lastClr="FFFFFF">
                <a:lumMod val="65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36000" tIns="0" rIns="0" bIns="0" anchor="ctr"/>
          <a:lstStyle/>
          <a:p>
            <a:pPr marL="0" marR="0" lvl="0" indent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다음 가능 시간 </a:t>
            </a:r>
            <a:r>
              <a: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09.29(</a:t>
            </a:r>
            <a:r>
              <a:rPr kumimoji="0" lang="ko-KR" alt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금</a:t>
            </a:r>
            <a:r>
              <a: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종일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258153" y="5842040"/>
            <a:ext cx="388248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576818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mr-IN" altLang="ko-KR" sz="2300" dirty="0" smtClean="0">
                <a:solidFill>
                  <a:prstClr val="black"/>
                </a:solidFill>
                <a:latin typeface="Calibri"/>
                <a:ea typeface="맑은 고딕" panose="020B0503020000020004" pitchFamily="50" charset="-127"/>
              </a:rPr>
              <a:t>…</a:t>
            </a:r>
            <a:endParaRPr kumimoji="0" lang="en-US" sz="23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192" name="Straight Connector 163"/>
          <p:cNvCxnSpPr/>
          <p:nvPr/>
        </p:nvCxnSpPr>
        <p:spPr>
          <a:xfrm>
            <a:off x="10440850" y="5213473"/>
            <a:ext cx="0" cy="330608"/>
          </a:xfrm>
          <a:prstGeom prst="line">
            <a:avLst/>
          </a:prstGeom>
          <a:noFill/>
          <a:ln w="6350" cap="flat" cmpd="sng" algn="ctr">
            <a:solidFill>
              <a:srgbClr val="FF0000"/>
            </a:solidFill>
            <a:prstDash val="dash"/>
            <a:headEnd type="none" w="med" len="med"/>
            <a:tailEnd type="triangle" w="med" len="med"/>
          </a:ln>
          <a:effectLst/>
        </p:spPr>
      </p:cxnSp>
      <p:sp>
        <p:nvSpPr>
          <p:cNvPr id="193" name="Rounded Rectangle 939"/>
          <p:cNvSpPr/>
          <p:nvPr/>
        </p:nvSpPr>
        <p:spPr>
          <a:xfrm>
            <a:off x="9515773" y="5101158"/>
            <a:ext cx="1836000" cy="186606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6350" cap="flat" cmpd="sng">
            <a:solidFill>
              <a:sysClr val="window" lastClr="FFFFFF">
                <a:lumMod val="65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36000" tIns="0" rIns="0" bIns="0" anchor="ctr"/>
          <a:lstStyle/>
          <a:p>
            <a:pPr marL="0" marR="0" lvl="0" indent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다음 가능 시간 </a:t>
            </a:r>
            <a:r>
              <a: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09.22(</a:t>
            </a:r>
            <a:r>
              <a:rPr kumimoji="0" lang="ko-KR" alt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금</a:t>
            </a:r>
            <a:r>
              <a: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9:00-10:00</a:t>
            </a:r>
            <a:r>
              <a:rPr kumimoji="0" lang="ko-KR" alt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194" name="Straight Connector 164"/>
          <p:cNvCxnSpPr/>
          <p:nvPr/>
        </p:nvCxnSpPr>
        <p:spPr>
          <a:xfrm>
            <a:off x="10440850" y="5730687"/>
            <a:ext cx="0" cy="254380"/>
          </a:xfrm>
          <a:prstGeom prst="line">
            <a:avLst/>
          </a:prstGeom>
          <a:noFill/>
          <a:ln w="6350" cap="flat" cmpd="sng" algn="ctr">
            <a:solidFill>
              <a:srgbClr val="FF0000"/>
            </a:solidFill>
            <a:prstDash val="dash"/>
            <a:headEnd type="none" w="med" len="med"/>
            <a:tailEnd type="triangle" w="med" len="med"/>
          </a:ln>
          <a:effectLst/>
        </p:spPr>
      </p:cxnSp>
      <p:sp>
        <p:nvSpPr>
          <p:cNvPr id="195" name="AutoShape 63"/>
          <p:cNvSpPr>
            <a:spLocks/>
          </p:cNvSpPr>
          <p:nvPr/>
        </p:nvSpPr>
        <p:spPr bwMode="auto">
          <a:xfrm>
            <a:off x="10480196" y="5792693"/>
            <a:ext cx="281263" cy="13849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Click</a:t>
            </a:r>
            <a:endParaRPr kumimoji="0" lang="ko-KR" altLang="en-US" sz="9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4" name="타원 153"/>
          <p:cNvSpPr>
            <a:spLocks noChangeAspect="1"/>
          </p:cNvSpPr>
          <p:nvPr/>
        </p:nvSpPr>
        <p:spPr>
          <a:xfrm>
            <a:off x="311255" y="267688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공유자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일정확인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CA6.2.2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2" name="텍스트 상자 31"/>
          <p:cNvSpPr txBox="1"/>
          <p:nvPr/>
        </p:nvSpPr>
        <p:spPr>
          <a:xfrm>
            <a:off x="542457" y="5306346"/>
            <a:ext cx="612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38249" y="4788311"/>
            <a:ext cx="2847975" cy="20278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공유자 일정 확인은 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0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명까지만 확인이 가능합니다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3" name="타원 152"/>
          <p:cNvSpPr>
            <a:spLocks noChangeAspect="1"/>
          </p:cNvSpPr>
          <p:nvPr/>
        </p:nvSpPr>
        <p:spPr>
          <a:xfrm>
            <a:off x="1101830" y="480095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3-1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8004343" y="2858252"/>
            <a:ext cx="0" cy="1911009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5400000">
            <a:off x="7639050" y="2905125"/>
            <a:ext cx="914400" cy="914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rgbClr val="FF0066"/>
                </a:solidFill>
                <a:latin typeface="나눔고딕" panose="020B0600000101010101" charset="-127"/>
                <a:ea typeface="나눔고딕" panose="020B0600000101010101" charset="-127"/>
              </a:rPr>
              <a:t>Scroll area</a:t>
            </a:r>
            <a:endParaRPr lang="ko-KR" altLang="en-US" sz="800" smtClean="0">
              <a:solidFill>
                <a:srgbClr val="FF0066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</a:p>
        </p:txBody>
      </p:sp>
      <p:sp>
        <p:nvSpPr>
          <p:cNvPr id="150" name="Rounded Rectangle 939"/>
          <p:cNvSpPr/>
          <p:nvPr/>
        </p:nvSpPr>
        <p:spPr>
          <a:xfrm>
            <a:off x="6913170" y="1243749"/>
            <a:ext cx="506805" cy="242151"/>
          </a:xfrm>
          <a:prstGeom prst="roundRect">
            <a:avLst>
              <a:gd name="adj" fmla="val 842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타원 181"/>
          <p:cNvSpPr>
            <a:spLocks noChangeAspect="1"/>
          </p:cNvSpPr>
          <p:nvPr/>
        </p:nvSpPr>
        <p:spPr>
          <a:xfrm>
            <a:off x="7340705" y="117193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61101" y="2627002"/>
            <a:ext cx="2730124" cy="116198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600" smtClean="0">
                <a:solidFill>
                  <a:srgbClr val="0000FF"/>
                </a:solidFill>
                <a:latin typeface="+mn-ea"/>
                <a:ea typeface="+mn-ea"/>
              </a:rPr>
              <a:t>①에서 </a:t>
            </a:r>
            <a:r>
              <a:rPr lang="en-US" altLang="ko-KR" sz="600" smtClean="0">
                <a:solidFill>
                  <a:srgbClr val="0000FF"/>
                </a:solidFill>
                <a:latin typeface="+mn-ea"/>
                <a:ea typeface="+mn-ea"/>
              </a:rPr>
              <a:t>‘</a:t>
            </a:r>
            <a:r>
              <a:rPr lang="ko-KR" altLang="en-US" sz="600" smtClean="0">
                <a:solidFill>
                  <a:srgbClr val="0000FF"/>
                </a:solidFill>
                <a:latin typeface="+mn-ea"/>
                <a:ea typeface="+mn-ea"/>
              </a:rPr>
              <a:t>음력</a:t>
            </a:r>
            <a:r>
              <a:rPr lang="en-US" altLang="ko-KR" sz="600" smtClean="0">
                <a:solidFill>
                  <a:srgbClr val="0000FF"/>
                </a:solidFill>
                <a:latin typeface="+mn-ea"/>
                <a:ea typeface="+mn-ea"/>
              </a:rPr>
              <a:t>’</a:t>
            </a:r>
            <a:r>
              <a:rPr lang="ko-KR" altLang="en-US" sz="600" smtClean="0">
                <a:solidFill>
                  <a:srgbClr val="0000FF"/>
                </a:solidFill>
                <a:latin typeface="+mn-ea"/>
                <a:ea typeface="+mn-ea"/>
              </a:rPr>
              <a:t>으로 선택했을 경우 음력날짜로 변환되어 출력</a:t>
            </a:r>
          </a:p>
        </p:txBody>
      </p:sp>
      <p:sp>
        <p:nvSpPr>
          <p:cNvPr id="78" name="모서리가 둥근 직사각형 77"/>
          <p:cNvSpPr/>
          <p:nvPr/>
        </p:nvSpPr>
        <p:spPr>
          <a:xfrm>
            <a:off x="3286125" y="2400300"/>
            <a:ext cx="990600" cy="209550"/>
          </a:xfrm>
          <a:prstGeom prst="roundRect">
            <a:avLst/>
          </a:prstGeom>
          <a:noFill/>
          <a:ln>
            <a:solidFill>
              <a:srgbClr val="0000FF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824" y="6221979"/>
            <a:ext cx="4131066" cy="454872"/>
          </a:xfrm>
          <a:prstGeom prst="rect">
            <a:avLst/>
          </a:prstGeom>
        </p:spPr>
      </p:pic>
      <p:sp>
        <p:nvSpPr>
          <p:cNvPr id="206" name="TextBox 205"/>
          <p:cNvSpPr txBox="1"/>
          <p:nvPr/>
        </p:nvSpPr>
        <p:spPr>
          <a:xfrm>
            <a:off x="1287476" y="1632967"/>
            <a:ext cx="3339623" cy="481029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음력 ㅣ </a:t>
            </a: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2018-01-22 ~ 2018-01-22 </a:t>
            </a: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 charset="0"/>
              </a:rPr>
              <a:t>ㅣ </a:t>
            </a: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11:00 ~ </a:t>
            </a: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오전 </a:t>
            </a:r>
            <a:r>
              <a:rPr kumimoji="1" lang="en-US" altLang="ko-K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11:30</a:t>
            </a: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매일 반복</a:t>
            </a:r>
            <a:endParaRPr kumimoji="1" lang="ko-KR" alt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맑은 고딕" panose="020B0503020000020004" pitchFamily="50" charset="-127"/>
            </a:endParaRPr>
          </a:p>
        </p:txBody>
      </p:sp>
      <p:grpSp>
        <p:nvGrpSpPr>
          <p:cNvPr id="207" name="그룹 206"/>
          <p:cNvGrpSpPr/>
          <p:nvPr/>
        </p:nvGrpSpPr>
        <p:grpSpPr>
          <a:xfrm>
            <a:off x="1888776" y="1896742"/>
            <a:ext cx="567788" cy="162000"/>
            <a:chOff x="2980341" y="3443602"/>
            <a:chExt cx="567788" cy="162000"/>
          </a:xfrm>
        </p:grpSpPr>
        <p:sp>
          <p:nvSpPr>
            <p:cNvPr id="208" name="Rounded Rectangle 861"/>
            <p:cNvSpPr/>
            <p:nvPr/>
          </p:nvSpPr>
          <p:spPr>
            <a:xfrm>
              <a:off x="2980341" y="3443602"/>
              <a:ext cx="271574" cy="162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수정</a:t>
              </a:r>
              <a:endPara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9" name="Rounded Rectangle 861"/>
            <p:cNvSpPr/>
            <p:nvPr/>
          </p:nvSpPr>
          <p:spPr>
            <a:xfrm>
              <a:off x="3276555" y="3443602"/>
              <a:ext cx="271574" cy="162000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삭제</a:t>
              </a:r>
              <a:endParaRPr kumimoji="1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0" name="모서리가 둥근 직사각형 209"/>
          <p:cNvSpPr/>
          <p:nvPr/>
        </p:nvSpPr>
        <p:spPr>
          <a:xfrm>
            <a:off x="1266824" y="1666875"/>
            <a:ext cx="3857625" cy="419100"/>
          </a:xfrm>
          <a:prstGeom prst="roundRect">
            <a:avLst>
              <a:gd name="adj" fmla="val 5303"/>
            </a:avLst>
          </a:prstGeom>
          <a:noFill/>
          <a:ln>
            <a:solidFill>
              <a:srgbClr val="0000FF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145071" y="1761943"/>
            <a:ext cx="1436703" cy="20020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rgbClr val="0000FF"/>
                </a:solidFill>
                <a:latin typeface="+mn-ea"/>
                <a:ea typeface="+mn-ea"/>
              </a:rPr>
              <a:t>반복일정으로 설정했을 경우 </a:t>
            </a:r>
            <a:endParaRPr lang="en-US" altLang="ko-KR" sz="800" smtClean="0">
              <a:solidFill>
                <a:srgbClr val="0000FF"/>
              </a:solidFill>
              <a:latin typeface="+mn-ea"/>
              <a:ea typeface="+mn-ea"/>
            </a:endParaRPr>
          </a:p>
          <a:p>
            <a:r>
              <a:rPr lang="en-US" altLang="ko-KR" sz="800" smtClean="0">
                <a:solidFill>
                  <a:srgbClr val="0000FF"/>
                </a:solidFill>
                <a:latin typeface="+mn-ea"/>
                <a:ea typeface="+mn-ea"/>
              </a:rPr>
              <a:t>‘</a:t>
            </a:r>
            <a:r>
              <a:rPr lang="ko-KR" altLang="en-US" sz="800" smtClean="0">
                <a:solidFill>
                  <a:srgbClr val="0000FF"/>
                </a:solidFill>
                <a:latin typeface="+mn-ea"/>
                <a:ea typeface="+mn-ea"/>
              </a:rPr>
              <a:t>일정 상세</a:t>
            </a:r>
            <a:r>
              <a:rPr lang="en-US" altLang="ko-KR" sz="800" smtClean="0">
                <a:solidFill>
                  <a:srgbClr val="0000FF"/>
                </a:solidFill>
                <a:latin typeface="+mn-ea"/>
                <a:ea typeface="+mn-ea"/>
              </a:rPr>
              <a:t>’</a:t>
            </a:r>
            <a:r>
              <a:rPr lang="ko-KR" altLang="en-US" sz="800" smtClean="0">
                <a:solidFill>
                  <a:srgbClr val="0000FF"/>
                </a:solidFill>
                <a:latin typeface="+mn-ea"/>
                <a:ea typeface="+mn-ea"/>
              </a:rPr>
              <a:t>와 동일하게 출력</a:t>
            </a:r>
          </a:p>
        </p:txBody>
      </p:sp>
    </p:spTree>
    <p:extLst>
      <p:ext uri="{BB962C8B-B14F-4D97-AF65-F5344CB8AC3E}">
        <p14:creationId xmlns:p14="http://schemas.microsoft.com/office/powerpoint/2010/main" val="244232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"/>
          <p:cNvSpPr/>
          <p:nvPr/>
        </p:nvSpPr>
        <p:spPr>
          <a:xfrm>
            <a:off x="401099" y="648506"/>
            <a:ext cx="7487538" cy="533319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8" name="Rectangle 212"/>
          <p:cNvSpPr/>
          <p:nvPr/>
        </p:nvSpPr>
        <p:spPr>
          <a:xfrm>
            <a:off x="414337" y="674193"/>
            <a:ext cx="7474300" cy="29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9" name="텍스트 상자 31"/>
          <p:cNvSpPr txBox="1"/>
          <p:nvPr/>
        </p:nvSpPr>
        <p:spPr>
          <a:xfrm>
            <a:off x="518010" y="770797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[R] 7"/>
          <p:cNvCxnSpPr/>
          <p:nvPr/>
        </p:nvCxnSpPr>
        <p:spPr>
          <a:xfrm>
            <a:off x="402456" y="1318727"/>
            <a:ext cx="748618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14" name="텍스트 상자 31"/>
          <p:cNvSpPr txBox="1"/>
          <p:nvPr/>
        </p:nvSpPr>
        <p:spPr>
          <a:xfrm>
            <a:off x="583051" y="152759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제목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15" name="직선 연결선[R] 7"/>
          <p:cNvCxnSpPr/>
          <p:nvPr/>
        </p:nvCxnSpPr>
        <p:spPr>
          <a:xfrm>
            <a:off x="1122876" y="1727380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16" name="텍스트 상자 31"/>
          <p:cNvSpPr txBox="1"/>
          <p:nvPr/>
        </p:nvSpPr>
        <p:spPr>
          <a:xfrm>
            <a:off x="583051" y="1950437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달력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7" name="Group 15"/>
          <p:cNvGrpSpPr/>
          <p:nvPr/>
        </p:nvGrpSpPr>
        <p:grpSpPr>
          <a:xfrm>
            <a:off x="3160479" y="1134392"/>
            <a:ext cx="1982016" cy="176117"/>
            <a:chOff x="4223944" y="1715997"/>
            <a:chExt cx="1982016" cy="176117"/>
          </a:xfrm>
        </p:grpSpPr>
        <p:sp>
          <p:nvSpPr>
            <p:cNvPr id="18" name="텍스트 상자 31"/>
            <p:cNvSpPr txBox="1"/>
            <p:nvPr/>
          </p:nvSpPr>
          <p:spPr>
            <a:xfrm>
              <a:off x="4935567" y="1715997"/>
              <a:ext cx="127039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공유자 ∙ 설비 일정확인</a:t>
              </a:r>
              <a:endParaRPr kumimoji="1" lang="ko-KR" altLang="en-US" sz="9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9" name="Group 13"/>
            <p:cNvGrpSpPr/>
            <p:nvPr/>
          </p:nvGrpSpPr>
          <p:grpSpPr>
            <a:xfrm>
              <a:off x="4223944" y="1715997"/>
              <a:ext cx="612000" cy="176117"/>
              <a:chOff x="4223944" y="1715997"/>
              <a:chExt cx="612000" cy="176117"/>
            </a:xfrm>
          </p:grpSpPr>
          <p:sp>
            <p:nvSpPr>
              <p:cNvPr id="20" name="텍스트 상자 31"/>
              <p:cNvSpPr txBox="1"/>
              <p:nvPr/>
            </p:nvSpPr>
            <p:spPr>
              <a:xfrm>
                <a:off x="4223944" y="1715997"/>
                <a:ext cx="6120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일정 상세</a:t>
                </a:r>
                <a:endPara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21" name="직선 연결선[R] 7"/>
              <p:cNvCxnSpPr/>
              <p:nvPr/>
            </p:nvCxnSpPr>
            <p:spPr>
              <a:xfrm>
                <a:off x="4277944" y="1892114"/>
                <a:ext cx="504000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miter lim="400000"/>
              </a:ln>
            </p:spPr>
          </p:cxnSp>
        </p:grpSp>
      </p:grpSp>
      <p:sp>
        <p:nvSpPr>
          <p:cNvPr id="23" name="텍스트 상자 31"/>
          <p:cNvSpPr txBox="1"/>
          <p:nvPr/>
        </p:nvSpPr>
        <p:spPr>
          <a:xfrm>
            <a:off x="583051" y="3068368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5" name="텍스트 상자 31"/>
          <p:cNvSpPr txBox="1"/>
          <p:nvPr/>
        </p:nvSpPr>
        <p:spPr>
          <a:xfrm>
            <a:off x="583051" y="4603216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알림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" name="텍스트 상자 31"/>
          <p:cNvSpPr txBox="1"/>
          <p:nvPr/>
        </p:nvSpPr>
        <p:spPr>
          <a:xfrm>
            <a:off x="1342511" y="1551862"/>
            <a:ext cx="1188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8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일정 제목을 선택하세요</a:t>
            </a:r>
            <a:endParaRPr kumimoji="1" lang="ko-KR" altLang="en-US" sz="8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9" name="Group 23"/>
          <p:cNvGrpSpPr/>
          <p:nvPr/>
        </p:nvGrpSpPr>
        <p:grpSpPr>
          <a:xfrm>
            <a:off x="2886490" y="1880113"/>
            <a:ext cx="1474252" cy="214533"/>
            <a:chOff x="3600083" y="2455609"/>
            <a:chExt cx="1635241" cy="237960"/>
          </a:xfrm>
        </p:grpSpPr>
        <p:sp>
          <p:nvSpPr>
            <p:cNvPr id="30" name="Rounded Rectangle 224"/>
            <p:cNvSpPr/>
            <p:nvPr/>
          </p:nvSpPr>
          <p:spPr>
            <a:xfrm>
              <a:off x="3600083" y="2455609"/>
              <a:ext cx="1635241" cy="237960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r>
                <a:rPr lang="en-US" altLang="ko-KR" sz="800" smtClean="0">
                  <a:latin typeface="+mn-ea"/>
                  <a:ea typeface="+mn-ea"/>
                </a:rPr>
                <a:t>A </a:t>
              </a:r>
              <a:r>
                <a:rPr lang="ko-KR" altLang="en-US" sz="800">
                  <a:latin typeface="+mn-ea"/>
                  <a:ea typeface="+mn-ea"/>
                </a:rPr>
                <a:t>통신사 서비스 </a:t>
              </a:r>
              <a:r>
                <a:rPr lang="en-US" altLang="ko-KR" sz="800">
                  <a:latin typeface="+mn-ea"/>
                  <a:ea typeface="+mn-ea"/>
                </a:rPr>
                <a:t>TF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  <p:sp>
          <p:nvSpPr>
            <p:cNvPr id="31" name="Freeform 11"/>
            <p:cNvSpPr>
              <a:spLocks noChangeAspect="1" noChangeArrowheads="1"/>
            </p:cNvSpPr>
            <p:nvPr/>
          </p:nvSpPr>
          <p:spPr bwMode="auto">
            <a:xfrm>
              <a:off x="5020261" y="2533087"/>
              <a:ext cx="90001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cxnSp>
        <p:nvCxnSpPr>
          <p:cNvPr id="36" name="직선 연결선[R] 7"/>
          <p:cNvCxnSpPr/>
          <p:nvPr/>
        </p:nvCxnSpPr>
        <p:spPr>
          <a:xfrm>
            <a:off x="1122876" y="2184066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58" name="텍스트 상자 31"/>
          <p:cNvSpPr txBox="1"/>
          <p:nvPr/>
        </p:nvSpPr>
        <p:spPr>
          <a:xfrm>
            <a:off x="1122877" y="4599765"/>
            <a:ext cx="68400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en-US" altLang="ko-KR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+</a:t>
            </a:r>
            <a:r>
              <a:rPr kumimoji="1" lang="ko-KR" altLang="en-US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알림 추가</a:t>
            </a:r>
            <a:endParaRPr kumimoji="1" lang="ko-KR" altLang="en-US" sz="800" u="sng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9" name="텍스트 상자 31"/>
          <p:cNvSpPr txBox="1"/>
          <p:nvPr/>
        </p:nvSpPr>
        <p:spPr>
          <a:xfrm>
            <a:off x="583051" y="2363632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일시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0" name="텍스트 상자 31"/>
          <p:cNvSpPr txBox="1"/>
          <p:nvPr/>
        </p:nvSpPr>
        <p:spPr>
          <a:xfrm>
            <a:off x="583051" y="4200527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72" name="Group 96"/>
          <p:cNvGrpSpPr/>
          <p:nvPr/>
        </p:nvGrpSpPr>
        <p:grpSpPr>
          <a:xfrm>
            <a:off x="1817387" y="4133065"/>
            <a:ext cx="756000" cy="214533"/>
            <a:chOff x="2140462" y="3941059"/>
            <a:chExt cx="756000" cy="214533"/>
          </a:xfrm>
        </p:grpSpPr>
        <p:sp>
          <p:nvSpPr>
            <p:cNvPr id="73" name="Rounded Rectangle 666"/>
            <p:cNvSpPr/>
            <p:nvPr/>
          </p:nvSpPr>
          <p:spPr>
            <a:xfrm>
              <a:off x="2140462" y="3941059"/>
              <a:ext cx="756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</a:t>
              </a: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층 </a:t>
              </a: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Bahama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4" name="Freeform 11"/>
            <p:cNvSpPr>
              <a:spLocks noChangeAspect="1" noChangeArrowheads="1"/>
            </p:cNvSpPr>
            <p:nvPr/>
          </p:nvSpPr>
          <p:spPr bwMode="auto">
            <a:xfrm>
              <a:off x="2758703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75" name="Group 95"/>
          <p:cNvGrpSpPr/>
          <p:nvPr/>
        </p:nvGrpSpPr>
        <p:grpSpPr>
          <a:xfrm>
            <a:off x="2630345" y="4133065"/>
            <a:ext cx="756000" cy="214533"/>
            <a:chOff x="2956893" y="3941059"/>
            <a:chExt cx="756000" cy="214533"/>
          </a:xfrm>
        </p:grpSpPr>
        <p:sp>
          <p:nvSpPr>
            <p:cNvPr id="76" name="Rounded Rectangle 681"/>
            <p:cNvSpPr/>
            <p:nvPr/>
          </p:nvSpPr>
          <p:spPr>
            <a:xfrm>
              <a:off x="2956893" y="3941059"/>
              <a:ext cx="756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빔프로젝터</a:t>
              </a: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7" name="Freeform 11"/>
            <p:cNvSpPr>
              <a:spLocks noChangeAspect="1" noChangeArrowheads="1"/>
            </p:cNvSpPr>
            <p:nvPr/>
          </p:nvSpPr>
          <p:spPr bwMode="auto">
            <a:xfrm>
              <a:off x="3575134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78" name="Group 94"/>
          <p:cNvGrpSpPr/>
          <p:nvPr/>
        </p:nvGrpSpPr>
        <p:grpSpPr>
          <a:xfrm>
            <a:off x="3443304" y="4133065"/>
            <a:ext cx="792000" cy="214533"/>
            <a:chOff x="3766868" y="3941059"/>
            <a:chExt cx="792000" cy="214533"/>
          </a:xfrm>
        </p:grpSpPr>
        <p:sp>
          <p:nvSpPr>
            <p:cNvPr id="79" name="Rounded Rectangle 683"/>
            <p:cNvSpPr/>
            <p:nvPr/>
          </p:nvSpPr>
          <p:spPr>
            <a:xfrm>
              <a:off x="3766868" y="3941059"/>
              <a:ext cx="792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ASUS</a:t>
              </a: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노트북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0" name="Freeform 11"/>
            <p:cNvSpPr>
              <a:spLocks noChangeAspect="1" noChangeArrowheads="1"/>
            </p:cNvSpPr>
            <p:nvPr/>
          </p:nvSpPr>
          <p:spPr bwMode="auto">
            <a:xfrm>
              <a:off x="4408259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110" name="Group 122"/>
          <p:cNvGrpSpPr/>
          <p:nvPr/>
        </p:nvGrpSpPr>
        <p:grpSpPr>
          <a:xfrm>
            <a:off x="1122876" y="3000906"/>
            <a:ext cx="592646" cy="228857"/>
            <a:chOff x="1122876" y="3618561"/>
            <a:chExt cx="504000" cy="228857"/>
          </a:xfrm>
        </p:grpSpPr>
        <p:sp>
          <p:nvSpPr>
            <p:cNvPr id="111" name="Rounded Rectangle 939"/>
            <p:cNvSpPr/>
            <p:nvPr/>
          </p:nvSpPr>
          <p:spPr>
            <a:xfrm>
              <a:off x="1122876" y="3618561"/>
              <a:ext cx="504000" cy="228857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algn="ctr"/>
              <a:r>
                <a:rPr kumimoji="1"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추가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112" name="Picture 157" descr="man-user (1).png"/>
            <p:cNvPicPr>
              <a:picLocks noChangeAspect="1"/>
            </p:cNvPicPr>
            <p:nvPr/>
          </p:nvPicPr>
          <p:blipFill>
            <a:blip r:embed="rId4" cstate="print">
              <a:alphaModFix amt="3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956" y="3684586"/>
              <a:ext cx="109070" cy="109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589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113" name="Rounded Rectangle 939"/>
          <p:cNvSpPr/>
          <p:nvPr/>
        </p:nvSpPr>
        <p:spPr>
          <a:xfrm>
            <a:off x="1122876" y="4136477"/>
            <a:ext cx="612000" cy="228857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r>
              <a:rPr kumimoji="1"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추가</a:t>
            </a:r>
            <a:endParaRPr kumimoji="1" lang="ko-KR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6" name="Triangle 942"/>
          <p:cNvSpPr>
            <a:spLocks noChangeAspect="1"/>
          </p:cNvSpPr>
          <p:nvPr/>
        </p:nvSpPr>
        <p:spPr>
          <a:xfrm flipV="1">
            <a:off x="1622735" y="4224629"/>
            <a:ext cx="91689" cy="5255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33">
              <a:solidFill>
                <a:schemeClr val="tx1"/>
              </a:solidFill>
              <a:latin typeface="+mn-ea"/>
              <a:ea typeface="+mn-ea"/>
              <a:cs typeface="ＭＳ Ｐゴシック" charset="0"/>
            </a:endParaRPr>
          </a:p>
        </p:txBody>
      </p:sp>
      <p:sp>
        <p:nvSpPr>
          <p:cNvPr id="131" name="Rounded Rectangle 939"/>
          <p:cNvSpPr/>
          <p:nvPr/>
        </p:nvSpPr>
        <p:spPr>
          <a:xfrm>
            <a:off x="5186088" y="2285070"/>
            <a:ext cx="648000" cy="290149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6350" cap="flat" cmpd="sng">
            <a:solidFill>
              <a:sysClr val="window" lastClr="FFFFFF">
                <a:lumMod val="65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반복 설정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2" name="Group 67"/>
          <p:cNvGrpSpPr/>
          <p:nvPr/>
        </p:nvGrpSpPr>
        <p:grpSpPr>
          <a:xfrm>
            <a:off x="1593510" y="2285070"/>
            <a:ext cx="3555600" cy="290149"/>
            <a:chOff x="1135173" y="2884869"/>
            <a:chExt cx="3555600" cy="290149"/>
          </a:xfrm>
        </p:grpSpPr>
        <p:sp>
          <p:nvSpPr>
            <p:cNvPr id="133" name="Rounded Rectangle 939"/>
            <p:cNvSpPr/>
            <p:nvPr/>
          </p:nvSpPr>
          <p:spPr>
            <a:xfrm>
              <a:off x="11351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2017-09-20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4" name="Rounded Rectangle 939"/>
            <p:cNvSpPr/>
            <p:nvPr/>
          </p:nvSpPr>
          <p:spPr>
            <a:xfrm>
              <a:off x="19352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오전 </a:t>
              </a: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11:00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35" name="직선 연결선[R] 7"/>
            <p:cNvCxnSpPr/>
            <p:nvPr/>
          </p:nvCxnSpPr>
          <p:spPr>
            <a:xfrm>
              <a:off x="2858973" y="3029943"/>
              <a:ext cx="108000" cy="0"/>
            </a:xfrm>
            <a:prstGeom prst="line">
              <a:avLst/>
            </a:prstGeom>
            <a:ln w="12700">
              <a:solidFill>
                <a:sysClr val="window" lastClr="FFFFFF">
                  <a:lumMod val="50000"/>
                </a:sysClr>
              </a:solidFill>
              <a:miter lim="400000"/>
            </a:ln>
          </p:spPr>
        </p:cxnSp>
        <p:sp>
          <p:nvSpPr>
            <p:cNvPr id="136" name="Triangle 942"/>
            <p:cNvSpPr>
              <a:spLocks noChangeAspect="1"/>
            </p:cNvSpPr>
            <p:nvPr/>
          </p:nvSpPr>
          <p:spPr>
            <a:xfrm flipV="1">
              <a:off x="2620251" y="2998992"/>
              <a:ext cx="108000" cy="61902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37" name="Rounded Rectangle 939"/>
            <p:cNvSpPr/>
            <p:nvPr/>
          </p:nvSpPr>
          <p:spPr>
            <a:xfrm>
              <a:off x="30266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2017-09-20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8" name="Rounded Rectangle 939"/>
            <p:cNvSpPr/>
            <p:nvPr/>
          </p:nvSpPr>
          <p:spPr>
            <a:xfrm>
              <a:off x="38267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오후 </a:t>
              </a: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03:00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9" name="Triangle 942"/>
            <p:cNvSpPr>
              <a:spLocks noChangeAspect="1"/>
            </p:cNvSpPr>
            <p:nvPr/>
          </p:nvSpPr>
          <p:spPr>
            <a:xfrm flipV="1">
              <a:off x="4511751" y="2998992"/>
              <a:ext cx="108000" cy="61902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40" name="Group 121"/>
          <p:cNvGrpSpPr/>
          <p:nvPr/>
        </p:nvGrpSpPr>
        <p:grpSpPr>
          <a:xfrm>
            <a:off x="5897179" y="2336388"/>
            <a:ext cx="365833" cy="187731"/>
            <a:chOff x="10514817" y="2798956"/>
            <a:chExt cx="365833" cy="187731"/>
          </a:xfrm>
        </p:grpSpPr>
        <p:sp>
          <p:nvSpPr>
            <p:cNvPr id="141" name="Rounded Rectangle 722"/>
            <p:cNvSpPr/>
            <p:nvPr/>
          </p:nvSpPr>
          <p:spPr>
            <a:xfrm>
              <a:off x="10664650" y="2798956"/>
              <a:ext cx="21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종일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42" name="Rounded Rectangle 723"/>
            <p:cNvSpPr/>
            <p:nvPr/>
          </p:nvSpPr>
          <p:spPr>
            <a:xfrm>
              <a:off x="10514817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143" name="Group 186"/>
          <p:cNvGrpSpPr/>
          <p:nvPr/>
        </p:nvGrpSpPr>
        <p:grpSpPr>
          <a:xfrm>
            <a:off x="6271324" y="2336388"/>
            <a:ext cx="473833" cy="187731"/>
            <a:chOff x="10514817" y="2798956"/>
            <a:chExt cx="473833" cy="187731"/>
          </a:xfrm>
        </p:grpSpPr>
        <p:sp>
          <p:nvSpPr>
            <p:cNvPr id="144" name="Rounded Rectangle 187"/>
            <p:cNvSpPr/>
            <p:nvPr/>
          </p:nvSpPr>
          <p:spPr>
            <a:xfrm>
              <a:off x="10664650" y="2798956"/>
              <a:ext cx="324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기념일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45" name="Rounded Rectangle 188"/>
            <p:cNvSpPr/>
            <p:nvPr/>
          </p:nvSpPr>
          <p:spPr>
            <a:xfrm>
              <a:off x="10514817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146" name="Group 1"/>
          <p:cNvGrpSpPr/>
          <p:nvPr/>
        </p:nvGrpSpPr>
        <p:grpSpPr>
          <a:xfrm>
            <a:off x="1122876" y="2316726"/>
            <a:ext cx="432000" cy="228857"/>
            <a:chOff x="1122876" y="2916525"/>
            <a:chExt cx="432000" cy="228857"/>
          </a:xfrm>
        </p:grpSpPr>
        <p:sp>
          <p:nvSpPr>
            <p:cNvPr id="147" name="Rounded Rectangle 939"/>
            <p:cNvSpPr/>
            <p:nvPr/>
          </p:nvSpPr>
          <p:spPr>
            <a:xfrm>
              <a:off x="1122876" y="2916525"/>
              <a:ext cx="432000" cy="228857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양력</a:t>
              </a:r>
            </a:p>
          </p:txBody>
        </p:sp>
        <p:sp>
          <p:nvSpPr>
            <p:cNvPr id="148" name="Triangle 942"/>
            <p:cNvSpPr>
              <a:spLocks noChangeAspect="1"/>
            </p:cNvSpPr>
            <p:nvPr/>
          </p:nvSpPr>
          <p:spPr>
            <a:xfrm flipV="1">
              <a:off x="1419199" y="3004677"/>
              <a:ext cx="91689" cy="52553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1817387" y="3028950"/>
            <a:ext cx="3987681" cy="148389"/>
            <a:chOff x="1817387" y="3543300"/>
            <a:chExt cx="3987681" cy="148389"/>
          </a:xfrm>
        </p:grpSpPr>
        <p:sp>
          <p:nvSpPr>
            <p:cNvPr id="44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5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47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8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0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1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3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4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6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7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62" name="그룹 61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114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15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195" name="그룹 194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196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00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01" name="그룹 200"/>
          <p:cNvGrpSpPr/>
          <p:nvPr/>
        </p:nvGrpSpPr>
        <p:grpSpPr>
          <a:xfrm>
            <a:off x="1817387" y="3305175"/>
            <a:ext cx="3987681" cy="148389"/>
            <a:chOff x="1817387" y="3543300"/>
            <a:chExt cx="3987681" cy="148389"/>
          </a:xfrm>
        </p:grpSpPr>
        <p:sp>
          <p:nvSpPr>
            <p:cNvPr id="202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3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04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5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06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7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08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9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10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11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212" name="그룹 211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216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17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213" name="그룹 212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214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15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18" name="그룹 217"/>
          <p:cNvGrpSpPr/>
          <p:nvPr/>
        </p:nvGrpSpPr>
        <p:grpSpPr>
          <a:xfrm>
            <a:off x="1817387" y="3562350"/>
            <a:ext cx="3987681" cy="148389"/>
            <a:chOff x="1817387" y="3543300"/>
            <a:chExt cx="3987681" cy="148389"/>
          </a:xfrm>
        </p:grpSpPr>
        <p:sp>
          <p:nvSpPr>
            <p:cNvPr id="219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0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1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2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3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4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5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6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7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8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229" name="그룹 228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233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34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230" name="그룹 229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231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32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197" name="TextBox 196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#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일정상세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등록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CA6.2.1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534108" y="2640746"/>
            <a:ext cx="1085850" cy="11055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양력 </a:t>
            </a:r>
            <a:r>
              <a:rPr lang="en-US" altLang="ko-KR" sz="8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: 2017-12-10</a:t>
            </a:r>
            <a:endParaRPr lang="ko-KR" altLang="en-US" sz="800" smtClean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751372" y="3000906"/>
            <a:ext cx="4763727" cy="9144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50" name="그룹 149"/>
          <p:cNvGrpSpPr/>
          <p:nvPr/>
        </p:nvGrpSpPr>
        <p:grpSpPr>
          <a:xfrm>
            <a:off x="6372225" y="3099914"/>
            <a:ext cx="47625" cy="677223"/>
            <a:chOff x="6858000" y="2907897"/>
            <a:chExt cx="47625" cy="508807"/>
          </a:xfrm>
        </p:grpSpPr>
        <p:sp>
          <p:nvSpPr>
            <p:cNvPr id="151" name="모서리가 둥근 직사각형 150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52" name="모서리가 둥근 직사각형 151"/>
            <p:cNvSpPr/>
            <p:nvPr/>
          </p:nvSpPr>
          <p:spPr>
            <a:xfrm>
              <a:off x="6858000" y="2997258"/>
              <a:ext cx="47625" cy="21578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55" name="Rounded Rectangle 939"/>
          <p:cNvSpPr/>
          <p:nvPr/>
        </p:nvSpPr>
        <p:spPr>
          <a:xfrm>
            <a:off x="6581114" y="2987116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공유자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6" name="Rounded Rectangle 939"/>
          <p:cNvSpPr/>
          <p:nvPr/>
        </p:nvSpPr>
        <p:spPr>
          <a:xfrm>
            <a:off x="6581114" y="4149826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설비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57" name="직선 연결선[R] 7"/>
          <p:cNvCxnSpPr/>
          <p:nvPr/>
        </p:nvCxnSpPr>
        <p:spPr>
          <a:xfrm>
            <a:off x="1122876" y="4451530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154" name="Rounded Rectangle 939"/>
          <p:cNvSpPr/>
          <p:nvPr/>
        </p:nvSpPr>
        <p:spPr>
          <a:xfrm>
            <a:off x="1123436" y="1861884"/>
            <a:ext cx="695078" cy="273644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r>
              <a:rPr lang="ko-KR" altLang="en-US" sz="7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스퀘어 달력 ▼</a:t>
            </a:r>
            <a:endParaRPr lang="ko-KR" altLang="en-US" sz="7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58" name="Group 24"/>
          <p:cNvGrpSpPr/>
          <p:nvPr/>
        </p:nvGrpSpPr>
        <p:grpSpPr>
          <a:xfrm>
            <a:off x="1894840" y="1861883"/>
            <a:ext cx="900000" cy="273645"/>
            <a:chOff x="1135174" y="2435818"/>
            <a:chExt cx="900000" cy="273645"/>
          </a:xfrm>
        </p:grpSpPr>
        <p:sp>
          <p:nvSpPr>
            <p:cNvPr id="159" name="Rounded Rectangle 939"/>
            <p:cNvSpPr/>
            <p:nvPr/>
          </p:nvSpPr>
          <p:spPr>
            <a:xfrm>
              <a:off x="1135174" y="2435818"/>
              <a:ext cx="900000" cy="273645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latin typeface="+mn-ea"/>
                <a:ea typeface="+mn-ea"/>
              </a:endParaRPr>
            </a:p>
          </p:txBody>
        </p:sp>
        <p:sp>
          <p:nvSpPr>
            <p:cNvPr id="160" name="텍스트 상자 31"/>
            <p:cNvSpPr txBox="1"/>
            <p:nvPr/>
          </p:nvSpPr>
          <p:spPr>
            <a:xfrm>
              <a:off x="1201376" y="2494592"/>
              <a:ext cx="612000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80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달력 선택 </a:t>
              </a:r>
              <a:r>
                <a:rPr lang="ko-KR" altLang="en-US" sz="80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▼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72" name="Cutout"/>
          <p:cNvGrpSpPr/>
          <p:nvPr/>
        </p:nvGrpSpPr>
        <p:grpSpPr>
          <a:xfrm rot="16200000">
            <a:off x="3935808" y="1154508"/>
            <a:ext cx="310358" cy="789622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73" name="Fill"/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4" name="Border"/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1" name="직사각형"/>
          <p:cNvSpPr/>
          <p:nvPr/>
        </p:nvSpPr>
        <p:spPr>
          <a:xfrm>
            <a:off x="3868199" y="1086656"/>
            <a:ext cx="475201" cy="237319"/>
          </a:xfrm>
          <a:prstGeom prst="rect">
            <a:avLst/>
          </a:prstGeom>
          <a:solidFill>
            <a:schemeClr val="tx1">
              <a:lumMod val="95000"/>
              <a:lumOff val="5000"/>
              <a:alpha val="70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62" name="직사각형"/>
          <p:cNvSpPr/>
          <p:nvPr/>
        </p:nvSpPr>
        <p:spPr>
          <a:xfrm>
            <a:off x="6249449" y="2305856"/>
            <a:ext cx="475201" cy="237319"/>
          </a:xfrm>
          <a:prstGeom prst="rect">
            <a:avLst/>
          </a:prstGeom>
          <a:solidFill>
            <a:schemeClr val="tx1">
              <a:lumMod val="95000"/>
              <a:lumOff val="5000"/>
              <a:alpha val="70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63" name="직사각형"/>
          <p:cNvSpPr/>
          <p:nvPr/>
        </p:nvSpPr>
        <p:spPr>
          <a:xfrm>
            <a:off x="515399" y="2953556"/>
            <a:ext cx="6895051" cy="1037419"/>
          </a:xfrm>
          <a:prstGeom prst="rect">
            <a:avLst/>
          </a:prstGeom>
          <a:solidFill>
            <a:schemeClr val="tx1">
              <a:lumMod val="95000"/>
              <a:lumOff val="5000"/>
              <a:alpha val="70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/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64" name="타원 163"/>
          <p:cNvSpPr>
            <a:spLocks noChangeAspect="1"/>
          </p:cNvSpPr>
          <p:nvPr/>
        </p:nvSpPr>
        <p:spPr>
          <a:xfrm>
            <a:off x="3786272" y="1000358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6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43727"/>
              </p:ext>
            </p:extLst>
          </p:nvPr>
        </p:nvGraphicFramePr>
        <p:xfrm>
          <a:off x="9286875" y="793264"/>
          <a:ext cx="2838450" cy="563576"/>
        </p:xfrm>
        <a:graphic>
          <a:graphicData uri="http://schemas.openxmlformats.org/drawingml/2006/table">
            <a:tbl>
              <a:tblPr/>
              <a:tblGrid>
                <a:gridCol w="211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달력 항목에서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‘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스퀘어 달력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’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을 선택했을 경우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히든되는 정보들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99501"/>
                  </a:ext>
                </a:extLst>
              </a:tr>
            </a:tbl>
          </a:graphicData>
        </a:graphic>
      </p:graphicFrame>
      <p:sp>
        <p:nvSpPr>
          <p:cNvPr id="167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6808687" y="5555226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9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6137175" y="5555226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>
            <a:solidFill>
              <a:schemeClr val="tx1">
                <a:lumMod val="95000"/>
                <a:lumOff val="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lang="en-US" sz="80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6" name="그룹 175"/>
          <p:cNvGrpSpPr/>
          <p:nvPr/>
        </p:nvGrpSpPr>
        <p:grpSpPr>
          <a:xfrm>
            <a:off x="400864" y="407339"/>
            <a:ext cx="7485559" cy="237744"/>
            <a:chOff x="191314" y="416864"/>
            <a:chExt cx="7485559" cy="237744"/>
          </a:xfrm>
        </p:grpSpPr>
        <p:sp>
          <p:nvSpPr>
            <p:cNvPr id="177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1"/>
              </p:custDataLst>
            </p:nvPr>
          </p:nvSpPr>
          <p:spPr>
            <a:xfrm>
              <a:off x="191314" y="416864"/>
              <a:ext cx="7485559" cy="2377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  <a:effectLst/>
          </p:spPr>
          <p:txBody>
            <a:bodyPr lIns="50800" tIns="50800" rIns="50800" bIns="50800" anchor="ctr"/>
            <a:lstStyle/>
            <a:p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Window</a:t>
              </a:r>
            </a:p>
          </p:txBody>
        </p:sp>
        <p:sp>
          <p:nvSpPr>
            <p:cNvPr id="178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7491336" y="489601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9267824" y="1414208"/>
            <a:ext cx="3038475" cy="21456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스퀘어 달력 선택시의 화면은 디자인 작업없이 개발 진행시 제어</a:t>
            </a:r>
          </a:p>
        </p:txBody>
      </p:sp>
      <p:graphicFrame>
        <p:nvGraphicFramePr>
          <p:cNvPr id="17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250726"/>
              </p:ext>
            </p:extLst>
          </p:nvPr>
        </p:nvGraphicFramePr>
        <p:xfrm>
          <a:off x="9290533" y="6422397"/>
          <a:ext cx="2834411" cy="247736"/>
        </p:xfrm>
        <a:graphic>
          <a:graphicData uri="http://schemas.openxmlformats.org/drawingml/2006/table">
            <a:tbl>
              <a:tblPr/>
              <a:tblGrid>
                <a:gridCol w="283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1/23_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화면 추가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8000" marR="138580" marT="1800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47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"/>
          <p:cNvSpPr/>
          <p:nvPr/>
        </p:nvSpPr>
        <p:spPr>
          <a:xfrm>
            <a:off x="189335" y="416864"/>
            <a:ext cx="7487538" cy="4869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3" name="Rectangle 212"/>
          <p:cNvSpPr/>
          <p:nvPr/>
        </p:nvSpPr>
        <p:spPr>
          <a:xfrm>
            <a:off x="202573" y="677714"/>
            <a:ext cx="7468227" cy="29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일정 등록</a:t>
            </a:r>
            <a:endParaRPr lang="en-US" sz="800" b="1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cxnSp>
        <p:nvCxnSpPr>
          <p:cNvPr id="25" name="직선 연결선[R] 7"/>
          <p:cNvCxnSpPr/>
          <p:nvPr/>
        </p:nvCxnSpPr>
        <p:spPr>
          <a:xfrm>
            <a:off x="190692" y="1332080"/>
            <a:ext cx="748618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27" name="텍스트 상자 31"/>
          <p:cNvSpPr txBox="1"/>
          <p:nvPr/>
        </p:nvSpPr>
        <p:spPr>
          <a:xfrm>
            <a:off x="371287" y="1540946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일시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30" name="Group 15"/>
          <p:cNvGrpSpPr/>
          <p:nvPr/>
        </p:nvGrpSpPr>
        <p:grpSpPr>
          <a:xfrm>
            <a:off x="2948715" y="1147745"/>
            <a:ext cx="1982016" cy="184222"/>
            <a:chOff x="4223944" y="1715997"/>
            <a:chExt cx="1982016" cy="184222"/>
          </a:xfrm>
        </p:grpSpPr>
        <p:sp>
          <p:nvSpPr>
            <p:cNvPr id="126" name="텍스트 상자 31"/>
            <p:cNvSpPr txBox="1"/>
            <p:nvPr/>
          </p:nvSpPr>
          <p:spPr>
            <a:xfrm>
              <a:off x="4935567" y="1715997"/>
              <a:ext cx="127039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b="1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설비 </a:t>
              </a:r>
              <a:r>
                <a:rPr kumimoji="1" lang="ko-KR" altLang="en-US" sz="9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일정확인</a:t>
              </a:r>
              <a:endParaRPr kumimoji="1" lang="ko-KR" altLang="en-US" sz="9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27" name="Group 13"/>
            <p:cNvGrpSpPr/>
            <p:nvPr/>
          </p:nvGrpSpPr>
          <p:grpSpPr>
            <a:xfrm>
              <a:off x="4223944" y="1715997"/>
              <a:ext cx="1779464" cy="184222"/>
              <a:chOff x="4223944" y="1715997"/>
              <a:chExt cx="1779464" cy="184222"/>
            </a:xfrm>
          </p:grpSpPr>
          <p:sp>
            <p:nvSpPr>
              <p:cNvPr id="128" name="텍스트 상자 31"/>
              <p:cNvSpPr txBox="1"/>
              <p:nvPr/>
            </p:nvSpPr>
            <p:spPr>
              <a:xfrm>
                <a:off x="4223944" y="1715997"/>
                <a:ext cx="6120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ko-KR" altLang="en-US" sz="900" dirty="0">
                    <a:solidFill>
                      <a:schemeClr val="bg1">
                        <a:lumMod val="65000"/>
                      </a:schemeClr>
                    </a:solidFill>
                    <a:latin typeface="+mn-ea"/>
                    <a:ea typeface="+mn-ea"/>
                  </a:rPr>
                  <a:t>일정 상세</a:t>
                </a:r>
              </a:p>
            </p:txBody>
          </p:sp>
          <p:cxnSp>
            <p:nvCxnSpPr>
              <p:cNvPr id="129" name="직선 연결선[R] 7"/>
              <p:cNvCxnSpPr/>
              <p:nvPr/>
            </p:nvCxnSpPr>
            <p:spPr>
              <a:xfrm>
                <a:off x="5191711" y="1900219"/>
                <a:ext cx="811697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miter lim="400000"/>
              </a:ln>
            </p:spPr>
          </p:cxnSp>
        </p:grpSp>
      </p:grpSp>
      <p:sp>
        <p:nvSpPr>
          <p:cNvPr id="120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6808687" y="4764651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6137175" y="4764651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>
            <a:solidFill>
              <a:schemeClr val="tx1">
                <a:lumMod val="95000"/>
                <a:lumOff val="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lang="en-US" sz="80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3" name="직선 연결선[R] 7"/>
          <p:cNvCxnSpPr/>
          <p:nvPr/>
        </p:nvCxnSpPr>
        <p:spPr>
          <a:xfrm>
            <a:off x="190692" y="4637255"/>
            <a:ext cx="7486181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  <a:miter lim="400000"/>
          </a:ln>
        </p:spPr>
      </p:cxnSp>
      <p:sp>
        <p:nvSpPr>
          <p:cNvPr id="130" name="TextBox 129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CA6.2.2</a:t>
            </a:r>
            <a:endParaRPr lang="ko-KR" altLang="en-US" sz="80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91314" y="416864"/>
            <a:ext cx="7485559" cy="237744"/>
            <a:chOff x="191314" y="416864"/>
            <a:chExt cx="7485559" cy="237744"/>
          </a:xfrm>
        </p:grpSpPr>
        <p:sp>
          <p:nvSpPr>
            <p:cNvPr id="155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1"/>
              </p:custDataLst>
            </p:nvPr>
          </p:nvSpPr>
          <p:spPr>
            <a:xfrm>
              <a:off x="191314" y="416864"/>
              <a:ext cx="7485559" cy="2377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  <a:effectLst/>
          </p:spPr>
          <p:txBody>
            <a:bodyPr lIns="50800" tIns="50800" rIns="50800" bIns="50800" anchor="ctr"/>
            <a:lstStyle/>
            <a:p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Window</a:t>
              </a:r>
            </a:p>
          </p:txBody>
        </p:sp>
        <p:sp>
          <p:nvSpPr>
            <p:cNvPr id="156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7491336" y="489601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911112" y="1432842"/>
            <a:ext cx="4711212" cy="290149"/>
            <a:chOff x="911112" y="2328192"/>
            <a:chExt cx="4711212" cy="290149"/>
          </a:xfrm>
        </p:grpSpPr>
        <p:sp>
          <p:nvSpPr>
            <p:cNvPr id="67" name="Rounded Rectangle 939"/>
            <p:cNvSpPr/>
            <p:nvPr/>
          </p:nvSpPr>
          <p:spPr>
            <a:xfrm>
              <a:off x="4974324" y="2328192"/>
              <a:ext cx="648000" cy="290149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r>
                <a:rPr kumimoji="1" lang="ko-KR" altLang="en-US" sz="9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반복 설정</a:t>
              </a:r>
              <a:endParaRPr kumimoji="1"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68" name="Group 67"/>
            <p:cNvGrpSpPr/>
            <p:nvPr/>
          </p:nvGrpSpPr>
          <p:grpSpPr>
            <a:xfrm>
              <a:off x="1381746" y="2328192"/>
              <a:ext cx="3555600" cy="290149"/>
              <a:chOff x="1135173" y="2884869"/>
              <a:chExt cx="3555600" cy="290149"/>
            </a:xfrm>
          </p:grpSpPr>
          <p:sp>
            <p:nvSpPr>
              <p:cNvPr id="72" name="Rounded Rectangle 939"/>
              <p:cNvSpPr/>
              <p:nvPr/>
            </p:nvSpPr>
            <p:spPr>
              <a:xfrm>
                <a:off x="1135173" y="2884869"/>
                <a:ext cx="792000" cy="290149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r>
                  <a:rPr kumimoji="1" lang="en-US" altLang="ko-KR" sz="9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2017.09.20</a:t>
                </a:r>
                <a:endPara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3" name="Rounded Rectangle 939"/>
              <p:cNvSpPr/>
              <p:nvPr/>
            </p:nvSpPr>
            <p:spPr>
              <a:xfrm>
                <a:off x="1935273" y="2884869"/>
                <a:ext cx="864000" cy="290149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72000" tIns="0" rIns="0" bIns="0" anchor="ctr"/>
              <a:lstStyle/>
              <a:p>
                <a:r>
                  <a:rPr kumimoji="1"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오전 </a:t>
                </a:r>
                <a:r>
                  <a:rPr kumimoji="1"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11:00</a:t>
                </a:r>
                <a:endPara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4" name="Triangle 942"/>
              <p:cNvSpPr>
                <a:spLocks noChangeAspect="1"/>
              </p:cNvSpPr>
              <p:nvPr/>
            </p:nvSpPr>
            <p:spPr>
              <a:xfrm flipV="1">
                <a:off x="2620251" y="2998992"/>
                <a:ext cx="108000" cy="61902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33">
                  <a:solidFill>
                    <a:schemeClr val="tx1"/>
                  </a:solidFill>
                  <a:latin typeface="+mn-ea"/>
                  <a:ea typeface="+mn-ea"/>
                  <a:cs typeface="ＭＳ Ｐゴシック" charset="0"/>
                </a:endParaRPr>
              </a:p>
            </p:txBody>
          </p:sp>
          <p:sp>
            <p:nvSpPr>
              <p:cNvPr id="75" name="Rounded Rectangle 939"/>
              <p:cNvSpPr/>
              <p:nvPr/>
            </p:nvSpPr>
            <p:spPr>
              <a:xfrm>
                <a:off x="3026673" y="2884869"/>
                <a:ext cx="792000" cy="290149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/>
                <a:r>
                  <a:rPr kumimoji="1" lang="en-US" altLang="ko-KR" sz="9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2017.09.20</a:t>
                </a:r>
                <a:endPara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6" name="Rounded Rectangle 939"/>
              <p:cNvSpPr/>
              <p:nvPr/>
            </p:nvSpPr>
            <p:spPr>
              <a:xfrm>
                <a:off x="3826773" y="2884869"/>
                <a:ext cx="864000" cy="290149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72000" tIns="0" rIns="0" bIns="0" anchor="ctr"/>
              <a:lstStyle/>
              <a:p>
                <a:r>
                  <a:rPr kumimoji="1"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오후 </a:t>
                </a:r>
                <a:r>
                  <a:rPr kumimoji="1" lang="en-US" altLang="ko-KR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3</a:t>
                </a:r>
                <a:r>
                  <a:rPr kumimoji="1" lang="en-US" altLang="ko-KR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:00</a:t>
                </a:r>
                <a:endPara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7" name="Triangle 942"/>
              <p:cNvSpPr>
                <a:spLocks noChangeAspect="1"/>
              </p:cNvSpPr>
              <p:nvPr/>
            </p:nvSpPr>
            <p:spPr>
              <a:xfrm flipV="1">
                <a:off x="4511751" y="2998992"/>
                <a:ext cx="108000" cy="61902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33">
                  <a:solidFill>
                    <a:schemeClr val="tx1"/>
                  </a:solidFill>
                  <a:latin typeface="+mn-ea"/>
                  <a:ea typeface="+mn-ea"/>
                  <a:cs typeface="ＭＳ Ｐゴシック" charset="0"/>
                </a:endParaRPr>
              </a:p>
            </p:txBody>
          </p:sp>
        </p:grpSp>
        <p:grpSp>
          <p:nvGrpSpPr>
            <p:cNvPr id="78" name="Group 1"/>
            <p:cNvGrpSpPr/>
            <p:nvPr/>
          </p:nvGrpSpPr>
          <p:grpSpPr>
            <a:xfrm>
              <a:off x="911112" y="2328197"/>
              <a:ext cx="432000" cy="286194"/>
              <a:chOff x="1122876" y="2916525"/>
              <a:chExt cx="432000" cy="251417"/>
            </a:xfrm>
          </p:grpSpPr>
          <p:sp>
            <p:nvSpPr>
              <p:cNvPr id="79" name="Rounded Rectangle 939"/>
              <p:cNvSpPr/>
              <p:nvPr/>
            </p:nvSpPr>
            <p:spPr>
              <a:xfrm>
                <a:off x="1122876" y="2916525"/>
                <a:ext cx="432000" cy="251417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72000" tIns="0" rIns="0" bIns="0" anchor="ctr"/>
              <a:lstStyle/>
              <a:p>
                <a:r>
                  <a:rPr kumimoji="1" lang="ko-KR" altLang="en-US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양력</a:t>
                </a:r>
                <a:endParaRPr kumimoji="1"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0" name="Triangle 942"/>
              <p:cNvSpPr>
                <a:spLocks noChangeAspect="1"/>
              </p:cNvSpPr>
              <p:nvPr/>
            </p:nvSpPr>
            <p:spPr>
              <a:xfrm flipV="1">
                <a:off x="1419199" y="3021952"/>
                <a:ext cx="91689" cy="52553"/>
              </a:xfrm>
              <a:prstGeom prst="triangl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633">
                  <a:solidFill>
                    <a:schemeClr val="tx1"/>
                  </a:solidFill>
                  <a:latin typeface="+mn-ea"/>
                  <a:ea typeface="+mn-ea"/>
                  <a:cs typeface="ＭＳ Ｐゴシック" charset="0"/>
                </a:endParaRPr>
              </a:p>
            </p:txBody>
          </p:sp>
        </p:grpSp>
        <p:sp>
          <p:nvSpPr>
            <p:cNvPr id="81" name="TextBox 80"/>
            <p:cNvSpPr txBox="1"/>
            <p:nvPr/>
          </p:nvSpPr>
          <p:spPr>
            <a:xfrm>
              <a:off x="3106993" y="2362373"/>
              <a:ext cx="144839" cy="215444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sp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~</a:t>
              </a: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125" name="직선 연결선[R] 7"/>
          <p:cNvCxnSpPr/>
          <p:nvPr/>
        </p:nvCxnSpPr>
        <p:spPr>
          <a:xfrm>
            <a:off x="190692" y="1827380"/>
            <a:ext cx="748618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7" name="직선 화살표 연결선 6"/>
          <p:cNvCxnSpPr/>
          <p:nvPr/>
        </p:nvCxnSpPr>
        <p:spPr>
          <a:xfrm>
            <a:off x="7538256" y="1379705"/>
            <a:ext cx="0" cy="316372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텍스트 상자 31"/>
          <p:cNvSpPr txBox="1"/>
          <p:nvPr/>
        </p:nvSpPr>
        <p:spPr>
          <a:xfrm>
            <a:off x="342432" y="2642290"/>
            <a:ext cx="612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3" name="Rectangle 220"/>
          <p:cNvSpPr/>
          <p:nvPr/>
        </p:nvSpPr>
        <p:spPr>
          <a:xfrm>
            <a:off x="335244" y="2272401"/>
            <a:ext cx="725626" cy="2900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algn="ctr"/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층 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Bahama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4" name="Rectangle 221"/>
          <p:cNvSpPr/>
          <p:nvPr/>
        </p:nvSpPr>
        <p:spPr>
          <a:xfrm>
            <a:off x="335244" y="2652497"/>
            <a:ext cx="725626" cy="2900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algn="ctr"/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빔프로젝터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A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5" name="Rectangle 223"/>
          <p:cNvSpPr/>
          <p:nvPr/>
        </p:nvSpPr>
        <p:spPr>
          <a:xfrm>
            <a:off x="335244" y="3032593"/>
            <a:ext cx="725626" cy="29000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algn="ctr"/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ASUS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노트북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8" name="직선 연결선[R] 7"/>
          <p:cNvCxnSpPr/>
          <p:nvPr/>
        </p:nvCxnSpPr>
        <p:spPr>
          <a:xfrm>
            <a:off x="1132091" y="2273538"/>
            <a:ext cx="6297803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cxnSp>
        <p:nvCxnSpPr>
          <p:cNvPr id="89" name="직선 연결선[R] 7"/>
          <p:cNvCxnSpPr/>
          <p:nvPr/>
        </p:nvCxnSpPr>
        <p:spPr>
          <a:xfrm>
            <a:off x="1132091" y="2652996"/>
            <a:ext cx="6297803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cxnSp>
        <p:nvCxnSpPr>
          <p:cNvPr id="90" name="직선 연결선[R] 7"/>
          <p:cNvCxnSpPr/>
          <p:nvPr/>
        </p:nvCxnSpPr>
        <p:spPr>
          <a:xfrm>
            <a:off x="1132091" y="3032454"/>
            <a:ext cx="6297803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  <a:miter lim="400000"/>
          </a:ln>
        </p:spPr>
      </p:cxnSp>
      <p:grpSp>
        <p:nvGrpSpPr>
          <p:cNvPr id="91" name="Group 269"/>
          <p:cNvGrpSpPr/>
          <p:nvPr/>
        </p:nvGrpSpPr>
        <p:grpSpPr>
          <a:xfrm>
            <a:off x="1121789" y="2249693"/>
            <a:ext cx="6308105" cy="1065443"/>
            <a:chOff x="1367825" y="2350581"/>
            <a:chExt cx="6308105" cy="3481769"/>
          </a:xfrm>
        </p:grpSpPr>
        <p:cxnSp>
          <p:nvCxnSpPr>
            <p:cNvPr id="92" name="직선 연결선[R] 7"/>
            <p:cNvCxnSpPr/>
            <p:nvPr/>
          </p:nvCxnSpPr>
          <p:spPr>
            <a:xfrm>
              <a:off x="4798425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miter lim="400000"/>
            </a:ln>
          </p:spPr>
        </p:cxnSp>
        <p:cxnSp>
          <p:nvCxnSpPr>
            <p:cNvPr id="93" name="직선 연결선[R] 7"/>
            <p:cNvCxnSpPr/>
            <p:nvPr/>
          </p:nvCxnSpPr>
          <p:spPr>
            <a:xfrm>
              <a:off x="1367825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miter lim="400000"/>
            </a:ln>
          </p:spPr>
        </p:cxnSp>
        <p:cxnSp>
          <p:nvCxnSpPr>
            <p:cNvPr id="94" name="직선 연결선[R] 7"/>
            <p:cNvCxnSpPr/>
            <p:nvPr/>
          </p:nvCxnSpPr>
          <p:spPr>
            <a:xfrm>
              <a:off x="3655860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95" name="직선 연결선[R] 7"/>
            <p:cNvCxnSpPr/>
            <p:nvPr/>
          </p:nvCxnSpPr>
          <p:spPr>
            <a:xfrm>
              <a:off x="4227143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100" name="직선 연결선[R] 7"/>
            <p:cNvCxnSpPr/>
            <p:nvPr/>
          </p:nvCxnSpPr>
          <p:spPr>
            <a:xfrm>
              <a:off x="1942012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105" name="직선 연결선[R] 7"/>
            <p:cNvCxnSpPr/>
            <p:nvPr/>
          </p:nvCxnSpPr>
          <p:spPr>
            <a:xfrm>
              <a:off x="2513294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106" name="직선 연결선[R] 7"/>
            <p:cNvCxnSpPr/>
            <p:nvPr/>
          </p:nvCxnSpPr>
          <p:spPr>
            <a:xfrm>
              <a:off x="6512274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miter lim="400000"/>
            </a:ln>
          </p:spPr>
        </p:cxnSp>
        <p:cxnSp>
          <p:nvCxnSpPr>
            <p:cNvPr id="107" name="직선 연결선[R] 7"/>
            <p:cNvCxnSpPr/>
            <p:nvPr/>
          </p:nvCxnSpPr>
          <p:spPr>
            <a:xfrm>
              <a:off x="5369708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108" name="직선 연결선[R] 7"/>
            <p:cNvCxnSpPr/>
            <p:nvPr/>
          </p:nvCxnSpPr>
          <p:spPr>
            <a:xfrm>
              <a:off x="5940991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109" name="직선 연결선[R] 7"/>
            <p:cNvCxnSpPr/>
            <p:nvPr/>
          </p:nvCxnSpPr>
          <p:spPr>
            <a:xfrm>
              <a:off x="3088136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miter lim="400000"/>
            </a:ln>
          </p:spPr>
        </p:cxnSp>
        <p:cxnSp>
          <p:nvCxnSpPr>
            <p:cNvPr id="110" name="직선 연결선[R] 7"/>
            <p:cNvCxnSpPr/>
            <p:nvPr/>
          </p:nvCxnSpPr>
          <p:spPr>
            <a:xfrm>
              <a:off x="7091789" y="2383014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  <p:cxnSp>
          <p:nvCxnSpPr>
            <p:cNvPr id="111" name="직선 연결선[R] 7"/>
            <p:cNvCxnSpPr/>
            <p:nvPr/>
          </p:nvCxnSpPr>
          <p:spPr>
            <a:xfrm>
              <a:off x="7675930" y="2350581"/>
              <a:ext cx="0" cy="344933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miter lim="400000"/>
            </a:ln>
          </p:spPr>
        </p:cxnSp>
      </p:grpSp>
      <p:sp>
        <p:nvSpPr>
          <p:cNvPr id="112" name="Rectangle 252"/>
          <p:cNvSpPr/>
          <p:nvPr/>
        </p:nvSpPr>
        <p:spPr>
          <a:xfrm>
            <a:off x="1376632" y="2272900"/>
            <a:ext cx="3398220" cy="3800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113" name="Rectangle 253"/>
          <p:cNvSpPr/>
          <p:nvPr/>
        </p:nvSpPr>
        <p:spPr>
          <a:xfrm>
            <a:off x="4220390" y="2652996"/>
            <a:ext cx="1503888" cy="3800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cxnSp>
        <p:nvCxnSpPr>
          <p:cNvPr id="114" name="직선 연결선[R] 7"/>
          <p:cNvCxnSpPr/>
          <p:nvPr/>
        </p:nvCxnSpPr>
        <p:spPr>
          <a:xfrm>
            <a:off x="1121789" y="2272900"/>
            <a:ext cx="6308105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grpSp>
        <p:nvGrpSpPr>
          <p:cNvPr id="115" name="그룹 114"/>
          <p:cNvGrpSpPr/>
          <p:nvPr/>
        </p:nvGrpSpPr>
        <p:grpSpPr>
          <a:xfrm>
            <a:off x="2842100" y="2268545"/>
            <a:ext cx="1718522" cy="1036666"/>
            <a:chOff x="2842100" y="2123726"/>
            <a:chExt cx="1718522" cy="3135351"/>
          </a:xfrm>
        </p:grpSpPr>
        <p:cxnSp>
          <p:nvCxnSpPr>
            <p:cNvPr id="116" name="직선 연결선[R] 7"/>
            <p:cNvCxnSpPr/>
            <p:nvPr/>
          </p:nvCxnSpPr>
          <p:spPr>
            <a:xfrm>
              <a:off x="2842100" y="2127078"/>
              <a:ext cx="0" cy="3131999"/>
            </a:xfrm>
            <a:prstGeom prst="line">
              <a:avLst/>
            </a:prstGeom>
            <a:ln w="9525">
              <a:solidFill>
                <a:srgbClr val="FF0000"/>
              </a:solidFill>
              <a:miter lim="400000"/>
              <a:headEnd type="oval"/>
            </a:ln>
          </p:spPr>
        </p:cxnSp>
        <p:cxnSp>
          <p:nvCxnSpPr>
            <p:cNvPr id="117" name="직선 연결선[R] 7"/>
            <p:cNvCxnSpPr/>
            <p:nvPr/>
          </p:nvCxnSpPr>
          <p:spPr>
            <a:xfrm>
              <a:off x="4552389" y="2127078"/>
              <a:ext cx="0" cy="3131999"/>
            </a:xfrm>
            <a:prstGeom prst="line">
              <a:avLst/>
            </a:prstGeom>
            <a:ln w="9525">
              <a:solidFill>
                <a:srgbClr val="FF0000"/>
              </a:solidFill>
              <a:miter lim="400000"/>
              <a:headEnd type="oval"/>
            </a:ln>
          </p:spPr>
        </p:cxnSp>
        <p:sp>
          <p:nvSpPr>
            <p:cNvPr id="118" name="Rectangle 247"/>
            <p:cNvSpPr/>
            <p:nvPr/>
          </p:nvSpPr>
          <p:spPr>
            <a:xfrm>
              <a:off x="2846773" y="2123726"/>
              <a:ext cx="1713849" cy="3130128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</p:grpSp>
      <p:sp>
        <p:nvSpPr>
          <p:cNvPr id="119" name="Rectangle 292"/>
          <p:cNvSpPr/>
          <p:nvPr/>
        </p:nvSpPr>
        <p:spPr>
          <a:xfrm>
            <a:off x="1683567" y="3048584"/>
            <a:ext cx="590417" cy="2764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64309" y="2065027"/>
            <a:ext cx="110608" cy="18466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200" b="1" dirty="0" smtClean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rPr>
              <a:t>+</a:t>
            </a:r>
            <a:endParaRPr lang="en-US" sz="1200" b="1" dirty="0">
              <a:solidFill>
                <a:prstClr val="white">
                  <a:lumMod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24" name="텍스트 상자 31"/>
          <p:cNvSpPr txBox="1"/>
          <p:nvPr/>
        </p:nvSpPr>
        <p:spPr>
          <a:xfrm>
            <a:off x="342432" y="2115471"/>
            <a:ext cx="612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32" name="직선 연결선[R] 7"/>
          <p:cNvCxnSpPr/>
          <p:nvPr/>
        </p:nvCxnSpPr>
        <p:spPr>
          <a:xfrm>
            <a:off x="1121789" y="3311125"/>
            <a:ext cx="6308105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grpSp>
        <p:nvGrpSpPr>
          <p:cNvPr id="150" name="Group 121"/>
          <p:cNvGrpSpPr/>
          <p:nvPr/>
        </p:nvGrpSpPr>
        <p:grpSpPr>
          <a:xfrm>
            <a:off x="5744812" y="1493685"/>
            <a:ext cx="365833" cy="187731"/>
            <a:chOff x="10669464" y="2798956"/>
            <a:chExt cx="365833" cy="187731"/>
          </a:xfrm>
        </p:grpSpPr>
        <p:sp>
          <p:nvSpPr>
            <p:cNvPr id="151" name="Rounded Rectangle 722"/>
            <p:cNvSpPr/>
            <p:nvPr/>
          </p:nvSpPr>
          <p:spPr>
            <a:xfrm>
              <a:off x="10819297" y="2798956"/>
              <a:ext cx="21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종일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2" name="Rounded Rectangle 723"/>
            <p:cNvSpPr/>
            <p:nvPr/>
          </p:nvSpPr>
          <p:spPr>
            <a:xfrm>
              <a:off x="10669464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30000"/>
                </a:lnSpc>
              </a:pP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54" name="Rounded Rectangle 939"/>
          <p:cNvSpPr/>
          <p:nvPr/>
        </p:nvSpPr>
        <p:spPr>
          <a:xfrm>
            <a:off x="6160695" y="1462824"/>
            <a:ext cx="506805" cy="242151"/>
          </a:xfrm>
          <a:prstGeom prst="roundRect">
            <a:avLst>
              <a:gd name="adj" fmla="val 842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endParaRPr lang="ko-KR" altLang="en-US" sz="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#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일정확인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등록</a:t>
            </a:r>
          </a:p>
        </p:txBody>
      </p:sp>
      <p:graphicFrame>
        <p:nvGraphicFramePr>
          <p:cNvPr id="97" name="Group 3"/>
          <p:cNvGraphicFramePr>
            <a:graphicFrameLocks noGrp="1"/>
          </p:cNvGraphicFramePr>
          <p:nvPr>
            <p:extLst/>
          </p:nvPr>
        </p:nvGraphicFramePr>
        <p:xfrm>
          <a:off x="9286875" y="793264"/>
          <a:ext cx="2838450" cy="807416"/>
        </p:xfrm>
        <a:graphic>
          <a:graphicData uri="http://schemas.openxmlformats.org/drawingml/2006/table">
            <a:tbl>
              <a:tblPr/>
              <a:tblGrid>
                <a:gridCol w="211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‘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 상세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’ Tab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에서 스퀘어 달력을 선택했을 때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설비 일정 확인 화면에서의 보여지는 정보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※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현 문서내 정보는 공유자 정보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히든 처리가 적용된 화면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99501"/>
                  </a:ext>
                </a:extLst>
              </a:tr>
            </a:tbl>
          </a:graphicData>
        </a:graphic>
      </p:graphicFrame>
      <p:sp>
        <p:nvSpPr>
          <p:cNvPr id="98" name="TextBox 97"/>
          <p:cNvSpPr txBox="1"/>
          <p:nvPr/>
        </p:nvSpPr>
        <p:spPr>
          <a:xfrm>
            <a:off x="9267824" y="1652333"/>
            <a:ext cx="3038475" cy="21456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스퀘어 달력 선택시의 화면은 디자인 작업없이 개발 진행시 제어</a:t>
            </a:r>
          </a:p>
        </p:txBody>
      </p:sp>
      <p:graphicFrame>
        <p:nvGraphicFramePr>
          <p:cNvPr id="99" name="Group 3"/>
          <p:cNvGraphicFramePr>
            <a:graphicFrameLocks noGrp="1"/>
          </p:cNvGraphicFramePr>
          <p:nvPr>
            <p:extLst/>
          </p:nvPr>
        </p:nvGraphicFramePr>
        <p:xfrm>
          <a:off x="9290533" y="6422397"/>
          <a:ext cx="2834411" cy="247736"/>
        </p:xfrm>
        <a:graphic>
          <a:graphicData uri="http://schemas.openxmlformats.org/drawingml/2006/table">
            <a:tbl>
              <a:tblPr/>
              <a:tblGrid>
                <a:gridCol w="283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1/23_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화면 추가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8000" marR="138580" marT="1800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9746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61443" y="414528"/>
            <a:ext cx="7391881" cy="6224397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2"/>
            </p:custDataLst>
          </p:nvPr>
        </p:nvSpPr>
        <p:spPr>
          <a:xfrm>
            <a:off x="161445" y="414528"/>
            <a:ext cx="7391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Window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Close Button" descr="&lt;SmartSettings&gt;&lt;SmartResize anchorLeft=&quot;None&quot; anchorTop=&quot;Absolute&quot; anchorRight=&quot;Absolute&quot; anchorBottom=&quot;None&quot; /&gt;&lt;/SmartSettings&gt;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7314347" y="485775"/>
            <a:ext cx="98425" cy="95250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noFill/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212"/>
          <p:cNvSpPr/>
          <p:nvPr/>
        </p:nvSpPr>
        <p:spPr>
          <a:xfrm>
            <a:off x="176212" y="664074"/>
            <a:ext cx="7377112" cy="36462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t>일정 정보</a:t>
            </a:r>
            <a:endParaRPr kumimoji="0" lang="en-US" sz="1000" b="1" i="0" u="none" strike="noStrike" kern="0" cap="none" spc="0" normalizeH="0" baseline="0" noProof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7" name="텍스트 상자 31"/>
          <p:cNvSpPr txBox="1"/>
          <p:nvPr/>
        </p:nvSpPr>
        <p:spPr>
          <a:xfrm>
            <a:off x="316351" y="1651418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제목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8" name="직선 연결선[R] 7"/>
          <p:cNvCxnSpPr/>
          <p:nvPr/>
        </p:nvCxnSpPr>
        <p:spPr>
          <a:xfrm>
            <a:off x="884751" y="1851205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9" name="텍스트 상자 31"/>
          <p:cNvSpPr txBox="1"/>
          <p:nvPr/>
        </p:nvSpPr>
        <p:spPr>
          <a:xfrm>
            <a:off x="316351" y="2074262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달력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5" name="텍스트 상자 31"/>
          <p:cNvSpPr txBox="1"/>
          <p:nvPr/>
        </p:nvSpPr>
        <p:spPr>
          <a:xfrm>
            <a:off x="316351" y="3239818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" name="텍스트 상자 31"/>
          <p:cNvSpPr txBox="1"/>
          <p:nvPr/>
        </p:nvSpPr>
        <p:spPr>
          <a:xfrm>
            <a:off x="866261" y="1647112"/>
            <a:ext cx="1188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EGW </a:t>
            </a:r>
            <a:r>
              <a:rPr kumimoji="1"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업무 회의</a:t>
            </a:r>
            <a:endParaRPr kumimoji="1"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7" name="Group 23"/>
          <p:cNvGrpSpPr/>
          <p:nvPr/>
        </p:nvGrpSpPr>
        <p:grpSpPr>
          <a:xfrm>
            <a:off x="1857790" y="2022988"/>
            <a:ext cx="519293" cy="214533"/>
            <a:chOff x="3600083" y="2455609"/>
            <a:chExt cx="576000" cy="237960"/>
          </a:xfrm>
        </p:grpSpPr>
        <p:sp>
          <p:nvSpPr>
            <p:cNvPr id="18" name="Rounded Rectangle 224"/>
            <p:cNvSpPr/>
            <p:nvPr/>
          </p:nvSpPr>
          <p:spPr>
            <a:xfrm>
              <a:off x="3600083" y="2455609"/>
              <a:ext cx="576000" cy="237960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내 일정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9" name="Freeform 11"/>
            <p:cNvSpPr>
              <a:spLocks noChangeAspect="1" noChangeArrowheads="1"/>
            </p:cNvSpPr>
            <p:nvPr/>
          </p:nvSpPr>
          <p:spPr bwMode="auto">
            <a:xfrm>
              <a:off x="4033987" y="2529589"/>
              <a:ext cx="90000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20" name="Group 24"/>
          <p:cNvGrpSpPr/>
          <p:nvPr/>
        </p:nvGrpSpPr>
        <p:grpSpPr>
          <a:xfrm>
            <a:off x="884751" y="1980544"/>
            <a:ext cx="900000" cy="290149"/>
            <a:chOff x="1135174" y="2426749"/>
            <a:chExt cx="900000" cy="290149"/>
          </a:xfrm>
        </p:grpSpPr>
        <p:sp>
          <p:nvSpPr>
            <p:cNvPr id="21" name="Rounded Rectangle 939"/>
            <p:cNvSpPr/>
            <p:nvPr/>
          </p:nvSpPr>
          <p:spPr>
            <a:xfrm>
              <a:off x="1135174" y="2426749"/>
              <a:ext cx="900000" cy="290149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latin typeface="+mn-ea"/>
                <a:ea typeface="+mn-ea"/>
              </a:endParaRPr>
            </a:p>
          </p:txBody>
        </p:sp>
        <p:sp>
          <p:nvSpPr>
            <p:cNvPr id="22" name="Triangle 942"/>
            <p:cNvSpPr>
              <a:spLocks noChangeAspect="1"/>
            </p:cNvSpPr>
            <p:nvPr/>
          </p:nvSpPr>
          <p:spPr>
            <a:xfrm flipV="1">
              <a:off x="1883295" y="2553596"/>
              <a:ext cx="108000" cy="6190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33">
                <a:solidFill>
                  <a:schemeClr val="tx1"/>
                </a:solidFill>
                <a:latin typeface="+mn-ea"/>
                <a:ea typeface="+mn-ea"/>
                <a:cs typeface="ＭＳ Ｐゴシック" charset="0"/>
              </a:endParaRPr>
            </a:p>
          </p:txBody>
        </p:sp>
        <p:sp>
          <p:nvSpPr>
            <p:cNvPr id="23" name="텍스트 상자 31"/>
            <p:cNvSpPr txBox="1"/>
            <p:nvPr/>
          </p:nvSpPr>
          <p:spPr>
            <a:xfrm>
              <a:off x="1201376" y="2513642"/>
              <a:ext cx="612000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달력 선택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24" name="직선 연결선[R] 7"/>
          <p:cNvCxnSpPr/>
          <p:nvPr/>
        </p:nvCxnSpPr>
        <p:spPr>
          <a:xfrm>
            <a:off x="884751" y="2307891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grpSp>
        <p:nvGrpSpPr>
          <p:cNvPr id="25" name="Group 25"/>
          <p:cNvGrpSpPr/>
          <p:nvPr/>
        </p:nvGrpSpPr>
        <p:grpSpPr>
          <a:xfrm>
            <a:off x="2424260" y="2022988"/>
            <a:ext cx="1188000" cy="214533"/>
            <a:chOff x="2680673" y="2469193"/>
            <a:chExt cx="1188000" cy="214533"/>
          </a:xfrm>
        </p:grpSpPr>
        <p:sp>
          <p:nvSpPr>
            <p:cNvPr id="26" name="Rounded Rectangle 459"/>
            <p:cNvSpPr/>
            <p:nvPr/>
          </p:nvSpPr>
          <p:spPr>
            <a:xfrm>
              <a:off x="2680673" y="2469193"/>
              <a:ext cx="1188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r>
                <a:rPr kumimoji="1" lang="en-US" altLang="ko-KR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UI</a:t>
              </a:r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프로젝트 일정 공유</a:t>
              </a:r>
            </a:p>
          </p:txBody>
        </p:sp>
        <p:sp>
          <p:nvSpPr>
            <p:cNvPr id="27" name="Freeform 11"/>
            <p:cNvSpPr>
              <a:spLocks noChangeAspect="1" noChangeArrowheads="1"/>
            </p:cNvSpPr>
            <p:nvPr/>
          </p:nvSpPr>
          <p:spPr bwMode="auto">
            <a:xfrm>
              <a:off x="3738907" y="2535890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28" name="Group 461"/>
          <p:cNvGrpSpPr/>
          <p:nvPr/>
        </p:nvGrpSpPr>
        <p:grpSpPr>
          <a:xfrm>
            <a:off x="3659437" y="2022988"/>
            <a:ext cx="828000" cy="214533"/>
            <a:chOff x="2680673" y="2469193"/>
            <a:chExt cx="828000" cy="214533"/>
          </a:xfrm>
        </p:grpSpPr>
        <p:sp>
          <p:nvSpPr>
            <p:cNvPr id="29" name="Rounded Rectangle 462"/>
            <p:cNvSpPr/>
            <p:nvPr/>
          </p:nvSpPr>
          <p:spPr>
            <a:xfrm>
              <a:off x="2680673" y="2469193"/>
              <a:ext cx="828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자동차 </a:t>
              </a:r>
              <a:r>
                <a:rPr kumimoji="1" lang="en-US" altLang="ko-KR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 </a:t>
              </a:r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</a:t>
              </a:r>
            </a:p>
          </p:txBody>
        </p:sp>
        <p:sp>
          <p:nvSpPr>
            <p:cNvPr id="30" name="Freeform 11"/>
            <p:cNvSpPr>
              <a:spLocks noChangeAspect="1" noChangeArrowheads="1"/>
            </p:cNvSpPr>
            <p:nvPr/>
          </p:nvSpPr>
          <p:spPr bwMode="auto">
            <a:xfrm>
              <a:off x="3382291" y="2535890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sp>
        <p:nvSpPr>
          <p:cNvPr id="31" name="텍스트 상자 31"/>
          <p:cNvSpPr txBox="1"/>
          <p:nvPr/>
        </p:nvSpPr>
        <p:spPr>
          <a:xfrm>
            <a:off x="316351" y="2487457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일시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32" name="Group 122"/>
          <p:cNvGrpSpPr/>
          <p:nvPr/>
        </p:nvGrpSpPr>
        <p:grpSpPr>
          <a:xfrm>
            <a:off x="884751" y="3172356"/>
            <a:ext cx="592646" cy="228857"/>
            <a:chOff x="1122876" y="3618561"/>
            <a:chExt cx="504000" cy="228857"/>
          </a:xfrm>
        </p:grpSpPr>
        <p:sp>
          <p:nvSpPr>
            <p:cNvPr id="33" name="Rounded Rectangle 939"/>
            <p:cNvSpPr/>
            <p:nvPr/>
          </p:nvSpPr>
          <p:spPr>
            <a:xfrm>
              <a:off x="1122876" y="3618561"/>
              <a:ext cx="504000" cy="228857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algn="ctr"/>
              <a:r>
                <a:rPr kumimoji="1"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추가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34" name="Picture 157" descr="man-user (1).png"/>
            <p:cNvPicPr>
              <a:picLocks noChangeAspect="1"/>
            </p:cNvPicPr>
            <p:nvPr/>
          </p:nvPicPr>
          <p:blipFill>
            <a:blip r:embed="rId7" cstate="print">
              <a:alphaModFix amt="3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956" y="3684586"/>
              <a:ext cx="109070" cy="109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589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36" name="Rounded Rectangle 939"/>
          <p:cNvSpPr/>
          <p:nvPr/>
        </p:nvSpPr>
        <p:spPr>
          <a:xfrm>
            <a:off x="4947963" y="2408895"/>
            <a:ext cx="648000" cy="290149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6350" cap="flat" cmpd="sng">
            <a:solidFill>
              <a:sysClr val="window" lastClr="FFFFFF">
                <a:lumMod val="65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반복 설정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Group 67"/>
          <p:cNvGrpSpPr/>
          <p:nvPr/>
        </p:nvGrpSpPr>
        <p:grpSpPr>
          <a:xfrm>
            <a:off x="1355385" y="2408895"/>
            <a:ext cx="3555600" cy="290149"/>
            <a:chOff x="1135173" y="2884869"/>
            <a:chExt cx="3555600" cy="290149"/>
          </a:xfrm>
        </p:grpSpPr>
        <p:sp>
          <p:nvSpPr>
            <p:cNvPr id="38" name="Rounded Rectangle 939"/>
            <p:cNvSpPr/>
            <p:nvPr/>
          </p:nvSpPr>
          <p:spPr>
            <a:xfrm>
              <a:off x="11351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2017-09-20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9" name="Rounded Rectangle 939"/>
            <p:cNvSpPr/>
            <p:nvPr/>
          </p:nvSpPr>
          <p:spPr>
            <a:xfrm>
              <a:off x="19352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오전 </a:t>
              </a: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11:00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40" name="직선 연결선[R] 7"/>
            <p:cNvCxnSpPr/>
            <p:nvPr/>
          </p:nvCxnSpPr>
          <p:spPr>
            <a:xfrm>
              <a:off x="2858973" y="3029943"/>
              <a:ext cx="108000" cy="0"/>
            </a:xfrm>
            <a:prstGeom prst="line">
              <a:avLst/>
            </a:prstGeom>
            <a:ln w="12700">
              <a:solidFill>
                <a:sysClr val="window" lastClr="FFFFFF">
                  <a:lumMod val="50000"/>
                </a:sysClr>
              </a:solidFill>
              <a:miter lim="400000"/>
            </a:ln>
          </p:spPr>
        </p:cxnSp>
        <p:sp>
          <p:nvSpPr>
            <p:cNvPr id="41" name="Triangle 942"/>
            <p:cNvSpPr>
              <a:spLocks noChangeAspect="1"/>
            </p:cNvSpPr>
            <p:nvPr/>
          </p:nvSpPr>
          <p:spPr>
            <a:xfrm flipV="1">
              <a:off x="2620251" y="2998992"/>
              <a:ext cx="108000" cy="61902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" name="Rounded Rectangle 939"/>
            <p:cNvSpPr/>
            <p:nvPr/>
          </p:nvSpPr>
          <p:spPr>
            <a:xfrm>
              <a:off x="30266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2017-09-20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3" name="Rounded Rectangle 939"/>
            <p:cNvSpPr/>
            <p:nvPr/>
          </p:nvSpPr>
          <p:spPr>
            <a:xfrm>
              <a:off x="38267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오후 </a:t>
              </a: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03:00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4" name="Triangle 942"/>
            <p:cNvSpPr>
              <a:spLocks noChangeAspect="1"/>
            </p:cNvSpPr>
            <p:nvPr/>
          </p:nvSpPr>
          <p:spPr>
            <a:xfrm flipV="1">
              <a:off x="4511751" y="2998992"/>
              <a:ext cx="108000" cy="61902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45" name="Group 121"/>
          <p:cNvGrpSpPr/>
          <p:nvPr/>
        </p:nvGrpSpPr>
        <p:grpSpPr>
          <a:xfrm>
            <a:off x="5659054" y="2460213"/>
            <a:ext cx="365833" cy="187731"/>
            <a:chOff x="10514817" y="2798956"/>
            <a:chExt cx="365833" cy="187731"/>
          </a:xfrm>
        </p:grpSpPr>
        <p:sp>
          <p:nvSpPr>
            <p:cNvPr id="46" name="Rounded Rectangle 722"/>
            <p:cNvSpPr/>
            <p:nvPr/>
          </p:nvSpPr>
          <p:spPr>
            <a:xfrm>
              <a:off x="10664650" y="2798956"/>
              <a:ext cx="21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종일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7" name="Rounded Rectangle 723"/>
            <p:cNvSpPr/>
            <p:nvPr/>
          </p:nvSpPr>
          <p:spPr>
            <a:xfrm>
              <a:off x="10514817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48" name="Group 186"/>
          <p:cNvGrpSpPr/>
          <p:nvPr/>
        </p:nvGrpSpPr>
        <p:grpSpPr>
          <a:xfrm>
            <a:off x="6033199" y="2460213"/>
            <a:ext cx="473833" cy="187731"/>
            <a:chOff x="10514817" y="2798956"/>
            <a:chExt cx="473833" cy="187731"/>
          </a:xfrm>
        </p:grpSpPr>
        <p:sp>
          <p:nvSpPr>
            <p:cNvPr id="49" name="Rounded Rectangle 187"/>
            <p:cNvSpPr/>
            <p:nvPr/>
          </p:nvSpPr>
          <p:spPr>
            <a:xfrm>
              <a:off x="10664650" y="2798956"/>
              <a:ext cx="324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기념일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50" name="Rounded Rectangle 188"/>
            <p:cNvSpPr/>
            <p:nvPr/>
          </p:nvSpPr>
          <p:spPr>
            <a:xfrm>
              <a:off x="10514817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51" name="Group 1"/>
          <p:cNvGrpSpPr/>
          <p:nvPr/>
        </p:nvGrpSpPr>
        <p:grpSpPr>
          <a:xfrm>
            <a:off x="884751" y="2440551"/>
            <a:ext cx="432000" cy="228857"/>
            <a:chOff x="1122876" y="2916525"/>
            <a:chExt cx="432000" cy="228857"/>
          </a:xfrm>
        </p:grpSpPr>
        <p:sp>
          <p:nvSpPr>
            <p:cNvPr id="52" name="Rounded Rectangle 939"/>
            <p:cNvSpPr/>
            <p:nvPr/>
          </p:nvSpPr>
          <p:spPr>
            <a:xfrm>
              <a:off x="1122876" y="2916525"/>
              <a:ext cx="432000" cy="228857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양력</a:t>
              </a:r>
            </a:p>
          </p:txBody>
        </p:sp>
        <p:sp>
          <p:nvSpPr>
            <p:cNvPr id="53" name="Triangle 942"/>
            <p:cNvSpPr>
              <a:spLocks noChangeAspect="1"/>
            </p:cNvSpPr>
            <p:nvPr/>
          </p:nvSpPr>
          <p:spPr>
            <a:xfrm flipV="1">
              <a:off x="1419199" y="3004677"/>
              <a:ext cx="91689" cy="52553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1579262" y="3200400"/>
            <a:ext cx="3987681" cy="148389"/>
            <a:chOff x="1817387" y="3543300"/>
            <a:chExt cx="3987681" cy="148389"/>
          </a:xfrm>
        </p:grpSpPr>
        <p:sp>
          <p:nvSpPr>
            <p:cNvPr id="56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7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8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9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60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1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62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3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64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5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66" name="그룹 65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70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1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67" name="그룹 66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68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69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72" name="그룹 71"/>
          <p:cNvGrpSpPr/>
          <p:nvPr/>
        </p:nvGrpSpPr>
        <p:grpSpPr>
          <a:xfrm>
            <a:off x="1579262" y="3476625"/>
            <a:ext cx="3987681" cy="148389"/>
            <a:chOff x="1817387" y="3543300"/>
            <a:chExt cx="3987681" cy="148389"/>
          </a:xfrm>
        </p:grpSpPr>
        <p:sp>
          <p:nvSpPr>
            <p:cNvPr id="73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4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75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6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77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8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79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0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81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2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83" name="그룹 82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87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8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84" name="그룹 83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85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6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89" name="그룹 88"/>
          <p:cNvGrpSpPr/>
          <p:nvPr/>
        </p:nvGrpSpPr>
        <p:grpSpPr>
          <a:xfrm>
            <a:off x="1579262" y="3733800"/>
            <a:ext cx="3987681" cy="148389"/>
            <a:chOff x="1817387" y="3543300"/>
            <a:chExt cx="3987681" cy="148389"/>
          </a:xfrm>
        </p:grpSpPr>
        <p:sp>
          <p:nvSpPr>
            <p:cNvPr id="90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91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92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93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94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95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96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97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98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99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100" name="그룹 99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104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5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101" name="그룹 100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102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3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106" name="TextBox 105"/>
          <p:cNvSpPr txBox="1"/>
          <p:nvPr/>
        </p:nvSpPr>
        <p:spPr>
          <a:xfrm>
            <a:off x="1323975" y="2804093"/>
            <a:ext cx="1085850" cy="11055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양력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2017-12-10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1513247" y="3172356"/>
            <a:ext cx="4763727" cy="9144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10" name="그룹 109"/>
          <p:cNvGrpSpPr/>
          <p:nvPr/>
        </p:nvGrpSpPr>
        <p:grpSpPr>
          <a:xfrm>
            <a:off x="6134100" y="3271364"/>
            <a:ext cx="47625" cy="677223"/>
            <a:chOff x="6858000" y="2907897"/>
            <a:chExt cx="47625" cy="508807"/>
          </a:xfrm>
        </p:grpSpPr>
        <p:sp>
          <p:nvSpPr>
            <p:cNvPr id="111" name="모서리가 둥근 직사각형 110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12" name="모서리가 둥근 직사각형 111"/>
            <p:cNvSpPr/>
            <p:nvPr/>
          </p:nvSpPr>
          <p:spPr>
            <a:xfrm>
              <a:off x="6858000" y="2997258"/>
              <a:ext cx="47625" cy="21578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13" name="Rounded Rectangle 939"/>
          <p:cNvSpPr/>
          <p:nvPr/>
        </p:nvSpPr>
        <p:spPr>
          <a:xfrm>
            <a:off x="6342989" y="3158566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공유자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15" name="직선 연결선 114"/>
          <p:cNvCxnSpPr/>
          <p:nvPr/>
        </p:nvCxnSpPr>
        <p:spPr>
          <a:xfrm>
            <a:off x="176212" y="1358134"/>
            <a:ext cx="7377113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15"/>
          <p:cNvGrpSpPr/>
          <p:nvPr/>
        </p:nvGrpSpPr>
        <p:grpSpPr>
          <a:xfrm>
            <a:off x="2893779" y="1182017"/>
            <a:ext cx="1982016" cy="176117"/>
            <a:chOff x="4223944" y="1715997"/>
            <a:chExt cx="1982016" cy="176117"/>
          </a:xfrm>
        </p:grpSpPr>
        <p:sp>
          <p:nvSpPr>
            <p:cNvPr id="11" name="텍스트 상자 31"/>
            <p:cNvSpPr txBox="1"/>
            <p:nvPr/>
          </p:nvSpPr>
          <p:spPr>
            <a:xfrm>
              <a:off x="4935567" y="1715997"/>
              <a:ext cx="127039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공유자 ∙ 설비 일정확인</a:t>
              </a:r>
              <a:endParaRPr kumimoji="1" lang="ko-KR" altLang="en-US" sz="9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2" name="Group 13"/>
            <p:cNvGrpSpPr/>
            <p:nvPr/>
          </p:nvGrpSpPr>
          <p:grpSpPr>
            <a:xfrm>
              <a:off x="4223944" y="1715997"/>
              <a:ext cx="612000" cy="176117"/>
              <a:chOff x="4223944" y="1715997"/>
              <a:chExt cx="612000" cy="176117"/>
            </a:xfrm>
          </p:grpSpPr>
          <p:sp>
            <p:nvSpPr>
              <p:cNvPr id="13" name="텍스트 상자 31"/>
              <p:cNvSpPr txBox="1"/>
              <p:nvPr/>
            </p:nvSpPr>
            <p:spPr>
              <a:xfrm>
                <a:off x="4223944" y="1715997"/>
                <a:ext cx="6120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ko-KR" altLang="en-US" sz="9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일정 상세</a:t>
                </a:r>
                <a:endPara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14" name="직선 연결선[R] 7"/>
              <p:cNvCxnSpPr/>
              <p:nvPr/>
            </p:nvCxnSpPr>
            <p:spPr>
              <a:xfrm>
                <a:off x="4277944" y="1892114"/>
                <a:ext cx="504000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miter lim="400000"/>
              </a:ln>
            </p:spPr>
          </p:cxnSp>
        </p:grpSp>
      </p:grpSp>
      <p:pic>
        <p:nvPicPr>
          <p:cNvPr id="116" name="Picture 3" descr="C:\Users\Administrator\Downloads\flag (1)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62" y="1642801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5275162" y="6283125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>
            <a:solidFill>
              <a:schemeClr val="tx1">
                <a:lumMod val="95000"/>
                <a:lumOff val="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저장</a:t>
            </a: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1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6618187" y="6283125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330454" y="6283125"/>
            <a:ext cx="1041121" cy="24338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 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복사</a:t>
            </a:r>
            <a:endParaRPr 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정보 수정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일반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12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651858"/>
              </p:ext>
            </p:extLst>
          </p:nvPr>
        </p:nvGraphicFramePr>
        <p:xfrm>
          <a:off x="9284677" y="798395"/>
          <a:ext cx="2839915" cy="3874880"/>
        </p:xfrm>
        <a:graphic>
          <a:graphicData uri="http://schemas.openxmlformats.org/drawingml/2006/table">
            <a:tbl>
              <a:tblPr/>
              <a:tblGrid>
                <a:gridCol w="21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7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924">
                <a:tc gridSpan="2">
                  <a:txBody>
                    <a:bodyPr/>
                    <a:lstStyle/>
                    <a:p>
                      <a:pPr algn="l" defTabSz="914400">
                        <a:defRPr sz="1800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내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 일정 또는 공유받은 일정인데 수정권한이 있을 경우</a:t>
                      </a:r>
                      <a:endParaRPr lang="en-US" altLang="ko-KR" sz="800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  <a:p>
                      <a:pPr algn="l" defTabSz="914400">
                        <a:defRPr sz="1800"/>
                      </a:pP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일정 상세보기 진입시 해당 화면으로 출력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수정 화면에서는 플래그 설정 항목 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508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 쓰기 화면과 동일 항목 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842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수정 화면일 경우 의견 등록 항목 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96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4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클릭시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, “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일정을 복사하시겠습니까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?”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alert 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출력 후 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확인 클릭시 동일 일정으로 복사 처리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04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5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클릭시 수정 정보 저장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023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6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클릭시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</a:rPr>
                        <a:t>일정을 삭제하시겠습니까</a:t>
                      </a:r>
                      <a:r>
                        <a:rPr kumimoji="1" lang="en-US" altLang="ko-KR" sz="8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</a:rPr>
                        <a:t>?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Alert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출력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493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수정화면으로 진입시</a:t>
                      </a:r>
                      <a:endParaRPr lang="en-US" altLang="ko-KR" sz="800" kern="120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등록된 게시물에 첨부된 파일일 있을 경우</a:t>
                      </a:r>
                      <a:r>
                        <a:rPr lang="en-US" altLang="ko-KR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/>
                      </a:r>
                      <a:br>
                        <a:rPr lang="en-US" altLang="ko-KR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en-US" altLang="ko-KR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‘</a:t>
                      </a:r>
                      <a:r>
                        <a:rPr lang="ko-KR" altLang="en-US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첨부목록</a:t>
                      </a:r>
                      <a:r>
                        <a:rPr lang="en-US" altLang="ko-KR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’ </a:t>
                      </a:r>
                      <a:r>
                        <a:rPr lang="ko-KR" altLang="en-US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형태로 제공하며</a:t>
                      </a:r>
                      <a:r>
                        <a:rPr lang="en-US" altLang="ko-KR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,</a:t>
                      </a:r>
                      <a:r>
                        <a:rPr lang="ko-KR" altLang="en-US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다운로드 및 </a:t>
                      </a:r>
                      <a:r>
                        <a:rPr lang="en-US" altLang="ko-KR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/>
                      </a:r>
                      <a:br>
                        <a:rPr lang="en-US" altLang="ko-KR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ko-KR" altLang="en-US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삭제만 가능</a:t>
                      </a:r>
                      <a:endParaRPr lang="en-US" altLang="ko-KR" sz="800" kern="1200" baseline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신규 첨부는 </a:t>
                      </a:r>
                      <a:r>
                        <a:rPr lang="en-US" altLang="ko-KR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‘</a:t>
                      </a:r>
                      <a:r>
                        <a:rPr lang="ko-KR" altLang="en-US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첨부파일</a:t>
                      </a:r>
                      <a:r>
                        <a:rPr lang="en-US" altLang="ko-KR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’</a:t>
                      </a:r>
                      <a:r>
                        <a:rPr lang="ko-KR" altLang="en-US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을 통해서만 가능</a:t>
                      </a:r>
                      <a:endParaRPr lang="en-US" altLang="ko-KR" sz="800" kern="1200" baseline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8.3 </a:t>
                      </a:r>
                      <a:r>
                        <a:rPr lang="ko-KR" altLang="en-US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로직 유지</a:t>
                      </a:r>
                      <a:endParaRPr lang="ko-KR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176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7-1</a:t>
                      </a:r>
                      <a:endParaRPr kumimoji="1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첨부목록의 파일에서 </a:t>
                      </a:r>
                      <a:r>
                        <a:rPr lang="en-US" altLang="ko-KR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[X] </a:t>
                      </a: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클릭시</a:t>
                      </a:r>
                      <a:r>
                        <a:rPr lang="en-US" altLang="ko-KR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, </a:t>
                      </a: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바로 삭제 처리가 되지 않고 취소선이 적용된 상태로 변환되고</a:t>
                      </a:r>
                      <a:r>
                        <a:rPr lang="en-US" altLang="ko-KR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,</a:t>
                      </a:r>
                      <a:br>
                        <a:rPr lang="en-US" altLang="ko-KR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</a:br>
                      <a:r>
                        <a:rPr lang="en-US" altLang="ko-KR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[</a:t>
                      </a: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저장</a:t>
                      </a:r>
                      <a:r>
                        <a:rPr lang="en-US" altLang="ko-KR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]</a:t>
                      </a: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버튼을 클릭시 최종 삭제 처리</a:t>
                      </a:r>
                      <a:endParaRPr lang="en-US" altLang="ko-KR" sz="800" kern="120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‘</a:t>
                      </a: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삭제취소</a:t>
                      </a:r>
                      <a:r>
                        <a:rPr lang="en-US" altLang="ko-KR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’ </a:t>
                      </a: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클릭시</a:t>
                      </a:r>
                      <a:r>
                        <a:rPr lang="en-US" altLang="ko-KR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,</a:t>
                      </a:r>
                      <a:r>
                        <a:rPr lang="en-US" altLang="ko-KR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</a:t>
                      </a:r>
                      <a:r>
                        <a:rPr lang="ko-KR" altLang="en-US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이전 상태로 전환</a:t>
                      </a:r>
                      <a:endParaRPr lang="ko-KR" altLang="en-US" sz="800" kern="120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146362"/>
                  </a:ext>
                </a:extLst>
              </a:tr>
            </a:tbl>
          </a:graphicData>
        </a:graphic>
      </p:graphicFrame>
      <p:sp>
        <p:nvSpPr>
          <p:cNvPr id="127" name="타원 126"/>
          <p:cNvSpPr/>
          <p:nvPr/>
        </p:nvSpPr>
        <p:spPr>
          <a:xfrm>
            <a:off x="562939" y="1543050"/>
            <a:ext cx="340973" cy="314325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2" name="오른쪽 중괄호 131"/>
          <p:cNvSpPr/>
          <p:nvPr/>
        </p:nvSpPr>
        <p:spPr>
          <a:xfrm>
            <a:off x="7648575" y="1400175"/>
            <a:ext cx="190500" cy="2971800"/>
          </a:xfrm>
          <a:prstGeom prst="rightBrace">
            <a:avLst>
              <a:gd name="adj1" fmla="val 52419"/>
              <a:gd name="adj2" fmla="val 50000"/>
            </a:avLst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오른쪽 중괄호 132"/>
          <p:cNvSpPr/>
          <p:nvPr/>
        </p:nvSpPr>
        <p:spPr>
          <a:xfrm>
            <a:off x="7374667" y="5635595"/>
            <a:ext cx="100680" cy="841118"/>
          </a:xfrm>
          <a:prstGeom prst="rightBrace">
            <a:avLst>
              <a:gd name="adj1" fmla="val 14159"/>
              <a:gd name="adj2" fmla="val 50000"/>
            </a:avLst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타원 134"/>
          <p:cNvSpPr>
            <a:spLocks noChangeAspect="1"/>
          </p:cNvSpPr>
          <p:nvPr/>
        </p:nvSpPr>
        <p:spPr>
          <a:xfrm>
            <a:off x="518936" y="1449901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6" name="타원 135"/>
          <p:cNvSpPr>
            <a:spLocks noChangeAspect="1"/>
          </p:cNvSpPr>
          <p:nvPr/>
        </p:nvSpPr>
        <p:spPr>
          <a:xfrm>
            <a:off x="7867650" y="2804093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7" name="타원 136"/>
          <p:cNvSpPr>
            <a:spLocks noChangeAspect="1"/>
          </p:cNvSpPr>
          <p:nvPr/>
        </p:nvSpPr>
        <p:spPr>
          <a:xfrm>
            <a:off x="7484871" y="596610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" name="타원 137"/>
          <p:cNvSpPr>
            <a:spLocks noChangeAspect="1"/>
          </p:cNvSpPr>
          <p:nvPr/>
        </p:nvSpPr>
        <p:spPr>
          <a:xfrm>
            <a:off x="123825" y="6318818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9" name="타원 138"/>
          <p:cNvSpPr>
            <a:spLocks noChangeAspect="1"/>
          </p:cNvSpPr>
          <p:nvPr/>
        </p:nvSpPr>
        <p:spPr>
          <a:xfrm>
            <a:off x="5200650" y="6204518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5946675" y="6283125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 삭제</a:t>
            </a:r>
            <a:endParaRPr 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1" name="타원 140"/>
          <p:cNvSpPr>
            <a:spLocks noChangeAspect="1"/>
          </p:cNvSpPr>
          <p:nvPr/>
        </p:nvSpPr>
        <p:spPr>
          <a:xfrm>
            <a:off x="5867400" y="6204518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6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CA6.1.1.4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250504" y="5271254"/>
            <a:ext cx="921313" cy="19583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첨부파일▲</a:t>
            </a:r>
          </a:p>
        </p:txBody>
      </p:sp>
      <p:grpSp>
        <p:nvGrpSpPr>
          <p:cNvPr id="107" name="그룹 106"/>
          <p:cNvGrpSpPr/>
          <p:nvPr/>
        </p:nvGrpSpPr>
        <p:grpSpPr>
          <a:xfrm>
            <a:off x="872640" y="5237830"/>
            <a:ext cx="5820806" cy="800385"/>
            <a:chOff x="1110765" y="4837780"/>
            <a:chExt cx="5820806" cy="800385"/>
          </a:xfrm>
        </p:grpSpPr>
        <p:sp>
          <p:nvSpPr>
            <p:cNvPr id="144" name="직사각형"/>
            <p:cNvSpPr/>
            <p:nvPr/>
          </p:nvSpPr>
          <p:spPr>
            <a:xfrm>
              <a:off x="1117893" y="5120708"/>
              <a:ext cx="5813678" cy="517457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pPr>
                <a:defRPr sz="2400">
                  <a:solidFill>
                    <a:srgbClr val="FFFFFF"/>
                  </a:solidFill>
                </a:defRPr>
              </a:pPr>
              <a:r>
                <a:rPr lang="en-US" altLang="ko-KR" sz="7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        </a:t>
              </a:r>
              <a:r>
                <a:rPr lang="ko-KR" altLang="en-US" sz="7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    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5" name="텍스트 상자 31"/>
            <p:cNvSpPr txBox="1"/>
            <p:nvPr/>
          </p:nvSpPr>
          <p:spPr>
            <a:xfrm>
              <a:off x="5460777" y="5419708"/>
              <a:ext cx="43779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kumimoji="1"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5MB</a:t>
              </a:r>
              <a:endParaRPr kumimoji="1"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6" name="Freeform 11"/>
            <p:cNvSpPr>
              <a:spLocks noChangeAspect="1" noChangeArrowheads="1"/>
            </p:cNvSpPr>
            <p:nvPr/>
          </p:nvSpPr>
          <p:spPr bwMode="auto">
            <a:xfrm>
              <a:off x="6550837" y="5441322"/>
              <a:ext cx="71999" cy="72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263650" y="5416330"/>
              <a:ext cx="1861289" cy="145944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[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서식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]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2017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 휴가 신청서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.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docx</a:t>
              </a: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263894" y="5178205"/>
              <a:ext cx="1861289" cy="145944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[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서식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]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2017</a:t>
              </a:r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 휴가 신청서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.zip</a:t>
              </a: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5444688" y="5178205"/>
              <a:ext cx="523820" cy="145944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r"/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10MB</a:t>
              </a:r>
              <a:endPara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0" name="Freeform 11"/>
            <p:cNvSpPr>
              <a:spLocks noChangeAspect="1" noChangeArrowheads="1"/>
            </p:cNvSpPr>
            <p:nvPr/>
          </p:nvSpPr>
          <p:spPr bwMode="auto">
            <a:xfrm>
              <a:off x="6550837" y="5218437"/>
              <a:ext cx="71999" cy="72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1671142" y="4857105"/>
              <a:ext cx="1042520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pPr lvl="0" fontAlgn="ctr"/>
              <a:r>
                <a:rPr lang="ko-KR" altLang="en-US" sz="80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내</a:t>
              </a:r>
              <a:r>
                <a:rPr lang="en-US" altLang="ko-KR" sz="80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PC</a:t>
              </a:r>
              <a:r>
                <a:rPr lang="ko-KR" altLang="en-US" sz="80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 </a:t>
              </a:r>
              <a:r>
                <a:rPr lang="en-US" altLang="ko-KR" sz="80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: </a:t>
              </a:r>
              <a:r>
                <a:rPr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15MB</a:t>
              </a:r>
              <a:r>
                <a:rPr lang="en-US" altLang="ko-KR" sz="800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/ 30MB</a:t>
              </a:r>
              <a:endParaRPr lang="en-US" altLang="ko-KR" sz="80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6392553" y="4866630"/>
              <a:ext cx="519941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pPr lvl="0" fontAlgn="ctr"/>
              <a:r>
                <a:rPr lang="ko-KR" altLang="en-US" sz="800" u="sng" smtClean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모두 삭제</a:t>
              </a:r>
              <a:endParaRPr lang="en-US" altLang="ko-KR" sz="800" u="sng">
                <a:solidFill>
                  <a:prstClr val="white">
                    <a:lumMod val="50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4" name="모서리가 둥근 직사각형 153"/>
            <p:cNvSpPr/>
            <p:nvPr/>
          </p:nvSpPr>
          <p:spPr>
            <a:xfrm>
              <a:off x="6875710" y="5193568"/>
              <a:ext cx="31204" cy="24372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55" name="모서리가 둥근 직사각형 154"/>
            <p:cNvSpPr/>
            <p:nvPr/>
          </p:nvSpPr>
          <p:spPr>
            <a:xfrm>
              <a:off x="1110765" y="4837780"/>
              <a:ext cx="465629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t">
              <a:noAutofit/>
            </a:bodyPr>
            <a:lstStyle/>
            <a:p>
              <a:pPr marR="0" lvl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</a:t>
              </a:r>
              <a:r>
                <a:rPr lang="en-US" altLang="ko-KR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PC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17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031335"/>
              </p:ext>
            </p:extLst>
          </p:nvPr>
        </p:nvGraphicFramePr>
        <p:xfrm>
          <a:off x="9290533" y="6203322"/>
          <a:ext cx="2834411" cy="471256"/>
        </p:xfrm>
        <a:graphic>
          <a:graphicData uri="http://schemas.openxmlformats.org/drawingml/2006/table">
            <a:tbl>
              <a:tblPr/>
              <a:tblGrid>
                <a:gridCol w="2834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3/14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수정내역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8000" marR="138580" marT="18000" marB="18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228600" indent="-228600" defTabSz="914400">
                        <a:lnSpc>
                          <a:spcPct val="100000"/>
                        </a:lnSpc>
                        <a:buFont typeface="+mj-ea"/>
                        <a:buAutoNum type="circleNumDbPlain" startAt="7"/>
                        <a:defRPr sz="1800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첨부목록 항목 추가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108" name="모서리가 둥근 직사각형 107"/>
          <p:cNvSpPr/>
          <p:nvPr/>
        </p:nvSpPr>
        <p:spPr>
          <a:xfrm>
            <a:off x="209550" y="4143375"/>
            <a:ext cx="6829425" cy="101917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0000FF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816049" y="4223206"/>
            <a:ext cx="5887971" cy="861164"/>
            <a:chOff x="3187774" y="3213556"/>
            <a:chExt cx="5887971" cy="861164"/>
          </a:xfrm>
        </p:grpSpPr>
        <p:sp>
          <p:nvSpPr>
            <p:cNvPr id="162" name="Rectangle 13"/>
            <p:cNvSpPr/>
            <p:nvPr/>
          </p:nvSpPr>
          <p:spPr>
            <a:xfrm>
              <a:off x="3187774" y="3213556"/>
              <a:ext cx="1189749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80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2</a:t>
              </a:r>
              <a:r>
                <a:rPr kumimoji="1" lang="ko-KR" altLang="mr-IN" sz="80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개 </a:t>
              </a:r>
              <a:r>
                <a:rPr kumimoji="1" lang="mr-IN" altLang="ko-KR" sz="80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(</a:t>
              </a:r>
              <a:r>
                <a:rPr kumimoji="1" lang="mr-IN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932,4KB</a:t>
              </a:r>
              <a:r>
                <a:rPr kumimoji="1" lang="mr-IN" altLang="ko-KR" sz="80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/100MB)</a:t>
              </a:r>
              <a:endParaRPr kumimoji="1" lang="mr-IN" altLang="ko-KR" sz="8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63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4"/>
              </p:custDataLst>
            </p:nvPr>
          </p:nvSpPr>
          <p:spPr>
            <a:xfrm>
              <a:off x="3259894" y="3480905"/>
              <a:ext cx="5815851" cy="2985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4325" marR="0" lvl="1" indent="-13335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FFFFFF"/>
                  </a:solidFill>
                </a:defRPr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2017</a:t>
              </a:r>
              <a:r>
                <a: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휴가신청서모음 </a:t>
              </a:r>
              <a:r>
                <a:rPr kumimoji="1" lang="en-US" altLang="ko-KR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UI/UX</a:t>
              </a:r>
              <a:r>
                <a: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팀</a:t>
              </a:r>
              <a:r>
                <a:rPr kumimoji="1" lang="en-US" altLang="ko-KR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.zip</a:t>
              </a:r>
              <a:endPara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4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5"/>
              </p:custDataLst>
            </p:nvPr>
          </p:nvSpPr>
          <p:spPr>
            <a:xfrm>
              <a:off x="3259894" y="3776180"/>
              <a:ext cx="5815851" cy="2985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4325" marR="0" lvl="1" indent="-133350" algn="l" defTabSz="914400" rtl="0" eaLnBrk="1" fontAlgn="base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2400">
                  <a:solidFill>
                    <a:srgbClr val="FFFFFF"/>
                  </a:solidFill>
                </a:defRPr>
              </a:pPr>
              <a:r>
                <a:rPr kumimoji="1" lang="en-US" altLang="ko-KR" sz="800" b="0" i="0" u="none" strike="sngStrike" kern="1200" cap="none" spc="0" normalizeH="0" baseline="0" noProof="0" smtClean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2017</a:t>
              </a:r>
              <a:r>
                <a:rPr kumimoji="1" lang="ko-KR" altLang="en-US" sz="800" b="0" i="0" u="none" strike="sng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휴가신청서모음 </a:t>
              </a:r>
              <a:r>
                <a:rPr kumimoji="1" lang="en-US" altLang="ko-KR" sz="800" b="0" i="0" u="none" strike="sng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UI/UX</a:t>
              </a:r>
              <a:r>
                <a:rPr kumimoji="1" lang="ko-KR" altLang="en-US" sz="800" b="0" i="0" u="none" strike="sng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팀</a:t>
              </a:r>
              <a:r>
                <a:rPr kumimoji="1" lang="en-US" altLang="ko-KR" sz="800" b="0" i="0" u="none" strike="sng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.zip</a:t>
              </a:r>
              <a:endParaRPr kumimoji="1" lang="en-US" altLang="ko-KR" sz="800" b="0" i="0" u="none" strike="sng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5" name="Freeform 29"/>
            <p:cNvSpPr>
              <a:spLocks noChangeAspect="1" noEditPoints="1"/>
            </p:cNvSpPr>
            <p:nvPr/>
          </p:nvSpPr>
          <p:spPr bwMode="auto">
            <a:xfrm>
              <a:off x="3368849" y="3584464"/>
              <a:ext cx="88991" cy="108000"/>
            </a:xfrm>
            <a:custGeom>
              <a:avLst/>
              <a:gdLst>
                <a:gd name="T0" fmla="*/ 350 w 350"/>
                <a:gd name="T1" fmla="*/ 150 h 425"/>
                <a:gd name="T2" fmla="*/ 250 w 350"/>
                <a:gd name="T3" fmla="*/ 150 h 425"/>
                <a:gd name="T4" fmla="*/ 250 w 350"/>
                <a:gd name="T5" fmla="*/ 0 h 425"/>
                <a:gd name="T6" fmla="*/ 100 w 350"/>
                <a:gd name="T7" fmla="*/ 0 h 425"/>
                <a:gd name="T8" fmla="*/ 100 w 350"/>
                <a:gd name="T9" fmla="*/ 150 h 425"/>
                <a:gd name="T10" fmla="*/ 0 w 350"/>
                <a:gd name="T11" fmla="*/ 150 h 425"/>
                <a:gd name="T12" fmla="*/ 175 w 350"/>
                <a:gd name="T13" fmla="*/ 325 h 425"/>
                <a:gd name="T14" fmla="*/ 350 w 350"/>
                <a:gd name="T15" fmla="*/ 150 h 425"/>
                <a:gd name="T16" fmla="*/ 0 w 350"/>
                <a:gd name="T17" fmla="*/ 375 h 425"/>
                <a:gd name="T18" fmla="*/ 0 w 350"/>
                <a:gd name="T19" fmla="*/ 425 h 425"/>
                <a:gd name="T20" fmla="*/ 350 w 350"/>
                <a:gd name="T21" fmla="*/ 425 h 425"/>
                <a:gd name="T22" fmla="*/ 350 w 350"/>
                <a:gd name="T23" fmla="*/ 375 h 425"/>
                <a:gd name="T24" fmla="*/ 0 w 350"/>
                <a:gd name="T25" fmla="*/ 37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0" h="425">
                  <a:moveTo>
                    <a:pt x="350" y="150"/>
                  </a:moveTo>
                  <a:lnTo>
                    <a:pt x="250" y="150"/>
                  </a:lnTo>
                  <a:lnTo>
                    <a:pt x="250" y="0"/>
                  </a:lnTo>
                  <a:lnTo>
                    <a:pt x="100" y="0"/>
                  </a:lnTo>
                  <a:lnTo>
                    <a:pt x="100" y="150"/>
                  </a:lnTo>
                  <a:lnTo>
                    <a:pt x="0" y="150"/>
                  </a:lnTo>
                  <a:lnTo>
                    <a:pt x="175" y="325"/>
                  </a:lnTo>
                  <a:lnTo>
                    <a:pt x="350" y="150"/>
                  </a:lnTo>
                  <a:close/>
                  <a:moveTo>
                    <a:pt x="0" y="375"/>
                  </a:moveTo>
                  <a:lnTo>
                    <a:pt x="0" y="425"/>
                  </a:lnTo>
                  <a:lnTo>
                    <a:pt x="350" y="425"/>
                  </a:lnTo>
                  <a:lnTo>
                    <a:pt x="350" y="375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166" name="Freeform 29"/>
            <p:cNvSpPr>
              <a:spLocks noChangeAspect="1" noEditPoints="1"/>
            </p:cNvSpPr>
            <p:nvPr/>
          </p:nvSpPr>
          <p:spPr bwMode="auto">
            <a:xfrm>
              <a:off x="3368849" y="3884646"/>
              <a:ext cx="88991" cy="108000"/>
            </a:xfrm>
            <a:custGeom>
              <a:avLst/>
              <a:gdLst>
                <a:gd name="T0" fmla="*/ 350 w 350"/>
                <a:gd name="T1" fmla="*/ 150 h 425"/>
                <a:gd name="T2" fmla="*/ 250 w 350"/>
                <a:gd name="T3" fmla="*/ 150 h 425"/>
                <a:gd name="T4" fmla="*/ 250 w 350"/>
                <a:gd name="T5" fmla="*/ 0 h 425"/>
                <a:gd name="T6" fmla="*/ 100 w 350"/>
                <a:gd name="T7" fmla="*/ 0 h 425"/>
                <a:gd name="T8" fmla="*/ 100 w 350"/>
                <a:gd name="T9" fmla="*/ 150 h 425"/>
                <a:gd name="T10" fmla="*/ 0 w 350"/>
                <a:gd name="T11" fmla="*/ 150 h 425"/>
                <a:gd name="T12" fmla="*/ 175 w 350"/>
                <a:gd name="T13" fmla="*/ 325 h 425"/>
                <a:gd name="T14" fmla="*/ 350 w 350"/>
                <a:gd name="T15" fmla="*/ 150 h 425"/>
                <a:gd name="T16" fmla="*/ 0 w 350"/>
                <a:gd name="T17" fmla="*/ 375 h 425"/>
                <a:gd name="T18" fmla="*/ 0 w 350"/>
                <a:gd name="T19" fmla="*/ 425 h 425"/>
                <a:gd name="T20" fmla="*/ 350 w 350"/>
                <a:gd name="T21" fmla="*/ 425 h 425"/>
                <a:gd name="T22" fmla="*/ 350 w 350"/>
                <a:gd name="T23" fmla="*/ 375 h 425"/>
                <a:gd name="T24" fmla="*/ 0 w 350"/>
                <a:gd name="T25" fmla="*/ 37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0" h="425">
                  <a:moveTo>
                    <a:pt x="350" y="150"/>
                  </a:moveTo>
                  <a:lnTo>
                    <a:pt x="250" y="150"/>
                  </a:lnTo>
                  <a:lnTo>
                    <a:pt x="250" y="0"/>
                  </a:lnTo>
                  <a:lnTo>
                    <a:pt x="100" y="0"/>
                  </a:lnTo>
                  <a:lnTo>
                    <a:pt x="100" y="150"/>
                  </a:lnTo>
                  <a:lnTo>
                    <a:pt x="0" y="150"/>
                  </a:lnTo>
                  <a:lnTo>
                    <a:pt x="175" y="325"/>
                  </a:lnTo>
                  <a:lnTo>
                    <a:pt x="350" y="150"/>
                  </a:lnTo>
                  <a:close/>
                  <a:moveTo>
                    <a:pt x="0" y="375"/>
                  </a:moveTo>
                  <a:lnTo>
                    <a:pt x="0" y="425"/>
                  </a:lnTo>
                  <a:lnTo>
                    <a:pt x="350" y="425"/>
                  </a:lnTo>
                  <a:lnTo>
                    <a:pt x="350" y="375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7176120" y="3572217"/>
              <a:ext cx="914400" cy="14401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25MB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7176120" y="3867492"/>
              <a:ext cx="914400" cy="14401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25MB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  <p:sp>
          <p:nvSpPr>
            <p:cNvPr id="169" name="Freeform 11"/>
            <p:cNvSpPr>
              <a:spLocks noChangeAspect="1" noChangeArrowheads="1"/>
            </p:cNvSpPr>
            <p:nvPr/>
          </p:nvSpPr>
          <p:spPr bwMode="auto">
            <a:xfrm>
              <a:off x="8090832" y="3618363"/>
              <a:ext cx="71999" cy="72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8040216" y="3839136"/>
              <a:ext cx="377409" cy="17736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ko-KR" altLang="en-US" sz="600" u="sng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삭제취소</a:t>
              </a:r>
            </a:p>
          </p:txBody>
        </p:sp>
      </p:grpSp>
      <p:sp>
        <p:nvSpPr>
          <p:cNvPr id="173" name="TextBox 172"/>
          <p:cNvSpPr txBox="1"/>
          <p:nvPr/>
        </p:nvSpPr>
        <p:spPr>
          <a:xfrm>
            <a:off x="250504" y="4242554"/>
            <a:ext cx="921313" cy="19583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첨부목록▲</a:t>
            </a:r>
          </a:p>
        </p:txBody>
      </p:sp>
      <p:sp>
        <p:nvSpPr>
          <p:cNvPr id="172" name="타원 171"/>
          <p:cNvSpPr>
            <a:spLocks noChangeAspect="1"/>
          </p:cNvSpPr>
          <p:nvPr/>
        </p:nvSpPr>
        <p:spPr>
          <a:xfrm>
            <a:off x="109361" y="4021651"/>
            <a:ext cx="178657" cy="180000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922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3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정보 수정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스퀘어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12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121036"/>
              </p:ext>
            </p:extLst>
          </p:nvPr>
        </p:nvGraphicFramePr>
        <p:xfrm>
          <a:off x="9284677" y="798395"/>
          <a:ext cx="2839915" cy="775680"/>
        </p:xfrm>
        <a:graphic>
          <a:graphicData uri="http://schemas.openxmlformats.org/drawingml/2006/table">
            <a:tbl>
              <a:tblPr/>
              <a:tblGrid>
                <a:gridCol w="21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7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스퀘어 일정의 수정 화면일 경우 달력이 해당 그룹으로 고정되므로 수정 불가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공유자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기념일 관련 항목은 노출 안함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508198"/>
                  </a:ext>
                </a:extLst>
              </a:tr>
            </a:tbl>
          </a:graphicData>
        </a:graphic>
      </p:graphicFrame>
      <p:sp>
        <p:nvSpPr>
          <p:cNvPr id="143" name="TextBox 142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CA6.1.1.5</a:t>
            </a:r>
            <a:endParaRPr kumimoji="1" lang="ko-KR" altLang="en-US" sz="800" b="1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5" name="직사각형"/>
          <p:cNvSpPr/>
          <p:nvPr/>
        </p:nvSpPr>
        <p:spPr>
          <a:xfrm>
            <a:off x="189335" y="416863"/>
            <a:ext cx="7487538" cy="57362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146" name="Rectangle 212"/>
          <p:cNvSpPr/>
          <p:nvPr/>
        </p:nvSpPr>
        <p:spPr>
          <a:xfrm>
            <a:off x="202573" y="677714"/>
            <a:ext cx="7468227" cy="29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일정 정보</a:t>
            </a:r>
            <a:endParaRPr lang="en-US" sz="800" b="1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cxnSp>
        <p:nvCxnSpPr>
          <p:cNvPr id="147" name="직선 연결선[R] 7"/>
          <p:cNvCxnSpPr/>
          <p:nvPr/>
        </p:nvCxnSpPr>
        <p:spPr>
          <a:xfrm>
            <a:off x="190692" y="1332080"/>
            <a:ext cx="748618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148" name="텍스트 상자 31"/>
          <p:cNvSpPr txBox="1"/>
          <p:nvPr/>
        </p:nvSpPr>
        <p:spPr>
          <a:xfrm>
            <a:off x="371287" y="1540946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제목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49" name="직선 연결선[R] 7"/>
          <p:cNvCxnSpPr/>
          <p:nvPr/>
        </p:nvCxnSpPr>
        <p:spPr>
          <a:xfrm>
            <a:off x="911112" y="1721683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150" name="텍스트 상자 31"/>
          <p:cNvSpPr txBox="1"/>
          <p:nvPr/>
        </p:nvSpPr>
        <p:spPr>
          <a:xfrm>
            <a:off x="371287" y="1963790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달력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51" name="Group 15"/>
          <p:cNvGrpSpPr/>
          <p:nvPr/>
        </p:nvGrpSpPr>
        <p:grpSpPr>
          <a:xfrm>
            <a:off x="2948715" y="1147745"/>
            <a:ext cx="1982016" cy="176117"/>
            <a:chOff x="4223944" y="1715997"/>
            <a:chExt cx="1982016" cy="176117"/>
          </a:xfrm>
        </p:grpSpPr>
        <p:sp>
          <p:nvSpPr>
            <p:cNvPr id="152" name="텍스트 상자 31"/>
            <p:cNvSpPr txBox="1"/>
            <p:nvPr/>
          </p:nvSpPr>
          <p:spPr>
            <a:xfrm>
              <a:off x="4935567" y="1715997"/>
              <a:ext cx="127039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설비 </a:t>
              </a:r>
              <a:r>
                <a:rPr kumimoji="1"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일정확인</a:t>
              </a:r>
              <a:endParaRPr kumimoji="1" lang="ko-KR" altLang="en-US" sz="9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53" name="Group 13"/>
            <p:cNvGrpSpPr/>
            <p:nvPr/>
          </p:nvGrpSpPr>
          <p:grpSpPr>
            <a:xfrm>
              <a:off x="4223944" y="1715997"/>
              <a:ext cx="612000" cy="176117"/>
              <a:chOff x="4223944" y="1715997"/>
              <a:chExt cx="612000" cy="176117"/>
            </a:xfrm>
          </p:grpSpPr>
          <p:sp>
            <p:nvSpPr>
              <p:cNvPr id="154" name="텍스트 상자 31"/>
              <p:cNvSpPr txBox="1"/>
              <p:nvPr/>
            </p:nvSpPr>
            <p:spPr>
              <a:xfrm>
                <a:off x="4223944" y="1715997"/>
                <a:ext cx="6120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ko-KR" altLang="en-US" sz="900" b="1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ea"/>
                    <a:ea typeface="+mn-ea"/>
                  </a:rPr>
                  <a:t>일정 상세</a:t>
                </a:r>
                <a:endParaRPr kumimoji="1" lang="ko-KR" altLang="en-US" sz="9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155" name="직선 연결선[R] 7"/>
              <p:cNvCxnSpPr/>
              <p:nvPr/>
            </p:nvCxnSpPr>
            <p:spPr>
              <a:xfrm>
                <a:off x="4277944" y="1892114"/>
                <a:ext cx="504000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miter lim="400000"/>
              </a:ln>
            </p:spPr>
          </p:cxnSp>
        </p:grpSp>
      </p:grpSp>
      <p:sp>
        <p:nvSpPr>
          <p:cNvPr id="156" name="텍스트 상자 31"/>
          <p:cNvSpPr txBox="1"/>
          <p:nvPr/>
        </p:nvSpPr>
        <p:spPr>
          <a:xfrm>
            <a:off x="371287" y="3247630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알림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9" name="텍스트 상자 31"/>
          <p:cNvSpPr txBox="1"/>
          <p:nvPr/>
        </p:nvSpPr>
        <p:spPr>
          <a:xfrm>
            <a:off x="371287" y="2376985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일시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0" name="Rounded Rectangle 939"/>
          <p:cNvSpPr/>
          <p:nvPr/>
        </p:nvSpPr>
        <p:spPr>
          <a:xfrm>
            <a:off x="4974324" y="2328192"/>
            <a:ext cx="648000" cy="290149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tx1">
                <a:lumMod val="95000"/>
                <a:lumOff val="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반복 설정</a:t>
            </a:r>
            <a:endParaRPr kumimoji="1"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61" name="Group 67"/>
          <p:cNvGrpSpPr/>
          <p:nvPr/>
        </p:nvGrpSpPr>
        <p:grpSpPr>
          <a:xfrm>
            <a:off x="1381746" y="2328192"/>
            <a:ext cx="3555600" cy="290149"/>
            <a:chOff x="1135173" y="2884869"/>
            <a:chExt cx="3555600" cy="290149"/>
          </a:xfrm>
        </p:grpSpPr>
        <p:sp>
          <p:nvSpPr>
            <p:cNvPr id="162" name="Rounded Rectangle 939"/>
            <p:cNvSpPr/>
            <p:nvPr/>
          </p:nvSpPr>
          <p:spPr>
            <a:xfrm>
              <a:off x="11351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r>
                <a:rPr kumimoji="1" lang="en-US" altLang="ko-KR" sz="9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2017.09.20</a:t>
              </a:r>
              <a:endPara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63" name="Rounded Rectangle 939"/>
            <p:cNvSpPr/>
            <p:nvPr/>
          </p:nvSpPr>
          <p:spPr>
            <a:xfrm>
              <a:off x="19352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r>
                <a:rPr kumimoji="1"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오전 </a:t>
              </a:r>
              <a:r>
                <a:rPr kumimoji="1"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11:00</a:t>
              </a:r>
              <a:endPara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64" name="Triangle 942"/>
            <p:cNvSpPr>
              <a:spLocks noChangeAspect="1"/>
            </p:cNvSpPr>
            <p:nvPr/>
          </p:nvSpPr>
          <p:spPr>
            <a:xfrm flipV="1">
              <a:off x="2620251" y="2998992"/>
              <a:ext cx="108000" cy="6190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33">
                <a:solidFill>
                  <a:schemeClr val="tx1"/>
                </a:solidFill>
                <a:latin typeface="+mn-ea"/>
                <a:ea typeface="+mn-ea"/>
                <a:cs typeface="ＭＳ Ｐゴシック" charset="0"/>
              </a:endParaRPr>
            </a:p>
          </p:txBody>
        </p:sp>
        <p:sp>
          <p:nvSpPr>
            <p:cNvPr id="165" name="Rounded Rectangle 939"/>
            <p:cNvSpPr/>
            <p:nvPr/>
          </p:nvSpPr>
          <p:spPr>
            <a:xfrm>
              <a:off x="30266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r>
                <a:rPr kumimoji="1" lang="en-US" altLang="ko-KR" sz="9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2017.09.20</a:t>
              </a:r>
              <a:endPara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66" name="Rounded Rectangle 939"/>
            <p:cNvSpPr/>
            <p:nvPr/>
          </p:nvSpPr>
          <p:spPr>
            <a:xfrm>
              <a:off x="38267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r>
                <a:rPr kumimoji="1" lang="ko-KR" altLang="en-US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오후 </a:t>
              </a:r>
              <a:r>
                <a:rPr kumimoji="1"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3</a:t>
              </a:r>
              <a:r>
                <a:rPr kumimoji="1" lang="en-US" altLang="ko-KR" sz="9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:00</a:t>
              </a:r>
              <a:endParaRPr kumimoji="1"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67" name="Triangle 942"/>
            <p:cNvSpPr>
              <a:spLocks noChangeAspect="1"/>
            </p:cNvSpPr>
            <p:nvPr/>
          </p:nvSpPr>
          <p:spPr>
            <a:xfrm flipV="1">
              <a:off x="4511751" y="2998992"/>
              <a:ext cx="108000" cy="6190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33">
                <a:solidFill>
                  <a:schemeClr val="tx1"/>
                </a:solidFill>
                <a:latin typeface="+mn-ea"/>
                <a:ea typeface="+mn-ea"/>
                <a:cs typeface="ＭＳ Ｐゴシック" charset="0"/>
              </a:endParaRPr>
            </a:p>
          </p:txBody>
        </p:sp>
      </p:grpSp>
      <p:grpSp>
        <p:nvGrpSpPr>
          <p:cNvPr id="168" name="Group 661"/>
          <p:cNvGrpSpPr/>
          <p:nvPr/>
        </p:nvGrpSpPr>
        <p:grpSpPr>
          <a:xfrm>
            <a:off x="371287" y="2828945"/>
            <a:ext cx="5501973" cy="199787"/>
            <a:chOff x="583051" y="2407589"/>
            <a:chExt cx="5501973" cy="199787"/>
          </a:xfrm>
        </p:grpSpPr>
        <p:sp>
          <p:nvSpPr>
            <p:cNvPr id="169" name="텍스트 상자 31"/>
            <p:cNvSpPr txBox="1"/>
            <p:nvPr/>
          </p:nvSpPr>
          <p:spPr>
            <a:xfrm>
              <a:off x="583051" y="2407589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설비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cxnSp>
          <p:nvCxnSpPr>
            <p:cNvPr id="170" name="직선 연결선[R] 7"/>
            <p:cNvCxnSpPr/>
            <p:nvPr/>
          </p:nvCxnSpPr>
          <p:spPr>
            <a:xfrm>
              <a:off x="1122876" y="2607376"/>
              <a:ext cx="4962148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</p:cxnSp>
      </p:grpSp>
      <p:sp>
        <p:nvSpPr>
          <p:cNvPr id="171" name="Rounded Rectangle 939"/>
          <p:cNvSpPr/>
          <p:nvPr/>
        </p:nvSpPr>
        <p:spPr>
          <a:xfrm>
            <a:off x="5939014" y="2804221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설비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2" name="Rounded Rectangle 939"/>
          <p:cNvSpPr/>
          <p:nvPr/>
        </p:nvSpPr>
        <p:spPr>
          <a:xfrm>
            <a:off x="911112" y="2764895"/>
            <a:ext cx="612000" cy="228857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r>
              <a:rPr kumimoji="1"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추가</a:t>
            </a:r>
            <a:endParaRPr kumimoji="1" lang="ko-KR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73" name="Group 121"/>
          <p:cNvGrpSpPr/>
          <p:nvPr/>
        </p:nvGrpSpPr>
        <p:grpSpPr>
          <a:xfrm>
            <a:off x="5840062" y="2379510"/>
            <a:ext cx="365833" cy="187731"/>
            <a:chOff x="10669464" y="2798956"/>
            <a:chExt cx="365833" cy="187731"/>
          </a:xfrm>
        </p:grpSpPr>
        <p:sp>
          <p:nvSpPr>
            <p:cNvPr id="174" name="Rounded Rectangle 722"/>
            <p:cNvSpPr/>
            <p:nvPr/>
          </p:nvSpPr>
          <p:spPr>
            <a:xfrm>
              <a:off x="10819297" y="2798956"/>
              <a:ext cx="21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종일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75" name="Rounded Rectangle 723"/>
            <p:cNvSpPr/>
            <p:nvPr/>
          </p:nvSpPr>
          <p:spPr>
            <a:xfrm>
              <a:off x="10669464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30000"/>
                </a:lnSpc>
              </a:pP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76" name="Triangle 942"/>
          <p:cNvSpPr>
            <a:spLocks noChangeAspect="1"/>
          </p:cNvSpPr>
          <p:nvPr/>
        </p:nvSpPr>
        <p:spPr>
          <a:xfrm flipV="1">
            <a:off x="1410971" y="2853047"/>
            <a:ext cx="91689" cy="5255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33">
              <a:solidFill>
                <a:schemeClr val="tx1"/>
              </a:solidFill>
              <a:latin typeface="+mn-ea"/>
              <a:ea typeface="+mn-ea"/>
              <a:cs typeface="ＭＳ Ｐゴシック" charset="0"/>
            </a:endParaRPr>
          </a:p>
        </p:txBody>
      </p:sp>
      <p:grpSp>
        <p:nvGrpSpPr>
          <p:cNvPr id="177" name="Group 1"/>
          <p:cNvGrpSpPr/>
          <p:nvPr/>
        </p:nvGrpSpPr>
        <p:grpSpPr>
          <a:xfrm>
            <a:off x="911112" y="2328197"/>
            <a:ext cx="432000" cy="286194"/>
            <a:chOff x="1122876" y="2916525"/>
            <a:chExt cx="432000" cy="251417"/>
          </a:xfrm>
        </p:grpSpPr>
        <p:sp>
          <p:nvSpPr>
            <p:cNvPr id="178" name="Rounded Rectangle 939"/>
            <p:cNvSpPr/>
            <p:nvPr/>
          </p:nvSpPr>
          <p:spPr>
            <a:xfrm>
              <a:off x="1122876" y="2916525"/>
              <a:ext cx="432000" cy="251417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r>
                <a:rPr kumimoji="1"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양력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79" name="Triangle 942"/>
            <p:cNvSpPr>
              <a:spLocks noChangeAspect="1"/>
            </p:cNvSpPr>
            <p:nvPr/>
          </p:nvSpPr>
          <p:spPr>
            <a:xfrm flipV="1">
              <a:off x="1419199" y="3021952"/>
              <a:ext cx="91689" cy="52553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33">
                <a:solidFill>
                  <a:schemeClr val="tx1"/>
                </a:solidFill>
                <a:latin typeface="+mn-ea"/>
                <a:ea typeface="+mn-ea"/>
                <a:cs typeface="ＭＳ Ｐゴシック" charset="0"/>
              </a:endParaRPr>
            </a:p>
          </p:txBody>
        </p:sp>
      </p:grpSp>
      <p:sp>
        <p:nvSpPr>
          <p:cNvPr id="180" name="텍스트 상자 31"/>
          <p:cNvSpPr txBox="1"/>
          <p:nvPr/>
        </p:nvSpPr>
        <p:spPr>
          <a:xfrm>
            <a:off x="893019" y="3899679"/>
            <a:ext cx="68400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en-US" altLang="ko-KR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+</a:t>
            </a:r>
            <a:r>
              <a:rPr kumimoji="1" lang="ko-KR" altLang="en-US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알림 추가</a:t>
            </a:r>
            <a:endParaRPr kumimoji="1" lang="ko-KR" altLang="en-US" sz="800" u="sng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1" name="Rounded Rectangle 939"/>
          <p:cNvSpPr/>
          <p:nvPr/>
        </p:nvSpPr>
        <p:spPr>
          <a:xfrm>
            <a:off x="905317" y="3194601"/>
            <a:ext cx="900000" cy="216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endParaRPr kumimoji="1" lang="en-US" sz="700" dirty="0">
              <a:latin typeface="+mn-ea"/>
              <a:ea typeface="+mn-ea"/>
            </a:endParaRPr>
          </a:p>
        </p:txBody>
      </p:sp>
      <p:sp>
        <p:nvSpPr>
          <p:cNvPr id="182" name="Triangle 942"/>
          <p:cNvSpPr>
            <a:spLocks noChangeAspect="1"/>
          </p:cNvSpPr>
          <p:nvPr/>
        </p:nvSpPr>
        <p:spPr>
          <a:xfrm flipV="1">
            <a:off x="1653152" y="3276183"/>
            <a:ext cx="108000" cy="6190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33">
              <a:solidFill>
                <a:schemeClr val="tx1"/>
              </a:solidFill>
              <a:latin typeface="+mn-ea"/>
              <a:ea typeface="+mn-ea"/>
              <a:cs typeface="ＭＳ Ｐゴシック" charset="0"/>
            </a:endParaRPr>
          </a:p>
        </p:txBody>
      </p:sp>
      <p:sp>
        <p:nvSpPr>
          <p:cNvPr id="183" name="텍스트 상자 31"/>
          <p:cNvSpPr txBox="1"/>
          <p:nvPr/>
        </p:nvSpPr>
        <p:spPr>
          <a:xfrm>
            <a:off x="971518" y="3236229"/>
            <a:ext cx="684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10</a:t>
            </a:r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분 전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4" name="Freeform 11"/>
          <p:cNvSpPr>
            <a:spLocks noChangeAspect="1" noChangeArrowheads="1"/>
          </p:cNvSpPr>
          <p:nvPr/>
        </p:nvSpPr>
        <p:spPr bwMode="auto">
          <a:xfrm>
            <a:off x="2504832" y="3253840"/>
            <a:ext cx="81140" cy="8114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grpSp>
        <p:nvGrpSpPr>
          <p:cNvPr id="185" name="Group 298"/>
          <p:cNvGrpSpPr/>
          <p:nvPr/>
        </p:nvGrpSpPr>
        <p:grpSpPr>
          <a:xfrm>
            <a:off x="1872647" y="3189438"/>
            <a:ext cx="542168" cy="217610"/>
            <a:chOff x="2102505" y="5084640"/>
            <a:chExt cx="542168" cy="217610"/>
          </a:xfrm>
        </p:grpSpPr>
        <p:sp>
          <p:nvSpPr>
            <p:cNvPr id="186" name="Rounded Rectangle 939"/>
            <p:cNvSpPr/>
            <p:nvPr/>
          </p:nvSpPr>
          <p:spPr>
            <a:xfrm>
              <a:off x="2104673" y="5084640"/>
              <a:ext cx="540000" cy="209897"/>
            </a:xfrm>
            <a:prstGeom prst="roundRect">
              <a:avLst>
                <a:gd name="adj" fmla="val 8420"/>
              </a:avLst>
            </a:prstGeom>
            <a:solidFill>
              <a:schemeClr val="bg1">
                <a:lumMod val="95000"/>
              </a:schemeClr>
            </a:solidFill>
            <a:ln w="6350" cap="flat" cmpd="sng">
              <a:solidFill>
                <a:schemeClr val="bg1">
                  <a:lumMod val="7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87" name="Rounded Rectangle 939"/>
            <p:cNvSpPr/>
            <p:nvPr/>
          </p:nvSpPr>
          <p:spPr>
            <a:xfrm>
              <a:off x="2102505" y="5092353"/>
              <a:ext cx="286872" cy="209897"/>
            </a:xfrm>
            <a:prstGeom prst="roundRect">
              <a:avLst>
                <a:gd name="adj" fmla="val 8420"/>
              </a:avLst>
            </a:prstGeom>
            <a:solidFill>
              <a:schemeClr val="bg1">
                <a:lumMod val="65000"/>
              </a:schemeClr>
            </a:solidFill>
            <a:ln w="635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r>
                <a:rPr kumimoji="1" lang="ko-KR" altLang="en-US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알림</a:t>
              </a:r>
              <a:endParaRPr kumimoji="1" 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88" name="Rectangle 301"/>
            <p:cNvSpPr/>
            <p:nvPr/>
          </p:nvSpPr>
          <p:spPr>
            <a:xfrm>
              <a:off x="2422621" y="5143440"/>
              <a:ext cx="179536" cy="10772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ko-KR" altLang="en-US" sz="7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메일</a:t>
              </a:r>
              <a:endParaRPr kumimoji="1"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89" name="Rounded Rectangle 939"/>
          <p:cNvSpPr/>
          <p:nvPr/>
        </p:nvSpPr>
        <p:spPr>
          <a:xfrm>
            <a:off x="905317" y="3511531"/>
            <a:ext cx="900000" cy="216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endParaRPr kumimoji="1" lang="en-US" sz="700" dirty="0">
              <a:latin typeface="+mn-ea"/>
              <a:ea typeface="+mn-ea"/>
            </a:endParaRPr>
          </a:p>
        </p:txBody>
      </p:sp>
      <p:sp>
        <p:nvSpPr>
          <p:cNvPr id="190" name="Triangle 942"/>
          <p:cNvSpPr>
            <a:spLocks noChangeAspect="1"/>
          </p:cNvSpPr>
          <p:nvPr/>
        </p:nvSpPr>
        <p:spPr>
          <a:xfrm flipV="1">
            <a:off x="1653152" y="3602166"/>
            <a:ext cx="108000" cy="6190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33">
              <a:solidFill>
                <a:schemeClr val="tx1"/>
              </a:solidFill>
              <a:latin typeface="+mn-ea"/>
              <a:ea typeface="+mn-ea"/>
              <a:cs typeface="ＭＳ Ｐゴシック" charset="0"/>
            </a:endParaRPr>
          </a:p>
        </p:txBody>
      </p:sp>
      <p:sp>
        <p:nvSpPr>
          <p:cNvPr id="191" name="텍스트 상자 31"/>
          <p:cNvSpPr txBox="1"/>
          <p:nvPr/>
        </p:nvSpPr>
        <p:spPr>
          <a:xfrm>
            <a:off x="971518" y="3562212"/>
            <a:ext cx="684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20</a:t>
            </a:r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분 전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2" name="Freeform 11"/>
          <p:cNvSpPr>
            <a:spLocks noChangeAspect="1" noChangeArrowheads="1"/>
          </p:cNvSpPr>
          <p:nvPr/>
        </p:nvSpPr>
        <p:spPr bwMode="auto">
          <a:xfrm>
            <a:off x="2504832" y="3579823"/>
            <a:ext cx="81140" cy="81140"/>
          </a:xfrm>
          <a:custGeom>
            <a:avLst/>
            <a:gdLst>
              <a:gd name="T0" fmla="*/ 454 w 455"/>
              <a:gd name="T1" fmla="*/ 44 h 456"/>
              <a:gd name="T2" fmla="*/ 411 w 455"/>
              <a:gd name="T3" fmla="*/ 0 h 456"/>
              <a:gd name="T4" fmla="*/ 224 w 455"/>
              <a:gd name="T5" fmla="*/ 181 h 456"/>
              <a:gd name="T6" fmla="*/ 44 w 455"/>
              <a:gd name="T7" fmla="*/ 0 h 456"/>
              <a:gd name="T8" fmla="*/ 0 w 455"/>
              <a:gd name="T9" fmla="*/ 44 h 456"/>
              <a:gd name="T10" fmla="*/ 181 w 455"/>
              <a:gd name="T11" fmla="*/ 224 h 456"/>
              <a:gd name="T12" fmla="*/ 0 w 455"/>
              <a:gd name="T13" fmla="*/ 411 h 456"/>
              <a:gd name="T14" fmla="*/ 44 w 455"/>
              <a:gd name="T15" fmla="*/ 455 h 456"/>
              <a:gd name="T16" fmla="*/ 224 w 455"/>
              <a:gd name="T17" fmla="*/ 274 h 456"/>
              <a:gd name="T18" fmla="*/ 411 w 455"/>
              <a:gd name="T19" fmla="*/ 455 h 456"/>
              <a:gd name="T20" fmla="*/ 454 w 455"/>
              <a:gd name="T21" fmla="*/ 411 h 456"/>
              <a:gd name="T22" fmla="*/ 274 w 455"/>
              <a:gd name="T23" fmla="*/ 224 h 456"/>
              <a:gd name="T24" fmla="*/ 454 w 455"/>
              <a:gd name="T25" fmla="*/ 44 h 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55" h="456">
                <a:moveTo>
                  <a:pt x="454" y="44"/>
                </a:moveTo>
                <a:lnTo>
                  <a:pt x="411" y="0"/>
                </a:lnTo>
                <a:lnTo>
                  <a:pt x="224" y="181"/>
                </a:lnTo>
                <a:lnTo>
                  <a:pt x="44" y="0"/>
                </a:lnTo>
                <a:lnTo>
                  <a:pt x="0" y="44"/>
                </a:lnTo>
                <a:lnTo>
                  <a:pt x="181" y="224"/>
                </a:lnTo>
                <a:lnTo>
                  <a:pt x="0" y="411"/>
                </a:lnTo>
                <a:lnTo>
                  <a:pt x="44" y="455"/>
                </a:lnTo>
                <a:lnTo>
                  <a:pt x="224" y="274"/>
                </a:lnTo>
                <a:lnTo>
                  <a:pt x="411" y="455"/>
                </a:lnTo>
                <a:lnTo>
                  <a:pt x="454" y="411"/>
                </a:lnTo>
                <a:lnTo>
                  <a:pt x="274" y="224"/>
                </a:lnTo>
                <a:lnTo>
                  <a:pt x="454" y="44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latin typeface="+mn-ea"/>
              <a:ea typeface="+mn-ea"/>
            </a:endParaRPr>
          </a:p>
        </p:txBody>
      </p:sp>
      <p:grpSp>
        <p:nvGrpSpPr>
          <p:cNvPr id="193" name="Group 308"/>
          <p:cNvGrpSpPr/>
          <p:nvPr/>
        </p:nvGrpSpPr>
        <p:grpSpPr>
          <a:xfrm>
            <a:off x="1872647" y="3515421"/>
            <a:ext cx="542168" cy="217610"/>
            <a:chOff x="2102505" y="5084640"/>
            <a:chExt cx="542168" cy="217610"/>
          </a:xfrm>
        </p:grpSpPr>
        <p:sp>
          <p:nvSpPr>
            <p:cNvPr id="194" name="Rounded Rectangle 939"/>
            <p:cNvSpPr/>
            <p:nvPr/>
          </p:nvSpPr>
          <p:spPr>
            <a:xfrm>
              <a:off x="2104673" y="5084640"/>
              <a:ext cx="540000" cy="209897"/>
            </a:xfrm>
            <a:prstGeom prst="roundRect">
              <a:avLst>
                <a:gd name="adj" fmla="val 8420"/>
              </a:avLst>
            </a:prstGeom>
            <a:solidFill>
              <a:schemeClr val="bg1">
                <a:lumMod val="95000"/>
              </a:schemeClr>
            </a:solidFill>
            <a:ln w="6350" cap="flat" cmpd="sng">
              <a:solidFill>
                <a:schemeClr val="bg1">
                  <a:lumMod val="7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95" name="Rounded Rectangle 939"/>
            <p:cNvSpPr/>
            <p:nvPr/>
          </p:nvSpPr>
          <p:spPr>
            <a:xfrm>
              <a:off x="2102505" y="5092353"/>
              <a:ext cx="286872" cy="209897"/>
            </a:xfrm>
            <a:prstGeom prst="roundRect">
              <a:avLst>
                <a:gd name="adj" fmla="val 8420"/>
              </a:avLst>
            </a:prstGeom>
            <a:solidFill>
              <a:schemeClr val="bg1">
                <a:lumMod val="65000"/>
              </a:schemeClr>
            </a:solidFill>
            <a:ln w="635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r>
                <a:rPr kumimoji="1" lang="ko-KR" altLang="en-US" sz="700" dirty="0" smtClean="0">
                  <a:solidFill>
                    <a:schemeClr val="bg1"/>
                  </a:solidFill>
                  <a:latin typeface="+mn-ea"/>
                  <a:ea typeface="+mn-ea"/>
                </a:rPr>
                <a:t>알림</a:t>
              </a:r>
              <a:endParaRPr kumimoji="1" lang="en-US" sz="7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96" name="Rectangle 311"/>
            <p:cNvSpPr/>
            <p:nvPr/>
          </p:nvSpPr>
          <p:spPr>
            <a:xfrm>
              <a:off x="2422621" y="5143440"/>
              <a:ext cx="179536" cy="10772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kumimoji="1"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메일</a:t>
              </a:r>
              <a:endParaRPr kumimoji="1" 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97" name="텍스트 상자 31"/>
          <p:cNvSpPr txBox="1"/>
          <p:nvPr/>
        </p:nvSpPr>
        <p:spPr>
          <a:xfrm>
            <a:off x="907882" y="1945843"/>
            <a:ext cx="19834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800" smtClean="0">
                <a:latin typeface="+mn-ea"/>
                <a:ea typeface="+mn-ea"/>
              </a:rPr>
              <a:t>■ </a:t>
            </a:r>
            <a:r>
              <a:rPr kumimoji="1" lang="en-US" altLang="ko-KR" sz="800" smtClean="0">
                <a:latin typeface="+mn-ea"/>
                <a:ea typeface="+mn-ea"/>
              </a:rPr>
              <a:t>A </a:t>
            </a:r>
            <a:r>
              <a:rPr kumimoji="1" lang="ko-KR" altLang="en-US" sz="800" dirty="0">
                <a:latin typeface="+mn-ea"/>
                <a:ea typeface="+mn-ea"/>
              </a:rPr>
              <a:t>통신사 서비스 </a:t>
            </a:r>
            <a:r>
              <a:rPr kumimoji="1" lang="en-US" altLang="ko-KR" sz="800" dirty="0">
                <a:latin typeface="+mn-ea"/>
                <a:ea typeface="+mn-ea"/>
              </a:rPr>
              <a:t>TF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grpSp>
        <p:nvGrpSpPr>
          <p:cNvPr id="199" name="그룹 198"/>
          <p:cNvGrpSpPr/>
          <p:nvPr/>
        </p:nvGrpSpPr>
        <p:grpSpPr>
          <a:xfrm>
            <a:off x="191314" y="416864"/>
            <a:ext cx="7485559" cy="237744"/>
            <a:chOff x="191314" y="416864"/>
            <a:chExt cx="7485559" cy="237744"/>
          </a:xfrm>
        </p:grpSpPr>
        <p:sp>
          <p:nvSpPr>
            <p:cNvPr id="200" name="Title Bar" descr="&lt;SmartSettings&gt;&lt;SmartResize anchorLeft=&quot;Absolute&quot; anchorTop=&quot;Absolute&quot; anchorRight=&quot;Absolute&quot; anchorBottom=&quot;None&quot; /&gt;&lt;/SmartSettings&gt;"/>
            <p:cNvSpPr/>
            <p:nvPr>
              <p:custDataLst>
                <p:tags r:id="rId1"/>
              </p:custDataLst>
            </p:nvPr>
          </p:nvSpPr>
          <p:spPr>
            <a:xfrm>
              <a:off x="191314" y="416864"/>
              <a:ext cx="7485559" cy="2377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  <a:effectLst/>
          </p:spPr>
          <p:txBody>
            <a:bodyPr lIns="50800" tIns="50800" rIns="50800" bIns="50800" anchor="ctr"/>
            <a:lstStyle/>
            <a:p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Window</a:t>
              </a:r>
            </a:p>
          </p:txBody>
        </p:sp>
        <p:sp>
          <p:nvSpPr>
            <p:cNvPr id="201" name="Close Button" descr="&lt;SmartSettings&gt;&lt;SmartResize anchorLeft=&quot;None&quot; anchorTop=&quot;Absolute&quot; anchorRight=&quot;Absolute&quot; anchorBottom=&quot;None&quot; /&gt;&lt;/SmartSettings&gt;"/>
            <p:cNvSpPr>
              <a:spLocks noEditPoints="1"/>
            </p:cNvSpPr>
            <p:nvPr>
              <p:custDataLst>
                <p:tags r:id="rId2"/>
              </p:custDataLst>
            </p:nvPr>
          </p:nvSpPr>
          <p:spPr bwMode="auto">
            <a:xfrm>
              <a:off x="7491336" y="489601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02" name="TextBox 201"/>
          <p:cNvSpPr txBox="1"/>
          <p:nvPr/>
        </p:nvSpPr>
        <p:spPr>
          <a:xfrm>
            <a:off x="3106993" y="2362373"/>
            <a:ext cx="144839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~</a:t>
            </a: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3" name="텍스트 상자 31"/>
          <p:cNvSpPr txBox="1"/>
          <p:nvPr/>
        </p:nvSpPr>
        <p:spPr>
          <a:xfrm>
            <a:off x="1123436" y="1523287"/>
            <a:ext cx="1188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EGW </a:t>
            </a:r>
            <a:r>
              <a:rPr kumimoji="1"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업무 회의</a:t>
            </a:r>
            <a:endParaRPr kumimoji="1"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04" name="직선 화살표 연결선 203"/>
          <p:cNvCxnSpPr/>
          <p:nvPr/>
        </p:nvCxnSpPr>
        <p:spPr>
          <a:xfrm>
            <a:off x="7538256" y="1379705"/>
            <a:ext cx="0" cy="3163720"/>
          </a:xfrm>
          <a:prstGeom prst="straightConnector1">
            <a:avLst/>
          </a:prstGeom>
          <a:ln w="28575">
            <a:solidFill>
              <a:schemeClr val="bg1">
                <a:lumMod val="85000"/>
              </a:schemeClr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타원 204"/>
          <p:cNvSpPr>
            <a:spLocks noChangeAspect="1"/>
          </p:cNvSpPr>
          <p:nvPr/>
        </p:nvSpPr>
        <p:spPr>
          <a:xfrm>
            <a:off x="162776" y="1937791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06" name="Picture 3" descr="C:\Users\Administrator\Downloads\flag (1)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412" y="1518976"/>
            <a:ext cx="144000" cy="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5" name="Cutout"/>
          <p:cNvGrpSpPr/>
          <p:nvPr/>
        </p:nvGrpSpPr>
        <p:grpSpPr>
          <a:xfrm rot="16200000">
            <a:off x="3760837" y="674737"/>
            <a:ext cx="208936" cy="756654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76" name="Fill"/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7" name="Border"/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8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5275162" y="5683050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>
            <a:solidFill>
              <a:schemeClr val="tx1">
                <a:lumMod val="95000"/>
                <a:lumOff val="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저장</a:t>
            </a: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9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6618187" y="5683050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7A4B3E3-4387-45AB-8514-9604C265EE2B}"/>
              </a:ext>
            </a:extLst>
          </p:cNvPr>
          <p:cNvSpPr txBox="1"/>
          <p:nvPr/>
        </p:nvSpPr>
        <p:spPr>
          <a:xfrm>
            <a:off x="429745" y="4740531"/>
            <a:ext cx="2091354" cy="218709"/>
          </a:xfrm>
          <a:prstGeom prst="rect">
            <a:avLst/>
          </a:prstGeom>
          <a:noFill/>
        </p:spPr>
        <p:txBody>
          <a:bodyPr wrap="squar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</a:t>
            </a: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의견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0/500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2" name="Speech Bubble">
            <a:extLst>
              <a:ext uri="{FF2B5EF4-FFF2-40B4-BE49-F238E27FC236}">
                <a16:creationId xmlns:a16="http://schemas.microsoft.com/office/drawing/2014/main" id="{F595C086-2C91-44F6-B348-497B66BB5B0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54884" y="4775566"/>
            <a:ext cx="192645" cy="161782"/>
          </a:xfrm>
          <a:custGeom>
            <a:avLst/>
            <a:gdLst>
              <a:gd name="T0" fmla="*/ 305 w 611"/>
              <a:gd name="T1" fmla="*/ 0 h 587"/>
              <a:gd name="T2" fmla="*/ 0 w 611"/>
              <a:gd name="T3" fmla="*/ 265 h 587"/>
              <a:gd name="T4" fmla="*/ 119 w 611"/>
              <a:gd name="T5" fmla="*/ 475 h 587"/>
              <a:gd name="T6" fmla="*/ 68 w 611"/>
              <a:gd name="T7" fmla="*/ 584 h 587"/>
              <a:gd name="T8" fmla="*/ 229 w 611"/>
              <a:gd name="T9" fmla="*/ 522 h 587"/>
              <a:gd name="T10" fmla="*/ 305 w 611"/>
              <a:gd name="T11" fmla="*/ 531 h 587"/>
              <a:gd name="T12" fmla="*/ 611 w 611"/>
              <a:gd name="T13" fmla="*/ 265 h 587"/>
              <a:gd name="T14" fmla="*/ 305 w 611"/>
              <a:gd name="T15" fmla="*/ 0 h 587"/>
              <a:gd name="T16" fmla="*/ 305 w 611"/>
              <a:gd name="T17" fmla="*/ 24 h 587"/>
              <a:gd name="T18" fmla="*/ 586 w 611"/>
              <a:gd name="T19" fmla="*/ 265 h 587"/>
              <a:gd name="T20" fmla="*/ 305 w 611"/>
              <a:gd name="T21" fmla="*/ 506 h 587"/>
              <a:gd name="T22" fmla="*/ 221 w 611"/>
              <a:gd name="T23" fmla="*/ 495 h 587"/>
              <a:gd name="T24" fmla="*/ 116 w 611"/>
              <a:gd name="T25" fmla="*/ 555 h 587"/>
              <a:gd name="T26" fmla="*/ 139 w 611"/>
              <a:gd name="T27" fmla="*/ 503 h 587"/>
              <a:gd name="T28" fmla="*/ 144 w 611"/>
              <a:gd name="T29" fmla="*/ 463 h 587"/>
              <a:gd name="T30" fmla="*/ 24 w 611"/>
              <a:gd name="T31" fmla="*/ 265 h 587"/>
              <a:gd name="T32" fmla="*/ 305 w 611"/>
              <a:gd name="T33" fmla="*/ 24 h 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11" h="587">
                <a:moveTo>
                  <a:pt x="305" y="0"/>
                </a:moveTo>
                <a:cubicBezTo>
                  <a:pt x="137" y="0"/>
                  <a:pt x="0" y="118"/>
                  <a:pt x="0" y="265"/>
                </a:cubicBezTo>
                <a:cubicBezTo>
                  <a:pt x="0" y="351"/>
                  <a:pt x="47" y="426"/>
                  <a:pt x="119" y="475"/>
                </a:cubicBezTo>
                <a:cubicBezTo>
                  <a:pt x="117" y="518"/>
                  <a:pt x="88" y="557"/>
                  <a:pt x="68" y="584"/>
                </a:cubicBezTo>
                <a:cubicBezTo>
                  <a:pt x="128" y="587"/>
                  <a:pt x="189" y="568"/>
                  <a:pt x="229" y="522"/>
                </a:cubicBezTo>
                <a:cubicBezTo>
                  <a:pt x="254" y="527"/>
                  <a:pt x="279" y="531"/>
                  <a:pt x="305" y="531"/>
                </a:cubicBezTo>
                <a:cubicBezTo>
                  <a:pt x="473" y="531"/>
                  <a:pt x="611" y="413"/>
                  <a:pt x="611" y="265"/>
                </a:cubicBezTo>
                <a:cubicBezTo>
                  <a:pt x="611" y="118"/>
                  <a:pt x="473" y="0"/>
                  <a:pt x="305" y="0"/>
                </a:cubicBezTo>
                <a:close/>
                <a:moveTo>
                  <a:pt x="305" y="24"/>
                </a:moveTo>
                <a:cubicBezTo>
                  <a:pt x="462" y="24"/>
                  <a:pt x="586" y="133"/>
                  <a:pt x="586" y="265"/>
                </a:cubicBezTo>
                <a:cubicBezTo>
                  <a:pt x="586" y="397"/>
                  <a:pt x="462" y="506"/>
                  <a:pt x="305" y="506"/>
                </a:cubicBezTo>
                <a:cubicBezTo>
                  <a:pt x="274" y="505"/>
                  <a:pt x="248" y="502"/>
                  <a:pt x="221" y="495"/>
                </a:cubicBezTo>
                <a:cubicBezTo>
                  <a:pt x="184" y="538"/>
                  <a:pt x="153" y="548"/>
                  <a:pt x="116" y="555"/>
                </a:cubicBezTo>
                <a:cubicBezTo>
                  <a:pt x="127" y="535"/>
                  <a:pt x="135" y="517"/>
                  <a:pt x="139" y="503"/>
                </a:cubicBezTo>
                <a:cubicBezTo>
                  <a:pt x="143" y="490"/>
                  <a:pt x="144" y="476"/>
                  <a:pt x="144" y="463"/>
                </a:cubicBezTo>
                <a:cubicBezTo>
                  <a:pt x="69" y="408"/>
                  <a:pt x="26" y="337"/>
                  <a:pt x="24" y="265"/>
                </a:cubicBezTo>
                <a:cubicBezTo>
                  <a:pt x="24" y="133"/>
                  <a:pt x="149" y="24"/>
                  <a:pt x="305" y="24"/>
                </a:cubicBez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…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DB8D0B7-B2E1-4678-BCD7-A121CAF0D555}"/>
              </a:ext>
            </a:extLst>
          </p:cNvPr>
          <p:cNvSpPr/>
          <p:nvPr/>
        </p:nvSpPr>
        <p:spPr>
          <a:xfrm>
            <a:off x="358913" y="5012177"/>
            <a:ext cx="6259273" cy="5017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t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/>
              <a:ea typeface="나눔고딕" pitchFamily="50" charset="-127"/>
              <a:cs typeface="+mn-cs"/>
            </a:endParaRPr>
          </a:p>
        </p:txBody>
      </p:sp>
      <p:sp>
        <p:nvSpPr>
          <p:cNvPr id="84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6714585" y="5011631"/>
            <a:ext cx="427829" cy="501739"/>
          </a:xfrm>
          <a:prstGeom prst="roundRect">
            <a:avLst>
              <a:gd name="adj" fmla="val 8420"/>
            </a:avLst>
          </a:prstGeom>
          <a:solidFill>
            <a:schemeClr val="bg1">
              <a:lumMod val="85000"/>
            </a:schemeClr>
          </a:solidFill>
          <a:ln w="63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등록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87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5946675" y="5683050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endParaRPr 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56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805762"/>
              </p:ext>
            </p:extLst>
          </p:nvPr>
        </p:nvGraphicFramePr>
        <p:xfrm>
          <a:off x="9283208" y="764301"/>
          <a:ext cx="2851068" cy="3993108"/>
        </p:xfrm>
        <a:graphic>
          <a:graphicData uri="http://schemas.openxmlformats.org/drawingml/2006/table">
            <a:tbl>
              <a:tblPr/>
              <a:tblGrid>
                <a:gridCol w="176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 gridSpan="2">
                  <a:txBody>
                    <a:bodyPr/>
                    <a:lstStyle/>
                    <a:p>
                      <a:pPr marL="180975" marR="0" indent="-1381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Char char="•"/>
                        <a:tabLst/>
                        <a:defRPr sz="23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Nanum Gothic" charset="-127"/>
                        </a:rPr>
                        <a:t>새로운 달력을 만드는 팝업</a:t>
                      </a: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000" marR="36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유형 선택</a:t>
                      </a:r>
                      <a:endParaRPr lang="en-US" altLang="ko-KR" sz="800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개인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부서 달력 선택가능</a:t>
                      </a:r>
                      <a:endParaRPr kumimoji="1" lang="en-US" altLang="ko-KR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부서 달력은 부서 당 하나만 생성 가능</a:t>
                      </a:r>
                      <a:endParaRPr kumimoji="1" lang="en-US" altLang="ko-KR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82563" marR="0" indent="-920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맑은 고딕" panose="020B0503020000020004" pitchFamily="50" charset="-127"/>
                        <a:buChar char="–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유형을 부서로 선택했을 경우</a:t>
                      </a:r>
                      <a:endParaRPr kumimoji="1" lang="en-US" altLang="ko-KR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90488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맑은 고딕" panose="020B0503020000020004" pitchFamily="50" charset="-127"/>
                        <a:buNone/>
                        <a:tabLst/>
                        <a:defRPr sz="2000"/>
                      </a:pP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공유자 </a:t>
                      </a:r>
                      <a:r>
                        <a:rPr kumimoji="1" lang="ko-KR" altLang="en-US" sz="800" dirty="0" err="1" smtClean="0">
                          <a:solidFill>
                            <a:schemeClr val="tx1"/>
                          </a:solidFill>
                          <a:latin typeface="+mn-ea"/>
                        </a:rPr>
                        <a:t>입력창</a:t>
                      </a: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 비활성</a:t>
                      </a:r>
                      <a:r>
                        <a:rPr kumimoji="1" lang="en-US" altLang="ko-KR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,</a:t>
                      </a:r>
                      <a:r>
                        <a:rPr kumimoji="1" lang="en-US" altLang="ko-KR" sz="800" baseline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부서원 모두 수정</a:t>
                      </a:r>
                      <a:r>
                        <a:rPr kumimoji="1" lang="en-US" altLang="ko-KR" sz="800" baseline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/ </a:t>
                      </a: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삭제가 가능함</a:t>
                      </a:r>
                      <a:endParaRPr kumimoji="1" lang="en-US" altLang="ko-KR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dirty="0" smtClean="0"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달력 명 입력</a:t>
                      </a:r>
                      <a:endParaRPr lang="en-US" altLang="ko-KR" sz="800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488" marR="0" indent="-904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LNB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에 노출 될 달력 명 입력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dirty="0" smtClean="0"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관리자 지정</a:t>
                      </a:r>
                      <a:endParaRPr lang="en-US" altLang="ko-KR" sz="800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달력 관리자를 지정한다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. 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관리자는 달력정보 변경과 일정등록이 가능하다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. </a:t>
                      </a:r>
                    </a:p>
                    <a:p>
                      <a:pPr marL="11113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endParaRPr kumimoji="1" lang="en-US" altLang="ko-KR" sz="3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80975" marR="0" indent="-904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- 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부서 달력 추가 시 사용자가 속한 부서가 자동으로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관리자로 추가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관리자 수정은 불가능 함</a:t>
                      </a:r>
                      <a:endParaRPr kumimoji="1" lang="en-US" altLang="ko-KR" sz="800" baseline="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dirty="0" smtClean="0">
                          <a:latin typeface="+mj-ea"/>
                          <a:ea typeface="+mj-ea"/>
                          <a:cs typeface="Nanum Gothic" charset="-127"/>
                        </a:rPr>
                        <a:t>4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달력 색상 선택</a:t>
                      </a:r>
                      <a:endParaRPr lang="en-US" altLang="ko-KR" sz="800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488" marR="0" indent="-904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달력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마다 색상 선택이 가능</a:t>
                      </a: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5492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dirty="0" smtClean="0">
                          <a:latin typeface="+mj-ea"/>
                          <a:ea typeface="+mj-ea"/>
                          <a:cs typeface="Nanum Gothic" charset="-127"/>
                        </a:rPr>
                        <a:t>5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공유자 선택</a:t>
                      </a:r>
                      <a:endParaRPr lang="en-US" altLang="ko-KR" sz="800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공유할 구성원 선택</a:t>
                      </a:r>
                      <a:r>
                        <a:rPr kumimoji="1" lang="ko-KR" altLang="en-US" sz="800" baseline="0" dirty="0" smtClean="0">
                          <a:solidFill>
                            <a:schemeClr val="tx1"/>
                          </a:solidFill>
                          <a:latin typeface="+mn-ea"/>
                        </a:rPr>
                        <a:t> 가능</a:t>
                      </a:r>
                      <a:endParaRPr kumimoji="1" lang="en-US" altLang="ko-KR" sz="800" baseline="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공유자 이름 앞 아이콘으로 권한설정 가능</a:t>
                      </a:r>
                      <a:endParaRPr kumimoji="1" lang="en-US" altLang="ko-KR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18000" marR="0" marT="50800" marB="50800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dirty="0" smtClean="0">
                          <a:latin typeface="+mj-ea"/>
                          <a:ea typeface="+mj-ea"/>
                          <a:cs typeface="Nanum Gothic" charset="-127"/>
                        </a:rPr>
                        <a:t>6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설명 추가</a:t>
                      </a:r>
                      <a:endParaRPr lang="en-US" altLang="ko-KR" sz="800" dirty="0" smtClean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488" marR="0" indent="-904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dirty="0" smtClean="0">
                          <a:solidFill>
                            <a:schemeClr val="tx1"/>
                          </a:solidFill>
                          <a:latin typeface="+mn-ea"/>
                        </a:rPr>
                        <a:t>달력에 대한 설명을 입력</a:t>
                      </a:r>
                    </a:p>
                  </a:txBody>
                  <a:tcPr marL="18000" marR="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19" name="그룹 118"/>
          <p:cNvGrpSpPr/>
          <p:nvPr/>
        </p:nvGrpSpPr>
        <p:grpSpPr>
          <a:xfrm>
            <a:off x="9602189" y="3977379"/>
            <a:ext cx="2532087" cy="371532"/>
            <a:chOff x="9389127" y="2905713"/>
            <a:chExt cx="2532087" cy="371532"/>
          </a:xfrm>
        </p:grpSpPr>
        <p:pic>
          <p:nvPicPr>
            <p:cNvPr id="114" name="그림 1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89127" y="3115245"/>
              <a:ext cx="162000" cy="162000"/>
            </a:xfrm>
            <a:prstGeom prst="rect">
              <a:avLst/>
            </a:prstGeom>
          </p:spPr>
        </p:pic>
        <p:pic>
          <p:nvPicPr>
            <p:cNvPr id="116" name="그림 11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8127" y="2931620"/>
              <a:ext cx="144000" cy="144000"/>
            </a:xfrm>
            <a:prstGeom prst="rect">
              <a:avLst/>
            </a:prstGeom>
          </p:spPr>
        </p:pic>
        <p:sp>
          <p:nvSpPr>
            <p:cNvPr id="117" name="TextBox 116"/>
            <p:cNvSpPr txBox="1"/>
            <p:nvPr/>
          </p:nvSpPr>
          <p:spPr>
            <a:xfrm>
              <a:off x="9612321" y="2905713"/>
              <a:ext cx="230889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달력 공유자에게 일정을 추가하는 쓰기권한 부여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9612321" y="3081431"/>
              <a:ext cx="2280039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달력 공유자에게 확인 가능한 읽기 권한 만 부여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28" name="그룹 227"/>
          <p:cNvGrpSpPr/>
          <p:nvPr/>
        </p:nvGrpSpPr>
        <p:grpSpPr>
          <a:xfrm>
            <a:off x="4499383" y="2902160"/>
            <a:ext cx="4043193" cy="3761728"/>
            <a:chOff x="4499383" y="2902160"/>
            <a:chExt cx="4043193" cy="3761728"/>
          </a:xfrm>
        </p:grpSpPr>
        <p:grpSp>
          <p:nvGrpSpPr>
            <p:cNvPr id="176" name="그룹 175"/>
            <p:cNvGrpSpPr/>
            <p:nvPr/>
          </p:nvGrpSpPr>
          <p:grpSpPr>
            <a:xfrm>
              <a:off x="4499383" y="2902160"/>
              <a:ext cx="4043193" cy="3761728"/>
              <a:chOff x="299172" y="1272496"/>
              <a:chExt cx="4043193" cy="3761728"/>
            </a:xfrm>
          </p:grpSpPr>
          <p:sp>
            <p:nvSpPr>
              <p:cNvPr id="177" name="직사각형"/>
              <p:cNvSpPr/>
              <p:nvPr/>
            </p:nvSpPr>
            <p:spPr>
              <a:xfrm>
                <a:off x="405941" y="1520623"/>
                <a:ext cx="3936424" cy="351360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  <a:miter lim="4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50800" tIns="50800" rIns="50800" bIns="50800" anchor="ctr"/>
              <a:lstStyle/>
              <a:p>
                <a:endParaRPr sz="2400" dirty="0">
                  <a:solidFill>
                    <a:srgbClr val="FFFFFF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78" name="AutoShape 63"/>
              <p:cNvSpPr>
                <a:spLocks/>
              </p:cNvSpPr>
              <p:nvPr/>
            </p:nvSpPr>
            <p:spPr bwMode="auto">
              <a:xfrm>
                <a:off x="404959" y="1272496"/>
                <a:ext cx="1368911" cy="1538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599"/>
                    </a:lnTo>
                    <a:lnTo>
                      <a:pt x="0" y="21599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defTabSz="457200"/>
                <a:r>
                  <a:rPr lang="ko-KR" altLang="en-US" sz="1000" b="1" dirty="0" smtClean="0">
                    <a:latin typeface="+mn-ea"/>
                    <a:ea typeface="+mn-ea"/>
                  </a:rPr>
                  <a:t>부서 달력추가 팝업</a:t>
                </a:r>
                <a:endParaRPr lang="ko-KR" altLang="en-US" sz="1000" b="1" dirty="0">
                  <a:latin typeface="+mn-ea"/>
                  <a:ea typeface="+mn-ea"/>
                </a:endParaRPr>
              </a:p>
            </p:txBody>
          </p:sp>
          <p:sp>
            <p:nvSpPr>
              <p:cNvPr id="179" name="텍스트 상자 31"/>
              <p:cNvSpPr txBox="1"/>
              <p:nvPr/>
            </p:nvSpPr>
            <p:spPr>
              <a:xfrm>
                <a:off x="603840" y="2005100"/>
                <a:ext cx="45455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8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유형</a:t>
                </a:r>
                <a:endPara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80" name="Rectangle 189"/>
              <p:cNvSpPr/>
              <p:nvPr/>
            </p:nvSpPr>
            <p:spPr>
              <a:xfrm>
                <a:off x="420876" y="1544935"/>
                <a:ext cx="3921489" cy="291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n-ea"/>
                </a:endParaRPr>
              </a:p>
            </p:txBody>
          </p:sp>
          <p:sp>
            <p:nvSpPr>
              <p:cNvPr id="181" name="텍스트 상자 31"/>
              <p:cNvSpPr txBox="1"/>
              <p:nvPr/>
            </p:nvSpPr>
            <p:spPr>
              <a:xfrm>
                <a:off x="524534" y="1641539"/>
                <a:ext cx="1983479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달력추가</a:t>
                </a:r>
                <a:endParaRPr kumimoji="1"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82" name="텍스트 상자 31"/>
              <p:cNvSpPr txBox="1"/>
              <p:nvPr/>
            </p:nvSpPr>
            <p:spPr>
              <a:xfrm>
                <a:off x="603840" y="2370940"/>
                <a:ext cx="45455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800" b="1" dirty="0" err="1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달력명</a:t>
                </a:r>
                <a:endPara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83" name="텍스트 상자 31"/>
              <p:cNvSpPr txBox="1"/>
              <p:nvPr/>
            </p:nvSpPr>
            <p:spPr>
              <a:xfrm>
                <a:off x="609041" y="3274458"/>
                <a:ext cx="45455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8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색상</a:t>
                </a:r>
                <a:endPara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84" name="Group 291"/>
              <p:cNvGrpSpPr/>
              <p:nvPr/>
            </p:nvGrpSpPr>
            <p:grpSpPr>
              <a:xfrm>
                <a:off x="1767970" y="4674325"/>
                <a:ext cx="1143107" cy="187731"/>
                <a:chOff x="57554" y="7004980"/>
                <a:chExt cx="1143107" cy="187731"/>
              </a:xfrm>
            </p:grpSpPr>
            <p:sp>
              <p:nvSpPr>
                <p:cNvPr id="222" name="Rounded Rectangle 292"/>
                <p:cNvSpPr/>
                <p:nvPr/>
              </p:nvSpPr>
              <p:spPr>
                <a:xfrm>
                  <a:off x="660661" y="7004980"/>
                  <a:ext cx="540000" cy="187731"/>
                </a:xfrm>
                <a:prstGeom prst="roundRect">
                  <a:avLst>
                    <a:gd name="adj" fmla="val 8420"/>
                  </a:avLst>
                </a:prstGeom>
                <a:solidFill>
                  <a:schemeClr val="bg1"/>
                </a:solidFill>
                <a:ln w="12700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130000"/>
                    </a:lnSpc>
                  </a:pPr>
                  <a:r>
                    <a:rPr lang="ko-KR" altLang="en-US" sz="70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</a:rPr>
                    <a:t>취소</a:t>
                  </a:r>
                  <a:endParaRPr 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23" name="Rounded Rectangle 313"/>
                <p:cNvSpPr/>
                <p:nvPr/>
              </p:nvSpPr>
              <p:spPr>
                <a:xfrm>
                  <a:off x="57554" y="7004980"/>
                  <a:ext cx="536766" cy="187731"/>
                </a:xfrm>
                <a:prstGeom prst="roundRect">
                  <a:avLst>
                    <a:gd name="adj" fmla="val 8420"/>
                  </a:avLst>
                </a:prstGeom>
                <a:solidFill>
                  <a:schemeClr val="bg1">
                    <a:lumMod val="85000"/>
                  </a:schemeClr>
                </a:solidFill>
                <a:ln w="12700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0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</a:rPr>
                    <a:t>설정</a:t>
                  </a:r>
                  <a:endParaRPr 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85" name="타원 184"/>
              <p:cNvSpPr>
                <a:spLocks noChangeAspect="1"/>
              </p:cNvSpPr>
              <p:nvPr/>
            </p:nvSpPr>
            <p:spPr>
              <a:xfrm>
                <a:off x="299172" y="1921534"/>
                <a:ext cx="178657" cy="180000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rgbClr val="C00000"/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1</a:t>
                </a:r>
                <a:endPara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6" name="타원 185"/>
              <p:cNvSpPr>
                <a:spLocks noChangeAspect="1"/>
              </p:cNvSpPr>
              <p:nvPr/>
            </p:nvSpPr>
            <p:spPr>
              <a:xfrm>
                <a:off x="299172" y="2365481"/>
                <a:ext cx="178657" cy="180000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rgbClr val="C00000"/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2</a:t>
                </a:r>
                <a:endPara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7" name="타원 186"/>
              <p:cNvSpPr>
                <a:spLocks noChangeAspect="1"/>
              </p:cNvSpPr>
              <p:nvPr/>
            </p:nvSpPr>
            <p:spPr>
              <a:xfrm>
                <a:off x="299172" y="2810848"/>
                <a:ext cx="178657" cy="180000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rgbClr val="C00000"/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3</a:t>
                </a:r>
                <a:endPara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8" name="타원 187"/>
              <p:cNvSpPr>
                <a:spLocks noChangeAspect="1"/>
              </p:cNvSpPr>
              <p:nvPr/>
            </p:nvSpPr>
            <p:spPr>
              <a:xfrm>
                <a:off x="299172" y="3256215"/>
                <a:ext cx="178657" cy="180000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rgbClr val="C00000"/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4</a:t>
                </a:r>
                <a:endPara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9" name="타원 188"/>
              <p:cNvSpPr/>
              <p:nvPr/>
            </p:nvSpPr>
            <p:spPr>
              <a:xfrm>
                <a:off x="1168198" y="2012600"/>
                <a:ext cx="118737" cy="120359"/>
              </a:xfrm>
              <a:prstGeom prst="ellipse">
                <a:avLst/>
              </a:prstGeom>
              <a:noFill/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itchFamily="50" charset="-127"/>
                  <a:ea typeface="나눔고딕" pitchFamily="50" charset="-127"/>
                  <a:cs typeface="+mn-cs"/>
                </a:endParaRPr>
              </a:p>
            </p:txBody>
          </p:sp>
          <p:sp>
            <p:nvSpPr>
              <p:cNvPr id="190" name="Rounded Rectangle 200"/>
              <p:cNvSpPr/>
              <p:nvPr/>
            </p:nvSpPr>
            <p:spPr>
              <a:xfrm>
                <a:off x="1364173" y="1976498"/>
                <a:ext cx="293835" cy="187731"/>
              </a:xfrm>
              <a:prstGeom prst="roundRect">
                <a:avLst>
                  <a:gd name="adj" fmla="val 8420"/>
                </a:avLst>
              </a:prstGeom>
              <a:noFill/>
              <a:ln w="12700" cap="flat" cmpd="sng">
                <a:noFill/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개인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92" name="Rounded Rectangle 200"/>
              <p:cNvSpPr/>
              <p:nvPr/>
            </p:nvSpPr>
            <p:spPr>
              <a:xfrm>
                <a:off x="1921036" y="1976498"/>
                <a:ext cx="293835" cy="187731"/>
              </a:xfrm>
              <a:prstGeom prst="roundRect">
                <a:avLst>
                  <a:gd name="adj" fmla="val 8420"/>
                </a:avLst>
              </a:prstGeom>
              <a:noFill/>
              <a:ln w="12700" cap="flat" cmpd="sng">
                <a:noFill/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부서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93" name="텍스트 상자 31"/>
              <p:cNvSpPr txBox="1"/>
              <p:nvPr/>
            </p:nvSpPr>
            <p:spPr>
              <a:xfrm>
                <a:off x="603840" y="2860699"/>
                <a:ext cx="45455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8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관리자</a:t>
                </a:r>
                <a:endPara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pic>
            <p:nvPicPr>
              <p:cNvPr id="194" name="그림 193"/>
              <p:cNvPicPr>
                <a:picLocks noChangeAspect="1"/>
              </p:cNvPicPr>
              <p:nvPr/>
            </p:nvPicPr>
            <p:blipFill rotWithShape="1">
              <a:blip r:embed="rId5"/>
              <a:srcRect r="13528"/>
              <a:stretch/>
            </p:blipFill>
            <p:spPr>
              <a:xfrm>
                <a:off x="1036126" y="3177550"/>
                <a:ext cx="2676840" cy="361950"/>
              </a:xfrm>
              <a:prstGeom prst="rect">
                <a:avLst/>
              </a:prstGeom>
            </p:spPr>
          </p:pic>
          <p:grpSp>
            <p:nvGrpSpPr>
              <p:cNvPr id="195" name="그룹 194"/>
              <p:cNvGrpSpPr/>
              <p:nvPr/>
            </p:nvGrpSpPr>
            <p:grpSpPr>
              <a:xfrm>
                <a:off x="1794959" y="2815873"/>
                <a:ext cx="720000" cy="198000"/>
                <a:chOff x="1583951" y="2866113"/>
                <a:chExt cx="720000" cy="198000"/>
              </a:xfrm>
            </p:grpSpPr>
            <p:sp>
              <p:nvSpPr>
                <p:cNvPr id="220" name="Rounded Rectangle 468"/>
                <p:cNvSpPr/>
                <p:nvPr/>
              </p:nvSpPr>
              <p:spPr>
                <a:xfrm>
                  <a:off x="1583951" y="2866113"/>
                  <a:ext cx="720000" cy="198000"/>
                </a:xfrm>
                <a:prstGeom prst="roundRect">
                  <a:avLst>
                    <a:gd name="adj" fmla="val 47831"/>
                  </a:avLst>
                </a:prstGeom>
                <a:solidFill>
                  <a:schemeClr val="bg1">
                    <a:lumMod val="95000"/>
                  </a:schemeClr>
                </a:solidFill>
                <a:ln w="12700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</p:spPr>
              <p:txBody>
                <a:bodyPr lIns="36000" tIns="0" rIns="0" bIns="0" anchor="ctr"/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70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</a:rPr>
                    <a:t>$</a:t>
                  </a:r>
                  <a:r>
                    <a:rPr lang="ko-KR" altLang="en-US" sz="700" dirty="0" err="1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</a:rPr>
                    <a:t>품질관리팀</a:t>
                  </a:r>
                  <a:endParaRPr 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221" name="Freeform 11"/>
                <p:cNvSpPr>
                  <a:spLocks noChangeAspect="1" noChangeArrowheads="1"/>
                </p:cNvSpPr>
                <p:nvPr/>
              </p:nvSpPr>
              <p:spPr bwMode="auto">
                <a:xfrm>
                  <a:off x="2162844" y="2924703"/>
                  <a:ext cx="81140" cy="81139"/>
                </a:xfrm>
                <a:custGeom>
                  <a:avLst/>
                  <a:gdLst>
                    <a:gd name="T0" fmla="*/ 454 w 455"/>
                    <a:gd name="T1" fmla="*/ 44 h 456"/>
                    <a:gd name="T2" fmla="*/ 411 w 455"/>
                    <a:gd name="T3" fmla="*/ 0 h 456"/>
                    <a:gd name="T4" fmla="*/ 224 w 455"/>
                    <a:gd name="T5" fmla="*/ 181 h 456"/>
                    <a:gd name="T6" fmla="*/ 44 w 455"/>
                    <a:gd name="T7" fmla="*/ 0 h 456"/>
                    <a:gd name="T8" fmla="*/ 0 w 455"/>
                    <a:gd name="T9" fmla="*/ 44 h 456"/>
                    <a:gd name="T10" fmla="*/ 181 w 455"/>
                    <a:gd name="T11" fmla="*/ 224 h 456"/>
                    <a:gd name="T12" fmla="*/ 0 w 455"/>
                    <a:gd name="T13" fmla="*/ 411 h 456"/>
                    <a:gd name="T14" fmla="*/ 44 w 455"/>
                    <a:gd name="T15" fmla="*/ 455 h 456"/>
                    <a:gd name="T16" fmla="*/ 224 w 455"/>
                    <a:gd name="T17" fmla="*/ 274 h 456"/>
                    <a:gd name="T18" fmla="*/ 411 w 455"/>
                    <a:gd name="T19" fmla="*/ 455 h 456"/>
                    <a:gd name="T20" fmla="*/ 454 w 455"/>
                    <a:gd name="T21" fmla="*/ 411 h 456"/>
                    <a:gd name="T22" fmla="*/ 274 w 455"/>
                    <a:gd name="T23" fmla="*/ 224 h 456"/>
                    <a:gd name="T24" fmla="*/ 454 w 455"/>
                    <a:gd name="T25" fmla="*/ 44 h 4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55" h="456">
                      <a:moveTo>
                        <a:pt x="454" y="44"/>
                      </a:moveTo>
                      <a:lnTo>
                        <a:pt x="411" y="0"/>
                      </a:lnTo>
                      <a:lnTo>
                        <a:pt x="224" y="181"/>
                      </a:lnTo>
                      <a:lnTo>
                        <a:pt x="44" y="0"/>
                      </a:lnTo>
                      <a:lnTo>
                        <a:pt x="0" y="44"/>
                      </a:lnTo>
                      <a:lnTo>
                        <a:pt x="181" y="224"/>
                      </a:lnTo>
                      <a:lnTo>
                        <a:pt x="0" y="411"/>
                      </a:lnTo>
                      <a:lnTo>
                        <a:pt x="44" y="455"/>
                      </a:lnTo>
                      <a:lnTo>
                        <a:pt x="224" y="274"/>
                      </a:lnTo>
                      <a:lnTo>
                        <a:pt x="411" y="455"/>
                      </a:lnTo>
                      <a:lnTo>
                        <a:pt x="454" y="411"/>
                      </a:lnTo>
                      <a:lnTo>
                        <a:pt x="274" y="224"/>
                      </a:lnTo>
                      <a:lnTo>
                        <a:pt x="454" y="44"/>
                      </a:lnTo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defPPr>
                    <a:defRPr lang="id-ID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9pPr>
                </a:lstStyle>
                <a:p>
                  <a:endParaRPr lang="en-US" sz="1633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196" name="Group 122"/>
              <p:cNvGrpSpPr/>
              <p:nvPr/>
            </p:nvGrpSpPr>
            <p:grpSpPr>
              <a:xfrm>
                <a:off x="1156615" y="2788647"/>
                <a:ext cx="523158" cy="252000"/>
                <a:chOff x="1122876" y="3618560"/>
                <a:chExt cx="444906" cy="252000"/>
              </a:xfrm>
            </p:grpSpPr>
            <p:sp>
              <p:nvSpPr>
                <p:cNvPr id="218" name="Rounded Rectangle 939"/>
                <p:cNvSpPr/>
                <p:nvPr/>
              </p:nvSpPr>
              <p:spPr>
                <a:xfrm>
                  <a:off x="1122876" y="3618560"/>
                  <a:ext cx="444906" cy="252000"/>
                </a:xfrm>
                <a:prstGeom prst="roundRect">
                  <a:avLst>
                    <a:gd name="adj" fmla="val 8420"/>
                  </a:avLst>
                </a:prstGeom>
                <a:solidFill>
                  <a:schemeClr val="bg1"/>
                </a:solidFill>
                <a:ln w="6350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</p:spPr>
              <p:txBody>
                <a:bodyPr lIns="72000" tIns="0" rIns="0" bIns="0" anchor="ctr"/>
                <a:lstStyle/>
                <a:p>
                  <a:pPr algn="ctr"/>
                  <a:r>
                    <a:rPr kumimoji="1" lang="ko-KR" altLang="en-US" sz="700" dirty="0" smtClean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ea"/>
                      <a:ea typeface="+mn-ea"/>
                    </a:rPr>
                    <a:t> 추가</a:t>
                  </a:r>
                  <a:endParaRPr kumimoji="1" lang="ko-KR" altLang="en-US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pic>
              <p:nvPicPr>
                <p:cNvPr id="219" name="Picture 157" descr="man-user (1).png"/>
                <p:cNvPicPr>
                  <a:picLocks noChangeAspect="1"/>
                </p:cNvPicPr>
                <p:nvPr/>
              </p:nvPicPr>
              <p:blipFill>
                <a:blip r:embed="rId6" cstate="print">
                  <a:alphaModFix amt="31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78956" y="3684586"/>
                  <a:ext cx="109070" cy="1090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589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197" name="텍스트 상자 31"/>
              <p:cNvSpPr txBox="1"/>
              <p:nvPr/>
            </p:nvSpPr>
            <p:spPr>
              <a:xfrm>
                <a:off x="603840" y="3717959"/>
                <a:ext cx="45455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8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공유자</a:t>
                </a:r>
                <a:endPara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98" name="Group 122"/>
              <p:cNvGrpSpPr/>
              <p:nvPr/>
            </p:nvGrpSpPr>
            <p:grpSpPr>
              <a:xfrm>
                <a:off x="1156615" y="3645907"/>
                <a:ext cx="523158" cy="252000"/>
                <a:chOff x="1122876" y="3618560"/>
                <a:chExt cx="444906" cy="252000"/>
              </a:xfrm>
            </p:grpSpPr>
            <p:sp>
              <p:nvSpPr>
                <p:cNvPr id="216" name="Rounded Rectangle 939"/>
                <p:cNvSpPr/>
                <p:nvPr/>
              </p:nvSpPr>
              <p:spPr>
                <a:xfrm>
                  <a:off x="1122876" y="3618560"/>
                  <a:ext cx="444906" cy="252000"/>
                </a:xfrm>
                <a:prstGeom prst="roundRect">
                  <a:avLst>
                    <a:gd name="adj" fmla="val 8420"/>
                  </a:avLst>
                </a:prstGeom>
                <a:solidFill>
                  <a:schemeClr val="bg1"/>
                </a:solidFill>
                <a:ln w="6350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</p:spPr>
              <p:txBody>
                <a:bodyPr lIns="72000" tIns="0" rIns="0" bIns="0" anchor="ctr"/>
                <a:lstStyle/>
                <a:p>
                  <a:pPr algn="ctr"/>
                  <a:r>
                    <a:rPr kumimoji="1" lang="ko-KR" altLang="en-US" sz="700" dirty="0" smtClean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ea"/>
                      <a:ea typeface="+mn-ea"/>
                    </a:rPr>
                    <a:t> 추가</a:t>
                  </a:r>
                  <a:endParaRPr kumimoji="1" lang="ko-KR" altLang="en-US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pic>
              <p:nvPicPr>
                <p:cNvPr id="217" name="Picture 157" descr="man-user (1).png"/>
                <p:cNvPicPr>
                  <a:picLocks noChangeAspect="1"/>
                </p:cNvPicPr>
                <p:nvPr/>
              </p:nvPicPr>
              <p:blipFill>
                <a:blip r:embed="rId6" cstate="print">
                  <a:alphaModFix amt="31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78956" y="3684586"/>
                  <a:ext cx="109070" cy="1090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589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</p:pic>
          </p:grpSp>
          <p:cxnSp>
            <p:nvCxnSpPr>
              <p:cNvPr id="199" name="직선 연결선[R] 7"/>
              <p:cNvCxnSpPr/>
              <p:nvPr/>
            </p:nvCxnSpPr>
            <p:spPr>
              <a:xfrm>
                <a:off x="1168198" y="2561186"/>
                <a:ext cx="3021962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miter lim="400000"/>
              </a:ln>
            </p:spPr>
          </p:cxnSp>
          <p:sp>
            <p:nvSpPr>
              <p:cNvPr id="200" name="텍스트 상자 31"/>
              <p:cNvSpPr txBox="1"/>
              <p:nvPr/>
            </p:nvSpPr>
            <p:spPr>
              <a:xfrm>
                <a:off x="1162761" y="2379471"/>
                <a:ext cx="118800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kumimoji="1" lang="ko-KR" altLang="en-US" sz="800" dirty="0" smtClean="0">
                    <a:solidFill>
                      <a:schemeClr val="bg1">
                        <a:lumMod val="65000"/>
                      </a:schemeClr>
                    </a:solidFill>
                    <a:latin typeface="+mn-ea"/>
                    <a:ea typeface="+mn-ea"/>
                  </a:rPr>
                  <a:t>달력 명을 입력하세요</a:t>
                </a:r>
                <a:endParaRPr kumimoji="1" lang="ko-KR" altLang="en-US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201" name="직선 연결선[R] 7"/>
              <p:cNvCxnSpPr/>
              <p:nvPr/>
            </p:nvCxnSpPr>
            <p:spPr>
              <a:xfrm>
                <a:off x="1765972" y="3040647"/>
                <a:ext cx="2424188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miter lim="400000"/>
              </a:ln>
            </p:spPr>
          </p:cxnSp>
          <p:cxnSp>
            <p:nvCxnSpPr>
              <p:cNvPr id="202" name="직선 연결선[R] 7"/>
              <p:cNvCxnSpPr/>
              <p:nvPr/>
            </p:nvCxnSpPr>
            <p:spPr>
              <a:xfrm>
                <a:off x="1765972" y="3893902"/>
                <a:ext cx="2424188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miter lim="400000"/>
              </a:ln>
            </p:spPr>
          </p:cxnSp>
          <p:sp>
            <p:nvSpPr>
              <p:cNvPr id="203" name="텍스트 상자 31"/>
              <p:cNvSpPr txBox="1"/>
              <p:nvPr/>
            </p:nvSpPr>
            <p:spPr>
              <a:xfrm>
                <a:off x="818055" y="4190526"/>
                <a:ext cx="24461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900" u="sng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rPr>
                  <a:t>설명 추가하기</a:t>
                </a:r>
                <a:endParaRPr kumimoji="1" lang="ko-KR" altLang="en-US" sz="900" u="sng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04" name="Freeform 437"/>
              <p:cNvSpPr>
                <a:spLocks noChangeArrowheads="1"/>
              </p:cNvSpPr>
              <p:nvPr/>
            </p:nvSpPr>
            <p:spPr bwMode="auto">
              <a:xfrm>
                <a:off x="603252" y="4175539"/>
                <a:ext cx="160771" cy="158944"/>
              </a:xfrm>
              <a:custGeom>
                <a:avLst/>
                <a:gdLst>
                  <a:gd name="T0" fmla="*/ 383 w 774"/>
                  <a:gd name="T1" fmla="*/ 0 h 766"/>
                  <a:gd name="T2" fmla="*/ 0 w 774"/>
                  <a:gd name="T3" fmla="*/ 383 h 766"/>
                  <a:gd name="T4" fmla="*/ 383 w 774"/>
                  <a:gd name="T5" fmla="*/ 765 h 766"/>
                  <a:gd name="T6" fmla="*/ 773 w 774"/>
                  <a:gd name="T7" fmla="*/ 383 h 766"/>
                  <a:gd name="T8" fmla="*/ 383 w 774"/>
                  <a:gd name="T9" fmla="*/ 0 h 766"/>
                  <a:gd name="T10" fmla="*/ 581 w 774"/>
                  <a:gd name="T11" fmla="*/ 419 h 766"/>
                  <a:gd name="T12" fmla="*/ 427 w 774"/>
                  <a:gd name="T13" fmla="*/ 419 h 766"/>
                  <a:gd name="T14" fmla="*/ 427 w 774"/>
                  <a:gd name="T15" fmla="*/ 574 h 766"/>
                  <a:gd name="T16" fmla="*/ 346 w 774"/>
                  <a:gd name="T17" fmla="*/ 574 h 766"/>
                  <a:gd name="T18" fmla="*/ 346 w 774"/>
                  <a:gd name="T19" fmla="*/ 419 h 766"/>
                  <a:gd name="T20" fmla="*/ 192 w 774"/>
                  <a:gd name="T21" fmla="*/ 419 h 766"/>
                  <a:gd name="T22" fmla="*/ 192 w 774"/>
                  <a:gd name="T23" fmla="*/ 346 h 766"/>
                  <a:gd name="T24" fmla="*/ 346 w 774"/>
                  <a:gd name="T25" fmla="*/ 346 h 766"/>
                  <a:gd name="T26" fmla="*/ 346 w 774"/>
                  <a:gd name="T27" fmla="*/ 191 h 766"/>
                  <a:gd name="T28" fmla="*/ 427 w 774"/>
                  <a:gd name="T29" fmla="*/ 191 h 766"/>
                  <a:gd name="T30" fmla="*/ 427 w 774"/>
                  <a:gd name="T31" fmla="*/ 346 h 766"/>
                  <a:gd name="T32" fmla="*/ 581 w 774"/>
                  <a:gd name="T33" fmla="*/ 346 h 766"/>
                  <a:gd name="T34" fmla="*/ 581 w 774"/>
                  <a:gd name="T35" fmla="*/ 419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4" h="766">
                    <a:moveTo>
                      <a:pt x="383" y="0"/>
                    </a:moveTo>
                    <a:cubicBezTo>
                      <a:pt x="177" y="0"/>
                      <a:pt x="0" y="169"/>
                      <a:pt x="0" y="383"/>
                    </a:cubicBezTo>
                    <a:cubicBezTo>
                      <a:pt x="0" y="596"/>
                      <a:pt x="173" y="765"/>
                      <a:pt x="383" y="765"/>
                    </a:cubicBezTo>
                    <a:cubicBezTo>
                      <a:pt x="592" y="765"/>
                      <a:pt x="773" y="596"/>
                      <a:pt x="773" y="383"/>
                    </a:cubicBezTo>
                    <a:cubicBezTo>
                      <a:pt x="773" y="169"/>
                      <a:pt x="596" y="0"/>
                      <a:pt x="383" y="0"/>
                    </a:cubicBezTo>
                    <a:close/>
                    <a:moveTo>
                      <a:pt x="581" y="419"/>
                    </a:moveTo>
                    <a:lnTo>
                      <a:pt x="427" y="419"/>
                    </a:lnTo>
                    <a:lnTo>
                      <a:pt x="427" y="574"/>
                    </a:lnTo>
                    <a:lnTo>
                      <a:pt x="346" y="574"/>
                    </a:lnTo>
                    <a:lnTo>
                      <a:pt x="346" y="419"/>
                    </a:lnTo>
                    <a:lnTo>
                      <a:pt x="192" y="419"/>
                    </a:lnTo>
                    <a:lnTo>
                      <a:pt x="192" y="346"/>
                    </a:lnTo>
                    <a:lnTo>
                      <a:pt x="346" y="346"/>
                    </a:lnTo>
                    <a:lnTo>
                      <a:pt x="346" y="191"/>
                    </a:lnTo>
                    <a:lnTo>
                      <a:pt x="427" y="191"/>
                    </a:lnTo>
                    <a:lnTo>
                      <a:pt x="427" y="346"/>
                    </a:lnTo>
                    <a:lnTo>
                      <a:pt x="581" y="346"/>
                    </a:lnTo>
                    <a:lnTo>
                      <a:pt x="581" y="419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  <p:sp>
            <p:nvSpPr>
              <p:cNvPr id="205" name="타원 204"/>
              <p:cNvSpPr>
                <a:spLocks noChangeAspect="1"/>
              </p:cNvSpPr>
              <p:nvPr/>
            </p:nvSpPr>
            <p:spPr>
              <a:xfrm>
                <a:off x="299172" y="3701582"/>
                <a:ext cx="178657" cy="180000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rgbClr val="C00000"/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5</a:t>
                </a:r>
                <a:endPara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6" name="타원 205"/>
              <p:cNvSpPr>
                <a:spLocks noChangeAspect="1"/>
              </p:cNvSpPr>
              <p:nvPr/>
            </p:nvSpPr>
            <p:spPr>
              <a:xfrm>
                <a:off x="299172" y="4146949"/>
                <a:ext cx="178657" cy="180000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rgbClr val="C00000"/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6</a:t>
                </a:r>
                <a:endPara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225" name="그림 224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9063" y="3639075"/>
              <a:ext cx="118800" cy="118800"/>
            </a:xfrm>
            <a:prstGeom prst="rect">
              <a:avLst/>
            </a:prstGeom>
          </p:spPr>
        </p:pic>
      </p:grpSp>
      <p:grpSp>
        <p:nvGrpSpPr>
          <p:cNvPr id="227" name="그룹 226"/>
          <p:cNvGrpSpPr/>
          <p:nvPr/>
        </p:nvGrpSpPr>
        <p:grpSpPr>
          <a:xfrm>
            <a:off x="228836" y="1161968"/>
            <a:ext cx="4043193" cy="3761728"/>
            <a:chOff x="228836" y="1161968"/>
            <a:chExt cx="4043193" cy="3761728"/>
          </a:xfrm>
        </p:grpSpPr>
        <p:grpSp>
          <p:nvGrpSpPr>
            <p:cNvPr id="124" name="그룹 123"/>
            <p:cNvGrpSpPr/>
            <p:nvPr/>
          </p:nvGrpSpPr>
          <p:grpSpPr>
            <a:xfrm>
              <a:off x="228836" y="1161968"/>
              <a:ext cx="4043193" cy="3761728"/>
              <a:chOff x="299172" y="1272496"/>
              <a:chExt cx="4043193" cy="3761728"/>
            </a:xfrm>
          </p:grpSpPr>
          <p:sp>
            <p:nvSpPr>
              <p:cNvPr id="4" name="직사각형"/>
              <p:cNvSpPr/>
              <p:nvPr/>
            </p:nvSpPr>
            <p:spPr>
              <a:xfrm>
                <a:off x="405941" y="1520623"/>
                <a:ext cx="3936424" cy="351360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65000"/>
                    <a:lumOff val="35000"/>
                  </a:schemeClr>
                </a:solidFill>
                <a:miter lim="4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50800" tIns="50800" rIns="50800" bIns="50800" anchor="ctr"/>
              <a:lstStyle/>
              <a:p>
                <a:endParaRPr sz="2400" dirty="0">
                  <a:solidFill>
                    <a:srgbClr val="FFFFFF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5" name="AutoShape 63"/>
              <p:cNvSpPr>
                <a:spLocks/>
              </p:cNvSpPr>
              <p:nvPr/>
            </p:nvSpPr>
            <p:spPr bwMode="auto">
              <a:xfrm>
                <a:off x="404959" y="1272496"/>
                <a:ext cx="1368911" cy="1538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599"/>
                    </a:lnTo>
                    <a:lnTo>
                      <a:pt x="0" y="21599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" cap="flat" cmpd="sng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defTabSz="457200"/>
                <a:r>
                  <a:rPr lang="ko-KR" altLang="en-US" sz="1000" b="1" dirty="0" smtClean="0">
                    <a:latin typeface="+mn-ea"/>
                    <a:ea typeface="+mn-ea"/>
                  </a:rPr>
                  <a:t>개인 달력추가 팝업</a:t>
                </a:r>
                <a:endParaRPr lang="ko-KR" altLang="en-US" sz="1000" b="1" dirty="0">
                  <a:latin typeface="+mn-ea"/>
                  <a:ea typeface="+mn-ea"/>
                </a:endParaRPr>
              </a:p>
            </p:txBody>
          </p:sp>
          <p:sp>
            <p:nvSpPr>
              <p:cNvPr id="6" name="텍스트 상자 31"/>
              <p:cNvSpPr txBox="1"/>
              <p:nvPr/>
            </p:nvSpPr>
            <p:spPr>
              <a:xfrm>
                <a:off x="603840" y="2005100"/>
                <a:ext cx="45455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8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유형</a:t>
                </a:r>
                <a:endPara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" name="Rectangle 189"/>
              <p:cNvSpPr/>
              <p:nvPr/>
            </p:nvSpPr>
            <p:spPr>
              <a:xfrm>
                <a:off x="420876" y="1544935"/>
                <a:ext cx="3921489" cy="291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+mn-ea"/>
                </a:endParaRPr>
              </a:p>
            </p:txBody>
          </p:sp>
          <p:sp>
            <p:nvSpPr>
              <p:cNvPr id="8" name="텍스트 상자 31"/>
              <p:cNvSpPr txBox="1"/>
              <p:nvPr/>
            </p:nvSpPr>
            <p:spPr>
              <a:xfrm>
                <a:off x="524534" y="1641539"/>
                <a:ext cx="1983479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ko-KR" altLang="en-US" sz="9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달력추가</a:t>
                </a:r>
                <a:endParaRPr kumimoji="1"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2" name="텍스트 상자 31"/>
              <p:cNvSpPr txBox="1"/>
              <p:nvPr/>
            </p:nvSpPr>
            <p:spPr>
              <a:xfrm>
                <a:off x="603840" y="2370940"/>
                <a:ext cx="45455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800" b="1" dirty="0" err="1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달력명</a:t>
                </a:r>
                <a:endPara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4" name="텍스트 상자 31"/>
              <p:cNvSpPr txBox="1"/>
              <p:nvPr/>
            </p:nvSpPr>
            <p:spPr>
              <a:xfrm>
                <a:off x="609041" y="3274458"/>
                <a:ext cx="45455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8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색상</a:t>
                </a:r>
                <a:endPara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45" name="Group 291"/>
              <p:cNvGrpSpPr/>
              <p:nvPr/>
            </p:nvGrpSpPr>
            <p:grpSpPr>
              <a:xfrm>
                <a:off x="1757912" y="4674325"/>
                <a:ext cx="1143107" cy="187731"/>
                <a:chOff x="47496" y="7004980"/>
                <a:chExt cx="1143107" cy="187731"/>
              </a:xfrm>
            </p:grpSpPr>
            <p:sp>
              <p:nvSpPr>
                <p:cNvPr id="46" name="Rounded Rectangle 292"/>
                <p:cNvSpPr/>
                <p:nvPr/>
              </p:nvSpPr>
              <p:spPr>
                <a:xfrm>
                  <a:off x="650603" y="7004980"/>
                  <a:ext cx="540000" cy="187731"/>
                </a:xfrm>
                <a:prstGeom prst="roundRect">
                  <a:avLst>
                    <a:gd name="adj" fmla="val 8420"/>
                  </a:avLst>
                </a:prstGeom>
                <a:solidFill>
                  <a:schemeClr val="bg1"/>
                </a:solidFill>
                <a:ln w="12700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130000"/>
                    </a:lnSpc>
                  </a:pPr>
                  <a:r>
                    <a:rPr lang="ko-KR" altLang="en-US" sz="70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</a:rPr>
                    <a:t>취소</a:t>
                  </a:r>
                  <a:endParaRPr 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47" name="Rounded Rectangle 313"/>
                <p:cNvSpPr/>
                <p:nvPr/>
              </p:nvSpPr>
              <p:spPr>
                <a:xfrm>
                  <a:off x="47496" y="7004980"/>
                  <a:ext cx="536766" cy="187731"/>
                </a:xfrm>
                <a:prstGeom prst="roundRect">
                  <a:avLst>
                    <a:gd name="adj" fmla="val 8420"/>
                  </a:avLst>
                </a:prstGeom>
                <a:solidFill>
                  <a:schemeClr val="bg1">
                    <a:lumMod val="85000"/>
                  </a:schemeClr>
                </a:solidFill>
                <a:ln w="12700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ko-KR" altLang="en-US" sz="70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</a:rPr>
                    <a:t>설정</a:t>
                  </a:r>
                  <a:endParaRPr 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57" name="타원 56"/>
              <p:cNvSpPr>
                <a:spLocks noChangeAspect="1"/>
              </p:cNvSpPr>
              <p:nvPr/>
            </p:nvSpPr>
            <p:spPr>
              <a:xfrm>
                <a:off x="299172" y="1921534"/>
                <a:ext cx="178657" cy="180000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rgbClr val="C00000"/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1</a:t>
                </a:r>
                <a:endPara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타원 57"/>
              <p:cNvSpPr>
                <a:spLocks noChangeAspect="1"/>
              </p:cNvSpPr>
              <p:nvPr/>
            </p:nvSpPr>
            <p:spPr>
              <a:xfrm>
                <a:off x="299172" y="2365481"/>
                <a:ext cx="178657" cy="180000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rgbClr val="C00000"/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2</a:t>
                </a:r>
                <a:endPara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9" name="타원 58"/>
              <p:cNvSpPr>
                <a:spLocks noChangeAspect="1"/>
              </p:cNvSpPr>
              <p:nvPr/>
            </p:nvSpPr>
            <p:spPr>
              <a:xfrm>
                <a:off x="299172" y="2810848"/>
                <a:ext cx="178657" cy="180000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rgbClr val="C00000"/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3</a:t>
                </a:r>
                <a:endPara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0" name="타원 59"/>
              <p:cNvSpPr>
                <a:spLocks noChangeAspect="1"/>
              </p:cNvSpPr>
              <p:nvPr/>
            </p:nvSpPr>
            <p:spPr>
              <a:xfrm>
                <a:off x="299172" y="3256215"/>
                <a:ext cx="178657" cy="180000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rgbClr val="C00000"/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4</a:t>
                </a:r>
                <a:endPara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2" name="Rounded Rectangle 200"/>
              <p:cNvSpPr/>
              <p:nvPr/>
            </p:nvSpPr>
            <p:spPr>
              <a:xfrm>
                <a:off x="1364173" y="1976498"/>
                <a:ext cx="293835" cy="187731"/>
              </a:xfrm>
              <a:prstGeom prst="roundRect">
                <a:avLst>
                  <a:gd name="adj" fmla="val 8420"/>
                </a:avLst>
              </a:prstGeom>
              <a:noFill/>
              <a:ln w="12700" cap="flat" cmpd="sng">
                <a:noFill/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개인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63" name="타원 62"/>
              <p:cNvSpPr/>
              <p:nvPr/>
            </p:nvSpPr>
            <p:spPr>
              <a:xfrm>
                <a:off x="1725061" y="2012600"/>
                <a:ext cx="118737" cy="120359"/>
              </a:xfrm>
              <a:prstGeom prst="ellipse">
                <a:avLst/>
              </a:prstGeom>
              <a:noFill/>
              <a:ln w="127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나눔고딕" pitchFamily="50" charset="-127"/>
                  <a:ea typeface="나눔고딕" pitchFamily="50" charset="-127"/>
                  <a:cs typeface="+mn-cs"/>
                </a:endParaRPr>
              </a:p>
            </p:txBody>
          </p:sp>
          <p:sp>
            <p:nvSpPr>
              <p:cNvPr id="64" name="Rounded Rectangle 200"/>
              <p:cNvSpPr/>
              <p:nvPr/>
            </p:nvSpPr>
            <p:spPr>
              <a:xfrm>
                <a:off x="1921036" y="1976498"/>
                <a:ext cx="293835" cy="187731"/>
              </a:xfrm>
              <a:prstGeom prst="roundRect">
                <a:avLst>
                  <a:gd name="adj" fmla="val 8420"/>
                </a:avLst>
              </a:prstGeom>
              <a:noFill/>
              <a:ln w="12700" cap="flat" cmpd="sng">
                <a:noFill/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부서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65" name="텍스트 상자 31"/>
              <p:cNvSpPr txBox="1"/>
              <p:nvPr/>
            </p:nvSpPr>
            <p:spPr>
              <a:xfrm>
                <a:off x="603840" y="2860699"/>
                <a:ext cx="45455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8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관리자</a:t>
                </a:r>
                <a:endPara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pic>
            <p:nvPicPr>
              <p:cNvPr id="68" name="그림 67"/>
              <p:cNvPicPr>
                <a:picLocks noChangeAspect="1"/>
              </p:cNvPicPr>
              <p:nvPr/>
            </p:nvPicPr>
            <p:blipFill rotWithShape="1">
              <a:blip r:embed="rId5"/>
              <a:srcRect r="13528"/>
              <a:stretch/>
            </p:blipFill>
            <p:spPr>
              <a:xfrm>
                <a:off x="1036126" y="3177550"/>
                <a:ext cx="2676840" cy="361950"/>
              </a:xfrm>
              <a:prstGeom prst="rect">
                <a:avLst/>
              </a:prstGeom>
            </p:spPr>
          </p:pic>
          <p:grpSp>
            <p:nvGrpSpPr>
              <p:cNvPr id="76" name="그룹 75"/>
              <p:cNvGrpSpPr/>
              <p:nvPr/>
            </p:nvGrpSpPr>
            <p:grpSpPr>
              <a:xfrm>
                <a:off x="1794960" y="2815873"/>
                <a:ext cx="557933" cy="198000"/>
                <a:chOff x="1583952" y="2866113"/>
                <a:chExt cx="557933" cy="198000"/>
              </a:xfrm>
            </p:grpSpPr>
            <p:sp>
              <p:nvSpPr>
                <p:cNvPr id="70" name="Rounded Rectangle 468"/>
                <p:cNvSpPr/>
                <p:nvPr/>
              </p:nvSpPr>
              <p:spPr>
                <a:xfrm>
                  <a:off x="1583952" y="2866113"/>
                  <a:ext cx="557933" cy="198000"/>
                </a:xfrm>
                <a:prstGeom prst="roundRect">
                  <a:avLst>
                    <a:gd name="adj" fmla="val 47831"/>
                  </a:avLst>
                </a:prstGeom>
                <a:solidFill>
                  <a:schemeClr val="bg1">
                    <a:lumMod val="95000"/>
                  </a:schemeClr>
                </a:solidFill>
                <a:ln w="12700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</p:spPr>
              <p:txBody>
                <a:bodyPr lIns="36000" tIns="0" rIns="0" bIns="0" anchor="ctr"/>
                <a:lstStyle/>
                <a:p>
                  <a:pPr>
                    <a:lnSpc>
                      <a:spcPct val="120000"/>
                    </a:lnSpc>
                  </a:pPr>
                  <a:r>
                    <a:rPr lang="ko-KR" altLang="en-US" sz="70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</a:rPr>
                    <a:t>이은수</a:t>
                  </a:r>
                  <a:endParaRPr 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71" name="Freeform 11"/>
                <p:cNvSpPr>
                  <a:spLocks noChangeAspect="1" noChangeArrowheads="1"/>
                </p:cNvSpPr>
                <p:nvPr/>
              </p:nvSpPr>
              <p:spPr bwMode="auto">
                <a:xfrm>
                  <a:off x="1963287" y="2924703"/>
                  <a:ext cx="81140" cy="81139"/>
                </a:xfrm>
                <a:custGeom>
                  <a:avLst/>
                  <a:gdLst>
                    <a:gd name="T0" fmla="*/ 454 w 455"/>
                    <a:gd name="T1" fmla="*/ 44 h 456"/>
                    <a:gd name="T2" fmla="*/ 411 w 455"/>
                    <a:gd name="T3" fmla="*/ 0 h 456"/>
                    <a:gd name="T4" fmla="*/ 224 w 455"/>
                    <a:gd name="T5" fmla="*/ 181 h 456"/>
                    <a:gd name="T6" fmla="*/ 44 w 455"/>
                    <a:gd name="T7" fmla="*/ 0 h 456"/>
                    <a:gd name="T8" fmla="*/ 0 w 455"/>
                    <a:gd name="T9" fmla="*/ 44 h 456"/>
                    <a:gd name="T10" fmla="*/ 181 w 455"/>
                    <a:gd name="T11" fmla="*/ 224 h 456"/>
                    <a:gd name="T12" fmla="*/ 0 w 455"/>
                    <a:gd name="T13" fmla="*/ 411 h 456"/>
                    <a:gd name="T14" fmla="*/ 44 w 455"/>
                    <a:gd name="T15" fmla="*/ 455 h 456"/>
                    <a:gd name="T16" fmla="*/ 224 w 455"/>
                    <a:gd name="T17" fmla="*/ 274 h 456"/>
                    <a:gd name="T18" fmla="*/ 411 w 455"/>
                    <a:gd name="T19" fmla="*/ 455 h 456"/>
                    <a:gd name="T20" fmla="*/ 454 w 455"/>
                    <a:gd name="T21" fmla="*/ 411 h 456"/>
                    <a:gd name="T22" fmla="*/ 274 w 455"/>
                    <a:gd name="T23" fmla="*/ 224 h 456"/>
                    <a:gd name="T24" fmla="*/ 454 w 455"/>
                    <a:gd name="T25" fmla="*/ 44 h 4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55" h="456">
                      <a:moveTo>
                        <a:pt x="454" y="44"/>
                      </a:moveTo>
                      <a:lnTo>
                        <a:pt x="411" y="0"/>
                      </a:lnTo>
                      <a:lnTo>
                        <a:pt x="224" y="181"/>
                      </a:lnTo>
                      <a:lnTo>
                        <a:pt x="44" y="0"/>
                      </a:lnTo>
                      <a:lnTo>
                        <a:pt x="0" y="44"/>
                      </a:lnTo>
                      <a:lnTo>
                        <a:pt x="181" y="224"/>
                      </a:lnTo>
                      <a:lnTo>
                        <a:pt x="0" y="411"/>
                      </a:lnTo>
                      <a:lnTo>
                        <a:pt x="44" y="455"/>
                      </a:lnTo>
                      <a:lnTo>
                        <a:pt x="224" y="274"/>
                      </a:lnTo>
                      <a:lnTo>
                        <a:pt x="411" y="455"/>
                      </a:lnTo>
                      <a:lnTo>
                        <a:pt x="454" y="411"/>
                      </a:lnTo>
                      <a:lnTo>
                        <a:pt x="274" y="224"/>
                      </a:lnTo>
                      <a:lnTo>
                        <a:pt x="454" y="44"/>
                      </a:lnTo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defPPr>
                    <a:defRPr lang="id-ID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9pPr>
                </a:lstStyle>
                <a:p>
                  <a:endParaRPr lang="en-US" sz="1633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72" name="Group 122"/>
              <p:cNvGrpSpPr/>
              <p:nvPr/>
            </p:nvGrpSpPr>
            <p:grpSpPr>
              <a:xfrm>
                <a:off x="1156615" y="2788647"/>
                <a:ext cx="523158" cy="252000"/>
                <a:chOff x="1122876" y="3618560"/>
                <a:chExt cx="444906" cy="252000"/>
              </a:xfrm>
            </p:grpSpPr>
            <p:sp>
              <p:nvSpPr>
                <p:cNvPr id="73" name="Rounded Rectangle 939"/>
                <p:cNvSpPr/>
                <p:nvPr/>
              </p:nvSpPr>
              <p:spPr>
                <a:xfrm>
                  <a:off x="1122876" y="3618560"/>
                  <a:ext cx="444906" cy="252000"/>
                </a:xfrm>
                <a:prstGeom prst="roundRect">
                  <a:avLst>
                    <a:gd name="adj" fmla="val 8420"/>
                  </a:avLst>
                </a:prstGeom>
                <a:solidFill>
                  <a:schemeClr val="bg1"/>
                </a:solidFill>
                <a:ln w="6350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</p:spPr>
              <p:txBody>
                <a:bodyPr lIns="72000" tIns="0" rIns="0" bIns="0" anchor="ctr"/>
                <a:lstStyle/>
                <a:p>
                  <a:pPr algn="ctr"/>
                  <a:r>
                    <a:rPr kumimoji="1" lang="ko-KR" altLang="en-US" sz="700" dirty="0" smtClean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ea"/>
                      <a:ea typeface="+mn-ea"/>
                    </a:rPr>
                    <a:t> 추가</a:t>
                  </a:r>
                  <a:endParaRPr kumimoji="1" lang="ko-KR" altLang="en-US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pic>
              <p:nvPicPr>
                <p:cNvPr id="74" name="Picture 157" descr="man-user (1).png"/>
                <p:cNvPicPr>
                  <a:picLocks noChangeAspect="1"/>
                </p:cNvPicPr>
                <p:nvPr/>
              </p:nvPicPr>
              <p:blipFill>
                <a:blip r:embed="rId6" cstate="print">
                  <a:alphaModFix amt="31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78956" y="3684586"/>
                  <a:ext cx="109070" cy="1090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589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77" name="텍스트 상자 31"/>
              <p:cNvSpPr txBox="1"/>
              <p:nvPr/>
            </p:nvSpPr>
            <p:spPr>
              <a:xfrm>
                <a:off x="603840" y="3717959"/>
                <a:ext cx="45455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8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rPr>
                  <a:t>공유자</a:t>
                </a:r>
                <a:endPara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78" name="Group 122"/>
              <p:cNvGrpSpPr/>
              <p:nvPr/>
            </p:nvGrpSpPr>
            <p:grpSpPr>
              <a:xfrm>
                <a:off x="1156615" y="3645907"/>
                <a:ext cx="523158" cy="252000"/>
                <a:chOff x="1122876" y="3618560"/>
                <a:chExt cx="444906" cy="252000"/>
              </a:xfrm>
            </p:grpSpPr>
            <p:sp>
              <p:nvSpPr>
                <p:cNvPr id="79" name="Rounded Rectangle 939"/>
                <p:cNvSpPr/>
                <p:nvPr/>
              </p:nvSpPr>
              <p:spPr>
                <a:xfrm>
                  <a:off x="1122876" y="3618560"/>
                  <a:ext cx="444906" cy="252000"/>
                </a:xfrm>
                <a:prstGeom prst="roundRect">
                  <a:avLst>
                    <a:gd name="adj" fmla="val 8420"/>
                  </a:avLst>
                </a:prstGeom>
                <a:solidFill>
                  <a:schemeClr val="bg1"/>
                </a:solidFill>
                <a:ln w="6350" cap="flat" cmpd="sng">
                  <a:solidFill>
                    <a:schemeClr val="bg1">
                      <a:lumMod val="65000"/>
                    </a:schemeClr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</p:spPr>
              <p:txBody>
                <a:bodyPr lIns="72000" tIns="0" rIns="0" bIns="0" anchor="ctr"/>
                <a:lstStyle/>
                <a:p>
                  <a:pPr algn="ctr"/>
                  <a:r>
                    <a:rPr kumimoji="1" lang="ko-KR" altLang="en-US" sz="700" dirty="0" smtClean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ea"/>
                      <a:ea typeface="+mn-ea"/>
                    </a:rPr>
                    <a:t> 추가</a:t>
                  </a:r>
                  <a:endParaRPr kumimoji="1" lang="ko-KR" altLang="en-US" sz="7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pic>
              <p:nvPicPr>
                <p:cNvPr id="80" name="Picture 157" descr="man-user (1).png"/>
                <p:cNvPicPr>
                  <a:picLocks noChangeAspect="1"/>
                </p:cNvPicPr>
                <p:nvPr/>
              </p:nvPicPr>
              <p:blipFill>
                <a:blip r:embed="rId6" cstate="print">
                  <a:alphaModFix amt="31000"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78956" y="3684586"/>
                  <a:ext cx="109070" cy="1090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>
                          <a:alpha val="30589"/>
                        </a:srgb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flat" cmpd="sng">
                      <a:solidFill>
                        <a:srgbClr val="000000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</p:pic>
          </p:grpSp>
          <p:cxnSp>
            <p:nvCxnSpPr>
              <p:cNvPr id="84" name="직선 연결선[R] 7"/>
              <p:cNvCxnSpPr/>
              <p:nvPr/>
            </p:nvCxnSpPr>
            <p:spPr>
              <a:xfrm>
                <a:off x="1168198" y="2561186"/>
                <a:ext cx="3021962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miter lim="400000"/>
              </a:ln>
            </p:spPr>
          </p:cxnSp>
          <p:sp>
            <p:nvSpPr>
              <p:cNvPr id="86" name="텍스트 상자 31"/>
              <p:cNvSpPr txBox="1"/>
              <p:nvPr/>
            </p:nvSpPr>
            <p:spPr>
              <a:xfrm>
                <a:off x="1162761" y="2379471"/>
                <a:ext cx="118800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kumimoji="1" lang="ko-KR" altLang="en-US" sz="800" dirty="0" smtClean="0">
                    <a:solidFill>
                      <a:schemeClr val="bg1">
                        <a:lumMod val="65000"/>
                      </a:schemeClr>
                    </a:solidFill>
                    <a:latin typeface="+mn-ea"/>
                    <a:ea typeface="+mn-ea"/>
                  </a:rPr>
                  <a:t>달력 명을 입력하세요</a:t>
                </a:r>
                <a:endParaRPr kumimoji="1" lang="ko-KR" altLang="en-US" sz="800" dirty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88" name="직선 연결선[R] 7"/>
              <p:cNvCxnSpPr/>
              <p:nvPr/>
            </p:nvCxnSpPr>
            <p:spPr>
              <a:xfrm>
                <a:off x="1765972" y="3040647"/>
                <a:ext cx="2424188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miter lim="400000"/>
              </a:ln>
            </p:spPr>
          </p:cxnSp>
          <p:cxnSp>
            <p:nvCxnSpPr>
              <p:cNvPr id="90" name="직선 연결선[R] 7"/>
              <p:cNvCxnSpPr/>
              <p:nvPr/>
            </p:nvCxnSpPr>
            <p:spPr>
              <a:xfrm>
                <a:off x="1765972" y="3893902"/>
                <a:ext cx="2424188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miter lim="400000"/>
              </a:ln>
            </p:spPr>
          </p:cxnSp>
          <p:sp>
            <p:nvSpPr>
              <p:cNvPr id="91" name="텍스트 상자 31"/>
              <p:cNvSpPr txBox="1"/>
              <p:nvPr/>
            </p:nvSpPr>
            <p:spPr>
              <a:xfrm>
                <a:off x="818055" y="4190526"/>
                <a:ext cx="24461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kumimoji="1" lang="ko-KR" altLang="en-US" sz="900" u="sng" dirty="0" smtClean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ea typeface="+mn-ea"/>
                  </a:rPr>
                  <a:t>설명 추가하기</a:t>
                </a:r>
                <a:endParaRPr kumimoji="1" lang="ko-KR" altLang="en-US" sz="900" u="sng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2" name="Freeform 437"/>
              <p:cNvSpPr>
                <a:spLocks noChangeArrowheads="1"/>
              </p:cNvSpPr>
              <p:nvPr/>
            </p:nvSpPr>
            <p:spPr bwMode="auto">
              <a:xfrm>
                <a:off x="603252" y="4175539"/>
                <a:ext cx="160771" cy="158944"/>
              </a:xfrm>
              <a:custGeom>
                <a:avLst/>
                <a:gdLst>
                  <a:gd name="T0" fmla="*/ 383 w 774"/>
                  <a:gd name="T1" fmla="*/ 0 h 766"/>
                  <a:gd name="T2" fmla="*/ 0 w 774"/>
                  <a:gd name="T3" fmla="*/ 383 h 766"/>
                  <a:gd name="T4" fmla="*/ 383 w 774"/>
                  <a:gd name="T5" fmla="*/ 765 h 766"/>
                  <a:gd name="T6" fmla="*/ 773 w 774"/>
                  <a:gd name="T7" fmla="*/ 383 h 766"/>
                  <a:gd name="T8" fmla="*/ 383 w 774"/>
                  <a:gd name="T9" fmla="*/ 0 h 766"/>
                  <a:gd name="T10" fmla="*/ 581 w 774"/>
                  <a:gd name="T11" fmla="*/ 419 h 766"/>
                  <a:gd name="T12" fmla="*/ 427 w 774"/>
                  <a:gd name="T13" fmla="*/ 419 h 766"/>
                  <a:gd name="T14" fmla="*/ 427 w 774"/>
                  <a:gd name="T15" fmla="*/ 574 h 766"/>
                  <a:gd name="T16" fmla="*/ 346 w 774"/>
                  <a:gd name="T17" fmla="*/ 574 h 766"/>
                  <a:gd name="T18" fmla="*/ 346 w 774"/>
                  <a:gd name="T19" fmla="*/ 419 h 766"/>
                  <a:gd name="T20" fmla="*/ 192 w 774"/>
                  <a:gd name="T21" fmla="*/ 419 h 766"/>
                  <a:gd name="T22" fmla="*/ 192 w 774"/>
                  <a:gd name="T23" fmla="*/ 346 h 766"/>
                  <a:gd name="T24" fmla="*/ 346 w 774"/>
                  <a:gd name="T25" fmla="*/ 346 h 766"/>
                  <a:gd name="T26" fmla="*/ 346 w 774"/>
                  <a:gd name="T27" fmla="*/ 191 h 766"/>
                  <a:gd name="T28" fmla="*/ 427 w 774"/>
                  <a:gd name="T29" fmla="*/ 191 h 766"/>
                  <a:gd name="T30" fmla="*/ 427 w 774"/>
                  <a:gd name="T31" fmla="*/ 346 h 766"/>
                  <a:gd name="T32" fmla="*/ 581 w 774"/>
                  <a:gd name="T33" fmla="*/ 346 h 766"/>
                  <a:gd name="T34" fmla="*/ 581 w 774"/>
                  <a:gd name="T35" fmla="*/ 419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74" h="766">
                    <a:moveTo>
                      <a:pt x="383" y="0"/>
                    </a:moveTo>
                    <a:cubicBezTo>
                      <a:pt x="177" y="0"/>
                      <a:pt x="0" y="169"/>
                      <a:pt x="0" y="383"/>
                    </a:cubicBezTo>
                    <a:cubicBezTo>
                      <a:pt x="0" y="596"/>
                      <a:pt x="173" y="765"/>
                      <a:pt x="383" y="765"/>
                    </a:cubicBezTo>
                    <a:cubicBezTo>
                      <a:pt x="592" y="765"/>
                      <a:pt x="773" y="596"/>
                      <a:pt x="773" y="383"/>
                    </a:cubicBezTo>
                    <a:cubicBezTo>
                      <a:pt x="773" y="169"/>
                      <a:pt x="596" y="0"/>
                      <a:pt x="383" y="0"/>
                    </a:cubicBezTo>
                    <a:close/>
                    <a:moveTo>
                      <a:pt x="581" y="419"/>
                    </a:moveTo>
                    <a:lnTo>
                      <a:pt x="427" y="419"/>
                    </a:lnTo>
                    <a:lnTo>
                      <a:pt x="427" y="574"/>
                    </a:lnTo>
                    <a:lnTo>
                      <a:pt x="346" y="574"/>
                    </a:lnTo>
                    <a:lnTo>
                      <a:pt x="346" y="419"/>
                    </a:lnTo>
                    <a:lnTo>
                      <a:pt x="192" y="419"/>
                    </a:lnTo>
                    <a:lnTo>
                      <a:pt x="192" y="346"/>
                    </a:lnTo>
                    <a:lnTo>
                      <a:pt x="346" y="346"/>
                    </a:lnTo>
                    <a:lnTo>
                      <a:pt x="346" y="191"/>
                    </a:lnTo>
                    <a:lnTo>
                      <a:pt x="427" y="191"/>
                    </a:lnTo>
                    <a:lnTo>
                      <a:pt x="427" y="346"/>
                    </a:lnTo>
                    <a:lnTo>
                      <a:pt x="581" y="346"/>
                    </a:lnTo>
                    <a:lnTo>
                      <a:pt x="581" y="419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  <p:sp>
            <p:nvSpPr>
              <p:cNvPr id="100" name="타원 99"/>
              <p:cNvSpPr>
                <a:spLocks noChangeAspect="1"/>
              </p:cNvSpPr>
              <p:nvPr/>
            </p:nvSpPr>
            <p:spPr>
              <a:xfrm>
                <a:off x="299172" y="3701582"/>
                <a:ext cx="178657" cy="180000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rgbClr val="C00000"/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5</a:t>
                </a:r>
                <a:endPara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1" name="타원 100"/>
              <p:cNvSpPr>
                <a:spLocks noChangeAspect="1"/>
              </p:cNvSpPr>
              <p:nvPr/>
            </p:nvSpPr>
            <p:spPr>
              <a:xfrm>
                <a:off x="299172" y="4146949"/>
                <a:ext cx="178657" cy="180000"/>
              </a:xfrm>
              <a:prstGeom prst="ellipse">
                <a:avLst/>
              </a:prstGeom>
              <a:solidFill>
                <a:srgbClr val="FF0000"/>
              </a:solidFill>
              <a:ln w="3175">
                <a:solidFill>
                  <a:srgbClr val="C00000"/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6</a:t>
                </a:r>
                <a:endParaRPr kumimoji="1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08" name="그룹 107"/>
              <p:cNvGrpSpPr/>
              <p:nvPr/>
            </p:nvGrpSpPr>
            <p:grpSpPr>
              <a:xfrm>
                <a:off x="1800502" y="3668645"/>
                <a:ext cx="713053" cy="198000"/>
                <a:chOff x="1800502" y="3668645"/>
                <a:chExt cx="713053" cy="198000"/>
              </a:xfrm>
            </p:grpSpPr>
            <p:sp>
              <p:nvSpPr>
                <p:cNvPr id="105" name="Rounded Rectangle 468"/>
                <p:cNvSpPr/>
                <p:nvPr/>
              </p:nvSpPr>
              <p:spPr>
                <a:xfrm>
                  <a:off x="1800502" y="3668645"/>
                  <a:ext cx="713053" cy="198000"/>
                </a:xfrm>
                <a:prstGeom prst="roundRect">
                  <a:avLst>
                    <a:gd name="adj" fmla="val 47831"/>
                  </a:avLst>
                </a:prstGeom>
                <a:solidFill>
                  <a:schemeClr val="bg1">
                    <a:lumMod val="95000"/>
                  </a:schemeClr>
                </a:solidFill>
                <a:ln w="12700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</p:spPr>
              <p:txBody>
                <a:bodyPr lIns="36000" tIns="0" rIns="0" bIns="0" anchor="ctr"/>
                <a:lstStyle/>
                <a:p>
                  <a:pPr>
                    <a:lnSpc>
                      <a:spcPct val="120000"/>
                    </a:lnSpc>
                  </a:pPr>
                  <a:r>
                    <a:rPr lang="ko-KR" altLang="en-US" sz="700" dirty="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</a:rPr>
                    <a:t>     이민수</a:t>
                  </a:r>
                  <a:endParaRPr lang="en-US" sz="7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endParaRPr>
                </a:p>
              </p:txBody>
            </p:sp>
            <p:sp>
              <p:nvSpPr>
                <p:cNvPr id="106" name="Freeform 11"/>
                <p:cNvSpPr>
                  <a:spLocks noChangeAspect="1" noChangeArrowheads="1"/>
                </p:cNvSpPr>
                <p:nvPr/>
              </p:nvSpPr>
              <p:spPr bwMode="auto">
                <a:xfrm>
                  <a:off x="2356703" y="3727235"/>
                  <a:ext cx="81140" cy="81139"/>
                </a:xfrm>
                <a:custGeom>
                  <a:avLst/>
                  <a:gdLst>
                    <a:gd name="T0" fmla="*/ 454 w 455"/>
                    <a:gd name="T1" fmla="*/ 44 h 456"/>
                    <a:gd name="T2" fmla="*/ 411 w 455"/>
                    <a:gd name="T3" fmla="*/ 0 h 456"/>
                    <a:gd name="T4" fmla="*/ 224 w 455"/>
                    <a:gd name="T5" fmla="*/ 181 h 456"/>
                    <a:gd name="T6" fmla="*/ 44 w 455"/>
                    <a:gd name="T7" fmla="*/ 0 h 456"/>
                    <a:gd name="T8" fmla="*/ 0 w 455"/>
                    <a:gd name="T9" fmla="*/ 44 h 456"/>
                    <a:gd name="T10" fmla="*/ 181 w 455"/>
                    <a:gd name="T11" fmla="*/ 224 h 456"/>
                    <a:gd name="T12" fmla="*/ 0 w 455"/>
                    <a:gd name="T13" fmla="*/ 411 h 456"/>
                    <a:gd name="T14" fmla="*/ 44 w 455"/>
                    <a:gd name="T15" fmla="*/ 455 h 456"/>
                    <a:gd name="T16" fmla="*/ 224 w 455"/>
                    <a:gd name="T17" fmla="*/ 274 h 456"/>
                    <a:gd name="T18" fmla="*/ 411 w 455"/>
                    <a:gd name="T19" fmla="*/ 455 h 456"/>
                    <a:gd name="T20" fmla="*/ 454 w 455"/>
                    <a:gd name="T21" fmla="*/ 411 h 456"/>
                    <a:gd name="T22" fmla="*/ 274 w 455"/>
                    <a:gd name="T23" fmla="*/ 224 h 456"/>
                    <a:gd name="T24" fmla="*/ 454 w 455"/>
                    <a:gd name="T25" fmla="*/ 44 h 4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455" h="456">
                      <a:moveTo>
                        <a:pt x="454" y="44"/>
                      </a:moveTo>
                      <a:lnTo>
                        <a:pt x="411" y="0"/>
                      </a:lnTo>
                      <a:lnTo>
                        <a:pt x="224" y="181"/>
                      </a:lnTo>
                      <a:lnTo>
                        <a:pt x="44" y="0"/>
                      </a:lnTo>
                      <a:lnTo>
                        <a:pt x="0" y="44"/>
                      </a:lnTo>
                      <a:lnTo>
                        <a:pt x="181" y="224"/>
                      </a:lnTo>
                      <a:lnTo>
                        <a:pt x="0" y="411"/>
                      </a:lnTo>
                      <a:lnTo>
                        <a:pt x="44" y="455"/>
                      </a:lnTo>
                      <a:lnTo>
                        <a:pt x="224" y="274"/>
                      </a:lnTo>
                      <a:lnTo>
                        <a:pt x="411" y="455"/>
                      </a:lnTo>
                      <a:lnTo>
                        <a:pt x="454" y="411"/>
                      </a:lnTo>
                      <a:lnTo>
                        <a:pt x="274" y="224"/>
                      </a:lnTo>
                      <a:lnTo>
                        <a:pt x="454" y="44"/>
                      </a:lnTo>
                    </a:path>
                  </a:pathLst>
                </a:custGeom>
                <a:solidFill>
                  <a:schemeClr val="bg1">
                    <a:lumMod val="50000"/>
                  </a:schemeClr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defPPr>
                    <a:defRPr lang="id-ID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Roboto" charset="0"/>
                      <a:ea typeface="ＭＳ Ｐゴシック" charset="0"/>
                      <a:cs typeface="ＭＳ Ｐゴシック" charset="0"/>
                    </a:defRPr>
                  </a:lvl9pPr>
                </a:lstStyle>
                <a:p>
                  <a:endParaRPr lang="en-US" sz="1633">
                    <a:latin typeface="+mn-ea"/>
                    <a:ea typeface="+mn-ea"/>
                  </a:endParaRPr>
                </a:p>
              </p:txBody>
            </p:sp>
            <p:pic>
              <p:nvPicPr>
                <p:cNvPr id="107" name="그림 106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50541" y="3686711"/>
                  <a:ext cx="162000" cy="162000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그룹 114"/>
              <p:cNvGrpSpPr/>
              <p:nvPr/>
            </p:nvGrpSpPr>
            <p:grpSpPr>
              <a:xfrm>
                <a:off x="2609850" y="3668645"/>
                <a:ext cx="713053" cy="198000"/>
                <a:chOff x="2609850" y="3668645"/>
                <a:chExt cx="713053" cy="198000"/>
              </a:xfrm>
            </p:grpSpPr>
            <p:grpSp>
              <p:nvGrpSpPr>
                <p:cNvPr id="110" name="그룹 109"/>
                <p:cNvGrpSpPr/>
                <p:nvPr/>
              </p:nvGrpSpPr>
              <p:grpSpPr>
                <a:xfrm>
                  <a:off x="2609850" y="3668645"/>
                  <a:ext cx="713053" cy="198000"/>
                  <a:chOff x="1800502" y="3668645"/>
                  <a:chExt cx="713053" cy="198000"/>
                </a:xfrm>
              </p:grpSpPr>
              <p:sp>
                <p:nvSpPr>
                  <p:cNvPr id="111" name="Rounded Rectangle 468"/>
                  <p:cNvSpPr/>
                  <p:nvPr/>
                </p:nvSpPr>
                <p:spPr>
                  <a:xfrm>
                    <a:off x="1800502" y="3668645"/>
                    <a:ext cx="713053" cy="198000"/>
                  </a:xfrm>
                  <a:prstGeom prst="roundRect">
                    <a:avLst>
                      <a:gd name="adj" fmla="val 47831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12700" cap="flat" cmpd="sng">
                    <a:solidFill>
                      <a:schemeClr val="bg1">
                        <a:lumMod val="50000"/>
                      </a:schemeClr>
                    </a:solidFill>
                    <a:prstDash val="solid"/>
                    <a:miter lim="400000"/>
                    <a:headEnd type="none" w="med" len="med"/>
                    <a:tailEnd type="none" w="med" len="med"/>
                  </a:ln>
                  <a:effectLst/>
                </p:spPr>
                <p:txBody>
                  <a:bodyPr lIns="36000" tIns="0" rIns="0" bIns="0" anchor="ctr"/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ko-KR" altLang="en-US" sz="7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rPr>
                      <a:t>     이영미</a:t>
                    </a:r>
                    <a:endParaRPr lang="en-US" sz="7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12" name="Freeform 11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356703" y="3727235"/>
                    <a:ext cx="81140" cy="81139"/>
                  </a:xfrm>
                  <a:custGeom>
                    <a:avLst/>
                    <a:gdLst>
                      <a:gd name="T0" fmla="*/ 454 w 455"/>
                      <a:gd name="T1" fmla="*/ 44 h 456"/>
                      <a:gd name="T2" fmla="*/ 411 w 455"/>
                      <a:gd name="T3" fmla="*/ 0 h 456"/>
                      <a:gd name="T4" fmla="*/ 224 w 455"/>
                      <a:gd name="T5" fmla="*/ 181 h 456"/>
                      <a:gd name="T6" fmla="*/ 44 w 455"/>
                      <a:gd name="T7" fmla="*/ 0 h 456"/>
                      <a:gd name="T8" fmla="*/ 0 w 455"/>
                      <a:gd name="T9" fmla="*/ 44 h 456"/>
                      <a:gd name="T10" fmla="*/ 181 w 455"/>
                      <a:gd name="T11" fmla="*/ 224 h 456"/>
                      <a:gd name="T12" fmla="*/ 0 w 455"/>
                      <a:gd name="T13" fmla="*/ 411 h 456"/>
                      <a:gd name="T14" fmla="*/ 44 w 455"/>
                      <a:gd name="T15" fmla="*/ 455 h 456"/>
                      <a:gd name="T16" fmla="*/ 224 w 455"/>
                      <a:gd name="T17" fmla="*/ 274 h 456"/>
                      <a:gd name="T18" fmla="*/ 411 w 455"/>
                      <a:gd name="T19" fmla="*/ 455 h 456"/>
                      <a:gd name="T20" fmla="*/ 454 w 455"/>
                      <a:gd name="T21" fmla="*/ 411 h 456"/>
                      <a:gd name="T22" fmla="*/ 274 w 455"/>
                      <a:gd name="T23" fmla="*/ 224 h 456"/>
                      <a:gd name="T24" fmla="*/ 454 w 455"/>
                      <a:gd name="T25" fmla="*/ 44 h 4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455" h="456">
                        <a:moveTo>
                          <a:pt x="454" y="44"/>
                        </a:moveTo>
                        <a:lnTo>
                          <a:pt x="411" y="0"/>
                        </a:lnTo>
                        <a:lnTo>
                          <a:pt x="224" y="181"/>
                        </a:lnTo>
                        <a:lnTo>
                          <a:pt x="44" y="0"/>
                        </a:lnTo>
                        <a:lnTo>
                          <a:pt x="0" y="44"/>
                        </a:lnTo>
                        <a:lnTo>
                          <a:pt x="181" y="224"/>
                        </a:lnTo>
                        <a:lnTo>
                          <a:pt x="0" y="411"/>
                        </a:lnTo>
                        <a:lnTo>
                          <a:pt x="44" y="455"/>
                        </a:lnTo>
                        <a:lnTo>
                          <a:pt x="224" y="274"/>
                        </a:lnTo>
                        <a:lnTo>
                          <a:pt x="411" y="455"/>
                        </a:lnTo>
                        <a:lnTo>
                          <a:pt x="454" y="411"/>
                        </a:lnTo>
                        <a:lnTo>
                          <a:pt x="274" y="224"/>
                        </a:lnTo>
                        <a:lnTo>
                          <a:pt x="454" y="44"/>
                        </a:lnTo>
                      </a:path>
                    </a:pathLst>
                  </a:cu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>
                    <a:defPPr>
                      <a:defRPr lang="id-ID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Roboto" charset="0"/>
                        <a:ea typeface="ＭＳ Ｐゴシック" charset="0"/>
                        <a:cs typeface="ＭＳ Ｐゴシック" charset="0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Roboto" charset="0"/>
                        <a:ea typeface="ＭＳ Ｐゴシック" charset="0"/>
                        <a:cs typeface="ＭＳ Ｐゴシック" charset="0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Roboto" charset="0"/>
                        <a:ea typeface="ＭＳ Ｐゴシック" charset="0"/>
                        <a:cs typeface="ＭＳ Ｐゴシック" charset="0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Roboto" charset="0"/>
                        <a:ea typeface="ＭＳ Ｐゴシック" charset="0"/>
                        <a:cs typeface="ＭＳ Ｐゴシック" charset="0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Roboto" charset="0"/>
                        <a:ea typeface="ＭＳ Ｐゴシック" charset="0"/>
                        <a:cs typeface="ＭＳ Ｐゴシック" charset="0"/>
                      </a:defRPr>
                    </a:lvl5pPr>
                    <a:lvl6pPr marL="2286000" algn="l" defTabSz="457200" rtl="0" eaLnBrk="1" latinLnBrk="0" hangingPunct="1">
                      <a:defRPr kern="1200">
                        <a:solidFill>
                          <a:schemeClr val="tx1"/>
                        </a:solidFill>
                        <a:latin typeface="Roboto" charset="0"/>
                        <a:ea typeface="ＭＳ Ｐゴシック" charset="0"/>
                        <a:cs typeface="ＭＳ Ｐゴシック" charset="0"/>
                      </a:defRPr>
                    </a:lvl6pPr>
                    <a:lvl7pPr marL="2743200" algn="l" defTabSz="457200" rtl="0" eaLnBrk="1" latinLnBrk="0" hangingPunct="1">
                      <a:defRPr kern="1200">
                        <a:solidFill>
                          <a:schemeClr val="tx1"/>
                        </a:solidFill>
                        <a:latin typeface="Roboto" charset="0"/>
                        <a:ea typeface="ＭＳ Ｐゴシック" charset="0"/>
                        <a:cs typeface="ＭＳ Ｐゴシック" charset="0"/>
                      </a:defRPr>
                    </a:lvl7pPr>
                    <a:lvl8pPr marL="3200400" algn="l" defTabSz="457200" rtl="0" eaLnBrk="1" latinLnBrk="0" hangingPunct="1">
                      <a:defRPr kern="1200">
                        <a:solidFill>
                          <a:schemeClr val="tx1"/>
                        </a:solidFill>
                        <a:latin typeface="Roboto" charset="0"/>
                        <a:ea typeface="ＭＳ Ｐゴシック" charset="0"/>
                        <a:cs typeface="ＭＳ Ｐゴシック" charset="0"/>
                      </a:defRPr>
                    </a:lvl8pPr>
                    <a:lvl9pPr marL="3657600" algn="l" defTabSz="457200" rtl="0" eaLnBrk="1" latinLnBrk="0" hangingPunct="1">
                      <a:defRPr kern="1200">
                        <a:solidFill>
                          <a:schemeClr val="tx1"/>
                        </a:solidFill>
                        <a:latin typeface="Roboto" charset="0"/>
                        <a:ea typeface="ＭＳ Ｐゴシック" charset="0"/>
                        <a:cs typeface="ＭＳ Ｐゴシック" charset="0"/>
                      </a:defRPr>
                    </a:lvl9pPr>
                  </a:lstStyle>
                  <a:p>
                    <a:endParaRPr lang="en-US" sz="1633">
                      <a:latin typeface="+mn-ea"/>
                      <a:ea typeface="+mn-ea"/>
                    </a:endParaRPr>
                  </a:p>
                </p:txBody>
              </p:sp>
            </p:grpSp>
            <p:pic>
              <p:nvPicPr>
                <p:cNvPr id="109" name="그림 10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71951" y="3701582"/>
                  <a:ext cx="144000" cy="144000"/>
                </a:xfrm>
                <a:prstGeom prst="rect">
                  <a:avLst/>
                </a:prstGeom>
              </p:spPr>
            </p:pic>
          </p:grpSp>
        </p:grpSp>
        <p:pic>
          <p:nvPicPr>
            <p:cNvPr id="226" name="그림 22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2923" y="1902732"/>
              <a:ext cx="118800" cy="118800"/>
            </a:xfrm>
            <a:prstGeom prst="rect">
              <a:avLst/>
            </a:prstGeom>
          </p:spPr>
        </p:pic>
      </p:grpSp>
      <p:graphicFrame>
        <p:nvGraphicFramePr>
          <p:cNvPr id="9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649411"/>
              </p:ext>
            </p:extLst>
          </p:nvPr>
        </p:nvGraphicFramePr>
        <p:xfrm>
          <a:off x="9290533" y="83132"/>
          <a:ext cx="2835141" cy="648072"/>
        </p:xfrm>
        <a:graphic>
          <a:graphicData uri="http://schemas.openxmlformats.org/drawingml/2006/table">
            <a:tbl>
              <a:tblPr/>
              <a:tblGrid>
                <a:gridCol w="82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PROJECT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EGW UI/UX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개선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CA6.3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이수진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9273877" y="74712"/>
            <a:ext cx="2851448" cy="65871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달력 추가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53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직사각형 98"/>
          <p:cNvSpPr/>
          <p:nvPr/>
        </p:nvSpPr>
        <p:spPr>
          <a:xfrm>
            <a:off x="431134" y="688489"/>
            <a:ext cx="1422685" cy="5959961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" name="양쪽 모서리가 둥근 사각형 4"/>
          <p:cNvSpPr/>
          <p:nvPr/>
        </p:nvSpPr>
        <p:spPr>
          <a:xfrm>
            <a:off x="2004740" y="1227013"/>
            <a:ext cx="1273193" cy="268411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일반 설정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양쪽 모서리가 둥근 사각형 5"/>
          <p:cNvSpPr/>
          <p:nvPr/>
        </p:nvSpPr>
        <p:spPr>
          <a:xfrm>
            <a:off x="3279363" y="1227013"/>
            <a:ext cx="1273193" cy="268411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달력 순서 변경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텍스트 상자 31"/>
          <p:cNvSpPr txBox="1"/>
          <p:nvPr/>
        </p:nvSpPr>
        <p:spPr>
          <a:xfrm>
            <a:off x="1993823" y="896910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8" name="내용 개체 틀 8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5048187"/>
              </p:ext>
            </p:extLst>
          </p:nvPr>
        </p:nvGraphicFramePr>
        <p:xfrm>
          <a:off x="1986464" y="1693919"/>
          <a:ext cx="7086995" cy="1211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8211">
                  <a:extLst>
                    <a:ext uri="{9D8B030D-6E8A-4147-A177-3AD203B41FA5}">
                      <a16:colId xmlns:a16="http://schemas.microsoft.com/office/drawing/2014/main" val="3085025482"/>
                    </a:ext>
                  </a:extLst>
                </a:gridCol>
                <a:gridCol w="5958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시간 형식</a:t>
                      </a:r>
                      <a:endParaRPr lang="ko-KR" altLang="en-US"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오전</a:t>
                      </a:r>
                      <a:r>
                        <a:rPr lang="en-US" altLang="ko-KR" sz="800" b="0" u="non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         </a:t>
                      </a:r>
                      <a:r>
                        <a:rPr lang="en-US" altLang="ko-KR" sz="800" b="0" u="non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u="non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marL="0" algn="l" defTabSz="990570" rtl="0" eaLnBrk="1" latinLnBrk="1" hangingPunct="1"/>
                      <a:r>
                        <a:rPr lang="ko-KR" altLang="en-US" sz="800" b="0" kern="1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인쇄 형식</a:t>
                      </a:r>
                      <a:endParaRPr lang="ko-KR" altLang="en-US" sz="8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리스트              테이블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791048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달력 방식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일간                 주간                  월간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시작 시각</a:t>
                      </a:r>
                      <a:endParaRPr lang="ko-KR" altLang="en-US"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 rot="5400000">
            <a:off x="3924102" y="2662796"/>
            <a:ext cx="219579" cy="1895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291640" y="2634582"/>
            <a:ext cx="932781" cy="22860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08:00</a:t>
            </a: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8207362" y="2985877"/>
            <a:ext cx="866095" cy="29717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저장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3286970" y="1774634"/>
            <a:ext cx="902728" cy="118800"/>
            <a:chOff x="3286970" y="1774634"/>
            <a:chExt cx="902728" cy="118800"/>
          </a:xfrm>
        </p:grpSpPr>
        <p:sp>
          <p:nvSpPr>
            <p:cNvPr id="127" name="타원 126"/>
            <p:cNvSpPr>
              <a:spLocks noChangeAspect="1"/>
            </p:cNvSpPr>
            <p:nvPr/>
          </p:nvSpPr>
          <p:spPr>
            <a:xfrm>
              <a:off x="4081698" y="1774634"/>
              <a:ext cx="108000" cy="109475"/>
            </a:xfrm>
            <a:prstGeom prst="ellipse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pic>
          <p:nvPicPr>
            <p:cNvPr id="128" name="그림 12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6970" y="1774634"/>
              <a:ext cx="118800" cy="118800"/>
            </a:xfrm>
            <a:prstGeom prst="rect">
              <a:avLst/>
            </a:prstGeom>
          </p:spPr>
        </p:pic>
      </p:grpSp>
      <p:grpSp>
        <p:nvGrpSpPr>
          <p:cNvPr id="130" name="그룹 129"/>
          <p:cNvGrpSpPr/>
          <p:nvPr/>
        </p:nvGrpSpPr>
        <p:grpSpPr>
          <a:xfrm>
            <a:off x="3286970" y="2079434"/>
            <a:ext cx="902728" cy="118800"/>
            <a:chOff x="3286970" y="1774634"/>
            <a:chExt cx="902728" cy="118800"/>
          </a:xfrm>
        </p:grpSpPr>
        <p:sp>
          <p:nvSpPr>
            <p:cNvPr id="131" name="타원 130"/>
            <p:cNvSpPr>
              <a:spLocks noChangeAspect="1"/>
            </p:cNvSpPr>
            <p:nvPr/>
          </p:nvSpPr>
          <p:spPr>
            <a:xfrm>
              <a:off x="4081698" y="1774634"/>
              <a:ext cx="108000" cy="109475"/>
            </a:xfrm>
            <a:prstGeom prst="ellipse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pic>
          <p:nvPicPr>
            <p:cNvPr id="132" name="그림 13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6970" y="1774634"/>
              <a:ext cx="118800" cy="118800"/>
            </a:xfrm>
            <a:prstGeom prst="rect">
              <a:avLst/>
            </a:prstGeom>
          </p:spPr>
        </p:pic>
      </p:grpSp>
      <p:sp>
        <p:nvSpPr>
          <p:cNvPr id="134" name="타원 133"/>
          <p:cNvSpPr>
            <a:spLocks noChangeAspect="1"/>
          </p:cNvSpPr>
          <p:nvPr/>
        </p:nvSpPr>
        <p:spPr>
          <a:xfrm>
            <a:off x="4081698" y="2393759"/>
            <a:ext cx="108000" cy="109475"/>
          </a:xfrm>
          <a:prstGeom prst="ellipse">
            <a:avLst/>
          </a:pr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pic>
        <p:nvPicPr>
          <p:cNvPr id="135" name="그림 13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970" y="2393759"/>
            <a:ext cx="118800" cy="118800"/>
          </a:xfrm>
          <a:prstGeom prst="rect">
            <a:avLst/>
          </a:prstGeom>
        </p:spPr>
      </p:pic>
      <p:sp>
        <p:nvSpPr>
          <p:cNvPr id="136" name="타원 135"/>
          <p:cNvSpPr>
            <a:spLocks noChangeAspect="1"/>
          </p:cNvSpPr>
          <p:nvPr/>
        </p:nvSpPr>
        <p:spPr>
          <a:xfrm>
            <a:off x="4977048" y="2393759"/>
            <a:ext cx="108000" cy="109475"/>
          </a:xfrm>
          <a:prstGeom prst="ellipse">
            <a:avLst/>
          </a:pr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cxnSp>
        <p:nvCxnSpPr>
          <p:cNvPr id="200" name="직선 연결선 199"/>
          <p:cNvCxnSpPr/>
          <p:nvPr/>
        </p:nvCxnSpPr>
        <p:spPr>
          <a:xfrm>
            <a:off x="2004740" y="1495424"/>
            <a:ext cx="7068718" cy="0"/>
          </a:xfrm>
          <a:prstGeom prst="line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2" name="TextBox 251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일반 설정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설정</a:t>
            </a:r>
          </a:p>
        </p:txBody>
      </p:sp>
      <p:graphicFrame>
        <p:nvGraphicFramePr>
          <p:cNvPr id="25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463672"/>
              </p:ext>
            </p:extLst>
          </p:nvPr>
        </p:nvGraphicFramePr>
        <p:xfrm>
          <a:off x="9290533" y="786383"/>
          <a:ext cx="2835467" cy="1355201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 환경 설정은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009704"/>
                  </a:ext>
                </a:extLst>
              </a:tr>
            </a:tbl>
          </a:graphicData>
        </a:graphic>
      </p:graphicFrame>
      <p:sp>
        <p:nvSpPr>
          <p:cNvPr id="256" name="TextBox 255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CA6.4.1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</a:p>
        </p:txBody>
      </p:sp>
      <p:sp>
        <p:nvSpPr>
          <p:cNvPr id="78" name="양쪽 모서리가 둥근 사각형 77"/>
          <p:cNvSpPr/>
          <p:nvPr/>
        </p:nvSpPr>
        <p:spPr>
          <a:xfrm>
            <a:off x="4555713" y="1227013"/>
            <a:ext cx="1273193" cy="268411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구글 달력 동기화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직사각형 98"/>
          <p:cNvSpPr/>
          <p:nvPr/>
        </p:nvSpPr>
        <p:spPr>
          <a:xfrm>
            <a:off x="431134" y="676275"/>
            <a:ext cx="1422685" cy="59912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1" name="Rectangle 14"/>
          <p:cNvSpPr>
            <a:spLocks/>
          </p:cNvSpPr>
          <p:nvPr/>
        </p:nvSpPr>
        <p:spPr bwMode="auto">
          <a:xfrm>
            <a:off x="550750" y="807794"/>
            <a:ext cx="1195982" cy="26744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 algn="ctr">
              <a:lnSpc>
                <a:spcPct val="130000"/>
              </a:lnSpc>
            </a:pPr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일정 </a:t>
            </a: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등록하기</a:t>
            </a:r>
            <a:endParaRPr lang="x-none" altLang="x-none" sz="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82" name="Group 311"/>
          <p:cNvGrpSpPr/>
          <p:nvPr/>
        </p:nvGrpSpPr>
        <p:grpSpPr>
          <a:xfrm>
            <a:off x="444162" y="6351330"/>
            <a:ext cx="1404000" cy="246628"/>
            <a:chOff x="785281" y="6952264"/>
            <a:chExt cx="1404000" cy="246628"/>
          </a:xfrm>
        </p:grpSpPr>
        <p:sp>
          <p:nvSpPr>
            <p:cNvPr id="83" name="텍스트 상자 31"/>
            <p:cNvSpPr txBox="1"/>
            <p:nvPr/>
          </p:nvSpPr>
          <p:spPr>
            <a:xfrm>
              <a:off x="965893" y="7014226"/>
              <a:ext cx="1171015" cy="18466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  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84" name="Freeform 13"/>
            <p:cNvSpPr>
              <a:spLocks noChangeAspect="1" noChangeArrowheads="1"/>
            </p:cNvSpPr>
            <p:nvPr/>
          </p:nvSpPr>
          <p:spPr bwMode="auto">
            <a:xfrm>
              <a:off x="837212" y="7057163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85" name="직선 연결선[R] 33"/>
            <p:cNvCxnSpPr/>
            <p:nvPr/>
          </p:nvCxnSpPr>
          <p:spPr>
            <a:xfrm>
              <a:off x="785281" y="6952264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6" name="Table 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238714"/>
              </p:ext>
            </p:extLst>
          </p:nvPr>
        </p:nvGraphicFramePr>
        <p:xfrm>
          <a:off x="428535" y="1157416"/>
          <a:ext cx="1419089" cy="1082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294"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ko-KR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2017.08</a:t>
                      </a:r>
                      <a:r>
                        <a:rPr lang="ko-KR" altLang="en-US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 </a:t>
                      </a:r>
                      <a:endParaRPr lang="en-US" sz="800" dirty="0">
                        <a:solidFill>
                          <a:schemeClr val="tx1"/>
                        </a:solidFill>
                        <a:latin typeface="Malgun Gothic" charset="-127"/>
                        <a:ea typeface="Malgun Gothic" charset="-127"/>
                        <a:cs typeface="Malgun Gothic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수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목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금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토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endParaRPr lang="en-US" sz="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n-US" sz="600" u="none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en-US" sz="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600" u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7" name="타원 83"/>
          <p:cNvSpPr>
            <a:spLocks noChangeAspect="1"/>
          </p:cNvSpPr>
          <p:nvPr/>
        </p:nvSpPr>
        <p:spPr>
          <a:xfrm>
            <a:off x="642073" y="1927951"/>
            <a:ext cx="179840" cy="18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ko-KR" sz="600" b="1" smtClean="0">
                <a:solidFill>
                  <a:schemeClr val="bg1"/>
                </a:solidFill>
                <a:latin typeface="+mn-ea"/>
              </a:rPr>
              <a:t>21</a:t>
            </a:r>
            <a:endParaRPr kumimoji="1" lang="ko-KR" altLang="en-US" sz="6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88" name="직선 연결선[R] 33"/>
          <p:cNvCxnSpPr/>
          <p:nvPr/>
        </p:nvCxnSpPr>
        <p:spPr>
          <a:xfrm>
            <a:off x="438102" y="2297946"/>
            <a:ext cx="141138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 234"/>
          <p:cNvGrpSpPr/>
          <p:nvPr/>
        </p:nvGrpSpPr>
        <p:grpSpPr>
          <a:xfrm>
            <a:off x="725767" y="1212400"/>
            <a:ext cx="792726" cy="80656"/>
            <a:chOff x="2656761" y="1741427"/>
            <a:chExt cx="792726" cy="80656"/>
          </a:xfrm>
        </p:grpSpPr>
        <p:sp>
          <p:nvSpPr>
            <p:cNvPr id="90" name="Freeform 9"/>
            <p:cNvSpPr>
              <a:spLocks noChangeArrowheads="1"/>
            </p:cNvSpPr>
            <p:nvPr/>
          </p:nvSpPr>
          <p:spPr bwMode="auto">
            <a:xfrm>
              <a:off x="26567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91" name="Freeform 10"/>
            <p:cNvSpPr>
              <a:spLocks noChangeArrowheads="1"/>
            </p:cNvSpPr>
            <p:nvPr/>
          </p:nvSpPr>
          <p:spPr bwMode="auto">
            <a:xfrm>
              <a:off x="33999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440152" y="2294165"/>
            <a:ext cx="1456276" cy="3158842"/>
            <a:chOff x="4397260" y="1236890"/>
            <a:chExt cx="1456276" cy="3158842"/>
          </a:xfrm>
        </p:grpSpPr>
        <p:sp>
          <p:nvSpPr>
            <p:cNvPr id="93" name="텍스트 상자 31"/>
            <p:cNvSpPr txBox="1"/>
            <p:nvPr/>
          </p:nvSpPr>
          <p:spPr>
            <a:xfrm>
              <a:off x="4571916" y="2362718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공유받은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94" name="텍스트 상자 31"/>
            <p:cNvSpPr txBox="1"/>
            <p:nvPr/>
          </p:nvSpPr>
          <p:spPr>
            <a:xfrm>
              <a:off x="4574893" y="2549712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UI</a:t>
              </a:r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프로젝트 일정 공유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95" name="텍스트 상자 31"/>
            <p:cNvSpPr txBox="1"/>
            <p:nvPr/>
          </p:nvSpPr>
          <p:spPr>
            <a:xfrm>
              <a:off x="4569879" y="3170609"/>
              <a:ext cx="899412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</a:t>
              </a:r>
              <a:r>
                <a:rPr kumimoji="1" lang="ko-KR" altLang="en-US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디자인팀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96" name="직선 연결선[R] 33"/>
            <p:cNvCxnSpPr/>
            <p:nvPr/>
          </p:nvCxnSpPr>
          <p:spPr>
            <a:xfrm>
              <a:off x="4402783" y="3850773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텍스트 상자 31"/>
            <p:cNvSpPr txBox="1"/>
            <p:nvPr/>
          </p:nvSpPr>
          <p:spPr>
            <a:xfrm>
              <a:off x="4574893" y="2714268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기획</a:t>
              </a:r>
              <a:r>
                <a:rPr kumimoji="1" lang="en-US" altLang="ko-KR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1</a:t>
              </a:r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휴가일 공유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98" name="텍스트 상자 31"/>
            <p:cNvSpPr txBox="1"/>
            <p:nvPr/>
          </p:nvSpPr>
          <p:spPr>
            <a:xfrm>
              <a:off x="4569879" y="3335092"/>
              <a:ext cx="770030" cy="951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자동차 </a:t>
              </a:r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 </a:t>
              </a:r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</a:t>
              </a:r>
            </a:p>
          </p:txBody>
        </p:sp>
        <p:sp>
          <p:nvSpPr>
            <p:cNvPr id="99" name="텍스트 상자 31"/>
            <p:cNvSpPr txBox="1"/>
            <p:nvPr/>
          </p:nvSpPr>
          <p:spPr>
            <a:xfrm>
              <a:off x="4569879" y="3491933"/>
              <a:ext cx="895878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EGW UX</a:t>
              </a:r>
              <a:r>
                <a:rPr kumimoji="1" lang="ko-KR" altLang="en-US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 </a:t>
              </a:r>
              <a:r>
                <a:rPr kumimoji="1" lang="en-US" altLang="ko-KR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00" name="텍스트 상자 31"/>
            <p:cNvSpPr txBox="1"/>
            <p:nvPr/>
          </p:nvSpPr>
          <p:spPr>
            <a:xfrm>
              <a:off x="4569879" y="3651133"/>
              <a:ext cx="785062" cy="9178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정부 </a:t>
              </a:r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과제 </a:t>
              </a:r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01" name="텍스트 상자 31"/>
            <p:cNvSpPr txBox="1"/>
            <p:nvPr/>
          </p:nvSpPr>
          <p:spPr>
            <a:xfrm>
              <a:off x="4571916" y="1774909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내 일정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02" name="텍스트 상자 31"/>
            <p:cNvSpPr txBox="1"/>
            <p:nvPr/>
          </p:nvSpPr>
          <p:spPr>
            <a:xfrm>
              <a:off x="4571916" y="1941480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김핸디 업무일정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03" name="텍스트 상자 31"/>
            <p:cNvSpPr txBox="1"/>
            <p:nvPr/>
          </p:nvSpPr>
          <p:spPr>
            <a:xfrm>
              <a:off x="4571916" y="4136828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전사 일정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04" name="텍스트 상자 31"/>
            <p:cNvSpPr txBox="1"/>
            <p:nvPr/>
          </p:nvSpPr>
          <p:spPr>
            <a:xfrm>
              <a:off x="4571916" y="4303399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대한민국 휴일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05" name="텍스트 상자 31"/>
            <p:cNvSpPr txBox="1"/>
            <p:nvPr/>
          </p:nvSpPr>
          <p:spPr>
            <a:xfrm>
              <a:off x="4577872" y="3939571"/>
              <a:ext cx="82026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구독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06" name="Freeform 24"/>
            <p:cNvSpPr>
              <a:spLocks noChangeArrowheads="1"/>
            </p:cNvSpPr>
            <p:nvPr/>
          </p:nvSpPr>
          <p:spPr bwMode="auto">
            <a:xfrm>
              <a:off x="4458907" y="3970573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107" name="Freeform 24"/>
            <p:cNvSpPr>
              <a:spLocks noChangeArrowheads="1"/>
            </p:cNvSpPr>
            <p:nvPr/>
          </p:nvSpPr>
          <p:spPr bwMode="auto">
            <a:xfrm>
              <a:off x="4458907" y="2385651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108" name="텍스트 상자 31"/>
            <p:cNvSpPr txBox="1"/>
            <p:nvPr/>
          </p:nvSpPr>
          <p:spPr>
            <a:xfrm>
              <a:off x="4577872" y="1603804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개인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cxnSp>
          <p:nvCxnSpPr>
            <p:cNvPr id="109" name="직선 연결선[R] 33"/>
            <p:cNvCxnSpPr/>
            <p:nvPr/>
          </p:nvCxnSpPr>
          <p:spPr>
            <a:xfrm>
              <a:off x="4397260" y="1513403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Freeform 24"/>
            <p:cNvSpPr>
              <a:spLocks noChangeArrowheads="1"/>
            </p:cNvSpPr>
            <p:nvPr/>
          </p:nvSpPr>
          <p:spPr bwMode="auto">
            <a:xfrm>
              <a:off x="4458907" y="1622077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111" name="직선 연결선[R] 33"/>
            <p:cNvCxnSpPr/>
            <p:nvPr/>
          </p:nvCxnSpPr>
          <p:spPr>
            <a:xfrm>
              <a:off x="4397260" y="2287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356"/>
            <p:cNvSpPr>
              <a:spLocks noChangeAspect="1"/>
            </p:cNvSpPr>
            <p:nvPr/>
          </p:nvSpPr>
          <p:spPr>
            <a:xfrm>
              <a:off x="4460857" y="1787917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13" name="Rectangle 357"/>
            <p:cNvSpPr>
              <a:spLocks noChangeAspect="1"/>
            </p:cNvSpPr>
            <p:nvPr/>
          </p:nvSpPr>
          <p:spPr>
            <a:xfrm>
              <a:off x="4460857" y="195138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14" name="Rectangle 358"/>
            <p:cNvSpPr>
              <a:spLocks noChangeAspect="1"/>
            </p:cNvSpPr>
            <p:nvPr/>
          </p:nvSpPr>
          <p:spPr>
            <a:xfrm>
              <a:off x="4463834" y="2557749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15" name="Rectangle 359"/>
            <p:cNvSpPr>
              <a:spLocks noChangeAspect="1"/>
            </p:cNvSpPr>
            <p:nvPr/>
          </p:nvSpPr>
          <p:spPr>
            <a:xfrm>
              <a:off x="4463834" y="2721213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16" name="Rectangle 360"/>
            <p:cNvSpPr>
              <a:spLocks noChangeAspect="1"/>
            </p:cNvSpPr>
            <p:nvPr/>
          </p:nvSpPr>
          <p:spPr>
            <a:xfrm>
              <a:off x="4458820" y="318033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17" name="Rectangle 361"/>
            <p:cNvSpPr>
              <a:spLocks noChangeAspect="1"/>
            </p:cNvSpPr>
            <p:nvPr/>
          </p:nvSpPr>
          <p:spPr>
            <a:xfrm>
              <a:off x="4458820" y="3343795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18" name="Rectangle 362"/>
            <p:cNvSpPr>
              <a:spLocks noChangeAspect="1"/>
            </p:cNvSpPr>
            <p:nvPr/>
          </p:nvSpPr>
          <p:spPr>
            <a:xfrm>
              <a:off x="4458820" y="3499367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19" name="Rectangle 363"/>
            <p:cNvSpPr>
              <a:spLocks noChangeAspect="1"/>
            </p:cNvSpPr>
            <p:nvPr/>
          </p:nvSpPr>
          <p:spPr>
            <a:xfrm>
              <a:off x="4458820" y="366283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20" name="Rectangle 364"/>
            <p:cNvSpPr>
              <a:spLocks noChangeAspect="1"/>
            </p:cNvSpPr>
            <p:nvPr/>
          </p:nvSpPr>
          <p:spPr>
            <a:xfrm>
              <a:off x="4460857" y="4144262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21" name="Rectangle 365"/>
            <p:cNvSpPr>
              <a:spLocks noChangeAspect="1"/>
            </p:cNvSpPr>
            <p:nvPr/>
          </p:nvSpPr>
          <p:spPr>
            <a:xfrm>
              <a:off x="4460857" y="4307726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cxnSp>
          <p:nvCxnSpPr>
            <p:cNvPr id="122" name="직선 연결선[R] 33"/>
            <p:cNvCxnSpPr/>
            <p:nvPr/>
          </p:nvCxnSpPr>
          <p:spPr>
            <a:xfrm>
              <a:off x="4397260" y="1236890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텍스트 상자 31"/>
            <p:cNvSpPr txBox="1"/>
            <p:nvPr/>
          </p:nvSpPr>
          <p:spPr>
            <a:xfrm>
              <a:off x="4583932" y="1328336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전체 달력</a:t>
              </a:r>
              <a:endParaRPr kumimoji="1"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33" name="텍스트 상자 31"/>
            <p:cNvSpPr txBox="1"/>
            <p:nvPr/>
          </p:nvSpPr>
          <p:spPr>
            <a:xfrm>
              <a:off x="4571916" y="2984083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스퀘어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37" name="Freeform 24"/>
            <p:cNvSpPr>
              <a:spLocks noChangeArrowheads="1"/>
            </p:cNvSpPr>
            <p:nvPr/>
          </p:nvSpPr>
          <p:spPr bwMode="auto">
            <a:xfrm>
              <a:off x="4458907" y="3007016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138" name="직선 연결선[R] 33"/>
            <p:cNvCxnSpPr/>
            <p:nvPr/>
          </p:nvCxnSpPr>
          <p:spPr>
            <a:xfrm>
              <a:off x="4397260" y="290882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텍스트 상자 31"/>
            <p:cNvSpPr txBox="1"/>
            <p:nvPr/>
          </p:nvSpPr>
          <p:spPr>
            <a:xfrm>
              <a:off x="4571916" y="2102303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공유받은 </a:t>
              </a:r>
              <a:r>
                <a:rPr kumimoji="1" lang="ko-KR" altLang="en-US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일정</a:t>
              </a:r>
              <a:r>
                <a:rPr kumimoji="1" lang="en-US" altLang="ko-KR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40" name="Rectangle 222"/>
            <p:cNvSpPr>
              <a:spLocks noChangeAspect="1"/>
            </p:cNvSpPr>
            <p:nvPr/>
          </p:nvSpPr>
          <p:spPr>
            <a:xfrm>
              <a:off x="4460857" y="2112204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41" name="Rounded Rectangle 223"/>
            <p:cNvSpPr/>
            <p:nvPr/>
          </p:nvSpPr>
          <p:spPr>
            <a:xfrm>
              <a:off x="5147408" y="1938766"/>
              <a:ext cx="216000" cy="108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 smtClean="0">
                  <a:latin typeface="+mn-ea"/>
                </a:rPr>
                <a:t>공유</a:t>
              </a:r>
              <a:endParaRPr lang="en-US" sz="600" dirty="0">
                <a:latin typeface="+mn-ea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669063" y="1559626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5661043" y="3899495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44" name="Rectangle 356"/>
            <p:cNvSpPr>
              <a:spLocks noChangeAspect="1"/>
            </p:cNvSpPr>
            <p:nvPr/>
          </p:nvSpPr>
          <p:spPr>
            <a:xfrm>
              <a:off x="4460857" y="1343840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</p:grpSp>
      <p:sp>
        <p:nvSpPr>
          <p:cNvPr id="145" name="직각 삼각형 144"/>
          <p:cNvSpPr/>
          <p:nvPr/>
        </p:nvSpPr>
        <p:spPr>
          <a:xfrm flipH="1">
            <a:off x="11504356" y="5921713"/>
            <a:ext cx="640019" cy="742447"/>
          </a:xfrm>
          <a:prstGeom prst="rt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12/07</a:t>
            </a:r>
          </a:p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9315450" y="5800725"/>
            <a:ext cx="914400" cy="914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[12/07 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 내역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달력보기 버튼 추가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취소 버튼 삭제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47" name="그룹 146"/>
          <p:cNvGrpSpPr/>
          <p:nvPr/>
        </p:nvGrpSpPr>
        <p:grpSpPr>
          <a:xfrm>
            <a:off x="8207362" y="1170116"/>
            <a:ext cx="866095" cy="205990"/>
            <a:chOff x="8129256" y="1219200"/>
            <a:chExt cx="866095" cy="205990"/>
          </a:xfrm>
        </p:grpSpPr>
        <p:sp>
          <p:nvSpPr>
            <p:cNvPr id="148" name="모서리가 둥근 직사각형 147"/>
            <p:cNvSpPr/>
            <p:nvPr/>
          </p:nvSpPr>
          <p:spPr>
            <a:xfrm>
              <a:off x="8129256" y="1219200"/>
              <a:ext cx="866095" cy="205990"/>
            </a:xfrm>
            <a:prstGeom prst="roundRect">
              <a:avLst/>
            </a:prstGeom>
            <a:solidFill>
              <a:sysClr val="window" lastClr="FFFFFF"/>
            </a:solidFill>
            <a:ln w="9525" cap="flat" cmpd="sng">
              <a:solidFill>
                <a:srgbClr val="0000FF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 defTabSz="576818" fontAlgn="auto" latin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8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   달력보기</a:t>
              </a:r>
              <a:endParaRPr kumimoji="0" lang="ko-KR" altLang="en-US" sz="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pic>
          <p:nvPicPr>
            <p:cNvPr id="149" name="그림 14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7165" y="1253440"/>
              <a:ext cx="141069" cy="141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358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/>
          <p:cNvSpPr/>
          <p:nvPr/>
        </p:nvSpPr>
        <p:spPr>
          <a:xfrm>
            <a:off x="2004740" y="1227013"/>
            <a:ext cx="1273193" cy="268411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일반 설정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텍스트 상자 31"/>
          <p:cNvSpPr txBox="1"/>
          <p:nvPr/>
        </p:nvSpPr>
        <p:spPr>
          <a:xfrm>
            <a:off x="1993823" y="896910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8" name="내용 개체 틀 8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4995998"/>
              </p:ext>
            </p:extLst>
          </p:nvPr>
        </p:nvGraphicFramePr>
        <p:xfrm>
          <a:off x="1975293" y="1693919"/>
          <a:ext cx="7086996" cy="2423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749">
                  <a:extLst>
                    <a:ext uri="{9D8B030D-6E8A-4147-A177-3AD203B41FA5}">
                      <a16:colId xmlns:a16="http://schemas.microsoft.com/office/drawing/2014/main" val="3085025482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967661309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3280361587"/>
                    </a:ext>
                  </a:extLst>
                </a:gridCol>
              </a:tblGrid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개인 달력</a:t>
                      </a:r>
                      <a:endParaRPr lang="ko-KR" altLang="en-US"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공유받은 달력</a:t>
                      </a:r>
                      <a:endParaRPr lang="ko-KR" altLang="en-US"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스퀘어 달력</a:t>
                      </a:r>
                      <a:endParaRPr lang="ko-KR" altLang="en-US"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구독 달력</a:t>
                      </a:r>
                      <a:endParaRPr lang="ko-KR" altLang="en-US"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내 일정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팀 프로젝트 일정 공유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UX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디자인팀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전사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일정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marL="0" algn="l" defTabSz="990570" rtl="0" eaLnBrk="1" latinLnBrk="1" hangingPunct="1"/>
                      <a:r>
                        <a:rPr lang="ko-KR" altLang="en-US" sz="800" b="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김핸디 업무일정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 휴가일 공유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자동차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UX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개선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대한민국 휴일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791048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공유받은 일정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EGW UX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개선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TF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정부 과제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TF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2979953" y="1795010"/>
            <a:ext cx="696697" cy="100465"/>
            <a:chOff x="2463736" y="1734699"/>
            <a:chExt cx="1426406" cy="218379"/>
          </a:xfrm>
        </p:grpSpPr>
        <p:grpSp>
          <p:nvGrpSpPr>
            <p:cNvPr id="10" name="그룹 9"/>
            <p:cNvGrpSpPr/>
            <p:nvPr/>
          </p:nvGrpSpPr>
          <p:grpSpPr>
            <a:xfrm>
              <a:off x="2463736" y="1734699"/>
              <a:ext cx="1426406" cy="218379"/>
              <a:chOff x="2463735" y="1734699"/>
              <a:chExt cx="2120097" cy="218379"/>
            </a:xfrm>
          </p:grpSpPr>
          <p:sp>
            <p:nvSpPr>
              <p:cNvPr id="15" name="모서리가 둥근 직사각형 14"/>
              <p:cNvSpPr/>
              <p:nvPr/>
            </p:nvSpPr>
            <p:spPr>
              <a:xfrm>
                <a:off x="2463735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" name="모서리가 둥근 직사각형 15"/>
              <p:cNvSpPr/>
              <p:nvPr/>
            </p:nvSpPr>
            <p:spPr>
              <a:xfrm>
                <a:off x="3007934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" name="모서리가 둥근 직사각형 16"/>
              <p:cNvSpPr/>
              <p:nvPr/>
            </p:nvSpPr>
            <p:spPr>
              <a:xfrm>
                <a:off x="3552132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8" name="모서리가 둥근 직사각형 17"/>
              <p:cNvSpPr/>
              <p:nvPr/>
            </p:nvSpPr>
            <p:spPr>
              <a:xfrm>
                <a:off x="4096330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9856" y="1782464"/>
              <a:ext cx="183343" cy="124200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03547" y="1790314"/>
              <a:ext cx="183343" cy="124200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73531" y="1791989"/>
              <a:ext cx="183343" cy="124200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5412" y="1782465"/>
              <a:ext cx="183343" cy="124200"/>
            </a:xfrm>
            <a:prstGeom prst="rect">
              <a:avLst/>
            </a:prstGeom>
          </p:spPr>
        </p:pic>
      </p:grpSp>
      <p:grpSp>
        <p:nvGrpSpPr>
          <p:cNvPr id="63" name="그룹 62"/>
          <p:cNvGrpSpPr/>
          <p:nvPr/>
        </p:nvGrpSpPr>
        <p:grpSpPr>
          <a:xfrm>
            <a:off x="4742078" y="1795010"/>
            <a:ext cx="696697" cy="100465"/>
            <a:chOff x="2463736" y="1734699"/>
            <a:chExt cx="1426406" cy="218379"/>
          </a:xfrm>
        </p:grpSpPr>
        <p:grpSp>
          <p:nvGrpSpPr>
            <p:cNvPr id="64" name="그룹 63"/>
            <p:cNvGrpSpPr/>
            <p:nvPr/>
          </p:nvGrpSpPr>
          <p:grpSpPr>
            <a:xfrm>
              <a:off x="2463736" y="1734699"/>
              <a:ext cx="1426406" cy="218379"/>
              <a:chOff x="2463735" y="1734699"/>
              <a:chExt cx="2120097" cy="218379"/>
            </a:xfrm>
          </p:grpSpPr>
          <p:sp>
            <p:nvSpPr>
              <p:cNvPr id="69" name="모서리가 둥근 직사각형 68"/>
              <p:cNvSpPr/>
              <p:nvPr/>
            </p:nvSpPr>
            <p:spPr>
              <a:xfrm>
                <a:off x="2463735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70" name="모서리가 둥근 직사각형 69"/>
              <p:cNvSpPr/>
              <p:nvPr/>
            </p:nvSpPr>
            <p:spPr>
              <a:xfrm>
                <a:off x="3007934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71" name="모서리가 둥근 직사각형 70"/>
              <p:cNvSpPr/>
              <p:nvPr/>
            </p:nvSpPr>
            <p:spPr>
              <a:xfrm>
                <a:off x="3552132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72" name="모서리가 둥근 직사각형 71"/>
              <p:cNvSpPr/>
              <p:nvPr/>
            </p:nvSpPr>
            <p:spPr>
              <a:xfrm>
                <a:off x="4096330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65" name="그림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9856" y="1782464"/>
              <a:ext cx="183343" cy="124200"/>
            </a:xfrm>
            <a:prstGeom prst="rect">
              <a:avLst/>
            </a:prstGeom>
          </p:spPr>
        </p:pic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03547" y="1790314"/>
              <a:ext cx="183343" cy="124200"/>
            </a:xfrm>
            <a:prstGeom prst="rect">
              <a:avLst/>
            </a:prstGeom>
          </p:spPr>
        </p:pic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73531" y="1791989"/>
              <a:ext cx="183343" cy="124200"/>
            </a:xfrm>
            <a:prstGeom prst="rect">
              <a:avLst/>
            </a:prstGeom>
          </p:spPr>
        </p:pic>
        <p:pic>
          <p:nvPicPr>
            <p:cNvPr id="68" name="그림 6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5412" y="1782465"/>
              <a:ext cx="183343" cy="124200"/>
            </a:xfrm>
            <a:prstGeom prst="rect">
              <a:avLst/>
            </a:prstGeom>
          </p:spPr>
        </p:pic>
      </p:grpSp>
      <p:grpSp>
        <p:nvGrpSpPr>
          <p:cNvPr id="73" name="그룹 72"/>
          <p:cNvGrpSpPr/>
          <p:nvPr/>
        </p:nvGrpSpPr>
        <p:grpSpPr>
          <a:xfrm>
            <a:off x="6532778" y="1795010"/>
            <a:ext cx="696697" cy="100465"/>
            <a:chOff x="2463736" y="1734699"/>
            <a:chExt cx="1426406" cy="218379"/>
          </a:xfrm>
        </p:grpSpPr>
        <p:grpSp>
          <p:nvGrpSpPr>
            <p:cNvPr id="74" name="그룹 73"/>
            <p:cNvGrpSpPr/>
            <p:nvPr/>
          </p:nvGrpSpPr>
          <p:grpSpPr>
            <a:xfrm>
              <a:off x="2463736" y="1734699"/>
              <a:ext cx="1426406" cy="218379"/>
              <a:chOff x="2463735" y="1734699"/>
              <a:chExt cx="2120097" cy="218379"/>
            </a:xfrm>
          </p:grpSpPr>
          <p:sp>
            <p:nvSpPr>
              <p:cNvPr id="79" name="모서리가 둥근 직사각형 78"/>
              <p:cNvSpPr/>
              <p:nvPr/>
            </p:nvSpPr>
            <p:spPr>
              <a:xfrm>
                <a:off x="2463735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0" name="모서리가 둥근 직사각형 79"/>
              <p:cNvSpPr/>
              <p:nvPr/>
            </p:nvSpPr>
            <p:spPr>
              <a:xfrm>
                <a:off x="3007934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1" name="모서리가 둥근 직사각형 80"/>
              <p:cNvSpPr/>
              <p:nvPr/>
            </p:nvSpPr>
            <p:spPr>
              <a:xfrm>
                <a:off x="3552132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82" name="모서리가 둥근 직사각형 81"/>
              <p:cNvSpPr/>
              <p:nvPr/>
            </p:nvSpPr>
            <p:spPr>
              <a:xfrm>
                <a:off x="4096330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75" name="그림 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9856" y="1782464"/>
              <a:ext cx="183343" cy="124200"/>
            </a:xfrm>
            <a:prstGeom prst="rect">
              <a:avLst/>
            </a:prstGeom>
          </p:spPr>
        </p:pic>
        <p:pic>
          <p:nvPicPr>
            <p:cNvPr id="76" name="그림 7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03547" y="1790314"/>
              <a:ext cx="183343" cy="124200"/>
            </a:xfrm>
            <a:prstGeom prst="rect">
              <a:avLst/>
            </a:prstGeom>
          </p:spPr>
        </p:pic>
        <p:pic>
          <p:nvPicPr>
            <p:cNvPr id="77" name="그림 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73531" y="1791989"/>
              <a:ext cx="183343" cy="124200"/>
            </a:xfrm>
            <a:prstGeom prst="rect">
              <a:avLst/>
            </a:prstGeom>
          </p:spPr>
        </p:pic>
        <p:pic>
          <p:nvPicPr>
            <p:cNvPr id="78" name="그림 7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5412" y="1782465"/>
              <a:ext cx="183343" cy="124200"/>
            </a:xfrm>
            <a:prstGeom prst="rect">
              <a:avLst/>
            </a:prstGeom>
          </p:spPr>
        </p:pic>
      </p:grpSp>
      <p:grpSp>
        <p:nvGrpSpPr>
          <p:cNvPr id="83" name="그룹 82"/>
          <p:cNvGrpSpPr/>
          <p:nvPr/>
        </p:nvGrpSpPr>
        <p:grpSpPr>
          <a:xfrm>
            <a:off x="8285378" y="1795010"/>
            <a:ext cx="696697" cy="100465"/>
            <a:chOff x="2463736" y="1734699"/>
            <a:chExt cx="1426406" cy="218379"/>
          </a:xfrm>
        </p:grpSpPr>
        <p:grpSp>
          <p:nvGrpSpPr>
            <p:cNvPr id="84" name="그룹 83"/>
            <p:cNvGrpSpPr/>
            <p:nvPr/>
          </p:nvGrpSpPr>
          <p:grpSpPr>
            <a:xfrm>
              <a:off x="2463736" y="1734699"/>
              <a:ext cx="1426406" cy="218379"/>
              <a:chOff x="2463735" y="1734699"/>
              <a:chExt cx="2120097" cy="218379"/>
            </a:xfrm>
          </p:grpSpPr>
          <p:sp>
            <p:nvSpPr>
              <p:cNvPr id="89" name="모서리가 둥근 직사각형 88"/>
              <p:cNvSpPr/>
              <p:nvPr/>
            </p:nvSpPr>
            <p:spPr>
              <a:xfrm>
                <a:off x="2463735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0" name="모서리가 둥근 직사각형 89"/>
              <p:cNvSpPr/>
              <p:nvPr/>
            </p:nvSpPr>
            <p:spPr>
              <a:xfrm>
                <a:off x="3007934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1" name="모서리가 둥근 직사각형 90"/>
              <p:cNvSpPr/>
              <p:nvPr/>
            </p:nvSpPr>
            <p:spPr>
              <a:xfrm>
                <a:off x="3552132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2" name="모서리가 둥근 직사각형 91"/>
              <p:cNvSpPr/>
              <p:nvPr/>
            </p:nvSpPr>
            <p:spPr>
              <a:xfrm>
                <a:off x="4096330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85" name="그림 8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9856" y="1782464"/>
              <a:ext cx="183343" cy="124200"/>
            </a:xfrm>
            <a:prstGeom prst="rect">
              <a:avLst/>
            </a:prstGeom>
          </p:spPr>
        </p:pic>
        <p:pic>
          <p:nvPicPr>
            <p:cNvPr id="86" name="그림 8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03547" y="1790314"/>
              <a:ext cx="183343" cy="124200"/>
            </a:xfrm>
            <a:prstGeom prst="rect">
              <a:avLst/>
            </a:prstGeom>
          </p:spPr>
        </p:pic>
        <p:pic>
          <p:nvPicPr>
            <p:cNvPr id="87" name="그림 8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73531" y="1791989"/>
              <a:ext cx="183343" cy="124200"/>
            </a:xfrm>
            <a:prstGeom prst="rect">
              <a:avLst/>
            </a:prstGeom>
          </p:spPr>
        </p:pic>
        <p:pic>
          <p:nvPicPr>
            <p:cNvPr id="88" name="그림 8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5412" y="1782465"/>
              <a:ext cx="183343" cy="124200"/>
            </a:xfrm>
            <a:prstGeom prst="rect">
              <a:avLst/>
            </a:prstGeom>
          </p:spPr>
        </p:pic>
      </p:grpSp>
      <p:grpSp>
        <p:nvGrpSpPr>
          <p:cNvPr id="93" name="그룹 92"/>
          <p:cNvGrpSpPr/>
          <p:nvPr/>
        </p:nvGrpSpPr>
        <p:grpSpPr>
          <a:xfrm>
            <a:off x="3648075" y="2053327"/>
            <a:ext cx="47625" cy="1932196"/>
            <a:chOff x="6858000" y="2907897"/>
            <a:chExt cx="47625" cy="508807"/>
          </a:xfrm>
        </p:grpSpPr>
        <p:sp>
          <p:nvSpPr>
            <p:cNvPr id="94" name="모서리가 둥근 직사각형 93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95" name="모서리가 둥근 직사각형 94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5410200" y="2053327"/>
            <a:ext cx="47625" cy="1932196"/>
            <a:chOff x="6858000" y="2907897"/>
            <a:chExt cx="47625" cy="508807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7181850" y="2053327"/>
            <a:ext cx="47625" cy="1932196"/>
            <a:chOff x="6858000" y="2907897"/>
            <a:chExt cx="47625" cy="508807"/>
          </a:xfrm>
        </p:grpSpPr>
        <p:sp>
          <p:nvSpPr>
            <p:cNvPr id="100" name="모서리가 둥근 직사각형 99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102" name="그룹 101"/>
          <p:cNvGrpSpPr/>
          <p:nvPr/>
        </p:nvGrpSpPr>
        <p:grpSpPr>
          <a:xfrm>
            <a:off x="8991600" y="2053327"/>
            <a:ext cx="47625" cy="1932196"/>
            <a:chOff x="6858000" y="2907897"/>
            <a:chExt cx="47625" cy="508807"/>
          </a:xfrm>
        </p:grpSpPr>
        <p:sp>
          <p:nvSpPr>
            <p:cNvPr id="103" name="모서리가 둥근 직사각형 102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04" name="모서리가 둥근 직사각형 103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06" name="모서리가 둥근 직사각형 105"/>
          <p:cNvSpPr/>
          <p:nvPr/>
        </p:nvSpPr>
        <p:spPr>
          <a:xfrm>
            <a:off x="8159058" y="4227884"/>
            <a:ext cx="866095" cy="29717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저장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63" name="직선 연결선 162"/>
          <p:cNvCxnSpPr/>
          <p:nvPr/>
        </p:nvCxnSpPr>
        <p:spPr>
          <a:xfrm>
            <a:off x="2004740" y="1495424"/>
            <a:ext cx="7068718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양쪽 모서리가 둥근 사각형 165"/>
          <p:cNvSpPr/>
          <p:nvPr/>
        </p:nvSpPr>
        <p:spPr>
          <a:xfrm>
            <a:off x="3279363" y="1227013"/>
            <a:ext cx="1273193" cy="268411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달력 순서 변경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달력 순서 변경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lvl="0"/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graphicFrame>
        <p:nvGraphicFramePr>
          <p:cNvPr id="16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059155"/>
              </p:ext>
            </p:extLst>
          </p:nvPr>
        </p:nvGraphicFramePr>
        <p:xfrm>
          <a:off x="9290533" y="786383"/>
          <a:ext cx="2835467" cy="1355201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달력 순서 변경은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009704"/>
                  </a:ext>
                </a:extLst>
              </a:tr>
            </a:tbl>
          </a:graphicData>
        </a:graphic>
      </p:graphicFrame>
      <p:sp>
        <p:nvSpPr>
          <p:cNvPr id="170" name="TextBox 169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CA6.4.2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</a:p>
        </p:txBody>
      </p:sp>
      <p:sp>
        <p:nvSpPr>
          <p:cNvPr id="110" name="양쪽 모서리가 둥근 사각형 109"/>
          <p:cNvSpPr/>
          <p:nvPr/>
        </p:nvSpPr>
        <p:spPr>
          <a:xfrm>
            <a:off x="4555713" y="1227013"/>
            <a:ext cx="1273193" cy="268411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구글 달력 동기화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" name="직사각형 98"/>
          <p:cNvSpPr/>
          <p:nvPr/>
        </p:nvSpPr>
        <p:spPr>
          <a:xfrm>
            <a:off x="431134" y="676275"/>
            <a:ext cx="1422685" cy="59912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3" name="Rectangle 14"/>
          <p:cNvSpPr>
            <a:spLocks/>
          </p:cNvSpPr>
          <p:nvPr/>
        </p:nvSpPr>
        <p:spPr bwMode="auto">
          <a:xfrm>
            <a:off x="550750" y="807794"/>
            <a:ext cx="1195982" cy="26744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 algn="ctr">
              <a:lnSpc>
                <a:spcPct val="130000"/>
              </a:lnSpc>
            </a:pPr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일정 </a:t>
            </a: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등록하기</a:t>
            </a:r>
            <a:endParaRPr lang="x-none" altLang="x-none" sz="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114" name="Group 311"/>
          <p:cNvGrpSpPr/>
          <p:nvPr/>
        </p:nvGrpSpPr>
        <p:grpSpPr>
          <a:xfrm>
            <a:off x="444162" y="6351330"/>
            <a:ext cx="1404000" cy="246628"/>
            <a:chOff x="785281" y="6952264"/>
            <a:chExt cx="1404000" cy="246628"/>
          </a:xfrm>
        </p:grpSpPr>
        <p:sp>
          <p:nvSpPr>
            <p:cNvPr id="115" name="텍스트 상자 31"/>
            <p:cNvSpPr txBox="1"/>
            <p:nvPr/>
          </p:nvSpPr>
          <p:spPr>
            <a:xfrm>
              <a:off x="965893" y="7014226"/>
              <a:ext cx="1171015" cy="18466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  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16" name="Freeform 13"/>
            <p:cNvSpPr>
              <a:spLocks noChangeAspect="1" noChangeArrowheads="1"/>
            </p:cNvSpPr>
            <p:nvPr/>
          </p:nvSpPr>
          <p:spPr bwMode="auto">
            <a:xfrm>
              <a:off x="837212" y="7057163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117" name="직선 연결선[R] 33"/>
            <p:cNvCxnSpPr/>
            <p:nvPr/>
          </p:nvCxnSpPr>
          <p:spPr>
            <a:xfrm>
              <a:off x="785281" y="6952264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8" name="Table 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238714"/>
              </p:ext>
            </p:extLst>
          </p:nvPr>
        </p:nvGraphicFramePr>
        <p:xfrm>
          <a:off x="428535" y="1157416"/>
          <a:ext cx="1419089" cy="1082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294"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ko-KR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2017.08</a:t>
                      </a:r>
                      <a:r>
                        <a:rPr lang="ko-KR" altLang="en-US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 </a:t>
                      </a:r>
                      <a:endParaRPr lang="en-US" sz="800" dirty="0">
                        <a:solidFill>
                          <a:schemeClr val="tx1"/>
                        </a:solidFill>
                        <a:latin typeface="Malgun Gothic" charset="-127"/>
                        <a:ea typeface="Malgun Gothic" charset="-127"/>
                        <a:cs typeface="Malgun Gothic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수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목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금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토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endParaRPr lang="en-US" sz="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n-US" sz="600" u="none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en-US" sz="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600" u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9" name="타원 83"/>
          <p:cNvSpPr>
            <a:spLocks noChangeAspect="1"/>
          </p:cNvSpPr>
          <p:nvPr/>
        </p:nvSpPr>
        <p:spPr>
          <a:xfrm>
            <a:off x="642073" y="1927951"/>
            <a:ext cx="179840" cy="18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ko-KR" sz="600" b="1" smtClean="0">
                <a:solidFill>
                  <a:schemeClr val="bg1"/>
                </a:solidFill>
                <a:latin typeface="+mn-ea"/>
              </a:rPr>
              <a:t>21</a:t>
            </a:r>
            <a:endParaRPr kumimoji="1" lang="ko-KR" altLang="en-US" sz="6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20" name="직선 연결선[R] 33"/>
          <p:cNvCxnSpPr/>
          <p:nvPr/>
        </p:nvCxnSpPr>
        <p:spPr>
          <a:xfrm>
            <a:off x="438102" y="2297946"/>
            <a:ext cx="141138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1" name="Group 234"/>
          <p:cNvGrpSpPr/>
          <p:nvPr/>
        </p:nvGrpSpPr>
        <p:grpSpPr>
          <a:xfrm>
            <a:off x="725767" y="1212400"/>
            <a:ext cx="792726" cy="80656"/>
            <a:chOff x="2656761" y="1741427"/>
            <a:chExt cx="792726" cy="80656"/>
          </a:xfrm>
        </p:grpSpPr>
        <p:sp>
          <p:nvSpPr>
            <p:cNvPr id="122" name="Freeform 9"/>
            <p:cNvSpPr>
              <a:spLocks noChangeArrowheads="1"/>
            </p:cNvSpPr>
            <p:nvPr/>
          </p:nvSpPr>
          <p:spPr bwMode="auto">
            <a:xfrm>
              <a:off x="26567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123" name="Freeform 10"/>
            <p:cNvSpPr>
              <a:spLocks noChangeArrowheads="1"/>
            </p:cNvSpPr>
            <p:nvPr/>
          </p:nvSpPr>
          <p:spPr bwMode="auto">
            <a:xfrm>
              <a:off x="33999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124" name="그룹 123"/>
          <p:cNvGrpSpPr/>
          <p:nvPr/>
        </p:nvGrpSpPr>
        <p:grpSpPr>
          <a:xfrm>
            <a:off x="440152" y="2294165"/>
            <a:ext cx="1456276" cy="3158842"/>
            <a:chOff x="4397260" y="1236890"/>
            <a:chExt cx="1456276" cy="3158842"/>
          </a:xfrm>
        </p:grpSpPr>
        <p:sp>
          <p:nvSpPr>
            <p:cNvPr id="125" name="텍스트 상자 31"/>
            <p:cNvSpPr txBox="1"/>
            <p:nvPr/>
          </p:nvSpPr>
          <p:spPr>
            <a:xfrm>
              <a:off x="4571916" y="2362718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공유받은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26" name="텍스트 상자 31"/>
            <p:cNvSpPr txBox="1"/>
            <p:nvPr/>
          </p:nvSpPr>
          <p:spPr>
            <a:xfrm>
              <a:off x="4574893" y="2549712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UI</a:t>
              </a:r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프로젝트 일정 공유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27" name="텍스트 상자 31"/>
            <p:cNvSpPr txBox="1"/>
            <p:nvPr/>
          </p:nvSpPr>
          <p:spPr>
            <a:xfrm>
              <a:off x="4569879" y="3170609"/>
              <a:ext cx="899412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</a:t>
              </a:r>
              <a:r>
                <a:rPr kumimoji="1" lang="ko-KR" altLang="en-US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디자인팀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128" name="직선 연결선[R] 33"/>
            <p:cNvCxnSpPr/>
            <p:nvPr/>
          </p:nvCxnSpPr>
          <p:spPr>
            <a:xfrm>
              <a:off x="4402783" y="3850773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텍스트 상자 31"/>
            <p:cNvSpPr txBox="1"/>
            <p:nvPr/>
          </p:nvSpPr>
          <p:spPr>
            <a:xfrm>
              <a:off x="4574893" y="2714268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기획</a:t>
              </a:r>
              <a:r>
                <a:rPr kumimoji="1" lang="en-US" altLang="ko-KR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1</a:t>
              </a:r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휴가일 공유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30" name="텍스트 상자 31"/>
            <p:cNvSpPr txBox="1"/>
            <p:nvPr/>
          </p:nvSpPr>
          <p:spPr>
            <a:xfrm>
              <a:off x="4569879" y="3335092"/>
              <a:ext cx="770030" cy="951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자동차 </a:t>
              </a:r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 </a:t>
              </a:r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</a:t>
              </a:r>
            </a:p>
          </p:txBody>
        </p:sp>
        <p:sp>
          <p:nvSpPr>
            <p:cNvPr id="131" name="텍스트 상자 31"/>
            <p:cNvSpPr txBox="1"/>
            <p:nvPr/>
          </p:nvSpPr>
          <p:spPr>
            <a:xfrm>
              <a:off x="4569879" y="3491933"/>
              <a:ext cx="895878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EGW UX</a:t>
              </a:r>
              <a:r>
                <a:rPr kumimoji="1" lang="ko-KR" altLang="en-US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 </a:t>
              </a:r>
              <a:r>
                <a:rPr kumimoji="1" lang="en-US" altLang="ko-KR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32" name="텍스트 상자 31"/>
            <p:cNvSpPr txBox="1"/>
            <p:nvPr/>
          </p:nvSpPr>
          <p:spPr>
            <a:xfrm>
              <a:off x="4569879" y="3651133"/>
              <a:ext cx="785062" cy="9178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정부 </a:t>
              </a:r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과제 </a:t>
              </a:r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33" name="텍스트 상자 31"/>
            <p:cNvSpPr txBox="1"/>
            <p:nvPr/>
          </p:nvSpPr>
          <p:spPr>
            <a:xfrm>
              <a:off x="4571916" y="1774909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내 일정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34" name="텍스트 상자 31"/>
            <p:cNvSpPr txBox="1"/>
            <p:nvPr/>
          </p:nvSpPr>
          <p:spPr>
            <a:xfrm>
              <a:off x="4571916" y="1941480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김핸디 업무일정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35" name="텍스트 상자 31"/>
            <p:cNvSpPr txBox="1"/>
            <p:nvPr/>
          </p:nvSpPr>
          <p:spPr>
            <a:xfrm>
              <a:off x="4571916" y="4136828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전사 일정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36" name="텍스트 상자 31"/>
            <p:cNvSpPr txBox="1"/>
            <p:nvPr/>
          </p:nvSpPr>
          <p:spPr>
            <a:xfrm>
              <a:off x="4571916" y="4303399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대한민국 휴일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37" name="텍스트 상자 31"/>
            <p:cNvSpPr txBox="1"/>
            <p:nvPr/>
          </p:nvSpPr>
          <p:spPr>
            <a:xfrm>
              <a:off x="4577872" y="3939571"/>
              <a:ext cx="82026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구독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38" name="Freeform 24"/>
            <p:cNvSpPr>
              <a:spLocks noChangeArrowheads="1"/>
            </p:cNvSpPr>
            <p:nvPr/>
          </p:nvSpPr>
          <p:spPr bwMode="auto">
            <a:xfrm>
              <a:off x="4458907" y="3970573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139" name="Freeform 24"/>
            <p:cNvSpPr>
              <a:spLocks noChangeArrowheads="1"/>
            </p:cNvSpPr>
            <p:nvPr/>
          </p:nvSpPr>
          <p:spPr bwMode="auto">
            <a:xfrm>
              <a:off x="4458907" y="2385651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140" name="텍스트 상자 31"/>
            <p:cNvSpPr txBox="1"/>
            <p:nvPr/>
          </p:nvSpPr>
          <p:spPr>
            <a:xfrm>
              <a:off x="4577872" y="1603804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개인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cxnSp>
          <p:nvCxnSpPr>
            <p:cNvPr id="141" name="직선 연결선[R] 33"/>
            <p:cNvCxnSpPr/>
            <p:nvPr/>
          </p:nvCxnSpPr>
          <p:spPr>
            <a:xfrm>
              <a:off x="4397260" y="1513403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Freeform 24"/>
            <p:cNvSpPr>
              <a:spLocks noChangeArrowheads="1"/>
            </p:cNvSpPr>
            <p:nvPr/>
          </p:nvSpPr>
          <p:spPr bwMode="auto">
            <a:xfrm>
              <a:off x="4458907" y="1622077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143" name="직선 연결선[R] 33"/>
            <p:cNvCxnSpPr/>
            <p:nvPr/>
          </p:nvCxnSpPr>
          <p:spPr>
            <a:xfrm>
              <a:off x="4397260" y="2287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ectangle 356"/>
            <p:cNvSpPr>
              <a:spLocks noChangeAspect="1"/>
            </p:cNvSpPr>
            <p:nvPr/>
          </p:nvSpPr>
          <p:spPr>
            <a:xfrm>
              <a:off x="4460857" y="1787917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45" name="Rectangle 357"/>
            <p:cNvSpPr>
              <a:spLocks noChangeAspect="1"/>
            </p:cNvSpPr>
            <p:nvPr/>
          </p:nvSpPr>
          <p:spPr>
            <a:xfrm>
              <a:off x="4460857" y="195138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46" name="Rectangle 358"/>
            <p:cNvSpPr>
              <a:spLocks noChangeAspect="1"/>
            </p:cNvSpPr>
            <p:nvPr/>
          </p:nvSpPr>
          <p:spPr>
            <a:xfrm>
              <a:off x="4463834" y="2557749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47" name="Rectangle 359"/>
            <p:cNvSpPr>
              <a:spLocks noChangeAspect="1"/>
            </p:cNvSpPr>
            <p:nvPr/>
          </p:nvSpPr>
          <p:spPr>
            <a:xfrm>
              <a:off x="4463834" y="2721213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48" name="Rectangle 360"/>
            <p:cNvSpPr>
              <a:spLocks noChangeAspect="1"/>
            </p:cNvSpPr>
            <p:nvPr/>
          </p:nvSpPr>
          <p:spPr>
            <a:xfrm>
              <a:off x="4458820" y="318033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49" name="Rectangle 361"/>
            <p:cNvSpPr>
              <a:spLocks noChangeAspect="1"/>
            </p:cNvSpPr>
            <p:nvPr/>
          </p:nvSpPr>
          <p:spPr>
            <a:xfrm>
              <a:off x="4458820" y="3343795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50" name="Rectangle 362"/>
            <p:cNvSpPr>
              <a:spLocks noChangeAspect="1"/>
            </p:cNvSpPr>
            <p:nvPr/>
          </p:nvSpPr>
          <p:spPr>
            <a:xfrm>
              <a:off x="4458820" y="3499367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51" name="Rectangle 363"/>
            <p:cNvSpPr>
              <a:spLocks noChangeAspect="1"/>
            </p:cNvSpPr>
            <p:nvPr/>
          </p:nvSpPr>
          <p:spPr>
            <a:xfrm>
              <a:off x="4458820" y="366283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52" name="Rectangle 364"/>
            <p:cNvSpPr>
              <a:spLocks noChangeAspect="1"/>
            </p:cNvSpPr>
            <p:nvPr/>
          </p:nvSpPr>
          <p:spPr>
            <a:xfrm>
              <a:off x="4460857" y="4144262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53" name="Rectangle 365"/>
            <p:cNvSpPr>
              <a:spLocks noChangeAspect="1"/>
            </p:cNvSpPr>
            <p:nvPr/>
          </p:nvSpPr>
          <p:spPr>
            <a:xfrm>
              <a:off x="4460857" y="4307726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cxnSp>
          <p:nvCxnSpPr>
            <p:cNvPr id="154" name="직선 연결선[R] 33"/>
            <p:cNvCxnSpPr/>
            <p:nvPr/>
          </p:nvCxnSpPr>
          <p:spPr>
            <a:xfrm>
              <a:off x="4397260" y="1236890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텍스트 상자 31"/>
            <p:cNvSpPr txBox="1"/>
            <p:nvPr/>
          </p:nvSpPr>
          <p:spPr>
            <a:xfrm>
              <a:off x="4583932" y="1328336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전체 달력</a:t>
              </a:r>
              <a:endParaRPr kumimoji="1"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56" name="텍스트 상자 31"/>
            <p:cNvSpPr txBox="1"/>
            <p:nvPr/>
          </p:nvSpPr>
          <p:spPr>
            <a:xfrm>
              <a:off x="4571916" y="2984083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스퀘어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57" name="Freeform 24"/>
            <p:cNvSpPr>
              <a:spLocks noChangeArrowheads="1"/>
            </p:cNvSpPr>
            <p:nvPr/>
          </p:nvSpPr>
          <p:spPr bwMode="auto">
            <a:xfrm>
              <a:off x="4458907" y="3007016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158" name="직선 연결선[R] 33"/>
            <p:cNvCxnSpPr/>
            <p:nvPr/>
          </p:nvCxnSpPr>
          <p:spPr>
            <a:xfrm>
              <a:off x="4397260" y="290882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텍스트 상자 31"/>
            <p:cNvSpPr txBox="1"/>
            <p:nvPr/>
          </p:nvSpPr>
          <p:spPr>
            <a:xfrm>
              <a:off x="4571916" y="2102303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공유받은 </a:t>
              </a:r>
              <a:r>
                <a:rPr kumimoji="1" lang="ko-KR" altLang="en-US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일정</a:t>
              </a:r>
              <a:r>
                <a:rPr kumimoji="1" lang="en-US" altLang="ko-KR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60" name="Rectangle 222"/>
            <p:cNvSpPr>
              <a:spLocks noChangeAspect="1"/>
            </p:cNvSpPr>
            <p:nvPr/>
          </p:nvSpPr>
          <p:spPr>
            <a:xfrm>
              <a:off x="4460857" y="2112204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61" name="Rounded Rectangle 223"/>
            <p:cNvSpPr/>
            <p:nvPr/>
          </p:nvSpPr>
          <p:spPr>
            <a:xfrm>
              <a:off x="5147408" y="1938766"/>
              <a:ext cx="216000" cy="108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 smtClean="0">
                  <a:latin typeface="+mn-ea"/>
                </a:rPr>
                <a:t>공유</a:t>
              </a:r>
              <a:endParaRPr lang="en-US" sz="600" dirty="0">
                <a:latin typeface="+mn-ea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5669063" y="1559626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5661043" y="3899495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65" name="Rectangle 356"/>
            <p:cNvSpPr>
              <a:spLocks noChangeAspect="1"/>
            </p:cNvSpPr>
            <p:nvPr/>
          </p:nvSpPr>
          <p:spPr>
            <a:xfrm>
              <a:off x="4460857" y="1343840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</p:grpSp>
      <p:sp>
        <p:nvSpPr>
          <p:cNvPr id="171" name="직각 삼각형 170"/>
          <p:cNvSpPr/>
          <p:nvPr/>
        </p:nvSpPr>
        <p:spPr>
          <a:xfrm flipH="1">
            <a:off x="11504356" y="5921713"/>
            <a:ext cx="640019" cy="742447"/>
          </a:xfrm>
          <a:prstGeom prst="rt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12/07</a:t>
            </a:r>
          </a:p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315450" y="5800725"/>
            <a:ext cx="914400" cy="914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[12/07 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 내역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달력보기 버튼 추가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취소 버튼 삭제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73" name="그룹 172"/>
          <p:cNvGrpSpPr/>
          <p:nvPr/>
        </p:nvGrpSpPr>
        <p:grpSpPr>
          <a:xfrm>
            <a:off x="8207362" y="1170116"/>
            <a:ext cx="866095" cy="205990"/>
            <a:chOff x="8129256" y="1219200"/>
            <a:chExt cx="866095" cy="205990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8129256" y="1219200"/>
              <a:ext cx="866095" cy="205990"/>
            </a:xfrm>
            <a:prstGeom prst="roundRect">
              <a:avLst/>
            </a:prstGeom>
            <a:solidFill>
              <a:sysClr val="window" lastClr="FFFFFF"/>
            </a:solidFill>
            <a:ln w="9525" cap="flat" cmpd="sng">
              <a:solidFill>
                <a:srgbClr val="0000FF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 defTabSz="576818" fontAlgn="auto" latin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8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   달력보기</a:t>
              </a:r>
              <a:endParaRPr kumimoji="0" lang="ko-KR" altLang="en-US" sz="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pic>
          <p:nvPicPr>
            <p:cNvPr id="175" name="그림 17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7165" y="1253440"/>
              <a:ext cx="141069" cy="1410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798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/>
          <p:cNvSpPr/>
          <p:nvPr/>
        </p:nvSpPr>
        <p:spPr>
          <a:xfrm>
            <a:off x="2004740" y="1227013"/>
            <a:ext cx="1273193" cy="268411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일반 설정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텍스트 상자 31"/>
          <p:cNvSpPr txBox="1"/>
          <p:nvPr/>
        </p:nvSpPr>
        <p:spPr>
          <a:xfrm>
            <a:off x="1993823" y="896910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8213852" y="3274747"/>
            <a:ext cx="866095" cy="29717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동기화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63" name="직선 연결선 162"/>
          <p:cNvCxnSpPr/>
          <p:nvPr/>
        </p:nvCxnSpPr>
        <p:spPr>
          <a:xfrm>
            <a:off x="2004740" y="1495424"/>
            <a:ext cx="7068718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양쪽 모서리가 둥근 사각형 165"/>
          <p:cNvSpPr/>
          <p:nvPr/>
        </p:nvSpPr>
        <p:spPr>
          <a:xfrm>
            <a:off x="3279363" y="1227013"/>
            <a:ext cx="1273193" cy="268411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달력 순서 변경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구글 달력 동기화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lvl="0"/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</a:p>
        </p:txBody>
      </p:sp>
      <p:graphicFrame>
        <p:nvGraphicFramePr>
          <p:cNvPr id="16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506037"/>
              </p:ext>
            </p:extLst>
          </p:nvPr>
        </p:nvGraphicFramePr>
        <p:xfrm>
          <a:off x="9290533" y="786383"/>
          <a:ext cx="2835467" cy="1468988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동기화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flow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는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동올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달력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select box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선택할 수 있는 달력 목록 출ㄺ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선택된 달력이 지정된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width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값을 초과했을 경우 스크롤 버튼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009704"/>
                  </a:ext>
                </a:extLst>
              </a:tr>
            </a:tbl>
          </a:graphicData>
        </a:graphic>
      </p:graphicFrame>
      <p:sp>
        <p:nvSpPr>
          <p:cNvPr id="170" name="TextBox 169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CA6.4.3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0" name="양쪽 모서리가 둥근 사각형 109"/>
          <p:cNvSpPr/>
          <p:nvPr/>
        </p:nvSpPr>
        <p:spPr>
          <a:xfrm>
            <a:off x="4555713" y="1227013"/>
            <a:ext cx="1273193" cy="268411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구글 달력 동기화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11" name="내용 개체 틀 8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3627197"/>
              </p:ext>
            </p:extLst>
          </p:nvPr>
        </p:nvGraphicFramePr>
        <p:xfrm>
          <a:off x="1986464" y="1693919"/>
          <a:ext cx="7086995" cy="1514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8211">
                  <a:extLst>
                    <a:ext uri="{9D8B030D-6E8A-4147-A177-3AD203B41FA5}">
                      <a16:colId xmlns:a16="http://schemas.microsoft.com/office/drawing/2014/main" val="3085025482"/>
                    </a:ext>
                  </a:extLst>
                </a:gridCol>
                <a:gridCol w="5958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적용 기간</a:t>
                      </a:r>
                      <a:endParaRPr lang="ko-KR" altLang="en-US"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marL="0" algn="l" defTabSz="990570" rtl="0" eaLnBrk="1" latinLnBrk="1" hangingPunct="1"/>
                      <a:r>
                        <a:rPr lang="ko-KR" altLang="en-US" sz="800" b="0" kern="1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달력 선택</a:t>
                      </a:r>
                      <a:endParaRPr lang="ko-KR" altLang="en-US" sz="8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791048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상태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//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항목 기능 확인 필요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최근 수정 날짜기준</a:t>
                      </a:r>
                      <a:endParaRPr lang="ko-KR" altLang="en-US"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설정안함           설정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로그인시 동기화</a:t>
                      </a:r>
                      <a:endParaRPr lang="ko-KR" altLang="en-US"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 설정안함           설정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996933"/>
                  </a:ext>
                </a:extLst>
              </a:tr>
            </a:tbl>
          </a:graphicData>
        </a:graphic>
      </p:graphicFrame>
      <p:grpSp>
        <p:nvGrpSpPr>
          <p:cNvPr id="123" name="그룹 122"/>
          <p:cNvGrpSpPr/>
          <p:nvPr/>
        </p:nvGrpSpPr>
        <p:grpSpPr>
          <a:xfrm>
            <a:off x="3296495" y="2689034"/>
            <a:ext cx="902728" cy="118800"/>
            <a:chOff x="3286970" y="1774634"/>
            <a:chExt cx="902728" cy="118800"/>
          </a:xfrm>
        </p:grpSpPr>
        <p:sp>
          <p:nvSpPr>
            <p:cNvPr id="124" name="타원 123"/>
            <p:cNvSpPr>
              <a:spLocks noChangeAspect="1"/>
            </p:cNvSpPr>
            <p:nvPr/>
          </p:nvSpPr>
          <p:spPr>
            <a:xfrm>
              <a:off x="4081698" y="1774634"/>
              <a:ext cx="108000" cy="109475"/>
            </a:xfrm>
            <a:prstGeom prst="ellipse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6970" y="1774634"/>
              <a:ext cx="118800" cy="118800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3296495" y="2993834"/>
            <a:ext cx="902728" cy="118800"/>
            <a:chOff x="3286970" y="1774634"/>
            <a:chExt cx="902728" cy="118800"/>
          </a:xfrm>
        </p:grpSpPr>
        <p:sp>
          <p:nvSpPr>
            <p:cNvPr id="127" name="타원 126"/>
            <p:cNvSpPr>
              <a:spLocks noChangeAspect="1"/>
            </p:cNvSpPr>
            <p:nvPr/>
          </p:nvSpPr>
          <p:spPr>
            <a:xfrm>
              <a:off x="4081698" y="1774634"/>
              <a:ext cx="108000" cy="109475"/>
            </a:xfrm>
            <a:prstGeom prst="ellipse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pic>
          <p:nvPicPr>
            <p:cNvPr id="128" name="그림 127"/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6970" y="1774634"/>
              <a:ext cx="118800" cy="118800"/>
            </a:xfrm>
            <a:prstGeom prst="rect">
              <a:avLst/>
            </a:prstGeom>
          </p:spPr>
        </p:pic>
      </p:grpSp>
      <p:grpSp>
        <p:nvGrpSpPr>
          <p:cNvPr id="2" name="그룹 1"/>
          <p:cNvGrpSpPr/>
          <p:nvPr/>
        </p:nvGrpSpPr>
        <p:grpSpPr>
          <a:xfrm>
            <a:off x="3227610" y="1741507"/>
            <a:ext cx="1503443" cy="172800"/>
            <a:chOff x="4180110" y="4465657"/>
            <a:chExt cx="1503443" cy="172800"/>
          </a:xfrm>
        </p:grpSpPr>
        <p:sp>
          <p:nvSpPr>
            <p:cNvPr id="129" name="Rounded Rectangle 890"/>
            <p:cNvSpPr/>
            <p:nvPr/>
          </p:nvSpPr>
          <p:spPr>
            <a:xfrm>
              <a:off x="4180110" y="4465657"/>
              <a:ext cx="648000" cy="1728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7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r>
                <a:rPr lang="ko-KR" altLang="en-US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</a:t>
              </a:r>
              <a:r>
                <a:rPr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2017.08.23</a:t>
              </a:r>
              <a:endPara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0" name="Freeform 7"/>
            <p:cNvSpPr>
              <a:spLocks noChangeArrowheads="1"/>
            </p:cNvSpPr>
            <p:nvPr/>
          </p:nvSpPr>
          <p:spPr bwMode="auto">
            <a:xfrm>
              <a:off x="4220109" y="4493382"/>
              <a:ext cx="101974" cy="113916"/>
            </a:xfrm>
            <a:custGeom>
              <a:avLst/>
              <a:gdLst>
                <a:gd name="T0" fmla="*/ 430 w 488"/>
                <a:gd name="T1" fmla="*/ 57 h 545"/>
                <a:gd name="T2" fmla="*/ 404 w 488"/>
                <a:gd name="T3" fmla="*/ 57 h 545"/>
                <a:gd name="T4" fmla="*/ 404 w 488"/>
                <a:gd name="T5" fmla="*/ 0 h 545"/>
                <a:gd name="T6" fmla="*/ 352 w 488"/>
                <a:gd name="T7" fmla="*/ 0 h 545"/>
                <a:gd name="T8" fmla="*/ 352 w 488"/>
                <a:gd name="T9" fmla="*/ 57 h 545"/>
                <a:gd name="T10" fmla="*/ 135 w 488"/>
                <a:gd name="T11" fmla="*/ 57 h 545"/>
                <a:gd name="T12" fmla="*/ 135 w 488"/>
                <a:gd name="T13" fmla="*/ 0 h 545"/>
                <a:gd name="T14" fmla="*/ 78 w 488"/>
                <a:gd name="T15" fmla="*/ 0 h 545"/>
                <a:gd name="T16" fmla="*/ 78 w 488"/>
                <a:gd name="T17" fmla="*/ 57 h 545"/>
                <a:gd name="T18" fmla="*/ 52 w 488"/>
                <a:gd name="T19" fmla="*/ 57 h 545"/>
                <a:gd name="T20" fmla="*/ 0 w 488"/>
                <a:gd name="T21" fmla="*/ 108 h 545"/>
                <a:gd name="T22" fmla="*/ 0 w 488"/>
                <a:gd name="T23" fmla="*/ 487 h 545"/>
                <a:gd name="T24" fmla="*/ 52 w 488"/>
                <a:gd name="T25" fmla="*/ 544 h 545"/>
                <a:gd name="T26" fmla="*/ 430 w 488"/>
                <a:gd name="T27" fmla="*/ 544 h 545"/>
                <a:gd name="T28" fmla="*/ 487 w 488"/>
                <a:gd name="T29" fmla="*/ 487 h 545"/>
                <a:gd name="T30" fmla="*/ 487 w 488"/>
                <a:gd name="T31" fmla="*/ 108 h 545"/>
                <a:gd name="T32" fmla="*/ 430 w 488"/>
                <a:gd name="T33" fmla="*/ 57 h 545"/>
                <a:gd name="T34" fmla="*/ 430 w 488"/>
                <a:gd name="T35" fmla="*/ 487 h 545"/>
                <a:gd name="T36" fmla="*/ 52 w 488"/>
                <a:gd name="T37" fmla="*/ 487 h 545"/>
                <a:gd name="T38" fmla="*/ 52 w 488"/>
                <a:gd name="T39" fmla="*/ 191 h 545"/>
                <a:gd name="T40" fmla="*/ 430 w 488"/>
                <a:gd name="T41" fmla="*/ 191 h 545"/>
                <a:gd name="T42" fmla="*/ 430 w 488"/>
                <a:gd name="T43" fmla="*/ 487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8" h="545">
                  <a:moveTo>
                    <a:pt x="430" y="57"/>
                  </a:moveTo>
                  <a:lnTo>
                    <a:pt x="404" y="57"/>
                  </a:lnTo>
                  <a:lnTo>
                    <a:pt x="404" y="0"/>
                  </a:lnTo>
                  <a:lnTo>
                    <a:pt x="352" y="0"/>
                  </a:lnTo>
                  <a:lnTo>
                    <a:pt x="352" y="57"/>
                  </a:lnTo>
                  <a:lnTo>
                    <a:pt x="135" y="57"/>
                  </a:lnTo>
                  <a:lnTo>
                    <a:pt x="135" y="0"/>
                  </a:lnTo>
                  <a:lnTo>
                    <a:pt x="78" y="0"/>
                  </a:lnTo>
                  <a:lnTo>
                    <a:pt x="78" y="57"/>
                  </a:lnTo>
                  <a:lnTo>
                    <a:pt x="52" y="57"/>
                  </a:lnTo>
                  <a:cubicBezTo>
                    <a:pt x="20" y="57"/>
                    <a:pt x="0" y="77"/>
                    <a:pt x="0" y="108"/>
                  </a:cubicBezTo>
                  <a:lnTo>
                    <a:pt x="0" y="487"/>
                  </a:lnTo>
                  <a:cubicBezTo>
                    <a:pt x="0" y="518"/>
                    <a:pt x="20" y="544"/>
                    <a:pt x="52" y="544"/>
                  </a:cubicBezTo>
                  <a:lnTo>
                    <a:pt x="430" y="544"/>
                  </a:lnTo>
                  <a:cubicBezTo>
                    <a:pt x="461" y="544"/>
                    <a:pt x="487" y="518"/>
                    <a:pt x="487" y="487"/>
                  </a:cubicBezTo>
                  <a:lnTo>
                    <a:pt x="487" y="108"/>
                  </a:lnTo>
                  <a:cubicBezTo>
                    <a:pt x="487" y="77"/>
                    <a:pt x="461" y="57"/>
                    <a:pt x="430" y="57"/>
                  </a:cubicBezTo>
                  <a:close/>
                  <a:moveTo>
                    <a:pt x="430" y="487"/>
                  </a:moveTo>
                  <a:lnTo>
                    <a:pt x="52" y="487"/>
                  </a:lnTo>
                  <a:lnTo>
                    <a:pt x="52" y="191"/>
                  </a:lnTo>
                  <a:lnTo>
                    <a:pt x="430" y="191"/>
                  </a:lnTo>
                  <a:lnTo>
                    <a:pt x="430" y="48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00">
                <a:latin typeface="+mn-ea"/>
                <a:ea typeface="+mn-ea"/>
              </a:endParaRPr>
            </a:p>
          </p:txBody>
        </p:sp>
        <p:sp>
          <p:nvSpPr>
            <p:cNvPr id="131" name="텍스트 상자 31"/>
            <p:cNvSpPr txBox="1"/>
            <p:nvPr/>
          </p:nvSpPr>
          <p:spPr>
            <a:xfrm>
              <a:off x="4877966" y="4496580"/>
              <a:ext cx="8723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~</a:t>
              </a:r>
              <a:endParaRPr kumimoji="1"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2" name="Rounded Rectangle 893"/>
            <p:cNvSpPr/>
            <p:nvPr/>
          </p:nvSpPr>
          <p:spPr>
            <a:xfrm>
              <a:off x="5035553" y="4465657"/>
              <a:ext cx="648000" cy="1728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7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r>
                <a:rPr lang="ko-KR" altLang="en-US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     </a:t>
              </a:r>
              <a:r>
                <a:rPr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2017.08.30</a:t>
              </a:r>
              <a:endParaRPr 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3" name="Freeform 7"/>
            <p:cNvSpPr>
              <a:spLocks noChangeArrowheads="1"/>
            </p:cNvSpPr>
            <p:nvPr/>
          </p:nvSpPr>
          <p:spPr bwMode="auto">
            <a:xfrm>
              <a:off x="5069202" y="4493382"/>
              <a:ext cx="101974" cy="113916"/>
            </a:xfrm>
            <a:custGeom>
              <a:avLst/>
              <a:gdLst>
                <a:gd name="T0" fmla="*/ 430 w 488"/>
                <a:gd name="T1" fmla="*/ 57 h 545"/>
                <a:gd name="T2" fmla="*/ 404 w 488"/>
                <a:gd name="T3" fmla="*/ 57 h 545"/>
                <a:gd name="T4" fmla="*/ 404 w 488"/>
                <a:gd name="T5" fmla="*/ 0 h 545"/>
                <a:gd name="T6" fmla="*/ 352 w 488"/>
                <a:gd name="T7" fmla="*/ 0 h 545"/>
                <a:gd name="T8" fmla="*/ 352 w 488"/>
                <a:gd name="T9" fmla="*/ 57 h 545"/>
                <a:gd name="T10" fmla="*/ 135 w 488"/>
                <a:gd name="T11" fmla="*/ 57 h 545"/>
                <a:gd name="T12" fmla="*/ 135 w 488"/>
                <a:gd name="T13" fmla="*/ 0 h 545"/>
                <a:gd name="T14" fmla="*/ 78 w 488"/>
                <a:gd name="T15" fmla="*/ 0 h 545"/>
                <a:gd name="T16" fmla="*/ 78 w 488"/>
                <a:gd name="T17" fmla="*/ 57 h 545"/>
                <a:gd name="T18" fmla="*/ 52 w 488"/>
                <a:gd name="T19" fmla="*/ 57 h 545"/>
                <a:gd name="T20" fmla="*/ 0 w 488"/>
                <a:gd name="T21" fmla="*/ 108 h 545"/>
                <a:gd name="T22" fmla="*/ 0 w 488"/>
                <a:gd name="T23" fmla="*/ 487 h 545"/>
                <a:gd name="T24" fmla="*/ 52 w 488"/>
                <a:gd name="T25" fmla="*/ 544 h 545"/>
                <a:gd name="T26" fmla="*/ 430 w 488"/>
                <a:gd name="T27" fmla="*/ 544 h 545"/>
                <a:gd name="T28" fmla="*/ 487 w 488"/>
                <a:gd name="T29" fmla="*/ 487 h 545"/>
                <a:gd name="T30" fmla="*/ 487 w 488"/>
                <a:gd name="T31" fmla="*/ 108 h 545"/>
                <a:gd name="T32" fmla="*/ 430 w 488"/>
                <a:gd name="T33" fmla="*/ 57 h 545"/>
                <a:gd name="T34" fmla="*/ 430 w 488"/>
                <a:gd name="T35" fmla="*/ 487 h 545"/>
                <a:gd name="T36" fmla="*/ 52 w 488"/>
                <a:gd name="T37" fmla="*/ 487 h 545"/>
                <a:gd name="T38" fmla="*/ 52 w 488"/>
                <a:gd name="T39" fmla="*/ 191 h 545"/>
                <a:gd name="T40" fmla="*/ 430 w 488"/>
                <a:gd name="T41" fmla="*/ 191 h 545"/>
                <a:gd name="T42" fmla="*/ 430 w 488"/>
                <a:gd name="T43" fmla="*/ 487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8" h="545">
                  <a:moveTo>
                    <a:pt x="430" y="57"/>
                  </a:moveTo>
                  <a:lnTo>
                    <a:pt x="404" y="57"/>
                  </a:lnTo>
                  <a:lnTo>
                    <a:pt x="404" y="0"/>
                  </a:lnTo>
                  <a:lnTo>
                    <a:pt x="352" y="0"/>
                  </a:lnTo>
                  <a:lnTo>
                    <a:pt x="352" y="57"/>
                  </a:lnTo>
                  <a:lnTo>
                    <a:pt x="135" y="57"/>
                  </a:lnTo>
                  <a:lnTo>
                    <a:pt x="135" y="0"/>
                  </a:lnTo>
                  <a:lnTo>
                    <a:pt x="78" y="0"/>
                  </a:lnTo>
                  <a:lnTo>
                    <a:pt x="78" y="57"/>
                  </a:lnTo>
                  <a:lnTo>
                    <a:pt x="52" y="57"/>
                  </a:lnTo>
                  <a:cubicBezTo>
                    <a:pt x="20" y="57"/>
                    <a:pt x="0" y="77"/>
                    <a:pt x="0" y="108"/>
                  </a:cubicBezTo>
                  <a:lnTo>
                    <a:pt x="0" y="487"/>
                  </a:lnTo>
                  <a:cubicBezTo>
                    <a:pt x="0" y="518"/>
                    <a:pt x="20" y="544"/>
                    <a:pt x="52" y="544"/>
                  </a:cubicBezTo>
                  <a:lnTo>
                    <a:pt x="430" y="544"/>
                  </a:lnTo>
                  <a:cubicBezTo>
                    <a:pt x="461" y="544"/>
                    <a:pt x="487" y="518"/>
                    <a:pt x="487" y="487"/>
                  </a:cubicBezTo>
                  <a:lnTo>
                    <a:pt x="487" y="108"/>
                  </a:lnTo>
                  <a:cubicBezTo>
                    <a:pt x="487" y="77"/>
                    <a:pt x="461" y="57"/>
                    <a:pt x="430" y="57"/>
                  </a:cubicBezTo>
                  <a:close/>
                  <a:moveTo>
                    <a:pt x="430" y="487"/>
                  </a:moveTo>
                  <a:lnTo>
                    <a:pt x="52" y="487"/>
                  </a:lnTo>
                  <a:lnTo>
                    <a:pt x="52" y="191"/>
                  </a:lnTo>
                  <a:lnTo>
                    <a:pt x="430" y="191"/>
                  </a:lnTo>
                  <a:lnTo>
                    <a:pt x="430" y="48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00">
                <a:latin typeface="+mn-ea"/>
                <a:ea typeface="+mn-ea"/>
              </a:endParaRPr>
            </a:p>
          </p:txBody>
        </p:sp>
      </p:grpSp>
      <p:sp>
        <p:nvSpPr>
          <p:cNvPr id="135" name="Rounded Rectangle 215"/>
          <p:cNvSpPr/>
          <p:nvPr/>
        </p:nvSpPr>
        <p:spPr>
          <a:xfrm>
            <a:off x="3229105" y="2028598"/>
            <a:ext cx="612924" cy="235059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9525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달력</a:t>
            </a:r>
            <a:r>
              <a:rPr kumimoji="0" lang="ko-KR" altLang="en-US" sz="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 ▼</a:t>
            </a:r>
            <a:endParaRPr kumimoji="0" lang="en-US" sz="8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8608581" y="2058076"/>
            <a:ext cx="140029" cy="230832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endParaRPr lang="ko-KR" altLang="en-US" sz="900" dirty="0" smtClean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4082181" y="2075364"/>
            <a:ext cx="2203765" cy="155782"/>
            <a:chOff x="4082181" y="2075364"/>
            <a:chExt cx="2203765" cy="155782"/>
          </a:xfrm>
        </p:grpSpPr>
        <p:grpSp>
          <p:nvGrpSpPr>
            <p:cNvPr id="156" name="그룹 155"/>
            <p:cNvGrpSpPr/>
            <p:nvPr/>
          </p:nvGrpSpPr>
          <p:grpSpPr>
            <a:xfrm>
              <a:off x="4082181" y="2075364"/>
              <a:ext cx="519293" cy="155782"/>
              <a:chOff x="1326428" y="1963689"/>
              <a:chExt cx="519293" cy="155782"/>
            </a:xfrm>
          </p:grpSpPr>
          <p:sp>
            <p:nvSpPr>
              <p:cNvPr id="157" name="Rounded Rectangle 224"/>
              <p:cNvSpPr/>
              <p:nvPr/>
            </p:nvSpPr>
            <p:spPr>
              <a:xfrm>
                <a:off x="1326428" y="1963689"/>
                <a:ext cx="519293" cy="155782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내 일정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58" name="Freeform 11"/>
              <p:cNvSpPr>
                <a:spLocks noChangeAspect="1" noChangeArrowheads="1"/>
              </p:cNvSpPr>
              <p:nvPr/>
            </p:nvSpPr>
            <p:spPr bwMode="auto">
              <a:xfrm>
                <a:off x="1717614" y="2000106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159" name="그룹 158"/>
            <p:cNvGrpSpPr/>
            <p:nvPr/>
          </p:nvGrpSpPr>
          <p:grpSpPr>
            <a:xfrm>
              <a:off x="4645354" y="2075364"/>
              <a:ext cx="519293" cy="155782"/>
              <a:chOff x="1326428" y="1963689"/>
              <a:chExt cx="519293" cy="155782"/>
            </a:xfrm>
          </p:grpSpPr>
          <p:sp>
            <p:nvSpPr>
              <p:cNvPr id="160" name="Rounded Rectangle 224"/>
              <p:cNvSpPr/>
              <p:nvPr/>
            </p:nvSpPr>
            <p:spPr>
              <a:xfrm>
                <a:off x="1326428" y="1963689"/>
                <a:ext cx="519293" cy="155782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내 </a:t>
                </a: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일정</a:t>
                </a:r>
                <a:endPara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61" name="Freeform 11"/>
              <p:cNvSpPr>
                <a:spLocks noChangeAspect="1" noChangeArrowheads="1"/>
              </p:cNvSpPr>
              <p:nvPr/>
            </p:nvSpPr>
            <p:spPr bwMode="auto">
              <a:xfrm>
                <a:off x="1717614" y="2000106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162" name="그룹 161"/>
            <p:cNvGrpSpPr/>
            <p:nvPr/>
          </p:nvGrpSpPr>
          <p:grpSpPr>
            <a:xfrm>
              <a:off x="5202471" y="2075364"/>
              <a:ext cx="519293" cy="155782"/>
              <a:chOff x="1326428" y="1963689"/>
              <a:chExt cx="519293" cy="155782"/>
            </a:xfrm>
          </p:grpSpPr>
          <p:sp>
            <p:nvSpPr>
              <p:cNvPr id="164" name="Rounded Rectangle 224"/>
              <p:cNvSpPr/>
              <p:nvPr/>
            </p:nvSpPr>
            <p:spPr>
              <a:xfrm>
                <a:off x="1326428" y="1963689"/>
                <a:ext cx="519293" cy="155782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내 일정</a:t>
                </a:r>
                <a:endPara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65" name="Freeform 11"/>
              <p:cNvSpPr>
                <a:spLocks noChangeAspect="1" noChangeArrowheads="1"/>
              </p:cNvSpPr>
              <p:nvPr/>
            </p:nvSpPr>
            <p:spPr bwMode="auto">
              <a:xfrm>
                <a:off x="1717614" y="2000106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178" name="그룹 177"/>
            <p:cNvGrpSpPr/>
            <p:nvPr/>
          </p:nvGrpSpPr>
          <p:grpSpPr>
            <a:xfrm>
              <a:off x="5766653" y="2075364"/>
              <a:ext cx="519293" cy="155782"/>
              <a:chOff x="1326428" y="1963689"/>
              <a:chExt cx="519293" cy="155782"/>
            </a:xfrm>
          </p:grpSpPr>
          <p:sp>
            <p:nvSpPr>
              <p:cNvPr id="179" name="Rounded Rectangle 224"/>
              <p:cNvSpPr/>
              <p:nvPr/>
            </p:nvSpPr>
            <p:spPr>
              <a:xfrm>
                <a:off x="1326428" y="1963689"/>
                <a:ext cx="519293" cy="155782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내 </a:t>
                </a: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일정</a:t>
                </a:r>
                <a:endPara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80" name="Freeform 11"/>
              <p:cNvSpPr>
                <a:spLocks noChangeAspect="1" noChangeArrowheads="1"/>
              </p:cNvSpPr>
              <p:nvPr/>
            </p:nvSpPr>
            <p:spPr bwMode="auto">
              <a:xfrm>
                <a:off x="1717614" y="2000106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4" name="그룹 3"/>
          <p:cNvGrpSpPr/>
          <p:nvPr/>
        </p:nvGrpSpPr>
        <p:grpSpPr>
          <a:xfrm>
            <a:off x="9491578" y="2618771"/>
            <a:ext cx="1238754" cy="1943704"/>
            <a:chOff x="3233653" y="2266346"/>
            <a:chExt cx="1238754" cy="1943704"/>
          </a:xfrm>
        </p:grpSpPr>
        <p:sp>
          <p:nvSpPr>
            <p:cNvPr id="181" name="Rounded Rectangle 939"/>
            <p:cNvSpPr/>
            <p:nvPr/>
          </p:nvSpPr>
          <p:spPr>
            <a:xfrm>
              <a:off x="3233653" y="2266346"/>
              <a:ext cx="1195472" cy="194370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72000" tIns="0" rIns="0" bIns="0" anchor="ctr"/>
            <a:lstStyle/>
            <a:p>
              <a:pPr algn="ctr"/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82" name="텍스트 상자 31"/>
            <p:cNvSpPr txBox="1"/>
            <p:nvPr/>
          </p:nvSpPr>
          <p:spPr>
            <a:xfrm>
              <a:off x="3423865" y="2360020"/>
              <a:ext cx="1048542" cy="108337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180975">
                <a:lnSpc>
                  <a:spcPct val="220000"/>
                </a:lnSpc>
              </a:pPr>
              <a:r>
                <a:rPr lang="ko-KR" altLang="en-US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내 일정</a:t>
              </a:r>
              <a:endParaRPr lang="en-US" altLang="ko-KR" sz="800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  <a:p>
              <a:pPr marL="180975">
                <a:lnSpc>
                  <a:spcPct val="220000"/>
                </a:lnSpc>
              </a:pPr>
              <a:r>
                <a:rPr lang="ko-KR" altLang="en-US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내 일정</a:t>
              </a:r>
              <a:r>
                <a:rPr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2</a:t>
              </a:r>
            </a:p>
            <a:p>
              <a:pPr marL="180975">
                <a:lnSpc>
                  <a:spcPct val="220000"/>
                </a:lnSpc>
              </a:pPr>
              <a:r>
                <a:rPr lang="ko-KR" altLang="en-US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내 일정</a:t>
              </a:r>
              <a:r>
                <a:rPr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3</a:t>
              </a:r>
            </a:p>
            <a:p>
              <a:pPr marL="180975">
                <a:lnSpc>
                  <a:spcPct val="220000"/>
                </a:lnSpc>
              </a:pPr>
              <a:r>
                <a:rPr lang="ko-KR" altLang="en-US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내 일정</a:t>
              </a:r>
              <a:r>
                <a:rPr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4</a:t>
              </a:r>
            </a:p>
          </p:txBody>
        </p:sp>
        <p:grpSp>
          <p:nvGrpSpPr>
            <p:cNvPr id="18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<p:cNvGrpSpPr/>
            <p:nvPr>
              <p:custDataLst>
                <p:tags r:id="rId1"/>
              </p:custDataLst>
            </p:nvPr>
          </p:nvGrpSpPr>
          <p:grpSpPr>
            <a:xfrm>
              <a:off x="3433201" y="2458681"/>
              <a:ext cx="107839" cy="109736"/>
              <a:chOff x="554563" y="2632644"/>
              <a:chExt cx="131556" cy="131556"/>
            </a:xfrm>
          </p:grpSpPr>
          <p:sp>
            <p:nvSpPr>
              <p:cNvPr id="184" name="Box" descr="&lt;SmartSettings&gt;&lt;SmartResize anchorLeft=&quot;Absolute&quot; anchorTop=&quot;None&quot; anchorRight=&quot;None&quot; anchorBottom=&quot;None&quot; /&gt;&lt;/SmartSettings&gt;"/>
              <p:cNvSpPr/>
              <p:nvPr>
                <p:custDataLst>
                  <p:tags r:id="rId11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85" name="Check" descr="&lt;SmartSettings&gt;&lt;SmartResize anchorLeft=&quot;Absolute&quot; anchorTop=&quot;None&quot; anchorRight=&quot;None&quot; anchorBottom=&quot;None&quot; /&gt;&lt;/SmartSettings&gt;" hidden="1"/>
              <p:cNvSpPr>
                <a:spLocks noEditPoint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8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<p:cNvGrpSpPr/>
            <p:nvPr>
              <p:custDataLst>
                <p:tags r:id="rId2"/>
              </p:custDataLst>
            </p:nvPr>
          </p:nvGrpSpPr>
          <p:grpSpPr>
            <a:xfrm>
              <a:off x="3433201" y="2725381"/>
              <a:ext cx="107839" cy="109736"/>
              <a:chOff x="554563" y="2632644"/>
              <a:chExt cx="131556" cy="131556"/>
            </a:xfrm>
          </p:grpSpPr>
          <p:sp>
            <p:nvSpPr>
              <p:cNvPr id="187" name="Box" descr="&lt;SmartSettings&gt;&lt;SmartResize anchorLeft=&quot;Absolute&quot; anchorTop=&quot;None&quot; anchorRight=&quot;None&quot; anchorBottom=&quot;None&quot; /&gt;&lt;/SmartSettings&gt;"/>
              <p:cNvSpPr/>
              <p:nvPr>
                <p:custDataLst>
                  <p:tags r:id="rId9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88" name="Check" descr="&lt;SmartSettings&gt;&lt;SmartResize anchorLeft=&quot;Absolute&quot; anchorTop=&quot;None&quot; anchorRight=&quot;None&quot; anchorBottom=&quot;None&quot; /&gt;&lt;/SmartSettings&gt;" hidden="1"/>
              <p:cNvSpPr>
                <a:spLocks noEditPoint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8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<p:cNvGrpSpPr/>
            <p:nvPr>
              <p:custDataLst>
                <p:tags r:id="rId3"/>
              </p:custDataLst>
            </p:nvPr>
          </p:nvGrpSpPr>
          <p:grpSpPr>
            <a:xfrm>
              <a:off x="3433201" y="2992081"/>
              <a:ext cx="107839" cy="109736"/>
              <a:chOff x="554563" y="2632644"/>
              <a:chExt cx="131556" cy="131556"/>
            </a:xfrm>
          </p:grpSpPr>
          <p:sp>
            <p:nvSpPr>
              <p:cNvPr id="190" name="Box" descr="&lt;SmartSettings&gt;&lt;SmartResize anchorLeft=&quot;Absolute&quot; anchorTop=&quot;None&quot; anchorRight=&quot;None&quot; anchorBottom=&quot;None&quot; /&gt;&lt;/SmartSettings&gt;"/>
              <p:cNvSpPr/>
              <p:nvPr>
                <p:custDataLst>
                  <p:tags r:id="rId7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91" name="Check" descr="&lt;SmartSettings&gt;&lt;SmartResize anchorLeft=&quot;Absolute&quot; anchorTop=&quot;None&quot; anchorRight=&quot;None&quot; anchorBottom=&quot;None&quot; /&gt;&lt;/SmartSettings&gt;" hidden="1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9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<p:cNvGrpSpPr/>
            <p:nvPr>
              <p:custDataLst>
                <p:tags r:id="rId4"/>
              </p:custDataLst>
            </p:nvPr>
          </p:nvGrpSpPr>
          <p:grpSpPr>
            <a:xfrm>
              <a:off x="3433201" y="3268306"/>
              <a:ext cx="107839" cy="109736"/>
              <a:chOff x="554563" y="2632644"/>
              <a:chExt cx="131556" cy="131556"/>
            </a:xfrm>
          </p:grpSpPr>
          <p:sp>
            <p:nvSpPr>
              <p:cNvPr id="193" name="Box" descr="&lt;SmartSettings&gt;&lt;SmartResize anchorLeft=&quot;Absolute&quot; anchorTop=&quot;None&quot; anchorRight=&quot;None&quot; anchorBottom=&quot;None&quot; /&gt;&lt;/SmartSettings&gt;"/>
              <p:cNvSpPr/>
              <p:nvPr>
                <p:custDataLst>
                  <p:tags r:id="rId5"/>
                </p:custDataLst>
              </p:nvPr>
            </p:nvSpPr>
            <p:spPr>
              <a:xfrm>
                <a:off x="554563" y="2632644"/>
                <a:ext cx="131556" cy="131556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194" name="Check" descr="&lt;SmartSettings&gt;&lt;SmartResize anchorLeft=&quot;Absolute&quot; anchorTop=&quot;None&quot; anchorRight=&quot;None&quot; anchorBottom=&quot;None&quot; /&gt;&lt;/SmartSettings&gt;" hidden="1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576252" y="2653644"/>
                <a:ext cx="88178" cy="89556"/>
              </a:xfrm>
              <a:custGeom>
                <a:avLst/>
                <a:gdLst>
                  <a:gd name="T0" fmla="*/ 275 w 275"/>
                  <a:gd name="T1" fmla="*/ 0 h 275"/>
                  <a:gd name="T2" fmla="*/ 0 w 275"/>
                  <a:gd name="T3" fmla="*/ 275 h 275"/>
                  <a:gd name="T4" fmla="*/ 0 w 275"/>
                  <a:gd name="T5" fmla="*/ 0 h 275"/>
                  <a:gd name="T6" fmla="*/ 275 w 275"/>
                  <a:gd name="T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5" h="275">
                    <a:moveTo>
                      <a:pt x="275" y="0"/>
                    </a:moveTo>
                    <a:lnTo>
                      <a:pt x="0" y="275"/>
                    </a:lnTo>
                    <a:moveTo>
                      <a:pt x="0" y="0"/>
                    </a:moveTo>
                    <a:lnTo>
                      <a:pt x="275" y="275"/>
                    </a:lnTo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95" name="그룹 194"/>
            <p:cNvGrpSpPr/>
            <p:nvPr/>
          </p:nvGrpSpPr>
          <p:grpSpPr>
            <a:xfrm>
              <a:off x="4255956" y="2325373"/>
              <a:ext cx="47625" cy="1090673"/>
              <a:chOff x="6858000" y="2907899"/>
              <a:chExt cx="47625" cy="508807"/>
            </a:xfrm>
          </p:grpSpPr>
          <p:sp>
            <p:nvSpPr>
              <p:cNvPr id="196" name="모서리가 둥근 직사각형 195"/>
              <p:cNvSpPr/>
              <p:nvPr/>
            </p:nvSpPr>
            <p:spPr>
              <a:xfrm>
                <a:off x="6858000" y="2907899"/>
                <a:ext cx="47625" cy="508807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  <p:sp>
            <p:nvSpPr>
              <p:cNvPr id="197" name="모서리가 둥근 직사각형 196"/>
              <p:cNvSpPr/>
              <p:nvPr/>
            </p:nvSpPr>
            <p:spPr>
              <a:xfrm>
                <a:off x="6858000" y="3015983"/>
                <a:ext cx="47625" cy="178335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  <p:sp>
          <p:nvSpPr>
            <p:cNvPr id="198" name="Rounded Rectangle 218"/>
            <p:cNvSpPr/>
            <p:nvPr/>
          </p:nvSpPr>
          <p:spPr>
            <a:xfrm>
              <a:off x="3459911" y="3711433"/>
              <a:ext cx="740399" cy="287333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확인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199" name="직선 연결선 198"/>
            <p:cNvCxnSpPr/>
            <p:nvPr/>
          </p:nvCxnSpPr>
          <p:spPr>
            <a:xfrm>
              <a:off x="3379651" y="3585256"/>
              <a:ext cx="904885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Rounded Rectangle 215"/>
          <p:cNvSpPr/>
          <p:nvPr/>
        </p:nvSpPr>
        <p:spPr>
          <a:xfrm>
            <a:off x="9487030" y="2381023"/>
            <a:ext cx="612924" cy="235059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9525" cap="flat" cmpd="sng">
            <a:solidFill>
              <a:schemeClr val="tx1">
                <a:lumMod val="85000"/>
                <a:lumOff val="1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달력</a:t>
            </a:r>
            <a:r>
              <a:rPr kumimoji="0" lang="ko-KR" altLang="en-US" sz="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 ▼</a:t>
            </a:r>
            <a:endParaRPr kumimoji="0" lang="en-US" sz="8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grpSp>
        <p:nvGrpSpPr>
          <p:cNvPr id="201" name="그룹 200"/>
          <p:cNvGrpSpPr/>
          <p:nvPr/>
        </p:nvGrpSpPr>
        <p:grpSpPr>
          <a:xfrm>
            <a:off x="6368181" y="2075364"/>
            <a:ext cx="2203765" cy="155782"/>
            <a:chOff x="4082181" y="2075364"/>
            <a:chExt cx="2203765" cy="155782"/>
          </a:xfrm>
        </p:grpSpPr>
        <p:grpSp>
          <p:nvGrpSpPr>
            <p:cNvPr id="202" name="그룹 201"/>
            <p:cNvGrpSpPr/>
            <p:nvPr/>
          </p:nvGrpSpPr>
          <p:grpSpPr>
            <a:xfrm>
              <a:off x="4082181" y="2075364"/>
              <a:ext cx="519293" cy="155782"/>
              <a:chOff x="1326428" y="1963689"/>
              <a:chExt cx="519293" cy="155782"/>
            </a:xfrm>
          </p:grpSpPr>
          <p:sp>
            <p:nvSpPr>
              <p:cNvPr id="212" name="Rounded Rectangle 224"/>
              <p:cNvSpPr/>
              <p:nvPr/>
            </p:nvSpPr>
            <p:spPr>
              <a:xfrm>
                <a:off x="1326428" y="1963689"/>
                <a:ext cx="519293" cy="155782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내 일정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13" name="Freeform 11"/>
              <p:cNvSpPr>
                <a:spLocks noChangeAspect="1" noChangeArrowheads="1"/>
              </p:cNvSpPr>
              <p:nvPr/>
            </p:nvSpPr>
            <p:spPr bwMode="auto">
              <a:xfrm>
                <a:off x="1717614" y="2000106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203" name="그룹 202"/>
            <p:cNvGrpSpPr/>
            <p:nvPr/>
          </p:nvGrpSpPr>
          <p:grpSpPr>
            <a:xfrm>
              <a:off x="4645354" y="2075364"/>
              <a:ext cx="519293" cy="155782"/>
              <a:chOff x="1326428" y="1963689"/>
              <a:chExt cx="519293" cy="155782"/>
            </a:xfrm>
          </p:grpSpPr>
          <p:sp>
            <p:nvSpPr>
              <p:cNvPr id="210" name="Rounded Rectangle 224"/>
              <p:cNvSpPr/>
              <p:nvPr/>
            </p:nvSpPr>
            <p:spPr>
              <a:xfrm>
                <a:off x="1326428" y="1963689"/>
                <a:ext cx="519293" cy="155782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내 </a:t>
                </a: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일정</a:t>
                </a:r>
                <a:endPara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11" name="Freeform 11"/>
              <p:cNvSpPr>
                <a:spLocks noChangeAspect="1" noChangeArrowheads="1"/>
              </p:cNvSpPr>
              <p:nvPr/>
            </p:nvSpPr>
            <p:spPr bwMode="auto">
              <a:xfrm>
                <a:off x="1717614" y="2000106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204" name="그룹 203"/>
            <p:cNvGrpSpPr/>
            <p:nvPr/>
          </p:nvGrpSpPr>
          <p:grpSpPr>
            <a:xfrm>
              <a:off x="5202471" y="2075364"/>
              <a:ext cx="519293" cy="155782"/>
              <a:chOff x="1326428" y="1963689"/>
              <a:chExt cx="519293" cy="155782"/>
            </a:xfrm>
          </p:grpSpPr>
          <p:sp>
            <p:nvSpPr>
              <p:cNvPr id="208" name="Rounded Rectangle 224"/>
              <p:cNvSpPr/>
              <p:nvPr/>
            </p:nvSpPr>
            <p:spPr>
              <a:xfrm>
                <a:off x="1326428" y="1963689"/>
                <a:ext cx="519293" cy="155782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내 일정</a:t>
                </a:r>
                <a:endPara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09" name="Freeform 11"/>
              <p:cNvSpPr>
                <a:spLocks noChangeAspect="1" noChangeArrowheads="1"/>
              </p:cNvSpPr>
              <p:nvPr/>
            </p:nvSpPr>
            <p:spPr bwMode="auto">
              <a:xfrm>
                <a:off x="1717614" y="2000106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205" name="그룹 204"/>
            <p:cNvGrpSpPr/>
            <p:nvPr/>
          </p:nvGrpSpPr>
          <p:grpSpPr>
            <a:xfrm>
              <a:off x="5766653" y="2075364"/>
              <a:ext cx="519293" cy="155782"/>
              <a:chOff x="1326428" y="1963689"/>
              <a:chExt cx="519293" cy="155782"/>
            </a:xfrm>
          </p:grpSpPr>
          <p:sp>
            <p:nvSpPr>
              <p:cNvPr id="206" name="Rounded Rectangle 224"/>
              <p:cNvSpPr/>
              <p:nvPr/>
            </p:nvSpPr>
            <p:spPr>
              <a:xfrm>
                <a:off x="1326428" y="1963689"/>
                <a:ext cx="519293" cy="155782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내 </a:t>
                </a:r>
                <a:r>
                  <a:rPr lang="ko-KR" altLang="en-US" sz="7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일정</a:t>
                </a:r>
                <a:endPara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07" name="Freeform 11"/>
              <p:cNvSpPr>
                <a:spLocks noChangeAspect="1" noChangeArrowheads="1"/>
              </p:cNvSpPr>
              <p:nvPr/>
            </p:nvSpPr>
            <p:spPr bwMode="auto">
              <a:xfrm>
                <a:off x="1717614" y="2000106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214" name="타원 213"/>
          <p:cNvSpPr>
            <a:spLocks noChangeAspect="1"/>
          </p:cNvSpPr>
          <p:nvPr/>
        </p:nvSpPr>
        <p:spPr>
          <a:xfrm>
            <a:off x="3130655" y="197203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8534400" y="2019300"/>
            <a:ext cx="285750" cy="276225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7" name="타원 216"/>
          <p:cNvSpPr>
            <a:spLocks noChangeAspect="1"/>
          </p:cNvSpPr>
          <p:nvPr/>
        </p:nvSpPr>
        <p:spPr>
          <a:xfrm>
            <a:off x="5702405" y="111478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5" name="타원 214"/>
          <p:cNvSpPr>
            <a:spLocks noChangeAspect="1"/>
          </p:cNvSpPr>
          <p:nvPr/>
        </p:nvSpPr>
        <p:spPr>
          <a:xfrm>
            <a:off x="8702780" y="198155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7" name="직사각형 98"/>
          <p:cNvSpPr/>
          <p:nvPr/>
        </p:nvSpPr>
        <p:spPr>
          <a:xfrm>
            <a:off x="431134" y="676275"/>
            <a:ext cx="1422685" cy="5991225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8" name="Rectangle 14"/>
          <p:cNvSpPr>
            <a:spLocks/>
          </p:cNvSpPr>
          <p:nvPr/>
        </p:nvSpPr>
        <p:spPr bwMode="auto">
          <a:xfrm>
            <a:off x="550750" y="807794"/>
            <a:ext cx="1195982" cy="26744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 algn="ctr">
              <a:lnSpc>
                <a:spcPct val="130000"/>
              </a:lnSpc>
            </a:pPr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일정 </a:t>
            </a: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등록하기</a:t>
            </a:r>
            <a:endParaRPr lang="x-none" altLang="x-none" sz="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89" name="Group 311"/>
          <p:cNvGrpSpPr/>
          <p:nvPr/>
        </p:nvGrpSpPr>
        <p:grpSpPr>
          <a:xfrm>
            <a:off x="444162" y="6351330"/>
            <a:ext cx="1404000" cy="246628"/>
            <a:chOff x="785281" y="6952264"/>
            <a:chExt cx="1404000" cy="246628"/>
          </a:xfrm>
        </p:grpSpPr>
        <p:sp>
          <p:nvSpPr>
            <p:cNvPr id="90" name="텍스트 상자 31"/>
            <p:cNvSpPr txBox="1"/>
            <p:nvPr/>
          </p:nvSpPr>
          <p:spPr>
            <a:xfrm>
              <a:off x="965893" y="7014226"/>
              <a:ext cx="1171015" cy="18466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  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91" name="Freeform 13"/>
            <p:cNvSpPr>
              <a:spLocks noChangeAspect="1" noChangeArrowheads="1"/>
            </p:cNvSpPr>
            <p:nvPr/>
          </p:nvSpPr>
          <p:spPr bwMode="auto">
            <a:xfrm>
              <a:off x="837212" y="7057163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92" name="직선 연결선[R] 33"/>
            <p:cNvCxnSpPr/>
            <p:nvPr/>
          </p:nvCxnSpPr>
          <p:spPr>
            <a:xfrm>
              <a:off x="785281" y="6952264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3" name="Table 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238714"/>
              </p:ext>
            </p:extLst>
          </p:nvPr>
        </p:nvGraphicFramePr>
        <p:xfrm>
          <a:off x="428535" y="1157416"/>
          <a:ext cx="1419089" cy="1082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2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4294">
                <a:tc gridSpan="7">
                  <a:txBody>
                    <a:bodyPr/>
                    <a:lstStyle/>
                    <a:p>
                      <a:pPr algn="ctr"/>
                      <a:r>
                        <a:rPr lang="en-US" altLang="ko-KR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2017.08</a:t>
                      </a:r>
                      <a:r>
                        <a:rPr lang="ko-KR" altLang="en-US" sz="800" smtClean="0">
                          <a:solidFill>
                            <a:schemeClr val="tx1"/>
                          </a:solidFill>
                          <a:latin typeface="Malgun Gothic" charset="-127"/>
                          <a:ea typeface="Malgun Gothic" charset="-127"/>
                          <a:cs typeface="Malgun Gothic" charset="-127"/>
                        </a:rPr>
                        <a:t> </a:t>
                      </a:r>
                      <a:endParaRPr lang="en-US" sz="800" dirty="0">
                        <a:solidFill>
                          <a:schemeClr val="tx1"/>
                        </a:solidFill>
                        <a:latin typeface="Malgun Gothic" charset="-127"/>
                        <a:ea typeface="Malgun Gothic" charset="-127"/>
                        <a:cs typeface="Malgun Gothic" charset="-127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일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월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수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목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금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500" dirty="0" smtClean="0">
                          <a:solidFill>
                            <a:schemeClr val="tx1"/>
                          </a:solidFill>
                        </a:rPr>
                        <a:t>토</a:t>
                      </a:r>
                      <a:endParaRPr lang="en-US" sz="5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endParaRPr lang="en-US" sz="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rgbClr val="FF0000"/>
                          </a:solidFill>
                        </a:rPr>
                        <a:t>18</a:t>
                      </a:r>
                      <a:endParaRPr lang="en-US" sz="600" u="none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en-US" sz="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none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600" u="none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u="sng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600" u="sng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0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en-US" sz="6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4" name="타원 83"/>
          <p:cNvSpPr>
            <a:spLocks noChangeAspect="1"/>
          </p:cNvSpPr>
          <p:nvPr/>
        </p:nvSpPr>
        <p:spPr>
          <a:xfrm>
            <a:off x="642073" y="1927951"/>
            <a:ext cx="179840" cy="180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ko-KR" sz="600" b="1" smtClean="0">
                <a:solidFill>
                  <a:schemeClr val="bg1"/>
                </a:solidFill>
                <a:latin typeface="+mn-ea"/>
              </a:rPr>
              <a:t>21</a:t>
            </a:r>
            <a:endParaRPr kumimoji="1" lang="ko-KR" altLang="en-US" sz="6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5" name="직선 연결선[R] 33"/>
          <p:cNvCxnSpPr/>
          <p:nvPr/>
        </p:nvCxnSpPr>
        <p:spPr>
          <a:xfrm>
            <a:off x="438102" y="2297946"/>
            <a:ext cx="141138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Group 234"/>
          <p:cNvGrpSpPr/>
          <p:nvPr/>
        </p:nvGrpSpPr>
        <p:grpSpPr>
          <a:xfrm>
            <a:off x="725767" y="1212400"/>
            <a:ext cx="792726" cy="80656"/>
            <a:chOff x="2656761" y="1741427"/>
            <a:chExt cx="792726" cy="80656"/>
          </a:xfrm>
        </p:grpSpPr>
        <p:sp>
          <p:nvSpPr>
            <p:cNvPr id="97" name="Freeform 9"/>
            <p:cNvSpPr>
              <a:spLocks noChangeArrowheads="1"/>
            </p:cNvSpPr>
            <p:nvPr/>
          </p:nvSpPr>
          <p:spPr bwMode="auto">
            <a:xfrm>
              <a:off x="26567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98" name="Freeform 10"/>
            <p:cNvSpPr>
              <a:spLocks noChangeArrowheads="1"/>
            </p:cNvSpPr>
            <p:nvPr/>
          </p:nvSpPr>
          <p:spPr bwMode="auto">
            <a:xfrm>
              <a:off x="33999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440152" y="2294165"/>
            <a:ext cx="1456276" cy="3158842"/>
            <a:chOff x="4397260" y="1236890"/>
            <a:chExt cx="1456276" cy="3158842"/>
          </a:xfrm>
        </p:grpSpPr>
        <p:sp>
          <p:nvSpPr>
            <p:cNvPr id="100" name="텍스트 상자 31"/>
            <p:cNvSpPr txBox="1"/>
            <p:nvPr/>
          </p:nvSpPr>
          <p:spPr>
            <a:xfrm>
              <a:off x="4571916" y="2362718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공유받은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01" name="텍스트 상자 31"/>
            <p:cNvSpPr txBox="1"/>
            <p:nvPr/>
          </p:nvSpPr>
          <p:spPr>
            <a:xfrm>
              <a:off x="4574893" y="2549712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UI</a:t>
              </a:r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프로젝트 일정 공유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02" name="텍스트 상자 31"/>
            <p:cNvSpPr txBox="1"/>
            <p:nvPr/>
          </p:nvSpPr>
          <p:spPr>
            <a:xfrm>
              <a:off x="4569879" y="3170609"/>
              <a:ext cx="899412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</a:t>
              </a:r>
              <a:r>
                <a:rPr kumimoji="1" lang="ko-KR" altLang="en-US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디자인팀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103" name="직선 연결선[R] 33"/>
            <p:cNvCxnSpPr/>
            <p:nvPr/>
          </p:nvCxnSpPr>
          <p:spPr>
            <a:xfrm>
              <a:off x="4402783" y="3850773"/>
              <a:ext cx="1404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텍스트 상자 31"/>
            <p:cNvSpPr txBox="1"/>
            <p:nvPr/>
          </p:nvSpPr>
          <p:spPr>
            <a:xfrm>
              <a:off x="4574893" y="2714268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기획</a:t>
              </a:r>
              <a:r>
                <a:rPr kumimoji="1" lang="en-US" altLang="ko-KR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1</a:t>
              </a:r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휴가일 공유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05" name="텍스트 상자 31"/>
            <p:cNvSpPr txBox="1"/>
            <p:nvPr/>
          </p:nvSpPr>
          <p:spPr>
            <a:xfrm>
              <a:off x="4569879" y="3335092"/>
              <a:ext cx="770030" cy="951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자동차 </a:t>
              </a:r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 </a:t>
              </a:r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</a:t>
              </a:r>
            </a:p>
          </p:txBody>
        </p:sp>
        <p:sp>
          <p:nvSpPr>
            <p:cNvPr id="107" name="텍스트 상자 31"/>
            <p:cNvSpPr txBox="1"/>
            <p:nvPr/>
          </p:nvSpPr>
          <p:spPr>
            <a:xfrm>
              <a:off x="4569879" y="3491933"/>
              <a:ext cx="895878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EGW UX</a:t>
              </a:r>
              <a:r>
                <a:rPr kumimoji="1" lang="ko-KR" altLang="en-US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 </a:t>
              </a:r>
              <a:r>
                <a:rPr kumimoji="1" lang="en-US" altLang="ko-KR" sz="6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12" name="텍스트 상자 31"/>
            <p:cNvSpPr txBox="1"/>
            <p:nvPr/>
          </p:nvSpPr>
          <p:spPr>
            <a:xfrm>
              <a:off x="4569879" y="3651133"/>
              <a:ext cx="785062" cy="9178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정부 </a:t>
              </a:r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과제 </a:t>
              </a:r>
              <a:r>
                <a:rPr kumimoji="1" lang="en-US" altLang="ko-KR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TF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13" name="텍스트 상자 31"/>
            <p:cNvSpPr txBox="1"/>
            <p:nvPr/>
          </p:nvSpPr>
          <p:spPr>
            <a:xfrm>
              <a:off x="4571916" y="1774909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내 일정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14" name="텍스트 상자 31"/>
            <p:cNvSpPr txBox="1"/>
            <p:nvPr/>
          </p:nvSpPr>
          <p:spPr>
            <a:xfrm>
              <a:off x="4571916" y="1941480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김핸디 업무일정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15" name="텍스트 상자 31"/>
            <p:cNvSpPr txBox="1"/>
            <p:nvPr/>
          </p:nvSpPr>
          <p:spPr>
            <a:xfrm>
              <a:off x="4571916" y="4136828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전사 일정</a:t>
              </a:r>
              <a:endParaRPr kumimoji="1" lang="ko-KR" altLang="en-US" sz="600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16" name="텍스트 상자 31"/>
            <p:cNvSpPr txBox="1"/>
            <p:nvPr/>
          </p:nvSpPr>
          <p:spPr>
            <a:xfrm>
              <a:off x="4571916" y="4303399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대한민국 휴일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17" name="텍스트 상자 31"/>
            <p:cNvSpPr txBox="1"/>
            <p:nvPr/>
          </p:nvSpPr>
          <p:spPr>
            <a:xfrm>
              <a:off x="4577872" y="3939571"/>
              <a:ext cx="820269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구독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18" name="Freeform 24"/>
            <p:cNvSpPr>
              <a:spLocks noChangeArrowheads="1"/>
            </p:cNvSpPr>
            <p:nvPr/>
          </p:nvSpPr>
          <p:spPr bwMode="auto">
            <a:xfrm>
              <a:off x="4458907" y="3970573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119" name="Freeform 24"/>
            <p:cNvSpPr>
              <a:spLocks noChangeArrowheads="1"/>
            </p:cNvSpPr>
            <p:nvPr/>
          </p:nvSpPr>
          <p:spPr bwMode="auto">
            <a:xfrm>
              <a:off x="4458907" y="2385651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120" name="텍스트 상자 31"/>
            <p:cNvSpPr txBox="1"/>
            <p:nvPr/>
          </p:nvSpPr>
          <p:spPr>
            <a:xfrm>
              <a:off x="4577872" y="1603804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개인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cxnSp>
          <p:nvCxnSpPr>
            <p:cNvPr id="121" name="직선 연결선[R] 33"/>
            <p:cNvCxnSpPr/>
            <p:nvPr/>
          </p:nvCxnSpPr>
          <p:spPr>
            <a:xfrm>
              <a:off x="4397260" y="1513403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Freeform 24"/>
            <p:cNvSpPr>
              <a:spLocks noChangeArrowheads="1"/>
            </p:cNvSpPr>
            <p:nvPr/>
          </p:nvSpPr>
          <p:spPr bwMode="auto">
            <a:xfrm>
              <a:off x="4458907" y="1622077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134" name="직선 연결선[R] 33"/>
            <p:cNvCxnSpPr/>
            <p:nvPr/>
          </p:nvCxnSpPr>
          <p:spPr>
            <a:xfrm>
              <a:off x="4397260" y="2287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356"/>
            <p:cNvSpPr>
              <a:spLocks noChangeAspect="1"/>
            </p:cNvSpPr>
            <p:nvPr/>
          </p:nvSpPr>
          <p:spPr>
            <a:xfrm>
              <a:off x="4460857" y="1787917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37" name="Rectangle 357"/>
            <p:cNvSpPr>
              <a:spLocks noChangeAspect="1"/>
            </p:cNvSpPr>
            <p:nvPr/>
          </p:nvSpPr>
          <p:spPr>
            <a:xfrm>
              <a:off x="4460857" y="195138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38" name="Rectangle 358"/>
            <p:cNvSpPr>
              <a:spLocks noChangeAspect="1"/>
            </p:cNvSpPr>
            <p:nvPr/>
          </p:nvSpPr>
          <p:spPr>
            <a:xfrm>
              <a:off x="4463834" y="2557749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39" name="Rectangle 359"/>
            <p:cNvSpPr>
              <a:spLocks noChangeAspect="1"/>
            </p:cNvSpPr>
            <p:nvPr/>
          </p:nvSpPr>
          <p:spPr>
            <a:xfrm>
              <a:off x="4463834" y="2721213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40" name="Rectangle 360"/>
            <p:cNvSpPr>
              <a:spLocks noChangeAspect="1"/>
            </p:cNvSpPr>
            <p:nvPr/>
          </p:nvSpPr>
          <p:spPr>
            <a:xfrm>
              <a:off x="4458820" y="318033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41" name="Rectangle 361"/>
            <p:cNvSpPr>
              <a:spLocks noChangeAspect="1"/>
            </p:cNvSpPr>
            <p:nvPr/>
          </p:nvSpPr>
          <p:spPr>
            <a:xfrm>
              <a:off x="4458820" y="3343795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42" name="Rectangle 362"/>
            <p:cNvSpPr>
              <a:spLocks noChangeAspect="1"/>
            </p:cNvSpPr>
            <p:nvPr/>
          </p:nvSpPr>
          <p:spPr>
            <a:xfrm>
              <a:off x="4458820" y="3499367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43" name="Rectangle 363"/>
            <p:cNvSpPr>
              <a:spLocks noChangeAspect="1"/>
            </p:cNvSpPr>
            <p:nvPr/>
          </p:nvSpPr>
          <p:spPr>
            <a:xfrm>
              <a:off x="4458820" y="3662831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44" name="Rectangle 364"/>
            <p:cNvSpPr>
              <a:spLocks noChangeAspect="1"/>
            </p:cNvSpPr>
            <p:nvPr/>
          </p:nvSpPr>
          <p:spPr>
            <a:xfrm>
              <a:off x="4460857" y="4144262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45" name="Rectangle 365"/>
            <p:cNvSpPr>
              <a:spLocks noChangeAspect="1"/>
            </p:cNvSpPr>
            <p:nvPr/>
          </p:nvSpPr>
          <p:spPr>
            <a:xfrm>
              <a:off x="4460857" y="4307726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cxnSp>
          <p:nvCxnSpPr>
            <p:cNvPr id="146" name="직선 연결선[R] 33"/>
            <p:cNvCxnSpPr/>
            <p:nvPr/>
          </p:nvCxnSpPr>
          <p:spPr>
            <a:xfrm>
              <a:off x="4397260" y="1236890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텍스트 상자 31"/>
            <p:cNvSpPr txBox="1"/>
            <p:nvPr/>
          </p:nvSpPr>
          <p:spPr>
            <a:xfrm>
              <a:off x="4583932" y="1328336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700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전체 달력</a:t>
              </a:r>
              <a:endParaRPr kumimoji="1" lang="ko-KR" altLang="en-US" sz="7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48" name="텍스트 상자 31"/>
            <p:cNvSpPr txBox="1"/>
            <p:nvPr/>
          </p:nvSpPr>
          <p:spPr>
            <a:xfrm>
              <a:off x="4571916" y="2984083"/>
              <a:ext cx="1269604" cy="10772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lvl="0"/>
              <a:r>
                <a:rPr kumimoji="1" lang="ko-KR" altLang="en-US" sz="700" dirty="0" smtClean="0">
                  <a:solidFill>
                    <a:prstClr val="black">
                      <a:lumMod val="50000"/>
                      <a:lumOff val="50000"/>
                    </a:prstClr>
                  </a:solidFill>
                  <a:latin typeface="+mn-ea"/>
                  <a:ea typeface="+mn-ea"/>
                </a:rPr>
                <a:t>스퀘어 달력</a:t>
              </a:r>
              <a:endParaRPr kumimoji="1" lang="ko-KR" altLang="en-US" sz="700" dirty="0">
                <a:solidFill>
                  <a:prstClr val="black">
                    <a:lumMod val="50000"/>
                    <a:lumOff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49" name="Freeform 24"/>
            <p:cNvSpPr>
              <a:spLocks noChangeArrowheads="1"/>
            </p:cNvSpPr>
            <p:nvPr/>
          </p:nvSpPr>
          <p:spPr bwMode="auto">
            <a:xfrm>
              <a:off x="4458907" y="3007016"/>
              <a:ext cx="73363" cy="45719"/>
            </a:xfrm>
            <a:custGeom>
              <a:avLst/>
              <a:gdLst>
                <a:gd name="T0" fmla="*/ 155 w 306"/>
                <a:gd name="T1" fmla="*/ 0 h 190"/>
                <a:gd name="T2" fmla="*/ 0 w 306"/>
                <a:gd name="T3" fmla="*/ 155 h 190"/>
                <a:gd name="T4" fmla="*/ 39 w 306"/>
                <a:gd name="T5" fmla="*/ 189 h 190"/>
                <a:gd name="T6" fmla="*/ 155 w 306"/>
                <a:gd name="T7" fmla="*/ 73 h 190"/>
                <a:gd name="T8" fmla="*/ 271 w 306"/>
                <a:gd name="T9" fmla="*/ 189 h 190"/>
                <a:gd name="T10" fmla="*/ 305 w 306"/>
                <a:gd name="T11" fmla="*/ 155 h 190"/>
                <a:gd name="T12" fmla="*/ 155 w 306"/>
                <a:gd name="T13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6" h="190">
                  <a:moveTo>
                    <a:pt x="155" y="0"/>
                  </a:moveTo>
                  <a:lnTo>
                    <a:pt x="0" y="155"/>
                  </a:lnTo>
                  <a:lnTo>
                    <a:pt x="39" y="189"/>
                  </a:lnTo>
                  <a:lnTo>
                    <a:pt x="155" y="73"/>
                  </a:lnTo>
                  <a:lnTo>
                    <a:pt x="271" y="189"/>
                  </a:lnTo>
                  <a:lnTo>
                    <a:pt x="305" y="155"/>
                  </a:lnTo>
                  <a:lnTo>
                    <a:pt x="155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cxnSp>
          <p:nvCxnSpPr>
            <p:cNvPr id="150" name="직선 연결선[R] 33"/>
            <p:cNvCxnSpPr/>
            <p:nvPr/>
          </p:nvCxnSpPr>
          <p:spPr>
            <a:xfrm>
              <a:off x="4397260" y="290882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텍스트 상자 31"/>
            <p:cNvSpPr txBox="1"/>
            <p:nvPr/>
          </p:nvSpPr>
          <p:spPr>
            <a:xfrm>
              <a:off x="4571916" y="2102303"/>
              <a:ext cx="1269604" cy="9233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6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공유받은 </a:t>
              </a:r>
              <a:r>
                <a:rPr kumimoji="1" lang="ko-KR" altLang="en-US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일정</a:t>
              </a:r>
              <a:r>
                <a:rPr kumimoji="1" lang="en-US" altLang="ko-KR" sz="60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 </a:t>
              </a:r>
              <a:endParaRPr kumimoji="1" lang="ko-KR" altLang="en-US" sz="6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152" name="Rectangle 222"/>
            <p:cNvSpPr>
              <a:spLocks noChangeAspect="1"/>
            </p:cNvSpPr>
            <p:nvPr/>
          </p:nvSpPr>
          <p:spPr>
            <a:xfrm>
              <a:off x="4460857" y="2112204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  <p:sp>
          <p:nvSpPr>
            <p:cNvPr id="153" name="Rounded Rectangle 223"/>
            <p:cNvSpPr/>
            <p:nvPr/>
          </p:nvSpPr>
          <p:spPr>
            <a:xfrm>
              <a:off x="5147408" y="1938766"/>
              <a:ext cx="216000" cy="108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 smtClean="0">
                  <a:latin typeface="+mn-ea"/>
                </a:rPr>
                <a:t>공유</a:t>
              </a:r>
              <a:endParaRPr lang="en-US" sz="600" dirty="0">
                <a:latin typeface="+mn-ea"/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5669063" y="1559626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5661043" y="3899495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71" name="Rectangle 356"/>
            <p:cNvSpPr>
              <a:spLocks noChangeAspect="1"/>
            </p:cNvSpPr>
            <p:nvPr/>
          </p:nvSpPr>
          <p:spPr>
            <a:xfrm>
              <a:off x="4460857" y="1343840"/>
              <a:ext cx="72000" cy="72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dk1"/>
                </a:solidFill>
                <a:latin typeface="+mn-ea"/>
              </a:endParaRPr>
            </a:p>
          </p:txBody>
        </p:sp>
      </p:grpSp>
      <p:sp>
        <p:nvSpPr>
          <p:cNvPr id="173" name="직각 삼각형 172"/>
          <p:cNvSpPr/>
          <p:nvPr/>
        </p:nvSpPr>
        <p:spPr>
          <a:xfrm flipH="1">
            <a:off x="11504356" y="5921713"/>
            <a:ext cx="640019" cy="742447"/>
          </a:xfrm>
          <a:prstGeom prst="rt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12/07</a:t>
            </a:r>
          </a:p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9315450" y="5800725"/>
            <a:ext cx="914400" cy="914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[12/07 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 내역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달력보기 버튼 추가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75" name="그룹 174"/>
          <p:cNvGrpSpPr/>
          <p:nvPr/>
        </p:nvGrpSpPr>
        <p:grpSpPr>
          <a:xfrm>
            <a:off x="8207362" y="1170116"/>
            <a:ext cx="866095" cy="205990"/>
            <a:chOff x="8129256" y="1219200"/>
            <a:chExt cx="866095" cy="205990"/>
          </a:xfrm>
        </p:grpSpPr>
        <p:sp>
          <p:nvSpPr>
            <p:cNvPr id="176" name="모서리가 둥근 직사각형 175"/>
            <p:cNvSpPr/>
            <p:nvPr/>
          </p:nvSpPr>
          <p:spPr>
            <a:xfrm>
              <a:off x="8129256" y="1219200"/>
              <a:ext cx="866095" cy="205990"/>
            </a:xfrm>
            <a:prstGeom prst="roundRect">
              <a:avLst/>
            </a:prstGeom>
            <a:solidFill>
              <a:sysClr val="window" lastClr="FFFFFF"/>
            </a:solidFill>
            <a:ln w="9525" cap="flat" cmpd="sng">
              <a:solidFill>
                <a:srgbClr val="0000FF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 defTabSz="576818" fontAlgn="auto" latin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8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   달력보기</a:t>
              </a:r>
              <a:endParaRPr kumimoji="0" lang="ko-KR" altLang="en-US" sz="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pic>
          <p:nvPicPr>
            <p:cNvPr id="177" name="그림 176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7165" y="1253440"/>
              <a:ext cx="141069" cy="141069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462577" y="399031"/>
            <a:ext cx="670898" cy="21056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</a:t>
            </a:r>
          </a:p>
        </p:txBody>
      </p:sp>
    </p:spTree>
    <p:extLst>
      <p:ext uri="{BB962C8B-B14F-4D97-AF65-F5344CB8AC3E}">
        <p14:creationId xmlns:p14="http://schemas.microsoft.com/office/powerpoint/2010/main" val="255181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1"/>
            </p:custDataLst>
          </p:nvPr>
        </p:nvSpPr>
        <p:spPr>
          <a:xfrm>
            <a:off x="263352" y="476672"/>
            <a:ext cx="6680373" cy="22145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Browser Title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6367911" y="547872"/>
            <a:ext cx="494204" cy="79375"/>
            <a:chOff x="5845831" y="547872"/>
            <a:chExt cx="494204" cy="79375"/>
          </a:xfrm>
        </p:grpSpPr>
        <p:sp>
          <p:nvSpPr>
            <p:cNvPr id="4" name="Minimize" descr="&lt;SmartSettings&gt;&lt;SmartResize anchorLeft=&quot;None&quot; anchorTop=&quot;Absolute&quot; anchorRight=&quot;Absolute&quot; anchorBottom=&quot;None&quot; /&gt;&lt;/SmartSettings&gt;"/>
            <p:cNvSpPr>
              <a:spLocks noChangeAspect="1"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845831" y="583591"/>
              <a:ext cx="74613" cy="7937"/>
            </a:xfrm>
            <a:prstGeom prst="rect">
              <a:avLst/>
            </a:prstGeom>
            <a:solidFill>
              <a:srgbClr val="00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" name="Maximize" descr="&lt;SmartSettings&gt;&lt;SmartResize anchorLeft=&quot;None&quot; anchorTop=&quot;Absolute&quot; anchorRight=&quot;Absolute&quot; anchorBottom=&quot;None&quot; /&gt;&lt;/SmartSettings&gt;"/>
            <p:cNvSpPr>
              <a:spLocks noChangeAspect="1" noEditPoints="1"/>
            </p:cNvSpPr>
            <p:nvPr>
              <p:custDataLst>
                <p:tags r:id="rId4"/>
              </p:custDataLst>
            </p:nvPr>
          </p:nvSpPr>
          <p:spPr bwMode="auto">
            <a:xfrm>
              <a:off x="6063443" y="549459"/>
              <a:ext cx="73025" cy="76200"/>
            </a:xfrm>
            <a:custGeom>
              <a:avLst/>
              <a:gdLst>
                <a:gd name="T0" fmla="*/ 0 w 282"/>
                <a:gd name="T1" fmla="*/ 0 h 282"/>
                <a:gd name="T2" fmla="*/ 0 w 282"/>
                <a:gd name="T3" fmla="*/ 282 h 282"/>
                <a:gd name="T4" fmla="*/ 282 w 282"/>
                <a:gd name="T5" fmla="*/ 282 h 282"/>
                <a:gd name="T6" fmla="*/ 282 w 282"/>
                <a:gd name="T7" fmla="*/ 0 h 282"/>
                <a:gd name="T8" fmla="*/ 0 w 282"/>
                <a:gd name="T9" fmla="*/ 0 h 282"/>
                <a:gd name="T10" fmla="*/ 28 w 282"/>
                <a:gd name="T11" fmla="*/ 28 h 282"/>
                <a:gd name="T12" fmla="*/ 254 w 282"/>
                <a:gd name="T13" fmla="*/ 28 h 282"/>
                <a:gd name="T14" fmla="*/ 254 w 282"/>
                <a:gd name="T15" fmla="*/ 254 h 282"/>
                <a:gd name="T16" fmla="*/ 28 w 282"/>
                <a:gd name="T17" fmla="*/ 254 h 282"/>
                <a:gd name="T18" fmla="*/ 28 w 282"/>
                <a:gd name="T19" fmla="*/ 28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2" h="282">
                  <a:moveTo>
                    <a:pt x="0" y="0"/>
                  </a:moveTo>
                  <a:lnTo>
                    <a:pt x="0" y="282"/>
                  </a:lnTo>
                  <a:lnTo>
                    <a:pt x="282" y="282"/>
                  </a:lnTo>
                  <a:lnTo>
                    <a:pt x="282" y="0"/>
                  </a:lnTo>
                  <a:lnTo>
                    <a:pt x="0" y="0"/>
                  </a:lnTo>
                  <a:close/>
                  <a:moveTo>
                    <a:pt x="28" y="28"/>
                  </a:moveTo>
                  <a:lnTo>
                    <a:pt x="254" y="28"/>
                  </a:lnTo>
                  <a:lnTo>
                    <a:pt x="254" y="254"/>
                  </a:lnTo>
                  <a:lnTo>
                    <a:pt x="28" y="254"/>
                  </a:lnTo>
                  <a:lnTo>
                    <a:pt x="28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" name="Close" descr="&lt;SmartSettings&gt;&lt;SmartResize anchorLeft=&quot;None&quot; anchorTop=&quot;Absolute&quot; anchorRight=&quot;Absolute&quot; anchorBottom=&quot;None&quot; /&gt;&lt;/SmartSettings&gt;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 bwMode="auto">
            <a:xfrm>
              <a:off x="6265422" y="547872"/>
              <a:ext cx="74613" cy="79375"/>
            </a:xfrm>
            <a:custGeom>
              <a:avLst/>
              <a:gdLst>
                <a:gd name="T0" fmla="*/ 3 w 47"/>
                <a:gd name="T1" fmla="*/ 0 h 50"/>
                <a:gd name="T2" fmla="*/ 0 w 47"/>
                <a:gd name="T3" fmla="*/ 3 h 50"/>
                <a:gd name="T4" fmla="*/ 20 w 47"/>
                <a:gd name="T5" fmla="*/ 25 h 50"/>
                <a:gd name="T6" fmla="*/ 0 w 47"/>
                <a:gd name="T7" fmla="*/ 46 h 50"/>
                <a:gd name="T8" fmla="*/ 3 w 47"/>
                <a:gd name="T9" fmla="*/ 50 h 50"/>
                <a:gd name="T10" fmla="*/ 23 w 47"/>
                <a:gd name="T11" fmla="*/ 28 h 50"/>
                <a:gd name="T12" fmla="*/ 44 w 47"/>
                <a:gd name="T13" fmla="*/ 49 h 50"/>
                <a:gd name="T14" fmla="*/ 47 w 47"/>
                <a:gd name="T15" fmla="*/ 46 h 50"/>
                <a:gd name="T16" fmla="*/ 27 w 47"/>
                <a:gd name="T17" fmla="*/ 25 h 50"/>
                <a:gd name="T18" fmla="*/ 47 w 47"/>
                <a:gd name="T19" fmla="*/ 3 h 50"/>
                <a:gd name="T20" fmla="*/ 44 w 47"/>
                <a:gd name="T21" fmla="*/ 0 h 50"/>
                <a:gd name="T22" fmla="*/ 24 w 47"/>
                <a:gd name="T23" fmla="*/ 21 h 50"/>
                <a:gd name="T24" fmla="*/ 3 w 47"/>
                <a:gd name="T25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50">
                  <a:moveTo>
                    <a:pt x="3" y="0"/>
                  </a:moveTo>
                  <a:lnTo>
                    <a:pt x="0" y="3"/>
                  </a:lnTo>
                  <a:lnTo>
                    <a:pt x="20" y="25"/>
                  </a:lnTo>
                  <a:lnTo>
                    <a:pt x="0" y="46"/>
                  </a:lnTo>
                  <a:lnTo>
                    <a:pt x="3" y="50"/>
                  </a:lnTo>
                  <a:lnTo>
                    <a:pt x="23" y="28"/>
                  </a:lnTo>
                  <a:lnTo>
                    <a:pt x="44" y="49"/>
                  </a:lnTo>
                  <a:lnTo>
                    <a:pt x="47" y="46"/>
                  </a:lnTo>
                  <a:lnTo>
                    <a:pt x="27" y="25"/>
                  </a:lnTo>
                  <a:lnTo>
                    <a:pt x="47" y="3"/>
                  </a:lnTo>
                  <a:lnTo>
                    <a:pt x="44" y="0"/>
                  </a:lnTo>
                  <a:lnTo>
                    <a:pt x="24" y="21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8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7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2"/>
            </p:custDataLst>
          </p:nvPr>
        </p:nvSpPr>
        <p:spPr>
          <a:xfrm>
            <a:off x="263352" y="698127"/>
            <a:ext cx="6680373" cy="5674097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4068" y="857223"/>
            <a:ext cx="661742" cy="195956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인쇄보기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396737" y="1136637"/>
            <a:ext cx="643334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702292"/>
              </p:ext>
            </p:extLst>
          </p:nvPr>
        </p:nvGraphicFramePr>
        <p:xfrm>
          <a:off x="441325" y="1529291"/>
          <a:ext cx="6311899" cy="2118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380">
                  <a:extLst>
                    <a:ext uri="{9D8B030D-6E8A-4147-A177-3AD203B41FA5}">
                      <a16:colId xmlns:a16="http://schemas.microsoft.com/office/drawing/2014/main" val="1404291500"/>
                    </a:ext>
                  </a:extLst>
                </a:gridCol>
                <a:gridCol w="775123">
                  <a:extLst>
                    <a:ext uri="{9D8B030D-6E8A-4147-A177-3AD203B41FA5}">
                      <a16:colId xmlns:a16="http://schemas.microsoft.com/office/drawing/2014/main" val="1971700422"/>
                    </a:ext>
                  </a:extLst>
                </a:gridCol>
                <a:gridCol w="775123">
                  <a:extLst>
                    <a:ext uri="{9D8B030D-6E8A-4147-A177-3AD203B41FA5}">
                      <a16:colId xmlns:a16="http://schemas.microsoft.com/office/drawing/2014/main" val="3886294505"/>
                    </a:ext>
                  </a:extLst>
                </a:gridCol>
                <a:gridCol w="775123">
                  <a:extLst>
                    <a:ext uri="{9D8B030D-6E8A-4147-A177-3AD203B41FA5}">
                      <a16:colId xmlns:a16="http://schemas.microsoft.com/office/drawing/2014/main" val="3571612452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531969420"/>
                    </a:ext>
                  </a:extLst>
                </a:gridCol>
              </a:tblGrid>
              <a:tr h="2648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날짜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시작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종료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상태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제목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105831"/>
                  </a:ext>
                </a:extLst>
              </a:tr>
              <a:tr h="264848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2017-11-06(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9:00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10:30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대기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기업금융사업부 주간회의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804142"/>
                  </a:ext>
                </a:extLst>
              </a:tr>
              <a:tr h="264848"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9:00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10:30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대기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기업금융사업부 주간회의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515683"/>
                  </a:ext>
                </a:extLst>
              </a:tr>
              <a:tr h="264848"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9:00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10:30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대기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기업금융사업부 주간회의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408740"/>
                  </a:ext>
                </a:extLst>
              </a:tr>
              <a:tr h="264848"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9:00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10:30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대기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기업금융사업부 주간회의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87499"/>
                  </a:ext>
                </a:extLst>
              </a:tr>
              <a:tr h="264848">
                <a:tc v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9:00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10:30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대기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기업금융사업부 주간회의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182381"/>
                  </a:ext>
                </a:extLst>
              </a:tr>
              <a:tr h="264848"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2017-11-07(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9:00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10:30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대기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기업금융사업부 주간회의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217802"/>
                  </a:ext>
                </a:extLst>
              </a:tr>
              <a:tr h="264848"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2017-11-08(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9:00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10:30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대기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기업금융사업부 주간회의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96269"/>
                  </a:ext>
                </a:extLst>
              </a:tr>
            </a:tbl>
          </a:graphicData>
        </a:graphic>
      </p:graphicFrame>
      <p:sp>
        <p:nvSpPr>
          <p:cNvPr id="12" name="Rounded Rectangle 313"/>
          <p:cNvSpPr/>
          <p:nvPr/>
        </p:nvSpPr>
        <p:spPr>
          <a:xfrm>
            <a:off x="3128552" y="5921713"/>
            <a:ext cx="937444" cy="295275"/>
          </a:xfrm>
          <a:prstGeom prst="roundRect">
            <a:avLst>
              <a:gd name="adj" fmla="val 8420"/>
            </a:avLst>
          </a:prstGeom>
          <a:solidFill>
            <a:schemeClr val="tx1">
              <a:lumMod val="75000"/>
              <a:lumOff val="25000"/>
            </a:schemeClr>
          </a:solidFill>
          <a:ln w="12700" cap="flat" cmpd="sng">
            <a:solidFill>
              <a:schemeClr val="tx1">
                <a:lumMod val="95000"/>
                <a:lumOff val="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/>
          <a:p>
            <a:pPr algn="ctr">
              <a:lnSpc>
                <a:spcPct val="120000"/>
              </a:lnSpc>
            </a:pPr>
            <a:r>
              <a:rPr lang="ko-KR" altLang="en-US" sz="800" b="1" smtClean="0">
                <a:solidFill>
                  <a:schemeClr val="bg1"/>
                </a:solidFill>
                <a:latin typeface="+mn-ea"/>
                <a:ea typeface="+mn-ea"/>
              </a:rPr>
              <a:t>확인</a:t>
            </a:r>
            <a:endParaRPr lang="en-US" sz="8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396737" y="5832462"/>
            <a:ext cx="643334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7029449" y="1117587"/>
            <a:ext cx="0" cy="4695825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rot="5400000">
            <a:off x="6648450" y="2905125"/>
            <a:ext cx="914400" cy="914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rgbClr val="FF0066"/>
                </a:solidFill>
                <a:latin typeface="나눔고딕" panose="020B0600000101010101" charset="-127"/>
                <a:ea typeface="나눔고딕" panose="020B0600000101010101" charset="-127"/>
              </a:rPr>
              <a:t>Scroll</a:t>
            </a:r>
            <a:r>
              <a:rPr lang="ko-KR" altLang="en-US" sz="800" smtClean="0">
                <a:solidFill>
                  <a:srgbClr val="FF0066"/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r>
              <a:rPr lang="en-US" altLang="ko-KR" sz="800" smtClean="0">
                <a:solidFill>
                  <a:srgbClr val="FF0066"/>
                </a:solidFill>
                <a:latin typeface="나눔고딕" panose="020B0600000101010101" charset="-127"/>
                <a:ea typeface="나눔고딕" panose="020B0600000101010101" charset="-127"/>
              </a:rPr>
              <a:t>area</a:t>
            </a:r>
            <a:endParaRPr lang="ko-KR" altLang="en-US" sz="800" smtClean="0">
              <a:solidFill>
                <a:srgbClr val="FF0066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1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649912"/>
              </p:ext>
            </p:extLst>
          </p:nvPr>
        </p:nvGraphicFramePr>
        <p:xfrm>
          <a:off x="9290533" y="786383"/>
          <a:ext cx="2835467" cy="967064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5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월간 별 리스트 인쇄보기 팝업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출력방식은 현행 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월간에 따른 기간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출력방식은 현행 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270097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인쇄보기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_window pop-up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일정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43499" y="1250908"/>
            <a:ext cx="1666875" cy="20641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2017-11-01(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 ~ 2017.11.30(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목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289325" y="739868"/>
            <a:ext cx="178657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29375" y="1371600"/>
            <a:ext cx="542925" cy="2095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rgbClr val="FF0066"/>
                </a:solidFill>
                <a:latin typeface="+mn-ea"/>
                <a:ea typeface="+mn-ea"/>
              </a:rPr>
              <a:t>//</a:t>
            </a:r>
            <a:r>
              <a:rPr lang="ko-KR" altLang="en-US" sz="800" smtClean="0">
                <a:solidFill>
                  <a:srgbClr val="FF0066"/>
                </a:solidFill>
                <a:latin typeface="+mn-ea"/>
                <a:ea typeface="+mn-ea"/>
              </a:rPr>
              <a:t>월간</a:t>
            </a:r>
          </a:p>
        </p:txBody>
      </p:sp>
      <p:sp>
        <p:nvSpPr>
          <p:cNvPr id="36" name="사각형 설명선 35"/>
          <p:cNvSpPr/>
          <p:nvPr/>
        </p:nvSpPr>
        <p:spPr>
          <a:xfrm>
            <a:off x="7324725" y="1152525"/>
            <a:ext cx="1838325" cy="904875"/>
          </a:xfrm>
          <a:prstGeom prst="wedgeRectCallout">
            <a:avLst>
              <a:gd name="adj1" fmla="val -80349"/>
              <a:gd name="adj2" fmla="val -30132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43774" y="1250908"/>
            <a:ext cx="1666875" cy="20641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2017-11-05(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 ~ 2017.11.11(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토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43774" y="1593808"/>
            <a:ext cx="1666875" cy="20641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2017-11-09(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목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24900" y="1400175"/>
            <a:ext cx="542925" cy="2095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rgbClr val="FF0066"/>
                </a:solidFill>
                <a:latin typeface="+mn-ea"/>
                <a:ea typeface="+mn-ea"/>
              </a:rPr>
              <a:t>//</a:t>
            </a:r>
            <a:r>
              <a:rPr lang="ko-KR" altLang="en-US" sz="800" smtClean="0">
                <a:solidFill>
                  <a:srgbClr val="FF0066"/>
                </a:solidFill>
                <a:latin typeface="+mn-ea"/>
                <a:ea typeface="+mn-ea"/>
              </a:rPr>
              <a:t>주간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58150" y="1685925"/>
            <a:ext cx="542925" cy="2095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rgbClr val="FF0066"/>
                </a:solidFill>
                <a:latin typeface="+mn-ea"/>
                <a:ea typeface="+mn-ea"/>
              </a:rPr>
              <a:t>//</a:t>
            </a:r>
            <a:r>
              <a:rPr lang="ko-KR" altLang="en-US" sz="800" smtClean="0">
                <a:solidFill>
                  <a:srgbClr val="FF0066"/>
                </a:solidFill>
                <a:latin typeface="+mn-ea"/>
                <a:ea typeface="+mn-ea"/>
              </a:rPr>
              <a:t>일간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CA6.6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29750" y="4143375"/>
            <a:ext cx="914400" cy="914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테이블 인쇄 추가</a:t>
            </a:r>
          </a:p>
        </p:txBody>
      </p:sp>
    </p:spTree>
    <p:extLst>
      <p:ext uri="{BB962C8B-B14F-4D97-AF65-F5344CB8AC3E}">
        <p14:creationId xmlns:p14="http://schemas.microsoft.com/office/powerpoint/2010/main" val="232259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2577" y="399031"/>
            <a:ext cx="670898" cy="21056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</a:t>
            </a:r>
          </a:p>
        </p:txBody>
      </p:sp>
      <p:cxnSp>
        <p:nvCxnSpPr>
          <p:cNvPr id="3" name="직선 연결선[R] 7"/>
          <p:cNvCxnSpPr/>
          <p:nvPr/>
        </p:nvCxnSpPr>
        <p:spPr>
          <a:xfrm>
            <a:off x="2019038" y="1063409"/>
            <a:ext cx="55241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4" name="직선 연결선[R] 7"/>
          <p:cNvCxnSpPr/>
          <p:nvPr/>
        </p:nvCxnSpPr>
        <p:spPr>
          <a:xfrm>
            <a:off x="1971413" y="106340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grpSp>
        <p:nvGrpSpPr>
          <p:cNvPr id="5" name="Group 532"/>
          <p:cNvGrpSpPr/>
          <p:nvPr/>
        </p:nvGrpSpPr>
        <p:grpSpPr>
          <a:xfrm>
            <a:off x="2796428" y="851474"/>
            <a:ext cx="540610" cy="144000"/>
            <a:chOff x="3113961" y="1702107"/>
            <a:chExt cx="540610" cy="144000"/>
          </a:xfrm>
        </p:grpSpPr>
        <p:sp>
          <p:nvSpPr>
            <p:cNvPr id="6" name="Freeform 9"/>
            <p:cNvSpPr>
              <a:spLocks noChangeArrowheads="1"/>
            </p:cNvSpPr>
            <p:nvPr/>
          </p:nvSpPr>
          <p:spPr bwMode="auto">
            <a:xfrm>
              <a:off x="31139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7" name="Freeform 10"/>
            <p:cNvSpPr>
              <a:spLocks noChangeArrowheads="1"/>
            </p:cNvSpPr>
            <p:nvPr/>
          </p:nvSpPr>
          <p:spPr bwMode="auto">
            <a:xfrm>
              <a:off x="32475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8" name="Rounded Rectangle 535"/>
            <p:cNvSpPr/>
            <p:nvPr/>
          </p:nvSpPr>
          <p:spPr>
            <a:xfrm>
              <a:off x="3373429" y="1702107"/>
              <a:ext cx="281142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오늘</a:t>
              </a: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</p:grpSp>
      <p:sp>
        <p:nvSpPr>
          <p:cNvPr id="9" name="텍스트 상자 31"/>
          <p:cNvSpPr txBox="1"/>
          <p:nvPr/>
        </p:nvSpPr>
        <p:spPr>
          <a:xfrm>
            <a:off x="2076471" y="859108"/>
            <a:ext cx="78817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2017.09.07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굴림" pitchFamily="50" charset="-127"/>
              <a:cs typeface="+mn-cs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6962591" y="829761"/>
            <a:ext cx="1030245" cy="180000"/>
            <a:chOff x="6443058" y="1673426"/>
            <a:chExt cx="1030245" cy="180000"/>
          </a:xfrm>
        </p:grpSpPr>
        <p:grpSp>
          <p:nvGrpSpPr>
            <p:cNvPr id="11" name="Group 21"/>
            <p:cNvGrpSpPr/>
            <p:nvPr/>
          </p:nvGrpSpPr>
          <p:grpSpPr>
            <a:xfrm>
              <a:off x="6443058" y="1673426"/>
              <a:ext cx="344208" cy="180000"/>
              <a:chOff x="6706916" y="1673426"/>
              <a:chExt cx="344208" cy="180000"/>
            </a:xfrm>
          </p:grpSpPr>
          <p:sp>
            <p:nvSpPr>
              <p:cNvPr id="23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4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5" name="Rectangle 625"/>
              <p:cNvSpPr/>
              <p:nvPr/>
            </p:nvSpPr>
            <p:spPr>
              <a:xfrm>
                <a:off x="6745093" y="1714887"/>
                <a:ext cx="77071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6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월간</a:t>
                </a:r>
                <a:endParaRPr kumimoji="1" lang="ko-KR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" name="Group 548"/>
            <p:cNvGrpSpPr/>
            <p:nvPr/>
          </p:nvGrpSpPr>
          <p:grpSpPr>
            <a:xfrm>
              <a:off x="6784180" y="1673426"/>
              <a:ext cx="344208" cy="180000"/>
              <a:chOff x="6706916" y="1673426"/>
              <a:chExt cx="344208" cy="180000"/>
            </a:xfrm>
          </p:grpSpPr>
          <p:sp>
            <p:nvSpPr>
              <p:cNvPr id="21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2" name="텍스트 상자 31"/>
              <p:cNvSpPr txBox="1"/>
              <p:nvPr/>
            </p:nvSpPr>
            <p:spPr>
              <a:xfrm>
                <a:off x="6852300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주간</a:t>
                </a:r>
                <a:endParaRPr kumimoji="1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" name="Group 22"/>
            <p:cNvGrpSpPr/>
            <p:nvPr/>
          </p:nvGrpSpPr>
          <p:grpSpPr>
            <a:xfrm>
              <a:off x="6812150" y="1714887"/>
              <a:ext cx="102895" cy="76173"/>
              <a:chOff x="7271815" y="1714887"/>
              <a:chExt cx="102895" cy="76173"/>
            </a:xfrm>
          </p:grpSpPr>
          <p:sp>
            <p:nvSpPr>
              <p:cNvPr id="18" name="Rectangle 625"/>
              <p:cNvSpPr/>
              <p:nvPr/>
            </p:nvSpPr>
            <p:spPr>
              <a:xfrm>
                <a:off x="7338279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9" name="Rectangle 625"/>
              <p:cNvSpPr/>
              <p:nvPr/>
            </p:nvSpPr>
            <p:spPr>
              <a:xfrm>
                <a:off x="7305047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0" name="Rectangle 625"/>
              <p:cNvSpPr/>
              <p:nvPr/>
            </p:nvSpPr>
            <p:spPr>
              <a:xfrm>
                <a:off x="7271815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</p:grpSp>
        <p:grpSp>
          <p:nvGrpSpPr>
            <p:cNvPr id="14" name="Group 553"/>
            <p:cNvGrpSpPr/>
            <p:nvPr/>
          </p:nvGrpSpPr>
          <p:grpSpPr>
            <a:xfrm>
              <a:off x="7129095" y="1673426"/>
              <a:ext cx="344208" cy="180000"/>
              <a:chOff x="6706916" y="1673426"/>
              <a:chExt cx="344208" cy="180000"/>
            </a:xfrm>
          </p:grpSpPr>
          <p:sp>
            <p:nvSpPr>
              <p:cNvPr id="15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noFill/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6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7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일간</a:t>
                </a:r>
                <a:endParaRPr kumimoji="1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27" name="Group 168"/>
          <p:cNvGrpSpPr/>
          <p:nvPr/>
        </p:nvGrpSpPr>
        <p:grpSpPr>
          <a:xfrm>
            <a:off x="8382109" y="816988"/>
            <a:ext cx="162000" cy="180000"/>
            <a:chOff x="7681408" y="2293428"/>
            <a:chExt cx="161707" cy="180000"/>
          </a:xfrm>
        </p:grpSpPr>
        <p:sp>
          <p:nvSpPr>
            <p:cNvPr id="28" name="Rounded Rectangle 169"/>
            <p:cNvSpPr/>
            <p:nvPr/>
          </p:nvSpPr>
          <p:spPr>
            <a:xfrm>
              <a:off x="7681408" y="2293428"/>
              <a:ext cx="161707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29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pSp>
        <p:nvGrpSpPr>
          <p:cNvPr id="30" name="그룹 29"/>
          <p:cNvGrpSpPr/>
          <p:nvPr/>
        </p:nvGrpSpPr>
        <p:grpSpPr>
          <a:xfrm>
            <a:off x="8089890" y="817141"/>
            <a:ext cx="216000" cy="180000"/>
            <a:chOff x="8455344" y="813130"/>
            <a:chExt cx="216000" cy="180000"/>
          </a:xfrm>
        </p:grpSpPr>
        <p:sp>
          <p:nvSpPr>
            <p:cNvPr id="31" name="Rounded Rectangle 169"/>
            <p:cNvSpPr/>
            <p:nvPr/>
          </p:nvSpPr>
          <p:spPr>
            <a:xfrm>
              <a:off x="8455344" y="813130"/>
              <a:ext cx="216000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pic>
          <p:nvPicPr>
            <p:cNvPr id="32" name="내용 개체 틀 3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3805" y="824238"/>
              <a:ext cx="162000" cy="162000"/>
            </a:xfrm>
            <a:prstGeom prst="rect">
              <a:avLst/>
            </a:prstGeom>
          </p:spPr>
        </p:pic>
      </p:grpSp>
      <p:grpSp>
        <p:nvGrpSpPr>
          <p:cNvPr id="3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5698365" y="825436"/>
            <a:ext cx="1173764" cy="196977"/>
            <a:chOff x="554563" y="2599933"/>
            <a:chExt cx="1173764" cy="196977"/>
          </a:xfrm>
        </p:grpSpPr>
        <p:sp>
          <p:nvSpPr>
            <p:cNvPr id="3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5" name="Label" descr="&lt;SmartSettings&gt;&lt;SmartResize anchorLeft=&quot;Absolute&quot; anchorTop=&quot;Absolute&quot; anchorRight=&quot;Absolute&quot; anchorBottom=&quot;Absolute&quot; /&gt;&lt;/SmartSettings&gt;"/>
            <p:cNvSpPr txBox="1"/>
            <p:nvPr>
              <p:custDataLst>
                <p:tags r:id="rId6"/>
              </p:custDataLst>
            </p:nvPr>
          </p:nvSpPr>
          <p:spPr>
            <a:xfrm>
              <a:off x="686119" y="2599933"/>
              <a:ext cx="1042208" cy="19697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플래그 일정만 보기</a:t>
              </a:r>
            </a:p>
          </p:txBody>
        </p:sp>
        <p:sp>
          <p:nvSpPr>
            <p:cNvPr id="36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8645870" y="813534"/>
            <a:ext cx="354278" cy="203200"/>
            <a:chOff x="7121870" y="765909"/>
            <a:chExt cx="354278" cy="203200"/>
          </a:xfrm>
        </p:grpSpPr>
        <p:sp>
          <p:nvSpPr>
            <p:cNvPr id="38" name="직사각형 37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▼</a:t>
              </a:r>
              <a:endParaRPr kumimoji="1" lang="ko-KR" alt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sp>
        <p:nvSpPr>
          <p:cNvPr id="40" name="직사각형 39"/>
          <p:cNvSpPr/>
          <p:nvPr/>
        </p:nvSpPr>
        <p:spPr>
          <a:xfrm>
            <a:off x="5995812" y="1045920"/>
            <a:ext cx="2981716" cy="19163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076950" y="2599270"/>
            <a:ext cx="622534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sng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항목 초기화</a:t>
            </a:r>
            <a:endParaRPr kumimoji="1" lang="ko-KR" altLang="en-US" sz="800" b="0" i="0" u="sng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8277305" y="2575205"/>
            <a:ext cx="556726" cy="21907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1" name="타원 70"/>
          <p:cNvSpPr/>
          <p:nvPr/>
        </p:nvSpPr>
        <p:spPr>
          <a:xfrm>
            <a:off x="5917050" y="2638273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6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74" name="타원 73"/>
          <p:cNvSpPr/>
          <p:nvPr/>
        </p:nvSpPr>
        <p:spPr>
          <a:xfrm>
            <a:off x="8931474" y="728188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1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7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667597"/>
              </p:ext>
            </p:extLst>
          </p:nvPr>
        </p:nvGraphicFramePr>
        <p:xfrm>
          <a:off x="9290533" y="786383"/>
          <a:ext cx="2835141" cy="4011005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검색창 출력 버튼으로 클릭시 검색창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레이어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재차 클릭시 검색창 닫힘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검색을 할 수 없는 환경설정에는 출력하지 않음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달력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일정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(default),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달력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일정 구분을 선택할 수 있는 항목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달력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’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선택시에만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2-1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항목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08761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2-1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달력 선택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select box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달력 분류 없이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모든 달력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37311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클릭시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수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발신자를 지정할 수 있는 조직도 팝업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대상수는 복수 선택 가능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동일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40564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기간은 오늘 날짜 기준으로 </a:t>
                      </a:r>
                      <a:r>
                        <a:rPr lang="en-US" altLang="ko-KR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1</a:t>
                      </a:r>
                      <a:r>
                        <a:rPr lang="ko-KR" altLang="en-US" sz="800" kern="12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개월으로 기본으로 제공</a:t>
                      </a:r>
                      <a:endParaRPr lang="en-US" altLang="ko-KR" sz="800" kern="1200" baseline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  <a:p>
                      <a:pPr marL="182563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Select box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 항목은 </a:t>
                      </a:r>
                      <a:r>
                        <a:rPr kumimoji="1" lang="en-US" altLang="ko-KR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as-is 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동일</a:t>
                      </a:r>
                      <a:endParaRPr kumimoji="1" lang="en-US" altLang="ko-KR" sz="8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2563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캘린더 아이콘 클릭시 캘리더 모듈이 출력되며</a:t>
                      </a:r>
                      <a:r>
                        <a:rPr kumimoji="1" lang="en-US" altLang="ko-KR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selectbox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는 </a:t>
                      </a:r>
                      <a:r>
                        <a:rPr kumimoji="1" lang="en-US" altLang="ko-KR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직접선택</a:t>
                      </a:r>
                      <a:r>
                        <a:rPr kumimoji="1" lang="en-US" altLang="ko-KR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’</a:t>
                      </a:r>
                      <a:r>
                        <a:rPr kumimoji="1" lang="ko-KR" altLang="en-US" sz="8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으로 자동 변경</a:t>
                      </a:r>
                      <a:endParaRPr kumimoji="1" lang="en-US" altLang="ko-KR" sz="8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87406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기 입력된 옵션값을 초기화하는 기능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48114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sng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1" lang="ko-KR" altLang="en-US" sz="800" b="0" i="0" u="none" strike="sngStrike" cap="none" normalizeH="0" baseline="0" dirty="0" smtClean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  <a:defRPr sz="2000"/>
                      </a:pPr>
                      <a:r>
                        <a:rPr kumimoji="1" lang="ko-KR" altLang="en-US" sz="800" b="0" i="0" u="none" strike="sng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해당 옵션이 체크되어 있을 경우</a:t>
                      </a:r>
                      <a:r>
                        <a:rPr kumimoji="1" lang="en-US" altLang="ko-KR" sz="800" b="0" i="0" u="none" strike="sng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sng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검색결과 출력시 검색창</a:t>
                      </a:r>
                      <a:r>
                        <a:rPr kumimoji="1" lang="en-US" altLang="ko-KR" sz="800" b="0" i="0" u="none" strike="sng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sng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레이어</a:t>
                      </a:r>
                      <a:r>
                        <a:rPr kumimoji="1" lang="en-US" altLang="ko-KR" sz="800" b="0" i="0" u="none" strike="sng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1" lang="ko-KR" altLang="en-US" sz="800" b="0" i="0" u="none" strike="sng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닫힘 처리</a:t>
                      </a:r>
                      <a:endParaRPr kumimoji="1" lang="en-US" altLang="ko-KR" sz="800" b="0" i="0" u="none" strike="sng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2563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  <a:defRPr sz="2000"/>
                      </a:pPr>
                      <a:r>
                        <a:rPr kumimoji="1" lang="ko-KR" altLang="en-US" sz="800" b="0" i="0" u="none" strike="sngStrike" cap="none" normalizeH="0" baseline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기본은 해제</a:t>
                      </a:r>
                      <a:endParaRPr kumimoji="1" lang="en-US" altLang="ko-KR" sz="800" b="0" i="0" u="none" strike="sngStrike" cap="none" normalizeH="0" baseline="0" smtClean="0">
                        <a:ln>
                          <a:noFill/>
                        </a:ln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501235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  <a:defRPr sz="2000"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클릭시 입력 및 선택항목으로 검색결과 화면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2563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panose="020B0604020202020204" pitchFamily="34" charset="0"/>
                        <a:buChar char="•"/>
                        <a:tabLst>
                          <a:tab pos="0" algn="l"/>
                        </a:tabLst>
                        <a:defRPr sz="2000"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검색결과 출력시 입력된 검색 조건들은 유지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464610"/>
                  </a:ext>
                </a:extLst>
              </a:tr>
            </a:tbl>
          </a:graphicData>
        </a:graphic>
      </p:graphicFrame>
      <p:sp>
        <p:nvSpPr>
          <p:cNvPr id="83" name="TextBox 82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CA6.10</a:t>
            </a:r>
            <a:endParaRPr kumimoji="1" lang="ko-KR" altLang="en-US" sz="800" b="1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942565"/>
              </p:ext>
            </p:extLst>
          </p:nvPr>
        </p:nvGraphicFramePr>
        <p:xfrm>
          <a:off x="6047102" y="1143555"/>
          <a:ext cx="2892426" cy="13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625">
                  <a:extLst>
                    <a:ext uri="{9D8B030D-6E8A-4147-A177-3AD203B41FA5}">
                      <a16:colId xmlns:a16="http://schemas.microsoft.com/office/drawing/2014/main" val="2958596753"/>
                    </a:ext>
                  </a:extLst>
                </a:gridCol>
                <a:gridCol w="2209801">
                  <a:extLst>
                    <a:ext uri="{9D8B030D-6E8A-4147-A177-3AD203B41FA5}">
                      <a16:colId xmlns:a16="http://schemas.microsoft.com/office/drawing/2014/main" val="87343257"/>
                    </a:ext>
                  </a:extLst>
                </a:gridCol>
              </a:tblGrid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기간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254880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제목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  달력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+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일정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     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달력      일정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28158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구분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달력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일정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달력       일정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65617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98105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작성자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36314"/>
                  </a:ext>
                </a:extLst>
              </a:tr>
            </a:tbl>
          </a:graphicData>
        </a:graphic>
      </p:graphicFrame>
      <p:sp>
        <p:nvSpPr>
          <p:cNvPr id="82" name="직사각형 81"/>
          <p:cNvSpPr/>
          <p:nvPr/>
        </p:nvSpPr>
        <p:spPr>
          <a:xfrm>
            <a:off x="6756865" y="1906997"/>
            <a:ext cx="2038090" cy="2095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전체 딜력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		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▼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6756865" y="1444541"/>
            <a:ext cx="2038090" cy="20955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pSp>
        <p:nvGrpSpPr>
          <p:cNvPr id="87" name="그룹 86"/>
          <p:cNvGrpSpPr/>
          <p:nvPr/>
        </p:nvGrpSpPr>
        <p:grpSpPr>
          <a:xfrm>
            <a:off x="6756865" y="2216770"/>
            <a:ext cx="2038090" cy="204603"/>
            <a:chOff x="6788094" y="1667828"/>
            <a:chExt cx="2024439" cy="204603"/>
          </a:xfrm>
        </p:grpSpPr>
        <p:sp>
          <p:nvSpPr>
            <p:cNvPr id="88" name="직사각형 87"/>
            <p:cNvSpPr/>
            <p:nvPr/>
          </p:nvSpPr>
          <p:spPr>
            <a:xfrm>
              <a:off x="6840703" y="1670441"/>
              <a:ext cx="1971830" cy="20198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   </a:t>
              </a: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9" name="그룹 88"/>
            <p:cNvGrpSpPr/>
            <p:nvPr/>
          </p:nvGrpSpPr>
          <p:grpSpPr>
            <a:xfrm>
              <a:off x="6788094" y="1667828"/>
              <a:ext cx="211565" cy="204603"/>
              <a:chOff x="4492569" y="5265446"/>
              <a:chExt cx="211565" cy="204603"/>
            </a:xfrm>
          </p:grpSpPr>
          <p:sp>
            <p:nvSpPr>
              <p:cNvPr id="90" name="모서리가 둥근 직사각형 89"/>
              <p:cNvSpPr/>
              <p:nvPr/>
            </p:nvSpPr>
            <p:spPr>
              <a:xfrm>
                <a:off x="4492569" y="5265446"/>
                <a:ext cx="211565" cy="204603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pic>
            <p:nvPicPr>
              <p:cNvPr id="91" name="그림 90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56303" y="5299912"/>
                <a:ext cx="104100" cy="124921"/>
              </a:xfrm>
              <a:prstGeom prst="rect">
                <a:avLst/>
              </a:prstGeom>
            </p:spPr>
          </p:pic>
        </p:grpSp>
      </p:grpSp>
      <p:grpSp>
        <p:nvGrpSpPr>
          <p:cNvPr id="42" name="그룹 41"/>
          <p:cNvGrpSpPr/>
          <p:nvPr/>
        </p:nvGrpSpPr>
        <p:grpSpPr>
          <a:xfrm>
            <a:off x="6756865" y="1162133"/>
            <a:ext cx="2017568" cy="209550"/>
            <a:chOff x="4452953" y="3202019"/>
            <a:chExt cx="2017568" cy="209550"/>
          </a:xfrm>
        </p:grpSpPr>
        <p:sp>
          <p:nvSpPr>
            <p:cNvPr id="92" name="직사각형 91"/>
            <p:cNvSpPr/>
            <p:nvPr/>
          </p:nvSpPr>
          <p:spPr>
            <a:xfrm>
              <a:off x="4452953" y="3202019"/>
              <a:ext cx="461807" cy="20955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한달 ▼</a:t>
              </a:r>
              <a:endParaRPr kumimoji="1" lang="ko-KR" alt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4967607" y="3202019"/>
              <a:ext cx="698402" cy="20955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6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2018-01-26</a:t>
              </a:r>
              <a:endParaRPr kumimoji="1" lang="ko-KR" alt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5772119" y="3202019"/>
              <a:ext cx="698402" cy="20955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6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2018-02-26</a:t>
              </a:r>
              <a:endParaRPr kumimoji="1" lang="ko-KR" alt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95" name="그림 94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10246" y="3232513"/>
              <a:ext cx="134369" cy="134369"/>
            </a:xfrm>
            <a:prstGeom prst="rect">
              <a:avLst/>
            </a:prstGeom>
          </p:spPr>
        </p:pic>
        <p:pic>
          <p:nvPicPr>
            <p:cNvPr id="96" name="그림 9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3580" y="3232513"/>
              <a:ext cx="134369" cy="134369"/>
            </a:xfrm>
            <a:prstGeom prst="rect">
              <a:avLst/>
            </a:prstGeom>
          </p:spPr>
        </p:pic>
      </p:grpSp>
      <p:grpSp>
        <p:nvGrpSpPr>
          <p:cNvPr id="43" name="그룹 42"/>
          <p:cNvGrpSpPr/>
          <p:nvPr/>
        </p:nvGrpSpPr>
        <p:grpSpPr>
          <a:xfrm>
            <a:off x="6754640" y="3370945"/>
            <a:ext cx="2017568" cy="2093804"/>
            <a:chOff x="6010363" y="3219449"/>
            <a:chExt cx="2017568" cy="2093804"/>
          </a:xfrm>
        </p:grpSpPr>
        <p:sp>
          <p:nvSpPr>
            <p:cNvPr id="98" name="직사각형 97"/>
            <p:cNvSpPr/>
            <p:nvPr/>
          </p:nvSpPr>
          <p:spPr>
            <a:xfrm>
              <a:off x="6010363" y="3219449"/>
              <a:ext cx="2017568" cy="20955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전체 달력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		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▼</a:t>
              </a: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6010363" y="3428998"/>
              <a:ext cx="2017568" cy="188425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t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2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 달력</a:t>
              </a:r>
              <a:endPara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2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 일정</a:t>
              </a:r>
              <a:endPara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2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김핸디 업무일정</a:t>
              </a:r>
              <a:endPara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2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UI</a:t>
              </a: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 프로젝트 일정 공유</a:t>
              </a:r>
              <a:endPara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2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</a:t>
              </a:r>
              <a:r>
                <a:rPr lang="en-US" altLang="ko-KR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 휴가일 공유</a:t>
              </a:r>
              <a:endPara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2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UX </a:t>
              </a: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디자인팀</a:t>
              </a:r>
              <a:endPara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2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자동차 </a:t>
              </a:r>
              <a:r>
                <a:rPr lang="en-US" altLang="ko-KR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UX</a:t>
              </a: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</a:t>
              </a:r>
              <a:endPara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2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0" name="모서리가 둥근 직사각형 99"/>
            <p:cNvSpPr/>
            <p:nvPr/>
          </p:nvSpPr>
          <p:spPr>
            <a:xfrm>
              <a:off x="7922925" y="3503504"/>
              <a:ext cx="45719" cy="1095375"/>
            </a:xfrm>
            <a:prstGeom prst="roundRect">
              <a:avLst>
                <a:gd name="adj" fmla="val 49231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69" name="타원 68"/>
          <p:cNvSpPr/>
          <p:nvPr/>
        </p:nvSpPr>
        <p:spPr>
          <a:xfrm>
            <a:off x="5917050" y="1721441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2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6567367" y="2233468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4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107" name="타원 106"/>
          <p:cNvSpPr/>
          <p:nvPr/>
        </p:nvSpPr>
        <p:spPr>
          <a:xfrm>
            <a:off x="5917050" y="1151846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5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108" name="타원 107"/>
          <p:cNvSpPr/>
          <p:nvPr/>
        </p:nvSpPr>
        <p:spPr>
          <a:xfrm>
            <a:off x="8187810" y="2512543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8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1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132284"/>
              </p:ext>
            </p:extLst>
          </p:nvPr>
        </p:nvGraphicFramePr>
        <p:xfrm>
          <a:off x="9273811" y="6198618"/>
          <a:ext cx="2835141" cy="469229"/>
        </p:xfrm>
        <a:graphic>
          <a:graphicData uri="http://schemas.openxmlformats.org/drawingml/2006/table">
            <a:tbl>
              <a:tblPr/>
              <a:tblGrid>
                <a:gridCol w="2835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2/26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화면 수정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검색입력창 화면 전체 수정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grpSp>
        <p:nvGrpSpPr>
          <p:cNvPr id="41" name="그룹 40"/>
          <p:cNvGrpSpPr/>
          <p:nvPr/>
        </p:nvGrpSpPr>
        <p:grpSpPr>
          <a:xfrm>
            <a:off x="6740775" y="1729207"/>
            <a:ext cx="1314450" cy="133350"/>
            <a:chOff x="6763635" y="1470127"/>
            <a:chExt cx="1314450" cy="133350"/>
          </a:xfrm>
        </p:grpSpPr>
        <p:grpSp>
          <p:nvGrpSpPr>
            <p:cNvPr id="11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  <p:cNvGrpSpPr/>
            <p:nvPr>
              <p:custDataLst>
                <p:tags r:id="rId2"/>
              </p:custDataLst>
            </p:nvPr>
          </p:nvGrpSpPr>
          <p:grpSpPr>
            <a:xfrm>
              <a:off x="6763635" y="1470127"/>
              <a:ext cx="133350" cy="133350"/>
              <a:chOff x="593892" y="1624671"/>
              <a:chExt cx="133350" cy="133350"/>
            </a:xfrm>
          </p:grpSpPr>
          <p:sp>
            <p:nvSpPr>
              <p:cNvPr id="116" name="Circle" descr="&lt;Tags&gt;&lt;SMARTRESIZEANCHORS&gt;None,None,Absolute,None&lt;/SMARTRESIZEANCHORS&gt;&lt;/Tags&gt;"/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7" name="Check" descr="&lt;Tags&gt;&lt;SMARTRESIZEANCHORS&gt;None,None,Absolute,None&lt;/SMARTRESIZEANCHORS&gt;&lt;/Tags&gt;"/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2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  <p:cNvGrpSpPr/>
            <p:nvPr>
              <p:custDataLst>
                <p:tags r:id="rId3"/>
              </p:custDataLst>
            </p:nvPr>
          </p:nvGrpSpPr>
          <p:grpSpPr>
            <a:xfrm>
              <a:off x="7502775" y="1470127"/>
              <a:ext cx="133350" cy="133350"/>
              <a:chOff x="593892" y="1624671"/>
              <a:chExt cx="133350" cy="133350"/>
            </a:xfrm>
          </p:grpSpPr>
          <p:sp>
            <p:nvSpPr>
              <p:cNvPr id="125" name="Circle" descr="&lt;Tags&gt;&lt;SMARTRESIZEANCHORS&gt;None,None,Absolute,None&lt;/SMARTRESIZEANCHORS&gt;&lt;/Tags&gt;"/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6" name="Check" descr="&lt;Tags&gt;&lt;SMARTRESIZEANCHORS&gt;None,None,Absolute,None&lt;/SMARTRESIZEANCHORS&gt;&lt;/Tags&gt;" hidden="1"/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2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  <p:cNvGrpSpPr/>
            <p:nvPr>
              <p:custDataLst>
                <p:tags r:id="rId4"/>
              </p:custDataLst>
            </p:nvPr>
          </p:nvGrpSpPr>
          <p:grpSpPr>
            <a:xfrm>
              <a:off x="7944735" y="1470127"/>
              <a:ext cx="133350" cy="133350"/>
              <a:chOff x="593892" y="1624671"/>
              <a:chExt cx="133350" cy="133350"/>
            </a:xfrm>
          </p:grpSpPr>
          <p:sp>
            <p:nvSpPr>
              <p:cNvPr id="128" name="Circle" descr="&lt;Tags&gt;&lt;SMARTRESIZEANCHORS&gt;None,None,Absolute,None&lt;/SMARTRESIZEANCHORS&gt;&lt;/Tags&gt;"/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9" name="Check" descr="&lt;Tags&gt;&lt;SMARTRESIZEANCHORS&gt;None,None,Absolute,None&lt;/SMARTRESIZEANCHORS&gt;&lt;/Tags&gt;" hidden="1"/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7" name="타원 76"/>
          <p:cNvSpPr/>
          <p:nvPr/>
        </p:nvSpPr>
        <p:spPr>
          <a:xfrm>
            <a:off x="6658807" y="1977799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2-1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cxnSp>
        <p:nvCxnSpPr>
          <p:cNvPr id="45" name="꺾인 연결선 44"/>
          <p:cNvCxnSpPr>
            <a:stCxn id="82" idx="3"/>
            <a:endCxn id="98" idx="3"/>
          </p:cNvCxnSpPr>
          <p:nvPr/>
        </p:nvCxnSpPr>
        <p:spPr>
          <a:xfrm flipH="1">
            <a:off x="8772208" y="2011772"/>
            <a:ext cx="22747" cy="1463948"/>
          </a:xfrm>
          <a:prstGeom prst="bentConnector3">
            <a:avLst>
              <a:gd name="adj1" fmla="val -1004968"/>
            </a:avLst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9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2577" y="399031"/>
            <a:ext cx="670898" cy="21056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</a:t>
            </a:r>
          </a:p>
        </p:txBody>
      </p:sp>
      <p:cxnSp>
        <p:nvCxnSpPr>
          <p:cNvPr id="3" name="직선 연결선[R] 7"/>
          <p:cNvCxnSpPr/>
          <p:nvPr/>
        </p:nvCxnSpPr>
        <p:spPr>
          <a:xfrm>
            <a:off x="2019038" y="1063409"/>
            <a:ext cx="55241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4" name="직선 연결선[R] 7"/>
          <p:cNvCxnSpPr/>
          <p:nvPr/>
        </p:nvCxnSpPr>
        <p:spPr>
          <a:xfrm>
            <a:off x="1971413" y="106340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9" name="텍스트 상자 31"/>
          <p:cNvSpPr txBox="1"/>
          <p:nvPr/>
        </p:nvSpPr>
        <p:spPr>
          <a:xfrm>
            <a:off x="2076471" y="859108"/>
            <a:ext cx="78817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 결과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8645870" y="813534"/>
            <a:ext cx="354278" cy="203200"/>
            <a:chOff x="7121870" y="765909"/>
            <a:chExt cx="354278" cy="203200"/>
          </a:xfrm>
        </p:grpSpPr>
        <p:sp>
          <p:nvSpPr>
            <p:cNvPr id="38" name="직사각형 37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▼</a:t>
              </a:r>
              <a:endParaRPr kumimoji="1" lang="ko-KR" alt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883553"/>
              </p:ext>
            </p:extLst>
          </p:nvPr>
        </p:nvGraphicFramePr>
        <p:xfrm>
          <a:off x="1976282" y="1080719"/>
          <a:ext cx="7045482" cy="3354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77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3239141">
                  <a:extLst>
                    <a:ext uri="{9D8B030D-6E8A-4147-A177-3AD203B41FA5}">
                      <a16:colId xmlns:a16="http://schemas.microsoft.com/office/drawing/2014/main" val="152764876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231801258"/>
                    </a:ext>
                  </a:extLst>
                </a:gridCol>
                <a:gridCol w="1139032">
                  <a:extLst>
                    <a:ext uri="{9D8B030D-6E8A-4147-A177-3AD203B41FA5}">
                      <a16:colId xmlns:a16="http://schemas.microsoft.com/office/drawing/2014/main" val="3954956524"/>
                    </a:ext>
                  </a:extLst>
                </a:gridCol>
                <a:gridCol w="1139032">
                  <a:extLst>
                    <a:ext uri="{9D8B030D-6E8A-4147-A177-3AD203B41FA5}">
                      <a16:colId xmlns:a16="http://schemas.microsoft.com/office/drawing/2014/main" val="557283381"/>
                    </a:ext>
                  </a:extLst>
                </a:gridCol>
              </a:tblGrid>
              <a:tr h="3049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종류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작성자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시작일시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종료일시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개인 달력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공유받은 달력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스퀘어 달력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구독 달력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공유받은 일정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1867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공유받은 달력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575809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스퀘어 달력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31274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구독 달력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36497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개인 달력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276746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공유받은 달력</a:t>
                      </a: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657768"/>
                  </a:ext>
                </a:extLst>
              </a:tr>
            </a:tbl>
          </a:graphicData>
        </a:graphic>
      </p:graphicFrame>
      <p:grpSp>
        <p:nvGrpSpPr>
          <p:cNvPr id="69" name="그룹 68"/>
          <p:cNvGrpSpPr/>
          <p:nvPr/>
        </p:nvGrpSpPr>
        <p:grpSpPr>
          <a:xfrm>
            <a:off x="7273885" y="816233"/>
            <a:ext cx="866095" cy="205990"/>
            <a:chOff x="8129256" y="1219200"/>
            <a:chExt cx="866095" cy="205990"/>
          </a:xfrm>
        </p:grpSpPr>
        <p:sp>
          <p:nvSpPr>
            <p:cNvPr id="70" name="모서리가 둥근 직사각형 69"/>
            <p:cNvSpPr/>
            <p:nvPr/>
          </p:nvSpPr>
          <p:spPr>
            <a:xfrm>
              <a:off x="8129256" y="1219200"/>
              <a:ext cx="866095" cy="20599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3175" cap="flat" cmpd="sng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달력보기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71" name="그림 7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7165" y="1253440"/>
              <a:ext cx="141069" cy="141069"/>
            </a:xfrm>
            <a:prstGeom prst="rect">
              <a:avLst/>
            </a:prstGeom>
          </p:spPr>
        </p:pic>
      </p:grpSp>
      <p:grpSp>
        <p:nvGrpSpPr>
          <p:cNvPr id="72" name="그룹 71"/>
          <p:cNvGrpSpPr/>
          <p:nvPr/>
        </p:nvGrpSpPr>
        <p:grpSpPr>
          <a:xfrm>
            <a:off x="8182047" y="815947"/>
            <a:ext cx="457017" cy="209550"/>
            <a:chOff x="6935345" y="1198923"/>
            <a:chExt cx="457017" cy="209550"/>
          </a:xfrm>
        </p:grpSpPr>
        <p:sp>
          <p:nvSpPr>
            <p:cNvPr id="73" name="직사각형 72"/>
            <p:cNvSpPr/>
            <p:nvPr/>
          </p:nvSpPr>
          <p:spPr>
            <a:xfrm>
              <a:off x="6935345" y="1198923"/>
              <a:ext cx="421005" cy="209550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15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개</a:t>
              </a: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 rot="5400000">
              <a:off x="7195363" y="1196328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4295800" y="4505324"/>
            <a:ext cx="2199772" cy="157041"/>
            <a:chOff x="4513478" y="6457949"/>
            <a:chExt cx="2199772" cy="157041"/>
          </a:xfrm>
        </p:grpSpPr>
        <p:sp>
          <p:nvSpPr>
            <p:cNvPr id="76" name="텍스트 상자 31"/>
            <p:cNvSpPr txBox="1"/>
            <p:nvPr/>
          </p:nvSpPr>
          <p:spPr>
            <a:xfrm>
              <a:off x="4513478" y="6476915"/>
              <a:ext cx="169879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&lt;&lt;   &lt;  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en-US" altLang="ko-KR" sz="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  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   &gt;&gt;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6150902" y="6457949"/>
              <a:ext cx="321114" cy="157041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78" name="텍스트 상자 31"/>
            <p:cNvSpPr txBox="1"/>
            <p:nvPr/>
          </p:nvSpPr>
          <p:spPr>
            <a:xfrm>
              <a:off x="6460735" y="6471999"/>
              <a:ext cx="252515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 3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79" name="타원 78"/>
          <p:cNvSpPr/>
          <p:nvPr/>
        </p:nvSpPr>
        <p:spPr>
          <a:xfrm>
            <a:off x="7207449" y="747238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2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3454599" y="1452088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3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82" name="타원 81"/>
          <p:cNvSpPr/>
          <p:nvPr/>
        </p:nvSpPr>
        <p:spPr>
          <a:xfrm>
            <a:off x="1882974" y="832963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1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8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532127"/>
              </p:ext>
            </p:extLst>
          </p:nvPr>
        </p:nvGraphicFramePr>
        <p:xfrm>
          <a:off x="9290533" y="786383"/>
          <a:ext cx="2835141" cy="2078573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검색 결과 화면은 검색 상세 조건에 따른 리스트형으로 출력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클릭시 이전 달력보기 화면으로 화면 전환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화면 전환시 입력된 상세 검색 조건들도 리셋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76783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제목 클릭시</a:t>
                      </a:r>
                      <a:r>
                        <a:rPr lang="en-US" altLang="ko-KR" sz="800" smtClean="0">
                          <a:latin typeface="+mn-ea"/>
                          <a:ea typeface="+mn-ea"/>
                          <a:cs typeface="Nanum Gothic" charset="-127"/>
                        </a:rPr>
                        <a:t>, </a:t>
                      </a: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일정 상세정보 팝업 출력되며</a:t>
                      </a:r>
                      <a:r>
                        <a:rPr lang="en-US" altLang="ko-KR" sz="800" baseline="0" smtClean="0">
                          <a:latin typeface="+mn-ea"/>
                          <a:ea typeface="+mn-ea"/>
                          <a:cs typeface="Nanum Gothic" charset="-127"/>
                        </a:rPr>
                        <a:t> </a:t>
                      </a:r>
                      <a:r>
                        <a:rPr lang="ko-KR" altLang="en-US" sz="800" baseline="0" smtClean="0">
                          <a:latin typeface="+mn-ea"/>
                          <a:ea typeface="+mn-ea"/>
                          <a:cs typeface="Nanum Gothic" charset="-127"/>
                        </a:rPr>
                        <a:t>수정권한에 따라 아래와 같이 분기 처리</a:t>
                      </a:r>
                      <a:endParaRPr lang="en-US" altLang="ko-KR" sz="800" smtClean="0">
                        <a:latin typeface="+mn-ea"/>
                        <a:ea typeface="+mn-ea"/>
                        <a:cs typeface="Nanum Gothic" charset="-127"/>
                      </a:endParaRPr>
                    </a:p>
                    <a:p>
                      <a:pPr marL="182563" indent="-171450" algn="l" defTabSz="914400">
                        <a:buSzPct val="75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수정권한이 없을 경우 </a:t>
                      </a:r>
                      <a:r>
                        <a:rPr lang="en-US" altLang="ko-KR" sz="800" smtClean="0">
                          <a:latin typeface="+mn-ea"/>
                          <a:ea typeface="+mn-ea"/>
                          <a:cs typeface="Nanum Gothic" charset="-127"/>
                        </a:rPr>
                        <a:t>CA6.1.1.3</a:t>
                      </a:r>
                    </a:p>
                    <a:p>
                      <a:pPr marL="182563" indent="-171450" algn="l" defTabSz="914400">
                        <a:buSzPct val="75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수정권한이 있을 경우 </a:t>
                      </a:r>
                      <a:r>
                        <a:rPr lang="en-US" altLang="ko-KR" sz="800" smtClean="0">
                          <a:latin typeface="+mn-ea"/>
                          <a:ea typeface="+mn-ea"/>
                          <a:cs typeface="Nanum Gothic" charset="-127"/>
                        </a:rPr>
                        <a:t>CA6.1.1.4</a:t>
                      </a:r>
                      <a:endParaRPr lang="en-US" altLang="ko-KR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08761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buSzPct val="75000"/>
                        <a:buFont typeface="Arial" panose="020B0604020202020204" pitchFamily="34" charset="0"/>
                        <a:buNone/>
                        <a:tabLst/>
                        <a:defRPr sz="2000"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검색</a:t>
                      </a:r>
                      <a:r>
                        <a:rPr lang="ko-KR" altLang="en-US" sz="800" baseline="0" smtClean="0">
                          <a:latin typeface="+mn-ea"/>
                          <a:ea typeface="+mn-ea"/>
                          <a:cs typeface="Nanum Gothic" charset="-127"/>
                        </a:rPr>
                        <a:t> 조건을 </a:t>
                      </a:r>
                      <a:r>
                        <a:rPr lang="en-US" altLang="ko-KR" sz="800" baseline="0" smtClean="0">
                          <a:latin typeface="+mn-ea"/>
                          <a:ea typeface="+mn-ea"/>
                          <a:cs typeface="Nanum Gothic" charset="-127"/>
                        </a:rPr>
                        <a:t>‘</a:t>
                      </a:r>
                      <a:r>
                        <a:rPr lang="ko-KR" altLang="en-US" sz="800" baseline="0" smtClean="0">
                          <a:latin typeface="+mn-ea"/>
                          <a:ea typeface="+mn-ea"/>
                          <a:cs typeface="Nanum Gothic" charset="-127"/>
                        </a:rPr>
                        <a:t>달력</a:t>
                      </a:r>
                      <a:r>
                        <a:rPr lang="en-US" altLang="ko-KR" sz="800" baseline="0" smtClean="0">
                          <a:latin typeface="+mn-ea"/>
                          <a:ea typeface="+mn-ea"/>
                          <a:cs typeface="Nanum Gothic" charset="-127"/>
                        </a:rPr>
                        <a:t>’</a:t>
                      </a:r>
                      <a:r>
                        <a:rPr lang="ko-KR" altLang="en-US" sz="800" baseline="0" smtClean="0">
                          <a:latin typeface="+mn-ea"/>
                          <a:ea typeface="+mn-ea"/>
                          <a:cs typeface="Nanum Gothic" charset="-127"/>
                        </a:rPr>
                        <a:t>으로 선택했을 경우</a:t>
                      </a:r>
                      <a:r>
                        <a:rPr lang="en-US" altLang="ko-KR" sz="800" baseline="0" smtClean="0">
                          <a:latin typeface="+mn-ea"/>
                          <a:ea typeface="+mn-ea"/>
                          <a:cs typeface="Nanum Gothic" charset="-127"/>
                        </a:rPr>
                        <a:t>, </a:t>
                      </a:r>
                      <a:r>
                        <a:rPr lang="ko-KR" altLang="en-US" sz="800" baseline="0" smtClean="0">
                          <a:latin typeface="+mn-ea"/>
                          <a:ea typeface="+mn-ea"/>
                          <a:cs typeface="Nanum Gothic" charset="-127"/>
                        </a:rPr>
                        <a:t>해당 일정의 달력 구분자를 출력</a:t>
                      </a:r>
                      <a:endParaRPr lang="en-US" altLang="ko-KR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889848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buSzPct val="75000"/>
                        <a:buFont typeface="Arial" panose="020B0604020202020204" pitchFamily="34" charset="0"/>
                        <a:buNone/>
                        <a:tabLst/>
                        <a:defRPr sz="2000"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검색 조건을 </a:t>
                      </a:r>
                      <a:r>
                        <a:rPr lang="en-US" altLang="ko-KR" sz="800" smtClean="0">
                          <a:latin typeface="+mn-ea"/>
                          <a:ea typeface="+mn-ea"/>
                          <a:cs typeface="Nanum Gothic" charset="-127"/>
                        </a:rPr>
                        <a:t>‘</a:t>
                      </a: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공유받은 일정</a:t>
                      </a:r>
                      <a:r>
                        <a:rPr lang="en-US" altLang="ko-KR" sz="800" smtClean="0">
                          <a:latin typeface="+mn-ea"/>
                          <a:ea typeface="+mn-ea"/>
                          <a:cs typeface="Nanum Gothic" charset="-127"/>
                        </a:rPr>
                        <a:t>’</a:t>
                      </a: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을 체크했을 경우</a:t>
                      </a:r>
                      <a:endParaRPr lang="en-US" altLang="ko-KR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342653"/>
                  </a:ext>
                </a:extLst>
              </a:tr>
            </a:tbl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검색결과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CA6.10.1</a:t>
            </a:r>
            <a:endParaRPr kumimoji="1" lang="ko-KR" altLang="en-US" sz="800" b="1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직각 삼각형 28"/>
          <p:cNvSpPr/>
          <p:nvPr/>
        </p:nvSpPr>
        <p:spPr>
          <a:xfrm flipH="1">
            <a:off x="11485306" y="5921713"/>
            <a:ext cx="640019" cy="742447"/>
          </a:xfrm>
          <a:prstGeom prst="rt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+mn-ea"/>
                <a:ea typeface="+mn-ea"/>
              </a:rPr>
              <a:t>01/15</a:t>
            </a:r>
          </a:p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+mn-ea"/>
                <a:ea typeface="+mn-ea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1893297" y="1389753"/>
            <a:ext cx="792753" cy="1220097"/>
          </a:xfrm>
          <a:prstGeom prst="roundRect">
            <a:avLst>
              <a:gd name="adj" fmla="val 11552"/>
            </a:avLst>
          </a:prstGeom>
          <a:noFill/>
          <a:ln w="19050"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1893297" y="2608954"/>
            <a:ext cx="792753" cy="296172"/>
          </a:xfrm>
          <a:prstGeom prst="roundRect">
            <a:avLst>
              <a:gd name="adj" fmla="val 21200"/>
            </a:avLst>
          </a:prstGeom>
          <a:noFill/>
          <a:ln w="19050"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1816299" y="1309213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4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1816299" y="2671288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5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36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2577" y="399031"/>
            <a:ext cx="670898" cy="21056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</a:t>
            </a:r>
          </a:p>
        </p:txBody>
      </p:sp>
      <p:cxnSp>
        <p:nvCxnSpPr>
          <p:cNvPr id="3" name="직선 연결선[R] 7"/>
          <p:cNvCxnSpPr/>
          <p:nvPr/>
        </p:nvCxnSpPr>
        <p:spPr>
          <a:xfrm>
            <a:off x="2019038" y="1063409"/>
            <a:ext cx="55241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4" name="직선 연결선[R] 7"/>
          <p:cNvCxnSpPr/>
          <p:nvPr/>
        </p:nvCxnSpPr>
        <p:spPr>
          <a:xfrm>
            <a:off x="1971413" y="106340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9" name="텍스트 상자 31"/>
          <p:cNvSpPr txBox="1"/>
          <p:nvPr/>
        </p:nvSpPr>
        <p:spPr>
          <a:xfrm>
            <a:off x="2076471" y="859108"/>
            <a:ext cx="78817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 결과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8645870" y="813534"/>
            <a:ext cx="354278" cy="203200"/>
            <a:chOff x="7121870" y="765909"/>
            <a:chExt cx="354278" cy="203200"/>
          </a:xfrm>
        </p:grpSpPr>
        <p:sp>
          <p:nvSpPr>
            <p:cNvPr id="38" name="직사각형 37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▼</a:t>
              </a:r>
              <a:endParaRPr kumimoji="1" lang="ko-KR" alt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869784"/>
              </p:ext>
            </p:extLst>
          </p:nvPr>
        </p:nvGraphicFramePr>
        <p:xfrm>
          <a:off x="1976282" y="1080719"/>
          <a:ext cx="7045482" cy="1433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5482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</a:tblGrid>
              <a:tr h="1433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 결과가 없습니다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</a:tbl>
          </a:graphicData>
        </a:graphic>
      </p:graphicFrame>
      <p:grpSp>
        <p:nvGrpSpPr>
          <p:cNvPr id="69" name="그룹 68"/>
          <p:cNvGrpSpPr/>
          <p:nvPr/>
        </p:nvGrpSpPr>
        <p:grpSpPr>
          <a:xfrm>
            <a:off x="7273885" y="816233"/>
            <a:ext cx="866095" cy="205990"/>
            <a:chOff x="8129256" y="1219200"/>
            <a:chExt cx="866095" cy="205990"/>
          </a:xfrm>
        </p:grpSpPr>
        <p:sp>
          <p:nvSpPr>
            <p:cNvPr id="70" name="모서리가 둥근 직사각형 69"/>
            <p:cNvSpPr/>
            <p:nvPr/>
          </p:nvSpPr>
          <p:spPr>
            <a:xfrm>
              <a:off x="8129256" y="1219200"/>
              <a:ext cx="866095" cy="20599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3175" cap="flat" cmpd="sng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달력보기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71" name="그림 7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7165" y="1253440"/>
              <a:ext cx="141069" cy="141069"/>
            </a:xfrm>
            <a:prstGeom prst="rect">
              <a:avLst/>
            </a:prstGeom>
          </p:spPr>
        </p:pic>
      </p:grpSp>
      <p:grpSp>
        <p:nvGrpSpPr>
          <p:cNvPr id="72" name="그룹 71"/>
          <p:cNvGrpSpPr/>
          <p:nvPr/>
        </p:nvGrpSpPr>
        <p:grpSpPr>
          <a:xfrm>
            <a:off x="8182047" y="815947"/>
            <a:ext cx="457017" cy="209550"/>
            <a:chOff x="6935345" y="1198923"/>
            <a:chExt cx="457017" cy="209550"/>
          </a:xfrm>
        </p:grpSpPr>
        <p:sp>
          <p:nvSpPr>
            <p:cNvPr id="73" name="직사각형 72"/>
            <p:cNvSpPr/>
            <p:nvPr/>
          </p:nvSpPr>
          <p:spPr>
            <a:xfrm>
              <a:off x="6935345" y="1198923"/>
              <a:ext cx="421005" cy="209550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15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개</a:t>
              </a: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 rot="5400000">
              <a:off x="7195363" y="1196328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</p:grpSp>
      <p:graphicFrame>
        <p:nvGraphicFramePr>
          <p:cNvPr id="20" name="Group 3"/>
          <p:cNvGraphicFramePr>
            <a:graphicFrameLocks noGrp="1"/>
          </p:cNvGraphicFramePr>
          <p:nvPr>
            <p:extLst/>
          </p:nvPr>
        </p:nvGraphicFramePr>
        <p:xfrm>
          <a:off x="9290533" y="786383"/>
          <a:ext cx="2835141" cy="469229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검색 결과가 없을 경우 출력되는 문구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21" name="타원 20"/>
          <p:cNvSpPr/>
          <p:nvPr/>
        </p:nvSpPr>
        <p:spPr>
          <a:xfrm>
            <a:off x="4654749" y="1728313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1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검색결과 없을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CA6.10.2</a:t>
            </a:r>
            <a:endParaRPr kumimoji="1" lang="ko-KR" altLang="en-US" sz="800" b="1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직각 삼각형 24"/>
          <p:cNvSpPr/>
          <p:nvPr/>
        </p:nvSpPr>
        <p:spPr>
          <a:xfrm flipH="1">
            <a:off x="11485306" y="5921713"/>
            <a:ext cx="640019" cy="742447"/>
          </a:xfrm>
          <a:prstGeom prst="rt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+mn-ea"/>
                <a:ea typeface="+mn-ea"/>
              </a:rPr>
              <a:t>01/15</a:t>
            </a:r>
          </a:p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+mn-ea"/>
                <a:ea typeface="+mn-ea"/>
              </a:rPr>
              <a:t>추가</a:t>
            </a:r>
            <a:endParaRPr lang="ko-KR" altLang="en-US" sz="800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63591" y="2628900"/>
            <a:ext cx="914400" cy="1905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457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설비예약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kumimoji="1" lang="en-US" altLang="ko-KR" dirty="0"/>
              <a:t>8.2. </a:t>
            </a:r>
            <a:r>
              <a:rPr kumimoji="1" lang="en-US" altLang="ko-KR" dirty="0" err="1"/>
              <a:t>Structure_LNB</a:t>
            </a:r>
            <a:r>
              <a:rPr kumimoji="1" lang="ko-KR" altLang="en-US" dirty="0"/>
              <a:t> 메뉴 영역</a:t>
            </a:r>
          </a:p>
        </p:txBody>
      </p:sp>
      <p:graphicFrame>
        <p:nvGraphicFramePr>
          <p:cNvPr id="6" name="표"/>
          <p:cNvGraphicFramePr/>
          <p:nvPr>
            <p:extLst>
              <p:ext uri="{D42A27DB-BD31-4B8C-83A1-F6EECF244321}">
                <p14:modId xmlns:p14="http://schemas.microsoft.com/office/powerpoint/2010/main" val="3965797399"/>
              </p:ext>
            </p:extLst>
          </p:nvPr>
        </p:nvGraphicFramePr>
        <p:xfrm>
          <a:off x="3880977" y="1873392"/>
          <a:ext cx="7915090" cy="2315409"/>
        </p:xfrm>
        <a:graphic>
          <a:graphicData uri="http://schemas.openxmlformats.org/drawingml/2006/table">
            <a:tbl>
              <a:tblPr/>
              <a:tblGrid>
                <a:gridCol w="80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8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36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689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ko-KR" altLang="en-US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분류</a:t>
                      </a:r>
                      <a:endParaRPr lang="ko-KR" altLang="en-US" sz="800" b="1" dirty="0">
                        <a:latin typeface="+mn-ea"/>
                        <a:ea typeface="+mn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46800" marR="46800" marT="50400" marB="50800" anchor="ctr" horzOverflow="overflow">
                    <a:lnL w="9525" cap="flat" cmpd="sng" algn="ctr">
                      <a:noFill/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ko-KR" altLang="en-US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메뉴명</a:t>
                      </a:r>
                      <a:endParaRPr lang="ko-KR" altLang="en-US" sz="800" b="1" dirty="0">
                        <a:latin typeface="+mn-ea"/>
                        <a:ea typeface="+mn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46800" marR="46800" marT="50400" marB="50800" anchor="ctr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To-be</a:t>
                      </a:r>
                      <a:r>
                        <a:rPr lang="ko-KR" altLang="en-US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 역할 정의</a:t>
                      </a:r>
                      <a:endParaRPr lang="ko-KR" altLang="en-US" sz="800" b="1" dirty="0">
                        <a:latin typeface="+mn-ea"/>
                        <a:ea typeface="+mn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46800" marR="46800" marT="50400" marB="50800" anchor="ctr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ko-KR" altLang="en-US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뱃지 숫자 제공 정책 정의</a:t>
                      </a:r>
                      <a:endParaRPr lang="ko-KR" altLang="en-US" sz="800" b="1" dirty="0">
                        <a:latin typeface="+mn-ea"/>
                        <a:ea typeface="+mn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46800" marR="46800" marT="50400" marB="50800" anchor="ctr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991">
                <a:tc rowSpan="2">
                  <a:txBody>
                    <a:bodyPr/>
                    <a:lstStyle/>
                    <a:p>
                      <a:pPr marL="11113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개인 설비 영역</a:t>
                      </a:r>
                    </a:p>
                  </a:txBody>
                  <a:tcPr marL="46800" marR="46800" marT="50400" marB="50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5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내가 예약한 설비</a:t>
                      </a:r>
                    </a:p>
                  </a:txBody>
                  <a:tcPr marL="46800" marR="46800" marT="50400" marB="50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내가 예약한 설비 리스트 제공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달력 뷰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로 제공</a:t>
                      </a: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(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Default</a:t>
                      </a: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: 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일간</a:t>
                      </a: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)</a:t>
                      </a:r>
                      <a:endParaRPr lang="ko-KR" altLang="en-US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46800" marR="46800" marT="50400" marB="508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6800" marR="46800" marT="50400" marB="508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329">
                <a:tc vMerge="1">
                  <a:txBody>
                    <a:bodyPr/>
                    <a:lstStyle/>
                    <a:p>
                      <a:pPr marL="11113" marR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endParaRPr lang="ko-KR" altLang="en-US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46800" marR="46800" marT="50400" marB="50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5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승인 대기중인 설비 </a:t>
                      </a:r>
                    </a:p>
                  </a:txBody>
                  <a:tcPr marL="46800" marR="46800" marT="50400" marB="50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나의 승인을 대기중인 설비 리스트 제공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설비 관리자일 경우만 노출하는 메뉴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일반 리스트 뷰 제공</a:t>
                      </a:r>
                    </a:p>
                  </a:txBody>
                  <a:tcPr marL="46800" marR="46800" marT="50400" marB="508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indent="-95250">
                        <a:buFont typeface="Arial" charset="0"/>
                        <a:buChar char="•"/>
                        <a:tabLst/>
                      </a:pPr>
                      <a:r>
                        <a:rPr lang="ko-KR" altLang="en-US" sz="800" smtClean="0"/>
                        <a:t>관리자가 승인을 처리해야 되는 건수</a:t>
                      </a:r>
                      <a:r>
                        <a:rPr lang="en-US" altLang="ko-KR" sz="800" smtClean="0"/>
                        <a:t>(</a:t>
                      </a:r>
                      <a:r>
                        <a:rPr lang="ko-KR" altLang="en-US" sz="800" smtClean="0"/>
                        <a:t>대기 건</a:t>
                      </a:r>
                      <a:r>
                        <a:rPr lang="en-US" altLang="ko-KR" sz="800" smtClean="0"/>
                        <a:t>)</a:t>
                      </a:r>
                      <a:endParaRPr lang="en-US" sz="800" dirty="0"/>
                    </a:p>
                  </a:txBody>
                  <a:tcPr marL="46800" marR="46800" marT="50400" marB="508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329">
                <a:tc rowSpan="2">
                  <a:txBody>
                    <a:bodyPr/>
                    <a:lstStyle/>
                    <a:p>
                      <a:pPr marL="0" marR="0" indent="0" algn="ctr" defTabSz="6460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공동 설비영역</a:t>
                      </a:r>
                    </a:p>
                  </a:txBody>
                  <a:tcPr marL="46800" marR="46800" marT="50400" marB="50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5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설비 목록</a:t>
                      </a:r>
                    </a:p>
                  </a:txBody>
                  <a:tcPr marL="46800" marR="46800" marT="50400" marB="50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사내 설비 종류를 모두 보여주는 메뉴</a:t>
                      </a: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진입 시 </a:t>
                      </a:r>
                      <a:r>
                        <a:rPr lang="en-US" altLang="ko-KR" sz="800" kern="120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:</a:t>
                      </a:r>
                      <a:r>
                        <a:rPr lang="ko-KR" altLang="en-US" sz="800" kern="120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이전에 체크된 설비를 기본으올 출력</a:t>
                      </a:r>
                      <a:endParaRPr lang="en-US" altLang="ko-KR" sz="800" kern="1200" smtClean="0">
                        <a:solidFill>
                          <a:srgbClr val="FF0000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  <a:p>
                      <a:pPr marL="90488" marR="0" indent="-79375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달력 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뷰로 제공</a:t>
                      </a: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(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Default</a:t>
                      </a: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: </a:t>
                      </a:r>
                      <a:r>
                        <a:rPr lang="ko-KR" altLang="en-US" sz="8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일간</a:t>
                      </a:r>
                      <a:r>
                        <a:rPr lang="en-US" altLang="ko-KR" sz="8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)</a:t>
                      </a:r>
                      <a:endParaRPr lang="ko-KR" altLang="en-US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46800" marR="46800" marT="50400" marB="508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smtClean="0"/>
                        <a:t>-</a:t>
                      </a:r>
                      <a:endParaRPr lang="en-US" sz="800" dirty="0"/>
                    </a:p>
                  </a:txBody>
                  <a:tcPr marL="46800" marR="46800" marT="50400" marB="508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329">
                <a:tc vMerge="1">
                  <a:txBody>
                    <a:bodyPr/>
                    <a:lstStyle/>
                    <a:p>
                      <a:pPr marL="0" marR="0" indent="0" algn="ctr" defTabSz="6460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46800" marR="46800" marT="50400" marB="50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lnSpc>
                          <a:spcPct val="150000"/>
                        </a:lnSpc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설비 그룹</a:t>
                      </a:r>
                      <a:endParaRPr lang="ko-KR" altLang="en-US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46800" marR="46800" marT="50400" marB="50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indent="-79375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관리자가 별도로 설비를 설정했을 경우에만 출력되는 메뉴</a:t>
                      </a:r>
                      <a:endParaRPr lang="ko-KR" altLang="en-US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46800" marR="46800" marT="50400" marB="508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46800" marR="46800" marT="50400" marB="508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574180"/>
                  </a:ext>
                </a:extLst>
              </a:tr>
            </a:tbl>
          </a:graphicData>
        </a:graphic>
      </p:graphicFrame>
      <p:graphicFrame>
        <p:nvGraphicFramePr>
          <p:cNvPr id="7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582750"/>
              </p:ext>
            </p:extLst>
          </p:nvPr>
        </p:nvGraphicFramePr>
        <p:xfrm>
          <a:off x="3880977" y="1219204"/>
          <a:ext cx="5252975" cy="548769"/>
        </p:xfrm>
        <a:graphic>
          <a:graphicData uri="http://schemas.openxmlformats.org/drawingml/2006/table">
            <a:tbl>
              <a:tblPr/>
              <a:tblGrid>
                <a:gridCol w="812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689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ko-KR" altLang="en-US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분류</a:t>
                      </a:r>
                      <a:endParaRPr lang="ko-KR" altLang="en-US" sz="800" b="1" dirty="0">
                        <a:latin typeface="+mn-ea"/>
                        <a:ea typeface="+mn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46800" marR="46800" marT="50400" marB="50800" anchor="ctr" horzOverflow="overflow">
                    <a:lnL w="9525" cap="flat" cmpd="sng" algn="ctr">
                      <a:noFill/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ko-KR" altLang="en-US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메뉴명</a:t>
                      </a:r>
                      <a:endParaRPr lang="ko-KR" altLang="en-US" sz="800" b="1" dirty="0">
                        <a:latin typeface="+mn-ea"/>
                        <a:ea typeface="+mn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46800" marR="46800" marT="50400" marB="50800" anchor="ctr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altLang="ko-KR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To-be</a:t>
                      </a:r>
                      <a:r>
                        <a:rPr lang="ko-KR" altLang="en-US" sz="800" b="1" dirty="0" smtClean="0">
                          <a:latin typeface="+mn-ea"/>
                          <a:ea typeface="+mn-ea"/>
                          <a:cs typeface="Nanum Gothic" charset="-127"/>
                          <a:sym typeface="Apple SD 산돌고딕 Neo 볼드체"/>
                        </a:rPr>
                        <a:t> 역할 정의</a:t>
                      </a:r>
                      <a:endParaRPr lang="ko-KR" altLang="en-US" sz="800" b="1" dirty="0">
                        <a:latin typeface="+mn-ea"/>
                        <a:ea typeface="+mn-ea"/>
                        <a:cs typeface="Nanum Gothic" charset="-127"/>
                        <a:sym typeface="Apple SD 산돌고딕 Neo 볼드체"/>
                      </a:endParaRPr>
                    </a:p>
                  </a:txBody>
                  <a:tcPr marL="46800" marR="46800" marT="50400" marB="50800" anchor="ctr" horzOverflow="overflow">
                    <a:lnL w="9525" cap="flat" cmpd="sng" algn="ctr">
                      <a:solidFill>
                        <a:srgbClr val="A6AAA9"/>
                      </a:solidFill>
                      <a:prstDash val="solid"/>
                      <a:miter lim="400000"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miter lim="400000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329">
                <a:tc>
                  <a:txBody>
                    <a:bodyPr/>
                    <a:lstStyle/>
                    <a:p>
                      <a:pPr marL="11113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메인 액션 버튼</a:t>
                      </a:r>
                    </a:p>
                  </a:txBody>
                  <a:tcPr marL="46800" marR="46800" marT="50400" marB="508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dirty="0" smtClean="0">
                          <a:latin typeface="+mn-ea"/>
                          <a:ea typeface="+mn-ea"/>
                          <a:cs typeface="Nanum Gothic" charset="-127"/>
                        </a:rPr>
                        <a:t>설비 예약하기</a:t>
                      </a:r>
                    </a:p>
                  </a:txBody>
                  <a:tcPr marL="46800" marR="46800" marT="50400" marB="508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3663" marR="0" indent="-825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선택 시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: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Nanum Gothic" charset="-127"/>
                        </a:rPr>
                        <a:t> 설비 예약 새창 제공</a:t>
                      </a:r>
                      <a:endParaRPr lang="en-US" altLang="ko-KR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46800" marR="46800" marT="50400" marB="50800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텍스트 상자 31"/>
          <p:cNvSpPr txBox="1"/>
          <p:nvPr/>
        </p:nvSpPr>
        <p:spPr>
          <a:xfrm>
            <a:off x="2395226" y="2123448"/>
            <a:ext cx="859210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kumimoji="1" lang="ko-KR" altLang="en-US" sz="1000" b="1" dirty="0" smtClean="0">
                <a:solidFill>
                  <a:srgbClr val="FF2F92"/>
                </a:solidFill>
                <a:latin typeface="+mn-ea"/>
                <a:ea typeface="+mn-ea"/>
              </a:rPr>
              <a:t>개인 설비 영역</a:t>
            </a:r>
            <a:endParaRPr kumimoji="1" lang="en-US" altLang="ko-KR" sz="1000" b="1" dirty="0" smtClean="0">
              <a:solidFill>
                <a:srgbClr val="FF2F92"/>
              </a:solidFill>
              <a:latin typeface="+mn-ea"/>
              <a:ea typeface="+mn-ea"/>
            </a:endParaRPr>
          </a:p>
        </p:txBody>
      </p:sp>
      <p:sp>
        <p:nvSpPr>
          <p:cNvPr id="10" name="텍스트 상자 31"/>
          <p:cNvSpPr txBox="1"/>
          <p:nvPr/>
        </p:nvSpPr>
        <p:spPr>
          <a:xfrm>
            <a:off x="2395226" y="3363047"/>
            <a:ext cx="859210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kumimoji="1" lang="ko-KR" altLang="en-US" sz="1000" b="1" dirty="0" smtClean="0">
                <a:solidFill>
                  <a:srgbClr val="FF2F92"/>
                </a:solidFill>
                <a:latin typeface="+mn-ea"/>
                <a:ea typeface="+mn-ea"/>
              </a:rPr>
              <a:t>공동 설비 영역</a:t>
            </a:r>
            <a:endParaRPr kumimoji="1" lang="en-US" altLang="ko-KR" sz="1000" b="1" dirty="0" smtClean="0">
              <a:solidFill>
                <a:srgbClr val="FF2F92"/>
              </a:solidFill>
              <a:latin typeface="+mn-ea"/>
              <a:ea typeface="+mn-ea"/>
            </a:endParaRPr>
          </a:p>
        </p:txBody>
      </p:sp>
      <p:sp>
        <p:nvSpPr>
          <p:cNvPr id="13" name="텍스트 상자 31"/>
          <p:cNvSpPr txBox="1"/>
          <p:nvPr/>
        </p:nvSpPr>
        <p:spPr>
          <a:xfrm>
            <a:off x="2395226" y="1711079"/>
            <a:ext cx="1285523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kumimoji="1" lang="ko-KR" altLang="en-US" sz="1000" b="1" dirty="0" smtClean="0">
                <a:solidFill>
                  <a:srgbClr val="FF2F92"/>
                </a:solidFill>
                <a:latin typeface="+mn-ea"/>
                <a:ea typeface="+mn-ea"/>
              </a:rPr>
              <a:t>액션버튼 영역</a:t>
            </a:r>
            <a:endParaRPr kumimoji="1" lang="en-US" altLang="ko-KR" sz="1000" b="1" dirty="0" smtClean="0">
              <a:solidFill>
                <a:srgbClr val="FF2F92"/>
              </a:solidFill>
              <a:latin typeface="+mn-ea"/>
              <a:ea typeface="+mn-ea"/>
            </a:endParaRPr>
          </a:p>
        </p:txBody>
      </p:sp>
      <p:sp>
        <p:nvSpPr>
          <p:cNvPr id="15" name="직사각형 98"/>
          <p:cNvSpPr/>
          <p:nvPr/>
        </p:nvSpPr>
        <p:spPr>
          <a:xfrm>
            <a:off x="772253" y="1219204"/>
            <a:ext cx="1422685" cy="54362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6" name="Rectangle 14"/>
          <p:cNvSpPr>
            <a:spLocks/>
          </p:cNvSpPr>
          <p:nvPr/>
        </p:nvSpPr>
        <p:spPr bwMode="auto">
          <a:xfrm>
            <a:off x="883402" y="1671205"/>
            <a:ext cx="1195982" cy="26744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lang="x-none" altLang="x-none" sz="7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Rectangle 317"/>
          <p:cNvSpPr/>
          <p:nvPr/>
        </p:nvSpPr>
        <p:spPr>
          <a:xfrm>
            <a:off x="1062850" y="1679618"/>
            <a:ext cx="837089" cy="2523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설비 예약하기</a:t>
            </a:r>
            <a:endParaRPr lang="x-none" altLang="x-none" sz="8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8" name="Text Box 22"/>
          <p:cNvSpPr txBox="1">
            <a:spLocks/>
          </p:cNvSpPr>
          <p:nvPr/>
        </p:nvSpPr>
        <p:spPr bwMode="auto">
          <a:xfrm>
            <a:off x="883855" y="1300940"/>
            <a:ext cx="538691" cy="19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ko-KR" altLang="en-US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pple SD 산돌고딕 Neo 볼드체" charset="-127"/>
                <a:sym typeface="Apple SD 산돌고딕 Neo 볼드체" charset="-127"/>
              </a:rPr>
              <a:t>설비예약</a:t>
            </a:r>
            <a:endParaRPr lang="x-none" altLang="x-none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Apple SD 산돌고딕 Neo 볼드체" charset="-127"/>
              <a:sym typeface="Apple SD 산돌고딕 Neo 볼드체" charset="-127"/>
            </a:endParaRPr>
          </a:p>
        </p:txBody>
      </p:sp>
      <p:sp>
        <p:nvSpPr>
          <p:cNvPr id="19" name="텍스트 상자 31"/>
          <p:cNvSpPr txBox="1"/>
          <p:nvPr/>
        </p:nvSpPr>
        <p:spPr>
          <a:xfrm>
            <a:off x="965893" y="6403108"/>
            <a:ext cx="1171015" cy="18466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kumimoji="1" lang="ko-KR" altLang="en-US" sz="6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  <a:ea typeface="+mn-ea"/>
              </a:rPr>
              <a:t>설정</a:t>
            </a:r>
            <a:endParaRPr kumimoji="1" lang="ko-KR" altLang="en-US" sz="600" dirty="0">
              <a:solidFill>
                <a:prstClr val="white">
                  <a:lumMod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20" name="Freeform 13"/>
          <p:cNvSpPr>
            <a:spLocks noChangeAspect="1" noChangeArrowheads="1"/>
          </p:cNvSpPr>
          <p:nvPr/>
        </p:nvSpPr>
        <p:spPr bwMode="auto">
          <a:xfrm>
            <a:off x="837212" y="6446045"/>
            <a:ext cx="89257" cy="90000"/>
          </a:xfrm>
          <a:custGeom>
            <a:avLst/>
            <a:gdLst>
              <a:gd name="T0" fmla="*/ 455 w 527"/>
              <a:gd name="T1" fmla="*/ 291 h 533"/>
              <a:gd name="T2" fmla="*/ 460 w 527"/>
              <a:gd name="T3" fmla="*/ 266 h 533"/>
              <a:gd name="T4" fmla="*/ 455 w 527"/>
              <a:gd name="T5" fmla="*/ 240 h 533"/>
              <a:gd name="T6" fmla="*/ 511 w 527"/>
              <a:gd name="T7" fmla="*/ 194 h 533"/>
              <a:gd name="T8" fmla="*/ 516 w 527"/>
              <a:gd name="T9" fmla="*/ 179 h 533"/>
              <a:gd name="T10" fmla="*/ 465 w 527"/>
              <a:gd name="T11" fmla="*/ 82 h 533"/>
              <a:gd name="T12" fmla="*/ 444 w 527"/>
              <a:gd name="T13" fmla="*/ 82 h 533"/>
              <a:gd name="T14" fmla="*/ 378 w 527"/>
              <a:gd name="T15" fmla="*/ 107 h 533"/>
              <a:gd name="T16" fmla="*/ 332 w 527"/>
              <a:gd name="T17" fmla="*/ 82 h 533"/>
              <a:gd name="T18" fmla="*/ 322 w 527"/>
              <a:gd name="T19" fmla="*/ 10 h 533"/>
              <a:gd name="T20" fmla="*/ 311 w 527"/>
              <a:gd name="T21" fmla="*/ 0 h 533"/>
              <a:gd name="T22" fmla="*/ 204 w 527"/>
              <a:gd name="T23" fmla="*/ 0 h 533"/>
              <a:gd name="T24" fmla="*/ 194 w 527"/>
              <a:gd name="T25" fmla="*/ 10 h 533"/>
              <a:gd name="T26" fmla="*/ 184 w 527"/>
              <a:gd name="T27" fmla="*/ 82 h 533"/>
              <a:gd name="T28" fmla="*/ 138 w 527"/>
              <a:gd name="T29" fmla="*/ 107 h 533"/>
              <a:gd name="T30" fmla="*/ 71 w 527"/>
              <a:gd name="T31" fmla="*/ 82 h 533"/>
              <a:gd name="T32" fmla="*/ 56 w 527"/>
              <a:gd name="T33" fmla="*/ 87 h 533"/>
              <a:gd name="T34" fmla="*/ 0 w 527"/>
              <a:gd name="T35" fmla="*/ 179 h 533"/>
              <a:gd name="T36" fmla="*/ 5 w 527"/>
              <a:gd name="T37" fmla="*/ 194 h 533"/>
              <a:gd name="T38" fmla="*/ 61 w 527"/>
              <a:gd name="T39" fmla="*/ 240 h 533"/>
              <a:gd name="T40" fmla="*/ 61 w 527"/>
              <a:gd name="T41" fmla="*/ 266 h 533"/>
              <a:gd name="T42" fmla="*/ 61 w 527"/>
              <a:gd name="T43" fmla="*/ 291 h 533"/>
              <a:gd name="T44" fmla="*/ 5 w 527"/>
              <a:gd name="T45" fmla="*/ 337 h 533"/>
              <a:gd name="T46" fmla="*/ 5 w 527"/>
              <a:gd name="T47" fmla="*/ 353 h 533"/>
              <a:gd name="T48" fmla="*/ 56 w 527"/>
              <a:gd name="T49" fmla="*/ 450 h 533"/>
              <a:gd name="T50" fmla="*/ 71 w 527"/>
              <a:gd name="T51" fmla="*/ 450 h 533"/>
              <a:gd name="T52" fmla="*/ 138 w 527"/>
              <a:gd name="T53" fmla="*/ 424 h 533"/>
              <a:gd name="T54" fmla="*/ 184 w 527"/>
              <a:gd name="T55" fmla="*/ 450 h 533"/>
              <a:gd name="T56" fmla="*/ 194 w 527"/>
              <a:gd name="T57" fmla="*/ 521 h 533"/>
              <a:gd name="T58" fmla="*/ 209 w 527"/>
              <a:gd name="T59" fmla="*/ 532 h 533"/>
              <a:gd name="T60" fmla="*/ 317 w 527"/>
              <a:gd name="T61" fmla="*/ 532 h 533"/>
              <a:gd name="T62" fmla="*/ 327 w 527"/>
              <a:gd name="T63" fmla="*/ 521 h 533"/>
              <a:gd name="T64" fmla="*/ 337 w 527"/>
              <a:gd name="T65" fmla="*/ 450 h 533"/>
              <a:gd name="T66" fmla="*/ 383 w 527"/>
              <a:gd name="T67" fmla="*/ 424 h 533"/>
              <a:gd name="T68" fmla="*/ 449 w 527"/>
              <a:gd name="T69" fmla="*/ 450 h 533"/>
              <a:gd name="T70" fmla="*/ 470 w 527"/>
              <a:gd name="T71" fmla="*/ 445 h 533"/>
              <a:gd name="T72" fmla="*/ 521 w 527"/>
              <a:gd name="T73" fmla="*/ 353 h 533"/>
              <a:gd name="T74" fmla="*/ 521 w 527"/>
              <a:gd name="T75" fmla="*/ 337 h 533"/>
              <a:gd name="T76" fmla="*/ 455 w 527"/>
              <a:gd name="T77" fmla="*/ 291 h 533"/>
              <a:gd name="T78" fmla="*/ 260 w 527"/>
              <a:gd name="T79" fmla="*/ 358 h 533"/>
              <a:gd name="T80" fmla="*/ 163 w 527"/>
              <a:gd name="T81" fmla="*/ 266 h 533"/>
              <a:gd name="T82" fmla="*/ 260 w 527"/>
              <a:gd name="T83" fmla="*/ 174 h 533"/>
              <a:gd name="T84" fmla="*/ 352 w 527"/>
              <a:gd name="T85" fmla="*/ 266 h 533"/>
              <a:gd name="T86" fmla="*/ 260 w 527"/>
              <a:gd name="T87" fmla="*/ 358 h 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27" h="533">
                <a:moveTo>
                  <a:pt x="455" y="291"/>
                </a:moveTo>
                <a:cubicBezTo>
                  <a:pt x="455" y="286"/>
                  <a:pt x="460" y="276"/>
                  <a:pt x="460" y="266"/>
                </a:cubicBezTo>
                <a:cubicBezTo>
                  <a:pt x="460" y="256"/>
                  <a:pt x="460" y="245"/>
                  <a:pt x="455" y="240"/>
                </a:cubicBezTo>
                <a:lnTo>
                  <a:pt x="511" y="194"/>
                </a:lnTo>
                <a:cubicBezTo>
                  <a:pt x="521" y="189"/>
                  <a:pt x="521" y="184"/>
                  <a:pt x="516" y="179"/>
                </a:cubicBezTo>
                <a:lnTo>
                  <a:pt x="465" y="82"/>
                </a:lnTo>
                <a:cubicBezTo>
                  <a:pt x="460" y="82"/>
                  <a:pt x="455" y="77"/>
                  <a:pt x="444" y="82"/>
                </a:cubicBezTo>
                <a:lnTo>
                  <a:pt x="378" y="107"/>
                </a:lnTo>
                <a:cubicBezTo>
                  <a:pt x="368" y="97"/>
                  <a:pt x="352" y="92"/>
                  <a:pt x="332" y="82"/>
                </a:cubicBezTo>
                <a:lnTo>
                  <a:pt x="322" y="10"/>
                </a:lnTo>
                <a:cubicBezTo>
                  <a:pt x="327" y="5"/>
                  <a:pt x="317" y="0"/>
                  <a:pt x="311" y="0"/>
                </a:cubicBezTo>
                <a:lnTo>
                  <a:pt x="204" y="0"/>
                </a:lnTo>
                <a:cubicBezTo>
                  <a:pt x="199" y="0"/>
                  <a:pt x="194" y="5"/>
                  <a:pt x="194" y="10"/>
                </a:cubicBezTo>
                <a:lnTo>
                  <a:pt x="184" y="82"/>
                </a:lnTo>
                <a:cubicBezTo>
                  <a:pt x="163" y="87"/>
                  <a:pt x="153" y="97"/>
                  <a:pt x="138" y="107"/>
                </a:cubicBezTo>
                <a:lnTo>
                  <a:pt x="71" y="82"/>
                </a:lnTo>
                <a:cubicBezTo>
                  <a:pt x="66" y="77"/>
                  <a:pt x="61" y="82"/>
                  <a:pt x="56" y="87"/>
                </a:cubicBezTo>
                <a:lnTo>
                  <a:pt x="0" y="179"/>
                </a:lnTo>
                <a:cubicBezTo>
                  <a:pt x="0" y="184"/>
                  <a:pt x="0" y="189"/>
                  <a:pt x="5" y="194"/>
                </a:cubicBezTo>
                <a:lnTo>
                  <a:pt x="61" y="240"/>
                </a:lnTo>
                <a:cubicBezTo>
                  <a:pt x="61" y="245"/>
                  <a:pt x="61" y="256"/>
                  <a:pt x="61" y="266"/>
                </a:cubicBezTo>
                <a:cubicBezTo>
                  <a:pt x="61" y="276"/>
                  <a:pt x="61" y="286"/>
                  <a:pt x="61" y="291"/>
                </a:cubicBezTo>
                <a:lnTo>
                  <a:pt x="5" y="337"/>
                </a:lnTo>
                <a:cubicBezTo>
                  <a:pt x="0" y="343"/>
                  <a:pt x="0" y="348"/>
                  <a:pt x="5" y="353"/>
                </a:cubicBezTo>
                <a:lnTo>
                  <a:pt x="56" y="450"/>
                </a:lnTo>
                <a:cubicBezTo>
                  <a:pt x="61" y="450"/>
                  <a:pt x="66" y="455"/>
                  <a:pt x="71" y="450"/>
                </a:cubicBezTo>
                <a:lnTo>
                  <a:pt x="138" y="424"/>
                </a:lnTo>
                <a:cubicBezTo>
                  <a:pt x="153" y="434"/>
                  <a:pt x="168" y="445"/>
                  <a:pt x="184" y="450"/>
                </a:cubicBezTo>
                <a:lnTo>
                  <a:pt x="194" y="521"/>
                </a:lnTo>
                <a:cubicBezTo>
                  <a:pt x="194" y="526"/>
                  <a:pt x="199" y="532"/>
                  <a:pt x="209" y="532"/>
                </a:cubicBezTo>
                <a:lnTo>
                  <a:pt x="317" y="532"/>
                </a:lnTo>
                <a:cubicBezTo>
                  <a:pt x="322" y="532"/>
                  <a:pt x="327" y="526"/>
                  <a:pt x="327" y="521"/>
                </a:cubicBezTo>
                <a:lnTo>
                  <a:pt x="337" y="450"/>
                </a:lnTo>
                <a:cubicBezTo>
                  <a:pt x="357" y="445"/>
                  <a:pt x="373" y="434"/>
                  <a:pt x="383" y="424"/>
                </a:cubicBezTo>
                <a:lnTo>
                  <a:pt x="449" y="450"/>
                </a:lnTo>
                <a:cubicBezTo>
                  <a:pt x="455" y="455"/>
                  <a:pt x="465" y="450"/>
                  <a:pt x="470" y="445"/>
                </a:cubicBezTo>
                <a:lnTo>
                  <a:pt x="521" y="353"/>
                </a:lnTo>
                <a:cubicBezTo>
                  <a:pt x="526" y="348"/>
                  <a:pt x="526" y="337"/>
                  <a:pt x="521" y="337"/>
                </a:cubicBezTo>
                <a:lnTo>
                  <a:pt x="455" y="291"/>
                </a:lnTo>
                <a:close/>
                <a:moveTo>
                  <a:pt x="260" y="358"/>
                </a:moveTo>
                <a:cubicBezTo>
                  <a:pt x="209" y="358"/>
                  <a:pt x="163" y="317"/>
                  <a:pt x="163" y="266"/>
                </a:cubicBezTo>
                <a:cubicBezTo>
                  <a:pt x="163" y="215"/>
                  <a:pt x="209" y="174"/>
                  <a:pt x="260" y="174"/>
                </a:cubicBezTo>
                <a:cubicBezTo>
                  <a:pt x="311" y="174"/>
                  <a:pt x="352" y="215"/>
                  <a:pt x="352" y="266"/>
                </a:cubicBezTo>
                <a:cubicBezTo>
                  <a:pt x="352" y="317"/>
                  <a:pt x="311" y="358"/>
                  <a:pt x="260" y="358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wrap="none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400">
              <a:solidFill>
                <a:prstClr val="black"/>
              </a:solidFill>
              <a:latin typeface="+mn-ea"/>
              <a:ea typeface="+mn-ea"/>
            </a:endParaRPr>
          </a:p>
        </p:txBody>
      </p:sp>
      <p:cxnSp>
        <p:nvCxnSpPr>
          <p:cNvPr id="21" name="직선 연결선[R] 33"/>
          <p:cNvCxnSpPr/>
          <p:nvPr/>
        </p:nvCxnSpPr>
        <p:spPr>
          <a:xfrm>
            <a:off x="785281" y="6341146"/>
            <a:ext cx="1404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텍스트 상자 31"/>
          <p:cNvSpPr txBox="1"/>
          <p:nvPr/>
        </p:nvSpPr>
        <p:spPr>
          <a:xfrm>
            <a:off x="959833" y="2080406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8" name="텍스트 상자 31"/>
          <p:cNvSpPr txBox="1"/>
          <p:nvPr/>
        </p:nvSpPr>
        <p:spPr>
          <a:xfrm>
            <a:off x="959833" y="2291965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설비 </a:t>
            </a:r>
            <a:r>
              <a:rPr kumimoji="1" lang="en-US" altLang="ko-KR" sz="700" b="1" dirty="0" smtClean="0">
                <a:solidFill>
                  <a:srgbClr val="FF0000"/>
                </a:solidFill>
                <a:latin typeface="+mn-ea"/>
              </a:rPr>
              <a:t>3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5" name="직사각형 339"/>
          <p:cNvSpPr/>
          <p:nvPr/>
        </p:nvSpPr>
        <p:spPr>
          <a:xfrm>
            <a:off x="402457" y="1219208"/>
            <a:ext cx="367200" cy="5436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+mn-ea"/>
            </a:endParaRPr>
          </a:p>
        </p:txBody>
      </p:sp>
      <p:sp>
        <p:nvSpPr>
          <p:cNvPr id="36" name="직사각형"/>
          <p:cNvSpPr/>
          <p:nvPr/>
        </p:nvSpPr>
        <p:spPr>
          <a:xfrm rot="5400000">
            <a:off x="-2132060" y="3753728"/>
            <a:ext cx="5436232" cy="367198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noFill/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  <a:endParaRPr dirty="0">
              <a:latin typeface="+mn-ea"/>
              <a:ea typeface="+mn-ea"/>
            </a:endParaRPr>
          </a:p>
        </p:txBody>
      </p:sp>
      <p:grpSp>
        <p:nvGrpSpPr>
          <p:cNvPr id="37" name="Group 355"/>
          <p:cNvGrpSpPr/>
          <p:nvPr/>
        </p:nvGrpSpPr>
        <p:grpSpPr>
          <a:xfrm>
            <a:off x="459711" y="1300554"/>
            <a:ext cx="258969" cy="3587760"/>
            <a:chOff x="459711" y="1300554"/>
            <a:chExt cx="258969" cy="3587760"/>
          </a:xfrm>
        </p:grpSpPr>
        <p:sp>
          <p:nvSpPr>
            <p:cNvPr id="38" name="타원 84"/>
            <p:cNvSpPr>
              <a:spLocks noChangeAspect="1"/>
            </p:cNvSpPr>
            <p:nvPr/>
          </p:nvSpPr>
          <p:spPr>
            <a:xfrm>
              <a:off x="459711" y="2041856"/>
              <a:ext cx="258969" cy="259200"/>
            </a:xfrm>
            <a:prstGeom prst="ellipse">
              <a:avLst/>
            </a:prstGeom>
            <a:solidFill>
              <a:srgbClr val="FFFFFF">
                <a:alpha val="2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ko-KR" altLang="en-US" sz="6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39" name="타원 85"/>
            <p:cNvSpPr>
              <a:spLocks noChangeAspect="1"/>
            </p:cNvSpPr>
            <p:nvPr/>
          </p:nvSpPr>
          <p:spPr>
            <a:xfrm>
              <a:off x="459711" y="2414049"/>
              <a:ext cx="258969" cy="259200"/>
            </a:xfrm>
            <a:prstGeom prst="ellipse">
              <a:avLst/>
            </a:prstGeom>
            <a:solidFill>
              <a:srgbClr val="FFFFFF">
                <a:alpha val="2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ko-KR" altLang="en-US" sz="6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0" name="타원 86"/>
            <p:cNvSpPr>
              <a:spLocks noChangeAspect="1"/>
            </p:cNvSpPr>
            <p:nvPr/>
          </p:nvSpPr>
          <p:spPr>
            <a:xfrm>
              <a:off x="459711" y="2786242"/>
              <a:ext cx="258969" cy="259200"/>
            </a:xfrm>
            <a:prstGeom prst="ellipse">
              <a:avLst/>
            </a:prstGeom>
            <a:solidFill>
              <a:srgbClr val="FFFFFF">
                <a:alpha val="2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ko-KR" altLang="en-US" sz="6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1" name="타원 87"/>
            <p:cNvSpPr>
              <a:spLocks noChangeAspect="1"/>
            </p:cNvSpPr>
            <p:nvPr/>
          </p:nvSpPr>
          <p:spPr>
            <a:xfrm>
              <a:off x="459711" y="3161360"/>
              <a:ext cx="258969" cy="259200"/>
            </a:xfrm>
            <a:prstGeom prst="ellipse">
              <a:avLst/>
            </a:prstGeom>
            <a:solidFill>
              <a:srgbClr val="FFFFFF">
                <a:alpha val="2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ko-KR" altLang="en-US" sz="6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2" name="타원 88"/>
            <p:cNvSpPr>
              <a:spLocks noChangeAspect="1"/>
            </p:cNvSpPr>
            <p:nvPr/>
          </p:nvSpPr>
          <p:spPr>
            <a:xfrm>
              <a:off x="459711" y="3530529"/>
              <a:ext cx="258969" cy="259200"/>
            </a:xfrm>
            <a:prstGeom prst="ellipse">
              <a:avLst/>
            </a:prstGeom>
            <a:solidFill>
              <a:srgbClr val="FFFFFF">
                <a:alpha val="2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ko-KR" altLang="en-US" sz="6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3" name="타원 89"/>
            <p:cNvSpPr>
              <a:spLocks noChangeAspect="1"/>
            </p:cNvSpPr>
            <p:nvPr/>
          </p:nvSpPr>
          <p:spPr>
            <a:xfrm>
              <a:off x="459711" y="3896724"/>
              <a:ext cx="258969" cy="259200"/>
            </a:xfrm>
            <a:prstGeom prst="ellipse">
              <a:avLst/>
            </a:prstGeom>
            <a:solidFill>
              <a:srgbClr val="FFFFFF">
                <a:alpha val="2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ko-KR" altLang="en-US" sz="6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4" name="타원 90"/>
            <p:cNvSpPr>
              <a:spLocks noChangeAspect="1"/>
            </p:cNvSpPr>
            <p:nvPr/>
          </p:nvSpPr>
          <p:spPr>
            <a:xfrm>
              <a:off x="459711" y="4262919"/>
              <a:ext cx="258969" cy="259200"/>
            </a:xfrm>
            <a:prstGeom prst="ellipse">
              <a:avLst/>
            </a:prstGeom>
            <a:solidFill>
              <a:srgbClr val="FFFFFF">
                <a:alpha val="2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ko-KR" altLang="en-US" sz="6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5" name="타원 91"/>
            <p:cNvSpPr>
              <a:spLocks noChangeAspect="1"/>
            </p:cNvSpPr>
            <p:nvPr/>
          </p:nvSpPr>
          <p:spPr>
            <a:xfrm>
              <a:off x="459711" y="4629114"/>
              <a:ext cx="258969" cy="259200"/>
            </a:xfrm>
            <a:prstGeom prst="ellipse">
              <a:avLst/>
            </a:prstGeom>
            <a:solidFill>
              <a:srgbClr val="FFFFFF">
                <a:alpha val="2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ko-KR" altLang="en-US" sz="6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6" name="타원 83"/>
            <p:cNvSpPr>
              <a:spLocks noChangeAspect="1"/>
            </p:cNvSpPr>
            <p:nvPr/>
          </p:nvSpPr>
          <p:spPr>
            <a:xfrm>
              <a:off x="459711" y="1300554"/>
              <a:ext cx="258969" cy="259200"/>
            </a:xfrm>
            <a:prstGeom prst="ellipse">
              <a:avLst/>
            </a:prstGeom>
            <a:solidFill>
              <a:srgbClr val="FFFFFF">
                <a:alpha val="29804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kumimoji="1" lang="ko-KR" altLang="en-US" sz="6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47" name="타원 83"/>
            <p:cNvSpPr>
              <a:spLocks noChangeAspect="1"/>
            </p:cNvSpPr>
            <p:nvPr/>
          </p:nvSpPr>
          <p:spPr>
            <a:xfrm>
              <a:off x="459711" y="3530391"/>
              <a:ext cx="258969" cy="259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kumimoji="1" lang="ko-KR" altLang="en-US" sz="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설비</a:t>
              </a:r>
            </a:p>
            <a:p>
              <a:pPr algn="ctr"/>
              <a:r>
                <a:rPr kumimoji="1" lang="ko-KR" altLang="en-US" sz="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예약</a:t>
              </a:r>
            </a:p>
          </p:txBody>
        </p:sp>
      </p:grpSp>
      <p:sp>
        <p:nvSpPr>
          <p:cNvPr id="48" name="타원 83"/>
          <p:cNvSpPr>
            <a:spLocks noChangeAspect="1"/>
          </p:cNvSpPr>
          <p:nvPr/>
        </p:nvSpPr>
        <p:spPr>
          <a:xfrm>
            <a:off x="459711" y="1671205"/>
            <a:ext cx="258969" cy="259200"/>
          </a:xfrm>
          <a:prstGeom prst="ellipse">
            <a:avLst/>
          </a:prstGeom>
          <a:solidFill>
            <a:srgbClr val="FFFFFF">
              <a:alpha val="2980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kumimoji="1" lang="ko-KR" altLang="en-US" sz="6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51" name="그림 50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941" y="5239417"/>
            <a:ext cx="184145" cy="184145"/>
          </a:xfrm>
          <a:prstGeom prst="rect">
            <a:avLst/>
          </a:prstGeom>
        </p:spPr>
      </p:pic>
      <p:sp>
        <p:nvSpPr>
          <p:cNvPr id="55" name="텍스트 상자 31"/>
          <p:cNvSpPr txBox="1"/>
          <p:nvPr/>
        </p:nvSpPr>
        <p:spPr>
          <a:xfrm>
            <a:off x="962586" y="2594970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7" name="Freeform 24"/>
          <p:cNvSpPr>
            <a:spLocks noChangeArrowheads="1"/>
          </p:cNvSpPr>
          <p:nvPr/>
        </p:nvSpPr>
        <p:spPr bwMode="auto">
          <a:xfrm>
            <a:off x="808453" y="2623611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984790" y="2537187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810960" y="2515584"/>
            <a:ext cx="1283075" cy="2047875"/>
            <a:chOff x="746806" y="2515584"/>
            <a:chExt cx="1411382" cy="2047875"/>
          </a:xfrm>
        </p:grpSpPr>
        <p:cxnSp>
          <p:nvCxnSpPr>
            <p:cNvPr id="56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타원 70"/>
          <p:cNvSpPr>
            <a:spLocks noChangeAspect="1"/>
          </p:cNvSpPr>
          <p:nvPr/>
        </p:nvSpPr>
        <p:spPr>
          <a:xfrm>
            <a:off x="1786471" y="2534691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984790" y="2795390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73" name="그림 72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863" y="2811916"/>
            <a:ext cx="152186" cy="152186"/>
          </a:xfrm>
          <a:prstGeom prst="rect">
            <a:avLst/>
          </a:prstGeom>
        </p:spPr>
      </p:pic>
      <p:sp>
        <p:nvSpPr>
          <p:cNvPr id="53" name="텍스트 상자 31"/>
          <p:cNvSpPr txBox="1"/>
          <p:nvPr/>
        </p:nvSpPr>
        <p:spPr>
          <a:xfrm>
            <a:off x="977658" y="2760120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74" name="타원 73"/>
          <p:cNvSpPr>
            <a:spLocks noChangeAspect="1"/>
          </p:cNvSpPr>
          <p:nvPr/>
        </p:nvSpPr>
        <p:spPr>
          <a:xfrm>
            <a:off x="1603591" y="2798851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83" name="그룹 82"/>
          <p:cNvGrpSpPr/>
          <p:nvPr/>
        </p:nvGrpSpPr>
        <p:grpSpPr>
          <a:xfrm>
            <a:off x="3925151" y="4891936"/>
            <a:ext cx="2460857" cy="197815"/>
            <a:chOff x="3925151" y="4891936"/>
            <a:chExt cx="2460857" cy="197815"/>
          </a:xfrm>
        </p:grpSpPr>
        <p:sp>
          <p:nvSpPr>
            <p:cNvPr id="75" name="타원 74"/>
            <p:cNvSpPr>
              <a:spLocks noChangeAspect="1"/>
            </p:cNvSpPr>
            <p:nvPr/>
          </p:nvSpPr>
          <p:spPr>
            <a:xfrm>
              <a:off x="3925151" y="4909591"/>
              <a:ext cx="152062" cy="153205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</a:t>
              </a:r>
              <a:endPara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4159041" y="4891936"/>
              <a:ext cx="2226967" cy="197815"/>
              <a:chOff x="4159041" y="4549036"/>
              <a:chExt cx="2226967" cy="197815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4159041" y="4549036"/>
                <a:ext cx="10099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r>
                  <a:rPr lang="en-US" altLang="ko-KR" sz="1100" b="1" dirty="0" smtClean="0">
                    <a:solidFill>
                      <a:prstClr val="white">
                        <a:lumMod val="50000"/>
                      </a:prstClr>
                    </a:solidFill>
                    <a:latin typeface="+mn-ea"/>
                    <a:ea typeface="+mn-ea"/>
                  </a:rPr>
                  <a:t>+</a:t>
                </a:r>
                <a:endParaRPr lang="en-US" sz="1100" b="1" dirty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362450" y="4551037"/>
                <a:ext cx="2023558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클릭시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설비 목록 추가 팝업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(CA6.8.3)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 출력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</p:grpSp>
      <p:sp>
        <p:nvSpPr>
          <p:cNvPr id="76" name="타원 75"/>
          <p:cNvSpPr>
            <a:spLocks noChangeAspect="1"/>
          </p:cNvSpPr>
          <p:nvPr/>
        </p:nvSpPr>
        <p:spPr>
          <a:xfrm>
            <a:off x="3925151" y="5223916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362450" y="5227312"/>
            <a:ext cx="2776970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클릭시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해당 설비 목록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분류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상세 확인 팝업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(CA6.8.4)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출력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78" name="그룹 77"/>
          <p:cNvGrpSpPr/>
          <p:nvPr/>
        </p:nvGrpSpPr>
        <p:grpSpPr>
          <a:xfrm>
            <a:off x="4159041" y="5520586"/>
            <a:ext cx="1984913" cy="197815"/>
            <a:chOff x="4159041" y="4549036"/>
            <a:chExt cx="1984913" cy="197815"/>
          </a:xfrm>
        </p:grpSpPr>
        <p:sp>
          <p:nvSpPr>
            <p:cNvPr id="79" name="TextBox 78"/>
            <p:cNvSpPr txBox="1"/>
            <p:nvPr/>
          </p:nvSpPr>
          <p:spPr>
            <a:xfrm>
              <a:off x="4159041" y="4549036"/>
              <a:ext cx="100990" cy="16927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altLang="ko-KR" sz="1100" b="1" dirty="0" smtClean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rPr>
                <a:t>+</a:t>
              </a:r>
              <a:endParaRPr lang="en-US" sz="1100" b="1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362450" y="4551037"/>
              <a:ext cx="1781504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클릭시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, 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설비 추가 팝업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(CA6.8.1)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출력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3886200" y="4541295"/>
            <a:ext cx="2296069" cy="31892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아래의    버튼은 관리자에게만 노출되는 버튼</a:t>
            </a:r>
            <a:endParaRPr lang="en-US" altLang="ko-KR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※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아래의 버튼들은 마우스 오버시에만 출력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3925151" y="5844436"/>
            <a:ext cx="2539404" cy="197815"/>
            <a:chOff x="3925151" y="4891936"/>
            <a:chExt cx="2539404" cy="197815"/>
          </a:xfrm>
        </p:grpSpPr>
        <p:sp>
          <p:nvSpPr>
            <p:cNvPr id="85" name="타원 84"/>
            <p:cNvSpPr>
              <a:spLocks noChangeAspect="1"/>
            </p:cNvSpPr>
            <p:nvPr/>
          </p:nvSpPr>
          <p:spPr>
            <a:xfrm>
              <a:off x="3925151" y="4909591"/>
              <a:ext cx="152062" cy="153205"/>
            </a:xfrm>
            <a:prstGeom prst="ellipse">
              <a:avLst/>
            </a:prstGeom>
            <a:solidFill>
              <a:srgbClr val="FF0000"/>
            </a:solidFill>
            <a:ln w="3175"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</a:t>
              </a:r>
              <a:endParaRPr kumimoji="1" lang="ko-KR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6" name="그룹 85"/>
            <p:cNvGrpSpPr/>
            <p:nvPr/>
          </p:nvGrpSpPr>
          <p:grpSpPr>
            <a:xfrm>
              <a:off x="4159041" y="4891936"/>
              <a:ext cx="2305514" cy="197815"/>
              <a:chOff x="4159041" y="4549036"/>
              <a:chExt cx="2305514" cy="197815"/>
            </a:xfrm>
          </p:grpSpPr>
          <p:sp>
            <p:nvSpPr>
              <p:cNvPr id="87" name="TextBox 86"/>
              <p:cNvSpPr txBox="1"/>
              <p:nvPr/>
            </p:nvSpPr>
            <p:spPr>
              <a:xfrm>
                <a:off x="4159041" y="4549036"/>
                <a:ext cx="10099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r>
                  <a:rPr lang="en-US" altLang="ko-KR" sz="1100" b="1" dirty="0" smtClean="0">
                    <a:solidFill>
                      <a:prstClr val="white">
                        <a:lumMod val="50000"/>
                      </a:prstClr>
                    </a:solidFill>
                    <a:latin typeface="+mn-ea"/>
                    <a:ea typeface="+mn-ea"/>
                  </a:rPr>
                  <a:t>+</a:t>
                </a:r>
                <a:endParaRPr lang="en-US" sz="1100" b="1" dirty="0">
                  <a:solidFill>
                    <a:prstClr val="white">
                      <a:lumMod val="50000"/>
                    </a:prst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4362450" y="4551037"/>
                <a:ext cx="2102105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클릭시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,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설비 그룹 추가 팝업</a:t>
                </a: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(CA6.9.2.1)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 출력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</p:grpSp>
      <p:sp>
        <p:nvSpPr>
          <p:cNvPr id="91" name="TextBox 90"/>
          <p:cNvSpPr txBox="1"/>
          <p:nvPr/>
        </p:nvSpPr>
        <p:spPr>
          <a:xfrm>
            <a:off x="4394567" y="4538645"/>
            <a:ext cx="100990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 smtClean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89" name="Freeform 24"/>
          <p:cNvSpPr>
            <a:spLocks noChangeArrowheads="1"/>
          </p:cNvSpPr>
          <p:nvPr/>
        </p:nvSpPr>
        <p:spPr bwMode="auto">
          <a:xfrm>
            <a:off x="993126" y="2854900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9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1124411" y="3024633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9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9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9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1124411" y="3230195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9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9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9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1124411" y="3435758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9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pic>
        <p:nvPicPr>
          <p:cNvPr id="101" name="그림 100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695" y="3007496"/>
            <a:ext cx="152186" cy="152186"/>
          </a:xfrm>
          <a:prstGeom prst="rect">
            <a:avLst/>
          </a:prstGeom>
        </p:spPr>
      </p:pic>
      <p:sp>
        <p:nvSpPr>
          <p:cNvPr id="90" name="타원 89"/>
          <p:cNvSpPr>
            <a:spLocks noChangeAspect="1"/>
          </p:cNvSpPr>
          <p:nvPr/>
        </p:nvSpPr>
        <p:spPr>
          <a:xfrm>
            <a:off x="1824875" y="4624869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3" name="텍스트 상자 31"/>
          <p:cNvSpPr txBox="1"/>
          <p:nvPr/>
        </p:nvSpPr>
        <p:spPr>
          <a:xfrm>
            <a:off x="991161" y="4671420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24" name="Freeform 24"/>
          <p:cNvSpPr>
            <a:spLocks noChangeArrowheads="1"/>
          </p:cNvSpPr>
          <p:nvPr/>
        </p:nvSpPr>
        <p:spPr bwMode="auto">
          <a:xfrm>
            <a:off x="837028" y="4700061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25" name="텍스트 상자 31"/>
          <p:cNvSpPr txBox="1"/>
          <p:nvPr/>
        </p:nvSpPr>
        <p:spPr>
          <a:xfrm>
            <a:off x="1006233" y="4794660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26" name="Freeform 24"/>
          <p:cNvSpPr>
            <a:spLocks noChangeArrowheads="1"/>
          </p:cNvSpPr>
          <p:nvPr/>
        </p:nvSpPr>
        <p:spPr bwMode="auto">
          <a:xfrm>
            <a:off x="1007845" y="4895848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2024927" y="4617907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12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1152986" y="5061809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12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3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3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1152986" y="5259635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13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3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903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7069" y="1426493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목록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822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27227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7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설비 </a:t>
            </a:r>
            <a:r>
              <a:rPr kumimoji="1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예약하기</a:t>
            </a:r>
            <a:endParaRPr kumimoji="1" lang="x-none" altLang="x-none" sz="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16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설정</a:t>
              </a:r>
              <a:endParaRPr kumimoji="1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cxnSp>
        <p:nvCxnSpPr>
          <p:cNvPr id="13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7"/>
          <p:cNvCxnSpPr/>
          <p:nvPr/>
        </p:nvCxnSpPr>
        <p:spPr>
          <a:xfrm>
            <a:off x="2019038" y="1063409"/>
            <a:ext cx="55241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20" name="직선 연결선[R] 7"/>
          <p:cNvCxnSpPr/>
          <p:nvPr/>
        </p:nvCxnSpPr>
        <p:spPr>
          <a:xfrm>
            <a:off x="1971413" y="106340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24" name="텍스트 상자 31"/>
          <p:cNvSpPr txBox="1"/>
          <p:nvPr/>
        </p:nvSpPr>
        <p:spPr>
          <a:xfrm>
            <a:off x="2081146" y="839242"/>
            <a:ext cx="156575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2017.09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5" name="Group 532"/>
          <p:cNvGrpSpPr/>
          <p:nvPr/>
        </p:nvGrpSpPr>
        <p:grpSpPr>
          <a:xfrm>
            <a:off x="2729701" y="851474"/>
            <a:ext cx="540610" cy="144000"/>
            <a:chOff x="3113961" y="1702107"/>
            <a:chExt cx="540610" cy="144000"/>
          </a:xfrm>
        </p:grpSpPr>
        <p:sp>
          <p:nvSpPr>
            <p:cNvPr id="26" name="Freeform 9"/>
            <p:cNvSpPr>
              <a:spLocks noChangeArrowheads="1"/>
            </p:cNvSpPr>
            <p:nvPr/>
          </p:nvSpPr>
          <p:spPr bwMode="auto">
            <a:xfrm>
              <a:off x="31139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27" name="Freeform 10"/>
            <p:cNvSpPr>
              <a:spLocks noChangeArrowheads="1"/>
            </p:cNvSpPr>
            <p:nvPr/>
          </p:nvSpPr>
          <p:spPr bwMode="auto">
            <a:xfrm>
              <a:off x="32475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28" name="Rounded Rectangle 535"/>
            <p:cNvSpPr/>
            <p:nvPr/>
          </p:nvSpPr>
          <p:spPr>
            <a:xfrm>
              <a:off x="3373429" y="1702107"/>
              <a:ext cx="281142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오늘</a:t>
              </a: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aphicFrame>
        <p:nvGraphicFramePr>
          <p:cNvPr id="10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87381"/>
              </p:ext>
            </p:extLst>
          </p:nvPr>
        </p:nvGraphicFramePr>
        <p:xfrm>
          <a:off x="9267471" y="745639"/>
          <a:ext cx="2862045" cy="343797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등록된 일정</a:t>
                      </a:r>
                      <a:endParaRPr lang="en-US" altLang="ko-KR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해당 설비에 예약된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일정을 해당 날짜 범위 내에 표시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표시 정보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시간 표시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제목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종일 일정일 경우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‘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종일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’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제공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  <a:endParaRPr kumimoji="1" lang="ko-KR" altLang="en-US" sz="8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strike="sngStrike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 최대 일정</a:t>
                      </a:r>
                      <a:r>
                        <a:rPr kumimoji="1" lang="en-US" altLang="ko-KR" sz="800" strike="sngStrike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3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개 표시하며</a:t>
                      </a:r>
                      <a:r>
                        <a:rPr kumimoji="1" lang="en-US" altLang="ko-KR" sz="800" strike="sngStrike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그 이후 일정은 </a:t>
                      </a:r>
                      <a:r>
                        <a:rPr kumimoji="1" lang="en-US" altLang="ko-KR" sz="800" strike="sngStrike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+N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개 </a:t>
                      </a:r>
                      <a:r>
                        <a:rPr kumimoji="1" lang="ko-KR" altLang="en-US" sz="800" strike="sngStrike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더보기</a:t>
                      </a:r>
                      <a:r>
                        <a:rPr kumimoji="1" lang="ko-KR" altLang="en-US" sz="800" strike="sngStrike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trike="sngStrike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버튼 제공</a:t>
                      </a:r>
                      <a:endParaRPr kumimoji="1" lang="en-US" altLang="ko-KR" sz="800" strike="sngStrike" baseline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해상도에 따라 가로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세로 사이즈는 가변적이므로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일에 출력될 수 있는 일정도 가변적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이에 따라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+N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개수는 가변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82563" indent="-171450" algn="l" defTabSz="914400">
                        <a:buSzPct val="75000"/>
                        <a:buFont typeface="Wingdings" panose="05000000000000000000" pitchFamily="2" charset="2"/>
                        <a:buChar char="v"/>
                        <a:tabLst/>
                        <a:defRPr sz="2000"/>
                      </a:pP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인터렉션 가이드 참조</a:t>
                      </a:r>
                      <a:endParaRPr kumimoji="1" lang="ko-KR" altLang="en-US" sz="800" baseline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N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개 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더보기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버튼 선택 시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등록된 전체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(1-1)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회 선택 시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원클릭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 간편보기 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2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회 선택 시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더블클릭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en-US" altLang="ko-KR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일정 상세보기 </a:t>
                      </a:r>
                      <a:r>
                        <a:rPr kumimoji="1" lang="ko-KR" altLang="en-US" sz="800" baseline="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새창</a:t>
                      </a:r>
                      <a:r>
                        <a:rPr kumimoji="1" lang="ko-KR" altLang="en-US" sz="80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지나간 일정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: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시각적으로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Dimmed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표시</a:t>
                      </a:r>
                    </a:p>
                  </a:txBody>
                  <a:tcPr marL="36000" marR="36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1-1</a:t>
                      </a:r>
                      <a:endParaRPr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등록된 전체 일정</a:t>
                      </a:r>
                      <a:endParaRPr lang="en-US" altLang="ko-KR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선택한 일자에 등록된 일정이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3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개 이상인 경우 </a:t>
                      </a:r>
                      <a:r>
                        <a:rPr kumimoji="1"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+N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개 </a:t>
                      </a:r>
                      <a:r>
                        <a:rPr kumimoji="1" lang="ko-KR" altLang="en-US" sz="8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더보기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버튼을 선택 시 </a:t>
                      </a:r>
                      <a:r>
                        <a:rPr kumimoji="1" lang="ko-KR" altLang="en-US" sz="8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레이어</a:t>
                      </a: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팝업으로 제공</a:t>
                      </a:r>
                    </a:p>
                    <a:p>
                      <a:pPr marL="90488" indent="-79375" algn="l" defTabSz="914400">
                        <a:buSzPct val="75000"/>
                        <a:buFont typeface="Arial" charset="0"/>
                        <a:buChar char="•"/>
                        <a:tabLst/>
                        <a:defRPr sz="2000"/>
                      </a:pPr>
                      <a:r>
                        <a:rPr kumimoji="1" lang="ko-KR" alt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해당 팝업 내 개별 일정 선택 시 일정 상세보기 </a:t>
                      </a:r>
                      <a:r>
                        <a:rPr kumimoji="1" lang="ko-KR" altLang="en-US" sz="80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새창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제공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1-2</a:t>
                      </a:r>
                      <a:endParaRPr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해당 영역 선택시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간편 설비 예약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layer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93354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해당 설비 달력내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on/off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기능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44591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내가 예약한 설비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on/off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기능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(default :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체크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533342"/>
                  </a:ext>
                </a:extLst>
              </a:tr>
            </a:tbl>
          </a:graphicData>
        </a:graphic>
      </p:graphicFrame>
      <p:grpSp>
        <p:nvGrpSpPr>
          <p:cNvPr id="133" name="그룹 132"/>
          <p:cNvGrpSpPr/>
          <p:nvPr/>
        </p:nvGrpSpPr>
        <p:grpSpPr>
          <a:xfrm>
            <a:off x="6991166" y="829761"/>
            <a:ext cx="1030245" cy="180000"/>
            <a:chOff x="6443058" y="1673426"/>
            <a:chExt cx="1030245" cy="180000"/>
          </a:xfrm>
        </p:grpSpPr>
        <p:grpSp>
          <p:nvGrpSpPr>
            <p:cNvPr id="134" name="Group 21"/>
            <p:cNvGrpSpPr/>
            <p:nvPr/>
          </p:nvGrpSpPr>
          <p:grpSpPr>
            <a:xfrm>
              <a:off x="6443058" y="1673426"/>
              <a:ext cx="344208" cy="180000"/>
              <a:chOff x="6706916" y="1673426"/>
              <a:chExt cx="344208" cy="180000"/>
            </a:xfrm>
          </p:grpSpPr>
          <p:sp>
            <p:nvSpPr>
              <p:cNvPr id="152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53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54" name="Rectangle 625"/>
              <p:cNvSpPr/>
              <p:nvPr/>
            </p:nvSpPr>
            <p:spPr>
              <a:xfrm>
                <a:off x="6745093" y="1714887"/>
                <a:ext cx="77071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55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월간</a:t>
                </a:r>
                <a:endParaRPr kumimoji="1" lang="ko-KR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5" name="Group 548"/>
            <p:cNvGrpSpPr/>
            <p:nvPr/>
          </p:nvGrpSpPr>
          <p:grpSpPr>
            <a:xfrm>
              <a:off x="6784180" y="1673426"/>
              <a:ext cx="344208" cy="180000"/>
              <a:chOff x="6706916" y="1673426"/>
              <a:chExt cx="344208" cy="180000"/>
            </a:xfrm>
          </p:grpSpPr>
          <p:sp>
            <p:nvSpPr>
              <p:cNvPr id="150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51" name="텍스트 상자 31"/>
              <p:cNvSpPr txBox="1"/>
              <p:nvPr/>
            </p:nvSpPr>
            <p:spPr>
              <a:xfrm>
                <a:off x="6852300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주간</a:t>
                </a:r>
                <a:endParaRPr kumimoji="1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6" name="Group 22"/>
            <p:cNvGrpSpPr/>
            <p:nvPr/>
          </p:nvGrpSpPr>
          <p:grpSpPr>
            <a:xfrm>
              <a:off x="6812150" y="1714887"/>
              <a:ext cx="102895" cy="76173"/>
              <a:chOff x="7271815" y="1714887"/>
              <a:chExt cx="102895" cy="76173"/>
            </a:xfrm>
          </p:grpSpPr>
          <p:sp>
            <p:nvSpPr>
              <p:cNvPr id="147" name="Rectangle 625"/>
              <p:cNvSpPr/>
              <p:nvPr/>
            </p:nvSpPr>
            <p:spPr>
              <a:xfrm>
                <a:off x="7338279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48" name="Rectangle 625"/>
              <p:cNvSpPr/>
              <p:nvPr/>
            </p:nvSpPr>
            <p:spPr>
              <a:xfrm>
                <a:off x="7305047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49" name="Rectangle 625"/>
              <p:cNvSpPr/>
              <p:nvPr/>
            </p:nvSpPr>
            <p:spPr>
              <a:xfrm>
                <a:off x="7271815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</p:grpSp>
        <p:grpSp>
          <p:nvGrpSpPr>
            <p:cNvPr id="137" name="Group 553"/>
            <p:cNvGrpSpPr/>
            <p:nvPr/>
          </p:nvGrpSpPr>
          <p:grpSpPr>
            <a:xfrm>
              <a:off x="7129095" y="1673426"/>
              <a:ext cx="344208" cy="180000"/>
              <a:chOff x="6706916" y="1673426"/>
              <a:chExt cx="344208" cy="180000"/>
            </a:xfrm>
          </p:grpSpPr>
          <p:sp>
            <p:nvSpPr>
              <p:cNvPr id="144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noFill/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45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46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일간</a:t>
                </a:r>
                <a:endParaRPr kumimoji="1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72" name="Group 168"/>
          <p:cNvGrpSpPr/>
          <p:nvPr/>
        </p:nvGrpSpPr>
        <p:grpSpPr>
          <a:xfrm>
            <a:off x="8439259" y="816988"/>
            <a:ext cx="162000" cy="180000"/>
            <a:chOff x="7681408" y="2293428"/>
            <a:chExt cx="161707" cy="180000"/>
          </a:xfrm>
        </p:grpSpPr>
        <p:sp>
          <p:nvSpPr>
            <p:cNvPr id="73" name="Rounded Rectangle 169"/>
            <p:cNvSpPr/>
            <p:nvPr/>
          </p:nvSpPr>
          <p:spPr>
            <a:xfrm>
              <a:off x="7681408" y="2293428"/>
              <a:ext cx="161707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74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8147040" y="817141"/>
            <a:ext cx="216000" cy="180000"/>
            <a:chOff x="8455344" y="813130"/>
            <a:chExt cx="216000" cy="180000"/>
          </a:xfrm>
        </p:grpSpPr>
        <p:sp>
          <p:nvSpPr>
            <p:cNvPr id="76" name="Rounded Rectangle 169"/>
            <p:cNvSpPr/>
            <p:nvPr/>
          </p:nvSpPr>
          <p:spPr>
            <a:xfrm>
              <a:off x="8455344" y="813130"/>
              <a:ext cx="216000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pic>
          <p:nvPicPr>
            <p:cNvPr id="77" name="내용 개체 틀 3"/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3805" y="824238"/>
              <a:ext cx="162000" cy="162000"/>
            </a:xfrm>
            <a:prstGeom prst="rect">
              <a:avLst/>
            </a:prstGeom>
          </p:spPr>
        </p:pic>
      </p:grpSp>
      <p:sp>
        <p:nvSpPr>
          <p:cNvPr id="94" name="Rectangle 417"/>
          <p:cNvSpPr/>
          <p:nvPr/>
        </p:nvSpPr>
        <p:spPr>
          <a:xfrm>
            <a:off x="2026859" y="2769756"/>
            <a:ext cx="931020" cy="57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층 </a:t>
            </a:r>
            <a:r>
              <a:rPr kumimoji="1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</a:t>
            </a: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회의실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95" name="Rectangle 418"/>
          <p:cNvSpPr/>
          <p:nvPr/>
        </p:nvSpPr>
        <p:spPr>
          <a:xfrm>
            <a:off x="2026859" y="3455577"/>
            <a:ext cx="931020" cy="57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층 </a:t>
            </a:r>
            <a:r>
              <a:rPr kumimoji="1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</a:t>
            </a: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회의실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96" name="Rectangle 419"/>
          <p:cNvSpPr/>
          <p:nvPr/>
        </p:nvSpPr>
        <p:spPr>
          <a:xfrm>
            <a:off x="2026859" y="4141398"/>
            <a:ext cx="931020" cy="57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층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</a:t>
            </a: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회의실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97" name="Rectangle 163"/>
          <p:cNvSpPr/>
          <p:nvPr/>
        </p:nvSpPr>
        <p:spPr>
          <a:xfrm>
            <a:off x="2026859" y="4827219"/>
            <a:ext cx="931020" cy="57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층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</a:t>
            </a: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회의실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98" name="Rectangle 164"/>
          <p:cNvSpPr/>
          <p:nvPr/>
        </p:nvSpPr>
        <p:spPr>
          <a:xfrm>
            <a:off x="2026859" y="5513043"/>
            <a:ext cx="931020" cy="57600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층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</a:t>
            </a: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회의실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aphicFrame>
        <p:nvGraphicFramePr>
          <p:cNvPr id="101" name="내용 개체 틀 2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8837291"/>
              </p:ext>
            </p:extLst>
          </p:nvPr>
        </p:nvGraphicFramePr>
        <p:xfrm>
          <a:off x="3019519" y="1109402"/>
          <a:ext cx="6002241" cy="495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4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4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70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일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월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화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수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목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금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토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657506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27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28</a:t>
                      </a:r>
                      <a:endParaRPr lang="ko-KR" altLang="en-US" sz="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29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30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31</a:t>
                      </a:r>
                      <a:endParaRPr lang="ko-KR" altLang="en-US" sz="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    </a:t>
                      </a:r>
                      <a:r>
                        <a:rPr lang="ko-KR" altLang="en-US" sz="700" smtClean="0">
                          <a:solidFill>
                            <a:srgbClr val="FF0000"/>
                          </a:solidFill>
                        </a:rPr>
                        <a:t>대체공휴일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12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13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14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15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16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17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18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21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22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23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24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25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26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27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28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29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31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ko-KR" altLang="en-US" sz="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ko-KR" altLang="en-US" sz="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ko-KR" altLang="en-US" sz="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9" name="TextBox 128"/>
          <p:cNvSpPr txBox="1"/>
          <p:nvPr/>
        </p:nvSpPr>
        <p:spPr>
          <a:xfrm>
            <a:off x="6011962" y="821037"/>
            <a:ext cx="887029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내 예약한 설비 확인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5590109" y="2317635"/>
            <a:ext cx="857250" cy="1524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92075" indent="-92075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09:00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경영전략회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0" name="Rectangle 389"/>
          <p:cNvSpPr/>
          <p:nvPr/>
        </p:nvSpPr>
        <p:spPr>
          <a:xfrm>
            <a:off x="2026859" y="1398114"/>
            <a:ext cx="931020" cy="57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algn="ctr"/>
            <a:r>
              <a:rPr lang="en-US" altLang="ko-KR" sz="800" u="sng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u="sng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 </a:t>
            </a:r>
            <a:r>
              <a:rPr lang="en-US" altLang="ko-KR" sz="800" u="sng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 sz="800" u="sng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회의실</a:t>
            </a:r>
            <a:endParaRPr lang="en-US" sz="800" u="sng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1" name="Rectangle 416"/>
          <p:cNvSpPr/>
          <p:nvPr/>
        </p:nvSpPr>
        <p:spPr>
          <a:xfrm>
            <a:off x="2026859" y="2083935"/>
            <a:ext cx="931020" cy="57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층 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</a:t>
            </a:r>
            <a:r>
              <a: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회의실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292" name="직사각형 291"/>
          <p:cNvSpPr/>
          <p:nvPr/>
        </p:nvSpPr>
        <p:spPr>
          <a:xfrm>
            <a:off x="5590109" y="2477655"/>
            <a:ext cx="857250" cy="1524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92075" indent="-92075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10:00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경영전략회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3" name="직사각형 292"/>
          <p:cNvSpPr/>
          <p:nvPr/>
        </p:nvSpPr>
        <p:spPr>
          <a:xfrm>
            <a:off x="5590109" y="2637675"/>
            <a:ext cx="857250" cy="1524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92075" indent="-92075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16:00 </a:t>
            </a:r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경영전략회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631357" y="2751638"/>
            <a:ext cx="188119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7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+4</a:t>
            </a:r>
            <a:endParaRPr lang="ko-KR" altLang="en-US" sz="700" b="1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5" name="TextBox 294"/>
          <p:cNvSpPr txBox="1"/>
          <p:nvPr/>
        </p:nvSpPr>
        <p:spPr>
          <a:xfrm>
            <a:off x="6027597" y="2759332"/>
            <a:ext cx="409334" cy="184666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음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 07.29</a:t>
            </a:r>
            <a:endParaRPr lang="ko-KR" altLang="en-US" sz="6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06" name="Group 183"/>
          <p:cNvGrpSpPr/>
          <p:nvPr/>
        </p:nvGrpSpPr>
        <p:grpSpPr>
          <a:xfrm>
            <a:off x="5591917" y="3206775"/>
            <a:ext cx="2323365" cy="1760552"/>
            <a:chOff x="8284464" y="5375189"/>
            <a:chExt cx="2323365" cy="1760552"/>
          </a:xfrm>
        </p:grpSpPr>
        <p:sp>
          <p:nvSpPr>
            <p:cNvPr id="107" name="Rectangle 184"/>
            <p:cNvSpPr/>
            <p:nvPr/>
          </p:nvSpPr>
          <p:spPr>
            <a:xfrm>
              <a:off x="8284464" y="5375189"/>
              <a:ext cx="2323365" cy="17605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8" name="텍스트 상자 31"/>
            <p:cNvSpPr txBox="1"/>
            <p:nvPr/>
          </p:nvSpPr>
          <p:spPr>
            <a:xfrm>
              <a:off x="8387102" y="5470127"/>
              <a:ext cx="86926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09-10(</a:t>
              </a:r>
              <a:r>
                <a:rPr kumimoji="1" lang="ko-KR" altLang="en-US" sz="9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목</a:t>
              </a:r>
              <a:r>
                <a:rPr kumimoji="1" lang="en-US" altLang="ko-KR" sz="9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</a:t>
              </a:r>
              <a:endParaRPr kumimoji="1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09" name="직선 연결선[R] 33"/>
            <p:cNvCxnSpPr/>
            <p:nvPr/>
          </p:nvCxnSpPr>
          <p:spPr>
            <a:xfrm>
              <a:off x="8284464" y="5687416"/>
              <a:ext cx="2304812" cy="0"/>
            </a:xfrm>
            <a:prstGeom prst="line">
              <a:avLst/>
            </a:prstGeom>
            <a:ln w="12700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텍스트 상자 31"/>
            <p:cNvSpPr txBox="1"/>
            <p:nvPr/>
          </p:nvSpPr>
          <p:spPr>
            <a:xfrm>
              <a:off x="8387098" y="5749557"/>
              <a:ext cx="1203780" cy="12557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sng" strike="noStrike" kern="120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회의실 </a:t>
              </a:r>
              <a:r>
                <a:rPr kumimoji="1" lang="en-US" altLang="ko-KR" sz="800" i="0" u="sng" strike="noStrike" kern="120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</a:t>
              </a:r>
            </a:p>
            <a:p>
              <a:pPr marL="0" marR="0" lvl="0" indent="0" algn="l" defTabSz="914400" rtl="0" eaLnBrk="1" fontAlgn="base" latinLnBrk="1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sng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빔 </a:t>
              </a:r>
              <a:r>
                <a:rPr kumimoji="1" lang="ko-KR" altLang="en-US" sz="800" i="0" u="sng" strike="noStrike" kern="1200" cap="none" spc="0" normalizeH="0" baseline="0" noProof="0" dirty="0" err="1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프로젝터</a:t>
              </a:r>
              <a:endParaRPr kumimoji="1" lang="en-US" altLang="ko-KR" sz="800" i="0" u="sng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sng" strike="noStrike" kern="120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차량</a:t>
              </a:r>
              <a:endParaRPr kumimoji="1" lang="en-US" altLang="ko-KR" sz="800" i="0" u="sng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base" latinLnBrk="1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sng" strike="noStrike" kern="120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노트북</a:t>
              </a:r>
            </a:p>
            <a:p>
              <a:pPr marL="0" marR="0" lvl="0" indent="0" algn="l" defTabSz="914400" rtl="0" eaLnBrk="1" fontAlgn="base" latinLnBrk="1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sng" strike="noStrike" kern="120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설비종류 </a:t>
              </a:r>
              <a:r>
                <a:rPr kumimoji="1" lang="en-US" altLang="ko-KR" sz="800" i="0" u="sng" strike="noStrike" kern="1200" cap="none" spc="0" normalizeH="0" baseline="0" noProof="0" dirty="0" smtClean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 </a:t>
              </a:r>
            </a:p>
            <a:p>
              <a:pPr marL="0" marR="0" lvl="0" indent="0" algn="l" defTabSz="914400" rtl="0" eaLnBrk="1" fontAlgn="base" latinLnBrk="1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i="0" u="sng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설비종류 </a:t>
              </a:r>
              <a:r>
                <a:rPr kumimoji="1" lang="en-US" altLang="ko-KR" sz="800" i="0" u="sng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</a:t>
              </a:r>
            </a:p>
          </p:txBody>
        </p:sp>
        <p:sp>
          <p:nvSpPr>
            <p:cNvPr id="111" name="텍스트 상자 31"/>
            <p:cNvSpPr txBox="1"/>
            <p:nvPr/>
          </p:nvSpPr>
          <p:spPr>
            <a:xfrm>
              <a:off x="9694690" y="5749557"/>
              <a:ext cx="809327" cy="12557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914400" rtl="0" eaLnBrk="1" fontAlgn="base" latinLnBrk="1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오전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10</a:t>
              </a:r>
              <a:r>
                <a:rPr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:00</a:t>
              </a: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r" defTabSz="914400" rtl="0" eaLnBrk="1" fontAlgn="base" latinLnBrk="1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오후 </a:t>
              </a:r>
              <a:r>
                <a:rPr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01:00</a:t>
              </a: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r" defTabSz="914400" rtl="0" eaLnBrk="1" fontAlgn="base" latinLnBrk="1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오후 </a:t>
              </a:r>
              <a:r>
                <a:rPr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06:00</a:t>
              </a: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r" defTabSz="914400" rtl="0" eaLnBrk="1" fontAlgn="base" latinLnBrk="1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오후 </a:t>
              </a:r>
              <a:r>
                <a:rPr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07:00</a:t>
              </a: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r" defTabSz="914400" rtl="0" eaLnBrk="1" fontAlgn="base" latinLnBrk="1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오후 </a:t>
              </a:r>
              <a:r>
                <a:rPr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08:30</a:t>
              </a: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r" defTabSz="914400" rtl="0" eaLnBrk="1" fontAlgn="base" latinLnBrk="1" hangingPunct="1">
                <a:lnSpc>
                  <a:spcPct val="17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오후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09:00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Freeform 11"/>
            <p:cNvSpPr>
              <a:spLocks noChangeAspect="1" noChangeArrowheads="1"/>
            </p:cNvSpPr>
            <p:nvPr/>
          </p:nvSpPr>
          <p:spPr bwMode="auto">
            <a:xfrm>
              <a:off x="10422419" y="5465728"/>
              <a:ext cx="108000" cy="108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113" name="텍스트 상자 31"/>
            <p:cNvSpPr txBox="1"/>
            <p:nvPr/>
          </p:nvSpPr>
          <p:spPr>
            <a:xfrm>
              <a:off x="9240997" y="5470127"/>
              <a:ext cx="4027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설비 </a:t>
              </a:r>
              <a:r>
                <a:rPr kumimoji="1" lang="en-US" altLang="ko-KR" sz="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6</a:t>
              </a:r>
              <a:r>
                <a:rPr kumimoji="1" lang="ko-KR" altLang="en-US" sz="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개   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8" name="모서리가 둥근 직사각형 47"/>
          <p:cNvSpPr/>
          <p:nvPr/>
        </p:nvSpPr>
        <p:spPr>
          <a:xfrm>
            <a:off x="5582392" y="2790076"/>
            <a:ext cx="304058" cy="1539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>
            <a:off x="5813981" y="2953576"/>
            <a:ext cx="0" cy="218286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06384" y="3023032"/>
            <a:ext cx="899853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800" smtClean="0">
                <a:solidFill>
                  <a:srgbClr val="0000FF"/>
                </a:solidFill>
                <a:latin typeface="+mn-ea"/>
                <a:ea typeface="+mn-ea"/>
              </a:rPr>
              <a:t>화면</a:t>
            </a:r>
            <a:r>
              <a:rPr lang="en-US" altLang="ko-KR" sz="800" smtClean="0">
                <a:solidFill>
                  <a:srgbClr val="0000FF"/>
                </a:solidFill>
                <a:latin typeface="+mn-ea"/>
                <a:ea typeface="+mn-ea"/>
              </a:rPr>
              <a:t>ID : CA6.5.1.1</a:t>
            </a:r>
            <a:endParaRPr lang="ko-KR" altLang="en-US" sz="800" dirty="0" smtClean="0">
              <a:solidFill>
                <a:srgbClr val="0000FF"/>
              </a:solidFill>
              <a:latin typeface="+mn-ea"/>
              <a:ea typeface="+mn-ea"/>
            </a:endParaRPr>
          </a:p>
        </p:txBody>
      </p:sp>
      <p:grpSp>
        <p:nvGrpSpPr>
          <p:cNvPr id="297" name="그룹 296"/>
          <p:cNvGrpSpPr/>
          <p:nvPr/>
        </p:nvGrpSpPr>
        <p:grpSpPr>
          <a:xfrm>
            <a:off x="2047792" y="1106585"/>
            <a:ext cx="910088" cy="187378"/>
            <a:chOff x="9370634" y="3878398"/>
            <a:chExt cx="1087323" cy="187378"/>
          </a:xfrm>
        </p:grpSpPr>
        <p:sp>
          <p:nvSpPr>
            <p:cNvPr id="298" name="Triangle 942"/>
            <p:cNvSpPr>
              <a:spLocks noChangeAspect="1"/>
            </p:cNvSpPr>
            <p:nvPr/>
          </p:nvSpPr>
          <p:spPr>
            <a:xfrm flipV="1">
              <a:off x="10300043" y="3944136"/>
              <a:ext cx="94214" cy="54000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ＭＳ Ｐゴシック" charset="0"/>
              </a:endParaRPr>
            </a:p>
          </p:txBody>
        </p:sp>
        <p:sp>
          <p:nvSpPr>
            <p:cNvPr id="299" name="Rectangle 14"/>
            <p:cNvSpPr>
              <a:spLocks/>
            </p:cNvSpPr>
            <p:nvPr/>
          </p:nvSpPr>
          <p:spPr bwMode="auto">
            <a:xfrm>
              <a:off x="9370634" y="3878398"/>
              <a:ext cx="1087323" cy="187378"/>
            </a:xfrm>
            <a:prstGeom prst="rect">
              <a:avLst/>
            </a:prstGeom>
            <a:noFill/>
            <a:ln w="6350" cap="flat" cmpd="sng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 marL="0" marR="0" lvl="0" indent="0" algn="l" defTabSz="914400" rtl="0" eaLnBrk="1" fontAlgn="base" latinLnBrk="1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x-none" sz="7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rPr>
                <a:t>   </a:t>
              </a:r>
              <a:r>
                <a:rPr kumimoji="1" lang="ko-KR" altLang="en-US" sz="7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전체</a:t>
              </a:r>
              <a:endParaRPr kumimoji="1" lang="ko-KR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4" name="타원 113"/>
          <p:cNvSpPr>
            <a:spLocks noChangeAspect="1"/>
          </p:cNvSpPr>
          <p:nvPr/>
        </p:nvSpPr>
        <p:spPr>
          <a:xfrm>
            <a:off x="5487251" y="2023429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5" name="타원 114"/>
          <p:cNvSpPr>
            <a:spLocks noChangeAspect="1"/>
          </p:cNvSpPr>
          <p:nvPr/>
        </p:nvSpPr>
        <p:spPr>
          <a:xfrm>
            <a:off x="7363676" y="3261766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7304609" y="2317635"/>
            <a:ext cx="857250" cy="1524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635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50800" tIns="50800" rIns="50800" bIns="50800" anchor="ctr"/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700" smtClean="0">
                <a:solidFill>
                  <a:schemeClr val="tx1">
                    <a:lumMod val="95000"/>
                    <a:lumOff val="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종일 경영전략회</a:t>
            </a:r>
            <a:endParaRPr lang="ko-KR" altLang="en-US" sz="700" dirty="0">
              <a:solidFill>
                <a:schemeClr val="tx1">
                  <a:lumMod val="95000"/>
                  <a:lumOff val="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0" name="직선 화살표 연결선 119"/>
          <p:cNvCxnSpPr/>
          <p:nvPr/>
        </p:nvCxnSpPr>
        <p:spPr>
          <a:xfrm>
            <a:off x="8916022" y="1296779"/>
            <a:ext cx="0" cy="5273560"/>
          </a:xfrm>
          <a:prstGeom prst="straightConnector1">
            <a:avLst/>
          </a:prstGeom>
          <a:ln w="3175">
            <a:solidFill>
              <a:srgbClr val="FF0066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 rot="5400000">
            <a:off x="8757410" y="3945238"/>
            <a:ext cx="511926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700" smtClean="0">
                <a:solidFill>
                  <a:srgbClr val="FF0000"/>
                </a:solidFill>
                <a:latin typeface="+mn-ea"/>
                <a:ea typeface="+mn-ea"/>
              </a:rPr>
              <a:t>Scroll Area</a:t>
            </a:r>
            <a:endParaRPr lang="ko-KR" altLang="en-US" sz="7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월간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CA6.5.1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5813981" y="2148716"/>
            <a:ext cx="596344" cy="137284"/>
          </a:xfrm>
          <a:prstGeom prst="roundRect">
            <a:avLst/>
          </a:prstGeom>
          <a:solidFill>
            <a:srgbClr val="0000FF">
              <a:alpha val="40000"/>
            </a:srgbClr>
          </a:solidFill>
          <a:ln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1" name="모서리가 둥근 직사각형 130"/>
          <p:cNvSpPr/>
          <p:nvPr/>
        </p:nvSpPr>
        <p:spPr>
          <a:xfrm>
            <a:off x="5911273" y="2794000"/>
            <a:ext cx="499052" cy="129310"/>
          </a:xfrm>
          <a:prstGeom prst="roundRect">
            <a:avLst/>
          </a:prstGeom>
          <a:solidFill>
            <a:srgbClr val="0000FF">
              <a:alpha val="40000"/>
            </a:srgbClr>
          </a:solidFill>
          <a:ln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2" name="타원 131"/>
          <p:cNvSpPr>
            <a:spLocks noChangeAspect="1"/>
          </p:cNvSpPr>
          <p:nvPr/>
        </p:nvSpPr>
        <p:spPr>
          <a:xfrm>
            <a:off x="6306401" y="2071054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1-2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9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00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설비 </a:t>
            </a:r>
            <a:r>
              <a:rPr kumimoji="1" lang="en-US" altLang="ko-KR" sz="700" b="1" dirty="0" smtClean="0">
                <a:solidFill>
                  <a:srgbClr val="FF0000"/>
                </a:solidFill>
                <a:latin typeface="+mn-ea"/>
              </a:rPr>
              <a:t>3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01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2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208" name="그룹 207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209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217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21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1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2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2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2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2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2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2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26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4" name="모서리가 둥근 직사각형 3"/>
          <p:cNvSpPr/>
          <p:nvPr/>
        </p:nvSpPr>
        <p:spPr>
          <a:xfrm>
            <a:off x="733425" y="2105025"/>
            <a:ext cx="238125" cy="647700"/>
          </a:xfrm>
          <a:prstGeom prst="roundRect">
            <a:avLst/>
          </a:prstGeom>
          <a:noFill/>
          <a:ln>
            <a:solidFill>
              <a:srgbClr val="0000FF"/>
            </a:solidFill>
            <a:prstDash val="sys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038349" y="1096200"/>
            <a:ext cx="942976" cy="5418899"/>
          </a:xfrm>
          <a:prstGeom prst="rect">
            <a:avLst/>
          </a:prstGeom>
          <a:solidFill>
            <a:srgbClr val="0000FF">
              <a:alpha val="51000"/>
            </a:srgb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1050" b="1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삭제</a:t>
            </a:r>
            <a:endParaRPr lang="ko-KR" altLang="en-US" sz="1050" b="1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33" name="타원 232"/>
          <p:cNvSpPr>
            <a:spLocks noChangeAspect="1"/>
          </p:cNvSpPr>
          <p:nvPr/>
        </p:nvSpPr>
        <p:spPr>
          <a:xfrm>
            <a:off x="5649176" y="832891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3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5886911" y="862458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3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36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38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3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64" name="텍스트 상자 31"/>
          <p:cNvSpPr txBox="1"/>
          <p:nvPr/>
        </p:nvSpPr>
        <p:spPr>
          <a:xfrm>
            <a:off x="672858" y="39278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65" name="Freeform 24"/>
          <p:cNvSpPr>
            <a:spLocks noChangeArrowheads="1"/>
          </p:cNvSpPr>
          <p:nvPr/>
        </p:nvSpPr>
        <p:spPr bwMode="auto">
          <a:xfrm>
            <a:off x="674470" y="40290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691552" y="3751132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16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819611" y="41950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16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6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7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819611" y="43928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17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72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73" name="TextBox 172"/>
          <p:cNvSpPr txBox="1"/>
          <p:nvPr/>
        </p:nvSpPr>
        <p:spPr>
          <a:xfrm>
            <a:off x="1691552" y="1698987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1691552" y="1957190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32" name="타원 231"/>
          <p:cNvSpPr>
            <a:spLocks noChangeAspect="1"/>
          </p:cNvSpPr>
          <p:nvPr/>
        </p:nvSpPr>
        <p:spPr>
          <a:xfrm>
            <a:off x="610451" y="2061616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7" name="그룹 116"/>
          <p:cNvGrpSpPr/>
          <p:nvPr/>
        </p:nvGrpSpPr>
        <p:grpSpPr>
          <a:xfrm>
            <a:off x="8664920" y="813534"/>
            <a:ext cx="354278" cy="203200"/>
            <a:chOff x="7121870" y="765909"/>
            <a:chExt cx="354278" cy="203200"/>
          </a:xfrm>
        </p:grpSpPr>
        <p:sp>
          <p:nvSpPr>
            <p:cNvPr id="118" name="직사각형 117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600" smtClean="0">
                  <a:solidFill>
                    <a:schemeClr val="bg1"/>
                  </a:solidFill>
                  <a:latin typeface="+mn-ea"/>
                  <a:ea typeface="+mn-ea"/>
                </a:rPr>
                <a:t>▼</a:t>
              </a:r>
              <a:endParaRPr lang="ko-KR" altLang="en-US" sz="600" dirty="0" smtClean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19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/>
            </a:p>
          </p:txBody>
        </p:sp>
      </p:grpSp>
    </p:spTree>
    <p:extLst>
      <p:ext uri="{BB962C8B-B14F-4D97-AF65-F5344CB8AC3E}">
        <p14:creationId xmlns:p14="http://schemas.microsoft.com/office/powerpoint/2010/main" val="129332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내용 개체 틀 2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7870407"/>
              </p:ext>
            </p:extLst>
          </p:nvPr>
        </p:nvGraphicFramePr>
        <p:xfrm>
          <a:off x="2019038" y="1053197"/>
          <a:ext cx="7002719" cy="2778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228">
                  <a:extLst>
                    <a:ext uri="{9D8B030D-6E8A-4147-A177-3AD203B41FA5}">
                      <a16:colId xmlns:a16="http://schemas.microsoft.com/office/drawing/2014/main" val="2278021948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9707">
                <a:tc>
                  <a:txBody>
                    <a:bodyPr/>
                    <a:lstStyle/>
                    <a:p>
                      <a:pPr algn="r"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rgbClr val="FF0000"/>
                          </a:solidFill>
                        </a:rPr>
                        <a:t>4(</a:t>
                      </a:r>
                      <a:r>
                        <a:rPr lang="ko-KR" altLang="en-US" sz="800" smtClean="0">
                          <a:solidFill>
                            <a:srgbClr val="FF0000"/>
                          </a:solidFill>
                        </a:rPr>
                        <a:t>월</a:t>
                      </a:r>
                      <a:r>
                        <a:rPr lang="en-US" altLang="ko-KR" sz="800" smtClean="0">
                          <a:solidFill>
                            <a:srgbClr val="FF0000"/>
                          </a:solidFill>
                        </a:rPr>
                        <a:t>) </a:t>
                      </a:r>
                      <a:r>
                        <a:rPr lang="ko-KR" altLang="en-US" sz="800" b="0" smtClean="0">
                          <a:solidFill>
                            <a:srgbClr val="FF0000"/>
                          </a:solidFill>
                        </a:rPr>
                        <a:t>대체공휴일</a:t>
                      </a:r>
                      <a:endParaRPr lang="ko-KR" altLang="en-US" sz="800" b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화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수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목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   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음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)08-21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금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토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31709"/>
                  </a:ext>
                </a:extLst>
              </a:tr>
              <a:tr h="8428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smtClean="0"/>
                        <a:t>Cebu</a:t>
                      </a:r>
                      <a:endParaRPr lang="ko-KR" altLang="en-US" sz="800" b="1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3663" indent="-93663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0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28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smtClean="0"/>
                        <a:t>Palau</a:t>
                      </a:r>
                      <a:endParaRPr lang="ko-KR" altLang="en-US" sz="800" b="1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4775" marR="0" indent="-104775" algn="l" defTabSz="99057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09:00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경영전략</a:t>
                      </a:r>
                      <a:endParaRPr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04775" marR="0" indent="-104775" algn="l" defTabSz="99057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09:00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경영전략</a:t>
                      </a:r>
                      <a:endParaRPr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04775" marR="0" indent="-104775" algn="l" defTabSz="99057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09:00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경영전략</a:t>
                      </a:r>
                      <a:endParaRPr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noStrike" dirty="0"/>
                    </a:p>
                  </a:txBody>
                  <a:tcPr marL="36000" marR="36000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8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smtClean="0"/>
                        <a:t>Jeju</a:t>
                      </a:r>
                      <a:endParaRPr lang="ko-KR" altLang="en-US" sz="800" b="1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36000" marR="36000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0" name="직선 연결선[R] 7"/>
          <p:cNvCxnSpPr/>
          <p:nvPr/>
        </p:nvCxnSpPr>
        <p:spPr>
          <a:xfrm>
            <a:off x="1971413" y="104435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24" name="텍스트 상자 31"/>
          <p:cNvSpPr txBox="1"/>
          <p:nvPr/>
        </p:nvSpPr>
        <p:spPr>
          <a:xfrm>
            <a:off x="2081146" y="839242"/>
            <a:ext cx="156575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2017.09.03 ~ 2017.09.09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5" name="Group 532"/>
          <p:cNvGrpSpPr/>
          <p:nvPr/>
        </p:nvGrpSpPr>
        <p:grpSpPr>
          <a:xfrm>
            <a:off x="3679142" y="851474"/>
            <a:ext cx="540610" cy="144000"/>
            <a:chOff x="3113961" y="1702107"/>
            <a:chExt cx="540610" cy="144000"/>
          </a:xfrm>
        </p:grpSpPr>
        <p:sp>
          <p:nvSpPr>
            <p:cNvPr id="26" name="Freeform 9"/>
            <p:cNvSpPr>
              <a:spLocks noChangeArrowheads="1"/>
            </p:cNvSpPr>
            <p:nvPr/>
          </p:nvSpPr>
          <p:spPr bwMode="auto">
            <a:xfrm>
              <a:off x="31139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27" name="Freeform 10"/>
            <p:cNvSpPr>
              <a:spLocks noChangeArrowheads="1"/>
            </p:cNvSpPr>
            <p:nvPr/>
          </p:nvSpPr>
          <p:spPr bwMode="auto">
            <a:xfrm>
              <a:off x="32475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28" name="Rounded Rectangle 535"/>
            <p:cNvSpPr/>
            <p:nvPr/>
          </p:nvSpPr>
          <p:spPr>
            <a:xfrm>
              <a:off x="3373429" y="1702107"/>
              <a:ext cx="281142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오늘</a:t>
              </a: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aphicFrame>
        <p:nvGraphicFramePr>
          <p:cNvPr id="10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08525"/>
              </p:ext>
            </p:extLst>
          </p:nvPr>
        </p:nvGraphicFramePr>
        <p:xfrm>
          <a:off x="9267471" y="745639"/>
          <a:ext cx="2862045" cy="47125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</a:rPr>
                        <a:t>설비 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</a:rPr>
                        <a:t>off</a:t>
                      </a:r>
                      <a: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시</a:t>
                      </a:r>
                      <a: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kumimoji="1" lang="ko-KR" altLang="en-US" sz="8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달력에서 해당 설비 항목</a:t>
                      </a:r>
                      <a: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kumimoji="1" lang="ko-KR" altLang="en-US" sz="8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행</a:t>
                      </a:r>
                      <a: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) </a:t>
                      </a:r>
                      <a:r>
                        <a:rPr kumimoji="1" lang="ko-KR" altLang="en-US" sz="800" baseline="0" smtClean="0">
                          <a:solidFill>
                            <a:schemeClr val="tx1"/>
                          </a:solidFill>
                          <a:latin typeface="+mn-ea"/>
                        </a:rPr>
                        <a:t>자체를 히든</a:t>
                      </a:r>
                      <a:endParaRPr kumimoji="1" lang="en-US" altLang="ko-KR" sz="80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cxnSp>
        <p:nvCxnSpPr>
          <p:cNvPr id="29" name="직선 화살표 연결선 28"/>
          <p:cNvCxnSpPr/>
          <p:nvPr/>
        </p:nvCxnSpPr>
        <p:spPr>
          <a:xfrm>
            <a:off x="8916022" y="1296779"/>
            <a:ext cx="0" cy="5273560"/>
          </a:xfrm>
          <a:prstGeom prst="straightConnector1">
            <a:avLst/>
          </a:prstGeom>
          <a:ln w="3175">
            <a:solidFill>
              <a:srgbClr val="FF0066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 rot="5400000">
            <a:off x="8757410" y="3945238"/>
            <a:ext cx="511926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700" smtClean="0">
                <a:solidFill>
                  <a:srgbClr val="FF0000"/>
                </a:solidFill>
                <a:latin typeface="+mn-ea"/>
                <a:ea typeface="+mn-ea"/>
              </a:rPr>
              <a:t>Scroll Area</a:t>
            </a:r>
            <a:endParaRPr lang="ko-KR" altLang="en-US" sz="700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7227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16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설정</a:t>
              </a:r>
              <a:endParaRPr kumimoji="1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cxnSp>
        <p:nvCxnSpPr>
          <p:cNvPr id="13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설비 </a:t>
            </a:r>
            <a:r>
              <a:rPr kumimoji="1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예약하기</a:t>
            </a:r>
            <a:endParaRPr kumimoji="1" lang="x-none" altLang="x-none" sz="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주간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CA6.5.2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97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설비 </a:t>
            </a:r>
            <a:r>
              <a:rPr kumimoji="1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예약하기</a:t>
            </a:r>
            <a:endParaRPr kumimoji="1" lang="x-none" altLang="x-none" sz="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98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9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설비 </a:t>
            </a:r>
            <a:r>
              <a:rPr kumimoji="1" lang="en-US" altLang="ko-KR" sz="700" b="1" dirty="0" smtClean="0">
                <a:solidFill>
                  <a:srgbClr val="FF0000"/>
                </a:solidFill>
                <a:latin typeface="+mn-ea"/>
              </a:rPr>
              <a:t>3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1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02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15" name="그룹 114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141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49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5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5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52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5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56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5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86" name="TextBox 185"/>
          <p:cNvSpPr txBox="1"/>
          <p:nvPr/>
        </p:nvSpPr>
        <p:spPr>
          <a:xfrm>
            <a:off x="4488357" y="2753469"/>
            <a:ext cx="205753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800" b="1" u="sng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+4</a:t>
            </a:r>
            <a:endParaRPr lang="ko-KR" altLang="en-US" sz="800" b="1" u="sng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00643" y="3753494"/>
            <a:ext cx="638282" cy="161281"/>
          </a:xfrm>
          <a:prstGeom prst="rect">
            <a:avLst/>
          </a:prstGeom>
          <a:solidFill>
            <a:srgbClr val="FFFF00"/>
          </a:solidFill>
          <a:ln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오늘 날짜</a:t>
            </a:r>
          </a:p>
        </p:txBody>
      </p:sp>
      <p:sp>
        <p:nvSpPr>
          <p:cNvPr id="105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06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12" name="텍스트 상자 31"/>
          <p:cNvSpPr txBox="1"/>
          <p:nvPr/>
        </p:nvSpPr>
        <p:spPr>
          <a:xfrm>
            <a:off x="672858" y="39278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63" name="Freeform 24"/>
          <p:cNvSpPr>
            <a:spLocks noChangeArrowheads="1"/>
          </p:cNvSpPr>
          <p:nvPr/>
        </p:nvSpPr>
        <p:spPr bwMode="auto">
          <a:xfrm>
            <a:off x="674470" y="40290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691552" y="3751132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16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819611" y="41950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16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6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6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819611" y="43928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16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7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71" name="TextBox 170"/>
          <p:cNvSpPr txBox="1"/>
          <p:nvPr/>
        </p:nvSpPr>
        <p:spPr>
          <a:xfrm>
            <a:off x="1691552" y="1698987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691552" y="1957190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6991166" y="829761"/>
            <a:ext cx="1030245" cy="180000"/>
            <a:chOff x="6443058" y="1673426"/>
            <a:chExt cx="1030245" cy="180000"/>
          </a:xfrm>
        </p:grpSpPr>
        <p:grpSp>
          <p:nvGrpSpPr>
            <p:cNvPr id="83" name="Group 21"/>
            <p:cNvGrpSpPr/>
            <p:nvPr/>
          </p:nvGrpSpPr>
          <p:grpSpPr>
            <a:xfrm>
              <a:off x="6443058" y="1673426"/>
              <a:ext cx="344208" cy="180000"/>
              <a:chOff x="6706916" y="1673426"/>
              <a:chExt cx="344208" cy="180000"/>
            </a:xfrm>
          </p:grpSpPr>
          <p:sp>
            <p:nvSpPr>
              <p:cNvPr id="96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03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07" name="Rectangle 625"/>
              <p:cNvSpPr/>
              <p:nvPr/>
            </p:nvSpPr>
            <p:spPr>
              <a:xfrm>
                <a:off x="6745093" y="1714887"/>
                <a:ext cx="77071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08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월간</a:t>
                </a:r>
                <a:endParaRPr kumimoji="1" lang="ko-KR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4" name="Group 548"/>
            <p:cNvGrpSpPr/>
            <p:nvPr/>
          </p:nvGrpSpPr>
          <p:grpSpPr>
            <a:xfrm>
              <a:off x="6784180" y="1673426"/>
              <a:ext cx="344208" cy="180000"/>
              <a:chOff x="6706916" y="1673426"/>
              <a:chExt cx="344208" cy="180000"/>
            </a:xfrm>
          </p:grpSpPr>
          <p:sp>
            <p:nvSpPr>
              <p:cNvPr id="94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95" name="텍스트 상자 31"/>
              <p:cNvSpPr txBox="1"/>
              <p:nvPr/>
            </p:nvSpPr>
            <p:spPr>
              <a:xfrm>
                <a:off x="6852300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주간</a:t>
                </a:r>
                <a:endParaRPr kumimoji="1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5" name="Group 22"/>
            <p:cNvGrpSpPr/>
            <p:nvPr/>
          </p:nvGrpSpPr>
          <p:grpSpPr>
            <a:xfrm>
              <a:off x="6812150" y="1714887"/>
              <a:ext cx="102895" cy="76173"/>
              <a:chOff x="7271815" y="1714887"/>
              <a:chExt cx="102895" cy="76173"/>
            </a:xfrm>
          </p:grpSpPr>
          <p:sp>
            <p:nvSpPr>
              <p:cNvPr id="90" name="Rectangle 625"/>
              <p:cNvSpPr/>
              <p:nvPr/>
            </p:nvSpPr>
            <p:spPr>
              <a:xfrm>
                <a:off x="7338279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91" name="Rectangle 625"/>
              <p:cNvSpPr/>
              <p:nvPr/>
            </p:nvSpPr>
            <p:spPr>
              <a:xfrm>
                <a:off x="7305047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92" name="Rectangle 625"/>
              <p:cNvSpPr/>
              <p:nvPr/>
            </p:nvSpPr>
            <p:spPr>
              <a:xfrm>
                <a:off x="7271815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</p:grpSp>
        <p:grpSp>
          <p:nvGrpSpPr>
            <p:cNvPr id="86" name="Group 553"/>
            <p:cNvGrpSpPr/>
            <p:nvPr/>
          </p:nvGrpSpPr>
          <p:grpSpPr>
            <a:xfrm>
              <a:off x="7129095" y="1673426"/>
              <a:ext cx="344208" cy="180000"/>
              <a:chOff x="6706916" y="1673426"/>
              <a:chExt cx="344208" cy="180000"/>
            </a:xfrm>
          </p:grpSpPr>
          <p:sp>
            <p:nvSpPr>
              <p:cNvPr id="87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noFill/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88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89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일간</a:t>
                </a:r>
                <a:endParaRPr kumimoji="1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109" name="Group 168"/>
          <p:cNvGrpSpPr/>
          <p:nvPr/>
        </p:nvGrpSpPr>
        <p:grpSpPr>
          <a:xfrm>
            <a:off x="8439259" y="816988"/>
            <a:ext cx="162000" cy="180000"/>
            <a:chOff x="7681408" y="2293428"/>
            <a:chExt cx="161707" cy="180000"/>
          </a:xfrm>
        </p:grpSpPr>
        <p:sp>
          <p:nvSpPr>
            <p:cNvPr id="110" name="Rounded Rectangle 169"/>
            <p:cNvSpPr/>
            <p:nvPr/>
          </p:nvSpPr>
          <p:spPr>
            <a:xfrm>
              <a:off x="7681408" y="2293428"/>
              <a:ext cx="161707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111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8147040" y="817141"/>
            <a:ext cx="216000" cy="180000"/>
            <a:chOff x="8455344" y="813130"/>
            <a:chExt cx="216000" cy="180000"/>
          </a:xfrm>
        </p:grpSpPr>
        <p:sp>
          <p:nvSpPr>
            <p:cNvPr id="114" name="Rounded Rectangle 169"/>
            <p:cNvSpPr/>
            <p:nvPr/>
          </p:nvSpPr>
          <p:spPr>
            <a:xfrm>
              <a:off x="8455344" y="813130"/>
              <a:ext cx="216000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pic>
          <p:nvPicPr>
            <p:cNvPr id="142" name="내용 개체 틀 3"/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3805" y="824238"/>
              <a:ext cx="162000" cy="162000"/>
            </a:xfrm>
            <a:prstGeom prst="rect">
              <a:avLst/>
            </a:prstGeom>
          </p:spPr>
        </p:pic>
      </p:grpSp>
      <p:sp>
        <p:nvSpPr>
          <p:cNvPr id="143" name="TextBox 142"/>
          <p:cNvSpPr txBox="1"/>
          <p:nvPr/>
        </p:nvSpPr>
        <p:spPr>
          <a:xfrm>
            <a:off x="6011962" y="821037"/>
            <a:ext cx="887029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내 예약한 설비 확인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4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5886911" y="862458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4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4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61" name="그룹 160"/>
          <p:cNvGrpSpPr/>
          <p:nvPr/>
        </p:nvGrpSpPr>
        <p:grpSpPr>
          <a:xfrm>
            <a:off x="8664920" y="813534"/>
            <a:ext cx="354278" cy="203200"/>
            <a:chOff x="7121870" y="765909"/>
            <a:chExt cx="354278" cy="203200"/>
          </a:xfrm>
        </p:grpSpPr>
        <p:sp>
          <p:nvSpPr>
            <p:cNvPr id="162" name="직사각형 161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600" smtClean="0">
                  <a:solidFill>
                    <a:schemeClr val="bg1"/>
                  </a:solidFill>
                  <a:latin typeface="+mn-ea"/>
                  <a:ea typeface="+mn-ea"/>
                </a:rPr>
                <a:t>▼</a:t>
              </a:r>
              <a:endParaRPr lang="ko-KR" altLang="en-US" sz="600" dirty="0" smtClean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73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/>
            </a:p>
          </p:txBody>
        </p:sp>
      </p:grpSp>
    </p:spTree>
    <p:extLst>
      <p:ext uri="{BB962C8B-B14F-4D97-AF65-F5344CB8AC3E}">
        <p14:creationId xmlns:p14="http://schemas.microsoft.com/office/powerpoint/2010/main" val="2366974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038785" y="4045922"/>
            <a:ext cx="3583177" cy="2118710"/>
            <a:chOff x="322072" y="3864623"/>
            <a:chExt cx="3583177" cy="2118710"/>
          </a:xfrm>
        </p:grpSpPr>
        <p:sp>
          <p:nvSpPr>
            <p:cNvPr id="146" name="Rectangular Callout 441"/>
            <p:cNvSpPr/>
            <p:nvPr/>
          </p:nvSpPr>
          <p:spPr>
            <a:xfrm>
              <a:off x="322072" y="3864623"/>
              <a:ext cx="3506978" cy="2118710"/>
            </a:xfrm>
            <a:prstGeom prst="wedgeRectCallout">
              <a:avLst>
                <a:gd name="adj1" fmla="val -18981"/>
                <a:gd name="adj2" fmla="val -45799"/>
              </a:avLst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</a:endParaRPr>
            </a:p>
          </p:txBody>
        </p:sp>
        <p:grpSp>
          <p:nvGrpSpPr>
            <p:cNvPr id="147" name="그룹 146"/>
            <p:cNvGrpSpPr/>
            <p:nvPr/>
          </p:nvGrpSpPr>
          <p:grpSpPr>
            <a:xfrm>
              <a:off x="493750" y="4051917"/>
              <a:ext cx="3168000" cy="250322"/>
              <a:chOff x="493750" y="822942"/>
              <a:chExt cx="3168000" cy="250322"/>
            </a:xfrm>
          </p:grpSpPr>
          <p:sp>
            <p:nvSpPr>
              <p:cNvPr id="148" name="텍스트 상자 31"/>
              <p:cNvSpPr txBox="1"/>
              <p:nvPr/>
            </p:nvSpPr>
            <p:spPr>
              <a:xfrm>
                <a:off x="543791" y="822942"/>
                <a:ext cx="869265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ko-KR" altLang="en-US" sz="900" b="1" smtClean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ea"/>
                    <a:ea typeface="+mn-ea"/>
                  </a:rPr>
                  <a:t>고객 영업 회의</a:t>
                </a:r>
                <a:endParaRPr kumimoji="1" lang="ko-KR" altLang="en-US" sz="9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149" name="직선 연결선[R] 33"/>
              <p:cNvCxnSpPr/>
              <p:nvPr/>
            </p:nvCxnSpPr>
            <p:spPr>
              <a:xfrm>
                <a:off x="493750" y="1073264"/>
                <a:ext cx="3168000" cy="0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2" name="모서리가 둥근 직사각형 151"/>
            <p:cNvSpPr/>
            <p:nvPr/>
          </p:nvSpPr>
          <p:spPr>
            <a:xfrm>
              <a:off x="3056712" y="3989375"/>
              <a:ext cx="608046" cy="217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예약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상세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6" name="텍스트 상자 31"/>
            <p:cNvSpPr txBox="1"/>
            <p:nvPr/>
          </p:nvSpPr>
          <p:spPr>
            <a:xfrm>
              <a:off x="521192" y="4499133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시간</a:t>
              </a:r>
              <a:endParaRPr kumimoji="1"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7" name="텍스트 상자 31"/>
            <p:cNvSpPr txBox="1"/>
            <p:nvPr/>
          </p:nvSpPr>
          <p:spPr>
            <a:xfrm>
              <a:off x="915648" y="4447169"/>
              <a:ext cx="2989601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2017-12-04 (</a:t>
              </a:r>
              <a:r>
                <a:rPr kumimoji="1"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월</a:t>
              </a:r>
              <a:r>
                <a:rPr kumimoji="1"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) ~ 2017-12-08 (</a:t>
              </a:r>
              <a:r>
                <a:rPr kumimoji="1"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금</a:t>
              </a:r>
              <a:r>
                <a:rPr kumimoji="1"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)  </a:t>
              </a:r>
              <a:r>
                <a:rPr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오전 </a:t>
              </a:r>
              <a:r>
                <a:rPr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10:00</a:t>
              </a:r>
              <a:r>
                <a:rPr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 </a:t>
              </a:r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– </a:t>
              </a:r>
              <a:r>
                <a:rPr lang="ko-KR" altLang="en-US" sz="8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오후 </a:t>
              </a:r>
              <a:r>
                <a:rPr lang="en-US" altLang="ko-KR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01:00</a:t>
              </a:r>
              <a:endParaRPr lang="en-US" altLang="ko-KR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매월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4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번째 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  <a:cs typeface="Malgun Gothic" charset="0"/>
                </a:rPr>
                <a:t>목요일 반복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Malgun Gothic" charset="0"/>
              </a:endParaRPr>
            </a:p>
          </p:txBody>
        </p:sp>
        <p:sp>
          <p:nvSpPr>
            <p:cNvPr id="158" name="텍스트 상자 31"/>
            <p:cNvSpPr txBox="1"/>
            <p:nvPr/>
          </p:nvSpPr>
          <p:spPr>
            <a:xfrm>
              <a:off x="521192" y="4919220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작성자</a:t>
              </a:r>
              <a:endParaRPr kumimoji="1"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62" name="텍스트 상자 31"/>
            <p:cNvSpPr txBox="1"/>
            <p:nvPr/>
          </p:nvSpPr>
          <p:spPr>
            <a:xfrm>
              <a:off x="915648" y="4919220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김핸디</a:t>
              </a:r>
              <a:endParaRPr kumimoji="1"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64" name="텍스트 상자 31"/>
            <p:cNvSpPr txBox="1"/>
            <p:nvPr/>
          </p:nvSpPr>
          <p:spPr>
            <a:xfrm>
              <a:off x="521192" y="5162288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설비</a:t>
              </a:r>
              <a:endParaRPr kumimoji="1"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81" name="텍스트 상자 31"/>
            <p:cNvSpPr txBox="1"/>
            <p:nvPr/>
          </p:nvSpPr>
          <p:spPr>
            <a:xfrm>
              <a:off x="915647" y="5162769"/>
              <a:ext cx="1957025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en-US" altLang="ko-KR" sz="80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  <a:ea typeface="+mn-ea"/>
                </a:rPr>
                <a:t>Jeju</a:t>
              </a:r>
              <a:endParaRPr kumimoji="1"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83" name="모서리가 둥근 직사각형 182"/>
            <p:cNvSpPr/>
            <p:nvPr/>
          </p:nvSpPr>
          <p:spPr>
            <a:xfrm>
              <a:off x="3212228" y="5570525"/>
              <a:ext cx="452530" cy="217209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800" smtClean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확인</a:t>
              </a:r>
              <a:endPara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7" name="모서리가 둥근 직사각형 186"/>
            <p:cNvSpPr/>
            <p:nvPr/>
          </p:nvSpPr>
          <p:spPr>
            <a:xfrm>
              <a:off x="534808" y="5570525"/>
              <a:ext cx="452530" cy="217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삭제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251" name="내용 개체 틀 2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7468681"/>
              </p:ext>
            </p:extLst>
          </p:nvPr>
        </p:nvGraphicFramePr>
        <p:xfrm>
          <a:off x="2019038" y="1053197"/>
          <a:ext cx="7002719" cy="2778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228">
                  <a:extLst>
                    <a:ext uri="{9D8B030D-6E8A-4147-A177-3AD203B41FA5}">
                      <a16:colId xmlns:a16="http://schemas.microsoft.com/office/drawing/2014/main" val="2278021948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12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9707">
                <a:tc>
                  <a:txBody>
                    <a:bodyPr/>
                    <a:lstStyle/>
                    <a:p>
                      <a:pPr algn="r"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rgbClr val="FF0000"/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31709"/>
                  </a:ext>
                </a:extLst>
              </a:tr>
              <a:tr h="8428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smtClean="0"/>
                        <a:t>Cebu</a:t>
                      </a:r>
                      <a:endParaRPr lang="ko-KR" altLang="en-US" sz="800" b="1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4775" indent="-104775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strike="sngStrike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09:00~10:00</a:t>
                      </a:r>
                      <a:br>
                        <a:rPr lang="en-US" altLang="ko-KR" sz="800" strike="sngStrike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ko-KR" altLang="en-US" sz="800" strike="sngStrike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경영 전략 회의</a:t>
                      </a:r>
                      <a:endParaRPr lang="ko-KR" altLang="en-US" sz="800" strike="sngStrike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3663" indent="-93663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28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smtClean="0"/>
                        <a:t>Palau</a:t>
                      </a:r>
                      <a:endParaRPr lang="ko-KR" altLang="en-US" sz="800" b="1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strike="noStrike" dirty="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8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smtClean="0"/>
                        <a:t>Jeju</a:t>
                      </a:r>
                      <a:endParaRPr lang="ko-KR" altLang="en-US" sz="800" b="1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5378335" y="2148445"/>
            <a:ext cx="440574" cy="84136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9" name="직선 연결선[R] 7"/>
          <p:cNvCxnSpPr/>
          <p:nvPr/>
        </p:nvCxnSpPr>
        <p:spPr>
          <a:xfrm>
            <a:off x="2019038" y="1063409"/>
            <a:ext cx="55241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20" name="직선 연결선[R] 7"/>
          <p:cNvCxnSpPr/>
          <p:nvPr/>
        </p:nvCxnSpPr>
        <p:spPr>
          <a:xfrm>
            <a:off x="1971413" y="106340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75" name="텍스트 상자 31"/>
          <p:cNvSpPr txBox="1"/>
          <p:nvPr/>
        </p:nvSpPr>
        <p:spPr>
          <a:xfrm>
            <a:off x="2081146" y="839242"/>
            <a:ext cx="977361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2017.09.06 </a:t>
            </a: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수</a:t>
            </a:r>
            <a:r>
              <a:rPr kumimoji="1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6" name="Group 532"/>
          <p:cNvGrpSpPr/>
          <p:nvPr/>
        </p:nvGrpSpPr>
        <p:grpSpPr>
          <a:xfrm>
            <a:off x="3043745" y="851474"/>
            <a:ext cx="540610" cy="144000"/>
            <a:chOff x="3113961" y="1702107"/>
            <a:chExt cx="540610" cy="144000"/>
          </a:xfrm>
        </p:grpSpPr>
        <p:sp>
          <p:nvSpPr>
            <p:cNvPr id="77" name="Freeform 9"/>
            <p:cNvSpPr>
              <a:spLocks noChangeArrowheads="1"/>
            </p:cNvSpPr>
            <p:nvPr/>
          </p:nvSpPr>
          <p:spPr bwMode="auto">
            <a:xfrm>
              <a:off x="31139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78" name="Freeform 10"/>
            <p:cNvSpPr>
              <a:spLocks noChangeArrowheads="1"/>
            </p:cNvSpPr>
            <p:nvPr/>
          </p:nvSpPr>
          <p:spPr bwMode="auto">
            <a:xfrm>
              <a:off x="32475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79" name="Rounded Rectangle 535"/>
            <p:cNvSpPr/>
            <p:nvPr/>
          </p:nvSpPr>
          <p:spPr>
            <a:xfrm>
              <a:off x="3373429" y="1702107"/>
              <a:ext cx="281142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오늘</a:t>
              </a: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4" name="직사각형 153"/>
          <p:cNvSpPr/>
          <p:nvPr/>
        </p:nvSpPr>
        <p:spPr>
          <a:xfrm>
            <a:off x="462475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pSp>
        <p:nvGrpSpPr>
          <p:cNvPr id="155" name="그룹 154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179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설정</a:t>
              </a:r>
              <a:endParaRPr kumimoji="1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0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cxnSp>
        <p:nvCxnSpPr>
          <p:cNvPr id="160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설비 </a:t>
            </a:r>
            <a:r>
              <a:rPr kumimoji="1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예약하기</a:t>
            </a:r>
            <a:endParaRPr kumimoji="1" lang="x-none" altLang="x-none" sz="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aphicFrame>
        <p:nvGraphicFramePr>
          <p:cNvPr id="22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31137"/>
              </p:ext>
            </p:extLst>
          </p:nvPr>
        </p:nvGraphicFramePr>
        <p:xfrm>
          <a:off x="9283491" y="745639"/>
          <a:ext cx="2846025" cy="1671896"/>
        </p:xfrm>
        <a:graphic>
          <a:graphicData uri="http://schemas.openxmlformats.org/drawingml/2006/table">
            <a:tbl>
              <a:tblPr/>
              <a:tblGrid>
                <a:gridCol w="193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 gridSpan="2"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일간 뷰 형태로 설비 예약일 경우 해당 뷰형태가 기본</a:t>
                      </a:r>
                      <a:endParaRPr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현재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시간대가 타임라인 형태로 제공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예약이 되어 있지 않은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)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빈 공간 클릭시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/>
                      </a:r>
                      <a:b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</a:b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설비 간편 예약</a:t>
                      </a: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레이어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출력</a:t>
                      </a:r>
                      <a:endParaRPr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지난 시간대에는 비활성화</a:t>
                      </a:r>
                    </a:p>
                  </a:txBody>
                  <a:tcPr marL="36000" marR="1800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2-1</a:t>
                      </a:r>
                      <a:endParaRPr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-171450">
                        <a:buSzPct val="75000"/>
                        <a:buFont typeface="Arial" panose="020B0604020202020204" pitchFamily="34" charset="0"/>
                        <a:buChar char="•"/>
                        <a:defRPr sz="2000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클릭시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설비 선택 레이어 출력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멀티 선택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36000" marR="1800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29371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예약된 영역을 클릭시 예약 간략정보 팝업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(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CA6.1.1.2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</a:rPr>
                        <a:t>)</a:t>
                      </a:r>
                      <a: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</a:rPr>
                        <a:t> </a:t>
                      </a:r>
                      <a:br>
                        <a:rPr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</a:rPr>
                      </a:br>
                      <a:r>
                        <a:rPr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+mn-ea"/>
                        </a:rPr>
                        <a:t>출력</a:t>
                      </a:r>
                      <a:endParaRPr lang="ko-KR" altLang="en-US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1800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940083"/>
                  </a:ext>
                </a:extLst>
              </a:tr>
            </a:tbl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일간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CA6.5.3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184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86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설비 </a:t>
            </a:r>
            <a:r>
              <a:rPr kumimoji="1" lang="en-US" altLang="ko-KR" sz="700" b="1" dirty="0" smtClean="0">
                <a:solidFill>
                  <a:srgbClr val="FF0000"/>
                </a:solidFill>
                <a:latin typeface="+mn-ea"/>
              </a:rPr>
              <a:t>3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93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11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219" name="그룹 218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225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8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239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24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4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42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4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4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4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4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4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4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49" name="타원 248"/>
          <p:cNvSpPr>
            <a:spLocks noChangeAspect="1"/>
          </p:cNvSpPr>
          <p:nvPr/>
        </p:nvSpPr>
        <p:spPr>
          <a:xfrm>
            <a:off x="610451" y="2061616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0" name="모서리가 둥근 직사각형 249"/>
          <p:cNvSpPr/>
          <p:nvPr/>
        </p:nvSpPr>
        <p:spPr>
          <a:xfrm>
            <a:off x="733425" y="2105025"/>
            <a:ext cx="238125" cy="647700"/>
          </a:xfrm>
          <a:prstGeom prst="roundRect">
            <a:avLst/>
          </a:prstGeom>
          <a:noFill/>
          <a:ln>
            <a:solidFill>
              <a:srgbClr val="0000FF"/>
            </a:solidFill>
            <a:prstDash val="sys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09825" y="1133475"/>
            <a:ext cx="466725" cy="1238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08:00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3333750" y="1133475"/>
            <a:ext cx="466725" cy="1238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09:00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4219575" y="1133475"/>
            <a:ext cx="466725" cy="1238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10:00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  <p:sp>
        <p:nvSpPr>
          <p:cNvPr id="254" name="TextBox 253"/>
          <p:cNvSpPr txBox="1"/>
          <p:nvPr/>
        </p:nvSpPr>
        <p:spPr>
          <a:xfrm>
            <a:off x="5133975" y="1133475"/>
            <a:ext cx="466725" cy="1238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11:00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  <p:sp>
        <p:nvSpPr>
          <p:cNvPr id="255" name="TextBox 254"/>
          <p:cNvSpPr txBox="1"/>
          <p:nvPr/>
        </p:nvSpPr>
        <p:spPr>
          <a:xfrm>
            <a:off x="6038850" y="1133475"/>
            <a:ext cx="466725" cy="1238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12:00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6962775" y="1133475"/>
            <a:ext cx="466725" cy="1238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13:00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7839075" y="1133475"/>
            <a:ext cx="466725" cy="1238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14:00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  <p:sp>
        <p:nvSpPr>
          <p:cNvPr id="258" name="TextBox 257"/>
          <p:cNvSpPr txBox="1"/>
          <p:nvPr/>
        </p:nvSpPr>
        <p:spPr>
          <a:xfrm>
            <a:off x="8791575" y="1133475"/>
            <a:ext cx="466725" cy="1238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15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7"/>
          <a:srcRect r="44894"/>
          <a:stretch/>
        </p:blipFill>
        <p:spPr>
          <a:xfrm>
            <a:off x="5319621" y="2410952"/>
            <a:ext cx="514010" cy="359695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5819775" y="1314937"/>
            <a:ext cx="0" cy="2504100"/>
          </a:xfrm>
          <a:prstGeom prst="line">
            <a:avLst/>
          </a:prstGeom>
          <a:ln w="19050">
            <a:solidFill>
              <a:srgbClr val="FF0000"/>
            </a:solidFill>
            <a:headEnd type="oval" w="med" len="med"/>
            <a:tailEnd type="oval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타원 260"/>
          <p:cNvSpPr>
            <a:spLocks noChangeAspect="1"/>
          </p:cNvSpPr>
          <p:nvPr/>
        </p:nvSpPr>
        <p:spPr>
          <a:xfrm>
            <a:off x="5744426" y="1242466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3" name="Rectangular Callout 441"/>
          <p:cNvSpPr/>
          <p:nvPr/>
        </p:nvSpPr>
        <p:spPr>
          <a:xfrm>
            <a:off x="5838668" y="4030227"/>
            <a:ext cx="3023971" cy="2134404"/>
          </a:xfrm>
          <a:prstGeom prst="wedgeRectCallout">
            <a:avLst>
              <a:gd name="adj1" fmla="val -42920"/>
              <a:gd name="adj2" fmla="val -64245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264" name="텍스트 상자 31"/>
          <p:cNvSpPr txBox="1"/>
          <p:nvPr/>
        </p:nvSpPr>
        <p:spPr>
          <a:xfrm>
            <a:off x="5999074" y="4193949"/>
            <a:ext cx="86926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 간편예약</a:t>
            </a:r>
            <a:endParaRPr kumimoji="1" lang="ko-KR" altLang="en-US" sz="9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265" name="텍스트 상자 31"/>
          <p:cNvSpPr txBox="1"/>
          <p:nvPr/>
        </p:nvSpPr>
        <p:spPr>
          <a:xfrm>
            <a:off x="6022976" y="4633849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제목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66" name="Rectangle 444"/>
          <p:cNvSpPr/>
          <p:nvPr/>
        </p:nvSpPr>
        <p:spPr>
          <a:xfrm>
            <a:off x="6509892" y="4589959"/>
            <a:ext cx="1814698" cy="21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일정 제목을 입력하세요</a:t>
            </a:r>
            <a:r>
              <a:rPr lang="en-US" altLang="ko-KR" sz="800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.</a:t>
            </a:r>
            <a:endParaRPr lang="en-US" sz="8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67" name="텍스트 상자 31"/>
          <p:cNvSpPr txBox="1"/>
          <p:nvPr/>
        </p:nvSpPr>
        <p:spPr>
          <a:xfrm>
            <a:off x="6022976" y="495721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시간</a:t>
            </a:r>
            <a:endParaRPr kumimoji="1" lang="ko-KR" altLang="en-US" sz="8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68" name="Rounded Rectangle 447"/>
          <p:cNvSpPr/>
          <p:nvPr/>
        </p:nvSpPr>
        <p:spPr>
          <a:xfrm>
            <a:off x="7836347" y="5768618"/>
            <a:ext cx="432000" cy="180000"/>
          </a:xfrm>
          <a:prstGeom prst="roundRect">
            <a:avLst>
              <a:gd name="adj" fmla="val 8420"/>
            </a:avLst>
          </a:prstGeom>
          <a:solidFill>
            <a:schemeClr val="bg1">
              <a:lumMod val="85000"/>
            </a:schemeClr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>
              <a:lnSpc>
                <a:spcPct val="120000"/>
              </a:lnSpc>
            </a:pPr>
            <a:r>
              <a:rPr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완료</a:t>
            </a:r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69" name="Rounded Rectangle 448"/>
          <p:cNvSpPr/>
          <p:nvPr/>
        </p:nvSpPr>
        <p:spPr>
          <a:xfrm>
            <a:off x="8348295" y="5768618"/>
            <a:ext cx="432000" cy="180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>
              <a:lnSpc>
                <a:spcPct val="120000"/>
              </a:lnSpc>
            </a:pPr>
            <a:r>
              <a:rPr lang="ko-KR" altLang="en-US" sz="7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취소</a:t>
            </a:r>
            <a:endParaRPr lang="en-US" sz="7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71" name="직선 연결선[R] 33"/>
          <p:cNvCxnSpPr/>
          <p:nvPr/>
        </p:nvCxnSpPr>
        <p:spPr>
          <a:xfrm>
            <a:off x="5925746" y="4396646"/>
            <a:ext cx="288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Rounded Rectangle 457"/>
          <p:cNvSpPr/>
          <p:nvPr/>
        </p:nvSpPr>
        <p:spPr>
          <a:xfrm>
            <a:off x="5938653" y="5768618"/>
            <a:ext cx="540000" cy="180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>
              <a:lnSpc>
                <a:spcPct val="120000"/>
              </a:lnSpc>
            </a:pPr>
            <a:r>
              <a:rPr lang="ko-KR" altLang="en-US" sz="70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상세 입력</a:t>
            </a:r>
            <a:endParaRPr lang="en-US" sz="7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76" name="Rectangle 127"/>
          <p:cNvSpPr/>
          <p:nvPr/>
        </p:nvSpPr>
        <p:spPr>
          <a:xfrm>
            <a:off x="6391276" y="4890313"/>
            <a:ext cx="770826" cy="21508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t>  2017-09-06(</a:t>
            </a:r>
            <a:r>
              <a:rPr kumimoji="0" lang="ko-KR" altLang="en-US" sz="800" b="1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t>수</a:t>
            </a:r>
            <a:r>
              <a:rPr kumimoji="0" lang="en-US" altLang="ko-KR" sz="800" b="1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n-ea"/>
                <a:ea typeface="+mn-ea"/>
              </a:rPr>
              <a:t>)</a:t>
            </a:r>
            <a:endParaRPr kumimoji="0" lang="en-US" sz="800" b="1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77" name="Rectangle 143"/>
          <p:cNvSpPr/>
          <p:nvPr/>
        </p:nvSpPr>
        <p:spPr>
          <a:xfrm>
            <a:off x="7222899" y="4896369"/>
            <a:ext cx="648000" cy="180000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36000" tIns="36000" rIns="0" bIns="36000" anchor="ctr"/>
          <a:lstStyle/>
          <a:p>
            <a:pPr>
              <a:lnSpc>
                <a:spcPct val="130000"/>
              </a:lnSpc>
            </a:pPr>
            <a:r>
              <a:rPr lang="ko-KR" altLang="en-US" sz="6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오전</a:t>
            </a:r>
            <a:r>
              <a:rPr lang="en-US" sz="6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11 : 30</a:t>
            </a:r>
            <a:endParaRPr lang="en-US" sz="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78" name="Rectangle 143"/>
          <p:cNvSpPr/>
          <p:nvPr/>
        </p:nvSpPr>
        <p:spPr>
          <a:xfrm>
            <a:off x="8070624" y="4901970"/>
            <a:ext cx="648000" cy="180000"/>
          </a:xfrm>
          <a:prstGeom prst="rect">
            <a:avLst/>
          </a:prstGeom>
          <a:solidFill>
            <a:schemeClr val="bg1"/>
          </a:solidFill>
          <a:ln w="6350" cap="flat" cmpd="sng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36000" tIns="36000" rIns="0" bIns="36000" anchor="ctr"/>
          <a:lstStyle/>
          <a:p>
            <a:pPr>
              <a:lnSpc>
                <a:spcPct val="130000"/>
              </a:lnSpc>
            </a:pPr>
            <a:r>
              <a:rPr lang="ko-KR" altLang="en-US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오후 </a:t>
            </a:r>
            <a:r>
              <a:rPr lang="en-US" altLang="ko-KR" sz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12 : 00</a:t>
            </a:r>
            <a:endParaRPr lang="en-US" sz="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7927900" y="4879752"/>
            <a:ext cx="135221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~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1" name="Box" descr="&lt;SmartSettings&gt;&lt;SmartResize anchorLeft=&quot;Absolute&quot; anchorTop=&quot;None&quot; anchorRight=&quot;None&quot; anchorBottom=&quot;None&quot; /&gt;&lt;/SmartSettings&gt;"/>
          <p:cNvSpPr/>
          <p:nvPr>
            <p:custDataLst>
              <p:tags r:id="rId4"/>
            </p:custDataLst>
          </p:nvPr>
        </p:nvSpPr>
        <p:spPr>
          <a:xfrm>
            <a:off x="8381775" y="4647210"/>
            <a:ext cx="107839" cy="10973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8490017" y="4603682"/>
            <a:ext cx="252239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종일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3" name="Triangle 942"/>
          <p:cNvSpPr>
            <a:spLocks noChangeAspect="1"/>
          </p:cNvSpPr>
          <p:nvPr/>
        </p:nvSpPr>
        <p:spPr>
          <a:xfrm flipV="1">
            <a:off x="7712845" y="4960353"/>
            <a:ext cx="108000" cy="61902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33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ＭＳ Ｐゴシック" charset="0"/>
            </a:endParaRPr>
          </a:p>
        </p:txBody>
      </p:sp>
      <p:sp>
        <p:nvSpPr>
          <p:cNvPr id="284" name="Triangle 942"/>
          <p:cNvSpPr>
            <a:spLocks noChangeAspect="1"/>
          </p:cNvSpPr>
          <p:nvPr/>
        </p:nvSpPr>
        <p:spPr>
          <a:xfrm flipV="1">
            <a:off x="8567038" y="4964116"/>
            <a:ext cx="108000" cy="61902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33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ＭＳ Ｐゴシック" charset="0"/>
            </a:endParaRPr>
          </a:p>
        </p:txBody>
      </p:sp>
      <p:sp>
        <p:nvSpPr>
          <p:cNvPr id="298" name="타원 297"/>
          <p:cNvSpPr>
            <a:spLocks noChangeAspect="1"/>
          </p:cNvSpPr>
          <p:nvPr/>
        </p:nvSpPr>
        <p:spPr>
          <a:xfrm>
            <a:off x="5760444" y="3946892"/>
            <a:ext cx="152062" cy="153205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9" name="타원 298"/>
          <p:cNvSpPr>
            <a:spLocks noChangeAspect="1"/>
          </p:cNvSpPr>
          <p:nvPr/>
        </p:nvSpPr>
        <p:spPr>
          <a:xfrm>
            <a:off x="1949769" y="3952470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300" name="직선 화살표 연결선 299"/>
          <p:cNvCxnSpPr/>
          <p:nvPr/>
        </p:nvCxnSpPr>
        <p:spPr>
          <a:xfrm flipH="1">
            <a:off x="4742024" y="2807779"/>
            <a:ext cx="859303" cy="1238142"/>
          </a:xfrm>
          <a:prstGeom prst="straightConnector1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  <a:headEnd type="oval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66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67" name="텍스트 상자 31"/>
          <p:cNvSpPr txBox="1"/>
          <p:nvPr/>
        </p:nvSpPr>
        <p:spPr>
          <a:xfrm>
            <a:off x="672858" y="39278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68" name="Freeform 24"/>
          <p:cNvSpPr>
            <a:spLocks noChangeArrowheads="1"/>
          </p:cNvSpPr>
          <p:nvPr/>
        </p:nvSpPr>
        <p:spPr bwMode="auto">
          <a:xfrm>
            <a:off x="674470" y="40290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1691552" y="3751132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17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819611" y="41950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17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72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7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819611" y="43928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17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7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76" name="TextBox 175"/>
          <p:cNvSpPr txBox="1"/>
          <p:nvPr/>
        </p:nvSpPr>
        <p:spPr>
          <a:xfrm>
            <a:off x="1691552" y="1698987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1691552" y="1957190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375" name="텍스트 상자 31"/>
          <p:cNvSpPr txBox="1"/>
          <p:nvPr/>
        </p:nvSpPr>
        <p:spPr>
          <a:xfrm>
            <a:off x="6028227" y="527639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01" name="Rounded Rectangle 939"/>
          <p:cNvSpPr/>
          <p:nvPr/>
        </p:nvSpPr>
        <p:spPr>
          <a:xfrm>
            <a:off x="6509891" y="5220424"/>
            <a:ext cx="2262674" cy="216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r>
              <a:rPr kumimoji="1" lang="en-US" sz="70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  </a:t>
            </a:r>
            <a:r>
              <a:rPr lang="ko-KR" altLang="en-US" sz="80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선택</a:t>
            </a:r>
            <a:r>
              <a:rPr lang="en-US" altLang="ko-KR" sz="80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		</a:t>
            </a:r>
            <a:r>
              <a:rPr lang="ko-KR" altLang="en-US" sz="80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▼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17" name="직각 삼각형 216"/>
          <p:cNvSpPr/>
          <p:nvPr/>
        </p:nvSpPr>
        <p:spPr>
          <a:xfrm flipH="1">
            <a:off x="11485306" y="5921713"/>
            <a:ext cx="640019" cy="742447"/>
          </a:xfrm>
          <a:prstGeom prst="rt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+mn-ea"/>
                <a:ea typeface="+mn-ea"/>
              </a:rPr>
              <a:t>12/05</a:t>
            </a:r>
          </a:p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+mn-ea"/>
                <a:ea typeface="+mn-ea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21" name="타원 220"/>
          <p:cNvSpPr>
            <a:spLocks noChangeAspect="1"/>
          </p:cNvSpPr>
          <p:nvPr/>
        </p:nvSpPr>
        <p:spPr>
          <a:xfrm>
            <a:off x="6417669" y="5147042"/>
            <a:ext cx="152062" cy="153205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22" name="표 2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571948"/>
              </p:ext>
            </p:extLst>
          </p:nvPr>
        </p:nvGraphicFramePr>
        <p:xfrm>
          <a:off x="9445972" y="2770444"/>
          <a:ext cx="2306592" cy="113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012">
                  <a:extLst>
                    <a:ext uri="{9D8B030D-6E8A-4147-A177-3AD203B41FA5}">
                      <a16:colId xmlns:a16="http://schemas.microsoft.com/office/drawing/2014/main" val="3906341031"/>
                    </a:ext>
                  </a:extLst>
                </a:gridCol>
                <a:gridCol w="1301580">
                  <a:extLst>
                    <a:ext uri="{9D8B030D-6E8A-4147-A177-3AD203B41FA5}">
                      <a16:colId xmlns:a16="http://schemas.microsoft.com/office/drawing/2014/main" val="3527403590"/>
                    </a:ext>
                  </a:extLst>
                </a:gridCol>
              </a:tblGrid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회의실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 Cebu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692381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빔 프로젝터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 Palau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180977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노트북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 Jeju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785985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설비그룹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80052"/>
                  </a:ext>
                </a:extLst>
              </a:tr>
            </a:tbl>
          </a:graphicData>
        </a:graphic>
      </p:graphicFrame>
      <p:sp>
        <p:nvSpPr>
          <p:cNvPr id="223" name="Rounded Rectangle 448"/>
          <p:cNvSpPr/>
          <p:nvPr/>
        </p:nvSpPr>
        <p:spPr>
          <a:xfrm>
            <a:off x="10364501" y="4015396"/>
            <a:ext cx="432000" cy="180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>
              <a:lnSpc>
                <a:spcPct val="12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확인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10673517" y="2871541"/>
            <a:ext cx="84884" cy="92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8" name="직사각형 177"/>
          <p:cNvSpPr/>
          <p:nvPr/>
        </p:nvSpPr>
        <p:spPr>
          <a:xfrm>
            <a:off x="10673517" y="3160771"/>
            <a:ext cx="84884" cy="928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10673517" y="3439335"/>
            <a:ext cx="84884" cy="928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2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10491337" y="3417319"/>
            <a:ext cx="131556" cy="131556"/>
            <a:chOff x="554563" y="2625500"/>
            <a:chExt cx="131556" cy="131556"/>
          </a:xfrm>
        </p:grpSpPr>
        <p:sp>
          <p:nvSpPr>
            <p:cNvPr id="22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5"/>
              </p:custDataLst>
            </p:nvPr>
          </p:nvSpPr>
          <p:spPr>
            <a:xfrm>
              <a:off x="554563" y="2625500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8" name="Check" descr="&lt;Tags&gt;&lt;SMARTRESIZEANCHORS&gt;None,None,Absolute,None&lt;/SMARTRESIZEANCHORS&gt;&lt;/Tags&gt;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10491337" y="3137620"/>
            <a:ext cx="131556" cy="131556"/>
            <a:chOff x="554563" y="2625500"/>
            <a:chExt cx="131556" cy="131556"/>
          </a:xfrm>
        </p:grpSpPr>
        <p:sp>
          <p:nvSpPr>
            <p:cNvPr id="23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554563" y="2625500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2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9"/>
            </p:custDataLst>
          </p:nvPr>
        </p:nvGrpSpPr>
        <p:grpSpPr>
          <a:xfrm>
            <a:off x="10491337" y="2853103"/>
            <a:ext cx="131556" cy="131556"/>
            <a:chOff x="554563" y="2625500"/>
            <a:chExt cx="131556" cy="131556"/>
          </a:xfrm>
        </p:grpSpPr>
        <p:sp>
          <p:nvSpPr>
            <p:cNvPr id="23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3"/>
              </p:custDataLst>
            </p:nvPr>
          </p:nvSpPr>
          <p:spPr>
            <a:xfrm>
              <a:off x="554563" y="2625500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9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9" name="Rounded Rectangle 939"/>
          <p:cNvSpPr/>
          <p:nvPr/>
        </p:nvSpPr>
        <p:spPr>
          <a:xfrm>
            <a:off x="9441640" y="2763394"/>
            <a:ext cx="2310924" cy="1528468"/>
          </a:xfrm>
          <a:prstGeom prst="roundRect">
            <a:avLst>
              <a:gd name="adj" fmla="val 0"/>
            </a:avLst>
          </a:prstGeom>
          <a:noFill/>
          <a:ln w="63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11657314" y="2832159"/>
            <a:ext cx="49740" cy="541260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0" name="Rounded Rectangle 939"/>
          <p:cNvSpPr/>
          <p:nvPr/>
        </p:nvSpPr>
        <p:spPr>
          <a:xfrm>
            <a:off x="9441640" y="2543899"/>
            <a:ext cx="2310924" cy="216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r>
              <a:rPr kumimoji="1" lang="en-US" sz="70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		      </a:t>
            </a:r>
            <a:r>
              <a:rPr lang="ko-KR" altLang="en-US" sz="80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▼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5" name="꺾인 연결선 14"/>
          <p:cNvCxnSpPr>
            <a:stCxn id="401" idx="3"/>
            <a:endCxn id="260" idx="1"/>
          </p:cNvCxnSpPr>
          <p:nvPr/>
        </p:nvCxnSpPr>
        <p:spPr>
          <a:xfrm flipV="1">
            <a:off x="8772565" y="2651899"/>
            <a:ext cx="669075" cy="2676525"/>
          </a:xfrm>
          <a:prstGeom prst="bentConnector3">
            <a:avLst/>
          </a:prstGeom>
          <a:ln w="3175">
            <a:solidFill>
              <a:srgbClr val="FF0000"/>
            </a:solidFill>
            <a:prstDash val="sysDash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05925" y="5756297"/>
            <a:ext cx="1655506" cy="6976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[12/05 </a:t>
            </a:r>
            <a:r>
              <a:rPr lang="ko-KR" altLang="en-US" sz="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수정 내역</a:t>
            </a:r>
            <a:r>
              <a:rPr lang="en-US" altLang="ko-KR" sz="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]</a:t>
            </a:r>
          </a:p>
          <a:p>
            <a:endParaRPr lang="en-US" altLang="ko-KR" sz="80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  <a:p>
            <a:pPr marL="228600" indent="-228600">
              <a:buFont typeface="+mj-ea"/>
              <a:buAutoNum type="circleNumDbPlain" startAt="2"/>
            </a:pPr>
            <a:r>
              <a:rPr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설비 간편예약 레이어 수정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857500" y="4716780"/>
            <a:ext cx="2529840" cy="396240"/>
          </a:xfrm>
          <a:prstGeom prst="rect">
            <a:avLst/>
          </a:prstGeom>
          <a:noFill/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45" name="그룹 144"/>
          <p:cNvGrpSpPr/>
          <p:nvPr/>
        </p:nvGrpSpPr>
        <p:grpSpPr>
          <a:xfrm>
            <a:off x="6991166" y="829761"/>
            <a:ext cx="1030245" cy="180000"/>
            <a:chOff x="6443058" y="1673426"/>
            <a:chExt cx="1030245" cy="180000"/>
          </a:xfrm>
        </p:grpSpPr>
        <p:grpSp>
          <p:nvGrpSpPr>
            <p:cNvPr id="150" name="Group 21"/>
            <p:cNvGrpSpPr/>
            <p:nvPr/>
          </p:nvGrpSpPr>
          <p:grpSpPr>
            <a:xfrm>
              <a:off x="6443058" y="1673426"/>
              <a:ext cx="344208" cy="180000"/>
              <a:chOff x="6706916" y="1673426"/>
              <a:chExt cx="344208" cy="180000"/>
            </a:xfrm>
          </p:grpSpPr>
          <p:sp>
            <p:nvSpPr>
              <p:cNvPr id="198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99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00" name="Rectangle 625"/>
              <p:cNvSpPr/>
              <p:nvPr/>
            </p:nvSpPr>
            <p:spPr>
              <a:xfrm>
                <a:off x="6745093" y="1714887"/>
                <a:ext cx="77071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01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월간</a:t>
                </a:r>
                <a:endParaRPr kumimoji="1" lang="ko-KR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1" name="Group 548"/>
            <p:cNvGrpSpPr/>
            <p:nvPr/>
          </p:nvGrpSpPr>
          <p:grpSpPr>
            <a:xfrm>
              <a:off x="6784180" y="1673426"/>
              <a:ext cx="344208" cy="180000"/>
              <a:chOff x="6706916" y="1673426"/>
              <a:chExt cx="344208" cy="180000"/>
            </a:xfrm>
          </p:grpSpPr>
          <p:sp>
            <p:nvSpPr>
              <p:cNvPr id="196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97" name="텍스트 상자 31"/>
              <p:cNvSpPr txBox="1"/>
              <p:nvPr/>
            </p:nvSpPr>
            <p:spPr>
              <a:xfrm>
                <a:off x="6852300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주간</a:t>
                </a:r>
                <a:endParaRPr kumimoji="1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82" name="Group 22"/>
            <p:cNvGrpSpPr/>
            <p:nvPr/>
          </p:nvGrpSpPr>
          <p:grpSpPr>
            <a:xfrm>
              <a:off x="6812150" y="1714887"/>
              <a:ext cx="102895" cy="76173"/>
              <a:chOff x="7271815" y="1714887"/>
              <a:chExt cx="102895" cy="76173"/>
            </a:xfrm>
          </p:grpSpPr>
          <p:sp>
            <p:nvSpPr>
              <p:cNvPr id="192" name="Rectangle 625"/>
              <p:cNvSpPr/>
              <p:nvPr/>
            </p:nvSpPr>
            <p:spPr>
              <a:xfrm>
                <a:off x="7338279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94" name="Rectangle 625"/>
              <p:cNvSpPr/>
              <p:nvPr/>
            </p:nvSpPr>
            <p:spPr>
              <a:xfrm>
                <a:off x="7305047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95" name="Rectangle 625"/>
              <p:cNvSpPr/>
              <p:nvPr/>
            </p:nvSpPr>
            <p:spPr>
              <a:xfrm>
                <a:off x="7271815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</p:grpSp>
        <p:grpSp>
          <p:nvGrpSpPr>
            <p:cNvPr id="188" name="Group 553"/>
            <p:cNvGrpSpPr/>
            <p:nvPr/>
          </p:nvGrpSpPr>
          <p:grpSpPr>
            <a:xfrm>
              <a:off x="7129095" y="1673426"/>
              <a:ext cx="344208" cy="180000"/>
              <a:chOff x="6706916" y="1673426"/>
              <a:chExt cx="344208" cy="180000"/>
            </a:xfrm>
          </p:grpSpPr>
          <p:sp>
            <p:nvSpPr>
              <p:cNvPr id="189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noFill/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90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91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일간</a:t>
                </a:r>
                <a:endParaRPr kumimoji="1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202" name="Group 168"/>
          <p:cNvGrpSpPr/>
          <p:nvPr/>
        </p:nvGrpSpPr>
        <p:grpSpPr>
          <a:xfrm>
            <a:off x="8439259" y="816988"/>
            <a:ext cx="162000" cy="180000"/>
            <a:chOff x="7681408" y="2293428"/>
            <a:chExt cx="161707" cy="180000"/>
          </a:xfrm>
        </p:grpSpPr>
        <p:sp>
          <p:nvSpPr>
            <p:cNvPr id="203" name="Rounded Rectangle 169"/>
            <p:cNvSpPr/>
            <p:nvPr/>
          </p:nvSpPr>
          <p:spPr>
            <a:xfrm>
              <a:off x="7681408" y="2293428"/>
              <a:ext cx="161707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204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pSp>
        <p:nvGrpSpPr>
          <p:cNvPr id="205" name="그룹 204"/>
          <p:cNvGrpSpPr/>
          <p:nvPr/>
        </p:nvGrpSpPr>
        <p:grpSpPr>
          <a:xfrm>
            <a:off x="8147040" y="817141"/>
            <a:ext cx="216000" cy="180000"/>
            <a:chOff x="8455344" y="813130"/>
            <a:chExt cx="216000" cy="180000"/>
          </a:xfrm>
        </p:grpSpPr>
        <p:sp>
          <p:nvSpPr>
            <p:cNvPr id="206" name="Rounded Rectangle 169"/>
            <p:cNvSpPr/>
            <p:nvPr/>
          </p:nvSpPr>
          <p:spPr>
            <a:xfrm>
              <a:off x="8455344" y="813130"/>
              <a:ext cx="216000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pic>
          <p:nvPicPr>
            <p:cNvPr id="207" name="내용 개체 틀 3"/>
            <p:cNvPicPr>
              <a:picLocks noChangeAspect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3805" y="824238"/>
              <a:ext cx="162000" cy="162000"/>
            </a:xfrm>
            <a:prstGeom prst="rect">
              <a:avLst/>
            </a:prstGeom>
          </p:spPr>
        </p:pic>
      </p:grpSp>
      <p:sp>
        <p:nvSpPr>
          <p:cNvPr id="208" name="TextBox 207"/>
          <p:cNvSpPr txBox="1"/>
          <p:nvPr/>
        </p:nvSpPr>
        <p:spPr>
          <a:xfrm>
            <a:off x="6011962" y="821037"/>
            <a:ext cx="887029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내 예약한 설비 확인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0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0"/>
            </p:custDataLst>
          </p:nvPr>
        </p:nvGrpSpPr>
        <p:grpSpPr>
          <a:xfrm>
            <a:off x="5886911" y="862458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1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12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13" name="그룹 212"/>
          <p:cNvGrpSpPr/>
          <p:nvPr/>
        </p:nvGrpSpPr>
        <p:grpSpPr>
          <a:xfrm>
            <a:off x="8664920" y="813534"/>
            <a:ext cx="354278" cy="203200"/>
            <a:chOff x="7121870" y="765909"/>
            <a:chExt cx="354278" cy="203200"/>
          </a:xfrm>
        </p:grpSpPr>
        <p:sp>
          <p:nvSpPr>
            <p:cNvPr id="214" name="직사각형 213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600" smtClean="0">
                  <a:solidFill>
                    <a:schemeClr val="bg1"/>
                  </a:solidFill>
                  <a:latin typeface="+mn-ea"/>
                  <a:ea typeface="+mn-ea"/>
                </a:rPr>
                <a:t>▼</a:t>
              </a:r>
              <a:endParaRPr lang="ko-KR" altLang="en-US" sz="600" dirty="0" smtClean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15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463842" y="2555652"/>
            <a:ext cx="914400" cy="19707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ea typeface="+mn-ea"/>
              </a:rPr>
              <a:t>■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Jeju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09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69876" y="1301750"/>
          <a:ext cx="4464048" cy="2127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721">
                  <a:extLst>
                    <a:ext uri="{9D8B030D-6E8A-4147-A177-3AD203B41FA5}">
                      <a16:colId xmlns:a16="http://schemas.microsoft.com/office/drawing/2014/main" val="3660803878"/>
                    </a:ext>
                  </a:extLst>
                </a:gridCol>
                <a:gridCol w="637721">
                  <a:extLst>
                    <a:ext uri="{9D8B030D-6E8A-4147-A177-3AD203B41FA5}">
                      <a16:colId xmlns:a16="http://schemas.microsoft.com/office/drawing/2014/main" val="2887232495"/>
                    </a:ext>
                  </a:extLst>
                </a:gridCol>
                <a:gridCol w="637721">
                  <a:extLst>
                    <a:ext uri="{9D8B030D-6E8A-4147-A177-3AD203B41FA5}">
                      <a16:colId xmlns:a16="http://schemas.microsoft.com/office/drawing/2014/main" val="1854638066"/>
                    </a:ext>
                  </a:extLst>
                </a:gridCol>
                <a:gridCol w="637721">
                  <a:extLst>
                    <a:ext uri="{9D8B030D-6E8A-4147-A177-3AD203B41FA5}">
                      <a16:colId xmlns:a16="http://schemas.microsoft.com/office/drawing/2014/main" val="1555554337"/>
                    </a:ext>
                  </a:extLst>
                </a:gridCol>
                <a:gridCol w="318861">
                  <a:extLst>
                    <a:ext uri="{9D8B030D-6E8A-4147-A177-3AD203B41FA5}">
                      <a16:colId xmlns:a16="http://schemas.microsoft.com/office/drawing/2014/main" val="3911353536"/>
                    </a:ext>
                  </a:extLst>
                </a:gridCol>
                <a:gridCol w="318861">
                  <a:extLst>
                    <a:ext uri="{9D8B030D-6E8A-4147-A177-3AD203B41FA5}">
                      <a16:colId xmlns:a16="http://schemas.microsoft.com/office/drawing/2014/main" val="4105301134"/>
                    </a:ext>
                  </a:extLst>
                </a:gridCol>
                <a:gridCol w="637721">
                  <a:extLst>
                    <a:ext uri="{9D8B030D-6E8A-4147-A177-3AD203B41FA5}">
                      <a16:colId xmlns:a16="http://schemas.microsoft.com/office/drawing/2014/main" val="3205265597"/>
                    </a:ext>
                  </a:extLst>
                </a:gridCol>
                <a:gridCol w="637721">
                  <a:extLst>
                    <a:ext uri="{9D8B030D-6E8A-4147-A177-3AD203B41FA5}">
                      <a16:colId xmlns:a16="http://schemas.microsoft.com/office/drawing/2014/main" val="3124881907"/>
                    </a:ext>
                  </a:extLst>
                </a:gridCol>
              </a:tblGrid>
              <a:tr h="709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Cebu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임원 정기</a:t>
                      </a:r>
                      <a:r>
                        <a:rPr lang="ko-KR" altLang="en-US" sz="800" b="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회의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176113"/>
                  </a:ext>
                </a:extLst>
              </a:tr>
              <a:tr h="709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Jeju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제품기획팀 주간회의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EGW UI/UX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개선 프로젝트 협의체 미팅 및 디자인 시안 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965538"/>
                  </a:ext>
                </a:extLst>
              </a:tr>
              <a:tr h="7090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Palau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EGW</a:t>
                      </a:r>
                      <a:r>
                        <a:rPr lang="en-US" altLang="ko-KR" sz="800" b="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UI/UX </a:t>
                      </a:r>
                      <a:r>
                        <a:rPr lang="ko-KR" altLang="en-US" sz="800" b="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개선 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6000" marR="3600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84612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47750" y="1133475"/>
            <a:ext cx="333375" cy="1619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08:00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19300" y="1133475"/>
            <a:ext cx="333375" cy="1619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09:00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90850" y="1133475"/>
            <a:ext cx="333375" cy="1619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10:00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2875" y="1133475"/>
            <a:ext cx="333375" cy="1619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11:00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33950" y="1133475"/>
            <a:ext cx="333375" cy="1619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12:00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95975" y="1133475"/>
            <a:ext cx="333375" cy="1619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굴림" pitchFamily="50" charset="-127"/>
                <a:cs typeface="+mn-cs"/>
              </a:rPr>
              <a:t>13:00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굴림" pitchFamily="50" charset="-127"/>
              <a:cs typeface="+mn-cs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767" y="1355591"/>
            <a:ext cx="231006" cy="10460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42" y="2317616"/>
            <a:ext cx="231006" cy="104607"/>
          </a:xfrm>
          <a:prstGeom prst="rect">
            <a:avLst/>
          </a:prstGeom>
        </p:spPr>
      </p:pic>
      <p:graphicFrame>
        <p:nvGraphicFramePr>
          <p:cNvPr id="12" name="Group 3"/>
          <p:cNvGraphicFramePr>
            <a:graphicFrameLocks noGrp="1"/>
          </p:cNvGraphicFramePr>
          <p:nvPr>
            <p:extLst/>
          </p:nvPr>
        </p:nvGraphicFramePr>
        <p:xfrm>
          <a:off x="9286875" y="793264"/>
          <a:ext cx="2819019" cy="1182456"/>
        </p:xfrm>
        <a:graphic>
          <a:graphicData uri="http://schemas.openxmlformats.org/drawingml/2006/table">
            <a:tbl>
              <a:tblPr/>
              <a:tblGrid>
                <a:gridCol w="174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4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일정명이 정해진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width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값을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초과할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말줄임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일정명이 정해진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width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값을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초과할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/>
                      </a:r>
                      <a:b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말줄임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해당되는 아이콘들이 있을 경우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아이콘 영역까지 포함된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width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값으로 말줄임 처리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18000" marR="18000" marT="50800" marB="508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13102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390900" y="2543175"/>
            <a:ext cx="914400" cy="1619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차 리뷰</a:t>
            </a:r>
          </a:p>
        </p:txBody>
      </p:sp>
      <p:sp>
        <p:nvSpPr>
          <p:cNvPr id="14" name="Rectangle 139"/>
          <p:cNvSpPr/>
          <p:nvPr/>
        </p:nvSpPr>
        <p:spPr>
          <a:xfrm>
            <a:off x="3454719" y="2495549"/>
            <a:ext cx="736281" cy="195785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42" y="3298691"/>
            <a:ext cx="231006" cy="10460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67050" y="3114675"/>
            <a:ext cx="914400" cy="1619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로젝트 협의체 미팅 및 디자인 시안 리뷰</a:t>
            </a:r>
          </a:p>
        </p:txBody>
      </p:sp>
      <p:sp>
        <p:nvSpPr>
          <p:cNvPr id="17" name="Rectangle 139"/>
          <p:cNvSpPr/>
          <p:nvPr/>
        </p:nvSpPr>
        <p:spPr>
          <a:xfrm>
            <a:off x="3130869" y="3086099"/>
            <a:ext cx="1884804" cy="195785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타원 17"/>
          <p:cNvSpPr>
            <a:spLocks noChangeAspect="1"/>
          </p:cNvSpPr>
          <p:nvPr/>
        </p:nvSpPr>
        <p:spPr>
          <a:xfrm>
            <a:off x="4119610" y="2413373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타원 18"/>
          <p:cNvSpPr>
            <a:spLocks noChangeAspect="1"/>
          </p:cNvSpPr>
          <p:nvPr/>
        </p:nvSpPr>
        <p:spPr>
          <a:xfrm>
            <a:off x="4929235" y="2994398"/>
            <a:ext cx="160791" cy="162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: </a:t>
            </a:r>
            <a:r>
              <a:rPr kumimoji="1" lang="ko-KR" altLang="en-US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일간 캘린더에 출력되는 아이콘 정의</a:t>
            </a: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/>
          </p:nvPr>
        </p:nvGraphicFramePr>
        <p:xfrm>
          <a:off x="9286875" y="6445250"/>
          <a:ext cx="2819019" cy="223520"/>
        </p:xfrm>
        <a:graphic>
          <a:graphicData uri="http://schemas.openxmlformats.org/drawingml/2006/table">
            <a:tbl>
              <a:tblPr/>
              <a:tblGrid>
                <a:gridCol w="2819019">
                  <a:extLst>
                    <a:ext uri="{9D8B030D-6E8A-4147-A177-3AD203B41FA5}">
                      <a16:colId xmlns:a16="http://schemas.microsoft.com/office/drawing/2014/main" val="3830996104"/>
                    </a:ext>
                  </a:extLst>
                </a:gridCol>
              </a:tblGrid>
              <a:tr h="221493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lang="en-US" sz="80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3/26 </a:t>
                      </a:r>
                      <a:r>
                        <a:rPr lang="ko-KR" altLang="en-US" sz="80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화면</a:t>
                      </a:r>
                      <a:r>
                        <a:rPr lang="ko-KR" altLang="en-US" sz="800" baseline="0" smtClean="0"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 첨부</a:t>
                      </a:r>
                      <a:endParaRPr sz="800" dirty="0">
                        <a:solidFill>
                          <a:schemeClr val="bg1"/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668362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9235150" y="2015609"/>
            <a:ext cx="2605200" cy="4378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800"/>
            </a:pPr>
            <a:r>
              <a:rPr lang="ko-KR" altLang="en-US" sz="800" b="1" u="sng" smtClean="0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설비 </a:t>
            </a:r>
            <a:r>
              <a:rPr lang="ko-KR" altLang="en-US" sz="800" b="1" u="sng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월간</a:t>
            </a:r>
            <a:r>
              <a:rPr lang="en-US" altLang="ko-KR" sz="800" b="1" u="sng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/</a:t>
            </a:r>
            <a:r>
              <a:rPr lang="ko-KR" altLang="en-US" sz="800" b="1" u="sng" smtClean="0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주간</a:t>
            </a:r>
            <a:r>
              <a:rPr lang="ko-KR" altLang="en-US" sz="800" b="1" smtClean="0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형은</a:t>
            </a:r>
            <a:r>
              <a:rPr lang="ko-KR" altLang="en-US" sz="8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 Gothic" charset="-127"/>
              </a:rPr>
              <a:t> </a:t>
            </a:r>
            <a:r>
              <a:rPr lang="ko-KR" altLang="en-US" sz="8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 Gothic" charset="-127"/>
              </a:rPr>
              <a:t>일정의 월간에 </a:t>
            </a:r>
            <a:r>
              <a:rPr lang="ko-KR" altLang="en-US" sz="8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 Gothic" charset="-127"/>
              </a:rPr>
              <a:t>출력되는 </a:t>
            </a:r>
            <a:r>
              <a:rPr lang="ko-KR" altLang="en-US" sz="8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 Gothic" charset="-127"/>
              </a:rPr>
              <a:t>방식과</a:t>
            </a:r>
            <a:r>
              <a:rPr lang="ko-KR" altLang="en-US" sz="800" b="1" smtClean="0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 </a:t>
            </a:r>
            <a:endParaRPr lang="en-US" altLang="ko-KR" sz="800" b="1" smtClean="0">
              <a:solidFill>
                <a:srgbClr val="0000FF"/>
              </a:solidFill>
              <a:latin typeface="+mn-ea"/>
              <a:ea typeface="+mn-ea"/>
              <a:cs typeface="Nanum Gothic" charset="-127"/>
            </a:endParaRPr>
          </a:p>
          <a:p>
            <a:pPr>
              <a:lnSpc>
                <a:spcPct val="150000"/>
              </a:lnSpc>
              <a:defRPr sz="1800"/>
            </a:pPr>
            <a:r>
              <a:rPr lang="ko-KR" altLang="en-US" sz="800" b="1" smtClean="0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동일하게 적용 </a:t>
            </a:r>
            <a:r>
              <a:rPr lang="en-US" altLang="ko-KR" sz="800" b="1" smtClean="0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_7~8page </a:t>
            </a:r>
            <a:r>
              <a:rPr lang="ko-KR" altLang="en-US" sz="800" b="1" smtClean="0">
                <a:solidFill>
                  <a:srgbClr val="0000FF"/>
                </a:solidFill>
                <a:latin typeface="+mn-ea"/>
                <a:ea typeface="+mn-ea"/>
                <a:cs typeface="Nanum Gothic" charset="-127"/>
              </a:rPr>
              <a:t>참고</a:t>
            </a:r>
            <a:endParaRPr lang="ko-KR" altLang="en-US" sz="800" b="1" dirty="0">
              <a:solidFill>
                <a:srgbClr val="0000FF"/>
              </a:solidFill>
              <a:latin typeface="+mn-ea"/>
              <a:ea typeface="+mn-ea"/>
              <a:cs typeface="Nanum Gothic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242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7069" y="1426493"/>
            <a:ext cx="35670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예약 정보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상세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21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"/>
          <p:cNvSpPr/>
          <p:nvPr/>
        </p:nvSpPr>
        <p:spPr>
          <a:xfrm>
            <a:off x="401099" y="734231"/>
            <a:ext cx="7487538" cy="58105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graphicFrame>
        <p:nvGraphicFramePr>
          <p:cNvPr id="122" name="내용 개체 틀 121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357001737"/>
              </p:ext>
            </p:extLst>
          </p:nvPr>
        </p:nvGraphicFramePr>
        <p:xfrm>
          <a:off x="477299" y="1191844"/>
          <a:ext cx="6414029" cy="3931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496">
                  <a:extLst>
                    <a:ext uri="{9D8B030D-6E8A-4147-A177-3AD203B41FA5}">
                      <a16:colId xmlns:a16="http://schemas.microsoft.com/office/drawing/2014/main" val="2744069476"/>
                    </a:ext>
                  </a:extLst>
                </a:gridCol>
                <a:gridCol w="5579533">
                  <a:extLst>
                    <a:ext uri="{9D8B030D-6E8A-4147-A177-3AD203B41FA5}">
                      <a16:colId xmlns:a16="http://schemas.microsoft.com/office/drawing/2014/main" val="2490272663"/>
                    </a:ext>
                  </a:extLst>
                </a:gridCol>
              </a:tblGrid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제목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kumimoji="1"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프로젝트 업무회의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676769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작성자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127724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달력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내 일정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      UI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팀 프로젝트 일정 공유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975024"/>
                  </a:ext>
                </a:extLst>
              </a:tr>
              <a:tr h="436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일시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음력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2017-09-20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11:00 ~ 2017-09-22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3:00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종일 일정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기념일</a:t>
                      </a:r>
                      <a:endParaRPr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주마다 수요일에 반복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364343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공유자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강미나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강미나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endParaRPr lang="ko-KR" altLang="en-US" sz="800" b="0" u="sng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750860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강미나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강미나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</a:p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강미나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강미나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</a:p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강미나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강미나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</a:p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강미나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강미나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</a:rPr>
                        <a:t>,</a:t>
                      </a:r>
                      <a:r>
                        <a:rPr lang="en-US" altLang="ko-KR" sz="800" b="0" u="none" smtClean="0">
                          <a:solidFill>
                            <a:srgbClr val="0070C0"/>
                          </a:solidFill>
                        </a:rPr>
                        <a:t>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홍길동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</a:rPr>
                        <a:t>이은수</a:t>
                      </a:r>
                      <a:endParaRPr lang="ko-KR" altLang="en-US" sz="800" b="0" u="sng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796794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설비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층 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Bahama,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1,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53376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알림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10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분전 알림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메일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738479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기타제목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기타내용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기타제목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1,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기타내용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127556"/>
                  </a:ext>
                </a:extLst>
              </a:tr>
              <a:tr h="3097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내용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개발 리뷰를 위한 업무 회의 입니다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개발 리뷰를 위한 업무 회의 입니다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개발 리뷰를 위한 업무 회의 입니다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EGW 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개발 리뷰를 위한 업무 회의 입니다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140816"/>
                  </a:ext>
                </a:extLst>
              </a:tr>
            </a:tbl>
          </a:graphicData>
        </a:graphic>
      </p:graphicFrame>
      <p:sp>
        <p:nvSpPr>
          <p:cNvPr id="13" name="Rectangle 212"/>
          <p:cNvSpPr/>
          <p:nvPr/>
        </p:nvSpPr>
        <p:spPr>
          <a:xfrm>
            <a:off x="414337" y="759918"/>
            <a:ext cx="7474300" cy="29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14" name="텍스트 상자 31"/>
          <p:cNvSpPr txBox="1"/>
          <p:nvPr/>
        </p:nvSpPr>
        <p:spPr>
          <a:xfrm>
            <a:off x="518010" y="856522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예약 정보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70" name="그룹 169"/>
          <p:cNvGrpSpPr/>
          <p:nvPr/>
        </p:nvGrpSpPr>
        <p:grpSpPr>
          <a:xfrm>
            <a:off x="494772" y="5115063"/>
            <a:ext cx="6501108" cy="946169"/>
            <a:chOff x="494772" y="4676913"/>
            <a:chExt cx="6501108" cy="946169"/>
          </a:xfrm>
        </p:grpSpPr>
        <p:sp>
          <p:nvSpPr>
            <p:cNvPr id="128" name="Rectangle 492"/>
            <p:cNvSpPr/>
            <p:nvPr/>
          </p:nvSpPr>
          <p:spPr>
            <a:xfrm>
              <a:off x="555253" y="4896470"/>
              <a:ext cx="6440627" cy="7266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>
                <a:latin typeface="+mn-ea"/>
              </a:endParaRPr>
            </a:p>
          </p:txBody>
        </p:sp>
        <p:sp>
          <p:nvSpPr>
            <p:cNvPr id="129" name="직사각형"/>
            <p:cNvSpPr/>
            <p:nvPr/>
          </p:nvSpPr>
          <p:spPr>
            <a:xfrm>
              <a:off x="555253" y="4693848"/>
              <a:ext cx="2776565" cy="169397"/>
            </a:xfrm>
            <a:prstGeom prst="rect">
              <a:avLst/>
            </a:prstGeom>
            <a:noFill/>
            <a:ln w="12700">
              <a:noFill/>
              <a:miter lim="400000"/>
            </a:ln>
          </p:spPr>
          <p:txBody>
            <a:bodyPr lIns="50800" tIns="50800" rIns="50800" bIns="50800" anchor="ctr"/>
            <a:lstStyle/>
            <a:p>
              <a:r>
                <a:rPr lang="ko-KR" altLang="en-US" sz="800" b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첨부 파일</a:t>
              </a:r>
              <a:endParaRPr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30" name="Group 529"/>
            <p:cNvGrpSpPr/>
            <p:nvPr/>
          </p:nvGrpSpPr>
          <p:grpSpPr>
            <a:xfrm>
              <a:off x="494772" y="4736590"/>
              <a:ext cx="76159" cy="80471"/>
              <a:chOff x="1226479" y="2268605"/>
              <a:chExt cx="94913" cy="100287"/>
            </a:xfrm>
          </p:grpSpPr>
          <p:sp>
            <p:nvSpPr>
              <p:cNvPr id="131" name="Rounded Rectangle 531"/>
              <p:cNvSpPr/>
              <p:nvPr/>
            </p:nvSpPr>
            <p:spPr>
              <a:xfrm>
                <a:off x="1226479" y="2268605"/>
                <a:ext cx="94913" cy="10028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130000"/>
                  </a:lnSpc>
                </a:pPr>
                <a:endPara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32" name="Triangle 942"/>
              <p:cNvSpPr>
                <a:spLocks noChangeAspect="1"/>
              </p:cNvSpPr>
              <p:nvPr/>
            </p:nvSpPr>
            <p:spPr>
              <a:xfrm>
                <a:off x="1242180" y="2302261"/>
                <a:ext cx="62808" cy="36000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800">
                  <a:solidFill>
                    <a:schemeClr val="tx1"/>
                  </a:solidFill>
                  <a:latin typeface="+mn-ea"/>
                  <a:ea typeface="+mn-ea"/>
                  <a:cs typeface="ＭＳ Ｐゴシック" charset="0"/>
                </a:endParaRPr>
              </a:p>
            </p:txBody>
          </p:sp>
        </p:grpSp>
        <p:sp>
          <p:nvSpPr>
            <p:cNvPr id="133" name="직사각형"/>
            <p:cNvSpPr/>
            <p:nvPr/>
          </p:nvSpPr>
          <p:spPr>
            <a:xfrm>
              <a:off x="1229506" y="4935274"/>
              <a:ext cx="1451920" cy="169397"/>
            </a:xfrm>
            <a:prstGeom prst="rect">
              <a:avLst/>
            </a:prstGeom>
            <a:noFill/>
            <a:ln w="12700">
              <a:noFill/>
              <a:miter lim="400000"/>
            </a:ln>
          </p:spPr>
          <p:txBody>
            <a:bodyPr lIns="50800" tIns="50800" rIns="50800" bIns="50800" anchor="ctr"/>
            <a:lstStyle/>
            <a:p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파일명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_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만든이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_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날짜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.</a:t>
              </a:r>
              <a:r>
                <a:rPr lang="en-US" altLang="ko-KR" sz="8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docx</a:t>
              </a:r>
              <a:endParaRPr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4" name="직사각형"/>
            <p:cNvSpPr/>
            <p:nvPr/>
          </p:nvSpPr>
          <p:spPr>
            <a:xfrm>
              <a:off x="1219166" y="5179511"/>
              <a:ext cx="1451920" cy="169397"/>
            </a:xfrm>
            <a:prstGeom prst="rect">
              <a:avLst/>
            </a:prstGeom>
            <a:noFill/>
            <a:ln w="12700">
              <a:noFill/>
              <a:miter lim="400000"/>
            </a:ln>
          </p:spPr>
          <p:txBody>
            <a:bodyPr lIns="50800" tIns="50800" rIns="50800" bIns="50800" anchor="ctr"/>
            <a:lstStyle/>
            <a:p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파일명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_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만든이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_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날짜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.pdf</a:t>
              </a:r>
              <a:endParaRPr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5" name="직사각형"/>
            <p:cNvSpPr/>
            <p:nvPr/>
          </p:nvSpPr>
          <p:spPr>
            <a:xfrm>
              <a:off x="1740872" y="5418409"/>
              <a:ext cx="1451920" cy="169397"/>
            </a:xfrm>
            <a:prstGeom prst="rect">
              <a:avLst/>
            </a:prstGeom>
            <a:noFill/>
            <a:ln w="12700">
              <a:noFill/>
              <a:miter lim="400000"/>
            </a:ln>
          </p:spPr>
          <p:txBody>
            <a:bodyPr lIns="50800" tIns="50800" rIns="50800" bIns="50800" anchor="ctr"/>
            <a:lstStyle/>
            <a:p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파일명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_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만든이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_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날짜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.</a:t>
              </a:r>
              <a:r>
                <a:rPr lang="en-US" altLang="ko-KR" sz="800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docx</a:t>
              </a:r>
              <a:endParaRPr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cxnSp>
          <p:nvCxnSpPr>
            <p:cNvPr id="136" name="직선 연결선[R] 7"/>
            <p:cNvCxnSpPr/>
            <p:nvPr/>
          </p:nvCxnSpPr>
          <p:spPr>
            <a:xfrm>
              <a:off x="554744" y="5139947"/>
              <a:ext cx="6421067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miter lim="400000"/>
            </a:ln>
          </p:spPr>
        </p:cxnSp>
        <p:cxnSp>
          <p:nvCxnSpPr>
            <p:cNvPr id="137" name="직선 연결선[R] 7"/>
            <p:cNvCxnSpPr/>
            <p:nvPr/>
          </p:nvCxnSpPr>
          <p:spPr>
            <a:xfrm>
              <a:off x="554744" y="5384184"/>
              <a:ext cx="6421067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miter lim="400000"/>
            </a:ln>
          </p:spPr>
        </p:cxnSp>
        <p:cxnSp>
          <p:nvCxnSpPr>
            <p:cNvPr id="138" name="직선 연결선[R] 7"/>
            <p:cNvCxnSpPr/>
            <p:nvPr/>
          </p:nvCxnSpPr>
          <p:spPr>
            <a:xfrm>
              <a:off x="554744" y="5623082"/>
              <a:ext cx="6421067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miter lim="400000"/>
            </a:ln>
          </p:spPr>
        </p:cxnSp>
        <p:cxnSp>
          <p:nvCxnSpPr>
            <p:cNvPr id="139" name="직선 연결선[R] 7"/>
            <p:cNvCxnSpPr/>
            <p:nvPr/>
          </p:nvCxnSpPr>
          <p:spPr>
            <a:xfrm>
              <a:off x="554744" y="4896471"/>
              <a:ext cx="6421067" cy="0"/>
            </a:xfrm>
            <a:prstGeom prst="line">
              <a:avLst/>
            </a:prstGeom>
            <a:ln w="6350">
              <a:solidFill>
                <a:schemeClr val="bg1">
                  <a:lumMod val="85000"/>
                </a:schemeClr>
              </a:solidFill>
              <a:miter lim="400000"/>
            </a:ln>
          </p:spPr>
        </p:cxnSp>
        <p:sp>
          <p:nvSpPr>
            <p:cNvPr id="140" name="Rounded Rectangle 177"/>
            <p:cNvSpPr/>
            <p:nvPr/>
          </p:nvSpPr>
          <p:spPr>
            <a:xfrm>
              <a:off x="1275577" y="5444489"/>
              <a:ext cx="430089" cy="131804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7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r>
                <a:rPr kumimoji="1"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대용량</a:t>
              </a:r>
              <a:endParaRPr kumimoji="1"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1" name="Freeform 29"/>
            <p:cNvSpPr>
              <a:spLocks noChangeAspect="1" noEditPoints="1"/>
            </p:cNvSpPr>
            <p:nvPr/>
          </p:nvSpPr>
          <p:spPr bwMode="auto">
            <a:xfrm>
              <a:off x="855840" y="5453106"/>
              <a:ext cx="88991" cy="108000"/>
            </a:xfrm>
            <a:custGeom>
              <a:avLst/>
              <a:gdLst>
                <a:gd name="T0" fmla="*/ 350 w 350"/>
                <a:gd name="T1" fmla="*/ 150 h 425"/>
                <a:gd name="T2" fmla="*/ 250 w 350"/>
                <a:gd name="T3" fmla="*/ 150 h 425"/>
                <a:gd name="T4" fmla="*/ 250 w 350"/>
                <a:gd name="T5" fmla="*/ 0 h 425"/>
                <a:gd name="T6" fmla="*/ 100 w 350"/>
                <a:gd name="T7" fmla="*/ 0 h 425"/>
                <a:gd name="T8" fmla="*/ 100 w 350"/>
                <a:gd name="T9" fmla="*/ 150 h 425"/>
                <a:gd name="T10" fmla="*/ 0 w 350"/>
                <a:gd name="T11" fmla="*/ 150 h 425"/>
                <a:gd name="T12" fmla="*/ 175 w 350"/>
                <a:gd name="T13" fmla="*/ 325 h 425"/>
                <a:gd name="T14" fmla="*/ 350 w 350"/>
                <a:gd name="T15" fmla="*/ 150 h 425"/>
                <a:gd name="T16" fmla="*/ 0 w 350"/>
                <a:gd name="T17" fmla="*/ 375 h 425"/>
                <a:gd name="T18" fmla="*/ 0 w 350"/>
                <a:gd name="T19" fmla="*/ 425 h 425"/>
                <a:gd name="T20" fmla="*/ 350 w 350"/>
                <a:gd name="T21" fmla="*/ 425 h 425"/>
                <a:gd name="T22" fmla="*/ 350 w 350"/>
                <a:gd name="T23" fmla="*/ 375 h 425"/>
                <a:gd name="T24" fmla="*/ 0 w 350"/>
                <a:gd name="T25" fmla="*/ 37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0" h="425">
                  <a:moveTo>
                    <a:pt x="350" y="150"/>
                  </a:moveTo>
                  <a:lnTo>
                    <a:pt x="250" y="150"/>
                  </a:lnTo>
                  <a:lnTo>
                    <a:pt x="250" y="0"/>
                  </a:lnTo>
                  <a:lnTo>
                    <a:pt x="100" y="0"/>
                  </a:lnTo>
                  <a:lnTo>
                    <a:pt x="100" y="150"/>
                  </a:lnTo>
                  <a:lnTo>
                    <a:pt x="0" y="150"/>
                  </a:lnTo>
                  <a:lnTo>
                    <a:pt x="175" y="325"/>
                  </a:lnTo>
                  <a:lnTo>
                    <a:pt x="350" y="150"/>
                  </a:lnTo>
                  <a:close/>
                  <a:moveTo>
                    <a:pt x="0" y="375"/>
                  </a:moveTo>
                  <a:lnTo>
                    <a:pt x="0" y="425"/>
                  </a:lnTo>
                  <a:lnTo>
                    <a:pt x="350" y="425"/>
                  </a:lnTo>
                  <a:lnTo>
                    <a:pt x="350" y="375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800">
                <a:latin typeface="+mn-ea"/>
                <a:ea typeface="+mn-ea"/>
              </a:endParaRPr>
            </a:p>
          </p:txBody>
        </p:sp>
        <p:sp>
          <p:nvSpPr>
            <p:cNvPr id="142" name="Freeform 38"/>
            <p:cNvSpPr>
              <a:spLocks noChangeAspect="1" noChangeArrowheads="1"/>
            </p:cNvSpPr>
            <p:nvPr/>
          </p:nvSpPr>
          <p:spPr bwMode="auto">
            <a:xfrm>
              <a:off x="1047365" y="5467640"/>
              <a:ext cx="107999" cy="72000"/>
            </a:xfrm>
            <a:custGeom>
              <a:avLst/>
              <a:gdLst>
                <a:gd name="T0" fmla="*/ 437 w 541"/>
                <a:gd name="T1" fmla="*/ 137 h 361"/>
                <a:gd name="T2" fmla="*/ 270 w 541"/>
                <a:gd name="T3" fmla="*/ 0 h 361"/>
                <a:gd name="T4" fmla="*/ 124 w 541"/>
                <a:gd name="T5" fmla="*/ 90 h 361"/>
                <a:gd name="T6" fmla="*/ 0 w 541"/>
                <a:gd name="T7" fmla="*/ 227 h 361"/>
                <a:gd name="T8" fmla="*/ 137 w 541"/>
                <a:gd name="T9" fmla="*/ 360 h 361"/>
                <a:gd name="T10" fmla="*/ 428 w 541"/>
                <a:gd name="T11" fmla="*/ 360 h 361"/>
                <a:gd name="T12" fmla="*/ 540 w 541"/>
                <a:gd name="T13" fmla="*/ 249 h 361"/>
                <a:gd name="T14" fmla="*/ 437 w 541"/>
                <a:gd name="T15" fmla="*/ 137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1" h="361">
                  <a:moveTo>
                    <a:pt x="437" y="137"/>
                  </a:moveTo>
                  <a:cubicBezTo>
                    <a:pt x="420" y="60"/>
                    <a:pt x="351" y="0"/>
                    <a:pt x="270" y="0"/>
                  </a:cubicBezTo>
                  <a:cubicBezTo>
                    <a:pt x="206" y="0"/>
                    <a:pt x="150" y="39"/>
                    <a:pt x="124" y="90"/>
                  </a:cubicBezTo>
                  <a:cubicBezTo>
                    <a:pt x="51" y="99"/>
                    <a:pt x="0" y="155"/>
                    <a:pt x="0" y="227"/>
                  </a:cubicBezTo>
                  <a:cubicBezTo>
                    <a:pt x="0" y="300"/>
                    <a:pt x="60" y="360"/>
                    <a:pt x="137" y="360"/>
                  </a:cubicBezTo>
                  <a:lnTo>
                    <a:pt x="428" y="360"/>
                  </a:lnTo>
                  <a:cubicBezTo>
                    <a:pt x="488" y="360"/>
                    <a:pt x="540" y="313"/>
                    <a:pt x="540" y="249"/>
                  </a:cubicBezTo>
                  <a:cubicBezTo>
                    <a:pt x="540" y="189"/>
                    <a:pt x="493" y="142"/>
                    <a:pt x="437" y="137"/>
                  </a:cubicBezTo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800">
                <a:latin typeface="+mn-ea"/>
                <a:ea typeface="+mn-ea"/>
              </a:endParaRPr>
            </a:p>
          </p:txBody>
        </p:sp>
        <p:sp>
          <p:nvSpPr>
            <p:cNvPr id="143" name="Freeform 29"/>
            <p:cNvSpPr>
              <a:spLocks noChangeAspect="1" noEditPoints="1"/>
            </p:cNvSpPr>
            <p:nvPr/>
          </p:nvSpPr>
          <p:spPr bwMode="auto">
            <a:xfrm>
              <a:off x="855840" y="5216613"/>
              <a:ext cx="88991" cy="108000"/>
            </a:xfrm>
            <a:custGeom>
              <a:avLst/>
              <a:gdLst>
                <a:gd name="T0" fmla="*/ 350 w 350"/>
                <a:gd name="T1" fmla="*/ 150 h 425"/>
                <a:gd name="T2" fmla="*/ 250 w 350"/>
                <a:gd name="T3" fmla="*/ 150 h 425"/>
                <a:gd name="T4" fmla="*/ 250 w 350"/>
                <a:gd name="T5" fmla="*/ 0 h 425"/>
                <a:gd name="T6" fmla="*/ 100 w 350"/>
                <a:gd name="T7" fmla="*/ 0 h 425"/>
                <a:gd name="T8" fmla="*/ 100 w 350"/>
                <a:gd name="T9" fmla="*/ 150 h 425"/>
                <a:gd name="T10" fmla="*/ 0 w 350"/>
                <a:gd name="T11" fmla="*/ 150 h 425"/>
                <a:gd name="T12" fmla="*/ 175 w 350"/>
                <a:gd name="T13" fmla="*/ 325 h 425"/>
                <a:gd name="T14" fmla="*/ 350 w 350"/>
                <a:gd name="T15" fmla="*/ 150 h 425"/>
                <a:gd name="T16" fmla="*/ 0 w 350"/>
                <a:gd name="T17" fmla="*/ 375 h 425"/>
                <a:gd name="T18" fmla="*/ 0 w 350"/>
                <a:gd name="T19" fmla="*/ 425 h 425"/>
                <a:gd name="T20" fmla="*/ 350 w 350"/>
                <a:gd name="T21" fmla="*/ 425 h 425"/>
                <a:gd name="T22" fmla="*/ 350 w 350"/>
                <a:gd name="T23" fmla="*/ 375 h 425"/>
                <a:gd name="T24" fmla="*/ 0 w 350"/>
                <a:gd name="T25" fmla="*/ 37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0" h="425">
                  <a:moveTo>
                    <a:pt x="350" y="150"/>
                  </a:moveTo>
                  <a:lnTo>
                    <a:pt x="250" y="150"/>
                  </a:lnTo>
                  <a:lnTo>
                    <a:pt x="250" y="0"/>
                  </a:lnTo>
                  <a:lnTo>
                    <a:pt x="100" y="0"/>
                  </a:lnTo>
                  <a:lnTo>
                    <a:pt x="100" y="150"/>
                  </a:lnTo>
                  <a:lnTo>
                    <a:pt x="0" y="150"/>
                  </a:lnTo>
                  <a:lnTo>
                    <a:pt x="175" y="325"/>
                  </a:lnTo>
                  <a:lnTo>
                    <a:pt x="350" y="150"/>
                  </a:lnTo>
                  <a:close/>
                  <a:moveTo>
                    <a:pt x="0" y="375"/>
                  </a:moveTo>
                  <a:lnTo>
                    <a:pt x="0" y="425"/>
                  </a:lnTo>
                  <a:lnTo>
                    <a:pt x="350" y="425"/>
                  </a:lnTo>
                  <a:lnTo>
                    <a:pt x="350" y="375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800">
                <a:latin typeface="+mn-ea"/>
                <a:ea typeface="+mn-ea"/>
              </a:endParaRPr>
            </a:p>
          </p:txBody>
        </p:sp>
        <p:sp>
          <p:nvSpPr>
            <p:cNvPr id="144" name="Freeform 38"/>
            <p:cNvSpPr>
              <a:spLocks noChangeAspect="1" noChangeArrowheads="1"/>
            </p:cNvSpPr>
            <p:nvPr/>
          </p:nvSpPr>
          <p:spPr bwMode="auto">
            <a:xfrm>
              <a:off x="1047365" y="5231147"/>
              <a:ext cx="107999" cy="72000"/>
            </a:xfrm>
            <a:custGeom>
              <a:avLst/>
              <a:gdLst>
                <a:gd name="T0" fmla="*/ 437 w 541"/>
                <a:gd name="T1" fmla="*/ 137 h 361"/>
                <a:gd name="T2" fmla="*/ 270 w 541"/>
                <a:gd name="T3" fmla="*/ 0 h 361"/>
                <a:gd name="T4" fmla="*/ 124 w 541"/>
                <a:gd name="T5" fmla="*/ 90 h 361"/>
                <a:gd name="T6" fmla="*/ 0 w 541"/>
                <a:gd name="T7" fmla="*/ 227 h 361"/>
                <a:gd name="T8" fmla="*/ 137 w 541"/>
                <a:gd name="T9" fmla="*/ 360 h 361"/>
                <a:gd name="T10" fmla="*/ 428 w 541"/>
                <a:gd name="T11" fmla="*/ 360 h 361"/>
                <a:gd name="T12" fmla="*/ 540 w 541"/>
                <a:gd name="T13" fmla="*/ 249 h 361"/>
                <a:gd name="T14" fmla="*/ 437 w 541"/>
                <a:gd name="T15" fmla="*/ 137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1" h="361">
                  <a:moveTo>
                    <a:pt x="437" y="137"/>
                  </a:moveTo>
                  <a:cubicBezTo>
                    <a:pt x="420" y="60"/>
                    <a:pt x="351" y="0"/>
                    <a:pt x="270" y="0"/>
                  </a:cubicBezTo>
                  <a:cubicBezTo>
                    <a:pt x="206" y="0"/>
                    <a:pt x="150" y="39"/>
                    <a:pt x="124" y="90"/>
                  </a:cubicBezTo>
                  <a:cubicBezTo>
                    <a:pt x="51" y="99"/>
                    <a:pt x="0" y="155"/>
                    <a:pt x="0" y="227"/>
                  </a:cubicBezTo>
                  <a:cubicBezTo>
                    <a:pt x="0" y="300"/>
                    <a:pt x="60" y="360"/>
                    <a:pt x="137" y="360"/>
                  </a:cubicBezTo>
                  <a:lnTo>
                    <a:pt x="428" y="360"/>
                  </a:lnTo>
                  <a:cubicBezTo>
                    <a:pt x="488" y="360"/>
                    <a:pt x="540" y="313"/>
                    <a:pt x="540" y="249"/>
                  </a:cubicBezTo>
                  <a:cubicBezTo>
                    <a:pt x="540" y="189"/>
                    <a:pt x="493" y="142"/>
                    <a:pt x="437" y="137"/>
                  </a:cubicBezTo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800">
                <a:latin typeface="+mn-ea"/>
                <a:ea typeface="+mn-ea"/>
              </a:endParaRPr>
            </a:p>
          </p:txBody>
        </p:sp>
        <p:sp>
          <p:nvSpPr>
            <p:cNvPr id="145" name="Freeform 29"/>
            <p:cNvSpPr>
              <a:spLocks noChangeAspect="1" noEditPoints="1"/>
            </p:cNvSpPr>
            <p:nvPr/>
          </p:nvSpPr>
          <p:spPr bwMode="auto">
            <a:xfrm>
              <a:off x="855840" y="4980803"/>
              <a:ext cx="88991" cy="108000"/>
            </a:xfrm>
            <a:custGeom>
              <a:avLst/>
              <a:gdLst>
                <a:gd name="T0" fmla="*/ 350 w 350"/>
                <a:gd name="T1" fmla="*/ 150 h 425"/>
                <a:gd name="T2" fmla="*/ 250 w 350"/>
                <a:gd name="T3" fmla="*/ 150 h 425"/>
                <a:gd name="T4" fmla="*/ 250 w 350"/>
                <a:gd name="T5" fmla="*/ 0 h 425"/>
                <a:gd name="T6" fmla="*/ 100 w 350"/>
                <a:gd name="T7" fmla="*/ 0 h 425"/>
                <a:gd name="T8" fmla="*/ 100 w 350"/>
                <a:gd name="T9" fmla="*/ 150 h 425"/>
                <a:gd name="T10" fmla="*/ 0 w 350"/>
                <a:gd name="T11" fmla="*/ 150 h 425"/>
                <a:gd name="T12" fmla="*/ 175 w 350"/>
                <a:gd name="T13" fmla="*/ 325 h 425"/>
                <a:gd name="T14" fmla="*/ 350 w 350"/>
                <a:gd name="T15" fmla="*/ 150 h 425"/>
                <a:gd name="T16" fmla="*/ 0 w 350"/>
                <a:gd name="T17" fmla="*/ 375 h 425"/>
                <a:gd name="T18" fmla="*/ 0 w 350"/>
                <a:gd name="T19" fmla="*/ 425 h 425"/>
                <a:gd name="T20" fmla="*/ 350 w 350"/>
                <a:gd name="T21" fmla="*/ 425 h 425"/>
                <a:gd name="T22" fmla="*/ 350 w 350"/>
                <a:gd name="T23" fmla="*/ 375 h 425"/>
                <a:gd name="T24" fmla="*/ 0 w 350"/>
                <a:gd name="T25" fmla="*/ 37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0" h="425">
                  <a:moveTo>
                    <a:pt x="350" y="150"/>
                  </a:moveTo>
                  <a:lnTo>
                    <a:pt x="250" y="150"/>
                  </a:lnTo>
                  <a:lnTo>
                    <a:pt x="250" y="0"/>
                  </a:lnTo>
                  <a:lnTo>
                    <a:pt x="100" y="0"/>
                  </a:lnTo>
                  <a:lnTo>
                    <a:pt x="100" y="150"/>
                  </a:lnTo>
                  <a:lnTo>
                    <a:pt x="0" y="150"/>
                  </a:lnTo>
                  <a:lnTo>
                    <a:pt x="175" y="325"/>
                  </a:lnTo>
                  <a:lnTo>
                    <a:pt x="350" y="150"/>
                  </a:lnTo>
                  <a:close/>
                  <a:moveTo>
                    <a:pt x="0" y="375"/>
                  </a:moveTo>
                  <a:lnTo>
                    <a:pt x="0" y="425"/>
                  </a:lnTo>
                  <a:lnTo>
                    <a:pt x="350" y="425"/>
                  </a:lnTo>
                  <a:lnTo>
                    <a:pt x="350" y="375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800">
                <a:latin typeface="+mn-ea"/>
                <a:ea typeface="+mn-ea"/>
              </a:endParaRPr>
            </a:p>
          </p:txBody>
        </p:sp>
        <p:sp>
          <p:nvSpPr>
            <p:cNvPr id="146" name="Freeform 38"/>
            <p:cNvSpPr>
              <a:spLocks noChangeAspect="1" noChangeArrowheads="1"/>
            </p:cNvSpPr>
            <p:nvPr/>
          </p:nvSpPr>
          <p:spPr bwMode="auto">
            <a:xfrm>
              <a:off x="1047365" y="4995337"/>
              <a:ext cx="107999" cy="72000"/>
            </a:xfrm>
            <a:custGeom>
              <a:avLst/>
              <a:gdLst>
                <a:gd name="T0" fmla="*/ 437 w 541"/>
                <a:gd name="T1" fmla="*/ 137 h 361"/>
                <a:gd name="T2" fmla="*/ 270 w 541"/>
                <a:gd name="T3" fmla="*/ 0 h 361"/>
                <a:gd name="T4" fmla="*/ 124 w 541"/>
                <a:gd name="T5" fmla="*/ 90 h 361"/>
                <a:gd name="T6" fmla="*/ 0 w 541"/>
                <a:gd name="T7" fmla="*/ 227 h 361"/>
                <a:gd name="T8" fmla="*/ 137 w 541"/>
                <a:gd name="T9" fmla="*/ 360 h 361"/>
                <a:gd name="T10" fmla="*/ 428 w 541"/>
                <a:gd name="T11" fmla="*/ 360 h 361"/>
                <a:gd name="T12" fmla="*/ 540 w 541"/>
                <a:gd name="T13" fmla="*/ 249 h 361"/>
                <a:gd name="T14" fmla="*/ 437 w 541"/>
                <a:gd name="T15" fmla="*/ 137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1" h="361">
                  <a:moveTo>
                    <a:pt x="437" y="137"/>
                  </a:moveTo>
                  <a:cubicBezTo>
                    <a:pt x="420" y="60"/>
                    <a:pt x="351" y="0"/>
                    <a:pt x="270" y="0"/>
                  </a:cubicBezTo>
                  <a:cubicBezTo>
                    <a:pt x="206" y="0"/>
                    <a:pt x="150" y="39"/>
                    <a:pt x="124" y="90"/>
                  </a:cubicBezTo>
                  <a:cubicBezTo>
                    <a:pt x="51" y="99"/>
                    <a:pt x="0" y="155"/>
                    <a:pt x="0" y="227"/>
                  </a:cubicBezTo>
                  <a:cubicBezTo>
                    <a:pt x="0" y="300"/>
                    <a:pt x="60" y="360"/>
                    <a:pt x="137" y="360"/>
                  </a:cubicBezTo>
                  <a:lnTo>
                    <a:pt x="428" y="360"/>
                  </a:lnTo>
                  <a:cubicBezTo>
                    <a:pt x="488" y="360"/>
                    <a:pt x="540" y="313"/>
                    <a:pt x="540" y="249"/>
                  </a:cubicBezTo>
                  <a:cubicBezTo>
                    <a:pt x="540" y="189"/>
                    <a:pt x="493" y="142"/>
                    <a:pt x="437" y="137"/>
                  </a:cubicBezTo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800">
                <a:latin typeface="+mn-ea"/>
                <a:ea typeface="+mn-ea"/>
              </a:endParaRPr>
            </a:p>
          </p:txBody>
        </p:sp>
        <p:sp>
          <p:nvSpPr>
            <p:cNvPr id="147" name="텍스트 상자 31"/>
            <p:cNvSpPr txBox="1"/>
            <p:nvPr/>
          </p:nvSpPr>
          <p:spPr>
            <a:xfrm>
              <a:off x="5355074" y="4967454"/>
              <a:ext cx="1076774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kumimoji="1"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477KB</a:t>
              </a:r>
              <a:endParaRPr kumimoji="1"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8" name="텍스트 상자 31"/>
            <p:cNvSpPr txBox="1"/>
            <p:nvPr/>
          </p:nvSpPr>
          <p:spPr>
            <a:xfrm>
              <a:off x="5355074" y="5453182"/>
              <a:ext cx="1076774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kumimoji="1"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150MB</a:t>
              </a:r>
              <a:endParaRPr kumimoji="1"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9" name="텍스트 상자 31"/>
            <p:cNvSpPr txBox="1"/>
            <p:nvPr/>
          </p:nvSpPr>
          <p:spPr>
            <a:xfrm>
              <a:off x="5355074" y="5204170"/>
              <a:ext cx="1076774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kumimoji="1"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31MB</a:t>
              </a:r>
              <a:endParaRPr kumimoji="1"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7" name="Freeform 1"/>
            <p:cNvSpPr>
              <a:spLocks noChangeAspect="1" noChangeArrowheads="1"/>
            </p:cNvSpPr>
            <p:nvPr/>
          </p:nvSpPr>
          <p:spPr bwMode="auto">
            <a:xfrm>
              <a:off x="617333" y="4987431"/>
              <a:ext cx="118482" cy="118482"/>
            </a:xfrm>
            <a:custGeom>
              <a:avLst/>
              <a:gdLst>
                <a:gd name="T0" fmla="*/ 523 w 587"/>
                <a:gd name="T1" fmla="*/ 0 h 586"/>
                <a:gd name="T2" fmla="*/ 69 w 587"/>
                <a:gd name="T3" fmla="*/ 0 h 586"/>
                <a:gd name="T4" fmla="*/ 0 w 587"/>
                <a:gd name="T5" fmla="*/ 68 h 586"/>
                <a:gd name="T6" fmla="*/ 0 w 587"/>
                <a:gd name="T7" fmla="*/ 523 h 586"/>
                <a:gd name="T8" fmla="*/ 69 w 587"/>
                <a:gd name="T9" fmla="*/ 585 h 586"/>
                <a:gd name="T10" fmla="*/ 523 w 587"/>
                <a:gd name="T11" fmla="*/ 585 h 586"/>
                <a:gd name="T12" fmla="*/ 586 w 587"/>
                <a:gd name="T13" fmla="*/ 523 h 586"/>
                <a:gd name="T14" fmla="*/ 586 w 587"/>
                <a:gd name="T15" fmla="*/ 68 h 586"/>
                <a:gd name="T16" fmla="*/ 523 w 587"/>
                <a:gd name="T17" fmla="*/ 0 h 586"/>
                <a:gd name="T18" fmla="*/ 231 w 587"/>
                <a:gd name="T19" fmla="*/ 454 h 586"/>
                <a:gd name="T20" fmla="*/ 69 w 587"/>
                <a:gd name="T21" fmla="*/ 292 h 586"/>
                <a:gd name="T22" fmla="*/ 113 w 587"/>
                <a:gd name="T23" fmla="*/ 249 h 586"/>
                <a:gd name="T24" fmla="*/ 231 w 587"/>
                <a:gd name="T25" fmla="*/ 367 h 586"/>
                <a:gd name="T26" fmla="*/ 480 w 587"/>
                <a:gd name="T27" fmla="*/ 118 h 586"/>
                <a:gd name="T28" fmla="*/ 523 w 587"/>
                <a:gd name="T29" fmla="*/ 161 h 586"/>
                <a:gd name="T30" fmla="*/ 231 w 587"/>
                <a:gd name="T31" fmla="*/ 454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7" h="586">
                  <a:moveTo>
                    <a:pt x="523" y="0"/>
                  </a:moveTo>
                  <a:lnTo>
                    <a:pt x="69" y="0"/>
                  </a:lnTo>
                  <a:cubicBezTo>
                    <a:pt x="32" y="0"/>
                    <a:pt x="0" y="31"/>
                    <a:pt x="0" y="68"/>
                  </a:cubicBezTo>
                  <a:lnTo>
                    <a:pt x="0" y="523"/>
                  </a:lnTo>
                  <a:cubicBezTo>
                    <a:pt x="0" y="554"/>
                    <a:pt x="32" y="585"/>
                    <a:pt x="69" y="585"/>
                  </a:cubicBezTo>
                  <a:lnTo>
                    <a:pt x="523" y="585"/>
                  </a:lnTo>
                  <a:cubicBezTo>
                    <a:pt x="561" y="585"/>
                    <a:pt x="586" y="554"/>
                    <a:pt x="586" y="523"/>
                  </a:cubicBezTo>
                  <a:lnTo>
                    <a:pt x="586" y="68"/>
                  </a:lnTo>
                  <a:cubicBezTo>
                    <a:pt x="586" y="31"/>
                    <a:pt x="561" y="0"/>
                    <a:pt x="523" y="0"/>
                  </a:cubicBezTo>
                  <a:close/>
                  <a:moveTo>
                    <a:pt x="231" y="454"/>
                  </a:moveTo>
                  <a:lnTo>
                    <a:pt x="69" y="292"/>
                  </a:lnTo>
                  <a:lnTo>
                    <a:pt x="113" y="249"/>
                  </a:lnTo>
                  <a:lnTo>
                    <a:pt x="231" y="367"/>
                  </a:lnTo>
                  <a:lnTo>
                    <a:pt x="480" y="118"/>
                  </a:lnTo>
                  <a:lnTo>
                    <a:pt x="523" y="161"/>
                  </a:lnTo>
                  <a:lnTo>
                    <a:pt x="231" y="45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800">
                <a:latin typeface="+mn-ea"/>
                <a:ea typeface="+mn-ea"/>
              </a:endParaRPr>
            </a:p>
          </p:txBody>
        </p:sp>
        <p:sp>
          <p:nvSpPr>
            <p:cNvPr id="158" name="Freeform 1"/>
            <p:cNvSpPr>
              <a:spLocks noChangeAspect="1" noChangeArrowheads="1"/>
            </p:cNvSpPr>
            <p:nvPr/>
          </p:nvSpPr>
          <p:spPr bwMode="auto">
            <a:xfrm>
              <a:off x="617333" y="5206534"/>
              <a:ext cx="118482" cy="118482"/>
            </a:xfrm>
            <a:custGeom>
              <a:avLst/>
              <a:gdLst>
                <a:gd name="T0" fmla="*/ 523 w 587"/>
                <a:gd name="T1" fmla="*/ 0 h 586"/>
                <a:gd name="T2" fmla="*/ 69 w 587"/>
                <a:gd name="T3" fmla="*/ 0 h 586"/>
                <a:gd name="T4" fmla="*/ 0 w 587"/>
                <a:gd name="T5" fmla="*/ 68 h 586"/>
                <a:gd name="T6" fmla="*/ 0 w 587"/>
                <a:gd name="T7" fmla="*/ 523 h 586"/>
                <a:gd name="T8" fmla="*/ 69 w 587"/>
                <a:gd name="T9" fmla="*/ 585 h 586"/>
                <a:gd name="T10" fmla="*/ 523 w 587"/>
                <a:gd name="T11" fmla="*/ 585 h 586"/>
                <a:gd name="T12" fmla="*/ 586 w 587"/>
                <a:gd name="T13" fmla="*/ 523 h 586"/>
                <a:gd name="T14" fmla="*/ 586 w 587"/>
                <a:gd name="T15" fmla="*/ 68 h 586"/>
                <a:gd name="T16" fmla="*/ 523 w 587"/>
                <a:gd name="T17" fmla="*/ 0 h 586"/>
                <a:gd name="T18" fmla="*/ 231 w 587"/>
                <a:gd name="T19" fmla="*/ 454 h 586"/>
                <a:gd name="T20" fmla="*/ 69 w 587"/>
                <a:gd name="T21" fmla="*/ 292 h 586"/>
                <a:gd name="T22" fmla="*/ 113 w 587"/>
                <a:gd name="T23" fmla="*/ 249 h 586"/>
                <a:gd name="T24" fmla="*/ 231 w 587"/>
                <a:gd name="T25" fmla="*/ 367 h 586"/>
                <a:gd name="T26" fmla="*/ 480 w 587"/>
                <a:gd name="T27" fmla="*/ 118 h 586"/>
                <a:gd name="T28" fmla="*/ 523 w 587"/>
                <a:gd name="T29" fmla="*/ 161 h 586"/>
                <a:gd name="T30" fmla="*/ 231 w 587"/>
                <a:gd name="T31" fmla="*/ 454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7" h="586">
                  <a:moveTo>
                    <a:pt x="523" y="0"/>
                  </a:moveTo>
                  <a:lnTo>
                    <a:pt x="69" y="0"/>
                  </a:lnTo>
                  <a:cubicBezTo>
                    <a:pt x="32" y="0"/>
                    <a:pt x="0" y="31"/>
                    <a:pt x="0" y="68"/>
                  </a:cubicBezTo>
                  <a:lnTo>
                    <a:pt x="0" y="523"/>
                  </a:lnTo>
                  <a:cubicBezTo>
                    <a:pt x="0" y="554"/>
                    <a:pt x="32" y="585"/>
                    <a:pt x="69" y="585"/>
                  </a:cubicBezTo>
                  <a:lnTo>
                    <a:pt x="523" y="585"/>
                  </a:lnTo>
                  <a:cubicBezTo>
                    <a:pt x="561" y="585"/>
                    <a:pt x="586" y="554"/>
                    <a:pt x="586" y="523"/>
                  </a:cubicBezTo>
                  <a:lnTo>
                    <a:pt x="586" y="68"/>
                  </a:lnTo>
                  <a:cubicBezTo>
                    <a:pt x="586" y="31"/>
                    <a:pt x="561" y="0"/>
                    <a:pt x="523" y="0"/>
                  </a:cubicBezTo>
                  <a:close/>
                  <a:moveTo>
                    <a:pt x="231" y="454"/>
                  </a:moveTo>
                  <a:lnTo>
                    <a:pt x="69" y="292"/>
                  </a:lnTo>
                  <a:lnTo>
                    <a:pt x="113" y="249"/>
                  </a:lnTo>
                  <a:lnTo>
                    <a:pt x="231" y="367"/>
                  </a:lnTo>
                  <a:lnTo>
                    <a:pt x="480" y="118"/>
                  </a:lnTo>
                  <a:lnTo>
                    <a:pt x="523" y="161"/>
                  </a:lnTo>
                  <a:lnTo>
                    <a:pt x="231" y="45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800">
                <a:latin typeface="+mn-ea"/>
                <a:ea typeface="+mn-ea"/>
              </a:endParaRPr>
            </a:p>
          </p:txBody>
        </p:sp>
        <p:sp>
          <p:nvSpPr>
            <p:cNvPr id="159" name="Freeform 1"/>
            <p:cNvSpPr>
              <a:spLocks noChangeAspect="1" noChangeArrowheads="1"/>
            </p:cNvSpPr>
            <p:nvPr/>
          </p:nvSpPr>
          <p:spPr bwMode="auto">
            <a:xfrm>
              <a:off x="617333" y="5443060"/>
              <a:ext cx="118482" cy="118482"/>
            </a:xfrm>
            <a:custGeom>
              <a:avLst/>
              <a:gdLst>
                <a:gd name="T0" fmla="*/ 523 w 587"/>
                <a:gd name="T1" fmla="*/ 0 h 586"/>
                <a:gd name="T2" fmla="*/ 69 w 587"/>
                <a:gd name="T3" fmla="*/ 0 h 586"/>
                <a:gd name="T4" fmla="*/ 0 w 587"/>
                <a:gd name="T5" fmla="*/ 68 h 586"/>
                <a:gd name="T6" fmla="*/ 0 w 587"/>
                <a:gd name="T7" fmla="*/ 523 h 586"/>
                <a:gd name="T8" fmla="*/ 69 w 587"/>
                <a:gd name="T9" fmla="*/ 585 h 586"/>
                <a:gd name="T10" fmla="*/ 523 w 587"/>
                <a:gd name="T11" fmla="*/ 585 h 586"/>
                <a:gd name="T12" fmla="*/ 586 w 587"/>
                <a:gd name="T13" fmla="*/ 523 h 586"/>
                <a:gd name="T14" fmla="*/ 586 w 587"/>
                <a:gd name="T15" fmla="*/ 68 h 586"/>
                <a:gd name="T16" fmla="*/ 523 w 587"/>
                <a:gd name="T17" fmla="*/ 0 h 586"/>
                <a:gd name="T18" fmla="*/ 231 w 587"/>
                <a:gd name="T19" fmla="*/ 454 h 586"/>
                <a:gd name="T20" fmla="*/ 69 w 587"/>
                <a:gd name="T21" fmla="*/ 292 h 586"/>
                <a:gd name="T22" fmla="*/ 113 w 587"/>
                <a:gd name="T23" fmla="*/ 249 h 586"/>
                <a:gd name="T24" fmla="*/ 231 w 587"/>
                <a:gd name="T25" fmla="*/ 367 h 586"/>
                <a:gd name="T26" fmla="*/ 480 w 587"/>
                <a:gd name="T27" fmla="*/ 118 h 586"/>
                <a:gd name="T28" fmla="*/ 523 w 587"/>
                <a:gd name="T29" fmla="*/ 161 h 586"/>
                <a:gd name="T30" fmla="*/ 231 w 587"/>
                <a:gd name="T31" fmla="*/ 454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7" h="586">
                  <a:moveTo>
                    <a:pt x="523" y="0"/>
                  </a:moveTo>
                  <a:lnTo>
                    <a:pt x="69" y="0"/>
                  </a:lnTo>
                  <a:cubicBezTo>
                    <a:pt x="32" y="0"/>
                    <a:pt x="0" y="31"/>
                    <a:pt x="0" y="68"/>
                  </a:cubicBezTo>
                  <a:lnTo>
                    <a:pt x="0" y="523"/>
                  </a:lnTo>
                  <a:cubicBezTo>
                    <a:pt x="0" y="554"/>
                    <a:pt x="32" y="585"/>
                    <a:pt x="69" y="585"/>
                  </a:cubicBezTo>
                  <a:lnTo>
                    <a:pt x="523" y="585"/>
                  </a:lnTo>
                  <a:cubicBezTo>
                    <a:pt x="561" y="585"/>
                    <a:pt x="586" y="554"/>
                    <a:pt x="586" y="523"/>
                  </a:cubicBezTo>
                  <a:lnTo>
                    <a:pt x="586" y="68"/>
                  </a:lnTo>
                  <a:cubicBezTo>
                    <a:pt x="586" y="31"/>
                    <a:pt x="561" y="0"/>
                    <a:pt x="523" y="0"/>
                  </a:cubicBezTo>
                  <a:close/>
                  <a:moveTo>
                    <a:pt x="231" y="454"/>
                  </a:moveTo>
                  <a:lnTo>
                    <a:pt x="69" y="292"/>
                  </a:lnTo>
                  <a:lnTo>
                    <a:pt x="113" y="249"/>
                  </a:lnTo>
                  <a:lnTo>
                    <a:pt x="231" y="367"/>
                  </a:lnTo>
                  <a:lnTo>
                    <a:pt x="480" y="118"/>
                  </a:lnTo>
                  <a:lnTo>
                    <a:pt x="523" y="161"/>
                  </a:lnTo>
                  <a:lnTo>
                    <a:pt x="231" y="45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800">
                <a:latin typeface="+mn-ea"/>
                <a:ea typeface="+mn-ea"/>
              </a:endParaRPr>
            </a:p>
          </p:txBody>
        </p:sp>
        <p:sp>
          <p:nvSpPr>
            <p:cNvPr id="160" name="직사각형"/>
            <p:cNvSpPr/>
            <p:nvPr/>
          </p:nvSpPr>
          <p:spPr>
            <a:xfrm>
              <a:off x="5527034" y="4698207"/>
              <a:ext cx="1451920" cy="169397"/>
            </a:xfrm>
            <a:prstGeom prst="rect">
              <a:avLst/>
            </a:prstGeom>
            <a:noFill/>
            <a:ln w="12700">
              <a:noFill/>
              <a:miter lim="400000"/>
            </a:ln>
          </p:spPr>
          <p:txBody>
            <a:bodyPr lIns="50800" tIns="50800" rIns="50800" bIns="50800" anchor="ctr"/>
            <a:lstStyle/>
            <a:p>
              <a:pPr algn="r" defTabSz="576818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800" u="sng" dirty="0" smtClean="0">
                  <a:solidFill>
                    <a:prstClr val="white">
                      <a:lumMod val="50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전체선택</a:t>
              </a:r>
              <a:r>
                <a:rPr kumimoji="0" lang="ko-KR" altLang="en-US" sz="800" dirty="0" smtClean="0">
                  <a:solidFill>
                    <a:prstClr val="white">
                      <a:lumMod val="50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kumimoji="0" lang="ko-KR" altLang="en-US" sz="800" u="sng" dirty="0" smtClean="0">
                  <a:solidFill>
                    <a:prstClr val="white">
                      <a:lumMod val="50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endParaRPr kumimoji="0" sz="800" u="sng" dirty="0">
                <a:solidFill>
                  <a:prstClr val="white">
                    <a:lumMod val="50000"/>
                  </a:prstClr>
                </a:solidFill>
                <a:latin typeface="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3961194" y="5396769"/>
              <a:ext cx="2254391" cy="215444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spAutoFit/>
            </a:bodyPr>
            <a:lstStyle/>
            <a:p>
              <a:pPr lvl="0"/>
              <a:r>
                <a:rPr lang="en-US" altLang="ko-KR" sz="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~2017-02-28 (</a:t>
              </a:r>
              <a:r>
                <a:rPr lang="en-US" altLang="ko-KR" sz="8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30</a:t>
              </a:r>
              <a:r>
                <a:rPr lang="ko-KR" altLang="en-US" sz="8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 </a:t>
              </a:r>
              <a:r>
                <a:rPr lang="ko-KR" altLang="en-US" sz="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보관</a:t>
              </a:r>
              <a:r>
                <a:rPr lang="en-US" altLang="ko-KR" sz="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en-US" altLang="ko-KR" sz="8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100</a:t>
              </a:r>
              <a:r>
                <a:rPr lang="ko-KR" altLang="en-US" sz="8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 </a:t>
              </a:r>
              <a:r>
                <a:rPr lang="ko-KR" altLang="en-US" sz="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다운로드 가능</a:t>
              </a:r>
              <a:r>
                <a:rPr lang="en-US" altLang="ko-KR" sz="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800" dirty="0">
                <a:solidFill>
                  <a:prstClr val="white">
                    <a:lumMod val="65000"/>
                  </a:prstClr>
                </a:solidFill>
                <a:latin typeface=""/>
                <a:ea typeface="+mn-ea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5481177" y="5142897"/>
              <a:ext cx="380480" cy="215444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spAutoFit/>
            </a:bodyPr>
            <a:lstStyle/>
            <a:p>
              <a:pPr lvl="0"/>
              <a:r>
                <a:rPr lang="ko-KR" altLang="en-US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무제한</a:t>
              </a:r>
              <a:endParaRPr lang="ko-KR" altLang="en-US" sz="800" dirty="0">
                <a:solidFill>
                  <a:prstClr val="white">
                    <a:lumMod val="65000"/>
                  </a:prstClr>
                </a:solidFill>
                <a:latin typeface=""/>
                <a:ea typeface="+mn-ea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5481177" y="4919261"/>
              <a:ext cx="380480" cy="215444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spAutoFit/>
            </a:bodyPr>
            <a:lstStyle/>
            <a:p>
              <a:pPr lvl="0"/>
              <a:r>
                <a:rPr lang="ko-KR" altLang="en-US" sz="800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무제한</a:t>
              </a:r>
              <a:endParaRPr lang="ko-KR" altLang="en-US" sz="800" dirty="0">
                <a:solidFill>
                  <a:prstClr val="white">
                    <a:lumMod val="65000"/>
                  </a:prstClr>
                </a:solidFill>
                <a:latin typeface=""/>
                <a:ea typeface="+mn-ea"/>
              </a:endParaRPr>
            </a:p>
          </p:txBody>
        </p:sp>
        <p:sp>
          <p:nvSpPr>
            <p:cNvPr id="166" name="직사각형"/>
            <p:cNvSpPr/>
            <p:nvPr/>
          </p:nvSpPr>
          <p:spPr>
            <a:xfrm>
              <a:off x="1351119" y="4676913"/>
              <a:ext cx="2776565" cy="169397"/>
            </a:xfrm>
            <a:prstGeom prst="rect">
              <a:avLst/>
            </a:prstGeom>
            <a:noFill/>
            <a:ln w="12700">
              <a:noFill/>
              <a:miter lim="400000"/>
            </a:ln>
          </p:spPr>
          <p:txBody>
            <a:bodyPr lIns="50800" tIns="50800" rIns="50800" bIns="50800" anchor="ctr"/>
            <a:lstStyle/>
            <a:p>
              <a:r>
                <a:rPr lang="ko-KR" altLang="en-US" sz="8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일반첨부 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2,</a:t>
              </a:r>
              <a:r>
                <a:rPr lang="ko-KR" alt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 대용량 </a:t>
              </a:r>
              <a:r>
                <a:rPr lang="en-US" altLang="ko-KR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1</a:t>
              </a:r>
              <a:endParaRPr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67" name="직사각형 166"/>
          <p:cNvSpPr/>
          <p:nvPr/>
        </p:nvSpPr>
        <p:spPr>
          <a:xfrm>
            <a:off x="237067" y="6486525"/>
            <a:ext cx="8255000" cy="151342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1453847" y="1905546"/>
            <a:ext cx="118078" cy="118268"/>
          </a:xfrm>
          <a:prstGeom prst="rect">
            <a:avLst/>
          </a:prstGeom>
          <a:solidFill>
            <a:srgbClr val="FF0066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2043062" y="1905546"/>
            <a:ext cx="118078" cy="118268"/>
          </a:xfrm>
          <a:prstGeom prst="rect">
            <a:avLst/>
          </a:prstGeom>
          <a:solidFill>
            <a:srgbClr val="FFC000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5" name="Rounded Rectangle 457"/>
          <p:cNvSpPr/>
          <p:nvPr/>
        </p:nvSpPr>
        <p:spPr>
          <a:xfrm>
            <a:off x="6204576" y="2628109"/>
            <a:ext cx="540000" cy="180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>
              <a:lnSpc>
                <a:spcPct val="120000"/>
              </a:lnSpc>
            </a:pPr>
            <a:r>
              <a:rPr lang="ko-KR" altLang="en-US" sz="80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더보기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6" name="모서리가 둥근 직사각형 175"/>
          <p:cNvSpPr/>
          <p:nvPr/>
        </p:nvSpPr>
        <p:spPr>
          <a:xfrm>
            <a:off x="6858000" y="2907897"/>
            <a:ext cx="47625" cy="508807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7" name="모서리가 둥근 직사각형 176"/>
          <p:cNvSpPr/>
          <p:nvPr/>
        </p:nvSpPr>
        <p:spPr>
          <a:xfrm>
            <a:off x="6858000" y="3015983"/>
            <a:ext cx="47625" cy="178335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14337" y="1059200"/>
            <a:ext cx="7471330" cy="5427325"/>
          </a:xfrm>
          <a:prstGeom prst="rect">
            <a:avLst/>
          </a:prstGeom>
          <a:solidFill>
            <a:schemeClr val="tx1">
              <a:lumMod val="95000"/>
              <a:lumOff val="5000"/>
              <a:alpha val="61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6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065227"/>
              </p:ext>
            </p:extLst>
          </p:nvPr>
        </p:nvGraphicFramePr>
        <p:xfrm>
          <a:off x="9267471" y="745639"/>
          <a:ext cx="2857473" cy="837016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0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smtClean="0"/>
                        <a:t>설비</a:t>
                      </a:r>
                      <a:r>
                        <a:rPr lang="en-US" altLang="ko-KR" sz="800" smtClean="0"/>
                        <a:t> </a:t>
                      </a:r>
                      <a:r>
                        <a:rPr lang="ko-KR" altLang="en-US" sz="800" smtClean="0"/>
                        <a:t>예약 </a:t>
                      </a:r>
                      <a:r>
                        <a:rPr lang="en-US" altLang="ko-KR" sz="800" smtClean="0"/>
                        <a:t>(</a:t>
                      </a:r>
                      <a:r>
                        <a:rPr lang="ko-KR" altLang="en-US" sz="800" smtClean="0"/>
                        <a:t>상세</a:t>
                      </a:r>
                      <a:r>
                        <a:rPr lang="en-US" altLang="ko-KR" sz="800" smtClean="0"/>
                        <a:t>)</a:t>
                      </a:r>
                      <a:r>
                        <a:rPr lang="ko-KR" altLang="en-US" sz="800" smtClean="0"/>
                        <a:t>정보</a:t>
                      </a:r>
                      <a:r>
                        <a:rPr lang="ko-KR" altLang="en-US" sz="800" baseline="0" smtClean="0"/>
                        <a:t> 팝업은 일정 상세 정보</a:t>
                      </a:r>
                      <a:r>
                        <a:rPr lang="en-US" altLang="ko-KR" sz="800" baseline="0" smtClean="0"/>
                        <a:t>(CA6.1.1.3)</a:t>
                      </a:r>
                      <a:r>
                        <a:rPr lang="ko-KR" altLang="en-US" sz="800" baseline="0" smtClean="0"/>
                        <a:t>와 동일 </a:t>
                      </a:r>
                      <a:r>
                        <a:rPr lang="ko-KR" altLang="en-US" sz="800" smtClean="0"/>
                        <a:t>팝업 타이틀만 설비</a:t>
                      </a:r>
                      <a:r>
                        <a:rPr lang="ko-KR" altLang="en-US" sz="800" baseline="0" smtClean="0"/>
                        <a:t> 예약 정보로</a:t>
                      </a:r>
                      <a:r>
                        <a:rPr lang="ko-KR" altLang="en-US" sz="800" smtClean="0"/>
                        <a:t> 변경하여 사용</a:t>
                      </a:r>
                      <a:endParaRPr lang="en-US" altLang="ko-KR" sz="800" smtClean="0"/>
                    </a:p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설비에는 플래그 기능 제외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813" y="2167818"/>
            <a:ext cx="3121423" cy="1646063"/>
          </a:xfrm>
          <a:prstGeom prst="rect">
            <a:avLst/>
          </a:prstGeom>
        </p:spPr>
      </p:pic>
      <p:sp>
        <p:nvSpPr>
          <p:cNvPr id="154" name="직사각형 153"/>
          <p:cNvSpPr/>
          <p:nvPr/>
        </p:nvSpPr>
        <p:spPr>
          <a:xfrm>
            <a:off x="11077575" y="2324101"/>
            <a:ext cx="542925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55" name="직선 화살표 연결선 154"/>
          <p:cNvCxnSpPr/>
          <p:nvPr/>
        </p:nvCxnSpPr>
        <p:spPr>
          <a:xfrm flipH="1">
            <a:off x="7987706" y="2400300"/>
            <a:ext cx="3065062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예약 정보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_window pop-up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CA6.1.1.3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8058150" y="1869073"/>
            <a:ext cx="21717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auto">
              <a:spcBef>
                <a:spcPts val="0"/>
              </a:spcBef>
              <a:spcAft>
                <a:spcPts val="0"/>
              </a:spcAft>
              <a:buSzPct val="100000"/>
              <a:defRPr sz="2300"/>
            </a:pPr>
            <a:r>
              <a:rPr kumimoji="0" lang="ko-KR" altLang="en-US" sz="8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 Gothic" charset="-127"/>
              </a:rPr>
              <a:t>수정 권한이 없을 경우</a:t>
            </a:r>
            <a:r>
              <a:rPr kumimoji="0" lang="en-US" altLang="ko-KR" sz="8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 Gothic" charset="-127"/>
              </a:rPr>
              <a:t>, 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buSzPct val="100000"/>
              <a:defRPr sz="2300"/>
            </a:pPr>
            <a:r>
              <a:rPr kumimoji="0" lang="ko-KR" altLang="en-US" sz="80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 Gothic" charset="-127"/>
              </a:rPr>
              <a:t>보기 </a:t>
            </a:r>
            <a:r>
              <a:rPr kumimoji="0" lang="ko-KR" altLang="en-US" sz="8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 Gothic" charset="-127"/>
              </a:rPr>
              <a:t>화면으로 출력</a:t>
            </a:r>
            <a:r>
              <a:rPr kumimoji="0" lang="en-US" altLang="ko-KR" sz="80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anum Gothic" charset="-127"/>
              </a:rPr>
              <a:t>(view)</a:t>
            </a:r>
            <a:endParaRPr kumimoji="0"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Nanum Gothic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276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7069" y="1426493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예약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15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문서 2"/>
          <p:cNvSpPr/>
          <p:nvPr/>
        </p:nvSpPr>
        <p:spPr>
          <a:xfrm>
            <a:off x="401099" y="648505"/>
            <a:ext cx="7487538" cy="5924549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lang="ko-KR" altLang="en-US"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graphicFrame>
        <p:nvGraphicFramePr>
          <p:cNvPr id="10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204563"/>
              </p:ext>
            </p:extLst>
          </p:nvPr>
        </p:nvGraphicFramePr>
        <p:xfrm>
          <a:off x="9267471" y="745639"/>
          <a:ext cx="2857473" cy="715639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0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smtClean="0"/>
                        <a:t>설비</a:t>
                      </a:r>
                      <a:r>
                        <a:rPr lang="en-US" altLang="ko-KR" sz="800" smtClean="0"/>
                        <a:t> </a:t>
                      </a:r>
                      <a:r>
                        <a:rPr lang="ko-KR" altLang="en-US" sz="800" smtClean="0"/>
                        <a:t>예약 팝업내 화면 및 기능은 일정등록</a:t>
                      </a:r>
                      <a:r>
                        <a:rPr lang="en-US" altLang="ko-KR" sz="800" smtClean="0"/>
                        <a:t>(CA6.2.1)</a:t>
                      </a:r>
                      <a:br>
                        <a:rPr lang="en-US" altLang="ko-KR" sz="800" smtClean="0"/>
                      </a:br>
                      <a:r>
                        <a:rPr lang="ko-KR" altLang="en-US" sz="800" smtClean="0"/>
                        <a:t>팝업 과 동일</a:t>
                      </a:r>
                      <a:endParaRPr lang="en-US" altLang="ko-KR" sz="800" smtClean="0"/>
                    </a:p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smtClean="0"/>
                        <a:t>팝업 타이틀만 설비예약으로 변경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pic>
        <p:nvPicPr>
          <p:cNvPr id="234" name="그림 2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211" y="1699887"/>
            <a:ext cx="1444877" cy="3115326"/>
          </a:xfrm>
          <a:prstGeom prst="rect">
            <a:avLst/>
          </a:prstGeom>
        </p:spPr>
      </p:pic>
      <p:sp>
        <p:nvSpPr>
          <p:cNvPr id="235" name="직사각형 234"/>
          <p:cNvSpPr/>
          <p:nvPr/>
        </p:nvSpPr>
        <p:spPr>
          <a:xfrm>
            <a:off x="9591675" y="1800225"/>
            <a:ext cx="1133475" cy="276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1" name="직선 화살표 연결선 90"/>
          <p:cNvCxnSpPr/>
          <p:nvPr/>
        </p:nvCxnSpPr>
        <p:spPr>
          <a:xfrm flipH="1">
            <a:off x="9296400" y="1943100"/>
            <a:ext cx="257175" cy="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상세 등록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_window pop-up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CA6.2.1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7" name="Rectangle 212"/>
          <p:cNvSpPr/>
          <p:nvPr/>
        </p:nvSpPr>
        <p:spPr>
          <a:xfrm>
            <a:off x="414337" y="674193"/>
            <a:ext cx="7474300" cy="29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108" name="텍스트 상자 31"/>
          <p:cNvSpPr txBox="1"/>
          <p:nvPr/>
        </p:nvSpPr>
        <p:spPr>
          <a:xfrm>
            <a:off x="518010" y="770797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예약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9" name="직선 연결선[R] 7"/>
          <p:cNvCxnSpPr/>
          <p:nvPr/>
        </p:nvCxnSpPr>
        <p:spPr>
          <a:xfrm>
            <a:off x="402456" y="1318727"/>
            <a:ext cx="748618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117" name="텍스트 상자 31"/>
          <p:cNvSpPr txBox="1"/>
          <p:nvPr/>
        </p:nvSpPr>
        <p:spPr>
          <a:xfrm>
            <a:off x="583051" y="152759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제목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118" name="직선 연결선[R] 7"/>
          <p:cNvCxnSpPr/>
          <p:nvPr/>
        </p:nvCxnSpPr>
        <p:spPr>
          <a:xfrm>
            <a:off x="1122876" y="1727380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119" name="텍스트 상자 31"/>
          <p:cNvSpPr txBox="1"/>
          <p:nvPr/>
        </p:nvSpPr>
        <p:spPr>
          <a:xfrm>
            <a:off x="583051" y="1950437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달력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20" name="Group 15"/>
          <p:cNvGrpSpPr/>
          <p:nvPr/>
        </p:nvGrpSpPr>
        <p:grpSpPr>
          <a:xfrm>
            <a:off x="3160479" y="1134392"/>
            <a:ext cx="1982016" cy="176117"/>
            <a:chOff x="4223944" y="1715997"/>
            <a:chExt cx="1982016" cy="176117"/>
          </a:xfrm>
        </p:grpSpPr>
        <p:sp>
          <p:nvSpPr>
            <p:cNvPr id="121" name="텍스트 상자 31"/>
            <p:cNvSpPr txBox="1"/>
            <p:nvPr/>
          </p:nvSpPr>
          <p:spPr>
            <a:xfrm>
              <a:off x="4935567" y="1715997"/>
              <a:ext cx="127039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공유자 ∙ 설비 일정확인</a:t>
              </a:r>
              <a:endParaRPr kumimoji="1" lang="ko-KR" altLang="en-US" sz="9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22" name="Group 13"/>
            <p:cNvGrpSpPr/>
            <p:nvPr/>
          </p:nvGrpSpPr>
          <p:grpSpPr>
            <a:xfrm>
              <a:off x="4223944" y="1715997"/>
              <a:ext cx="612000" cy="176117"/>
              <a:chOff x="4223944" y="1715997"/>
              <a:chExt cx="612000" cy="176117"/>
            </a:xfrm>
          </p:grpSpPr>
          <p:sp>
            <p:nvSpPr>
              <p:cNvPr id="123" name="텍스트 상자 31"/>
              <p:cNvSpPr txBox="1"/>
              <p:nvPr/>
            </p:nvSpPr>
            <p:spPr>
              <a:xfrm>
                <a:off x="4223944" y="1715997"/>
                <a:ext cx="6120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ko-KR" altLang="en-US" sz="9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설비 정보</a:t>
                </a:r>
                <a:endParaRPr kumimoji="1"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124" name="직선 연결선[R] 7"/>
              <p:cNvCxnSpPr/>
              <p:nvPr/>
            </p:nvCxnSpPr>
            <p:spPr>
              <a:xfrm>
                <a:off x="4277944" y="1892114"/>
                <a:ext cx="504000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miter lim="400000"/>
              </a:ln>
            </p:spPr>
          </p:cxnSp>
        </p:grpSp>
      </p:grpSp>
      <p:sp>
        <p:nvSpPr>
          <p:cNvPr id="125" name="텍스트 상자 31"/>
          <p:cNvSpPr txBox="1"/>
          <p:nvPr/>
        </p:nvSpPr>
        <p:spPr>
          <a:xfrm>
            <a:off x="583051" y="311599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7" name="텍스트 상자 31"/>
          <p:cNvSpPr txBox="1"/>
          <p:nvPr/>
        </p:nvSpPr>
        <p:spPr>
          <a:xfrm>
            <a:off x="583051" y="5460466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알림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8" name="텍스트 상자 31"/>
          <p:cNvSpPr txBox="1"/>
          <p:nvPr/>
        </p:nvSpPr>
        <p:spPr>
          <a:xfrm>
            <a:off x="1342511" y="1551862"/>
            <a:ext cx="1188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800" dirty="0" smtClean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일정 제목을 선택하세요</a:t>
            </a:r>
            <a:endParaRPr kumimoji="1" lang="ko-KR" altLang="en-US" sz="8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29" name="Group 23"/>
          <p:cNvGrpSpPr/>
          <p:nvPr/>
        </p:nvGrpSpPr>
        <p:grpSpPr>
          <a:xfrm>
            <a:off x="2095915" y="1899163"/>
            <a:ext cx="519293" cy="214533"/>
            <a:chOff x="3600083" y="2455609"/>
            <a:chExt cx="576000" cy="237960"/>
          </a:xfrm>
        </p:grpSpPr>
        <p:sp>
          <p:nvSpPr>
            <p:cNvPr id="130" name="Rounded Rectangle 224"/>
            <p:cNvSpPr/>
            <p:nvPr/>
          </p:nvSpPr>
          <p:spPr>
            <a:xfrm>
              <a:off x="3600083" y="2455609"/>
              <a:ext cx="576000" cy="237960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내 일정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1" name="Freeform 11"/>
            <p:cNvSpPr>
              <a:spLocks noChangeAspect="1" noChangeArrowheads="1"/>
            </p:cNvSpPr>
            <p:nvPr/>
          </p:nvSpPr>
          <p:spPr bwMode="auto">
            <a:xfrm>
              <a:off x="4033987" y="2529589"/>
              <a:ext cx="90000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132" name="Group 24"/>
          <p:cNvGrpSpPr/>
          <p:nvPr/>
        </p:nvGrpSpPr>
        <p:grpSpPr>
          <a:xfrm>
            <a:off x="1122876" y="1856719"/>
            <a:ext cx="900000" cy="290149"/>
            <a:chOff x="1135174" y="2426749"/>
            <a:chExt cx="900000" cy="290149"/>
          </a:xfrm>
        </p:grpSpPr>
        <p:sp>
          <p:nvSpPr>
            <p:cNvPr id="133" name="Rounded Rectangle 939"/>
            <p:cNvSpPr/>
            <p:nvPr/>
          </p:nvSpPr>
          <p:spPr>
            <a:xfrm>
              <a:off x="1135174" y="2426749"/>
              <a:ext cx="900000" cy="290149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latin typeface="+mn-ea"/>
                <a:ea typeface="+mn-ea"/>
              </a:endParaRPr>
            </a:p>
          </p:txBody>
        </p:sp>
        <p:sp>
          <p:nvSpPr>
            <p:cNvPr id="134" name="Triangle 942"/>
            <p:cNvSpPr>
              <a:spLocks noChangeAspect="1"/>
            </p:cNvSpPr>
            <p:nvPr/>
          </p:nvSpPr>
          <p:spPr>
            <a:xfrm flipV="1">
              <a:off x="1883295" y="2553596"/>
              <a:ext cx="108000" cy="6190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33">
                <a:solidFill>
                  <a:schemeClr val="tx1"/>
                </a:solidFill>
                <a:latin typeface="+mn-ea"/>
                <a:ea typeface="+mn-ea"/>
                <a:cs typeface="ＭＳ Ｐゴシック" charset="0"/>
              </a:endParaRPr>
            </a:p>
          </p:txBody>
        </p:sp>
        <p:sp>
          <p:nvSpPr>
            <p:cNvPr id="135" name="텍스트 상자 31"/>
            <p:cNvSpPr txBox="1"/>
            <p:nvPr/>
          </p:nvSpPr>
          <p:spPr>
            <a:xfrm>
              <a:off x="1201376" y="2513642"/>
              <a:ext cx="612000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달력 선택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136" name="직선 연결선[R] 7"/>
          <p:cNvCxnSpPr/>
          <p:nvPr/>
        </p:nvCxnSpPr>
        <p:spPr>
          <a:xfrm>
            <a:off x="1122876" y="2184066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grpSp>
        <p:nvGrpSpPr>
          <p:cNvPr id="137" name="Group 25"/>
          <p:cNvGrpSpPr/>
          <p:nvPr/>
        </p:nvGrpSpPr>
        <p:grpSpPr>
          <a:xfrm>
            <a:off x="2662385" y="1899163"/>
            <a:ext cx="1188000" cy="214533"/>
            <a:chOff x="2680673" y="2469193"/>
            <a:chExt cx="1188000" cy="214533"/>
          </a:xfrm>
        </p:grpSpPr>
        <p:sp>
          <p:nvSpPr>
            <p:cNvPr id="138" name="Rounded Rectangle 459"/>
            <p:cNvSpPr/>
            <p:nvPr/>
          </p:nvSpPr>
          <p:spPr>
            <a:xfrm>
              <a:off x="2680673" y="2469193"/>
              <a:ext cx="1188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r>
                <a:rPr kumimoji="1" lang="en-US" altLang="ko-KR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UI</a:t>
              </a:r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프로젝트 일정 공유</a:t>
              </a:r>
            </a:p>
          </p:txBody>
        </p:sp>
        <p:sp>
          <p:nvSpPr>
            <p:cNvPr id="139" name="Freeform 11"/>
            <p:cNvSpPr>
              <a:spLocks noChangeAspect="1" noChangeArrowheads="1"/>
            </p:cNvSpPr>
            <p:nvPr/>
          </p:nvSpPr>
          <p:spPr bwMode="auto">
            <a:xfrm>
              <a:off x="3738907" y="2535890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140" name="Group 461"/>
          <p:cNvGrpSpPr/>
          <p:nvPr/>
        </p:nvGrpSpPr>
        <p:grpSpPr>
          <a:xfrm>
            <a:off x="3897562" y="1899163"/>
            <a:ext cx="828000" cy="214533"/>
            <a:chOff x="2680673" y="2469193"/>
            <a:chExt cx="828000" cy="214533"/>
          </a:xfrm>
        </p:grpSpPr>
        <p:sp>
          <p:nvSpPr>
            <p:cNvPr id="141" name="Rounded Rectangle 462"/>
            <p:cNvSpPr/>
            <p:nvPr/>
          </p:nvSpPr>
          <p:spPr>
            <a:xfrm>
              <a:off x="2680673" y="2469193"/>
              <a:ext cx="828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자동차 </a:t>
              </a:r>
              <a:r>
                <a:rPr kumimoji="1" lang="en-US" altLang="ko-KR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 </a:t>
              </a:r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</a:t>
              </a:r>
            </a:p>
          </p:txBody>
        </p:sp>
        <p:sp>
          <p:nvSpPr>
            <p:cNvPr id="142" name="Freeform 11"/>
            <p:cNvSpPr>
              <a:spLocks noChangeAspect="1" noChangeArrowheads="1"/>
            </p:cNvSpPr>
            <p:nvPr/>
          </p:nvSpPr>
          <p:spPr bwMode="auto">
            <a:xfrm>
              <a:off x="3382291" y="2535890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sp>
        <p:nvSpPr>
          <p:cNvPr id="143" name="텍스트 상자 31"/>
          <p:cNvSpPr txBox="1"/>
          <p:nvPr/>
        </p:nvSpPr>
        <p:spPr>
          <a:xfrm>
            <a:off x="1122877" y="5457015"/>
            <a:ext cx="684000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en-US" altLang="ko-KR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+</a:t>
            </a:r>
            <a:r>
              <a:rPr kumimoji="1" lang="ko-KR" altLang="en-US" sz="800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 알림 추가</a:t>
            </a:r>
            <a:endParaRPr kumimoji="1" lang="ko-KR" altLang="en-US" sz="800" u="sng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4" name="텍스트 상자 31"/>
          <p:cNvSpPr txBox="1"/>
          <p:nvPr/>
        </p:nvSpPr>
        <p:spPr>
          <a:xfrm>
            <a:off x="583051" y="2363632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일시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5" name="텍스트 상자 31"/>
          <p:cNvSpPr txBox="1"/>
          <p:nvPr/>
        </p:nvSpPr>
        <p:spPr>
          <a:xfrm>
            <a:off x="583051" y="5057777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46" name="Group 96"/>
          <p:cNvGrpSpPr/>
          <p:nvPr/>
        </p:nvGrpSpPr>
        <p:grpSpPr>
          <a:xfrm>
            <a:off x="1817387" y="4990315"/>
            <a:ext cx="756000" cy="214533"/>
            <a:chOff x="2140462" y="3941059"/>
            <a:chExt cx="756000" cy="214533"/>
          </a:xfrm>
        </p:grpSpPr>
        <p:sp>
          <p:nvSpPr>
            <p:cNvPr id="147" name="Rounded Rectangle 666"/>
            <p:cNvSpPr/>
            <p:nvPr/>
          </p:nvSpPr>
          <p:spPr>
            <a:xfrm>
              <a:off x="2140462" y="3941059"/>
              <a:ext cx="756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1</a:t>
              </a: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층 </a:t>
              </a: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Bahama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8" name="Freeform 11"/>
            <p:cNvSpPr>
              <a:spLocks noChangeAspect="1" noChangeArrowheads="1"/>
            </p:cNvSpPr>
            <p:nvPr/>
          </p:nvSpPr>
          <p:spPr bwMode="auto">
            <a:xfrm>
              <a:off x="2758703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149" name="Group 95"/>
          <p:cNvGrpSpPr/>
          <p:nvPr/>
        </p:nvGrpSpPr>
        <p:grpSpPr>
          <a:xfrm>
            <a:off x="2630345" y="4990315"/>
            <a:ext cx="756000" cy="214533"/>
            <a:chOff x="2956893" y="3941059"/>
            <a:chExt cx="756000" cy="214533"/>
          </a:xfrm>
        </p:grpSpPr>
        <p:sp>
          <p:nvSpPr>
            <p:cNvPr id="150" name="Rounded Rectangle 681"/>
            <p:cNvSpPr/>
            <p:nvPr/>
          </p:nvSpPr>
          <p:spPr>
            <a:xfrm>
              <a:off x="2956893" y="3941059"/>
              <a:ext cx="756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빔프로젝터</a:t>
              </a:r>
              <a:r>
                <a:rPr lang="en-US" altLang="ko-KR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2" name="Freeform 11"/>
            <p:cNvSpPr>
              <a:spLocks noChangeAspect="1" noChangeArrowheads="1"/>
            </p:cNvSpPr>
            <p:nvPr/>
          </p:nvSpPr>
          <p:spPr bwMode="auto">
            <a:xfrm>
              <a:off x="3575134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153" name="Group 94"/>
          <p:cNvGrpSpPr/>
          <p:nvPr/>
        </p:nvGrpSpPr>
        <p:grpSpPr>
          <a:xfrm>
            <a:off x="3443304" y="4990315"/>
            <a:ext cx="792000" cy="214533"/>
            <a:chOff x="3766868" y="3941059"/>
            <a:chExt cx="792000" cy="214533"/>
          </a:xfrm>
        </p:grpSpPr>
        <p:sp>
          <p:nvSpPr>
            <p:cNvPr id="154" name="Rounded Rectangle 683"/>
            <p:cNvSpPr/>
            <p:nvPr/>
          </p:nvSpPr>
          <p:spPr>
            <a:xfrm>
              <a:off x="3766868" y="3941059"/>
              <a:ext cx="792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ASUS</a:t>
              </a: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노트북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5" name="Freeform 11"/>
            <p:cNvSpPr>
              <a:spLocks noChangeAspect="1" noChangeArrowheads="1"/>
            </p:cNvSpPr>
            <p:nvPr/>
          </p:nvSpPr>
          <p:spPr bwMode="auto">
            <a:xfrm>
              <a:off x="4408259" y="4007756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156" name="Group 122"/>
          <p:cNvGrpSpPr/>
          <p:nvPr/>
        </p:nvGrpSpPr>
        <p:grpSpPr>
          <a:xfrm>
            <a:off x="1122876" y="3048531"/>
            <a:ext cx="592646" cy="228857"/>
            <a:chOff x="1122876" y="3618561"/>
            <a:chExt cx="504000" cy="228857"/>
          </a:xfrm>
        </p:grpSpPr>
        <p:sp>
          <p:nvSpPr>
            <p:cNvPr id="157" name="Rounded Rectangle 939"/>
            <p:cNvSpPr/>
            <p:nvPr/>
          </p:nvSpPr>
          <p:spPr>
            <a:xfrm>
              <a:off x="1122876" y="3618561"/>
              <a:ext cx="504000" cy="228857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algn="ctr"/>
              <a:r>
                <a:rPr kumimoji="1"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추가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158" name="Picture 157" descr="man-user (1).png"/>
            <p:cNvPicPr>
              <a:picLocks noChangeAspect="1"/>
            </p:cNvPicPr>
            <p:nvPr/>
          </p:nvPicPr>
          <p:blipFill>
            <a:blip r:embed="rId3" cstate="print">
              <a:alphaModFix amt="3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956" y="3684586"/>
              <a:ext cx="109070" cy="109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589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159" name="Rounded Rectangle 939"/>
          <p:cNvSpPr/>
          <p:nvPr/>
        </p:nvSpPr>
        <p:spPr>
          <a:xfrm>
            <a:off x="1122876" y="4993727"/>
            <a:ext cx="612000" cy="228857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r>
              <a:rPr kumimoji="1"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추가</a:t>
            </a:r>
            <a:endParaRPr kumimoji="1" lang="ko-KR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1" name="Triangle 942"/>
          <p:cNvSpPr>
            <a:spLocks noChangeAspect="1"/>
          </p:cNvSpPr>
          <p:nvPr/>
        </p:nvSpPr>
        <p:spPr>
          <a:xfrm flipV="1">
            <a:off x="1622735" y="5081879"/>
            <a:ext cx="91689" cy="5255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33">
              <a:solidFill>
                <a:schemeClr val="tx1"/>
              </a:solidFill>
              <a:latin typeface="+mn-ea"/>
              <a:ea typeface="+mn-ea"/>
              <a:cs typeface="ＭＳ Ｐゴシック" charset="0"/>
            </a:endParaRPr>
          </a:p>
        </p:txBody>
      </p:sp>
      <p:sp>
        <p:nvSpPr>
          <p:cNvPr id="167" name="Rounded Rectangle 939"/>
          <p:cNvSpPr/>
          <p:nvPr/>
        </p:nvSpPr>
        <p:spPr>
          <a:xfrm>
            <a:off x="5186088" y="2285070"/>
            <a:ext cx="648000" cy="290149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6350" cap="flat" cmpd="sng">
            <a:solidFill>
              <a:sysClr val="window" lastClr="FFFFFF">
                <a:lumMod val="65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반복 설정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8" name="Group 67"/>
          <p:cNvGrpSpPr/>
          <p:nvPr/>
        </p:nvGrpSpPr>
        <p:grpSpPr>
          <a:xfrm>
            <a:off x="1593510" y="2285070"/>
            <a:ext cx="3555600" cy="290149"/>
            <a:chOff x="1135173" y="2884869"/>
            <a:chExt cx="3555600" cy="290149"/>
          </a:xfrm>
        </p:grpSpPr>
        <p:sp>
          <p:nvSpPr>
            <p:cNvPr id="169" name="Rounded Rectangle 939"/>
            <p:cNvSpPr/>
            <p:nvPr/>
          </p:nvSpPr>
          <p:spPr>
            <a:xfrm>
              <a:off x="11351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2017-09-20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0" name="Rounded Rectangle 939"/>
            <p:cNvSpPr/>
            <p:nvPr/>
          </p:nvSpPr>
          <p:spPr>
            <a:xfrm>
              <a:off x="19352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오전 </a:t>
              </a: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11:00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71" name="직선 연결선[R] 7"/>
            <p:cNvCxnSpPr/>
            <p:nvPr/>
          </p:nvCxnSpPr>
          <p:spPr>
            <a:xfrm>
              <a:off x="2858973" y="3029943"/>
              <a:ext cx="108000" cy="0"/>
            </a:xfrm>
            <a:prstGeom prst="line">
              <a:avLst/>
            </a:prstGeom>
            <a:ln w="12700">
              <a:solidFill>
                <a:sysClr val="window" lastClr="FFFFFF">
                  <a:lumMod val="50000"/>
                </a:sysClr>
              </a:solidFill>
              <a:miter lim="400000"/>
            </a:ln>
          </p:spPr>
        </p:cxnSp>
        <p:sp>
          <p:nvSpPr>
            <p:cNvPr id="172" name="Triangle 942"/>
            <p:cNvSpPr>
              <a:spLocks noChangeAspect="1"/>
            </p:cNvSpPr>
            <p:nvPr/>
          </p:nvSpPr>
          <p:spPr>
            <a:xfrm flipV="1">
              <a:off x="2620251" y="2998992"/>
              <a:ext cx="108000" cy="61902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173" name="Rounded Rectangle 939"/>
            <p:cNvSpPr/>
            <p:nvPr/>
          </p:nvSpPr>
          <p:spPr>
            <a:xfrm>
              <a:off x="30266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2017-09-20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4" name="Rounded Rectangle 939"/>
            <p:cNvSpPr/>
            <p:nvPr/>
          </p:nvSpPr>
          <p:spPr>
            <a:xfrm>
              <a:off x="38267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오후 </a:t>
              </a:r>
              <a:r>
                <a:rPr kumimoji="0" lang="en-US" altLang="ko-KR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3:00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5" name="Triangle 942"/>
            <p:cNvSpPr>
              <a:spLocks noChangeAspect="1"/>
            </p:cNvSpPr>
            <p:nvPr/>
          </p:nvSpPr>
          <p:spPr>
            <a:xfrm flipV="1">
              <a:off x="4511751" y="2998992"/>
              <a:ext cx="108000" cy="61902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76" name="Group 121"/>
          <p:cNvGrpSpPr/>
          <p:nvPr/>
        </p:nvGrpSpPr>
        <p:grpSpPr>
          <a:xfrm>
            <a:off x="5897179" y="2336388"/>
            <a:ext cx="365833" cy="187731"/>
            <a:chOff x="10514817" y="2798956"/>
            <a:chExt cx="365833" cy="187731"/>
          </a:xfrm>
        </p:grpSpPr>
        <p:sp>
          <p:nvSpPr>
            <p:cNvPr id="177" name="Rounded Rectangle 722"/>
            <p:cNvSpPr/>
            <p:nvPr/>
          </p:nvSpPr>
          <p:spPr>
            <a:xfrm>
              <a:off x="10664650" y="2798956"/>
              <a:ext cx="21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종일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78" name="Rounded Rectangle 723"/>
            <p:cNvSpPr/>
            <p:nvPr/>
          </p:nvSpPr>
          <p:spPr>
            <a:xfrm>
              <a:off x="10514817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179" name="Group 186"/>
          <p:cNvGrpSpPr/>
          <p:nvPr/>
        </p:nvGrpSpPr>
        <p:grpSpPr>
          <a:xfrm>
            <a:off x="6271324" y="2336388"/>
            <a:ext cx="473833" cy="187731"/>
            <a:chOff x="10514817" y="2798956"/>
            <a:chExt cx="473833" cy="187731"/>
          </a:xfrm>
        </p:grpSpPr>
        <p:sp>
          <p:nvSpPr>
            <p:cNvPr id="180" name="Rounded Rectangle 187"/>
            <p:cNvSpPr/>
            <p:nvPr/>
          </p:nvSpPr>
          <p:spPr>
            <a:xfrm>
              <a:off x="10664650" y="2798956"/>
              <a:ext cx="324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기념일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81" name="Rounded Rectangle 188"/>
            <p:cNvSpPr/>
            <p:nvPr/>
          </p:nvSpPr>
          <p:spPr>
            <a:xfrm>
              <a:off x="10514817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182" name="Group 1"/>
          <p:cNvGrpSpPr/>
          <p:nvPr/>
        </p:nvGrpSpPr>
        <p:grpSpPr>
          <a:xfrm>
            <a:off x="1122876" y="2316726"/>
            <a:ext cx="432000" cy="228857"/>
            <a:chOff x="1122876" y="2916525"/>
            <a:chExt cx="432000" cy="228857"/>
          </a:xfrm>
        </p:grpSpPr>
        <p:sp>
          <p:nvSpPr>
            <p:cNvPr id="183" name="Rounded Rectangle 939"/>
            <p:cNvSpPr/>
            <p:nvPr/>
          </p:nvSpPr>
          <p:spPr>
            <a:xfrm>
              <a:off x="1122876" y="2916525"/>
              <a:ext cx="432000" cy="228857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양력</a:t>
              </a:r>
            </a:p>
          </p:txBody>
        </p:sp>
        <p:sp>
          <p:nvSpPr>
            <p:cNvPr id="184" name="Triangle 942"/>
            <p:cNvSpPr>
              <a:spLocks noChangeAspect="1"/>
            </p:cNvSpPr>
            <p:nvPr/>
          </p:nvSpPr>
          <p:spPr>
            <a:xfrm flipV="1">
              <a:off x="1419199" y="3004677"/>
              <a:ext cx="91689" cy="52553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186" name="그룹 185"/>
          <p:cNvGrpSpPr/>
          <p:nvPr/>
        </p:nvGrpSpPr>
        <p:grpSpPr>
          <a:xfrm>
            <a:off x="1817387" y="3076575"/>
            <a:ext cx="3987681" cy="148389"/>
            <a:chOff x="1817387" y="3543300"/>
            <a:chExt cx="3987681" cy="148389"/>
          </a:xfrm>
        </p:grpSpPr>
        <p:sp>
          <p:nvSpPr>
            <p:cNvPr id="187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88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189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90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191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92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193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94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195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96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197" name="그룹 196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201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02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198" name="그룹 197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199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00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03" name="그룹 202"/>
          <p:cNvGrpSpPr/>
          <p:nvPr/>
        </p:nvGrpSpPr>
        <p:grpSpPr>
          <a:xfrm>
            <a:off x="1817387" y="3352800"/>
            <a:ext cx="3987681" cy="148389"/>
            <a:chOff x="1817387" y="3543300"/>
            <a:chExt cx="3987681" cy="148389"/>
          </a:xfrm>
        </p:grpSpPr>
        <p:sp>
          <p:nvSpPr>
            <p:cNvPr id="204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5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06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7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08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09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10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11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12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13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214" name="그룹 213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218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19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215" name="그룹 214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216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17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20" name="그룹 219"/>
          <p:cNvGrpSpPr/>
          <p:nvPr/>
        </p:nvGrpSpPr>
        <p:grpSpPr>
          <a:xfrm>
            <a:off x="1817387" y="3609975"/>
            <a:ext cx="3987681" cy="148389"/>
            <a:chOff x="1817387" y="3543300"/>
            <a:chExt cx="3987681" cy="148389"/>
          </a:xfrm>
        </p:grpSpPr>
        <p:sp>
          <p:nvSpPr>
            <p:cNvPr id="221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2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3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4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5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6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7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28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229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230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231" name="그룹 230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237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38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232" name="그룹 231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233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36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240" name="TextBox 239"/>
          <p:cNvSpPr txBox="1"/>
          <p:nvPr/>
        </p:nvSpPr>
        <p:spPr>
          <a:xfrm>
            <a:off x="1562100" y="2680268"/>
            <a:ext cx="1085850" cy="11055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양력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2017-12-10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1751372" y="3048531"/>
            <a:ext cx="4763727" cy="9144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44" name="그룹 243"/>
          <p:cNvGrpSpPr/>
          <p:nvPr/>
        </p:nvGrpSpPr>
        <p:grpSpPr>
          <a:xfrm>
            <a:off x="6372225" y="3147539"/>
            <a:ext cx="47625" cy="677223"/>
            <a:chOff x="6858000" y="2907897"/>
            <a:chExt cx="47625" cy="508807"/>
          </a:xfrm>
        </p:grpSpPr>
        <p:sp>
          <p:nvSpPr>
            <p:cNvPr id="245" name="모서리가 둥근 직사각형 244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246" name="모서리가 둥근 직사각형 245"/>
            <p:cNvSpPr/>
            <p:nvPr/>
          </p:nvSpPr>
          <p:spPr>
            <a:xfrm>
              <a:off x="6858000" y="2997258"/>
              <a:ext cx="47625" cy="21578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247" name="Rounded Rectangle 939"/>
          <p:cNvSpPr/>
          <p:nvPr/>
        </p:nvSpPr>
        <p:spPr>
          <a:xfrm>
            <a:off x="6581114" y="3034741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공유자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8" name="Rounded Rectangle 939"/>
          <p:cNvSpPr/>
          <p:nvPr/>
        </p:nvSpPr>
        <p:spPr>
          <a:xfrm>
            <a:off x="6581114" y="5007076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설비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49" name="직선 연결선[R] 7"/>
          <p:cNvCxnSpPr/>
          <p:nvPr/>
        </p:nvCxnSpPr>
        <p:spPr>
          <a:xfrm>
            <a:off x="1122876" y="5308780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4" name="순서도: 처리 3"/>
          <p:cNvSpPr/>
          <p:nvPr/>
        </p:nvSpPr>
        <p:spPr>
          <a:xfrm>
            <a:off x="485775" y="723900"/>
            <a:ext cx="742950" cy="219075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62" name="순서도: 문서 161"/>
          <p:cNvSpPr/>
          <p:nvPr/>
        </p:nvSpPr>
        <p:spPr>
          <a:xfrm>
            <a:off x="401099" y="973039"/>
            <a:ext cx="7487538" cy="5600015"/>
          </a:xfrm>
          <a:prstGeom prst="flowChartDocument">
            <a:avLst/>
          </a:prstGeom>
          <a:solidFill>
            <a:schemeClr val="tx1">
              <a:lumMod val="95000"/>
              <a:lumOff val="5000"/>
              <a:alpha val="61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281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161443" y="414528"/>
            <a:ext cx="7391881" cy="5681471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2"/>
            </p:custDataLst>
          </p:nvPr>
        </p:nvSpPr>
        <p:spPr>
          <a:xfrm>
            <a:off x="161445" y="414528"/>
            <a:ext cx="739188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Window</a:t>
            </a:r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Close Button" descr="&lt;SmartSettings&gt;&lt;SmartResize anchorLeft=&quot;None&quot; anchorTop=&quot;Absolute&quot; anchorRight=&quot;Absolute&quot; anchorBottom=&quot;None&quot; /&gt;&lt;/SmartSettings&gt;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7314347" y="485775"/>
            <a:ext cx="98425" cy="95250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noFill/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ctangle 212"/>
          <p:cNvSpPr/>
          <p:nvPr/>
        </p:nvSpPr>
        <p:spPr>
          <a:xfrm>
            <a:off x="176212" y="664074"/>
            <a:ext cx="7377112" cy="36462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설비 예약 정보</a:t>
            </a:r>
            <a:endParaRPr kumimoji="0" lang="en-US" sz="1000" b="1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" name="텍스트 상자 31"/>
          <p:cNvSpPr txBox="1"/>
          <p:nvPr/>
        </p:nvSpPr>
        <p:spPr>
          <a:xfrm>
            <a:off x="316351" y="1651418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제목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7" name="직선 연결선[R] 7"/>
          <p:cNvCxnSpPr/>
          <p:nvPr/>
        </p:nvCxnSpPr>
        <p:spPr>
          <a:xfrm>
            <a:off x="856176" y="1851205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8" name="텍스트 상자 31"/>
          <p:cNvSpPr txBox="1"/>
          <p:nvPr/>
        </p:nvSpPr>
        <p:spPr>
          <a:xfrm>
            <a:off x="316351" y="2074262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달력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9" name="텍스트 상자 31"/>
          <p:cNvSpPr txBox="1"/>
          <p:nvPr/>
        </p:nvSpPr>
        <p:spPr>
          <a:xfrm>
            <a:off x="316351" y="3239818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텍스트 상자 31"/>
          <p:cNvSpPr txBox="1"/>
          <p:nvPr/>
        </p:nvSpPr>
        <p:spPr>
          <a:xfrm>
            <a:off x="866261" y="1647112"/>
            <a:ext cx="1188000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kumimoji="1"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EGW </a:t>
            </a:r>
            <a:r>
              <a:rPr kumimoji="1"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업무 회의</a:t>
            </a:r>
            <a:endParaRPr kumimoji="1"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1" name="Group 23"/>
          <p:cNvGrpSpPr/>
          <p:nvPr/>
        </p:nvGrpSpPr>
        <p:grpSpPr>
          <a:xfrm>
            <a:off x="1829215" y="2022988"/>
            <a:ext cx="519293" cy="214533"/>
            <a:chOff x="3600083" y="2455609"/>
            <a:chExt cx="576000" cy="237960"/>
          </a:xfrm>
        </p:grpSpPr>
        <p:sp>
          <p:nvSpPr>
            <p:cNvPr id="12" name="Rounded Rectangle 224"/>
            <p:cNvSpPr/>
            <p:nvPr/>
          </p:nvSpPr>
          <p:spPr>
            <a:xfrm>
              <a:off x="3600083" y="2455609"/>
              <a:ext cx="576000" cy="237960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내 일정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" name="Freeform 11"/>
            <p:cNvSpPr>
              <a:spLocks noChangeAspect="1" noChangeArrowheads="1"/>
            </p:cNvSpPr>
            <p:nvPr/>
          </p:nvSpPr>
          <p:spPr bwMode="auto">
            <a:xfrm>
              <a:off x="4033987" y="2529589"/>
              <a:ext cx="90000" cy="9000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14" name="Group 24"/>
          <p:cNvGrpSpPr/>
          <p:nvPr/>
        </p:nvGrpSpPr>
        <p:grpSpPr>
          <a:xfrm>
            <a:off x="856176" y="1980544"/>
            <a:ext cx="900000" cy="290149"/>
            <a:chOff x="1135174" y="2426749"/>
            <a:chExt cx="900000" cy="290149"/>
          </a:xfrm>
        </p:grpSpPr>
        <p:sp>
          <p:nvSpPr>
            <p:cNvPr id="15" name="Rounded Rectangle 939"/>
            <p:cNvSpPr/>
            <p:nvPr/>
          </p:nvSpPr>
          <p:spPr>
            <a:xfrm>
              <a:off x="1135174" y="2426749"/>
              <a:ext cx="900000" cy="290149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/>
              <a:endParaRPr kumimoji="1" lang="en-US" sz="700" dirty="0">
                <a:latin typeface="+mn-ea"/>
                <a:ea typeface="+mn-ea"/>
              </a:endParaRPr>
            </a:p>
          </p:txBody>
        </p:sp>
        <p:sp>
          <p:nvSpPr>
            <p:cNvPr id="16" name="Triangle 942"/>
            <p:cNvSpPr>
              <a:spLocks noChangeAspect="1"/>
            </p:cNvSpPr>
            <p:nvPr/>
          </p:nvSpPr>
          <p:spPr>
            <a:xfrm flipV="1">
              <a:off x="1883295" y="2553596"/>
              <a:ext cx="108000" cy="61902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633">
                <a:solidFill>
                  <a:schemeClr val="tx1"/>
                </a:solidFill>
                <a:latin typeface="+mn-ea"/>
                <a:ea typeface="+mn-ea"/>
                <a:cs typeface="ＭＳ Ｐゴシック" charset="0"/>
              </a:endParaRPr>
            </a:p>
          </p:txBody>
        </p:sp>
        <p:sp>
          <p:nvSpPr>
            <p:cNvPr id="17" name="텍스트 상자 31"/>
            <p:cNvSpPr txBox="1"/>
            <p:nvPr/>
          </p:nvSpPr>
          <p:spPr>
            <a:xfrm>
              <a:off x="1201376" y="2513642"/>
              <a:ext cx="612000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kumimoji="1" lang="ko-KR" altLang="en-US" sz="8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달력 선택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18" name="직선 연결선[R] 7"/>
          <p:cNvCxnSpPr/>
          <p:nvPr/>
        </p:nvCxnSpPr>
        <p:spPr>
          <a:xfrm>
            <a:off x="856176" y="2307891"/>
            <a:ext cx="4962148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grpSp>
        <p:nvGrpSpPr>
          <p:cNvPr id="19" name="Group 25"/>
          <p:cNvGrpSpPr/>
          <p:nvPr/>
        </p:nvGrpSpPr>
        <p:grpSpPr>
          <a:xfrm>
            <a:off x="2395685" y="2022988"/>
            <a:ext cx="1188000" cy="214533"/>
            <a:chOff x="2680673" y="2469193"/>
            <a:chExt cx="1188000" cy="214533"/>
          </a:xfrm>
        </p:grpSpPr>
        <p:sp>
          <p:nvSpPr>
            <p:cNvPr id="20" name="Rounded Rectangle 459"/>
            <p:cNvSpPr/>
            <p:nvPr/>
          </p:nvSpPr>
          <p:spPr>
            <a:xfrm>
              <a:off x="2680673" y="2469193"/>
              <a:ext cx="1188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r>
                <a:rPr kumimoji="1" lang="en-US" altLang="ko-KR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UI</a:t>
              </a:r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팀 프로젝트 일정 공유</a:t>
              </a:r>
            </a:p>
          </p:txBody>
        </p:sp>
        <p:sp>
          <p:nvSpPr>
            <p:cNvPr id="21" name="Freeform 11"/>
            <p:cNvSpPr>
              <a:spLocks noChangeAspect="1" noChangeArrowheads="1"/>
            </p:cNvSpPr>
            <p:nvPr/>
          </p:nvSpPr>
          <p:spPr bwMode="auto">
            <a:xfrm>
              <a:off x="3738907" y="2535890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grpSp>
        <p:nvGrpSpPr>
          <p:cNvPr id="22" name="Group 461"/>
          <p:cNvGrpSpPr/>
          <p:nvPr/>
        </p:nvGrpSpPr>
        <p:grpSpPr>
          <a:xfrm>
            <a:off x="3630862" y="2022988"/>
            <a:ext cx="828000" cy="214533"/>
            <a:chOff x="2680673" y="2469193"/>
            <a:chExt cx="828000" cy="214533"/>
          </a:xfrm>
        </p:grpSpPr>
        <p:sp>
          <p:nvSpPr>
            <p:cNvPr id="23" name="Rounded Rectangle 462"/>
            <p:cNvSpPr/>
            <p:nvPr/>
          </p:nvSpPr>
          <p:spPr>
            <a:xfrm>
              <a:off x="2680673" y="2469193"/>
              <a:ext cx="828000" cy="214533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자동차 </a:t>
              </a:r>
              <a:r>
                <a:rPr kumimoji="1" lang="en-US" altLang="ko-KR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UX </a:t>
              </a:r>
              <a:r>
                <a:rPr kumimoji="1" lang="ko-KR" altLang="en-US" sz="7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rPr>
                <a:t>개선</a:t>
              </a:r>
            </a:p>
          </p:txBody>
        </p:sp>
        <p:sp>
          <p:nvSpPr>
            <p:cNvPr id="24" name="Freeform 11"/>
            <p:cNvSpPr>
              <a:spLocks noChangeAspect="1" noChangeArrowheads="1"/>
            </p:cNvSpPr>
            <p:nvPr/>
          </p:nvSpPr>
          <p:spPr bwMode="auto">
            <a:xfrm>
              <a:off x="3382291" y="2535890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</p:grpSp>
      <p:sp>
        <p:nvSpPr>
          <p:cNvPr id="25" name="텍스트 상자 31"/>
          <p:cNvSpPr txBox="1"/>
          <p:nvPr/>
        </p:nvSpPr>
        <p:spPr>
          <a:xfrm>
            <a:off x="316351" y="2487457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일시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6" name="Group 122"/>
          <p:cNvGrpSpPr/>
          <p:nvPr/>
        </p:nvGrpSpPr>
        <p:grpSpPr>
          <a:xfrm>
            <a:off x="856176" y="3172356"/>
            <a:ext cx="592646" cy="228857"/>
            <a:chOff x="1122876" y="3618561"/>
            <a:chExt cx="504000" cy="228857"/>
          </a:xfrm>
        </p:grpSpPr>
        <p:sp>
          <p:nvSpPr>
            <p:cNvPr id="27" name="Rounded Rectangle 939"/>
            <p:cNvSpPr/>
            <p:nvPr/>
          </p:nvSpPr>
          <p:spPr>
            <a:xfrm>
              <a:off x="1122876" y="3618561"/>
              <a:ext cx="504000" cy="228857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algn="ctr"/>
              <a:r>
                <a:rPr kumimoji="1"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추가</a:t>
              </a:r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28" name="Picture 157" descr="man-user (1).png"/>
            <p:cNvPicPr>
              <a:picLocks noChangeAspect="1"/>
            </p:cNvPicPr>
            <p:nvPr/>
          </p:nvPicPr>
          <p:blipFill>
            <a:blip r:embed="rId5" cstate="print">
              <a:alphaModFix amt="3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8956" y="3684586"/>
              <a:ext cx="109070" cy="1090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30589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4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</p:grpSp>
      <p:sp>
        <p:nvSpPr>
          <p:cNvPr id="29" name="Rounded Rectangle 939"/>
          <p:cNvSpPr/>
          <p:nvPr/>
        </p:nvSpPr>
        <p:spPr>
          <a:xfrm>
            <a:off x="4919388" y="2408895"/>
            <a:ext cx="648000" cy="290149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6350" cap="flat" cmpd="sng">
            <a:solidFill>
              <a:sysClr val="window" lastClr="FFFFFF">
                <a:lumMod val="65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반복 설정</a:t>
            </a:r>
            <a:endParaRPr kumimoji="0" lang="ko-KR" altLang="en-US" sz="9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0" name="Group 67"/>
          <p:cNvGrpSpPr/>
          <p:nvPr/>
        </p:nvGrpSpPr>
        <p:grpSpPr>
          <a:xfrm>
            <a:off x="1326810" y="2408895"/>
            <a:ext cx="3555600" cy="290149"/>
            <a:chOff x="1135173" y="2884869"/>
            <a:chExt cx="3555600" cy="290149"/>
          </a:xfrm>
        </p:grpSpPr>
        <p:sp>
          <p:nvSpPr>
            <p:cNvPr id="31" name="Rounded Rectangle 939"/>
            <p:cNvSpPr/>
            <p:nvPr/>
          </p:nvSpPr>
          <p:spPr>
            <a:xfrm>
              <a:off x="11351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2017-09-20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Rounded Rectangle 939"/>
            <p:cNvSpPr/>
            <p:nvPr/>
          </p:nvSpPr>
          <p:spPr>
            <a:xfrm>
              <a:off x="19352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오전 </a:t>
              </a: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11:00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33" name="직선 연결선[R] 7"/>
            <p:cNvCxnSpPr/>
            <p:nvPr/>
          </p:nvCxnSpPr>
          <p:spPr>
            <a:xfrm>
              <a:off x="2858973" y="3029943"/>
              <a:ext cx="108000" cy="0"/>
            </a:xfrm>
            <a:prstGeom prst="line">
              <a:avLst/>
            </a:prstGeom>
            <a:ln w="12700">
              <a:solidFill>
                <a:sysClr val="window" lastClr="FFFFFF">
                  <a:lumMod val="50000"/>
                </a:sysClr>
              </a:solidFill>
              <a:miter lim="400000"/>
            </a:ln>
          </p:spPr>
        </p:cxnSp>
        <p:sp>
          <p:nvSpPr>
            <p:cNvPr id="34" name="Triangle 942"/>
            <p:cNvSpPr>
              <a:spLocks noChangeAspect="1"/>
            </p:cNvSpPr>
            <p:nvPr/>
          </p:nvSpPr>
          <p:spPr>
            <a:xfrm flipV="1">
              <a:off x="2620251" y="2998992"/>
              <a:ext cx="108000" cy="61902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5" name="Rounded Rectangle 939"/>
            <p:cNvSpPr/>
            <p:nvPr/>
          </p:nvSpPr>
          <p:spPr>
            <a:xfrm>
              <a:off x="3026673" y="2884869"/>
              <a:ext cx="792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2017-09-20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" name="Rounded Rectangle 939"/>
            <p:cNvSpPr/>
            <p:nvPr/>
          </p:nvSpPr>
          <p:spPr>
            <a:xfrm>
              <a:off x="3826773" y="2884869"/>
              <a:ext cx="864000" cy="290149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오후 </a:t>
              </a:r>
              <a:r>
                <a:rPr kumimoji="0" lang="en-US" altLang="ko-KR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3:00</a:t>
              </a:r>
              <a:endPara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7" name="Triangle 942"/>
            <p:cNvSpPr>
              <a:spLocks noChangeAspect="1"/>
            </p:cNvSpPr>
            <p:nvPr/>
          </p:nvSpPr>
          <p:spPr>
            <a:xfrm flipV="1">
              <a:off x="4511751" y="2998992"/>
              <a:ext cx="108000" cy="61902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38" name="Group 121"/>
          <p:cNvGrpSpPr/>
          <p:nvPr/>
        </p:nvGrpSpPr>
        <p:grpSpPr>
          <a:xfrm>
            <a:off x="5630479" y="2460213"/>
            <a:ext cx="365833" cy="187731"/>
            <a:chOff x="10514817" y="2798956"/>
            <a:chExt cx="365833" cy="187731"/>
          </a:xfrm>
        </p:grpSpPr>
        <p:sp>
          <p:nvSpPr>
            <p:cNvPr id="39" name="Rounded Rectangle 722"/>
            <p:cNvSpPr/>
            <p:nvPr/>
          </p:nvSpPr>
          <p:spPr>
            <a:xfrm>
              <a:off x="10664650" y="2798956"/>
              <a:ext cx="216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종일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0" name="Rounded Rectangle 723"/>
            <p:cNvSpPr/>
            <p:nvPr/>
          </p:nvSpPr>
          <p:spPr>
            <a:xfrm>
              <a:off x="10514817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41" name="Group 186"/>
          <p:cNvGrpSpPr/>
          <p:nvPr/>
        </p:nvGrpSpPr>
        <p:grpSpPr>
          <a:xfrm>
            <a:off x="6004624" y="2460213"/>
            <a:ext cx="473833" cy="187731"/>
            <a:chOff x="10514817" y="2798956"/>
            <a:chExt cx="473833" cy="187731"/>
          </a:xfrm>
        </p:grpSpPr>
        <p:sp>
          <p:nvSpPr>
            <p:cNvPr id="42" name="Rounded Rectangle 187"/>
            <p:cNvSpPr/>
            <p:nvPr/>
          </p:nvSpPr>
          <p:spPr>
            <a:xfrm>
              <a:off x="10664650" y="2798956"/>
              <a:ext cx="324000" cy="187731"/>
            </a:xfrm>
            <a:prstGeom prst="roundRect">
              <a:avLst>
                <a:gd name="adj" fmla="val 8420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기념일</a:t>
              </a: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43" name="Rounded Rectangle 188"/>
            <p:cNvSpPr/>
            <p:nvPr/>
          </p:nvSpPr>
          <p:spPr>
            <a:xfrm>
              <a:off x="10514817" y="2834545"/>
              <a:ext cx="108000" cy="108000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12700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grpSp>
        <p:nvGrpSpPr>
          <p:cNvPr id="44" name="Group 1"/>
          <p:cNvGrpSpPr/>
          <p:nvPr/>
        </p:nvGrpSpPr>
        <p:grpSpPr>
          <a:xfrm>
            <a:off x="856176" y="2440551"/>
            <a:ext cx="432000" cy="228857"/>
            <a:chOff x="1122876" y="2916525"/>
            <a:chExt cx="432000" cy="228857"/>
          </a:xfrm>
        </p:grpSpPr>
        <p:sp>
          <p:nvSpPr>
            <p:cNvPr id="45" name="Rounded Rectangle 939"/>
            <p:cNvSpPr/>
            <p:nvPr/>
          </p:nvSpPr>
          <p:spPr>
            <a:xfrm>
              <a:off x="1122876" y="2916525"/>
              <a:ext cx="432000" cy="228857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6350" cap="flat" cmpd="sng">
              <a:solidFill>
                <a:sysClr val="window" lastClr="FFFFFF">
                  <a:lumMod val="65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양력</a:t>
              </a:r>
            </a:p>
          </p:txBody>
        </p:sp>
        <p:sp>
          <p:nvSpPr>
            <p:cNvPr id="46" name="Triangle 942"/>
            <p:cNvSpPr>
              <a:spLocks noChangeAspect="1"/>
            </p:cNvSpPr>
            <p:nvPr/>
          </p:nvSpPr>
          <p:spPr>
            <a:xfrm flipV="1">
              <a:off x="1419199" y="3004677"/>
              <a:ext cx="91689" cy="52553"/>
            </a:xfrm>
            <a:prstGeom prst="triangle">
              <a:avLst/>
            </a:prstGeom>
            <a:solidFill>
              <a:sysClr val="window" lastClr="FFFFFF">
                <a:lumMod val="6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57681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33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  <a:cs typeface="ＭＳ Ｐゴシック" charset="0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1550687" y="3200400"/>
            <a:ext cx="3987681" cy="148389"/>
            <a:chOff x="1817387" y="3543300"/>
            <a:chExt cx="3987681" cy="148389"/>
          </a:xfrm>
        </p:grpSpPr>
        <p:sp>
          <p:nvSpPr>
            <p:cNvPr id="48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9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0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1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2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3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4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5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56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57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58" name="그룹 57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62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63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그룹 58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60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61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64" name="그룹 63"/>
          <p:cNvGrpSpPr/>
          <p:nvPr/>
        </p:nvGrpSpPr>
        <p:grpSpPr>
          <a:xfrm>
            <a:off x="1550687" y="3476625"/>
            <a:ext cx="3987681" cy="148389"/>
            <a:chOff x="1817387" y="3543300"/>
            <a:chExt cx="3987681" cy="148389"/>
          </a:xfrm>
        </p:grpSpPr>
        <p:sp>
          <p:nvSpPr>
            <p:cNvPr id="65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6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67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68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69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0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71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2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73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74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75" name="그룹 74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79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0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76" name="그룹 75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77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8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81" name="그룹 80"/>
          <p:cNvGrpSpPr/>
          <p:nvPr/>
        </p:nvGrpSpPr>
        <p:grpSpPr>
          <a:xfrm>
            <a:off x="1550687" y="3733800"/>
            <a:ext cx="3987681" cy="148389"/>
            <a:chOff x="1817387" y="3543300"/>
            <a:chExt cx="3987681" cy="148389"/>
          </a:xfrm>
        </p:grpSpPr>
        <p:sp>
          <p:nvSpPr>
            <p:cNvPr id="82" name="Rounded Rectangle 468"/>
            <p:cNvSpPr/>
            <p:nvPr/>
          </p:nvSpPr>
          <p:spPr>
            <a:xfrm>
              <a:off x="1817387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이은수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3" name="Freeform 11"/>
            <p:cNvSpPr>
              <a:spLocks noChangeAspect="1" noChangeArrowheads="1"/>
            </p:cNvSpPr>
            <p:nvPr/>
          </p:nvSpPr>
          <p:spPr bwMode="auto">
            <a:xfrm>
              <a:off x="2208573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84" name="Rounded Rectangle 471"/>
            <p:cNvSpPr/>
            <p:nvPr/>
          </p:nvSpPr>
          <p:spPr>
            <a:xfrm>
              <a:off x="239397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강미나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5" name="Freeform 11"/>
            <p:cNvSpPr>
              <a:spLocks noChangeAspect="1" noChangeArrowheads="1"/>
            </p:cNvSpPr>
            <p:nvPr/>
          </p:nvSpPr>
          <p:spPr bwMode="auto">
            <a:xfrm>
              <a:off x="278515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86" name="Rounded Rectangle 480"/>
            <p:cNvSpPr/>
            <p:nvPr/>
          </p:nvSpPr>
          <p:spPr>
            <a:xfrm>
              <a:off x="2970556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정종철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7" name="Freeform 11"/>
            <p:cNvSpPr>
              <a:spLocks noChangeAspect="1" noChangeArrowheads="1"/>
            </p:cNvSpPr>
            <p:nvPr/>
          </p:nvSpPr>
          <p:spPr bwMode="auto">
            <a:xfrm>
              <a:off x="3361742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88" name="Rounded Rectangle 483"/>
            <p:cNvSpPr/>
            <p:nvPr/>
          </p:nvSpPr>
          <p:spPr>
            <a:xfrm>
              <a:off x="3547141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김하나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9" name="Freeform 11"/>
            <p:cNvSpPr>
              <a:spLocks noChangeAspect="1" noChangeArrowheads="1"/>
            </p:cNvSpPr>
            <p:nvPr/>
          </p:nvSpPr>
          <p:spPr bwMode="auto">
            <a:xfrm>
              <a:off x="3938327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sp>
          <p:nvSpPr>
            <p:cNvPr id="90" name="Rounded Rectangle 486"/>
            <p:cNvSpPr/>
            <p:nvPr/>
          </p:nvSpPr>
          <p:spPr>
            <a:xfrm>
              <a:off x="4123725" y="3543300"/>
              <a:ext cx="519293" cy="148389"/>
            </a:xfrm>
            <a:prstGeom prst="roundRect">
              <a:avLst>
                <a:gd name="adj" fmla="val 47831"/>
              </a:avLst>
            </a:prstGeom>
            <a:solidFill>
              <a:schemeClr val="bg1">
                <a:lumMod val="95000"/>
              </a:schemeClr>
            </a:solidFill>
            <a:ln w="1270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7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김민수</a:t>
              </a:r>
              <a:endPara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91" name="Freeform 11"/>
            <p:cNvSpPr>
              <a:spLocks noChangeAspect="1" noChangeArrowheads="1"/>
            </p:cNvSpPr>
            <p:nvPr/>
          </p:nvSpPr>
          <p:spPr bwMode="auto">
            <a:xfrm>
              <a:off x="4514911" y="3581953"/>
              <a:ext cx="81140" cy="81140"/>
            </a:xfrm>
            <a:custGeom>
              <a:avLst/>
              <a:gdLst>
                <a:gd name="T0" fmla="*/ 454 w 455"/>
                <a:gd name="T1" fmla="*/ 44 h 456"/>
                <a:gd name="T2" fmla="*/ 411 w 455"/>
                <a:gd name="T3" fmla="*/ 0 h 456"/>
                <a:gd name="T4" fmla="*/ 224 w 455"/>
                <a:gd name="T5" fmla="*/ 181 h 456"/>
                <a:gd name="T6" fmla="*/ 44 w 455"/>
                <a:gd name="T7" fmla="*/ 0 h 456"/>
                <a:gd name="T8" fmla="*/ 0 w 455"/>
                <a:gd name="T9" fmla="*/ 44 h 456"/>
                <a:gd name="T10" fmla="*/ 181 w 455"/>
                <a:gd name="T11" fmla="*/ 224 h 456"/>
                <a:gd name="T12" fmla="*/ 0 w 455"/>
                <a:gd name="T13" fmla="*/ 411 h 456"/>
                <a:gd name="T14" fmla="*/ 44 w 455"/>
                <a:gd name="T15" fmla="*/ 455 h 456"/>
                <a:gd name="T16" fmla="*/ 224 w 455"/>
                <a:gd name="T17" fmla="*/ 274 h 456"/>
                <a:gd name="T18" fmla="*/ 411 w 455"/>
                <a:gd name="T19" fmla="*/ 455 h 456"/>
                <a:gd name="T20" fmla="*/ 454 w 455"/>
                <a:gd name="T21" fmla="*/ 411 h 456"/>
                <a:gd name="T22" fmla="*/ 274 w 455"/>
                <a:gd name="T23" fmla="*/ 224 h 456"/>
                <a:gd name="T24" fmla="*/ 454 w 455"/>
                <a:gd name="T25" fmla="*/ 44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5" h="456">
                  <a:moveTo>
                    <a:pt x="454" y="44"/>
                  </a:moveTo>
                  <a:lnTo>
                    <a:pt x="411" y="0"/>
                  </a:lnTo>
                  <a:lnTo>
                    <a:pt x="224" y="181"/>
                  </a:lnTo>
                  <a:lnTo>
                    <a:pt x="44" y="0"/>
                  </a:lnTo>
                  <a:lnTo>
                    <a:pt x="0" y="44"/>
                  </a:lnTo>
                  <a:lnTo>
                    <a:pt x="181" y="224"/>
                  </a:lnTo>
                  <a:lnTo>
                    <a:pt x="0" y="411"/>
                  </a:lnTo>
                  <a:lnTo>
                    <a:pt x="44" y="455"/>
                  </a:lnTo>
                  <a:lnTo>
                    <a:pt x="224" y="274"/>
                  </a:lnTo>
                  <a:lnTo>
                    <a:pt x="411" y="455"/>
                  </a:lnTo>
                  <a:lnTo>
                    <a:pt x="454" y="411"/>
                  </a:lnTo>
                  <a:lnTo>
                    <a:pt x="274" y="224"/>
                  </a:lnTo>
                  <a:lnTo>
                    <a:pt x="454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>
                <a:latin typeface="+mn-ea"/>
                <a:ea typeface="+mn-ea"/>
              </a:endParaRPr>
            </a:p>
          </p:txBody>
        </p:sp>
        <p:grpSp>
          <p:nvGrpSpPr>
            <p:cNvPr id="92" name="그룹 91"/>
            <p:cNvGrpSpPr/>
            <p:nvPr/>
          </p:nvGrpSpPr>
          <p:grpSpPr>
            <a:xfrm>
              <a:off x="4695225" y="3543300"/>
              <a:ext cx="519293" cy="148389"/>
              <a:chOff x="4695225" y="3543300"/>
              <a:chExt cx="519293" cy="148389"/>
            </a:xfrm>
          </p:grpSpPr>
          <p:sp>
            <p:nvSpPr>
              <p:cNvPr id="96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7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  <p:grpSp>
          <p:nvGrpSpPr>
            <p:cNvPr id="93" name="그룹 92"/>
            <p:cNvGrpSpPr/>
            <p:nvPr/>
          </p:nvGrpSpPr>
          <p:grpSpPr>
            <a:xfrm>
              <a:off x="5285775" y="3543300"/>
              <a:ext cx="519293" cy="148389"/>
              <a:chOff x="4695225" y="3543300"/>
              <a:chExt cx="519293" cy="148389"/>
            </a:xfrm>
          </p:grpSpPr>
          <p:sp>
            <p:nvSpPr>
              <p:cNvPr id="94" name="Rounded Rectangle 486"/>
              <p:cNvSpPr/>
              <p:nvPr/>
            </p:nvSpPr>
            <p:spPr>
              <a:xfrm>
                <a:off x="4695225" y="3543300"/>
                <a:ext cx="519293" cy="148389"/>
              </a:xfrm>
              <a:prstGeom prst="roundRect">
                <a:avLst>
                  <a:gd name="adj" fmla="val 4783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36000" tIns="0" rIns="0" bIns="0" anchor="ctr"/>
              <a:lstStyle/>
              <a:p>
                <a:pPr>
                  <a:lnSpc>
                    <a:spcPct val="120000"/>
                  </a:lnSpc>
                </a:pPr>
                <a:r>
                  <a:rPr lang="ko-KR" altLang="en-US" sz="7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ea typeface="+mn-ea"/>
                  </a:rPr>
                  <a:t>김민수</a:t>
                </a:r>
                <a:endParaRPr 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95" name="Freeform 11"/>
              <p:cNvSpPr>
                <a:spLocks noChangeAspect="1" noChangeArrowheads="1"/>
              </p:cNvSpPr>
              <p:nvPr/>
            </p:nvSpPr>
            <p:spPr bwMode="auto">
              <a:xfrm>
                <a:off x="5086411" y="3581953"/>
                <a:ext cx="81140" cy="81140"/>
              </a:xfrm>
              <a:custGeom>
                <a:avLst/>
                <a:gdLst>
                  <a:gd name="T0" fmla="*/ 454 w 455"/>
                  <a:gd name="T1" fmla="*/ 44 h 456"/>
                  <a:gd name="T2" fmla="*/ 411 w 455"/>
                  <a:gd name="T3" fmla="*/ 0 h 456"/>
                  <a:gd name="T4" fmla="*/ 224 w 455"/>
                  <a:gd name="T5" fmla="*/ 181 h 456"/>
                  <a:gd name="T6" fmla="*/ 44 w 455"/>
                  <a:gd name="T7" fmla="*/ 0 h 456"/>
                  <a:gd name="T8" fmla="*/ 0 w 455"/>
                  <a:gd name="T9" fmla="*/ 44 h 456"/>
                  <a:gd name="T10" fmla="*/ 181 w 455"/>
                  <a:gd name="T11" fmla="*/ 224 h 456"/>
                  <a:gd name="T12" fmla="*/ 0 w 455"/>
                  <a:gd name="T13" fmla="*/ 411 h 456"/>
                  <a:gd name="T14" fmla="*/ 44 w 455"/>
                  <a:gd name="T15" fmla="*/ 455 h 456"/>
                  <a:gd name="T16" fmla="*/ 224 w 455"/>
                  <a:gd name="T17" fmla="*/ 274 h 456"/>
                  <a:gd name="T18" fmla="*/ 411 w 455"/>
                  <a:gd name="T19" fmla="*/ 455 h 456"/>
                  <a:gd name="T20" fmla="*/ 454 w 455"/>
                  <a:gd name="T21" fmla="*/ 411 h 456"/>
                  <a:gd name="T22" fmla="*/ 274 w 455"/>
                  <a:gd name="T23" fmla="*/ 224 h 456"/>
                  <a:gd name="T24" fmla="*/ 454 w 455"/>
                  <a:gd name="T25" fmla="*/ 44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5" h="456">
                    <a:moveTo>
                      <a:pt x="454" y="44"/>
                    </a:moveTo>
                    <a:lnTo>
                      <a:pt x="411" y="0"/>
                    </a:lnTo>
                    <a:lnTo>
                      <a:pt x="224" y="181"/>
                    </a:lnTo>
                    <a:lnTo>
                      <a:pt x="44" y="0"/>
                    </a:lnTo>
                    <a:lnTo>
                      <a:pt x="0" y="44"/>
                    </a:lnTo>
                    <a:lnTo>
                      <a:pt x="181" y="224"/>
                    </a:lnTo>
                    <a:lnTo>
                      <a:pt x="0" y="411"/>
                    </a:lnTo>
                    <a:lnTo>
                      <a:pt x="44" y="455"/>
                    </a:lnTo>
                    <a:lnTo>
                      <a:pt x="224" y="274"/>
                    </a:lnTo>
                    <a:lnTo>
                      <a:pt x="411" y="455"/>
                    </a:lnTo>
                    <a:lnTo>
                      <a:pt x="454" y="411"/>
                    </a:lnTo>
                    <a:lnTo>
                      <a:pt x="274" y="224"/>
                    </a:lnTo>
                    <a:lnTo>
                      <a:pt x="454" y="44"/>
                    </a:lnTo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defPPr>
                  <a:defRPr lang="id-ID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Roboto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endParaRPr lang="en-US" sz="1633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98" name="TextBox 97"/>
          <p:cNvSpPr txBox="1"/>
          <p:nvPr/>
        </p:nvSpPr>
        <p:spPr>
          <a:xfrm>
            <a:off x="1295400" y="2804093"/>
            <a:ext cx="1085850" cy="11055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양력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2017-12-10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484672" y="3172356"/>
            <a:ext cx="4763727" cy="914400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00" name="그룹 99"/>
          <p:cNvGrpSpPr/>
          <p:nvPr/>
        </p:nvGrpSpPr>
        <p:grpSpPr>
          <a:xfrm>
            <a:off x="6105525" y="3271364"/>
            <a:ext cx="47625" cy="677223"/>
            <a:chOff x="6858000" y="2907897"/>
            <a:chExt cx="47625" cy="508807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6858000" y="2997258"/>
              <a:ext cx="47625" cy="21578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03" name="Rounded Rectangle 939"/>
          <p:cNvSpPr/>
          <p:nvPr/>
        </p:nvSpPr>
        <p:spPr>
          <a:xfrm>
            <a:off x="6314414" y="3158566"/>
            <a:ext cx="828000" cy="22451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kumimoji="1" lang="ko-KR" altLang="en-US" sz="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공유자 일정 확인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예약 정보 수정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7A4B3E3-4387-45AB-8514-9604C265EE2B}"/>
              </a:ext>
            </a:extLst>
          </p:cNvPr>
          <p:cNvSpPr txBox="1"/>
          <p:nvPr/>
        </p:nvSpPr>
        <p:spPr>
          <a:xfrm>
            <a:off x="429745" y="4740531"/>
            <a:ext cx="2091354" cy="218709"/>
          </a:xfrm>
          <a:prstGeom prst="rect">
            <a:avLst/>
          </a:prstGeom>
          <a:noFill/>
        </p:spPr>
        <p:txBody>
          <a:bodyPr wrap="squar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</a:t>
            </a:r>
            <a:r>
              <a:rPr kumimoji="1" lang="ko-KR" altLang="en-US" sz="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의견</a:t>
            </a:r>
            <a:r>
              <a: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0/500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0" name="Speech Bubble">
            <a:extLst>
              <a:ext uri="{FF2B5EF4-FFF2-40B4-BE49-F238E27FC236}">
                <a16:creationId xmlns:a16="http://schemas.microsoft.com/office/drawing/2014/main" id="{F595C086-2C91-44F6-B348-497B66BB5B0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54884" y="4775566"/>
            <a:ext cx="192645" cy="161782"/>
          </a:xfrm>
          <a:custGeom>
            <a:avLst/>
            <a:gdLst>
              <a:gd name="T0" fmla="*/ 305 w 611"/>
              <a:gd name="T1" fmla="*/ 0 h 587"/>
              <a:gd name="T2" fmla="*/ 0 w 611"/>
              <a:gd name="T3" fmla="*/ 265 h 587"/>
              <a:gd name="T4" fmla="*/ 119 w 611"/>
              <a:gd name="T5" fmla="*/ 475 h 587"/>
              <a:gd name="T6" fmla="*/ 68 w 611"/>
              <a:gd name="T7" fmla="*/ 584 h 587"/>
              <a:gd name="T8" fmla="*/ 229 w 611"/>
              <a:gd name="T9" fmla="*/ 522 h 587"/>
              <a:gd name="T10" fmla="*/ 305 w 611"/>
              <a:gd name="T11" fmla="*/ 531 h 587"/>
              <a:gd name="T12" fmla="*/ 611 w 611"/>
              <a:gd name="T13" fmla="*/ 265 h 587"/>
              <a:gd name="T14" fmla="*/ 305 w 611"/>
              <a:gd name="T15" fmla="*/ 0 h 587"/>
              <a:gd name="T16" fmla="*/ 305 w 611"/>
              <a:gd name="T17" fmla="*/ 24 h 587"/>
              <a:gd name="T18" fmla="*/ 586 w 611"/>
              <a:gd name="T19" fmla="*/ 265 h 587"/>
              <a:gd name="T20" fmla="*/ 305 w 611"/>
              <a:gd name="T21" fmla="*/ 506 h 587"/>
              <a:gd name="T22" fmla="*/ 221 w 611"/>
              <a:gd name="T23" fmla="*/ 495 h 587"/>
              <a:gd name="T24" fmla="*/ 116 w 611"/>
              <a:gd name="T25" fmla="*/ 555 h 587"/>
              <a:gd name="T26" fmla="*/ 139 w 611"/>
              <a:gd name="T27" fmla="*/ 503 h 587"/>
              <a:gd name="T28" fmla="*/ 144 w 611"/>
              <a:gd name="T29" fmla="*/ 463 h 587"/>
              <a:gd name="T30" fmla="*/ 24 w 611"/>
              <a:gd name="T31" fmla="*/ 265 h 587"/>
              <a:gd name="T32" fmla="*/ 305 w 611"/>
              <a:gd name="T33" fmla="*/ 24 h 5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11" h="587">
                <a:moveTo>
                  <a:pt x="305" y="0"/>
                </a:moveTo>
                <a:cubicBezTo>
                  <a:pt x="137" y="0"/>
                  <a:pt x="0" y="118"/>
                  <a:pt x="0" y="265"/>
                </a:cubicBezTo>
                <a:cubicBezTo>
                  <a:pt x="0" y="351"/>
                  <a:pt x="47" y="426"/>
                  <a:pt x="119" y="475"/>
                </a:cubicBezTo>
                <a:cubicBezTo>
                  <a:pt x="117" y="518"/>
                  <a:pt x="88" y="557"/>
                  <a:pt x="68" y="584"/>
                </a:cubicBezTo>
                <a:cubicBezTo>
                  <a:pt x="128" y="587"/>
                  <a:pt x="189" y="568"/>
                  <a:pt x="229" y="522"/>
                </a:cubicBezTo>
                <a:cubicBezTo>
                  <a:pt x="254" y="527"/>
                  <a:pt x="279" y="531"/>
                  <a:pt x="305" y="531"/>
                </a:cubicBezTo>
                <a:cubicBezTo>
                  <a:pt x="473" y="531"/>
                  <a:pt x="611" y="413"/>
                  <a:pt x="611" y="265"/>
                </a:cubicBezTo>
                <a:cubicBezTo>
                  <a:pt x="611" y="118"/>
                  <a:pt x="473" y="0"/>
                  <a:pt x="305" y="0"/>
                </a:cubicBezTo>
                <a:close/>
                <a:moveTo>
                  <a:pt x="305" y="24"/>
                </a:moveTo>
                <a:cubicBezTo>
                  <a:pt x="462" y="24"/>
                  <a:pt x="586" y="133"/>
                  <a:pt x="586" y="265"/>
                </a:cubicBezTo>
                <a:cubicBezTo>
                  <a:pt x="586" y="397"/>
                  <a:pt x="462" y="506"/>
                  <a:pt x="305" y="506"/>
                </a:cubicBezTo>
                <a:cubicBezTo>
                  <a:pt x="274" y="505"/>
                  <a:pt x="248" y="502"/>
                  <a:pt x="221" y="495"/>
                </a:cubicBezTo>
                <a:cubicBezTo>
                  <a:pt x="184" y="538"/>
                  <a:pt x="153" y="548"/>
                  <a:pt x="116" y="555"/>
                </a:cubicBezTo>
                <a:cubicBezTo>
                  <a:pt x="127" y="535"/>
                  <a:pt x="135" y="517"/>
                  <a:pt x="139" y="503"/>
                </a:cubicBezTo>
                <a:cubicBezTo>
                  <a:pt x="143" y="490"/>
                  <a:pt x="144" y="476"/>
                  <a:pt x="144" y="463"/>
                </a:cubicBezTo>
                <a:cubicBezTo>
                  <a:pt x="69" y="408"/>
                  <a:pt x="26" y="337"/>
                  <a:pt x="24" y="265"/>
                </a:cubicBezTo>
                <a:cubicBezTo>
                  <a:pt x="24" y="133"/>
                  <a:pt x="149" y="24"/>
                  <a:pt x="305" y="24"/>
                </a:cubicBez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…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DDB8D0B7-B2E1-4678-BCD7-A121CAF0D555}"/>
              </a:ext>
            </a:extLst>
          </p:cNvPr>
          <p:cNvSpPr/>
          <p:nvPr/>
        </p:nvSpPr>
        <p:spPr>
          <a:xfrm>
            <a:off x="358913" y="5012177"/>
            <a:ext cx="6259273" cy="50173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t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/>
              <a:ea typeface="나눔고딕" pitchFamily="50" charset="-127"/>
              <a:cs typeface="+mn-cs"/>
            </a:endParaRPr>
          </a:p>
        </p:txBody>
      </p:sp>
      <p:sp>
        <p:nvSpPr>
          <p:cNvPr id="122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6714585" y="5011631"/>
            <a:ext cx="427829" cy="501739"/>
          </a:xfrm>
          <a:prstGeom prst="roundRect">
            <a:avLst>
              <a:gd name="adj" fmla="val 8420"/>
            </a:avLst>
          </a:prstGeom>
          <a:solidFill>
            <a:schemeClr val="bg1">
              <a:lumMod val="85000"/>
            </a:schemeClr>
          </a:solidFill>
          <a:ln w="63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등록</a:t>
            </a:r>
            <a:endParaRPr kumimoji="1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aphicFrame>
        <p:nvGraphicFramePr>
          <p:cNvPr id="13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819841"/>
              </p:ext>
            </p:extLst>
          </p:nvPr>
        </p:nvGraphicFramePr>
        <p:xfrm>
          <a:off x="9267471" y="745639"/>
          <a:ext cx="2857473" cy="1304919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0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화면내 표기된 일부 명칭만 다르고</a:t>
                      </a:r>
                      <a:r>
                        <a:rPr kumimoji="0" lang="en-US" altLang="ko-KR" sz="8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8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전체적인 항목은 일정 수정화면과 동일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46790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smtClean="0"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 예약 정보 수정화면일 경우</a:t>
                      </a:r>
                      <a: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출력되는 버튼</a:t>
                      </a:r>
                      <a:endParaRPr kumimoji="1" lang="en-US" altLang="ko-KR" sz="800" baseline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kumimoji="1" lang="ko-KR" altLang="en-US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 삭제</a:t>
                      </a:r>
                      <a: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kumimoji="1" lang="ko-KR" altLang="en-US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클릭할 경우 </a:t>
                      </a:r>
                      <a: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kumimoji="1" lang="ko-KR" altLang="en-US" sz="800" baseline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삭제하시겠습니까</a:t>
                      </a:r>
                      <a:r>
                        <a:rPr kumimoji="1" lang="en-US" altLang="ko-KR" sz="800" baseline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? </a:t>
                      </a:r>
                      <a: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Alert </a:t>
                      </a:r>
                      <a:r>
                        <a:rPr kumimoji="1" lang="ko-KR" altLang="en-US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출력 후 확인 클릭시 삭제 처리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50800" marB="508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107783"/>
                  </a:ext>
                </a:extLst>
              </a:tr>
            </a:tbl>
          </a:graphicData>
        </a:graphic>
      </p:graphicFrame>
      <p:sp>
        <p:nvSpPr>
          <p:cNvPr id="131" name="순서도: 처리 130"/>
          <p:cNvSpPr/>
          <p:nvPr/>
        </p:nvSpPr>
        <p:spPr>
          <a:xfrm>
            <a:off x="176212" y="1359711"/>
            <a:ext cx="7377112" cy="4164789"/>
          </a:xfrm>
          <a:prstGeom prst="flowChartProcess">
            <a:avLst/>
          </a:prstGeom>
          <a:solidFill>
            <a:schemeClr val="tx1">
              <a:lumMod val="95000"/>
              <a:lumOff val="5000"/>
              <a:alpha val="37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4" name="직선 연결선 103"/>
          <p:cNvCxnSpPr/>
          <p:nvPr/>
        </p:nvCxnSpPr>
        <p:spPr>
          <a:xfrm>
            <a:off x="176212" y="1358134"/>
            <a:ext cx="7377113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Group 15"/>
          <p:cNvGrpSpPr/>
          <p:nvPr/>
        </p:nvGrpSpPr>
        <p:grpSpPr>
          <a:xfrm>
            <a:off x="2893779" y="1182017"/>
            <a:ext cx="1982016" cy="176117"/>
            <a:chOff x="4223944" y="1715997"/>
            <a:chExt cx="1982016" cy="176117"/>
          </a:xfrm>
        </p:grpSpPr>
        <p:sp>
          <p:nvSpPr>
            <p:cNvPr id="106" name="텍스트 상자 31"/>
            <p:cNvSpPr txBox="1"/>
            <p:nvPr/>
          </p:nvSpPr>
          <p:spPr>
            <a:xfrm>
              <a:off x="4935567" y="1715997"/>
              <a:ext cx="127039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ko-KR" altLang="en-US" sz="9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공유자 ∙ 설비 일정확인</a:t>
              </a:r>
              <a:endParaRPr kumimoji="1" lang="ko-KR" altLang="en-US" sz="9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07" name="Group 13"/>
            <p:cNvGrpSpPr/>
            <p:nvPr/>
          </p:nvGrpSpPr>
          <p:grpSpPr>
            <a:xfrm>
              <a:off x="4223944" y="1715997"/>
              <a:ext cx="612000" cy="176117"/>
              <a:chOff x="4223944" y="1715997"/>
              <a:chExt cx="612000" cy="176117"/>
            </a:xfrm>
          </p:grpSpPr>
          <p:sp>
            <p:nvSpPr>
              <p:cNvPr id="108" name="텍스트 상자 31"/>
              <p:cNvSpPr txBox="1"/>
              <p:nvPr/>
            </p:nvSpPr>
            <p:spPr>
              <a:xfrm>
                <a:off x="4223944" y="1715997"/>
                <a:ext cx="6120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kumimoji="1" lang="ko-KR" altLang="en-US" sz="900" smtClean="0">
                    <a:solidFill>
                      <a:srgbClr val="FF0000"/>
                    </a:solidFill>
                    <a:latin typeface="+mn-ea"/>
                    <a:ea typeface="+mn-ea"/>
                  </a:rPr>
                  <a:t>설비 정보</a:t>
                </a:r>
                <a:endParaRPr kumimoji="1" lang="ko-KR" altLang="en-US" sz="900" dirty="0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  <p:cxnSp>
            <p:nvCxnSpPr>
              <p:cNvPr id="109" name="직선 연결선[R] 7"/>
              <p:cNvCxnSpPr/>
              <p:nvPr/>
            </p:nvCxnSpPr>
            <p:spPr>
              <a:xfrm>
                <a:off x="4277944" y="1892114"/>
                <a:ext cx="504000" cy="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miter lim="400000"/>
              </a:ln>
            </p:spPr>
          </p:cxnSp>
        </p:grpSp>
      </p:grpSp>
      <p:grpSp>
        <p:nvGrpSpPr>
          <p:cNvPr id="111" name="Cutout"/>
          <p:cNvGrpSpPr/>
          <p:nvPr/>
        </p:nvGrpSpPr>
        <p:grpSpPr>
          <a:xfrm rot="16200000">
            <a:off x="3760837" y="674737"/>
            <a:ext cx="208936" cy="7566540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12" name="Fill"/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Border"/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32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5275162" y="5683050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tx1">
              <a:lumMod val="75000"/>
              <a:lumOff val="25000"/>
            </a:schemeClr>
          </a:solidFill>
          <a:ln w="6350" cap="flat" cmpd="sng">
            <a:solidFill>
              <a:schemeClr val="tx1">
                <a:lumMod val="95000"/>
                <a:lumOff val="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저장</a:t>
            </a: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3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6618187" y="5683050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</a:t>
            </a:r>
            <a:endParaRPr 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5" name="타원 134"/>
          <p:cNvSpPr>
            <a:spLocks noChangeAspect="1"/>
          </p:cNvSpPr>
          <p:nvPr/>
        </p:nvSpPr>
        <p:spPr>
          <a:xfrm>
            <a:off x="1162050" y="746693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7" name="Rounded Rectangle 939">
            <a:extLst>
              <a:ext uri="{FF2B5EF4-FFF2-40B4-BE49-F238E27FC236}">
                <a16:creationId xmlns:a16="http://schemas.microsoft.com/office/drawing/2014/main" id="{06E28BB8-90D3-4A06-ABEF-48084301FC19}"/>
              </a:ext>
            </a:extLst>
          </p:cNvPr>
          <p:cNvSpPr/>
          <p:nvPr/>
        </p:nvSpPr>
        <p:spPr>
          <a:xfrm>
            <a:off x="5946675" y="5683050"/>
            <a:ext cx="605744" cy="243381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/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삭제</a:t>
            </a:r>
            <a:endParaRPr lang="en-US" sz="8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1" name="순서도: 처리 140"/>
          <p:cNvSpPr/>
          <p:nvPr/>
        </p:nvSpPr>
        <p:spPr>
          <a:xfrm>
            <a:off x="5139559" y="5615391"/>
            <a:ext cx="2212905" cy="375506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2" name="타원 141"/>
          <p:cNvSpPr>
            <a:spLocks noChangeAspect="1"/>
          </p:cNvSpPr>
          <p:nvPr/>
        </p:nvSpPr>
        <p:spPr>
          <a:xfrm>
            <a:off x="5029200" y="5528243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CA6.1.1.4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0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7069" y="1426493"/>
            <a:ext cx="2951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예약한 설비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226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/>
          <p:cNvSpPr/>
          <p:nvPr/>
        </p:nvSpPr>
        <p:spPr>
          <a:xfrm>
            <a:off x="427227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aphicFrame>
        <p:nvGraphicFramePr>
          <p:cNvPr id="100" name="표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110680"/>
              </p:ext>
            </p:extLst>
          </p:nvPr>
        </p:nvGraphicFramePr>
        <p:xfrm>
          <a:off x="1981199" y="1128344"/>
          <a:ext cx="7112653" cy="5246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09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2116267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876968">
                  <a:extLst>
                    <a:ext uri="{9D8B030D-6E8A-4147-A177-3AD203B41FA5}">
                      <a16:colId xmlns:a16="http://schemas.microsoft.com/office/drawing/2014/main" val="3215057536"/>
                    </a:ext>
                  </a:extLst>
                </a:gridCol>
                <a:gridCol w="889449">
                  <a:extLst>
                    <a:ext uri="{9D8B030D-6E8A-4147-A177-3AD203B41FA5}">
                      <a16:colId xmlns:a16="http://schemas.microsoft.com/office/drawing/2014/main" val="1845788156"/>
                    </a:ext>
                  </a:extLst>
                </a:gridCol>
                <a:gridCol w="1691158">
                  <a:extLst>
                    <a:ext uri="{9D8B030D-6E8A-4147-A177-3AD203B41FA5}">
                      <a16:colId xmlns:a16="http://schemas.microsoft.com/office/drawing/2014/main" val="2944353267"/>
                    </a:ext>
                  </a:extLst>
                </a:gridCol>
                <a:gridCol w="593803">
                  <a:extLst>
                    <a:ext uri="{9D8B030D-6E8A-4147-A177-3AD203B41FA5}">
                      <a16:colId xmlns:a16="http://schemas.microsoft.com/office/drawing/2014/main" val="2496191576"/>
                    </a:ext>
                  </a:extLst>
                </a:gridCol>
                <a:gridCol w="708599">
                  <a:extLst>
                    <a:ext uri="{9D8B030D-6E8A-4147-A177-3AD203B41FA5}">
                      <a16:colId xmlns:a16="http://schemas.microsoft.com/office/drawing/2014/main" val="2376702302"/>
                    </a:ext>
                  </a:extLst>
                </a:gridCol>
              </a:tblGrid>
              <a:tr h="367081"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6861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설비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예약일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사용기간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반복일정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대기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대기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반려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반려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반려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1867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575809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7541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81164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29666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82597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460612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31274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36497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276746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657768"/>
                  </a:ext>
                </a:extLst>
              </a:tr>
            </a:tbl>
          </a:graphicData>
        </a:graphic>
      </p:graphicFrame>
      <p:sp>
        <p:nvSpPr>
          <p:cNvPr id="21" name="텍스트 상자 31"/>
          <p:cNvSpPr txBox="1"/>
          <p:nvPr/>
        </p:nvSpPr>
        <p:spPr>
          <a:xfrm>
            <a:off x="2059864" y="820710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예약한 설비 </a:t>
            </a:r>
            <a:endParaRPr kumimoji="1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9" name="Group 446"/>
          <p:cNvGrpSpPr/>
          <p:nvPr/>
        </p:nvGrpSpPr>
        <p:grpSpPr>
          <a:xfrm>
            <a:off x="8810361" y="802075"/>
            <a:ext cx="157246" cy="170099"/>
            <a:chOff x="7681409" y="2293429"/>
            <a:chExt cx="157246" cy="170099"/>
          </a:xfrm>
        </p:grpSpPr>
        <p:sp>
          <p:nvSpPr>
            <p:cNvPr id="80" name="Rounded Rectangle 991"/>
            <p:cNvSpPr/>
            <p:nvPr/>
          </p:nvSpPr>
          <p:spPr>
            <a:xfrm>
              <a:off x="7681409" y="2293429"/>
              <a:ext cx="157246" cy="170099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81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4295800" y="6457949"/>
            <a:ext cx="2199772" cy="157041"/>
            <a:chOff x="4513478" y="6457949"/>
            <a:chExt cx="2199772" cy="157041"/>
          </a:xfrm>
        </p:grpSpPr>
        <p:sp>
          <p:nvSpPr>
            <p:cNvPr id="134" name="텍스트 상자 31"/>
            <p:cNvSpPr txBox="1"/>
            <p:nvPr/>
          </p:nvSpPr>
          <p:spPr>
            <a:xfrm>
              <a:off x="4513478" y="6476915"/>
              <a:ext cx="169879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&lt;&lt;   &lt;  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en-US" altLang="ko-KR" sz="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  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   &gt;&gt;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6150902" y="6457949"/>
              <a:ext cx="321114" cy="157041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136" name="텍스트 상자 31"/>
            <p:cNvSpPr txBox="1"/>
            <p:nvPr/>
          </p:nvSpPr>
          <p:spPr>
            <a:xfrm>
              <a:off x="6460735" y="6471999"/>
              <a:ext cx="252515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 3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14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682438"/>
              </p:ext>
            </p:extLst>
          </p:nvPr>
        </p:nvGraphicFramePr>
        <p:xfrm>
          <a:off x="9290533" y="786383"/>
          <a:ext cx="2835141" cy="2572349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승인제 설비 한정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내가 예약한 설비 현황을 볼 수 있는 화면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9545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승인이 필요한 설비일 경우 관리자 승인처리가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되기 전까진 달력에 출력되지 않음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 완료처리가 되면 현재 목록에서 빠지고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달력에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목록에서 설비 선택 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클릭시 설비 정보 수정 팝업 출력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그림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참고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반복일정일 경우라도 바로 해당 화면으로 진입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목록내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개이상 선택되었을 경우 해당 버튼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비활성화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반려 상태 설비를 재등록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예약시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상태는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반려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대기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전환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상태 정의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대기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관리자 승인 처리 이전 상태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반려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관리자 반려 처리시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6" name="그룹 65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89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설정</a:t>
              </a:r>
              <a:endParaRPr kumimoji="1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cxnSp>
        <p:nvCxnSpPr>
          <p:cNvPr id="67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설비 </a:t>
            </a:r>
            <a:r>
              <a:rPr kumimoji="1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예약하기</a:t>
            </a:r>
            <a:endParaRPr kumimoji="1" lang="x-none" altLang="x-none" sz="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내가 예약한 설비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CA6.6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1967513" y="1121387"/>
            <a:ext cx="7126331" cy="366793"/>
            <a:chOff x="1867652" y="1121387"/>
            <a:chExt cx="7156450" cy="366793"/>
          </a:xfrm>
        </p:grpSpPr>
        <p:cxnSp>
          <p:nvCxnSpPr>
            <p:cNvPr id="91" name="직선 연결선 90"/>
            <p:cNvCxnSpPr/>
            <p:nvPr/>
          </p:nvCxnSpPr>
          <p:spPr>
            <a:xfrm>
              <a:off x="1867652" y="1488180"/>
              <a:ext cx="715645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/>
            <p:nvPr/>
          </p:nvCxnSpPr>
          <p:spPr>
            <a:xfrm>
              <a:off x="1867652" y="1121387"/>
              <a:ext cx="715645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그룹 92"/>
          <p:cNvGrpSpPr/>
          <p:nvPr/>
        </p:nvGrpSpPr>
        <p:grpSpPr>
          <a:xfrm>
            <a:off x="8601147" y="1196947"/>
            <a:ext cx="457017" cy="209550"/>
            <a:chOff x="6935345" y="1198923"/>
            <a:chExt cx="457017" cy="209550"/>
          </a:xfrm>
        </p:grpSpPr>
        <p:sp>
          <p:nvSpPr>
            <p:cNvPr id="94" name="직사각형 93"/>
            <p:cNvSpPr/>
            <p:nvPr/>
          </p:nvSpPr>
          <p:spPr>
            <a:xfrm>
              <a:off x="6935345" y="1198923"/>
              <a:ext cx="421005" cy="209550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15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개</a:t>
              </a: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 rot="5400000">
              <a:off x="7195363" y="1196328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grpSp>
        <p:nvGrpSpPr>
          <p:cNvPr id="9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2035415" y="1902378"/>
            <a:ext cx="107839" cy="109736"/>
            <a:chOff x="554563" y="2632644"/>
            <a:chExt cx="131556" cy="131556"/>
          </a:xfrm>
        </p:grpSpPr>
        <p:sp>
          <p:nvSpPr>
            <p:cNvPr id="9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9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9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2035415" y="2207178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0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0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2035415" y="2502453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0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0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2035415" y="2816778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1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2035415" y="3112053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1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45" name="타원 144"/>
          <p:cNvSpPr>
            <a:spLocks noChangeAspect="1"/>
          </p:cNvSpPr>
          <p:nvPr/>
        </p:nvSpPr>
        <p:spPr>
          <a:xfrm>
            <a:off x="1856608" y="79557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2035415" y="1245153"/>
            <a:ext cx="107839" cy="109736"/>
            <a:chOff x="554563" y="2632644"/>
            <a:chExt cx="131556" cy="131556"/>
          </a:xfrm>
        </p:grpSpPr>
        <p:sp>
          <p:nvSpPr>
            <p:cNvPr id="12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2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2235303" y="1193460"/>
            <a:ext cx="522186" cy="2258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재예약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2854428" y="1193460"/>
            <a:ext cx="522186" cy="2258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삭제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0" name="타원 119"/>
          <p:cNvSpPr>
            <a:spLocks noChangeAspect="1"/>
          </p:cNvSpPr>
          <p:nvPr/>
        </p:nvSpPr>
        <p:spPr>
          <a:xfrm>
            <a:off x="2168337" y="1121955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5" name="타원 124"/>
          <p:cNvSpPr>
            <a:spLocks noChangeAspect="1"/>
          </p:cNvSpPr>
          <p:nvPr/>
        </p:nvSpPr>
        <p:spPr>
          <a:xfrm>
            <a:off x="8365509" y="1572320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43182" y="3533691"/>
            <a:ext cx="3749365" cy="22496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1995" y="3305415"/>
            <a:ext cx="733425" cy="18545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그림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2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5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설비 </a:t>
            </a:r>
            <a:r>
              <a:rPr kumimoji="1" lang="en-US" altLang="ko-KR" sz="700" b="1" dirty="0" smtClean="0">
                <a:solidFill>
                  <a:srgbClr val="FF0000"/>
                </a:solidFill>
                <a:latin typeface="+mn-ea"/>
              </a:rPr>
              <a:t>3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6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7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26" name="그룹 125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127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30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3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3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3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3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4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4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9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4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76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7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1691552" y="3751132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691552" y="1698987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1691552" y="1957190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21" name="직각 삼각형 120"/>
          <p:cNvSpPr/>
          <p:nvPr/>
        </p:nvSpPr>
        <p:spPr>
          <a:xfrm flipH="1">
            <a:off x="11504356" y="5921713"/>
            <a:ext cx="640019" cy="742447"/>
          </a:xfrm>
          <a:prstGeom prst="rt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12/07</a:t>
            </a:r>
          </a:p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9315450" y="5800725"/>
            <a:ext cx="914400" cy="914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[12/07 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 내역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달력보기 버튼 추가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>
            <a:off x="7872081" y="790575"/>
            <a:ext cx="866095" cy="205990"/>
            <a:chOff x="8129256" y="1219200"/>
            <a:chExt cx="866095" cy="205990"/>
          </a:xfrm>
        </p:grpSpPr>
        <p:sp>
          <p:nvSpPr>
            <p:cNvPr id="158" name="모서리가 둥근 직사각형 157"/>
            <p:cNvSpPr/>
            <p:nvPr/>
          </p:nvSpPr>
          <p:spPr>
            <a:xfrm>
              <a:off x="8129256" y="1219200"/>
              <a:ext cx="866095" cy="205990"/>
            </a:xfrm>
            <a:prstGeom prst="roundRect">
              <a:avLst/>
            </a:prstGeom>
            <a:solidFill>
              <a:sysClr val="window" lastClr="FFFFFF"/>
            </a:solidFill>
            <a:ln w="9525" cap="flat" cmpd="sng">
              <a:solidFill>
                <a:srgbClr val="0000FF"/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 defTabSz="576818" fontAlgn="auto" latin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8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   달력보기</a:t>
              </a:r>
              <a:endParaRPr kumimoji="0" lang="ko-KR" altLang="en-US" sz="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pic>
          <p:nvPicPr>
            <p:cNvPr id="159" name="그림 158"/>
            <p:cNvPicPr>
              <a:picLocks noChangeAspect="1"/>
            </p:cNvPicPr>
            <p:nvPr/>
          </p:nvPicPr>
          <p:blipFill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7165" y="1253440"/>
              <a:ext cx="141069" cy="141069"/>
            </a:xfrm>
            <a:prstGeom prst="rect">
              <a:avLst/>
            </a:prstGeom>
          </p:spPr>
        </p:pic>
      </p:grpSp>
      <p:sp>
        <p:nvSpPr>
          <p:cNvPr id="165" name="직사각형 164"/>
          <p:cNvSpPr/>
          <p:nvPr/>
        </p:nvSpPr>
        <p:spPr>
          <a:xfrm>
            <a:off x="1945936" y="371276"/>
            <a:ext cx="3686175" cy="276225"/>
          </a:xfrm>
          <a:prstGeom prst="rect">
            <a:avLst/>
          </a:prstGeom>
          <a:solidFill>
            <a:schemeClr val="bg1">
              <a:alpha val="73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219325" y="2152650"/>
            <a:ext cx="1228725" cy="22860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6" name="꺾인 연결선 5"/>
          <p:cNvCxnSpPr>
            <a:stCxn id="3" idx="3"/>
          </p:cNvCxnSpPr>
          <p:nvPr/>
        </p:nvCxnSpPr>
        <p:spPr>
          <a:xfrm>
            <a:off x="3448050" y="2266950"/>
            <a:ext cx="4895132" cy="2363931"/>
          </a:xfrm>
          <a:prstGeom prst="bentConnector3">
            <a:avLst>
              <a:gd name="adj1" fmla="val 2133"/>
            </a:avLst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텍스트 상자 31"/>
          <p:cNvSpPr txBox="1"/>
          <p:nvPr/>
        </p:nvSpPr>
        <p:spPr>
          <a:xfrm>
            <a:off x="653808" y="39659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77" name="Freeform 24"/>
          <p:cNvSpPr>
            <a:spLocks noChangeArrowheads="1"/>
          </p:cNvSpPr>
          <p:nvPr/>
        </p:nvSpPr>
        <p:spPr bwMode="auto">
          <a:xfrm>
            <a:off x="655420" y="40671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7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0"/>
            </p:custDataLst>
          </p:nvPr>
        </p:nvGrpSpPr>
        <p:grpSpPr>
          <a:xfrm>
            <a:off x="800561" y="42331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18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8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8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1"/>
            </p:custDataLst>
          </p:nvPr>
        </p:nvGrpSpPr>
        <p:grpSpPr>
          <a:xfrm>
            <a:off x="800561" y="44309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18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8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653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7069" y="1426493"/>
            <a:ext cx="3310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승인 대기중인 설비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414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그룹 204"/>
          <p:cNvGrpSpPr/>
          <p:nvPr/>
        </p:nvGrpSpPr>
        <p:grpSpPr>
          <a:xfrm>
            <a:off x="8664920" y="813534"/>
            <a:ext cx="354278" cy="203200"/>
            <a:chOff x="7121870" y="765909"/>
            <a:chExt cx="354278" cy="203200"/>
          </a:xfrm>
        </p:grpSpPr>
        <p:sp>
          <p:nvSpPr>
            <p:cNvPr id="206" name="직사각형 205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600" smtClean="0">
                  <a:solidFill>
                    <a:schemeClr val="bg1"/>
                  </a:solidFill>
                  <a:latin typeface="+mn-ea"/>
                  <a:ea typeface="+mn-ea"/>
                </a:rPr>
                <a:t>▼</a:t>
              </a:r>
              <a:endParaRPr lang="ko-KR" altLang="en-US" sz="600" dirty="0" smtClean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07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/>
            </a:p>
          </p:txBody>
        </p:sp>
      </p:grpSp>
      <p:sp>
        <p:nvSpPr>
          <p:cNvPr id="74" name="직사각형 73"/>
          <p:cNvSpPr/>
          <p:nvPr/>
        </p:nvSpPr>
        <p:spPr>
          <a:xfrm>
            <a:off x="427227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aphicFrame>
        <p:nvGraphicFramePr>
          <p:cNvPr id="100" name="표 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169267"/>
              </p:ext>
            </p:extLst>
          </p:nvPr>
        </p:nvGraphicFramePr>
        <p:xfrm>
          <a:off x="1981199" y="1128344"/>
          <a:ext cx="7112653" cy="5261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09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1682468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1129124">
                  <a:extLst>
                    <a:ext uri="{9D8B030D-6E8A-4147-A177-3AD203B41FA5}">
                      <a16:colId xmlns:a16="http://schemas.microsoft.com/office/drawing/2014/main" val="3215057536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82047279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845788156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944353267"/>
                    </a:ext>
                  </a:extLst>
                </a:gridCol>
                <a:gridCol w="736678">
                  <a:extLst>
                    <a:ext uri="{9D8B030D-6E8A-4147-A177-3AD203B41FA5}">
                      <a16:colId xmlns:a16="http://schemas.microsoft.com/office/drawing/2014/main" val="2496191576"/>
                    </a:ext>
                  </a:extLst>
                </a:gridCol>
                <a:gridCol w="708599">
                  <a:extLst>
                    <a:ext uri="{9D8B030D-6E8A-4147-A177-3AD203B41FA5}">
                      <a16:colId xmlns:a16="http://schemas.microsoft.com/office/drawing/2014/main" val="2376702302"/>
                    </a:ext>
                  </a:extLst>
                </a:gridCol>
              </a:tblGrid>
              <a:tr h="367081"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6861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설비</a:t>
                      </a: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예약자</a:t>
                      </a: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예약일</a:t>
                      </a:r>
                      <a:r>
                        <a:rPr kumimoji="0" lang="ko-KR" altLang="en-US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사용기간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반복일정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 …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대기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승인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승인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반려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반려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1867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5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575809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7541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81164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29666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82597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460612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31274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36497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276746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657768"/>
                  </a:ext>
                </a:extLst>
              </a:tr>
            </a:tbl>
          </a:graphicData>
        </a:graphic>
      </p:graphicFrame>
      <p:sp>
        <p:nvSpPr>
          <p:cNvPr id="21" name="텍스트 상자 31"/>
          <p:cNvSpPr txBox="1"/>
          <p:nvPr/>
        </p:nvSpPr>
        <p:spPr>
          <a:xfrm>
            <a:off x="2059864" y="820710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승인 대기중인 설비 </a:t>
            </a:r>
            <a:r>
              <a:rPr kumimoji="1" lang="ko-KR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en-US" altLang="ko-KR" sz="1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endParaRPr kumimoji="1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9" name="Group 446"/>
          <p:cNvGrpSpPr/>
          <p:nvPr/>
        </p:nvGrpSpPr>
        <p:grpSpPr>
          <a:xfrm>
            <a:off x="8438886" y="830650"/>
            <a:ext cx="157246" cy="170099"/>
            <a:chOff x="7681409" y="2293429"/>
            <a:chExt cx="157246" cy="170099"/>
          </a:xfrm>
        </p:grpSpPr>
        <p:sp>
          <p:nvSpPr>
            <p:cNvPr id="80" name="Rounded Rectangle 991"/>
            <p:cNvSpPr/>
            <p:nvPr/>
          </p:nvSpPr>
          <p:spPr>
            <a:xfrm>
              <a:off x="7681409" y="2293429"/>
              <a:ext cx="157246" cy="170099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81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pSp>
        <p:nvGrpSpPr>
          <p:cNvPr id="101" name="그룹 100"/>
          <p:cNvGrpSpPr/>
          <p:nvPr/>
        </p:nvGrpSpPr>
        <p:grpSpPr>
          <a:xfrm>
            <a:off x="1967513" y="1121387"/>
            <a:ext cx="7126331" cy="366793"/>
            <a:chOff x="1867652" y="1121387"/>
            <a:chExt cx="7156450" cy="366793"/>
          </a:xfrm>
        </p:grpSpPr>
        <p:cxnSp>
          <p:nvCxnSpPr>
            <p:cNvPr id="102" name="직선 연결선 101"/>
            <p:cNvCxnSpPr/>
            <p:nvPr/>
          </p:nvCxnSpPr>
          <p:spPr>
            <a:xfrm>
              <a:off x="1867652" y="1488180"/>
              <a:ext cx="715645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/>
            <p:cNvCxnSpPr/>
            <p:nvPr/>
          </p:nvCxnSpPr>
          <p:spPr>
            <a:xfrm>
              <a:off x="1867652" y="1121387"/>
              <a:ext cx="715645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/>
          <p:cNvGrpSpPr/>
          <p:nvPr/>
        </p:nvGrpSpPr>
        <p:grpSpPr>
          <a:xfrm>
            <a:off x="2235302" y="1193460"/>
            <a:ext cx="974336" cy="225847"/>
            <a:chOff x="2881846" y="1188842"/>
            <a:chExt cx="1125005" cy="225847"/>
          </a:xfrm>
        </p:grpSpPr>
        <p:sp>
          <p:nvSpPr>
            <p:cNvPr id="127" name="모서리가 둥근 직사각형 126"/>
            <p:cNvSpPr/>
            <p:nvPr/>
          </p:nvSpPr>
          <p:spPr>
            <a:xfrm>
              <a:off x="2881846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승인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8" name="모서리가 둥근 직사각형 127"/>
            <p:cNvSpPr/>
            <p:nvPr/>
          </p:nvSpPr>
          <p:spPr>
            <a:xfrm>
              <a:off x="3443821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승인취소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0" name="그룹 129"/>
          <p:cNvGrpSpPr/>
          <p:nvPr/>
        </p:nvGrpSpPr>
        <p:grpSpPr>
          <a:xfrm>
            <a:off x="3343665" y="1193460"/>
            <a:ext cx="974336" cy="225847"/>
            <a:chOff x="2881846" y="1188842"/>
            <a:chExt cx="1125005" cy="225847"/>
          </a:xfrm>
        </p:grpSpPr>
        <p:sp>
          <p:nvSpPr>
            <p:cNvPr id="131" name="모서리가 둥근 직사각형 130"/>
            <p:cNvSpPr/>
            <p:nvPr/>
          </p:nvSpPr>
          <p:spPr>
            <a:xfrm>
              <a:off x="2881846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반려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2" name="모서리가 둥근 직사각형 131"/>
            <p:cNvSpPr/>
            <p:nvPr/>
          </p:nvSpPr>
          <p:spPr>
            <a:xfrm>
              <a:off x="3443821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반려취소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4295800" y="6457949"/>
            <a:ext cx="2199772" cy="157041"/>
            <a:chOff x="4513478" y="6457949"/>
            <a:chExt cx="2199772" cy="157041"/>
          </a:xfrm>
        </p:grpSpPr>
        <p:sp>
          <p:nvSpPr>
            <p:cNvPr id="134" name="텍스트 상자 31"/>
            <p:cNvSpPr txBox="1"/>
            <p:nvPr/>
          </p:nvSpPr>
          <p:spPr>
            <a:xfrm>
              <a:off x="4513478" y="6476915"/>
              <a:ext cx="169879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&lt;&lt;   &lt;  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en-US" altLang="ko-KR" sz="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  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   &gt;&gt;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sp>
          <p:nvSpPr>
            <p:cNvPr id="135" name="직사각형 134"/>
            <p:cNvSpPr/>
            <p:nvPr/>
          </p:nvSpPr>
          <p:spPr>
            <a:xfrm>
              <a:off x="6150902" y="6457949"/>
              <a:ext cx="321114" cy="157041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136" name="텍스트 상자 31"/>
            <p:cNvSpPr txBox="1"/>
            <p:nvPr/>
          </p:nvSpPr>
          <p:spPr>
            <a:xfrm>
              <a:off x="6460735" y="6471999"/>
              <a:ext cx="252515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 3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37" name="그룹 136"/>
          <p:cNvGrpSpPr/>
          <p:nvPr/>
        </p:nvGrpSpPr>
        <p:grpSpPr>
          <a:xfrm>
            <a:off x="8601147" y="1196947"/>
            <a:ext cx="457017" cy="209550"/>
            <a:chOff x="6935345" y="1198923"/>
            <a:chExt cx="457017" cy="209550"/>
          </a:xfrm>
        </p:grpSpPr>
        <p:sp>
          <p:nvSpPr>
            <p:cNvPr id="138" name="직사각형 137"/>
            <p:cNvSpPr/>
            <p:nvPr/>
          </p:nvSpPr>
          <p:spPr>
            <a:xfrm>
              <a:off x="6935345" y="1198923"/>
              <a:ext cx="421005" cy="209550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15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개</a:t>
              </a: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 rot="5400000">
              <a:off x="7195363" y="1196328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40" name="TextBox 139"/>
          <p:cNvSpPr txBox="1"/>
          <p:nvPr/>
        </p:nvSpPr>
        <p:spPr>
          <a:xfrm>
            <a:off x="7248268" y="1223728"/>
            <a:ext cx="449635" cy="18597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필터</a:t>
            </a:r>
          </a:p>
        </p:txBody>
      </p:sp>
      <p:grpSp>
        <p:nvGrpSpPr>
          <p:cNvPr id="141" name="그룹 140"/>
          <p:cNvGrpSpPr/>
          <p:nvPr/>
        </p:nvGrpSpPr>
        <p:grpSpPr>
          <a:xfrm>
            <a:off x="7605290" y="1198923"/>
            <a:ext cx="774308" cy="209550"/>
            <a:chOff x="6521731" y="1208448"/>
            <a:chExt cx="774308" cy="209550"/>
          </a:xfrm>
        </p:grpSpPr>
        <p:sp>
          <p:nvSpPr>
            <p:cNvPr id="142" name="직사각형 141"/>
            <p:cNvSpPr/>
            <p:nvPr/>
          </p:nvSpPr>
          <p:spPr>
            <a:xfrm>
              <a:off x="6521731" y="1208448"/>
              <a:ext cx="752150" cy="209550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 marL="0" marR="0" lvl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모든 상태</a:t>
              </a: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 rot="5400000">
              <a:off x="7099040" y="1205853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</p:grpSp>
      <p:graphicFrame>
        <p:nvGraphicFramePr>
          <p:cNvPr id="14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28360"/>
              </p:ext>
            </p:extLst>
          </p:nvPr>
        </p:nvGraphicFramePr>
        <p:xfrm>
          <a:off x="9290533" y="786383"/>
          <a:ext cx="2835141" cy="2119223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관리자에게만 출력되는 메뉴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9545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승인처리가 필요한 설비 예약 건수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상태가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대기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 건수만 카운팅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목록내 상태에 따라 액션처리가 가능한 버튼으로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선택된 설비 예약건의 상태에 따라 활성화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대기중인 상태를 선택했을 경우 승인취소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반려취소 버튼은 비활성화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상태에 따른 버튼 처리 조건은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~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반려취소 정성 처리시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A2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메시지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제목 클릭시 </a:t>
                      </a:r>
                      <a:r>
                        <a:rPr lang="en-US" altLang="ko-KR" sz="800" smtClean="0"/>
                        <a:t>CA6.7.1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 출력</a:t>
                      </a:r>
                      <a:endParaRPr lang="ko-KR" altLang="en-US" sz="800" smtClean="0"/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335855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smtClean="0"/>
                        <a:t>상태에 따른 필터링 처리</a:t>
                      </a:r>
                      <a:endParaRPr lang="en-US" altLang="ko-KR" sz="800" smtClean="0"/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79143"/>
                  </a:ext>
                </a:extLst>
              </a:tr>
            </a:tbl>
          </a:graphicData>
        </a:graphic>
      </p:graphicFrame>
      <p:sp>
        <p:nvSpPr>
          <p:cNvPr id="64" name="타원 63"/>
          <p:cNvSpPr>
            <a:spLocks noChangeAspect="1"/>
          </p:cNvSpPr>
          <p:nvPr/>
        </p:nvSpPr>
        <p:spPr>
          <a:xfrm>
            <a:off x="3406159" y="72988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3228975" y="790575"/>
            <a:ext cx="238125" cy="238125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66" name="타원 65"/>
          <p:cNvSpPr>
            <a:spLocks noChangeAspect="1"/>
          </p:cNvSpPr>
          <p:nvPr/>
        </p:nvSpPr>
        <p:spPr>
          <a:xfrm>
            <a:off x="4401130" y="108277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2154505" y="1144345"/>
            <a:ext cx="2312720" cy="312980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381328" y="3979226"/>
            <a:ext cx="2495550" cy="285750"/>
          </a:xfrm>
          <a:prstGeom prst="roundRect">
            <a:avLst>
              <a:gd name="adj" fmla="val 50000"/>
            </a:avLst>
          </a:prstGeom>
          <a:solidFill>
            <a:srgbClr val="FFFF00">
              <a:alpha val="85000"/>
            </a:srgb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승인 처리되었습니다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1" lang="ko-KR" altLang="en-US" sz="800" b="0" i="0" u="sng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타원 71"/>
          <p:cNvSpPr>
            <a:spLocks noChangeAspect="1"/>
          </p:cNvSpPr>
          <p:nvPr/>
        </p:nvSpPr>
        <p:spPr>
          <a:xfrm>
            <a:off x="9288376" y="387948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A2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25025" y="4330928"/>
            <a:ext cx="1217247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승인취소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반려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반려취소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 flipH="1" flipV="1">
            <a:off x="9572626" y="4181476"/>
            <a:ext cx="152399" cy="200024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타원 81"/>
          <p:cNvSpPr>
            <a:spLocks noChangeAspect="1"/>
          </p:cNvSpPr>
          <p:nvPr/>
        </p:nvSpPr>
        <p:spPr>
          <a:xfrm>
            <a:off x="3429580" y="183524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5" name="그룹 74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122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설정</a:t>
              </a:r>
              <a:endParaRPr kumimoji="1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3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cxnSp>
        <p:nvCxnSpPr>
          <p:cNvPr id="76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승인 대기중인 설비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CA6.7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2035415" y="1902378"/>
            <a:ext cx="107839" cy="109736"/>
            <a:chOff x="554563" y="2632644"/>
            <a:chExt cx="131556" cy="131556"/>
          </a:xfrm>
        </p:grpSpPr>
        <p:sp>
          <p:nvSpPr>
            <p:cNvPr id="7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7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0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2035415" y="2207178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0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6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0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2035415" y="2502453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0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2035415" y="2816778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1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2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2035415" y="3112053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1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2035415" y="1245153"/>
            <a:ext cx="107839" cy="109736"/>
            <a:chOff x="554563" y="2632644"/>
            <a:chExt cx="131556" cy="131556"/>
          </a:xfrm>
        </p:grpSpPr>
        <p:sp>
          <p:nvSpPr>
            <p:cNvPr id="11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94" name="타원 93"/>
          <p:cNvSpPr>
            <a:spLocks noChangeAspect="1"/>
          </p:cNvSpPr>
          <p:nvPr/>
        </p:nvSpPr>
        <p:spPr>
          <a:xfrm>
            <a:off x="7544380" y="110182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605290" y="1408472"/>
            <a:ext cx="752150" cy="128710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전체</a:t>
            </a:r>
            <a:endParaRPr kumimoji="1" lang="en-US" altLang="ko-KR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대기</a:t>
            </a:r>
            <a:endParaRPr kumimoji="1" lang="en-US" altLang="ko-KR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endParaRPr lang="en-US" altLang="ko-KR" sz="800" smtClean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반려</a:t>
            </a:r>
            <a:endParaRPr kumimoji="1" lang="en-US" altLang="ko-KR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trike="sngStrike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승인취소</a:t>
            </a:r>
            <a:endParaRPr lang="en-US" altLang="ko-KR" sz="800" strike="sngStrike" smtClean="0">
              <a:solidFill>
                <a:schemeClr val="bg1">
                  <a:lumMod val="8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sng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반려취소</a:t>
            </a:r>
            <a:endParaRPr kumimoji="1" lang="en-US" altLang="ko-KR" sz="800" b="0" i="0" u="none" strike="sngStrike" kern="1200" cap="none" spc="0" normalizeH="0" baseline="0" noProof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4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</a:t>
            </a:r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</a:t>
            </a:r>
            <a:r>
              <a:rPr kumimoji="1" lang="en-US" altLang="ko-KR" sz="700" b="1" smtClean="0">
                <a:solidFill>
                  <a:srgbClr val="FF0000"/>
                </a:solidFill>
                <a:latin typeface="+mn-ea"/>
              </a:rPr>
              <a:t>5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25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26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47" name="그룹 146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148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0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51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5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5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5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5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5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5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5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9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6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63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설비 </a:t>
            </a:r>
            <a:r>
              <a:rPr kumimoji="1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예약하기</a:t>
            </a:r>
            <a:endParaRPr kumimoji="1" lang="x-none" altLang="x-none" sz="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89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90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691552" y="3751132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1691552" y="1698987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691552" y="1957190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9315450" y="5800725"/>
            <a:ext cx="914400" cy="914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[12/18 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 내역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]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검색창 수정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500606" y="819150"/>
            <a:ext cx="866095" cy="205990"/>
            <a:chOff x="8129256" y="1219200"/>
            <a:chExt cx="866095" cy="205990"/>
          </a:xfrm>
        </p:grpSpPr>
        <p:sp>
          <p:nvSpPr>
            <p:cNvPr id="176" name="모서리가 둥근 직사각형 175"/>
            <p:cNvSpPr/>
            <p:nvPr/>
          </p:nvSpPr>
          <p:spPr>
            <a:xfrm>
              <a:off x="8129256" y="1219200"/>
              <a:ext cx="866095" cy="205990"/>
            </a:xfrm>
            <a:prstGeom prst="roundRect">
              <a:avLst/>
            </a:prstGeom>
            <a:solidFill>
              <a:sysClr val="window" lastClr="FFFFFF"/>
            </a:solidFill>
            <a:ln w="9525" cap="flat" cmpd="sng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 defTabSz="576818" fontAlgn="auto" latin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8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   달력보기</a:t>
              </a:r>
              <a:endParaRPr kumimoji="0" lang="ko-KR" altLang="en-US" sz="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pic>
          <p:nvPicPr>
            <p:cNvPr id="177" name="그림 176"/>
            <p:cNvPicPr>
              <a:picLocks noChangeAspect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7165" y="1253440"/>
              <a:ext cx="141069" cy="141069"/>
            </a:xfrm>
            <a:prstGeom prst="rect">
              <a:avLst/>
            </a:prstGeom>
          </p:spPr>
        </p:pic>
      </p:grpSp>
      <p:sp>
        <p:nvSpPr>
          <p:cNvPr id="120" name="텍스트 상자 31"/>
          <p:cNvSpPr txBox="1"/>
          <p:nvPr/>
        </p:nvSpPr>
        <p:spPr>
          <a:xfrm>
            <a:off x="653808" y="39659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46" name="Freeform 24"/>
          <p:cNvSpPr>
            <a:spLocks noChangeArrowheads="1"/>
          </p:cNvSpPr>
          <p:nvPr/>
        </p:nvSpPr>
        <p:spPr bwMode="auto">
          <a:xfrm>
            <a:off x="655420" y="40671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7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0"/>
            </p:custDataLst>
          </p:nvPr>
        </p:nvGrpSpPr>
        <p:grpSpPr>
          <a:xfrm>
            <a:off x="800561" y="42331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17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7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7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1"/>
            </p:custDataLst>
          </p:nvPr>
        </p:nvGrpSpPr>
        <p:grpSpPr>
          <a:xfrm>
            <a:off x="800561" y="44309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17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8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658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"/>
          <p:cNvSpPr/>
          <p:nvPr/>
        </p:nvSpPr>
        <p:spPr>
          <a:xfrm>
            <a:off x="401099" y="665149"/>
            <a:ext cx="6828376" cy="43455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cxnSp>
        <p:nvCxnSpPr>
          <p:cNvPr id="70" name="직선 연결선[R] 7"/>
          <p:cNvCxnSpPr/>
          <p:nvPr/>
        </p:nvCxnSpPr>
        <p:spPr>
          <a:xfrm>
            <a:off x="518010" y="4125233"/>
            <a:ext cx="653049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grpSp>
        <p:nvGrpSpPr>
          <p:cNvPr id="17" name="그룹 16"/>
          <p:cNvGrpSpPr/>
          <p:nvPr/>
        </p:nvGrpSpPr>
        <p:grpSpPr>
          <a:xfrm>
            <a:off x="2678310" y="4437044"/>
            <a:ext cx="2209890" cy="277880"/>
            <a:chOff x="2809695" y="4697261"/>
            <a:chExt cx="2209890" cy="277880"/>
          </a:xfrm>
        </p:grpSpPr>
        <p:sp>
          <p:nvSpPr>
            <p:cNvPr id="116" name="모서리가 둥근 직사각형 115"/>
            <p:cNvSpPr/>
            <p:nvPr/>
          </p:nvSpPr>
          <p:spPr>
            <a:xfrm>
              <a:off x="2809695" y="4697261"/>
              <a:ext cx="1054584" cy="27788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승인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8" name="모서리가 둥근 직사각형 117"/>
            <p:cNvSpPr/>
            <p:nvPr/>
          </p:nvSpPr>
          <p:spPr>
            <a:xfrm>
              <a:off x="3965001" y="4697261"/>
              <a:ext cx="1054584" cy="27788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반려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3306324" y="5242961"/>
            <a:ext cx="1054584" cy="746846"/>
            <a:chOff x="2830710" y="5010688"/>
            <a:chExt cx="1054584" cy="746846"/>
          </a:xfrm>
        </p:grpSpPr>
        <p:sp>
          <p:nvSpPr>
            <p:cNvPr id="121" name="모서리가 둥근 직사각형 120"/>
            <p:cNvSpPr/>
            <p:nvPr/>
          </p:nvSpPr>
          <p:spPr>
            <a:xfrm>
              <a:off x="2830710" y="5010688"/>
              <a:ext cx="1054584" cy="27788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승인취소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6" name="모서리가 둥근 직사각형 125"/>
            <p:cNvSpPr/>
            <p:nvPr/>
          </p:nvSpPr>
          <p:spPr>
            <a:xfrm>
              <a:off x="2830710" y="5479654"/>
              <a:ext cx="1054584" cy="277880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반려취소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aphicFrame>
        <p:nvGraphicFramePr>
          <p:cNvPr id="12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557127"/>
              </p:ext>
            </p:extLst>
          </p:nvPr>
        </p:nvGraphicFramePr>
        <p:xfrm>
          <a:off x="9290533" y="786383"/>
          <a:ext cx="2835141" cy="912215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상태가 대기중일때 출력되는 버튼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승인처리 했을 경우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반려처리 했을 경우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8" name="타원 127"/>
          <p:cNvSpPr>
            <a:spLocks noChangeAspect="1"/>
          </p:cNvSpPr>
          <p:nvPr/>
        </p:nvSpPr>
        <p:spPr>
          <a:xfrm>
            <a:off x="2600905" y="437842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9" name="타원 128"/>
          <p:cNvSpPr>
            <a:spLocks noChangeAspect="1"/>
          </p:cNvSpPr>
          <p:nvPr/>
        </p:nvSpPr>
        <p:spPr>
          <a:xfrm>
            <a:off x="3172405" y="514994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0" name="타원 129"/>
          <p:cNvSpPr>
            <a:spLocks noChangeAspect="1"/>
          </p:cNvSpPr>
          <p:nvPr/>
        </p:nvSpPr>
        <p:spPr>
          <a:xfrm>
            <a:off x="3172405" y="566429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590550" y="1143000"/>
            <a:ext cx="6353366" cy="2867025"/>
          </a:xfrm>
          <a:prstGeom prst="rect">
            <a:avLst/>
          </a:prstGeom>
          <a:solidFill>
            <a:schemeClr val="tx1">
              <a:lumMod val="95000"/>
              <a:lumOff val="5000"/>
              <a:alpha val="21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16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예약 정보는 </a:t>
            </a:r>
            <a:r>
              <a:rPr lang="en-US" altLang="ko-KR" sz="16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CA6.1.1.3</a:t>
            </a:r>
            <a:r>
              <a:rPr lang="ko-KR" altLang="en-US" sz="16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와 동일</a:t>
            </a:r>
          </a:p>
        </p:txBody>
      </p:sp>
      <p:sp>
        <p:nvSpPr>
          <p:cNvPr id="28" name="Rectangle 212"/>
          <p:cNvSpPr/>
          <p:nvPr/>
        </p:nvSpPr>
        <p:spPr>
          <a:xfrm>
            <a:off x="438149" y="675237"/>
            <a:ext cx="6772275" cy="3439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29" name="텍스트 상자 31"/>
          <p:cNvSpPr txBox="1"/>
          <p:nvPr/>
        </p:nvSpPr>
        <p:spPr>
          <a:xfrm>
            <a:off x="457837" y="771842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예약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4" name="Close Button" descr="&lt;SmartSettings&gt;&lt;SmartResize anchorLeft=&quot;None&quot; anchorTop=&quot;Absolute&quot; anchorRight=&quot;Absolute&quot; anchorBottom=&quot;None&quot; /&gt;&lt;/SmartSettings&gt;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6820863" y="780446"/>
            <a:ext cx="123053" cy="116625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noFill/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예약 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CA6.7.1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442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"/>
          <p:cNvSpPr/>
          <p:nvPr/>
        </p:nvSpPr>
        <p:spPr>
          <a:xfrm>
            <a:off x="246934" y="664355"/>
            <a:ext cx="7558804" cy="55364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331600" y="1190625"/>
            <a:ext cx="7223501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2425" y="733425"/>
            <a:ext cx="1771650" cy="4286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1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중복 예약 확인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355226"/>
              </p:ext>
            </p:extLst>
          </p:nvPr>
        </p:nvGraphicFramePr>
        <p:xfrm>
          <a:off x="400050" y="1978025"/>
          <a:ext cx="7112653" cy="121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09">
                  <a:extLst>
                    <a:ext uri="{9D8B030D-6E8A-4147-A177-3AD203B41FA5}">
                      <a16:colId xmlns:a16="http://schemas.microsoft.com/office/drawing/2014/main" val="674548045"/>
                    </a:ext>
                  </a:extLst>
                </a:gridCol>
                <a:gridCol w="1682468">
                  <a:extLst>
                    <a:ext uri="{9D8B030D-6E8A-4147-A177-3AD203B41FA5}">
                      <a16:colId xmlns:a16="http://schemas.microsoft.com/office/drawing/2014/main" val="4078932200"/>
                    </a:ext>
                  </a:extLst>
                </a:gridCol>
                <a:gridCol w="1129124">
                  <a:extLst>
                    <a:ext uri="{9D8B030D-6E8A-4147-A177-3AD203B41FA5}">
                      <a16:colId xmlns:a16="http://schemas.microsoft.com/office/drawing/2014/main" val="126150551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013026858"/>
                    </a:ext>
                  </a:extLst>
                </a:gridCol>
                <a:gridCol w="1000124">
                  <a:extLst>
                    <a:ext uri="{9D8B030D-6E8A-4147-A177-3AD203B41FA5}">
                      <a16:colId xmlns:a16="http://schemas.microsoft.com/office/drawing/2014/main" val="1206480592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1580575193"/>
                    </a:ext>
                  </a:extLst>
                </a:gridCol>
                <a:gridCol w="854728">
                  <a:extLst>
                    <a:ext uri="{9D8B030D-6E8A-4147-A177-3AD203B41FA5}">
                      <a16:colId xmlns:a16="http://schemas.microsoft.com/office/drawing/2014/main" val="2544887676"/>
                    </a:ext>
                  </a:extLst>
                </a:gridCol>
              </a:tblGrid>
              <a:tr h="3049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설비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예약자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신청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 기간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반복일정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604812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 </a:t>
                      </a:r>
                      <a:r>
                        <a:rPr kumimoji="0" lang="ko-KR" altLang="en-US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 …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09:00 ~ 2017-10-25 10:00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605710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09:00 ~ 2017-10-25 10:00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329119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09:00 ~ 2017-10-25 10:00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02809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56234" y="1699260"/>
            <a:ext cx="2162175" cy="2762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노트북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 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ㅣ 사용 기간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2017-10-20 09:00 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442037" y="2362200"/>
            <a:ext cx="133350" cy="742950"/>
            <a:chOff x="442037" y="2047875"/>
            <a:chExt cx="133350" cy="742950"/>
          </a:xfrm>
        </p:grpSpPr>
        <p:grpSp>
          <p:nvGrpSpPr>
            <p:cNvPr id="2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  <p:cNvGrpSpPr/>
            <p:nvPr>
              <p:custDataLst>
                <p:tags r:id="rId5"/>
              </p:custDataLst>
            </p:nvPr>
          </p:nvGrpSpPr>
          <p:grpSpPr>
            <a:xfrm>
              <a:off x="442037" y="2047875"/>
              <a:ext cx="133350" cy="133350"/>
              <a:chOff x="593892" y="1624671"/>
              <a:chExt cx="133350" cy="133350"/>
            </a:xfrm>
          </p:grpSpPr>
          <p:sp>
            <p:nvSpPr>
              <p:cNvPr id="22" name="Circle" descr="&lt;Tags&gt;&lt;SMARTRESIZEANCHORS&gt;None,None,Absolute,None&lt;/SMARTRESIZEANCHORS&gt;&lt;/Tags&gt;"/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Check" descr="&lt;Tags&gt;&lt;SMARTRESIZEANCHORS&gt;None,None,Absolute,None&lt;/SMARTRESIZEANCHORS&gt;&lt;/Tags&gt;"/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  <p:cNvGrpSpPr/>
            <p:nvPr>
              <p:custDataLst>
                <p:tags r:id="rId6"/>
              </p:custDataLst>
            </p:nvPr>
          </p:nvGrpSpPr>
          <p:grpSpPr>
            <a:xfrm>
              <a:off x="442037" y="2352675"/>
              <a:ext cx="133350" cy="133350"/>
              <a:chOff x="593892" y="1624671"/>
              <a:chExt cx="133350" cy="133350"/>
            </a:xfrm>
          </p:grpSpPr>
          <p:sp>
            <p:nvSpPr>
              <p:cNvPr id="26" name="Circle" descr="&lt;Tags&gt;&lt;SMARTRESIZEANCHORS&gt;None,None,Absolute,None&lt;/SMARTRESIZEANCHORS&gt;&lt;/Tags&gt;"/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7" name="Check" descr="&lt;Tags&gt;&lt;SMARTRESIZEANCHORS&gt;None,None,Absolute,None&lt;/SMARTRESIZEANCHORS&gt;&lt;/Tags&gt;" hidden="1"/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  <p:cNvGrpSpPr/>
            <p:nvPr>
              <p:custDataLst>
                <p:tags r:id="rId7"/>
              </p:custDataLst>
            </p:nvPr>
          </p:nvGrpSpPr>
          <p:grpSpPr>
            <a:xfrm>
              <a:off x="442037" y="2657475"/>
              <a:ext cx="133350" cy="133350"/>
              <a:chOff x="593892" y="1624671"/>
              <a:chExt cx="133350" cy="133350"/>
            </a:xfrm>
          </p:grpSpPr>
          <p:sp>
            <p:nvSpPr>
              <p:cNvPr id="29" name="Circle" descr="&lt;Tags&gt;&lt;SMARTRESIZEANCHORS&gt;None,None,Absolute,None&lt;/SMARTRESIZEANCHORS&gt;&lt;/Tags&gt;"/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" name="Check" descr="&lt;Tags&gt;&lt;SMARTRESIZEANCHORS&gt;None,None,Absolute,None&lt;/SMARTRESIZEANCHORS&gt;&lt;/Tags&gt;" hidden="1"/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31" name="TextBox 30"/>
          <p:cNvSpPr txBox="1"/>
          <p:nvPr/>
        </p:nvSpPr>
        <p:spPr>
          <a:xfrm>
            <a:off x="2928937" y="5209286"/>
            <a:ext cx="2162175" cy="2762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9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선택한 설비 예약 건을 승인하겠습니까</a:t>
            </a:r>
            <a:r>
              <a:rPr lang="en-US" altLang="ko-KR" sz="9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?</a:t>
            </a:r>
            <a:endParaRPr lang="ko-KR" altLang="en-US" sz="9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2696058" y="5538227"/>
            <a:ext cx="2660555" cy="323932"/>
            <a:chOff x="2881846" y="1188842"/>
            <a:chExt cx="1207117" cy="225847"/>
          </a:xfrm>
        </p:grpSpPr>
        <p:sp>
          <p:nvSpPr>
            <p:cNvPr id="33" name="모서리가 둥근 직사각형 32"/>
            <p:cNvSpPr/>
            <p:nvPr/>
          </p:nvSpPr>
          <p:spPr>
            <a:xfrm>
              <a:off x="2881846" y="1188842"/>
              <a:ext cx="563030" cy="225847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확인</a:t>
              </a:r>
              <a:endPara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3525933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취소</a:t>
              </a:r>
              <a:endPara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cxnSp>
        <p:nvCxnSpPr>
          <p:cNvPr id="35" name="직선 연결선 34"/>
          <p:cNvCxnSpPr/>
          <p:nvPr/>
        </p:nvCxnSpPr>
        <p:spPr>
          <a:xfrm>
            <a:off x="331600" y="5076825"/>
            <a:ext cx="7223501" cy="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lose Button" descr="&lt;SmartSettings&gt;&lt;SmartResize anchorLeft=&quot;None&quot; anchorTop=&quot;Absolute&quot; anchorRight=&quot;Absolute&quot; anchorBottom=&quot;None&quot; /&gt;&lt;/SmartSettings&gt;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7335213" y="904271"/>
            <a:ext cx="123053" cy="116625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noFill/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중복 예약 확인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_modal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161288"/>
              </p:ext>
            </p:extLst>
          </p:nvPr>
        </p:nvGraphicFramePr>
        <p:xfrm>
          <a:off x="9290533" y="786383"/>
          <a:ext cx="2835141" cy="1836785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목록에서 승인 처리시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중복된 설비가 있을 경우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승인처리 여부를 재확인하는 리마인드성 팝업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그룹핑 기준은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as-is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동일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9545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기간 기준 중복된 정보 출력영역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1-1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설비명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1-2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중복된 사용 기간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87944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smtClean="0"/>
                        <a:t>리스트는 정보는 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CA6.7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와 동일</a:t>
                      </a: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335855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해당 리스트 중 승인 처리된 건 이외에는 반려 처리</a:t>
                      </a: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719398"/>
                  </a:ext>
                </a:extLst>
              </a:tr>
            </a:tbl>
          </a:graphicData>
        </a:graphic>
      </p:graphicFrame>
      <p:sp>
        <p:nvSpPr>
          <p:cNvPr id="40" name="모서리가 둥근 직사각형 39"/>
          <p:cNvSpPr/>
          <p:nvPr/>
        </p:nvSpPr>
        <p:spPr>
          <a:xfrm>
            <a:off x="2751364" y="6308724"/>
            <a:ext cx="2495550" cy="285750"/>
          </a:xfrm>
          <a:prstGeom prst="roundRect">
            <a:avLst>
              <a:gd name="adj" fmla="val 50000"/>
            </a:avLst>
          </a:prstGeom>
          <a:solidFill>
            <a:srgbClr val="FFFF00">
              <a:alpha val="85000"/>
            </a:srgb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승인 처리되었습니다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1" lang="ko-KR" altLang="en-US" sz="800" b="0" i="0" u="sng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685411" y="1741084"/>
            <a:ext cx="473168" cy="17963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44" name="타원 43"/>
          <p:cNvSpPr>
            <a:spLocks noChangeAspect="1"/>
          </p:cNvSpPr>
          <p:nvPr/>
        </p:nvSpPr>
        <p:spPr>
          <a:xfrm>
            <a:off x="226714" y="1737631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타원 45"/>
          <p:cNvSpPr>
            <a:spLocks noChangeAspect="1"/>
          </p:cNvSpPr>
          <p:nvPr/>
        </p:nvSpPr>
        <p:spPr>
          <a:xfrm>
            <a:off x="20903" y="2947125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CA6.7.2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 rot="5400000">
            <a:off x="7067550" y="3238500"/>
            <a:ext cx="914400" cy="152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rgbClr val="FF0066"/>
                </a:solidFill>
                <a:latin typeface="+mn-ea"/>
                <a:ea typeface="+mn-ea"/>
              </a:rPr>
              <a:t>Scroll area</a:t>
            </a:r>
            <a:endParaRPr lang="ko-KR" altLang="en-US" sz="800" smtClean="0">
              <a:solidFill>
                <a:srgbClr val="FF0066"/>
              </a:solidFill>
              <a:latin typeface="+mn-ea"/>
              <a:ea typeface="+mn-ea"/>
            </a:endParaRPr>
          </a:p>
        </p:txBody>
      </p:sp>
      <p:sp>
        <p:nvSpPr>
          <p:cNvPr id="53" name="타원 52"/>
          <p:cNvSpPr>
            <a:spLocks noChangeAspect="1"/>
          </p:cNvSpPr>
          <p:nvPr/>
        </p:nvSpPr>
        <p:spPr>
          <a:xfrm>
            <a:off x="1063009" y="1615711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1-1</a:t>
            </a:r>
            <a:endParaRPr kumimoji="1" lang="ko-KR" altLang="en-US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713549"/>
              </p:ext>
            </p:extLst>
          </p:nvPr>
        </p:nvGraphicFramePr>
        <p:xfrm>
          <a:off x="400050" y="3694200"/>
          <a:ext cx="7112653" cy="914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09">
                  <a:extLst>
                    <a:ext uri="{9D8B030D-6E8A-4147-A177-3AD203B41FA5}">
                      <a16:colId xmlns:a16="http://schemas.microsoft.com/office/drawing/2014/main" val="674548045"/>
                    </a:ext>
                  </a:extLst>
                </a:gridCol>
                <a:gridCol w="1682468">
                  <a:extLst>
                    <a:ext uri="{9D8B030D-6E8A-4147-A177-3AD203B41FA5}">
                      <a16:colId xmlns:a16="http://schemas.microsoft.com/office/drawing/2014/main" val="4078932200"/>
                    </a:ext>
                  </a:extLst>
                </a:gridCol>
                <a:gridCol w="1129124">
                  <a:extLst>
                    <a:ext uri="{9D8B030D-6E8A-4147-A177-3AD203B41FA5}">
                      <a16:colId xmlns:a16="http://schemas.microsoft.com/office/drawing/2014/main" val="126150551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4013026858"/>
                    </a:ext>
                  </a:extLst>
                </a:gridCol>
                <a:gridCol w="1000124">
                  <a:extLst>
                    <a:ext uri="{9D8B030D-6E8A-4147-A177-3AD203B41FA5}">
                      <a16:colId xmlns:a16="http://schemas.microsoft.com/office/drawing/2014/main" val="1206480592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1580575193"/>
                    </a:ext>
                  </a:extLst>
                </a:gridCol>
                <a:gridCol w="845203">
                  <a:extLst>
                    <a:ext uri="{9D8B030D-6E8A-4147-A177-3AD203B41FA5}">
                      <a16:colId xmlns:a16="http://schemas.microsoft.com/office/drawing/2014/main" val="2544887676"/>
                    </a:ext>
                  </a:extLst>
                </a:gridCol>
              </a:tblGrid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 </a:t>
                      </a:r>
                      <a:r>
                        <a:rPr kumimoji="0" lang="ko-KR" altLang="en-US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 …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09:00 ~ 2017-10-25 10:00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605710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09:00 ~ 2017-10-25 10:00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329119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6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09:00 ~ 2017-10-25 10:00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6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028093"/>
                  </a:ext>
                </a:extLst>
              </a:tr>
            </a:tbl>
          </a:graphicData>
        </a:graphic>
      </p:graphicFrame>
      <p:grpSp>
        <p:nvGrpSpPr>
          <p:cNvPr id="3" name="그룹 2"/>
          <p:cNvGrpSpPr/>
          <p:nvPr/>
        </p:nvGrpSpPr>
        <p:grpSpPr>
          <a:xfrm>
            <a:off x="442037" y="3790950"/>
            <a:ext cx="133350" cy="742950"/>
            <a:chOff x="918287" y="3495675"/>
            <a:chExt cx="133350" cy="742950"/>
          </a:xfrm>
        </p:grpSpPr>
        <p:grpSp>
          <p:nvGrpSpPr>
            <p:cNvPr id="4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  <p:cNvGrpSpPr/>
            <p:nvPr>
              <p:custDataLst>
                <p:tags r:id="rId2"/>
              </p:custDataLst>
            </p:nvPr>
          </p:nvGrpSpPr>
          <p:grpSpPr>
            <a:xfrm>
              <a:off x="918287" y="3495675"/>
              <a:ext cx="133350" cy="133350"/>
              <a:chOff x="593892" y="1624671"/>
              <a:chExt cx="133350" cy="133350"/>
            </a:xfrm>
          </p:grpSpPr>
          <p:sp>
            <p:nvSpPr>
              <p:cNvPr id="50" name="Circle" descr="&lt;Tags&gt;&lt;SMARTRESIZEANCHORS&gt;None,None,Absolute,None&lt;/SMARTRESIZEANCHORS&gt;&lt;/Tags&gt;"/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4" name="Check" descr="&lt;Tags&gt;&lt;SMARTRESIZEANCHORS&gt;None,None,Absolute,None&lt;/SMARTRESIZEANCHORS&gt;&lt;/Tags&gt;"/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5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  <p:cNvGrpSpPr/>
            <p:nvPr>
              <p:custDataLst>
                <p:tags r:id="rId3"/>
              </p:custDataLst>
            </p:nvPr>
          </p:nvGrpSpPr>
          <p:grpSpPr>
            <a:xfrm>
              <a:off x="918287" y="3800475"/>
              <a:ext cx="133350" cy="133350"/>
              <a:chOff x="593892" y="1624671"/>
              <a:chExt cx="133350" cy="133350"/>
            </a:xfrm>
          </p:grpSpPr>
          <p:sp>
            <p:nvSpPr>
              <p:cNvPr id="56" name="Circle" descr="&lt;Tags&gt;&lt;SMARTRESIZEANCHORS&gt;None,None,Absolute,None&lt;/SMARTRESIZEANCHORS&gt;&lt;/Tags&gt;"/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7" name="Check" descr="&lt;Tags&gt;&lt;SMARTRESIZEANCHORS&gt;None,None,Absolute,None&lt;/SMARTRESIZEANCHORS&gt;&lt;/Tags&gt;" hidden="1"/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  <p:cNvGrpSpPr/>
            <p:nvPr>
              <p:custDataLst>
                <p:tags r:id="rId4"/>
              </p:custDataLst>
            </p:nvPr>
          </p:nvGrpSpPr>
          <p:grpSpPr>
            <a:xfrm>
              <a:off x="918287" y="4105275"/>
              <a:ext cx="133350" cy="133350"/>
              <a:chOff x="593892" y="1624671"/>
              <a:chExt cx="133350" cy="133350"/>
            </a:xfrm>
          </p:grpSpPr>
          <p:sp>
            <p:nvSpPr>
              <p:cNvPr id="59" name="Circle" descr="&lt;Tags&gt;&lt;SMARTRESIZEANCHORS&gt;None,None,Absolute,None&lt;/SMARTRESIZEANCHORS&gt;&lt;/Tags&gt;"/>
              <p:cNvSpPr/>
              <p:nvPr/>
            </p:nvSpPr>
            <p:spPr>
              <a:xfrm>
                <a:off x="593892" y="1624671"/>
                <a:ext cx="133350" cy="133350"/>
              </a:xfrm>
              <a:prstGeom prst="ellipse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Check" descr="&lt;Tags&gt;&lt;SMARTRESIZEANCHORS&gt;None,None,Absolute,None&lt;/SMARTRESIZEANCHORS&gt;&lt;/Tags&gt;" hidden="1"/>
              <p:cNvSpPr/>
              <p:nvPr/>
            </p:nvSpPr>
            <p:spPr>
              <a:xfrm>
                <a:off x="631198" y="1661977"/>
                <a:ext cx="58738" cy="58738"/>
              </a:xfrm>
              <a:prstGeom prst="ellipse">
                <a:avLst/>
              </a:prstGeom>
              <a:solidFill>
                <a:srgbClr val="808080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 smtClean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51" name="직선 화살표 연결선 50"/>
          <p:cNvCxnSpPr/>
          <p:nvPr/>
        </p:nvCxnSpPr>
        <p:spPr>
          <a:xfrm>
            <a:off x="7448741" y="1255893"/>
            <a:ext cx="0" cy="3517539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56234" y="3413760"/>
            <a:ext cx="2162175" cy="2762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노트북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 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ㅣ 사용 기간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2017-10-20 09:00 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6685" y="1314450"/>
            <a:ext cx="2767990" cy="2286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동일 시간대에 예약 신청된 설비가 있습니다</a:t>
            </a:r>
            <a:r>
              <a:rPr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9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1837935" y="1741084"/>
            <a:ext cx="943139" cy="179630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64" name="타원 63"/>
          <p:cNvSpPr>
            <a:spLocks noChangeAspect="1"/>
          </p:cNvSpPr>
          <p:nvPr/>
        </p:nvSpPr>
        <p:spPr>
          <a:xfrm>
            <a:off x="2710834" y="1615711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1-2</a:t>
            </a:r>
            <a:endParaRPr kumimoji="1" lang="ko-KR" altLang="en-US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왼쪽 중괄호 5"/>
          <p:cNvSpPr/>
          <p:nvPr/>
        </p:nvSpPr>
        <p:spPr>
          <a:xfrm>
            <a:off x="258080" y="1971073"/>
            <a:ext cx="114614" cy="1298575"/>
          </a:xfrm>
          <a:prstGeom prst="leftBrace">
            <a:avLst>
              <a:gd name="adj1" fmla="val 29752"/>
              <a:gd name="adj2" fmla="val 82371"/>
            </a:avLst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081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ounded Rectangle 939"/>
          <p:cNvSpPr/>
          <p:nvPr/>
        </p:nvSpPr>
        <p:spPr>
          <a:xfrm>
            <a:off x="8534400" y="3581418"/>
            <a:ext cx="2319799" cy="17240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93" name="그룹 92"/>
          <p:cNvGrpSpPr/>
          <p:nvPr/>
        </p:nvGrpSpPr>
        <p:grpSpPr>
          <a:xfrm>
            <a:off x="1967513" y="1121387"/>
            <a:ext cx="7126331" cy="366793"/>
            <a:chOff x="1867652" y="1121387"/>
            <a:chExt cx="7156450" cy="366793"/>
          </a:xfrm>
        </p:grpSpPr>
        <p:cxnSp>
          <p:nvCxnSpPr>
            <p:cNvPr id="94" name="직선 연결선 93"/>
            <p:cNvCxnSpPr/>
            <p:nvPr/>
          </p:nvCxnSpPr>
          <p:spPr>
            <a:xfrm>
              <a:off x="1867652" y="1488180"/>
              <a:ext cx="715645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>
              <a:off x="1867652" y="1121387"/>
              <a:ext cx="715645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/>
          <p:cNvGrpSpPr/>
          <p:nvPr/>
        </p:nvGrpSpPr>
        <p:grpSpPr>
          <a:xfrm>
            <a:off x="8664920" y="813534"/>
            <a:ext cx="354278" cy="203200"/>
            <a:chOff x="7121870" y="765909"/>
            <a:chExt cx="354278" cy="203200"/>
          </a:xfrm>
        </p:grpSpPr>
        <p:sp>
          <p:nvSpPr>
            <p:cNvPr id="3" name="직사각형 2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600" smtClean="0">
                  <a:solidFill>
                    <a:schemeClr val="bg1"/>
                  </a:solidFill>
                  <a:latin typeface="+mn-ea"/>
                  <a:ea typeface="+mn-ea"/>
                </a:rPr>
                <a:t>▼</a:t>
              </a:r>
              <a:endParaRPr lang="ko-KR" altLang="en-US" sz="600" dirty="0" smtClean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4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/>
            </a:p>
          </p:txBody>
        </p:sp>
      </p:grpSp>
      <p:sp>
        <p:nvSpPr>
          <p:cNvPr id="5" name="텍스트 상자 31"/>
          <p:cNvSpPr txBox="1"/>
          <p:nvPr/>
        </p:nvSpPr>
        <p:spPr>
          <a:xfrm>
            <a:off x="2059864" y="820710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승인 대기중인 설비 </a:t>
            </a:r>
            <a:r>
              <a:rPr kumimoji="1" lang="ko-KR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en-US" altLang="ko-KR" sz="1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endParaRPr kumimoji="1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Group 446"/>
          <p:cNvGrpSpPr/>
          <p:nvPr/>
        </p:nvGrpSpPr>
        <p:grpSpPr>
          <a:xfrm>
            <a:off x="8438886" y="830650"/>
            <a:ext cx="157246" cy="170099"/>
            <a:chOff x="7681409" y="2293429"/>
            <a:chExt cx="157246" cy="170099"/>
          </a:xfrm>
        </p:grpSpPr>
        <p:sp>
          <p:nvSpPr>
            <p:cNvPr id="7" name="Rounded Rectangle 991"/>
            <p:cNvSpPr/>
            <p:nvPr/>
          </p:nvSpPr>
          <p:spPr>
            <a:xfrm>
              <a:off x="7681409" y="2293429"/>
              <a:ext cx="157246" cy="170099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8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7500606" y="819150"/>
            <a:ext cx="866095" cy="205990"/>
            <a:chOff x="8129256" y="1219200"/>
            <a:chExt cx="866095" cy="205990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8129256" y="1219200"/>
              <a:ext cx="866095" cy="205990"/>
            </a:xfrm>
            <a:prstGeom prst="roundRect">
              <a:avLst/>
            </a:prstGeom>
            <a:solidFill>
              <a:sysClr val="window" lastClr="FFFFFF"/>
            </a:solidFill>
            <a:ln w="9525" cap="flat" cmpd="sng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 defTabSz="576818" fontAlgn="auto" latin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8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   달력보기</a:t>
              </a:r>
              <a:endParaRPr kumimoji="0" lang="ko-KR" altLang="en-US" sz="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7165" y="1253440"/>
              <a:ext cx="141069" cy="141069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427227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17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설정</a:t>
              </a:r>
              <a:endParaRPr kumimoji="1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cxnSp>
        <p:nvCxnSpPr>
          <p:cNvPr id="19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</a:t>
            </a:r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</a:t>
            </a:r>
            <a:r>
              <a:rPr kumimoji="1" lang="en-US" altLang="ko-KR" sz="700" b="1" smtClean="0">
                <a:solidFill>
                  <a:srgbClr val="FF0000"/>
                </a:solidFill>
                <a:latin typeface="+mn-ea"/>
              </a:rPr>
              <a:t>5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2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25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28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2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8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설비 </a:t>
            </a:r>
            <a:r>
              <a:rPr kumimoji="1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예약하기</a:t>
            </a:r>
            <a:endParaRPr kumimoji="1" lang="x-none" altLang="x-none" sz="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39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0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91552" y="3751132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691552" y="1698987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691552" y="1957190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5995812" y="1045919"/>
            <a:ext cx="2981716" cy="215793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076950" y="2894545"/>
            <a:ext cx="622534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sng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항목 초기화</a:t>
            </a:r>
            <a:endParaRPr kumimoji="1" lang="ko-KR" altLang="en-US" sz="800" b="0" i="0" u="sng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8382080" y="2870480"/>
            <a:ext cx="556726" cy="21907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6" name="그룹 95"/>
          <p:cNvGrpSpPr/>
          <p:nvPr/>
        </p:nvGrpSpPr>
        <p:grpSpPr>
          <a:xfrm>
            <a:off x="2235302" y="1193460"/>
            <a:ext cx="974336" cy="225847"/>
            <a:chOff x="2881846" y="1188842"/>
            <a:chExt cx="1125005" cy="225847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881846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승인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443821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승인취소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3343665" y="1193460"/>
            <a:ext cx="974336" cy="225847"/>
            <a:chOff x="2881846" y="1188842"/>
            <a:chExt cx="1125005" cy="225847"/>
          </a:xfrm>
        </p:grpSpPr>
        <p:sp>
          <p:nvSpPr>
            <p:cNvPr id="100" name="모서리가 둥근 직사각형 99"/>
            <p:cNvSpPr/>
            <p:nvPr/>
          </p:nvSpPr>
          <p:spPr>
            <a:xfrm>
              <a:off x="2881846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반려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3443821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반려취소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2035415" y="1245153"/>
            <a:ext cx="107839" cy="109736"/>
            <a:chOff x="554563" y="2632644"/>
            <a:chExt cx="131556" cy="131556"/>
          </a:xfrm>
        </p:grpSpPr>
        <p:sp>
          <p:nvSpPr>
            <p:cNvPr id="10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대기중인 설비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CA6.7.3</a:t>
            </a:r>
            <a:endParaRPr kumimoji="1" lang="ko-KR" altLang="en-US" sz="800" b="1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1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528805"/>
              </p:ext>
            </p:extLst>
          </p:nvPr>
        </p:nvGraphicFramePr>
        <p:xfrm>
          <a:off x="9290533" y="786383"/>
          <a:ext cx="2835141" cy="2149688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승인 대기중인 설비의 검색은 해당 화면에 맞는  검색 조건이 출력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시간 기본 설정은 오늘날짜의 시간 기준으로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분 단위로 세팅하여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76783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설비 종류를 선택할 수 있는 항목으로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select box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클릭시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3-1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08761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3-1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설비 선택 레이어창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기본은 모든 미선택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전체 설비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’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체크시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레이어내 모든 설비 체크박스 체크 처리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그룹 설비는 그룹으로 묶여진 설비를 </a:t>
                      </a:r>
                      <a:r>
                        <a:rPr kumimoji="1" lang="en-US" altLang="ko-KR" sz="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ko-KR" altLang="en-US" sz="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개의 조건으로 묶어서 출력</a:t>
                      </a:r>
                      <a:endParaRPr kumimoji="1" lang="en-US" altLang="ko-KR" sz="800" b="0" i="0" u="sng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405640"/>
                  </a:ext>
                </a:extLst>
              </a:tr>
            </a:tbl>
          </a:graphicData>
        </a:graphic>
      </p:graphicFrame>
      <p:sp>
        <p:nvSpPr>
          <p:cNvPr id="117" name="타원 116"/>
          <p:cNvSpPr/>
          <p:nvPr/>
        </p:nvSpPr>
        <p:spPr>
          <a:xfrm>
            <a:off x="5911558" y="946263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1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73" name="표 1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857056"/>
              </p:ext>
            </p:extLst>
          </p:nvPr>
        </p:nvGraphicFramePr>
        <p:xfrm>
          <a:off x="6055817" y="3588468"/>
          <a:ext cx="2306592" cy="113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012">
                  <a:extLst>
                    <a:ext uri="{9D8B030D-6E8A-4147-A177-3AD203B41FA5}">
                      <a16:colId xmlns:a16="http://schemas.microsoft.com/office/drawing/2014/main" val="3906341031"/>
                    </a:ext>
                  </a:extLst>
                </a:gridCol>
                <a:gridCol w="1301580">
                  <a:extLst>
                    <a:ext uri="{9D8B030D-6E8A-4147-A177-3AD203B41FA5}">
                      <a16:colId xmlns:a16="http://schemas.microsoft.com/office/drawing/2014/main" val="3527403590"/>
                    </a:ext>
                  </a:extLst>
                </a:gridCol>
              </a:tblGrid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회의실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 Cebu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692381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빔 프로젝터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 Palau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180977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노트북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 Jeju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785985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그룹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80052"/>
                  </a:ext>
                </a:extLst>
              </a:tr>
            </a:tbl>
          </a:graphicData>
        </a:graphic>
      </p:graphicFrame>
      <p:sp>
        <p:nvSpPr>
          <p:cNvPr id="174" name="Rounded Rectangle 448"/>
          <p:cNvSpPr/>
          <p:nvPr/>
        </p:nvSpPr>
        <p:spPr>
          <a:xfrm>
            <a:off x="6965926" y="5072372"/>
            <a:ext cx="432000" cy="180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>
              <a:lnSpc>
                <a:spcPct val="12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확인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5" name="직사각형 174"/>
          <p:cNvSpPr/>
          <p:nvPr/>
        </p:nvSpPr>
        <p:spPr>
          <a:xfrm>
            <a:off x="7289493" y="3699200"/>
            <a:ext cx="84884" cy="92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6" name="직사각형 175"/>
          <p:cNvSpPr/>
          <p:nvPr/>
        </p:nvSpPr>
        <p:spPr>
          <a:xfrm>
            <a:off x="7289493" y="3988430"/>
            <a:ext cx="84884" cy="928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77" name="직사각형 176"/>
          <p:cNvSpPr/>
          <p:nvPr/>
        </p:nvSpPr>
        <p:spPr>
          <a:xfrm>
            <a:off x="7289493" y="4266994"/>
            <a:ext cx="84884" cy="928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7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7107313" y="4244978"/>
            <a:ext cx="131556" cy="131556"/>
            <a:chOff x="554563" y="2625500"/>
            <a:chExt cx="131556" cy="131556"/>
          </a:xfrm>
        </p:grpSpPr>
        <p:sp>
          <p:nvSpPr>
            <p:cNvPr id="17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4"/>
              </p:custDataLst>
            </p:nvPr>
          </p:nvSpPr>
          <p:spPr>
            <a:xfrm>
              <a:off x="554563" y="2625500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0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7107313" y="3965279"/>
            <a:ext cx="131556" cy="131556"/>
            <a:chOff x="554563" y="2625500"/>
            <a:chExt cx="131556" cy="131556"/>
          </a:xfrm>
        </p:grpSpPr>
        <p:sp>
          <p:nvSpPr>
            <p:cNvPr id="18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3"/>
              </p:custDataLst>
            </p:nvPr>
          </p:nvSpPr>
          <p:spPr>
            <a:xfrm>
              <a:off x="554563" y="2625500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3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7107313" y="3680762"/>
            <a:ext cx="131556" cy="131556"/>
            <a:chOff x="554563" y="2625500"/>
            <a:chExt cx="131556" cy="131556"/>
          </a:xfrm>
        </p:grpSpPr>
        <p:sp>
          <p:nvSpPr>
            <p:cNvPr id="18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2"/>
              </p:custDataLst>
            </p:nvPr>
          </p:nvSpPr>
          <p:spPr>
            <a:xfrm>
              <a:off x="554563" y="2625500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6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7" name="Rounded Rectangle 939"/>
          <p:cNvSpPr/>
          <p:nvPr/>
        </p:nvSpPr>
        <p:spPr>
          <a:xfrm>
            <a:off x="6051485" y="3581418"/>
            <a:ext cx="2310924" cy="1724008"/>
          </a:xfrm>
          <a:prstGeom prst="roundRect">
            <a:avLst>
              <a:gd name="adj" fmla="val 0"/>
            </a:avLst>
          </a:prstGeom>
          <a:noFill/>
          <a:ln w="63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8" name="모서리가 둥근 직사각형 187"/>
          <p:cNvSpPr/>
          <p:nvPr/>
        </p:nvSpPr>
        <p:spPr>
          <a:xfrm>
            <a:off x="8267159" y="3650183"/>
            <a:ext cx="49740" cy="541260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134" name="표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173140"/>
              </p:ext>
            </p:extLst>
          </p:nvPr>
        </p:nvGraphicFramePr>
        <p:xfrm>
          <a:off x="6070600" y="1195914"/>
          <a:ext cx="2892426" cy="157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625">
                  <a:extLst>
                    <a:ext uri="{9D8B030D-6E8A-4147-A177-3AD203B41FA5}">
                      <a16:colId xmlns:a16="http://schemas.microsoft.com/office/drawing/2014/main" val="2958596753"/>
                    </a:ext>
                  </a:extLst>
                </a:gridCol>
                <a:gridCol w="2209801">
                  <a:extLst>
                    <a:ext uri="{9D8B030D-6E8A-4147-A177-3AD203B41FA5}">
                      <a16:colId xmlns:a16="http://schemas.microsoft.com/office/drawing/2014/main" val="87343257"/>
                    </a:ext>
                  </a:extLst>
                </a:gridCol>
              </a:tblGrid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날짜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~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646125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89544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제목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384676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설비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98105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예약자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36314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상태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  전체      승인      반려     대기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096487"/>
                  </a:ext>
                </a:extLst>
              </a:tr>
            </a:tbl>
          </a:graphicData>
        </a:graphic>
      </p:graphicFrame>
      <p:grpSp>
        <p:nvGrpSpPr>
          <p:cNvPr id="10" name="그룹 9"/>
          <p:cNvGrpSpPr/>
          <p:nvPr/>
        </p:nvGrpSpPr>
        <p:grpSpPr>
          <a:xfrm>
            <a:off x="6785439" y="1222534"/>
            <a:ext cx="930552" cy="209550"/>
            <a:chOff x="3108789" y="3079909"/>
            <a:chExt cx="930552" cy="209550"/>
          </a:xfrm>
        </p:grpSpPr>
        <p:sp>
          <p:nvSpPr>
            <p:cNvPr id="135" name="직사각형 134"/>
            <p:cNvSpPr/>
            <p:nvPr/>
          </p:nvSpPr>
          <p:spPr>
            <a:xfrm>
              <a:off x="3108789" y="3079909"/>
              <a:ext cx="930552" cy="20955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2018-01-15</a:t>
              </a: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6" name="그림 135"/>
            <p:cNvPicPr>
              <a:picLocks noChangeAspect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5138" y="3107027"/>
              <a:ext cx="134369" cy="134369"/>
            </a:xfrm>
            <a:prstGeom prst="rect">
              <a:avLst/>
            </a:prstGeom>
          </p:spPr>
        </p:pic>
      </p:grpSp>
      <p:grpSp>
        <p:nvGrpSpPr>
          <p:cNvPr id="138" name="그룹 137"/>
          <p:cNvGrpSpPr/>
          <p:nvPr/>
        </p:nvGrpSpPr>
        <p:grpSpPr>
          <a:xfrm>
            <a:off x="6785439" y="1489234"/>
            <a:ext cx="930552" cy="209550"/>
            <a:chOff x="3108789" y="3079909"/>
            <a:chExt cx="930552" cy="209550"/>
          </a:xfrm>
        </p:grpSpPr>
        <p:sp>
          <p:nvSpPr>
            <p:cNvPr id="139" name="직사각형 138"/>
            <p:cNvSpPr/>
            <p:nvPr/>
          </p:nvSpPr>
          <p:spPr>
            <a:xfrm>
              <a:off x="3108789" y="3079909"/>
              <a:ext cx="930552" cy="20955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2018-01-15</a:t>
              </a: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40" name="그림 139"/>
            <p:cNvPicPr>
              <a:picLocks noChangeAspect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5138" y="3116552"/>
              <a:ext cx="134369" cy="134369"/>
            </a:xfrm>
            <a:prstGeom prst="rect">
              <a:avLst/>
            </a:prstGeom>
          </p:spPr>
        </p:pic>
      </p:grpSp>
      <p:sp>
        <p:nvSpPr>
          <p:cNvPr id="141" name="직사각형 140"/>
          <p:cNvSpPr/>
          <p:nvPr/>
        </p:nvSpPr>
        <p:spPr>
          <a:xfrm>
            <a:off x="7756989" y="1222534"/>
            <a:ext cx="930552" cy="2095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12:00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▼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7756989" y="1489234"/>
            <a:ext cx="930552" cy="2095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12:30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▼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6785440" y="1746641"/>
            <a:ext cx="1902101" cy="20198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6785440" y="2003816"/>
            <a:ext cx="555849" cy="20198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설비선택</a:t>
            </a:r>
            <a:r>
              <a:rPr kumimoji="1" lang="ko-KR" altLang="en-US" sz="800" b="0" i="0" u="none" strike="noStrike" kern="1200" cap="none" spc="0" normalizeH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▼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7" name="Box" descr="&lt;SmartSettings&gt;&lt;SmartResize anchorLeft=&quot;Absolute&quot; anchorTop=&quot;None&quot; anchorRight=&quot;None&quot; anchorBottom=&quot;None&quot; /&gt;&lt;/SmartSettings&gt;"/>
          <p:cNvSpPr/>
          <p:nvPr>
            <p:custDataLst>
              <p:tags r:id="rId8"/>
            </p:custDataLst>
          </p:nvPr>
        </p:nvSpPr>
        <p:spPr>
          <a:xfrm>
            <a:off x="6125641" y="4801831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246556" y="4789167"/>
            <a:ext cx="716219" cy="154308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전체 설비</a:t>
            </a:r>
          </a:p>
        </p:txBody>
      </p:sp>
      <p:cxnSp>
        <p:nvCxnSpPr>
          <p:cNvPr id="152" name="직선 연결선 151"/>
          <p:cNvCxnSpPr/>
          <p:nvPr/>
        </p:nvCxnSpPr>
        <p:spPr>
          <a:xfrm>
            <a:off x="7403241" y="2196931"/>
            <a:ext cx="1432135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/>
          <p:cNvSpPr/>
          <p:nvPr/>
        </p:nvSpPr>
        <p:spPr>
          <a:xfrm>
            <a:off x="6785440" y="2260991"/>
            <a:ext cx="2017568" cy="20198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<p:cNvGrpSpPr/>
          <p:nvPr>
            <p:custDataLst>
              <p:tags r:id="rId9"/>
            </p:custDataLst>
          </p:nvPr>
        </p:nvGrpSpPr>
        <p:grpSpPr>
          <a:xfrm>
            <a:off x="6804737" y="2558310"/>
            <a:ext cx="133350" cy="133350"/>
            <a:chOff x="593892" y="1624671"/>
            <a:chExt cx="133350" cy="133350"/>
          </a:xfrm>
        </p:grpSpPr>
        <p:sp>
          <p:nvSpPr>
            <p:cNvPr id="121" name="Circle" descr="&lt;Tags&gt;&lt;SMARTRESIZEANCHORS&gt;None,None,Absolute,None&lt;/SMARTRESIZEANCHORS&gt;&lt;/Tags&gt;"/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2" name="Check" descr="&lt;Tags&gt;&lt;SMARTRESIZEANCHORS&gt;None,None,Absolute,None&lt;/SMARTRESIZEANCHORS&gt;&lt;/Tags&gt;"/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<p:cNvGrpSpPr/>
          <p:nvPr>
            <p:custDataLst>
              <p:tags r:id="rId10"/>
            </p:custDataLst>
          </p:nvPr>
        </p:nvGrpSpPr>
        <p:grpSpPr>
          <a:xfrm>
            <a:off x="7238447" y="2558310"/>
            <a:ext cx="133350" cy="133350"/>
            <a:chOff x="593892" y="1624671"/>
            <a:chExt cx="133350" cy="133350"/>
          </a:xfrm>
        </p:grpSpPr>
        <p:sp>
          <p:nvSpPr>
            <p:cNvPr id="125" name="Circle" descr="&lt;Tags&gt;&lt;SMARTRESIZEANCHORS&gt;None,None,Absolute,None&lt;/SMARTRESIZEANCHORS&gt;&lt;/Tags&gt;"/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6" name="Check" descr="&lt;Tags&gt;&lt;SMARTRESIZEANCHORS&gt;None,None,Absolute,None&lt;/SMARTRESIZEANCHORS&gt;&lt;/Tags&gt;" hidden="1"/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<p:cNvGrpSpPr/>
          <p:nvPr>
            <p:custDataLst>
              <p:tags r:id="rId11"/>
            </p:custDataLst>
          </p:nvPr>
        </p:nvGrpSpPr>
        <p:grpSpPr>
          <a:xfrm>
            <a:off x="7628748" y="2558310"/>
            <a:ext cx="133350" cy="133350"/>
            <a:chOff x="593892" y="1624671"/>
            <a:chExt cx="133350" cy="133350"/>
          </a:xfrm>
        </p:grpSpPr>
        <p:sp>
          <p:nvSpPr>
            <p:cNvPr id="128" name="Circle" descr="&lt;Tags&gt;&lt;SMARTRESIZEANCHORS&gt;None,None,Absolute,None&lt;/SMARTRESIZEANCHORS&gt;&lt;/Tags&gt;"/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9" name="Check" descr="&lt;Tags&gt;&lt;SMARTRESIZEANCHORS&gt;None,None,Absolute,None&lt;/SMARTRESIZEANCHORS&gt;&lt;/Tags&gt;" hidden="1"/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/>
          <p:cNvGrpSpPr/>
          <p:nvPr>
            <p:custDataLst>
              <p:tags r:id="rId12"/>
            </p:custDataLst>
          </p:nvPr>
        </p:nvGrpSpPr>
        <p:grpSpPr>
          <a:xfrm>
            <a:off x="8028798" y="2558310"/>
            <a:ext cx="133350" cy="133350"/>
            <a:chOff x="593892" y="1624671"/>
            <a:chExt cx="133350" cy="133350"/>
          </a:xfrm>
        </p:grpSpPr>
        <p:sp>
          <p:nvSpPr>
            <p:cNvPr id="131" name="Circle" descr="&lt;Tags&gt;&lt;SMARTRESIZEANCHORS&gt;None,None,Absolute,None&lt;/SMARTRESIZEANCHORS&gt;&lt;/Tags&gt;"/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2" name="Check" descr="&lt;Tags&gt;&lt;SMARTRESIZEANCHORS&gt;None,None,Absolute,None&lt;/SMARTRESIZEANCHORS&gt;&lt;/Tags&gt;" hidden="1"/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68" name="꺾인 연결선 67"/>
          <p:cNvCxnSpPr>
            <a:stCxn id="144" idx="1"/>
          </p:cNvCxnSpPr>
          <p:nvPr/>
        </p:nvCxnSpPr>
        <p:spPr>
          <a:xfrm rot="10800000" flipV="1">
            <a:off x="6686550" y="2104811"/>
            <a:ext cx="98890" cy="1428964"/>
          </a:xfrm>
          <a:prstGeom prst="bentConnector2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6" name="표 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118544"/>
              </p:ext>
            </p:extLst>
          </p:nvPr>
        </p:nvGraphicFramePr>
        <p:xfrm>
          <a:off x="8547608" y="3588468"/>
          <a:ext cx="2306592" cy="113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012">
                  <a:extLst>
                    <a:ext uri="{9D8B030D-6E8A-4147-A177-3AD203B41FA5}">
                      <a16:colId xmlns:a16="http://schemas.microsoft.com/office/drawing/2014/main" val="3906341031"/>
                    </a:ext>
                  </a:extLst>
                </a:gridCol>
                <a:gridCol w="1301580">
                  <a:extLst>
                    <a:ext uri="{9D8B030D-6E8A-4147-A177-3AD203B41FA5}">
                      <a16:colId xmlns:a16="http://schemas.microsoft.com/office/drawing/2014/main" val="3527403590"/>
                    </a:ext>
                  </a:extLst>
                </a:gridCol>
              </a:tblGrid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회의실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r>
                        <a:rPr lang="ko-KR" altLang="en-US" sz="800" b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■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Cebu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692381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빔 프로젝터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180975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rgbClr val="7030A0"/>
                          </a:solidFill>
                        </a:rPr>
                        <a:t>■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노트북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180977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노트북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785985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그룹</a:t>
                      </a:r>
                      <a:r>
                        <a:rPr lang="en-US" altLang="ko-KR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80052"/>
                  </a:ext>
                </a:extLst>
              </a:tr>
            </a:tbl>
          </a:graphicData>
        </a:graphic>
      </p:graphicFrame>
      <p:sp>
        <p:nvSpPr>
          <p:cNvPr id="157" name="Rounded Rectangle 448"/>
          <p:cNvSpPr/>
          <p:nvPr/>
        </p:nvSpPr>
        <p:spPr>
          <a:xfrm>
            <a:off x="9457717" y="5072372"/>
            <a:ext cx="432000" cy="180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>
              <a:lnSpc>
                <a:spcPct val="12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확인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0" name="모서리가 둥근 직사각형 189"/>
          <p:cNvSpPr/>
          <p:nvPr/>
        </p:nvSpPr>
        <p:spPr>
          <a:xfrm>
            <a:off x="10758950" y="3650183"/>
            <a:ext cx="49740" cy="541260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1" name="Box" descr="&lt;SmartSettings&gt;&lt;SmartResize anchorLeft=&quot;Absolute&quot; anchorTop=&quot;None&quot; anchorRight=&quot;None&quot; anchorBottom=&quot;None&quot; /&gt;&lt;/SmartSettings&gt;"/>
          <p:cNvSpPr/>
          <p:nvPr>
            <p:custDataLst>
              <p:tags r:id="rId13"/>
            </p:custDataLst>
          </p:nvPr>
        </p:nvSpPr>
        <p:spPr>
          <a:xfrm>
            <a:off x="8617432" y="4801831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8738347" y="4789167"/>
            <a:ext cx="716219" cy="154308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전체 설비</a:t>
            </a:r>
          </a:p>
        </p:txBody>
      </p:sp>
      <p:sp>
        <p:nvSpPr>
          <p:cNvPr id="80" name="타원 79"/>
          <p:cNvSpPr/>
          <p:nvPr/>
        </p:nvSpPr>
        <p:spPr>
          <a:xfrm>
            <a:off x="6647313" y="1156813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2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193" name="타원 192"/>
          <p:cNvSpPr/>
          <p:nvPr/>
        </p:nvSpPr>
        <p:spPr>
          <a:xfrm>
            <a:off x="6666363" y="1937863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3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172" name="타원 171"/>
          <p:cNvSpPr/>
          <p:nvPr/>
        </p:nvSpPr>
        <p:spPr>
          <a:xfrm>
            <a:off x="5950149" y="3508261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3-1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grpSp>
        <p:nvGrpSpPr>
          <p:cNvPr id="20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4"/>
            </p:custDataLst>
          </p:nvPr>
        </p:nvGrpSpPr>
        <p:grpSpPr>
          <a:xfrm>
            <a:off x="9612388" y="3671237"/>
            <a:ext cx="131556" cy="131556"/>
            <a:chOff x="554563" y="2625500"/>
            <a:chExt cx="131556" cy="131556"/>
          </a:xfrm>
        </p:grpSpPr>
        <p:sp>
          <p:nvSpPr>
            <p:cNvPr id="20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1"/>
              </p:custDataLst>
            </p:nvPr>
          </p:nvSpPr>
          <p:spPr>
            <a:xfrm>
              <a:off x="554563" y="2625500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2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0" name="모서리가 둥근 직사각형 69"/>
          <p:cNvSpPr/>
          <p:nvPr/>
        </p:nvSpPr>
        <p:spPr>
          <a:xfrm>
            <a:off x="9553575" y="3623309"/>
            <a:ext cx="847725" cy="558165"/>
          </a:xfrm>
          <a:prstGeom prst="roundRect">
            <a:avLst>
              <a:gd name="adj" fmla="val 12457"/>
            </a:avLst>
          </a:prstGeom>
          <a:noFill/>
          <a:ln w="19050"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83" name="직선 화살표 연결선 82"/>
          <p:cNvCxnSpPr/>
          <p:nvPr/>
        </p:nvCxnSpPr>
        <p:spPr>
          <a:xfrm>
            <a:off x="10401300" y="2936071"/>
            <a:ext cx="0" cy="597704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961906"/>
              </p:ext>
            </p:extLst>
          </p:nvPr>
        </p:nvGraphicFramePr>
        <p:xfrm>
          <a:off x="9273811" y="6198618"/>
          <a:ext cx="2835141" cy="469229"/>
        </p:xfrm>
        <a:graphic>
          <a:graphicData uri="http://schemas.openxmlformats.org/drawingml/2006/table">
            <a:tbl>
              <a:tblPr/>
              <a:tblGrid>
                <a:gridCol w="2835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2/26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화면 수정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검색입력창 화면 전체 수정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204" name="텍스트 상자 31"/>
          <p:cNvSpPr txBox="1"/>
          <p:nvPr/>
        </p:nvSpPr>
        <p:spPr>
          <a:xfrm>
            <a:off x="653808" y="39659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205" name="Freeform 24"/>
          <p:cNvSpPr>
            <a:spLocks noChangeArrowheads="1"/>
          </p:cNvSpPr>
          <p:nvPr/>
        </p:nvSpPr>
        <p:spPr bwMode="auto">
          <a:xfrm>
            <a:off x="655420" y="40671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20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5"/>
            </p:custDataLst>
          </p:nvPr>
        </p:nvGrpSpPr>
        <p:grpSpPr>
          <a:xfrm>
            <a:off x="800561" y="42331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20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0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0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6"/>
            </p:custDataLst>
          </p:nvPr>
        </p:nvGrpSpPr>
        <p:grpSpPr>
          <a:xfrm>
            <a:off x="800561" y="44309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21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1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54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그룹 92"/>
          <p:cNvGrpSpPr/>
          <p:nvPr/>
        </p:nvGrpSpPr>
        <p:grpSpPr>
          <a:xfrm>
            <a:off x="1967513" y="1121387"/>
            <a:ext cx="7126331" cy="366793"/>
            <a:chOff x="1867652" y="1121387"/>
            <a:chExt cx="7156450" cy="366793"/>
          </a:xfrm>
        </p:grpSpPr>
        <p:cxnSp>
          <p:nvCxnSpPr>
            <p:cNvPr id="94" name="직선 연결선 93"/>
            <p:cNvCxnSpPr/>
            <p:nvPr/>
          </p:nvCxnSpPr>
          <p:spPr>
            <a:xfrm>
              <a:off x="1867652" y="1488180"/>
              <a:ext cx="715645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>
              <a:off x="1867652" y="1121387"/>
              <a:ext cx="715645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/>
          <p:cNvGrpSpPr/>
          <p:nvPr/>
        </p:nvGrpSpPr>
        <p:grpSpPr>
          <a:xfrm>
            <a:off x="8664920" y="813534"/>
            <a:ext cx="354278" cy="203200"/>
            <a:chOff x="7121870" y="765909"/>
            <a:chExt cx="354278" cy="203200"/>
          </a:xfrm>
        </p:grpSpPr>
        <p:sp>
          <p:nvSpPr>
            <p:cNvPr id="3" name="직사각형 2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600" smtClean="0">
                  <a:solidFill>
                    <a:schemeClr val="bg1"/>
                  </a:solidFill>
                  <a:latin typeface="+mn-ea"/>
                  <a:ea typeface="+mn-ea"/>
                </a:rPr>
                <a:t>▼</a:t>
              </a:r>
              <a:endParaRPr lang="ko-KR" altLang="en-US" sz="600" dirty="0" smtClean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4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633"/>
            </a:p>
          </p:txBody>
        </p:sp>
      </p:grpSp>
      <p:sp>
        <p:nvSpPr>
          <p:cNvPr id="5" name="텍스트 상자 31"/>
          <p:cNvSpPr txBox="1"/>
          <p:nvPr/>
        </p:nvSpPr>
        <p:spPr>
          <a:xfrm>
            <a:off x="2059864" y="820710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검색결과 </a:t>
            </a:r>
            <a:r>
              <a:rPr kumimoji="1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r>
              <a:rPr kumimoji="1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  <a:endParaRPr kumimoji="1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Group 446"/>
          <p:cNvGrpSpPr/>
          <p:nvPr/>
        </p:nvGrpSpPr>
        <p:grpSpPr>
          <a:xfrm>
            <a:off x="8438886" y="830650"/>
            <a:ext cx="157246" cy="170099"/>
            <a:chOff x="7681409" y="2293429"/>
            <a:chExt cx="157246" cy="170099"/>
          </a:xfrm>
        </p:grpSpPr>
        <p:sp>
          <p:nvSpPr>
            <p:cNvPr id="7" name="Rounded Rectangle 991"/>
            <p:cNvSpPr/>
            <p:nvPr/>
          </p:nvSpPr>
          <p:spPr>
            <a:xfrm>
              <a:off x="7681409" y="2293429"/>
              <a:ext cx="157246" cy="170099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8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7500606" y="819150"/>
            <a:ext cx="866095" cy="205990"/>
            <a:chOff x="8129256" y="1219200"/>
            <a:chExt cx="866095" cy="205990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8129256" y="1219200"/>
              <a:ext cx="866095" cy="205990"/>
            </a:xfrm>
            <a:prstGeom prst="roundRect">
              <a:avLst/>
            </a:prstGeom>
            <a:solidFill>
              <a:sysClr val="window" lastClr="FFFFFF"/>
            </a:solidFill>
            <a:ln w="9525" cap="flat" cmpd="sng">
              <a:solidFill>
                <a:schemeClr val="tx1">
                  <a:lumMod val="95000"/>
                  <a:lumOff val="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algn="ctr" defTabSz="576818" fontAlgn="auto" latinLnBrk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800" kern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   달력보기</a:t>
              </a:r>
              <a:endParaRPr kumimoji="0" lang="ko-KR" altLang="en-US" sz="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endParaRPr>
            </a:p>
          </p:txBody>
        </p:sp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7165" y="1253440"/>
              <a:ext cx="141069" cy="141069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427227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17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설정</a:t>
              </a:r>
              <a:endParaRPr kumimoji="1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cxnSp>
        <p:nvCxnSpPr>
          <p:cNvPr id="19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</a:t>
            </a:r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</a:t>
            </a:r>
            <a:r>
              <a:rPr kumimoji="1" lang="en-US" altLang="ko-KR" sz="700" b="1" smtClean="0">
                <a:solidFill>
                  <a:srgbClr val="FF0000"/>
                </a:solidFill>
                <a:latin typeface="+mn-ea"/>
              </a:rPr>
              <a:t>5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2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3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25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28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2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3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3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8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설비 </a:t>
            </a:r>
            <a:r>
              <a:rPr kumimoji="1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예약하기</a:t>
            </a:r>
            <a:endParaRPr kumimoji="1" lang="x-none" altLang="x-none" sz="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sp>
        <p:nvSpPr>
          <p:cNvPr id="39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0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91552" y="3751132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691552" y="1698987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691552" y="1957190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96" name="그룹 95"/>
          <p:cNvGrpSpPr/>
          <p:nvPr/>
        </p:nvGrpSpPr>
        <p:grpSpPr>
          <a:xfrm>
            <a:off x="2235302" y="1193460"/>
            <a:ext cx="974336" cy="225847"/>
            <a:chOff x="2881846" y="1188842"/>
            <a:chExt cx="1125005" cy="225847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2881846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승인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8" name="모서리가 둥근 직사각형 97"/>
            <p:cNvSpPr/>
            <p:nvPr/>
          </p:nvSpPr>
          <p:spPr>
            <a:xfrm>
              <a:off x="3443821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승인취소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3343665" y="1193460"/>
            <a:ext cx="974336" cy="225847"/>
            <a:chOff x="2881846" y="1188842"/>
            <a:chExt cx="1125005" cy="225847"/>
          </a:xfrm>
        </p:grpSpPr>
        <p:sp>
          <p:nvSpPr>
            <p:cNvPr id="100" name="모서리가 둥근 직사각형 99"/>
            <p:cNvSpPr/>
            <p:nvPr/>
          </p:nvSpPr>
          <p:spPr>
            <a:xfrm>
              <a:off x="2881846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반려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3443821" y="1188842"/>
              <a:ext cx="563030" cy="225847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반려취소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2035415" y="1245153"/>
            <a:ext cx="107839" cy="109736"/>
            <a:chOff x="554563" y="2632644"/>
            <a:chExt cx="131556" cy="131556"/>
          </a:xfrm>
        </p:grpSpPr>
        <p:sp>
          <p:nvSpPr>
            <p:cNvPr id="10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11" name="TextBox 110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 결과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대기중인 설비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3" name="그룹 112"/>
          <p:cNvGrpSpPr/>
          <p:nvPr/>
        </p:nvGrpSpPr>
        <p:grpSpPr>
          <a:xfrm>
            <a:off x="8601147" y="1196947"/>
            <a:ext cx="457017" cy="209550"/>
            <a:chOff x="6935345" y="1198923"/>
            <a:chExt cx="457017" cy="209550"/>
          </a:xfrm>
        </p:grpSpPr>
        <p:sp>
          <p:nvSpPr>
            <p:cNvPr id="114" name="직사각형 113"/>
            <p:cNvSpPr/>
            <p:nvPr/>
          </p:nvSpPr>
          <p:spPr>
            <a:xfrm>
              <a:off x="6935345" y="1198923"/>
              <a:ext cx="421005" cy="209550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15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개</a:t>
              </a: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 rot="5400000">
              <a:off x="7195363" y="1196328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나눔고딕" panose="020B0600000101010101" charset="-127"/>
                  <a:ea typeface="나눔고딕" panose="020B0600000101010101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+mn-cs"/>
              </a:endParaRPr>
            </a:p>
          </p:txBody>
        </p:sp>
      </p:grpSp>
      <p:sp>
        <p:nvSpPr>
          <p:cNvPr id="116" name="TextBox 115"/>
          <p:cNvSpPr txBox="1"/>
          <p:nvPr/>
        </p:nvSpPr>
        <p:spPr>
          <a:xfrm>
            <a:off x="7248268" y="1223728"/>
            <a:ext cx="449635" cy="18597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필터</a:t>
            </a:r>
          </a:p>
        </p:txBody>
      </p:sp>
      <p:grpSp>
        <p:nvGrpSpPr>
          <p:cNvPr id="117" name="그룹 116"/>
          <p:cNvGrpSpPr/>
          <p:nvPr/>
        </p:nvGrpSpPr>
        <p:grpSpPr>
          <a:xfrm>
            <a:off x="7605290" y="1198923"/>
            <a:ext cx="774308" cy="209550"/>
            <a:chOff x="6521731" y="1208448"/>
            <a:chExt cx="774308" cy="209550"/>
          </a:xfrm>
        </p:grpSpPr>
        <p:sp>
          <p:nvSpPr>
            <p:cNvPr id="118" name="직사각형 117"/>
            <p:cNvSpPr/>
            <p:nvPr/>
          </p:nvSpPr>
          <p:spPr>
            <a:xfrm>
              <a:off x="6521731" y="1208448"/>
              <a:ext cx="752150" cy="209550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 marL="0" marR="0" lvl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모든 상태</a:t>
              </a: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 rot="5400000">
              <a:off x="7099040" y="1205853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</p:grpSp>
      <p:graphicFrame>
        <p:nvGraphicFramePr>
          <p:cNvPr id="120" name="표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533577"/>
              </p:ext>
            </p:extLst>
          </p:nvPr>
        </p:nvGraphicFramePr>
        <p:xfrm>
          <a:off x="1981199" y="1128344"/>
          <a:ext cx="7112653" cy="5261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09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1682468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1129124">
                  <a:extLst>
                    <a:ext uri="{9D8B030D-6E8A-4147-A177-3AD203B41FA5}">
                      <a16:colId xmlns:a16="http://schemas.microsoft.com/office/drawing/2014/main" val="3215057536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82047279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1845788156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944353267"/>
                    </a:ext>
                  </a:extLst>
                </a:gridCol>
                <a:gridCol w="736678">
                  <a:extLst>
                    <a:ext uri="{9D8B030D-6E8A-4147-A177-3AD203B41FA5}">
                      <a16:colId xmlns:a16="http://schemas.microsoft.com/office/drawing/2014/main" val="2496191576"/>
                    </a:ext>
                  </a:extLst>
                </a:gridCol>
                <a:gridCol w="708599">
                  <a:extLst>
                    <a:ext uri="{9D8B030D-6E8A-4147-A177-3AD203B41FA5}">
                      <a16:colId xmlns:a16="http://schemas.microsoft.com/office/drawing/2014/main" val="2376702302"/>
                    </a:ext>
                  </a:extLst>
                </a:gridCol>
              </a:tblGrid>
              <a:tr h="367081">
                <a:tc gridSpan="8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6861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설비</a:t>
                      </a: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예약자</a:t>
                      </a:r>
                      <a:r>
                        <a:rPr kumimoji="0" lang="ko-KR" altLang="en-US" sz="7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예약일</a:t>
                      </a:r>
                      <a:r>
                        <a:rPr kumimoji="0" lang="ko-KR" altLang="en-US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사용기간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반복일정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1, </a:t>
                      </a: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 …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대기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승인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승인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반려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r>
                        <a:rPr lang="en-US" altLang="ko-KR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0" u="sng" smtClean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설비 예약 신청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5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</a:t>
                      </a:r>
                      <a:endParaRPr kumimoji="0" lang="ko-KR" altLang="en-US" sz="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2017-10-20 11:00 ~2017-10-25 12:00</a:t>
                      </a:r>
                      <a:endParaRPr kumimoji="0" lang="ko-KR" altLang="en-US" sz="6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매월 </a:t>
                      </a:r>
                      <a:r>
                        <a:rPr kumimoji="0" lang="en-US" altLang="ko-KR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23</a:t>
                      </a:r>
                      <a:r>
                        <a:rPr kumimoji="0" lang="ko-KR" altLang="en-US" sz="800" b="0" i="0" u="none" strike="noStrike" kern="1200" cap="none" spc="0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반려</a:t>
                      </a: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1867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5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5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575809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7541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81164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29666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82597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460612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31274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36497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276746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5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108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657768"/>
                  </a:ext>
                </a:extLst>
              </a:tr>
            </a:tbl>
          </a:graphicData>
        </a:graphic>
      </p:graphicFrame>
      <p:grpSp>
        <p:nvGrpSpPr>
          <p:cNvPr id="121" name="그룹 120"/>
          <p:cNvGrpSpPr/>
          <p:nvPr/>
        </p:nvGrpSpPr>
        <p:grpSpPr>
          <a:xfrm>
            <a:off x="4295800" y="6457949"/>
            <a:ext cx="2199772" cy="157041"/>
            <a:chOff x="4513478" y="6457949"/>
            <a:chExt cx="2199772" cy="157041"/>
          </a:xfrm>
        </p:grpSpPr>
        <p:sp>
          <p:nvSpPr>
            <p:cNvPr id="122" name="텍스트 상자 31"/>
            <p:cNvSpPr txBox="1"/>
            <p:nvPr/>
          </p:nvSpPr>
          <p:spPr>
            <a:xfrm>
              <a:off x="4513478" y="6476915"/>
              <a:ext cx="169879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&lt;&lt;   &lt;  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en-US" altLang="ko-KR" sz="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  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   &gt;&gt;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sp>
          <p:nvSpPr>
            <p:cNvPr id="123" name="직사각형 122"/>
            <p:cNvSpPr/>
            <p:nvPr/>
          </p:nvSpPr>
          <p:spPr>
            <a:xfrm>
              <a:off x="6150902" y="6457949"/>
              <a:ext cx="321114" cy="157041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124" name="텍스트 상자 31"/>
            <p:cNvSpPr txBox="1"/>
            <p:nvPr/>
          </p:nvSpPr>
          <p:spPr>
            <a:xfrm>
              <a:off x="6460735" y="6471999"/>
              <a:ext cx="252515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 3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5" name="TextBox 124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CA6.7.3.1</a:t>
            </a:r>
            <a:endParaRPr kumimoji="1" lang="ko-KR" altLang="en-US" sz="800" b="1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2035415" y="1902378"/>
            <a:ext cx="107839" cy="109736"/>
            <a:chOff x="554563" y="2632644"/>
            <a:chExt cx="131556" cy="131556"/>
          </a:xfrm>
        </p:grpSpPr>
        <p:sp>
          <p:nvSpPr>
            <p:cNvPr id="12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2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3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2035415" y="2207178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3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32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3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2035415" y="2502453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3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3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3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2035415" y="2816778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3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3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3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9"/>
            </p:custDataLst>
          </p:nvPr>
        </p:nvGrpSpPr>
        <p:grpSpPr>
          <a:xfrm>
            <a:off x="2035415" y="3112053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14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4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42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875703"/>
              </p:ext>
            </p:extLst>
          </p:nvPr>
        </p:nvGraphicFramePr>
        <p:xfrm>
          <a:off x="9290533" y="786383"/>
          <a:ext cx="2835141" cy="469229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※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검색 조건으로 검색된 결과 화면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106" name="텍스트 상자 31"/>
          <p:cNvSpPr txBox="1"/>
          <p:nvPr/>
        </p:nvSpPr>
        <p:spPr>
          <a:xfrm>
            <a:off x="653808" y="39659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07" name="Freeform 24"/>
          <p:cNvSpPr>
            <a:spLocks noChangeArrowheads="1"/>
          </p:cNvSpPr>
          <p:nvPr/>
        </p:nvSpPr>
        <p:spPr bwMode="auto">
          <a:xfrm>
            <a:off x="655420" y="40671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0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0"/>
            </p:custDataLst>
          </p:nvPr>
        </p:nvGrpSpPr>
        <p:grpSpPr>
          <a:xfrm>
            <a:off x="800561" y="42331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10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4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1"/>
            </p:custDataLst>
          </p:nvPr>
        </p:nvGrpSpPr>
        <p:grpSpPr>
          <a:xfrm>
            <a:off x="800561" y="44309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14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4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336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7069" y="1426493"/>
            <a:ext cx="3922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및 설비 목록 추가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04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"/>
          <p:cNvSpPr/>
          <p:nvPr/>
        </p:nvSpPr>
        <p:spPr>
          <a:xfrm>
            <a:off x="194546" y="665148"/>
            <a:ext cx="4320000" cy="588805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7" name="Rectangle 212"/>
          <p:cNvSpPr/>
          <p:nvPr/>
        </p:nvSpPr>
        <p:spPr>
          <a:xfrm>
            <a:off x="207783" y="680787"/>
            <a:ext cx="4302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8" name="텍스트 상자 31"/>
          <p:cNvSpPr txBox="1"/>
          <p:nvPr/>
        </p:nvSpPr>
        <p:spPr>
          <a:xfrm>
            <a:off x="311456" y="787439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추가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텍스트 상자 31"/>
          <p:cNvSpPr txBox="1"/>
          <p:nvPr/>
        </p:nvSpPr>
        <p:spPr>
          <a:xfrm>
            <a:off x="413521" y="129960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설비명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텍스트 상자 31"/>
          <p:cNvSpPr txBox="1"/>
          <p:nvPr/>
        </p:nvSpPr>
        <p:spPr>
          <a:xfrm>
            <a:off x="430108" y="330116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2" name="직선 연결선[R] 7"/>
          <p:cNvCxnSpPr/>
          <p:nvPr/>
        </p:nvCxnSpPr>
        <p:spPr>
          <a:xfrm>
            <a:off x="1086509" y="1427703"/>
            <a:ext cx="3096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23" name="TextBox 22"/>
          <p:cNvSpPr txBox="1"/>
          <p:nvPr/>
        </p:nvSpPr>
        <p:spPr>
          <a:xfrm>
            <a:off x="704457" y="1245319"/>
            <a:ext cx="130411" cy="246221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1000" b="1" dirty="0" smtClean="0">
                <a:solidFill>
                  <a:srgbClr val="FF0066"/>
                </a:solidFill>
                <a:latin typeface="+mn-ea"/>
                <a:ea typeface="+mn-ea"/>
              </a:rPr>
              <a:t>*</a:t>
            </a:r>
            <a:endParaRPr lang="ko-KR" altLang="en-US" sz="1000" b="1" dirty="0" smtClean="0">
              <a:solidFill>
                <a:srgbClr val="FF0066"/>
              </a:solidFill>
              <a:latin typeface="+mn-ea"/>
              <a:ea typeface="+mn-ea"/>
            </a:endParaRPr>
          </a:p>
        </p:txBody>
      </p:sp>
      <p:sp>
        <p:nvSpPr>
          <p:cNvPr id="24" name="텍스트 상자 31"/>
          <p:cNvSpPr txBox="1"/>
          <p:nvPr/>
        </p:nvSpPr>
        <p:spPr>
          <a:xfrm>
            <a:off x="416060" y="2557423"/>
            <a:ext cx="60601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승인제여부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5" name="텍스트 상자 31"/>
          <p:cNvSpPr txBox="1"/>
          <p:nvPr/>
        </p:nvSpPr>
        <p:spPr>
          <a:xfrm>
            <a:off x="416060" y="2886299"/>
            <a:ext cx="525711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목록명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30" name="그룹 129"/>
          <p:cNvGrpSpPr/>
          <p:nvPr/>
        </p:nvGrpSpPr>
        <p:grpSpPr>
          <a:xfrm>
            <a:off x="1120051" y="2517955"/>
            <a:ext cx="1365978" cy="214533"/>
            <a:chOff x="1120051" y="3632380"/>
            <a:chExt cx="1365978" cy="214533"/>
          </a:xfrm>
        </p:grpSpPr>
        <p:sp>
          <p:nvSpPr>
            <p:cNvPr id="37" name="타원 36"/>
            <p:cNvSpPr/>
            <p:nvPr/>
          </p:nvSpPr>
          <p:spPr>
            <a:xfrm>
              <a:off x="1825940" y="3690530"/>
              <a:ext cx="115200" cy="115200"/>
            </a:xfrm>
            <a:prstGeom prst="ellipse">
              <a:avLst/>
            </a:pr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41" name="Rounded Rectangle 468"/>
            <p:cNvSpPr/>
            <p:nvPr/>
          </p:nvSpPr>
          <p:spPr>
            <a:xfrm>
              <a:off x="1229383" y="3632380"/>
              <a:ext cx="612000" cy="214533"/>
            </a:xfrm>
            <a:prstGeom prst="roundRect">
              <a:avLst>
                <a:gd name="adj" fmla="val 47831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선점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2" name="Rounded Rectangle 471"/>
            <p:cNvSpPr/>
            <p:nvPr/>
          </p:nvSpPr>
          <p:spPr>
            <a:xfrm>
              <a:off x="1966736" y="3632380"/>
              <a:ext cx="519293" cy="214533"/>
            </a:xfrm>
            <a:prstGeom prst="roundRect">
              <a:avLst>
                <a:gd name="adj" fmla="val 47831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승인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40" name="내용 개체 틀 15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051" y="3686930"/>
              <a:ext cx="118800" cy="118800"/>
            </a:xfrm>
            <a:prstGeom prst="rect">
              <a:avLst/>
            </a:prstGeom>
          </p:spPr>
        </p:pic>
      </p:grpSp>
      <p:grpSp>
        <p:nvGrpSpPr>
          <p:cNvPr id="196" name="그룹 195"/>
          <p:cNvGrpSpPr/>
          <p:nvPr/>
        </p:nvGrpSpPr>
        <p:grpSpPr>
          <a:xfrm>
            <a:off x="416060" y="4220227"/>
            <a:ext cx="3776454" cy="757629"/>
            <a:chOff x="416060" y="5868052"/>
            <a:chExt cx="3776454" cy="757629"/>
          </a:xfrm>
        </p:grpSpPr>
        <p:sp>
          <p:nvSpPr>
            <p:cNvPr id="21" name="텍스트 상자 31"/>
            <p:cNvSpPr txBox="1"/>
            <p:nvPr/>
          </p:nvSpPr>
          <p:spPr>
            <a:xfrm>
              <a:off x="416060" y="5901377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설명 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" name="Rounded Rectangle 939"/>
            <p:cNvSpPr/>
            <p:nvPr/>
          </p:nvSpPr>
          <p:spPr>
            <a:xfrm>
              <a:off x="1092125" y="5868052"/>
              <a:ext cx="3100389" cy="75762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algn="ctr"/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414585" y="1878601"/>
            <a:ext cx="3278305" cy="196381"/>
            <a:chOff x="416060" y="3802051"/>
            <a:chExt cx="3278305" cy="196381"/>
          </a:xfrm>
        </p:grpSpPr>
        <p:sp>
          <p:nvSpPr>
            <p:cNvPr id="28" name="텍스트 상자 31"/>
            <p:cNvSpPr txBox="1"/>
            <p:nvPr/>
          </p:nvSpPr>
          <p:spPr>
            <a:xfrm>
              <a:off x="416060" y="3834571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색상 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34" name="그림 33"/>
            <p:cNvPicPr>
              <a:picLocks noChangeAspect="1"/>
            </p:cNvPicPr>
            <p:nvPr/>
          </p:nvPicPr>
          <p:blipFill rotWithShape="1">
            <a:blip r:embed="rId3"/>
            <a:srcRect l="3162" t="19156" r="13528" b="26587"/>
            <a:stretch/>
          </p:blipFill>
          <p:spPr>
            <a:xfrm>
              <a:off x="1115433" y="3802051"/>
              <a:ext cx="2578932" cy="196381"/>
            </a:xfrm>
            <a:prstGeom prst="rect">
              <a:avLst/>
            </a:prstGeom>
          </p:spPr>
        </p:pic>
      </p:grpSp>
      <p:sp>
        <p:nvSpPr>
          <p:cNvPr id="35" name="텍스트 상자 31"/>
          <p:cNvSpPr txBox="1"/>
          <p:nvPr/>
        </p:nvSpPr>
        <p:spPr>
          <a:xfrm>
            <a:off x="414585" y="2248120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설비상태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6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431683"/>
              </p:ext>
            </p:extLst>
          </p:nvPr>
        </p:nvGraphicFramePr>
        <p:xfrm>
          <a:off x="9286521" y="802789"/>
          <a:ext cx="2857473" cy="2303576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LNB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의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[+]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클릭시 출력되는 팝업 화면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[+] 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버튼은 관리자일 경우에만 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관리자 및 공유자 추가 방식은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일정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과 동일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2-1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추가된 관리자 또는 공유자가 지정된 영역이 초과됐을 경우 스크롤 처리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478229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LNB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에서 선택된 설비 목록을 기본으로 출력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Select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box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드롭했을 경우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LNB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에 출력되는 설비 목록 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4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로컬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내 파일찾기 창 출력</a:t>
                      </a:r>
                      <a:endParaRPr kumimoji="1" lang="en-US" altLang="ko-KR" sz="8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이미지 파일만 선택 가능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4-1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④에서 선택된 이미지 썸네일 제공</a:t>
                      </a: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5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 typeface="Arial" panose="020B0604020202020204" pitchFamily="34" charset="0"/>
                        <a:buNone/>
                        <a:tabLst/>
                        <a:defRPr sz="2000"/>
                      </a:pPr>
                      <a:r>
                        <a:rPr kumimoji="1"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클릭시 </a:t>
                      </a:r>
                      <a:r>
                        <a:rPr kumimoji="1"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A1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텍스트 상자 31"/>
          <p:cNvSpPr txBox="1"/>
          <p:nvPr/>
        </p:nvSpPr>
        <p:spPr>
          <a:xfrm>
            <a:off x="417466" y="1596124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관리자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457" y="1556199"/>
            <a:ext cx="130411" cy="246221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1000" b="1" dirty="0" smtClean="0">
                <a:solidFill>
                  <a:srgbClr val="FF0066"/>
                </a:solidFill>
                <a:latin typeface="+mn-ea"/>
                <a:ea typeface="+mn-ea"/>
              </a:rPr>
              <a:t>*</a:t>
            </a:r>
            <a:endParaRPr lang="ko-KR" altLang="en-US" sz="1000" b="1" dirty="0" smtClean="0">
              <a:solidFill>
                <a:srgbClr val="FF0066"/>
              </a:solidFill>
              <a:latin typeface="+mn-ea"/>
              <a:ea typeface="+mn-ea"/>
            </a:endParaRPr>
          </a:p>
        </p:txBody>
      </p:sp>
      <p:grpSp>
        <p:nvGrpSpPr>
          <p:cNvPr id="131" name="그룹 130"/>
          <p:cNvGrpSpPr/>
          <p:nvPr/>
        </p:nvGrpSpPr>
        <p:grpSpPr>
          <a:xfrm>
            <a:off x="1120051" y="2203630"/>
            <a:ext cx="1365978" cy="214533"/>
            <a:chOff x="1120051" y="3632380"/>
            <a:chExt cx="1365978" cy="214533"/>
          </a:xfrm>
        </p:grpSpPr>
        <p:sp>
          <p:nvSpPr>
            <p:cNvPr id="132" name="타원 131"/>
            <p:cNvSpPr/>
            <p:nvPr/>
          </p:nvSpPr>
          <p:spPr>
            <a:xfrm>
              <a:off x="1825940" y="3690530"/>
              <a:ext cx="115200" cy="115200"/>
            </a:xfrm>
            <a:prstGeom prst="ellipse">
              <a:avLst/>
            </a:pr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133" name="Rounded Rectangle 468"/>
            <p:cNvSpPr/>
            <p:nvPr/>
          </p:nvSpPr>
          <p:spPr>
            <a:xfrm>
              <a:off x="1229383" y="3632380"/>
              <a:ext cx="612000" cy="214533"/>
            </a:xfrm>
            <a:prstGeom prst="roundRect">
              <a:avLst>
                <a:gd name="adj" fmla="val 47831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사용가능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4" name="Rounded Rectangle 471"/>
            <p:cNvSpPr/>
            <p:nvPr/>
          </p:nvSpPr>
          <p:spPr>
            <a:xfrm>
              <a:off x="1966736" y="3632380"/>
              <a:ext cx="519293" cy="214533"/>
            </a:xfrm>
            <a:prstGeom prst="roundRect">
              <a:avLst>
                <a:gd name="adj" fmla="val 47831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사용불가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135" name="내용 개체 틀 15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051" y="3686930"/>
              <a:ext cx="118800" cy="118800"/>
            </a:xfrm>
            <a:prstGeom prst="rect">
              <a:avLst/>
            </a:prstGeom>
          </p:spPr>
        </p:pic>
      </p:grpSp>
      <p:grpSp>
        <p:nvGrpSpPr>
          <p:cNvPr id="138" name="그룹 137"/>
          <p:cNvGrpSpPr/>
          <p:nvPr/>
        </p:nvGrpSpPr>
        <p:grpSpPr>
          <a:xfrm>
            <a:off x="1092125" y="2839103"/>
            <a:ext cx="2125196" cy="227947"/>
            <a:chOff x="1092125" y="3401078"/>
            <a:chExt cx="3105998" cy="227947"/>
          </a:xfrm>
        </p:grpSpPr>
        <p:sp>
          <p:nvSpPr>
            <p:cNvPr id="136" name="Rounded Rectangle 939"/>
            <p:cNvSpPr/>
            <p:nvPr/>
          </p:nvSpPr>
          <p:spPr>
            <a:xfrm>
              <a:off x="1092125" y="3401078"/>
              <a:ext cx="3100389" cy="2279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r>
                <a:rPr kumimoji="1" lang="ko-KR" altLang="en-US" sz="8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회의실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 rot="5400000">
              <a:off x="4001124" y="3415655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</p:grpSp>
      <p:cxnSp>
        <p:nvCxnSpPr>
          <p:cNvPr id="198" name="직선 화살표 연결선 197"/>
          <p:cNvCxnSpPr/>
          <p:nvPr/>
        </p:nvCxnSpPr>
        <p:spPr>
          <a:xfrm>
            <a:off x="4362450" y="1114425"/>
            <a:ext cx="0" cy="5343525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"/>
          <p:cNvSpPr/>
          <p:nvPr/>
        </p:nvSpPr>
        <p:spPr>
          <a:xfrm>
            <a:off x="4702828" y="650357"/>
            <a:ext cx="4320000" cy="234049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01" name="텍스트 상자 31"/>
          <p:cNvSpPr txBox="1"/>
          <p:nvPr/>
        </p:nvSpPr>
        <p:spPr>
          <a:xfrm>
            <a:off x="4964008" y="82466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사진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3" name="Rounded Rectangle 939"/>
          <p:cNvSpPr/>
          <p:nvPr/>
        </p:nvSpPr>
        <p:spPr>
          <a:xfrm>
            <a:off x="5577920" y="784457"/>
            <a:ext cx="632379" cy="187093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72000" bIns="0" anchor="ctr"/>
          <a:lstStyle/>
          <a:p>
            <a:pPr algn="ctr"/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파일 찾기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33" name="그룹 232"/>
          <p:cNvGrpSpPr/>
          <p:nvPr/>
        </p:nvGrpSpPr>
        <p:grpSpPr>
          <a:xfrm>
            <a:off x="5588668" y="1064475"/>
            <a:ext cx="2374232" cy="450000"/>
            <a:chOff x="5588668" y="1045425"/>
            <a:chExt cx="2374232" cy="450000"/>
          </a:xfrm>
        </p:grpSpPr>
        <p:grpSp>
          <p:nvGrpSpPr>
            <p:cNvPr id="211" name="그룹 210"/>
            <p:cNvGrpSpPr/>
            <p:nvPr/>
          </p:nvGrpSpPr>
          <p:grpSpPr>
            <a:xfrm>
              <a:off x="5588668" y="1045425"/>
              <a:ext cx="716882" cy="450000"/>
              <a:chOff x="5588668" y="1045425"/>
              <a:chExt cx="716882" cy="450000"/>
            </a:xfrm>
          </p:grpSpPr>
          <p:grpSp>
            <p:nvGrpSpPr>
              <p:cNvPr id="204" name="그룹 203"/>
              <p:cNvGrpSpPr/>
              <p:nvPr/>
            </p:nvGrpSpPr>
            <p:grpSpPr>
              <a:xfrm>
                <a:off x="5588668" y="1045425"/>
                <a:ext cx="716882" cy="450000"/>
                <a:chOff x="703722" y="1883625"/>
                <a:chExt cx="1032458" cy="649397"/>
              </a:xfrm>
            </p:grpSpPr>
            <p:sp>
              <p:nvSpPr>
                <p:cNvPr id="205" name="Rectangle 178"/>
                <p:cNvSpPr/>
                <p:nvPr/>
              </p:nvSpPr>
              <p:spPr>
                <a:xfrm>
                  <a:off x="703722" y="1887122"/>
                  <a:ext cx="1032458" cy="64589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+mn-ea"/>
                  </a:endParaRPr>
                </a:p>
              </p:txBody>
            </p:sp>
            <p:grpSp>
              <p:nvGrpSpPr>
                <p:cNvPr id="206" name="Group 179"/>
                <p:cNvGrpSpPr/>
                <p:nvPr/>
              </p:nvGrpSpPr>
              <p:grpSpPr>
                <a:xfrm>
                  <a:off x="703722" y="1883625"/>
                  <a:ext cx="1032089" cy="649397"/>
                  <a:chOff x="1873093" y="1662082"/>
                  <a:chExt cx="502639" cy="300527"/>
                </a:xfrm>
              </p:grpSpPr>
              <p:cxnSp>
                <p:nvCxnSpPr>
                  <p:cNvPr id="208" name="Straight Connector 180"/>
                  <p:cNvCxnSpPr/>
                  <p:nvPr/>
                </p:nvCxnSpPr>
                <p:spPr>
                  <a:xfrm flipH="1">
                    <a:off x="1873093" y="1662082"/>
                    <a:ext cx="502639" cy="300527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" name="Straight Connector 181"/>
                  <p:cNvCxnSpPr/>
                  <p:nvPr/>
                </p:nvCxnSpPr>
                <p:spPr>
                  <a:xfrm>
                    <a:off x="1874989" y="1668970"/>
                    <a:ext cx="500742" cy="293639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10" name="직사각형 209"/>
              <p:cNvSpPr/>
              <p:nvPr/>
            </p:nvSpPr>
            <p:spPr>
              <a:xfrm>
                <a:off x="6128031" y="1053741"/>
                <a:ext cx="148944" cy="14640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700" smtClean="0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rPr>
                  <a:t>X</a:t>
                </a:r>
                <a:endParaRPr lang="ko-KR" altLang="en-US" sz="700" dirty="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  <p:grpSp>
          <p:nvGrpSpPr>
            <p:cNvPr id="212" name="그룹 211"/>
            <p:cNvGrpSpPr/>
            <p:nvPr/>
          </p:nvGrpSpPr>
          <p:grpSpPr>
            <a:xfrm>
              <a:off x="6417343" y="1045425"/>
              <a:ext cx="716882" cy="450000"/>
              <a:chOff x="5588668" y="1045425"/>
              <a:chExt cx="716882" cy="450000"/>
            </a:xfrm>
          </p:grpSpPr>
          <p:grpSp>
            <p:nvGrpSpPr>
              <p:cNvPr id="213" name="그룹 212"/>
              <p:cNvGrpSpPr/>
              <p:nvPr/>
            </p:nvGrpSpPr>
            <p:grpSpPr>
              <a:xfrm>
                <a:off x="5588668" y="1045425"/>
                <a:ext cx="716882" cy="450000"/>
                <a:chOff x="703722" y="1883625"/>
                <a:chExt cx="1032458" cy="649397"/>
              </a:xfrm>
            </p:grpSpPr>
            <p:sp>
              <p:nvSpPr>
                <p:cNvPr id="215" name="Rectangle 178"/>
                <p:cNvSpPr/>
                <p:nvPr/>
              </p:nvSpPr>
              <p:spPr>
                <a:xfrm>
                  <a:off x="703722" y="1887122"/>
                  <a:ext cx="1032458" cy="64589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+mn-ea"/>
                  </a:endParaRPr>
                </a:p>
              </p:txBody>
            </p:sp>
            <p:grpSp>
              <p:nvGrpSpPr>
                <p:cNvPr id="216" name="Group 179"/>
                <p:cNvGrpSpPr/>
                <p:nvPr/>
              </p:nvGrpSpPr>
              <p:grpSpPr>
                <a:xfrm>
                  <a:off x="703722" y="1883625"/>
                  <a:ext cx="1032089" cy="649397"/>
                  <a:chOff x="1873093" y="1662082"/>
                  <a:chExt cx="502639" cy="300527"/>
                </a:xfrm>
              </p:grpSpPr>
              <p:cxnSp>
                <p:nvCxnSpPr>
                  <p:cNvPr id="217" name="Straight Connector 180"/>
                  <p:cNvCxnSpPr/>
                  <p:nvPr/>
                </p:nvCxnSpPr>
                <p:spPr>
                  <a:xfrm flipH="1">
                    <a:off x="1873093" y="1662082"/>
                    <a:ext cx="502639" cy="300527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181"/>
                  <p:cNvCxnSpPr/>
                  <p:nvPr/>
                </p:nvCxnSpPr>
                <p:spPr>
                  <a:xfrm>
                    <a:off x="1874989" y="1668970"/>
                    <a:ext cx="500742" cy="293639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14" name="직사각형 213"/>
              <p:cNvSpPr/>
              <p:nvPr/>
            </p:nvSpPr>
            <p:spPr>
              <a:xfrm>
                <a:off x="6128031" y="1053741"/>
                <a:ext cx="148944" cy="14640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700" smtClean="0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rPr>
                  <a:t>X</a:t>
                </a:r>
                <a:endParaRPr lang="ko-KR" altLang="en-US" sz="700" dirty="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  <p:grpSp>
          <p:nvGrpSpPr>
            <p:cNvPr id="219" name="그룹 218"/>
            <p:cNvGrpSpPr/>
            <p:nvPr/>
          </p:nvGrpSpPr>
          <p:grpSpPr>
            <a:xfrm>
              <a:off x="7246018" y="1045425"/>
              <a:ext cx="716882" cy="450000"/>
              <a:chOff x="5588668" y="1045425"/>
              <a:chExt cx="716882" cy="450000"/>
            </a:xfrm>
          </p:grpSpPr>
          <p:grpSp>
            <p:nvGrpSpPr>
              <p:cNvPr id="220" name="그룹 219"/>
              <p:cNvGrpSpPr/>
              <p:nvPr/>
            </p:nvGrpSpPr>
            <p:grpSpPr>
              <a:xfrm>
                <a:off x="5588668" y="1045425"/>
                <a:ext cx="716882" cy="450000"/>
                <a:chOff x="703722" y="1883625"/>
                <a:chExt cx="1032458" cy="649397"/>
              </a:xfrm>
            </p:grpSpPr>
            <p:sp>
              <p:nvSpPr>
                <p:cNvPr id="222" name="Rectangle 178"/>
                <p:cNvSpPr/>
                <p:nvPr/>
              </p:nvSpPr>
              <p:spPr>
                <a:xfrm>
                  <a:off x="703722" y="1887122"/>
                  <a:ext cx="1032458" cy="64589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+mn-ea"/>
                  </a:endParaRPr>
                </a:p>
              </p:txBody>
            </p:sp>
            <p:grpSp>
              <p:nvGrpSpPr>
                <p:cNvPr id="223" name="Group 179"/>
                <p:cNvGrpSpPr/>
                <p:nvPr/>
              </p:nvGrpSpPr>
              <p:grpSpPr>
                <a:xfrm>
                  <a:off x="703722" y="1883625"/>
                  <a:ext cx="1032089" cy="649397"/>
                  <a:chOff x="1873093" y="1662082"/>
                  <a:chExt cx="502639" cy="300527"/>
                </a:xfrm>
              </p:grpSpPr>
              <p:cxnSp>
                <p:nvCxnSpPr>
                  <p:cNvPr id="224" name="Straight Connector 180"/>
                  <p:cNvCxnSpPr/>
                  <p:nvPr/>
                </p:nvCxnSpPr>
                <p:spPr>
                  <a:xfrm flipH="1">
                    <a:off x="1873093" y="1662082"/>
                    <a:ext cx="502639" cy="300527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181"/>
                  <p:cNvCxnSpPr/>
                  <p:nvPr/>
                </p:nvCxnSpPr>
                <p:spPr>
                  <a:xfrm>
                    <a:off x="1874989" y="1668970"/>
                    <a:ext cx="500742" cy="293639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21" name="직사각형 220"/>
              <p:cNvSpPr/>
              <p:nvPr/>
            </p:nvSpPr>
            <p:spPr>
              <a:xfrm>
                <a:off x="6128031" y="1053741"/>
                <a:ext cx="148944" cy="14640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700" smtClean="0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rPr>
                  <a:t>X</a:t>
                </a:r>
                <a:endParaRPr lang="ko-KR" altLang="en-US" sz="700" dirty="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</p:grpSp>
      <p:grpSp>
        <p:nvGrpSpPr>
          <p:cNvPr id="226" name="그룹 225"/>
          <p:cNvGrpSpPr/>
          <p:nvPr/>
        </p:nvGrpSpPr>
        <p:grpSpPr>
          <a:xfrm>
            <a:off x="8074693" y="1064475"/>
            <a:ext cx="716882" cy="450000"/>
            <a:chOff x="5588668" y="1045425"/>
            <a:chExt cx="716882" cy="450000"/>
          </a:xfrm>
        </p:grpSpPr>
        <p:grpSp>
          <p:nvGrpSpPr>
            <p:cNvPr id="227" name="그룹 226"/>
            <p:cNvGrpSpPr/>
            <p:nvPr/>
          </p:nvGrpSpPr>
          <p:grpSpPr>
            <a:xfrm>
              <a:off x="5588668" y="1045425"/>
              <a:ext cx="716882" cy="450000"/>
              <a:chOff x="703722" y="1883625"/>
              <a:chExt cx="1032458" cy="649397"/>
            </a:xfrm>
          </p:grpSpPr>
          <p:sp>
            <p:nvSpPr>
              <p:cNvPr id="229" name="Rectangle 178"/>
              <p:cNvSpPr/>
              <p:nvPr/>
            </p:nvSpPr>
            <p:spPr>
              <a:xfrm>
                <a:off x="703722" y="1887122"/>
                <a:ext cx="1032458" cy="64589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>
                  <a:latin typeface="+mn-ea"/>
                </a:endParaRPr>
              </a:p>
            </p:txBody>
          </p:sp>
          <p:grpSp>
            <p:nvGrpSpPr>
              <p:cNvPr id="230" name="Group 179"/>
              <p:cNvGrpSpPr/>
              <p:nvPr/>
            </p:nvGrpSpPr>
            <p:grpSpPr>
              <a:xfrm>
                <a:off x="703722" y="1883625"/>
                <a:ext cx="1032089" cy="649397"/>
                <a:chOff x="1873093" y="1662082"/>
                <a:chExt cx="502639" cy="300527"/>
              </a:xfrm>
            </p:grpSpPr>
            <p:cxnSp>
              <p:nvCxnSpPr>
                <p:cNvPr id="231" name="Straight Connector 180"/>
                <p:cNvCxnSpPr/>
                <p:nvPr/>
              </p:nvCxnSpPr>
              <p:spPr>
                <a:xfrm flipH="1">
                  <a:off x="1873093" y="1662082"/>
                  <a:ext cx="502639" cy="300527"/>
                </a:xfrm>
                <a:prstGeom prst="line">
                  <a:avLst/>
                </a:prstGeom>
                <a:ln w="9525">
                  <a:solidFill>
                    <a:schemeClr val="bg1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181"/>
                <p:cNvCxnSpPr/>
                <p:nvPr/>
              </p:nvCxnSpPr>
              <p:spPr>
                <a:xfrm>
                  <a:off x="1874989" y="1668970"/>
                  <a:ext cx="500742" cy="293639"/>
                </a:xfrm>
                <a:prstGeom prst="line">
                  <a:avLst/>
                </a:prstGeom>
                <a:ln w="9525">
                  <a:solidFill>
                    <a:schemeClr val="bg1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28" name="직사각형 227"/>
            <p:cNvSpPr/>
            <p:nvPr/>
          </p:nvSpPr>
          <p:spPr>
            <a:xfrm>
              <a:off x="6128031" y="1053741"/>
              <a:ext cx="148944" cy="14640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70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rPr>
                <a:t>X</a:t>
              </a:r>
              <a:endParaRPr lang="ko-KR" altLang="en-US" sz="7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234" name="그룹 233"/>
          <p:cNvGrpSpPr/>
          <p:nvPr/>
        </p:nvGrpSpPr>
        <p:grpSpPr>
          <a:xfrm>
            <a:off x="5588668" y="1645670"/>
            <a:ext cx="2374232" cy="450000"/>
            <a:chOff x="5588668" y="1045425"/>
            <a:chExt cx="2374232" cy="450000"/>
          </a:xfrm>
        </p:grpSpPr>
        <p:grpSp>
          <p:nvGrpSpPr>
            <p:cNvPr id="235" name="그룹 234"/>
            <p:cNvGrpSpPr/>
            <p:nvPr/>
          </p:nvGrpSpPr>
          <p:grpSpPr>
            <a:xfrm>
              <a:off x="5588668" y="1045425"/>
              <a:ext cx="716882" cy="450000"/>
              <a:chOff x="5588668" y="1045425"/>
              <a:chExt cx="716882" cy="450000"/>
            </a:xfrm>
          </p:grpSpPr>
          <p:grpSp>
            <p:nvGrpSpPr>
              <p:cNvPr id="250" name="그룹 249"/>
              <p:cNvGrpSpPr/>
              <p:nvPr/>
            </p:nvGrpSpPr>
            <p:grpSpPr>
              <a:xfrm>
                <a:off x="5588668" y="1045425"/>
                <a:ext cx="716882" cy="450000"/>
                <a:chOff x="703722" y="1883625"/>
                <a:chExt cx="1032458" cy="649397"/>
              </a:xfrm>
            </p:grpSpPr>
            <p:sp>
              <p:nvSpPr>
                <p:cNvPr id="252" name="Rectangle 178"/>
                <p:cNvSpPr/>
                <p:nvPr/>
              </p:nvSpPr>
              <p:spPr>
                <a:xfrm>
                  <a:off x="703722" y="1887122"/>
                  <a:ext cx="1032458" cy="64589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+mn-ea"/>
                  </a:endParaRPr>
                </a:p>
              </p:txBody>
            </p:sp>
            <p:grpSp>
              <p:nvGrpSpPr>
                <p:cNvPr id="253" name="Group 179"/>
                <p:cNvGrpSpPr/>
                <p:nvPr/>
              </p:nvGrpSpPr>
              <p:grpSpPr>
                <a:xfrm>
                  <a:off x="703722" y="1883625"/>
                  <a:ext cx="1032089" cy="649397"/>
                  <a:chOff x="1873093" y="1662082"/>
                  <a:chExt cx="502639" cy="300527"/>
                </a:xfrm>
              </p:grpSpPr>
              <p:cxnSp>
                <p:nvCxnSpPr>
                  <p:cNvPr id="254" name="Straight Connector 180"/>
                  <p:cNvCxnSpPr/>
                  <p:nvPr/>
                </p:nvCxnSpPr>
                <p:spPr>
                  <a:xfrm flipH="1">
                    <a:off x="1873093" y="1662082"/>
                    <a:ext cx="502639" cy="300527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5" name="Straight Connector 181"/>
                  <p:cNvCxnSpPr/>
                  <p:nvPr/>
                </p:nvCxnSpPr>
                <p:spPr>
                  <a:xfrm>
                    <a:off x="1874989" y="1668970"/>
                    <a:ext cx="500742" cy="293639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51" name="직사각형 250"/>
              <p:cNvSpPr/>
              <p:nvPr/>
            </p:nvSpPr>
            <p:spPr>
              <a:xfrm>
                <a:off x="6128031" y="1053741"/>
                <a:ext cx="148944" cy="14640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700" smtClean="0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rPr>
                  <a:t>X</a:t>
                </a:r>
                <a:endParaRPr lang="ko-KR" altLang="en-US" sz="700" dirty="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  <p:grpSp>
          <p:nvGrpSpPr>
            <p:cNvPr id="236" name="그룹 235"/>
            <p:cNvGrpSpPr/>
            <p:nvPr/>
          </p:nvGrpSpPr>
          <p:grpSpPr>
            <a:xfrm>
              <a:off x="6417343" y="1045425"/>
              <a:ext cx="716882" cy="450000"/>
              <a:chOff x="5588668" y="1045425"/>
              <a:chExt cx="716882" cy="450000"/>
            </a:xfrm>
          </p:grpSpPr>
          <p:grpSp>
            <p:nvGrpSpPr>
              <p:cNvPr id="244" name="그룹 243"/>
              <p:cNvGrpSpPr/>
              <p:nvPr/>
            </p:nvGrpSpPr>
            <p:grpSpPr>
              <a:xfrm>
                <a:off x="5588668" y="1045425"/>
                <a:ext cx="716882" cy="450000"/>
                <a:chOff x="703722" y="1883625"/>
                <a:chExt cx="1032458" cy="649397"/>
              </a:xfrm>
            </p:grpSpPr>
            <p:sp>
              <p:nvSpPr>
                <p:cNvPr id="246" name="Rectangle 178"/>
                <p:cNvSpPr/>
                <p:nvPr/>
              </p:nvSpPr>
              <p:spPr>
                <a:xfrm>
                  <a:off x="703722" y="1887122"/>
                  <a:ext cx="1032458" cy="64589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+mn-ea"/>
                  </a:endParaRPr>
                </a:p>
              </p:txBody>
            </p:sp>
            <p:grpSp>
              <p:nvGrpSpPr>
                <p:cNvPr id="247" name="Group 179"/>
                <p:cNvGrpSpPr/>
                <p:nvPr/>
              </p:nvGrpSpPr>
              <p:grpSpPr>
                <a:xfrm>
                  <a:off x="703722" y="1883625"/>
                  <a:ext cx="1032089" cy="649397"/>
                  <a:chOff x="1873093" y="1662082"/>
                  <a:chExt cx="502639" cy="300527"/>
                </a:xfrm>
              </p:grpSpPr>
              <p:cxnSp>
                <p:nvCxnSpPr>
                  <p:cNvPr id="248" name="Straight Connector 180"/>
                  <p:cNvCxnSpPr/>
                  <p:nvPr/>
                </p:nvCxnSpPr>
                <p:spPr>
                  <a:xfrm flipH="1">
                    <a:off x="1873093" y="1662082"/>
                    <a:ext cx="502639" cy="300527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9" name="Straight Connector 181"/>
                  <p:cNvCxnSpPr/>
                  <p:nvPr/>
                </p:nvCxnSpPr>
                <p:spPr>
                  <a:xfrm>
                    <a:off x="1874989" y="1668970"/>
                    <a:ext cx="500742" cy="293639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45" name="직사각형 244"/>
              <p:cNvSpPr/>
              <p:nvPr/>
            </p:nvSpPr>
            <p:spPr>
              <a:xfrm>
                <a:off x="6128031" y="1053741"/>
                <a:ext cx="148944" cy="14640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700" smtClean="0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rPr>
                  <a:t>X</a:t>
                </a:r>
                <a:endParaRPr lang="ko-KR" altLang="en-US" sz="700" dirty="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  <p:grpSp>
          <p:nvGrpSpPr>
            <p:cNvPr id="237" name="그룹 236"/>
            <p:cNvGrpSpPr/>
            <p:nvPr/>
          </p:nvGrpSpPr>
          <p:grpSpPr>
            <a:xfrm>
              <a:off x="7246018" y="1045425"/>
              <a:ext cx="716882" cy="450000"/>
              <a:chOff x="5588668" y="1045425"/>
              <a:chExt cx="716882" cy="450000"/>
            </a:xfrm>
          </p:grpSpPr>
          <p:grpSp>
            <p:nvGrpSpPr>
              <p:cNvPr id="238" name="그룹 237"/>
              <p:cNvGrpSpPr/>
              <p:nvPr/>
            </p:nvGrpSpPr>
            <p:grpSpPr>
              <a:xfrm>
                <a:off x="5588668" y="1045425"/>
                <a:ext cx="716882" cy="450000"/>
                <a:chOff x="703722" y="1883625"/>
                <a:chExt cx="1032458" cy="649397"/>
              </a:xfrm>
            </p:grpSpPr>
            <p:sp>
              <p:nvSpPr>
                <p:cNvPr id="240" name="Rectangle 178"/>
                <p:cNvSpPr/>
                <p:nvPr/>
              </p:nvSpPr>
              <p:spPr>
                <a:xfrm>
                  <a:off x="703722" y="1887122"/>
                  <a:ext cx="1032458" cy="64589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+mn-ea"/>
                  </a:endParaRPr>
                </a:p>
              </p:txBody>
            </p:sp>
            <p:grpSp>
              <p:nvGrpSpPr>
                <p:cNvPr id="241" name="Group 179"/>
                <p:cNvGrpSpPr/>
                <p:nvPr/>
              </p:nvGrpSpPr>
              <p:grpSpPr>
                <a:xfrm>
                  <a:off x="703722" y="1883625"/>
                  <a:ext cx="1032089" cy="649397"/>
                  <a:chOff x="1873093" y="1662082"/>
                  <a:chExt cx="502639" cy="300527"/>
                </a:xfrm>
              </p:grpSpPr>
              <p:cxnSp>
                <p:nvCxnSpPr>
                  <p:cNvPr id="242" name="Straight Connector 180"/>
                  <p:cNvCxnSpPr/>
                  <p:nvPr/>
                </p:nvCxnSpPr>
                <p:spPr>
                  <a:xfrm flipH="1">
                    <a:off x="1873093" y="1662082"/>
                    <a:ext cx="502639" cy="300527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3" name="Straight Connector 181"/>
                  <p:cNvCxnSpPr/>
                  <p:nvPr/>
                </p:nvCxnSpPr>
                <p:spPr>
                  <a:xfrm>
                    <a:off x="1874989" y="1668970"/>
                    <a:ext cx="500742" cy="293639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39" name="직사각형 238"/>
              <p:cNvSpPr/>
              <p:nvPr/>
            </p:nvSpPr>
            <p:spPr>
              <a:xfrm>
                <a:off x="6128031" y="1053741"/>
                <a:ext cx="148944" cy="14640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700" smtClean="0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rPr>
                  <a:t>X</a:t>
                </a:r>
                <a:endParaRPr lang="ko-KR" altLang="en-US" sz="700" dirty="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</p:grpSp>
      <p:grpSp>
        <p:nvGrpSpPr>
          <p:cNvPr id="256" name="Group 123"/>
          <p:cNvGrpSpPr/>
          <p:nvPr/>
        </p:nvGrpSpPr>
        <p:grpSpPr>
          <a:xfrm>
            <a:off x="6133135" y="2541887"/>
            <a:ext cx="1652246" cy="287333"/>
            <a:chOff x="4794917" y="5749958"/>
            <a:chExt cx="1197826" cy="187731"/>
          </a:xfrm>
        </p:grpSpPr>
        <p:sp>
          <p:nvSpPr>
            <p:cNvPr id="257" name="Rounded Rectangle 215"/>
            <p:cNvSpPr/>
            <p:nvPr/>
          </p:nvSpPr>
          <p:spPr>
            <a:xfrm>
              <a:off x="5452743" y="5749958"/>
              <a:ext cx="540000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취소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58" name="Rounded Rectangle 218"/>
            <p:cNvSpPr/>
            <p:nvPr/>
          </p:nvSpPr>
          <p:spPr>
            <a:xfrm>
              <a:off x="4794917" y="5749958"/>
              <a:ext cx="536766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noProof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설비</a:t>
              </a:r>
              <a:r>
                <a:rPr kumimoji="0" lang="ko-KR" altLang="en-US" sz="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등록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cxnSp>
        <p:nvCxnSpPr>
          <p:cNvPr id="260" name="직선 연결선 259"/>
          <p:cNvCxnSpPr/>
          <p:nvPr/>
        </p:nvCxnSpPr>
        <p:spPr>
          <a:xfrm>
            <a:off x="4863298" y="2366399"/>
            <a:ext cx="3994952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/>
          <p:cNvCxnSpPr/>
          <p:nvPr/>
        </p:nvCxnSpPr>
        <p:spPr>
          <a:xfrm>
            <a:off x="8688528" y="806489"/>
            <a:ext cx="0" cy="1519341"/>
          </a:xfrm>
          <a:prstGeom prst="straightConnector1">
            <a:avLst/>
          </a:prstGeom>
          <a:ln w="19050">
            <a:solidFill>
              <a:srgbClr val="FF0066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 rot="5400000">
            <a:off x="4143571" y="3786235"/>
            <a:ext cx="574444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800" smtClean="0">
                <a:solidFill>
                  <a:srgbClr val="FF0066"/>
                </a:solidFill>
                <a:latin typeface="+mn-ea"/>
                <a:ea typeface="+mn-ea"/>
              </a:rPr>
              <a:t>Scroll Area</a:t>
            </a:r>
            <a:endParaRPr lang="ko-KR" altLang="en-US" sz="800" dirty="0" smtClean="0">
              <a:solidFill>
                <a:srgbClr val="FF0066"/>
              </a:solidFill>
              <a:latin typeface="+mn-ea"/>
              <a:ea typeface="+mn-ea"/>
            </a:endParaRPr>
          </a:p>
        </p:txBody>
      </p:sp>
      <p:sp>
        <p:nvSpPr>
          <p:cNvPr id="266" name="타원 265"/>
          <p:cNvSpPr>
            <a:spLocks noChangeAspect="1"/>
          </p:cNvSpPr>
          <p:nvPr/>
        </p:nvSpPr>
        <p:spPr>
          <a:xfrm>
            <a:off x="6031269" y="247336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8" name="직사각형 267"/>
          <p:cNvSpPr/>
          <p:nvPr/>
        </p:nvSpPr>
        <p:spPr>
          <a:xfrm>
            <a:off x="145306" y="6362700"/>
            <a:ext cx="4531469" cy="304800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4603006" y="419100"/>
            <a:ext cx="4531469" cy="304800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70" name="그림 26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086" y="3747762"/>
            <a:ext cx="1444877" cy="3115326"/>
          </a:xfrm>
          <a:prstGeom prst="rect">
            <a:avLst/>
          </a:prstGeom>
        </p:spPr>
      </p:pic>
      <p:sp>
        <p:nvSpPr>
          <p:cNvPr id="271" name="직사각형 270"/>
          <p:cNvSpPr/>
          <p:nvPr/>
        </p:nvSpPr>
        <p:spPr>
          <a:xfrm>
            <a:off x="8871527" y="5010151"/>
            <a:ext cx="177223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73" name="타원 272"/>
          <p:cNvSpPr>
            <a:spLocks noChangeAspect="1"/>
          </p:cNvSpPr>
          <p:nvPr/>
        </p:nvSpPr>
        <p:spPr>
          <a:xfrm>
            <a:off x="173394" y="155896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4" name="타원 273"/>
          <p:cNvSpPr>
            <a:spLocks noChangeAspect="1"/>
          </p:cNvSpPr>
          <p:nvPr/>
        </p:nvSpPr>
        <p:spPr>
          <a:xfrm>
            <a:off x="8993544" y="490223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5" name="타원 274"/>
          <p:cNvSpPr>
            <a:spLocks noChangeAspect="1"/>
          </p:cNvSpPr>
          <p:nvPr/>
        </p:nvSpPr>
        <p:spPr>
          <a:xfrm>
            <a:off x="173394" y="286388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6" name="타원 275"/>
          <p:cNvSpPr>
            <a:spLocks noChangeAspect="1"/>
          </p:cNvSpPr>
          <p:nvPr/>
        </p:nvSpPr>
        <p:spPr>
          <a:xfrm>
            <a:off x="6155094" y="66361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7" name="타원 276"/>
          <p:cNvSpPr>
            <a:spLocks noChangeAspect="1"/>
          </p:cNvSpPr>
          <p:nvPr/>
        </p:nvSpPr>
        <p:spPr>
          <a:xfrm>
            <a:off x="5516919" y="104461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4-1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8" name="모서리가 둥근 직사각형 277"/>
          <p:cNvSpPr/>
          <p:nvPr/>
        </p:nvSpPr>
        <p:spPr>
          <a:xfrm>
            <a:off x="9467053" y="3522026"/>
            <a:ext cx="2495550" cy="285750"/>
          </a:xfrm>
          <a:prstGeom prst="roundRect">
            <a:avLst>
              <a:gd name="adj" fmla="val 50000"/>
            </a:avLst>
          </a:prstGeom>
          <a:solidFill>
            <a:srgbClr val="FFFF00">
              <a:alpha val="85000"/>
            </a:srgb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설비가 추가되었습니다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79" name="타원 278"/>
          <p:cNvSpPr>
            <a:spLocks noChangeAspect="1"/>
          </p:cNvSpPr>
          <p:nvPr/>
        </p:nvSpPr>
        <p:spPr>
          <a:xfrm>
            <a:off x="9374101" y="3422286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3" name="TextBox 262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추가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CA6.8.1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1086509" y="1531437"/>
            <a:ext cx="3097628" cy="232776"/>
            <a:chOff x="1086509" y="1531437"/>
            <a:chExt cx="3097628" cy="232776"/>
          </a:xfrm>
        </p:grpSpPr>
        <p:cxnSp>
          <p:nvCxnSpPr>
            <p:cNvPr id="272" name="직선 연결선[R] 7"/>
            <p:cNvCxnSpPr/>
            <p:nvPr/>
          </p:nvCxnSpPr>
          <p:spPr>
            <a:xfrm>
              <a:off x="1574030" y="1732503"/>
              <a:ext cx="26101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</p:cxn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6509" y="1531437"/>
              <a:ext cx="426757" cy="232776"/>
            </a:xfrm>
            <a:prstGeom prst="rect">
              <a:avLst/>
            </a:prstGeom>
          </p:spPr>
        </p:pic>
      </p:grpSp>
      <p:grpSp>
        <p:nvGrpSpPr>
          <p:cNvPr id="15" name="그룹 14"/>
          <p:cNvGrpSpPr/>
          <p:nvPr/>
        </p:nvGrpSpPr>
        <p:grpSpPr>
          <a:xfrm>
            <a:off x="1606285" y="3298927"/>
            <a:ext cx="2311928" cy="164895"/>
            <a:chOff x="5454385" y="3327502"/>
            <a:chExt cx="2311928" cy="164895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298" name="그림 29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299" name="그림 29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301" name="그림 30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pic>
        <p:nvPicPr>
          <p:cNvPr id="304" name="그림 3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509" y="3245937"/>
            <a:ext cx="426757" cy="23277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1533154" y="3248351"/>
            <a:ext cx="2659359" cy="8855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05" name="그룹 304"/>
          <p:cNvGrpSpPr/>
          <p:nvPr/>
        </p:nvGrpSpPr>
        <p:grpSpPr>
          <a:xfrm>
            <a:off x="1606285" y="3505302"/>
            <a:ext cx="2311928" cy="164895"/>
            <a:chOff x="5454385" y="3327502"/>
            <a:chExt cx="2311928" cy="164895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307" name="그림 30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308" name="그림 30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309" name="그림 30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310" name="그림 30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grpSp>
        <p:nvGrpSpPr>
          <p:cNvPr id="311" name="그룹 310"/>
          <p:cNvGrpSpPr/>
          <p:nvPr/>
        </p:nvGrpSpPr>
        <p:grpSpPr>
          <a:xfrm>
            <a:off x="1606285" y="3711677"/>
            <a:ext cx="2311928" cy="164895"/>
            <a:chOff x="5454385" y="3327502"/>
            <a:chExt cx="2311928" cy="164895"/>
          </a:xfrm>
        </p:grpSpPr>
        <p:pic>
          <p:nvPicPr>
            <p:cNvPr id="312" name="그림 31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313" name="그림 3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314" name="그림 3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315" name="그림 3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316" name="그림 3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grpSp>
        <p:nvGrpSpPr>
          <p:cNvPr id="317" name="그룹 316"/>
          <p:cNvGrpSpPr/>
          <p:nvPr/>
        </p:nvGrpSpPr>
        <p:grpSpPr>
          <a:xfrm>
            <a:off x="1606285" y="3918052"/>
            <a:ext cx="2311928" cy="164895"/>
            <a:chOff x="5454385" y="3327502"/>
            <a:chExt cx="2311928" cy="164895"/>
          </a:xfrm>
        </p:grpSpPr>
        <p:pic>
          <p:nvPicPr>
            <p:cNvPr id="318" name="그림 3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319" name="그림 3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320" name="그림 3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321" name="그림 3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322" name="그림 32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grpSp>
        <p:nvGrpSpPr>
          <p:cNvPr id="323" name="그룹 322"/>
          <p:cNvGrpSpPr/>
          <p:nvPr/>
        </p:nvGrpSpPr>
        <p:grpSpPr>
          <a:xfrm>
            <a:off x="4100925" y="3315450"/>
            <a:ext cx="47625" cy="744945"/>
            <a:chOff x="6858000" y="2907897"/>
            <a:chExt cx="47625" cy="508807"/>
          </a:xfrm>
        </p:grpSpPr>
        <p:sp>
          <p:nvSpPr>
            <p:cNvPr id="324" name="모서리가 둥근 직사각형 323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325" name="모서리가 둥근 직사각형 324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326" name="타원 325"/>
          <p:cNvSpPr>
            <a:spLocks noChangeAspect="1"/>
          </p:cNvSpPr>
          <p:nvPr/>
        </p:nvSpPr>
        <p:spPr>
          <a:xfrm>
            <a:off x="173394" y="326393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2-1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9" name="TextBox 328"/>
          <p:cNvSpPr txBox="1"/>
          <p:nvPr/>
        </p:nvSpPr>
        <p:spPr>
          <a:xfrm>
            <a:off x="3486150" y="5019675"/>
            <a:ext cx="762000" cy="1714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0 / 500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543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"/>
          <p:cNvSpPr/>
          <p:nvPr/>
        </p:nvSpPr>
        <p:spPr>
          <a:xfrm>
            <a:off x="194546" y="665148"/>
            <a:ext cx="4320000" cy="588805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7" name="Rectangle 212"/>
          <p:cNvSpPr/>
          <p:nvPr/>
        </p:nvSpPr>
        <p:spPr>
          <a:xfrm>
            <a:off x="207783" y="680787"/>
            <a:ext cx="4302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8" name="텍스트 상자 31"/>
          <p:cNvSpPr txBox="1"/>
          <p:nvPr/>
        </p:nvSpPr>
        <p:spPr>
          <a:xfrm>
            <a:off x="311456" y="787439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정보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텍스트 상자 31"/>
          <p:cNvSpPr txBox="1"/>
          <p:nvPr/>
        </p:nvSpPr>
        <p:spPr>
          <a:xfrm>
            <a:off x="413521" y="129960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설비명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텍스트 상자 31"/>
          <p:cNvSpPr txBox="1"/>
          <p:nvPr/>
        </p:nvSpPr>
        <p:spPr>
          <a:xfrm>
            <a:off x="430108" y="330116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2" name="직선 연결선[R] 7"/>
          <p:cNvCxnSpPr/>
          <p:nvPr/>
        </p:nvCxnSpPr>
        <p:spPr>
          <a:xfrm>
            <a:off x="1086509" y="1427703"/>
            <a:ext cx="3096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23" name="TextBox 22"/>
          <p:cNvSpPr txBox="1"/>
          <p:nvPr/>
        </p:nvSpPr>
        <p:spPr>
          <a:xfrm>
            <a:off x="704457" y="1245319"/>
            <a:ext cx="130411" cy="246221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1000" b="1" dirty="0" smtClean="0">
                <a:solidFill>
                  <a:srgbClr val="FF0066"/>
                </a:solidFill>
                <a:latin typeface="+mn-ea"/>
                <a:ea typeface="+mn-ea"/>
              </a:rPr>
              <a:t>*</a:t>
            </a:r>
            <a:endParaRPr lang="ko-KR" altLang="en-US" sz="1000" b="1" dirty="0" smtClean="0">
              <a:solidFill>
                <a:srgbClr val="FF0066"/>
              </a:solidFill>
              <a:latin typeface="+mn-ea"/>
              <a:ea typeface="+mn-ea"/>
            </a:endParaRPr>
          </a:p>
        </p:txBody>
      </p:sp>
      <p:sp>
        <p:nvSpPr>
          <p:cNvPr id="24" name="텍스트 상자 31"/>
          <p:cNvSpPr txBox="1"/>
          <p:nvPr/>
        </p:nvSpPr>
        <p:spPr>
          <a:xfrm>
            <a:off x="416060" y="2557423"/>
            <a:ext cx="60601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승인제여부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5" name="텍스트 상자 31"/>
          <p:cNvSpPr txBox="1"/>
          <p:nvPr/>
        </p:nvSpPr>
        <p:spPr>
          <a:xfrm>
            <a:off x="416060" y="2886299"/>
            <a:ext cx="525711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목록명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30" name="그룹 129"/>
          <p:cNvGrpSpPr/>
          <p:nvPr/>
        </p:nvGrpSpPr>
        <p:grpSpPr>
          <a:xfrm>
            <a:off x="1120051" y="2517955"/>
            <a:ext cx="1365978" cy="214533"/>
            <a:chOff x="1120051" y="3632380"/>
            <a:chExt cx="1365978" cy="214533"/>
          </a:xfrm>
        </p:grpSpPr>
        <p:sp>
          <p:nvSpPr>
            <p:cNvPr id="37" name="타원 36"/>
            <p:cNvSpPr/>
            <p:nvPr/>
          </p:nvSpPr>
          <p:spPr>
            <a:xfrm>
              <a:off x="1825940" y="3690530"/>
              <a:ext cx="115200" cy="115200"/>
            </a:xfrm>
            <a:prstGeom prst="ellipse">
              <a:avLst/>
            </a:pr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41" name="Rounded Rectangle 468"/>
            <p:cNvSpPr/>
            <p:nvPr/>
          </p:nvSpPr>
          <p:spPr>
            <a:xfrm>
              <a:off x="1229383" y="3632380"/>
              <a:ext cx="612000" cy="214533"/>
            </a:xfrm>
            <a:prstGeom prst="roundRect">
              <a:avLst>
                <a:gd name="adj" fmla="val 47831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선점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2" name="Rounded Rectangle 471"/>
            <p:cNvSpPr/>
            <p:nvPr/>
          </p:nvSpPr>
          <p:spPr>
            <a:xfrm>
              <a:off x="1966736" y="3632380"/>
              <a:ext cx="519293" cy="214533"/>
            </a:xfrm>
            <a:prstGeom prst="roundRect">
              <a:avLst>
                <a:gd name="adj" fmla="val 47831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승인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40" name="내용 개체 틀 15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051" y="3686930"/>
              <a:ext cx="118800" cy="118800"/>
            </a:xfrm>
            <a:prstGeom prst="rect">
              <a:avLst/>
            </a:prstGeom>
          </p:spPr>
        </p:pic>
      </p:grpSp>
      <p:grpSp>
        <p:nvGrpSpPr>
          <p:cNvPr id="196" name="그룹 195"/>
          <p:cNvGrpSpPr/>
          <p:nvPr/>
        </p:nvGrpSpPr>
        <p:grpSpPr>
          <a:xfrm>
            <a:off x="416060" y="4220227"/>
            <a:ext cx="3776454" cy="757629"/>
            <a:chOff x="416060" y="5868052"/>
            <a:chExt cx="3776454" cy="757629"/>
          </a:xfrm>
        </p:grpSpPr>
        <p:sp>
          <p:nvSpPr>
            <p:cNvPr id="21" name="텍스트 상자 31"/>
            <p:cNvSpPr txBox="1"/>
            <p:nvPr/>
          </p:nvSpPr>
          <p:spPr>
            <a:xfrm>
              <a:off x="416060" y="5901377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설명 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" name="Rounded Rectangle 939"/>
            <p:cNvSpPr/>
            <p:nvPr/>
          </p:nvSpPr>
          <p:spPr>
            <a:xfrm>
              <a:off x="1092125" y="5868052"/>
              <a:ext cx="3100389" cy="75762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t"/>
            <a:lstStyle/>
            <a:p>
              <a:endPara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  <a:p>
              <a:r>
                <a:rPr lang="en-US" altLang="ko-KR" sz="8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1</a:t>
              </a:r>
              <a:r>
                <a:rPr lang="ko-KR" altLang="en-US" sz="8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층 회의실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39" name="그룹 138"/>
          <p:cNvGrpSpPr/>
          <p:nvPr/>
        </p:nvGrpSpPr>
        <p:grpSpPr>
          <a:xfrm>
            <a:off x="414585" y="1878601"/>
            <a:ext cx="3278305" cy="196381"/>
            <a:chOff x="416060" y="3802051"/>
            <a:chExt cx="3278305" cy="196381"/>
          </a:xfrm>
        </p:grpSpPr>
        <p:sp>
          <p:nvSpPr>
            <p:cNvPr id="28" name="텍스트 상자 31"/>
            <p:cNvSpPr txBox="1"/>
            <p:nvPr/>
          </p:nvSpPr>
          <p:spPr>
            <a:xfrm>
              <a:off x="416060" y="3834571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색상 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34" name="그림 33"/>
            <p:cNvPicPr>
              <a:picLocks noChangeAspect="1"/>
            </p:cNvPicPr>
            <p:nvPr/>
          </p:nvPicPr>
          <p:blipFill rotWithShape="1">
            <a:blip r:embed="rId3"/>
            <a:srcRect l="3162" t="19156" r="13528" b="26587"/>
            <a:stretch/>
          </p:blipFill>
          <p:spPr>
            <a:xfrm>
              <a:off x="1115433" y="3802051"/>
              <a:ext cx="2578932" cy="196381"/>
            </a:xfrm>
            <a:prstGeom prst="rect">
              <a:avLst/>
            </a:prstGeom>
          </p:spPr>
        </p:pic>
      </p:grpSp>
      <p:sp>
        <p:nvSpPr>
          <p:cNvPr id="35" name="텍스트 상자 31"/>
          <p:cNvSpPr txBox="1"/>
          <p:nvPr/>
        </p:nvSpPr>
        <p:spPr>
          <a:xfrm>
            <a:off x="414585" y="2248120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설비상태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6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430086"/>
              </p:ext>
            </p:extLst>
          </p:nvPr>
        </p:nvGraphicFramePr>
        <p:xfrm>
          <a:off x="9286521" y="802789"/>
          <a:ext cx="2857473" cy="807416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설비 정보 버튼     클릭시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뷰화면이 아닌 수정화면으로 출력</a:t>
                      </a:r>
                      <a:endParaRPr kumimoji="1" lang="en-US" altLang="ko-KR" sz="80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화면구조는 설비 추가와 동일 하나 타이틀 및 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submit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버튼만 다름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13" name="텍스트 상자 31"/>
          <p:cNvSpPr txBox="1"/>
          <p:nvPr/>
        </p:nvSpPr>
        <p:spPr>
          <a:xfrm>
            <a:off x="417466" y="1596124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관리자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457" y="1556199"/>
            <a:ext cx="130411" cy="246221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1000" b="1" dirty="0" smtClean="0">
                <a:solidFill>
                  <a:srgbClr val="FF0066"/>
                </a:solidFill>
                <a:latin typeface="+mn-ea"/>
                <a:ea typeface="+mn-ea"/>
              </a:rPr>
              <a:t>*</a:t>
            </a:r>
            <a:endParaRPr lang="ko-KR" altLang="en-US" sz="1000" b="1" dirty="0" smtClean="0">
              <a:solidFill>
                <a:srgbClr val="FF0066"/>
              </a:solidFill>
              <a:latin typeface="+mn-ea"/>
              <a:ea typeface="+mn-ea"/>
            </a:endParaRPr>
          </a:p>
        </p:txBody>
      </p:sp>
      <p:grpSp>
        <p:nvGrpSpPr>
          <p:cNvPr id="131" name="그룹 130"/>
          <p:cNvGrpSpPr/>
          <p:nvPr/>
        </p:nvGrpSpPr>
        <p:grpSpPr>
          <a:xfrm>
            <a:off x="1120051" y="2203630"/>
            <a:ext cx="1365978" cy="214533"/>
            <a:chOff x="1120051" y="3632380"/>
            <a:chExt cx="1365978" cy="214533"/>
          </a:xfrm>
        </p:grpSpPr>
        <p:sp>
          <p:nvSpPr>
            <p:cNvPr id="132" name="타원 131"/>
            <p:cNvSpPr/>
            <p:nvPr/>
          </p:nvSpPr>
          <p:spPr>
            <a:xfrm>
              <a:off x="1825940" y="3690530"/>
              <a:ext cx="115200" cy="115200"/>
            </a:xfrm>
            <a:prstGeom prst="ellipse">
              <a:avLst/>
            </a:prstGeom>
            <a:no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133" name="Rounded Rectangle 468"/>
            <p:cNvSpPr/>
            <p:nvPr/>
          </p:nvSpPr>
          <p:spPr>
            <a:xfrm>
              <a:off x="1229383" y="3632380"/>
              <a:ext cx="612000" cy="214533"/>
            </a:xfrm>
            <a:prstGeom prst="roundRect">
              <a:avLst>
                <a:gd name="adj" fmla="val 47831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사용가능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4" name="Rounded Rectangle 471"/>
            <p:cNvSpPr/>
            <p:nvPr/>
          </p:nvSpPr>
          <p:spPr>
            <a:xfrm>
              <a:off x="1966736" y="3632380"/>
              <a:ext cx="519293" cy="214533"/>
            </a:xfrm>
            <a:prstGeom prst="roundRect">
              <a:avLst>
                <a:gd name="adj" fmla="val 47831"/>
              </a:avLst>
            </a:prstGeom>
            <a:noFill/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120000"/>
                </a:lnSpc>
              </a:pP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사용불가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pic>
          <p:nvPicPr>
            <p:cNvPr id="135" name="내용 개체 틀 15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051" y="3686930"/>
              <a:ext cx="118800" cy="118800"/>
            </a:xfrm>
            <a:prstGeom prst="rect">
              <a:avLst/>
            </a:prstGeom>
          </p:spPr>
        </p:pic>
      </p:grpSp>
      <p:grpSp>
        <p:nvGrpSpPr>
          <p:cNvPr id="138" name="그룹 137"/>
          <p:cNvGrpSpPr/>
          <p:nvPr/>
        </p:nvGrpSpPr>
        <p:grpSpPr>
          <a:xfrm>
            <a:off x="1092125" y="2839103"/>
            <a:ext cx="2125196" cy="227947"/>
            <a:chOff x="1092125" y="3401078"/>
            <a:chExt cx="3105998" cy="227947"/>
          </a:xfrm>
        </p:grpSpPr>
        <p:sp>
          <p:nvSpPr>
            <p:cNvPr id="136" name="Rounded Rectangle 939"/>
            <p:cNvSpPr/>
            <p:nvPr/>
          </p:nvSpPr>
          <p:spPr>
            <a:xfrm>
              <a:off x="1092125" y="3401078"/>
              <a:ext cx="3100389" cy="22794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r>
                <a:rPr kumimoji="1" lang="ko-KR" altLang="en-US" sz="8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회의실</a:t>
              </a:r>
              <a:endParaRPr kumimoji="1"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 rot="5400000">
              <a:off x="4001124" y="3415655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</p:grpSp>
      <p:cxnSp>
        <p:nvCxnSpPr>
          <p:cNvPr id="198" name="직선 화살표 연결선 197"/>
          <p:cNvCxnSpPr/>
          <p:nvPr/>
        </p:nvCxnSpPr>
        <p:spPr>
          <a:xfrm>
            <a:off x="4362450" y="1114425"/>
            <a:ext cx="0" cy="5343525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직사각형"/>
          <p:cNvSpPr/>
          <p:nvPr/>
        </p:nvSpPr>
        <p:spPr>
          <a:xfrm>
            <a:off x="4702828" y="650357"/>
            <a:ext cx="4320000" cy="234049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01" name="텍스트 상자 31"/>
          <p:cNvSpPr txBox="1"/>
          <p:nvPr/>
        </p:nvSpPr>
        <p:spPr>
          <a:xfrm>
            <a:off x="4964008" y="82466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사진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3" name="Rounded Rectangle 939"/>
          <p:cNvSpPr/>
          <p:nvPr/>
        </p:nvSpPr>
        <p:spPr>
          <a:xfrm>
            <a:off x="5577920" y="784457"/>
            <a:ext cx="632379" cy="187093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72000" bIns="0" anchor="ctr"/>
          <a:lstStyle/>
          <a:p>
            <a:pPr algn="ctr"/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파일 찾기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33" name="그룹 232"/>
          <p:cNvGrpSpPr/>
          <p:nvPr/>
        </p:nvGrpSpPr>
        <p:grpSpPr>
          <a:xfrm>
            <a:off x="5588668" y="1064475"/>
            <a:ext cx="2374232" cy="450000"/>
            <a:chOff x="5588668" y="1045425"/>
            <a:chExt cx="2374232" cy="450000"/>
          </a:xfrm>
        </p:grpSpPr>
        <p:grpSp>
          <p:nvGrpSpPr>
            <p:cNvPr id="211" name="그룹 210"/>
            <p:cNvGrpSpPr/>
            <p:nvPr/>
          </p:nvGrpSpPr>
          <p:grpSpPr>
            <a:xfrm>
              <a:off x="5588668" y="1045425"/>
              <a:ext cx="716882" cy="450000"/>
              <a:chOff x="5588668" y="1045425"/>
              <a:chExt cx="716882" cy="450000"/>
            </a:xfrm>
          </p:grpSpPr>
          <p:grpSp>
            <p:nvGrpSpPr>
              <p:cNvPr id="204" name="그룹 203"/>
              <p:cNvGrpSpPr/>
              <p:nvPr/>
            </p:nvGrpSpPr>
            <p:grpSpPr>
              <a:xfrm>
                <a:off x="5588668" y="1045425"/>
                <a:ext cx="716882" cy="450000"/>
                <a:chOff x="703722" y="1883625"/>
                <a:chExt cx="1032458" cy="649397"/>
              </a:xfrm>
            </p:grpSpPr>
            <p:sp>
              <p:nvSpPr>
                <p:cNvPr id="205" name="Rectangle 178"/>
                <p:cNvSpPr/>
                <p:nvPr/>
              </p:nvSpPr>
              <p:spPr>
                <a:xfrm>
                  <a:off x="703722" y="1887122"/>
                  <a:ext cx="1032458" cy="64589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+mn-ea"/>
                  </a:endParaRPr>
                </a:p>
              </p:txBody>
            </p:sp>
            <p:grpSp>
              <p:nvGrpSpPr>
                <p:cNvPr id="206" name="Group 179"/>
                <p:cNvGrpSpPr/>
                <p:nvPr/>
              </p:nvGrpSpPr>
              <p:grpSpPr>
                <a:xfrm>
                  <a:off x="703722" y="1883625"/>
                  <a:ext cx="1032089" cy="649397"/>
                  <a:chOff x="1873093" y="1662082"/>
                  <a:chExt cx="502639" cy="300527"/>
                </a:xfrm>
              </p:grpSpPr>
              <p:cxnSp>
                <p:nvCxnSpPr>
                  <p:cNvPr id="208" name="Straight Connector 180"/>
                  <p:cNvCxnSpPr/>
                  <p:nvPr/>
                </p:nvCxnSpPr>
                <p:spPr>
                  <a:xfrm flipH="1">
                    <a:off x="1873093" y="1662082"/>
                    <a:ext cx="502639" cy="300527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" name="Straight Connector 181"/>
                  <p:cNvCxnSpPr/>
                  <p:nvPr/>
                </p:nvCxnSpPr>
                <p:spPr>
                  <a:xfrm>
                    <a:off x="1874989" y="1668970"/>
                    <a:ext cx="500742" cy="293639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10" name="직사각형 209"/>
              <p:cNvSpPr/>
              <p:nvPr/>
            </p:nvSpPr>
            <p:spPr>
              <a:xfrm>
                <a:off x="6128031" y="1053741"/>
                <a:ext cx="148944" cy="14640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700" smtClean="0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rPr>
                  <a:t>X</a:t>
                </a:r>
                <a:endParaRPr lang="ko-KR" altLang="en-US" sz="700" dirty="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  <p:grpSp>
          <p:nvGrpSpPr>
            <p:cNvPr id="212" name="그룹 211"/>
            <p:cNvGrpSpPr/>
            <p:nvPr/>
          </p:nvGrpSpPr>
          <p:grpSpPr>
            <a:xfrm>
              <a:off x="6417343" y="1045425"/>
              <a:ext cx="716882" cy="450000"/>
              <a:chOff x="5588668" y="1045425"/>
              <a:chExt cx="716882" cy="450000"/>
            </a:xfrm>
          </p:grpSpPr>
          <p:grpSp>
            <p:nvGrpSpPr>
              <p:cNvPr id="213" name="그룹 212"/>
              <p:cNvGrpSpPr/>
              <p:nvPr/>
            </p:nvGrpSpPr>
            <p:grpSpPr>
              <a:xfrm>
                <a:off x="5588668" y="1045425"/>
                <a:ext cx="716882" cy="450000"/>
                <a:chOff x="703722" y="1883625"/>
                <a:chExt cx="1032458" cy="649397"/>
              </a:xfrm>
            </p:grpSpPr>
            <p:sp>
              <p:nvSpPr>
                <p:cNvPr id="215" name="Rectangle 178"/>
                <p:cNvSpPr/>
                <p:nvPr/>
              </p:nvSpPr>
              <p:spPr>
                <a:xfrm>
                  <a:off x="703722" y="1887122"/>
                  <a:ext cx="1032458" cy="64589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+mn-ea"/>
                  </a:endParaRPr>
                </a:p>
              </p:txBody>
            </p:sp>
            <p:grpSp>
              <p:nvGrpSpPr>
                <p:cNvPr id="216" name="Group 179"/>
                <p:cNvGrpSpPr/>
                <p:nvPr/>
              </p:nvGrpSpPr>
              <p:grpSpPr>
                <a:xfrm>
                  <a:off x="703722" y="1883625"/>
                  <a:ext cx="1032089" cy="649397"/>
                  <a:chOff x="1873093" y="1662082"/>
                  <a:chExt cx="502639" cy="300527"/>
                </a:xfrm>
              </p:grpSpPr>
              <p:cxnSp>
                <p:nvCxnSpPr>
                  <p:cNvPr id="217" name="Straight Connector 180"/>
                  <p:cNvCxnSpPr/>
                  <p:nvPr/>
                </p:nvCxnSpPr>
                <p:spPr>
                  <a:xfrm flipH="1">
                    <a:off x="1873093" y="1662082"/>
                    <a:ext cx="502639" cy="300527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Straight Connector 181"/>
                  <p:cNvCxnSpPr/>
                  <p:nvPr/>
                </p:nvCxnSpPr>
                <p:spPr>
                  <a:xfrm>
                    <a:off x="1874989" y="1668970"/>
                    <a:ext cx="500742" cy="293639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14" name="직사각형 213"/>
              <p:cNvSpPr/>
              <p:nvPr/>
            </p:nvSpPr>
            <p:spPr>
              <a:xfrm>
                <a:off x="6128031" y="1053741"/>
                <a:ext cx="148944" cy="14640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700" smtClean="0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rPr>
                  <a:t>X</a:t>
                </a:r>
                <a:endParaRPr lang="ko-KR" altLang="en-US" sz="700" dirty="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  <p:grpSp>
          <p:nvGrpSpPr>
            <p:cNvPr id="219" name="그룹 218"/>
            <p:cNvGrpSpPr/>
            <p:nvPr/>
          </p:nvGrpSpPr>
          <p:grpSpPr>
            <a:xfrm>
              <a:off x="7246018" y="1045425"/>
              <a:ext cx="716882" cy="450000"/>
              <a:chOff x="5588668" y="1045425"/>
              <a:chExt cx="716882" cy="450000"/>
            </a:xfrm>
          </p:grpSpPr>
          <p:grpSp>
            <p:nvGrpSpPr>
              <p:cNvPr id="220" name="그룹 219"/>
              <p:cNvGrpSpPr/>
              <p:nvPr/>
            </p:nvGrpSpPr>
            <p:grpSpPr>
              <a:xfrm>
                <a:off x="5588668" y="1045425"/>
                <a:ext cx="716882" cy="450000"/>
                <a:chOff x="703722" y="1883625"/>
                <a:chExt cx="1032458" cy="649397"/>
              </a:xfrm>
            </p:grpSpPr>
            <p:sp>
              <p:nvSpPr>
                <p:cNvPr id="222" name="Rectangle 178"/>
                <p:cNvSpPr/>
                <p:nvPr/>
              </p:nvSpPr>
              <p:spPr>
                <a:xfrm>
                  <a:off x="703722" y="1887122"/>
                  <a:ext cx="1032458" cy="64589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+mn-ea"/>
                  </a:endParaRPr>
                </a:p>
              </p:txBody>
            </p:sp>
            <p:grpSp>
              <p:nvGrpSpPr>
                <p:cNvPr id="223" name="Group 179"/>
                <p:cNvGrpSpPr/>
                <p:nvPr/>
              </p:nvGrpSpPr>
              <p:grpSpPr>
                <a:xfrm>
                  <a:off x="703722" y="1883625"/>
                  <a:ext cx="1032089" cy="649397"/>
                  <a:chOff x="1873093" y="1662082"/>
                  <a:chExt cx="502639" cy="300527"/>
                </a:xfrm>
              </p:grpSpPr>
              <p:cxnSp>
                <p:nvCxnSpPr>
                  <p:cNvPr id="224" name="Straight Connector 180"/>
                  <p:cNvCxnSpPr/>
                  <p:nvPr/>
                </p:nvCxnSpPr>
                <p:spPr>
                  <a:xfrm flipH="1">
                    <a:off x="1873093" y="1662082"/>
                    <a:ext cx="502639" cy="300527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181"/>
                  <p:cNvCxnSpPr/>
                  <p:nvPr/>
                </p:nvCxnSpPr>
                <p:spPr>
                  <a:xfrm>
                    <a:off x="1874989" y="1668970"/>
                    <a:ext cx="500742" cy="293639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21" name="직사각형 220"/>
              <p:cNvSpPr/>
              <p:nvPr/>
            </p:nvSpPr>
            <p:spPr>
              <a:xfrm>
                <a:off x="6128031" y="1053741"/>
                <a:ext cx="148944" cy="14640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700" smtClean="0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rPr>
                  <a:t>X</a:t>
                </a:r>
                <a:endParaRPr lang="ko-KR" altLang="en-US" sz="700" dirty="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</p:grpSp>
      <p:grpSp>
        <p:nvGrpSpPr>
          <p:cNvPr id="226" name="그룹 225"/>
          <p:cNvGrpSpPr/>
          <p:nvPr/>
        </p:nvGrpSpPr>
        <p:grpSpPr>
          <a:xfrm>
            <a:off x="8074693" y="1064475"/>
            <a:ext cx="716882" cy="450000"/>
            <a:chOff x="5588668" y="1045425"/>
            <a:chExt cx="716882" cy="450000"/>
          </a:xfrm>
        </p:grpSpPr>
        <p:grpSp>
          <p:nvGrpSpPr>
            <p:cNvPr id="227" name="그룹 226"/>
            <p:cNvGrpSpPr/>
            <p:nvPr/>
          </p:nvGrpSpPr>
          <p:grpSpPr>
            <a:xfrm>
              <a:off x="5588668" y="1045425"/>
              <a:ext cx="716882" cy="450000"/>
              <a:chOff x="703722" y="1883625"/>
              <a:chExt cx="1032458" cy="649397"/>
            </a:xfrm>
          </p:grpSpPr>
          <p:sp>
            <p:nvSpPr>
              <p:cNvPr id="229" name="Rectangle 178"/>
              <p:cNvSpPr/>
              <p:nvPr/>
            </p:nvSpPr>
            <p:spPr>
              <a:xfrm>
                <a:off x="703722" y="1887122"/>
                <a:ext cx="1032458" cy="64589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>
                  <a:latin typeface="+mn-ea"/>
                </a:endParaRPr>
              </a:p>
            </p:txBody>
          </p:sp>
          <p:grpSp>
            <p:nvGrpSpPr>
              <p:cNvPr id="230" name="Group 179"/>
              <p:cNvGrpSpPr/>
              <p:nvPr/>
            </p:nvGrpSpPr>
            <p:grpSpPr>
              <a:xfrm>
                <a:off x="703722" y="1883625"/>
                <a:ext cx="1032089" cy="649397"/>
                <a:chOff x="1873093" y="1662082"/>
                <a:chExt cx="502639" cy="300527"/>
              </a:xfrm>
            </p:grpSpPr>
            <p:cxnSp>
              <p:nvCxnSpPr>
                <p:cNvPr id="231" name="Straight Connector 180"/>
                <p:cNvCxnSpPr/>
                <p:nvPr/>
              </p:nvCxnSpPr>
              <p:spPr>
                <a:xfrm flipH="1">
                  <a:off x="1873093" y="1662082"/>
                  <a:ext cx="502639" cy="300527"/>
                </a:xfrm>
                <a:prstGeom prst="line">
                  <a:avLst/>
                </a:prstGeom>
                <a:ln w="9525">
                  <a:solidFill>
                    <a:schemeClr val="bg1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181"/>
                <p:cNvCxnSpPr/>
                <p:nvPr/>
              </p:nvCxnSpPr>
              <p:spPr>
                <a:xfrm>
                  <a:off x="1874989" y="1668970"/>
                  <a:ext cx="500742" cy="293639"/>
                </a:xfrm>
                <a:prstGeom prst="line">
                  <a:avLst/>
                </a:prstGeom>
                <a:ln w="9525">
                  <a:solidFill>
                    <a:schemeClr val="bg1"/>
                  </a:solidFill>
                  <a:prstDash val="sysDot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28" name="직사각형 227"/>
            <p:cNvSpPr/>
            <p:nvPr/>
          </p:nvSpPr>
          <p:spPr>
            <a:xfrm>
              <a:off x="6128031" y="1053741"/>
              <a:ext cx="148944" cy="14640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70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rPr>
                <a:t>X</a:t>
              </a:r>
              <a:endParaRPr lang="ko-KR" altLang="en-US" sz="700" dirty="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234" name="그룹 233"/>
          <p:cNvGrpSpPr/>
          <p:nvPr/>
        </p:nvGrpSpPr>
        <p:grpSpPr>
          <a:xfrm>
            <a:off x="5588668" y="1645670"/>
            <a:ext cx="2374232" cy="450000"/>
            <a:chOff x="5588668" y="1045425"/>
            <a:chExt cx="2374232" cy="450000"/>
          </a:xfrm>
        </p:grpSpPr>
        <p:grpSp>
          <p:nvGrpSpPr>
            <p:cNvPr id="235" name="그룹 234"/>
            <p:cNvGrpSpPr/>
            <p:nvPr/>
          </p:nvGrpSpPr>
          <p:grpSpPr>
            <a:xfrm>
              <a:off x="5588668" y="1045425"/>
              <a:ext cx="716882" cy="450000"/>
              <a:chOff x="5588668" y="1045425"/>
              <a:chExt cx="716882" cy="450000"/>
            </a:xfrm>
          </p:grpSpPr>
          <p:grpSp>
            <p:nvGrpSpPr>
              <p:cNvPr id="250" name="그룹 249"/>
              <p:cNvGrpSpPr/>
              <p:nvPr/>
            </p:nvGrpSpPr>
            <p:grpSpPr>
              <a:xfrm>
                <a:off x="5588668" y="1045425"/>
                <a:ext cx="716882" cy="450000"/>
                <a:chOff x="703722" y="1883625"/>
                <a:chExt cx="1032458" cy="649397"/>
              </a:xfrm>
            </p:grpSpPr>
            <p:sp>
              <p:nvSpPr>
                <p:cNvPr id="252" name="Rectangle 178"/>
                <p:cNvSpPr/>
                <p:nvPr/>
              </p:nvSpPr>
              <p:spPr>
                <a:xfrm>
                  <a:off x="703722" y="1887122"/>
                  <a:ext cx="1032458" cy="64589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+mn-ea"/>
                  </a:endParaRPr>
                </a:p>
              </p:txBody>
            </p:sp>
            <p:grpSp>
              <p:nvGrpSpPr>
                <p:cNvPr id="253" name="Group 179"/>
                <p:cNvGrpSpPr/>
                <p:nvPr/>
              </p:nvGrpSpPr>
              <p:grpSpPr>
                <a:xfrm>
                  <a:off x="703722" y="1883625"/>
                  <a:ext cx="1032089" cy="649397"/>
                  <a:chOff x="1873093" y="1662082"/>
                  <a:chExt cx="502639" cy="300527"/>
                </a:xfrm>
              </p:grpSpPr>
              <p:cxnSp>
                <p:nvCxnSpPr>
                  <p:cNvPr id="254" name="Straight Connector 180"/>
                  <p:cNvCxnSpPr/>
                  <p:nvPr/>
                </p:nvCxnSpPr>
                <p:spPr>
                  <a:xfrm flipH="1">
                    <a:off x="1873093" y="1662082"/>
                    <a:ext cx="502639" cy="300527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5" name="Straight Connector 181"/>
                  <p:cNvCxnSpPr/>
                  <p:nvPr/>
                </p:nvCxnSpPr>
                <p:spPr>
                  <a:xfrm>
                    <a:off x="1874989" y="1668970"/>
                    <a:ext cx="500742" cy="293639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51" name="직사각형 250"/>
              <p:cNvSpPr/>
              <p:nvPr/>
            </p:nvSpPr>
            <p:spPr>
              <a:xfrm>
                <a:off x="6128031" y="1053741"/>
                <a:ext cx="148944" cy="14640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700" smtClean="0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rPr>
                  <a:t>X</a:t>
                </a:r>
                <a:endParaRPr lang="ko-KR" altLang="en-US" sz="700" dirty="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  <p:grpSp>
          <p:nvGrpSpPr>
            <p:cNvPr id="236" name="그룹 235"/>
            <p:cNvGrpSpPr/>
            <p:nvPr/>
          </p:nvGrpSpPr>
          <p:grpSpPr>
            <a:xfrm>
              <a:off x="6417343" y="1045425"/>
              <a:ext cx="716882" cy="450000"/>
              <a:chOff x="5588668" y="1045425"/>
              <a:chExt cx="716882" cy="450000"/>
            </a:xfrm>
          </p:grpSpPr>
          <p:grpSp>
            <p:nvGrpSpPr>
              <p:cNvPr id="244" name="그룹 243"/>
              <p:cNvGrpSpPr/>
              <p:nvPr/>
            </p:nvGrpSpPr>
            <p:grpSpPr>
              <a:xfrm>
                <a:off x="5588668" y="1045425"/>
                <a:ext cx="716882" cy="450000"/>
                <a:chOff x="703722" y="1883625"/>
                <a:chExt cx="1032458" cy="649397"/>
              </a:xfrm>
            </p:grpSpPr>
            <p:sp>
              <p:nvSpPr>
                <p:cNvPr id="246" name="Rectangle 178"/>
                <p:cNvSpPr/>
                <p:nvPr/>
              </p:nvSpPr>
              <p:spPr>
                <a:xfrm>
                  <a:off x="703722" y="1887122"/>
                  <a:ext cx="1032458" cy="64589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+mn-ea"/>
                  </a:endParaRPr>
                </a:p>
              </p:txBody>
            </p:sp>
            <p:grpSp>
              <p:nvGrpSpPr>
                <p:cNvPr id="247" name="Group 179"/>
                <p:cNvGrpSpPr/>
                <p:nvPr/>
              </p:nvGrpSpPr>
              <p:grpSpPr>
                <a:xfrm>
                  <a:off x="703722" y="1883625"/>
                  <a:ext cx="1032089" cy="649397"/>
                  <a:chOff x="1873093" y="1662082"/>
                  <a:chExt cx="502639" cy="300527"/>
                </a:xfrm>
              </p:grpSpPr>
              <p:cxnSp>
                <p:nvCxnSpPr>
                  <p:cNvPr id="248" name="Straight Connector 180"/>
                  <p:cNvCxnSpPr/>
                  <p:nvPr/>
                </p:nvCxnSpPr>
                <p:spPr>
                  <a:xfrm flipH="1">
                    <a:off x="1873093" y="1662082"/>
                    <a:ext cx="502639" cy="300527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9" name="Straight Connector 181"/>
                  <p:cNvCxnSpPr/>
                  <p:nvPr/>
                </p:nvCxnSpPr>
                <p:spPr>
                  <a:xfrm>
                    <a:off x="1874989" y="1668970"/>
                    <a:ext cx="500742" cy="293639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45" name="직사각형 244"/>
              <p:cNvSpPr/>
              <p:nvPr/>
            </p:nvSpPr>
            <p:spPr>
              <a:xfrm>
                <a:off x="6128031" y="1053741"/>
                <a:ext cx="148944" cy="14640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700" smtClean="0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rPr>
                  <a:t>X</a:t>
                </a:r>
                <a:endParaRPr lang="ko-KR" altLang="en-US" sz="700" dirty="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  <p:grpSp>
          <p:nvGrpSpPr>
            <p:cNvPr id="237" name="그룹 236"/>
            <p:cNvGrpSpPr/>
            <p:nvPr/>
          </p:nvGrpSpPr>
          <p:grpSpPr>
            <a:xfrm>
              <a:off x="7246018" y="1045425"/>
              <a:ext cx="716882" cy="450000"/>
              <a:chOff x="5588668" y="1045425"/>
              <a:chExt cx="716882" cy="450000"/>
            </a:xfrm>
          </p:grpSpPr>
          <p:grpSp>
            <p:nvGrpSpPr>
              <p:cNvPr id="238" name="그룹 237"/>
              <p:cNvGrpSpPr/>
              <p:nvPr/>
            </p:nvGrpSpPr>
            <p:grpSpPr>
              <a:xfrm>
                <a:off x="5588668" y="1045425"/>
                <a:ext cx="716882" cy="450000"/>
                <a:chOff x="703722" y="1883625"/>
                <a:chExt cx="1032458" cy="649397"/>
              </a:xfrm>
            </p:grpSpPr>
            <p:sp>
              <p:nvSpPr>
                <p:cNvPr id="240" name="Rectangle 178"/>
                <p:cNvSpPr/>
                <p:nvPr/>
              </p:nvSpPr>
              <p:spPr>
                <a:xfrm>
                  <a:off x="703722" y="1887122"/>
                  <a:ext cx="1032458" cy="645899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00" dirty="0">
                    <a:latin typeface="+mn-ea"/>
                  </a:endParaRPr>
                </a:p>
              </p:txBody>
            </p:sp>
            <p:grpSp>
              <p:nvGrpSpPr>
                <p:cNvPr id="241" name="Group 179"/>
                <p:cNvGrpSpPr/>
                <p:nvPr/>
              </p:nvGrpSpPr>
              <p:grpSpPr>
                <a:xfrm>
                  <a:off x="703722" y="1883625"/>
                  <a:ext cx="1032089" cy="649397"/>
                  <a:chOff x="1873093" y="1662082"/>
                  <a:chExt cx="502639" cy="300527"/>
                </a:xfrm>
              </p:grpSpPr>
              <p:cxnSp>
                <p:nvCxnSpPr>
                  <p:cNvPr id="242" name="Straight Connector 180"/>
                  <p:cNvCxnSpPr/>
                  <p:nvPr/>
                </p:nvCxnSpPr>
                <p:spPr>
                  <a:xfrm flipH="1">
                    <a:off x="1873093" y="1662082"/>
                    <a:ext cx="502639" cy="300527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3" name="Straight Connector 181"/>
                  <p:cNvCxnSpPr/>
                  <p:nvPr/>
                </p:nvCxnSpPr>
                <p:spPr>
                  <a:xfrm>
                    <a:off x="1874989" y="1668970"/>
                    <a:ext cx="500742" cy="293639"/>
                  </a:xfrm>
                  <a:prstGeom prst="line">
                    <a:avLst/>
                  </a:prstGeom>
                  <a:ln w="9525">
                    <a:solidFill>
                      <a:schemeClr val="bg1"/>
                    </a:solidFill>
                    <a:prstDash val="sysDot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39" name="직사각형 238"/>
              <p:cNvSpPr/>
              <p:nvPr/>
            </p:nvSpPr>
            <p:spPr>
              <a:xfrm>
                <a:off x="6128031" y="1053741"/>
                <a:ext cx="148944" cy="146409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700" smtClean="0">
                    <a:solidFill>
                      <a:schemeClr val="bg1"/>
                    </a:solidFill>
                    <a:latin typeface="나눔고딕" pitchFamily="50" charset="-127"/>
                    <a:ea typeface="나눔고딕" pitchFamily="50" charset="-127"/>
                  </a:rPr>
                  <a:t>X</a:t>
                </a:r>
                <a:endParaRPr lang="ko-KR" altLang="en-US" sz="700" dirty="0" smtClean="0">
                  <a:solidFill>
                    <a:schemeClr val="bg1"/>
                  </a:solidFill>
                  <a:latin typeface="나눔고딕" pitchFamily="50" charset="-127"/>
                  <a:ea typeface="나눔고딕" pitchFamily="50" charset="-127"/>
                </a:endParaRPr>
              </a:p>
            </p:txBody>
          </p:sp>
        </p:grpSp>
      </p:grpSp>
      <p:grpSp>
        <p:nvGrpSpPr>
          <p:cNvPr id="256" name="Group 123"/>
          <p:cNvGrpSpPr/>
          <p:nvPr/>
        </p:nvGrpSpPr>
        <p:grpSpPr>
          <a:xfrm>
            <a:off x="6133135" y="2541887"/>
            <a:ext cx="1652246" cy="287333"/>
            <a:chOff x="4794917" y="5749958"/>
            <a:chExt cx="1197826" cy="187731"/>
          </a:xfrm>
        </p:grpSpPr>
        <p:sp>
          <p:nvSpPr>
            <p:cNvPr id="257" name="Rounded Rectangle 215"/>
            <p:cNvSpPr/>
            <p:nvPr/>
          </p:nvSpPr>
          <p:spPr>
            <a:xfrm>
              <a:off x="5452743" y="5749958"/>
              <a:ext cx="540000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취소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58" name="Rounded Rectangle 218"/>
            <p:cNvSpPr/>
            <p:nvPr/>
          </p:nvSpPr>
          <p:spPr>
            <a:xfrm>
              <a:off x="4794917" y="5749958"/>
              <a:ext cx="536766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noProof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수정완료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cxnSp>
        <p:nvCxnSpPr>
          <p:cNvPr id="260" name="직선 연결선 259"/>
          <p:cNvCxnSpPr/>
          <p:nvPr/>
        </p:nvCxnSpPr>
        <p:spPr>
          <a:xfrm>
            <a:off x="4863298" y="2366399"/>
            <a:ext cx="3994952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/>
          <p:cNvCxnSpPr/>
          <p:nvPr/>
        </p:nvCxnSpPr>
        <p:spPr>
          <a:xfrm>
            <a:off x="8688528" y="806489"/>
            <a:ext cx="0" cy="1519341"/>
          </a:xfrm>
          <a:prstGeom prst="straightConnector1">
            <a:avLst/>
          </a:prstGeom>
          <a:ln w="19050">
            <a:solidFill>
              <a:srgbClr val="FF0066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 rot="5400000">
            <a:off x="4143571" y="3786235"/>
            <a:ext cx="574444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800" smtClean="0">
                <a:solidFill>
                  <a:srgbClr val="FF0066"/>
                </a:solidFill>
                <a:latin typeface="+mn-ea"/>
                <a:ea typeface="+mn-ea"/>
              </a:rPr>
              <a:t>Scroll Area</a:t>
            </a:r>
            <a:endParaRPr lang="ko-KR" altLang="en-US" sz="800" dirty="0" smtClean="0">
              <a:solidFill>
                <a:srgbClr val="FF0066"/>
              </a:solidFill>
              <a:latin typeface="+mn-ea"/>
              <a:ea typeface="+mn-ea"/>
            </a:endParaRPr>
          </a:p>
        </p:txBody>
      </p:sp>
      <p:sp>
        <p:nvSpPr>
          <p:cNvPr id="268" name="직사각형 267"/>
          <p:cNvSpPr/>
          <p:nvPr/>
        </p:nvSpPr>
        <p:spPr>
          <a:xfrm>
            <a:off x="145306" y="6362700"/>
            <a:ext cx="4531469" cy="304800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4603006" y="419100"/>
            <a:ext cx="4531469" cy="304800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3" name="TextBox 262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정보 수정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CA6.8.1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1086509" y="1531437"/>
            <a:ext cx="3097628" cy="232776"/>
            <a:chOff x="1086509" y="1531437"/>
            <a:chExt cx="3097628" cy="232776"/>
          </a:xfrm>
        </p:grpSpPr>
        <p:cxnSp>
          <p:nvCxnSpPr>
            <p:cNvPr id="272" name="직선 연결선[R] 7"/>
            <p:cNvCxnSpPr/>
            <p:nvPr/>
          </p:nvCxnSpPr>
          <p:spPr>
            <a:xfrm>
              <a:off x="1574030" y="1732503"/>
              <a:ext cx="26101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</p:cxn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6509" y="1531437"/>
              <a:ext cx="426757" cy="232776"/>
            </a:xfrm>
            <a:prstGeom prst="rect">
              <a:avLst/>
            </a:prstGeom>
          </p:spPr>
        </p:pic>
      </p:grpSp>
      <p:grpSp>
        <p:nvGrpSpPr>
          <p:cNvPr id="15" name="그룹 14"/>
          <p:cNvGrpSpPr/>
          <p:nvPr/>
        </p:nvGrpSpPr>
        <p:grpSpPr>
          <a:xfrm>
            <a:off x="1606285" y="3298927"/>
            <a:ext cx="2311928" cy="164895"/>
            <a:chOff x="5454385" y="3327502"/>
            <a:chExt cx="2311928" cy="164895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298" name="그림 29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299" name="그림 29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301" name="그림 30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pic>
        <p:nvPicPr>
          <p:cNvPr id="304" name="그림 3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509" y="3245937"/>
            <a:ext cx="426757" cy="23277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1533154" y="3248351"/>
            <a:ext cx="2659359" cy="8855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05" name="그룹 304"/>
          <p:cNvGrpSpPr/>
          <p:nvPr/>
        </p:nvGrpSpPr>
        <p:grpSpPr>
          <a:xfrm>
            <a:off x="1606285" y="3505302"/>
            <a:ext cx="2311928" cy="164895"/>
            <a:chOff x="5454385" y="3327502"/>
            <a:chExt cx="2311928" cy="164895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307" name="그림 30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308" name="그림 3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309" name="그림 30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310" name="그림 30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grpSp>
        <p:nvGrpSpPr>
          <p:cNvPr id="311" name="그룹 310"/>
          <p:cNvGrpSpPr/>
          <p:nvPr/>
        </p:nvGrpSpPr>
        <p:grpSpPr>
          <a:xfrm>
            <a:off x="1606285" y="3711677"/>
            <a:ext cx="2311928" cy="164895"/>
            <a:chOff x="5454385" y="3327502"/>
            <a:chExt cx="2311928" cy="164895"/>
          </a:xfrm>
        </p:grpSpPr>
        <p:pic>
          <p:nvPicPr>
            <p:cNvPr id="312" name="그림 3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313" name="그림 3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314" name="그림 3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315" name="그림 3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316" name="그림 3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grpSp>
        <p:nvGrpSpPr>
          <p:cNvPr id="317" name="그룹 316"/>
          <p:cNvGrpSpPr/>
          <p:nvPr/>
        </p:nvGrpSpPr>
        <p:grpSpPr>
          <a:xfrm>
            <a:off x="1606285" y="3918052"/>
            <a:ext cx="2311928" cy="164895"/>
            <a:chOff x="5454385" y="3327502"/>
            <a:chExt cx="2311928" cy="164895"/>
          </a:xfrm>
        </p:grpSpPr>
        <p:pic>
          <p:nvPicPr>
            <p:cNvPr id="318" name="그림 3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319" name="그림 3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320" name="그림 3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321" name="그림 3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322" name="그림 32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grpSp>
        <p:nvGrpSpPr>
          <p:cNvPr id="323" name="그룹 322"/>
          <p:cNvGrpSpPr/>
          <p:nvPr/>
        </p:nvGrpSpPr>
        <p:grpSpPr>
          <a:xfrm>
            <a:off x="4100925" y="3315450"/>
            <a:ext cx="47625" cy="744945"/>
            <a:chOff x="6858000" y="2907897"/>
            <a:chExt cx="47625" cy="508807"/>
          </a:xfrm>
        </p:grpSpPr>
        <p:sp>
          <p:nvSpPr>
            <p:cNvPr id="324" name="모서리가 둥근 직사각형 323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325" name="모서리가 둥근 직사각형 324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44" name="모서리가 둥근 직사각형 143"/>
          <p:cNvSpPr/>
          <p:nvPr/>
        </p:nvSpPr>
        <p:spPr>
          <a:xfrm>
            <a:off x="5676103" y="3198176"/>
            <a:ext cx="2495550" cy="285750"/>
          </a:xfrm>
          <a:prstGeom prst="roundRect">
            <a:avLst>
              <a:gd name="adj" fmla="val 50000"/>
            </a:avLst>
          </a:prstGeom>
          <a:solidFill>
            <a:srgbClr val="FFFF00">
              <a:alpha val="85000"/>
            </a:srgb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수정되었습니다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45" name="직선 화살표 연결선 144"/>
          <p:cNvCxnSpPr/>
          <p:nvPr/>
        </p:nvCxnSpPr>
        <p:spPr>
          <a:xfrm>
            <a:off x="6515100" y="2852926"/>
            <a:ext cx="0" cy="295338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019174" y="1261988"/>
            <a:ext cx="962025" cy="13818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Cebu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47" name="그룹 146"/>
          <p:cNvGrpSpPr/>
          <p:nvPr/>
        </p:nvGrpSpPr>
        <p:grpSpPr>
          <a:xfrm>
            <a:off x="1606285" y="1555852"/>
            <a:ext cx="2311928" cy="164895"/>
            <a:chOff x="5454385" y="3327502"/>
            <a:chExt cx="2311928" cy="164895"/>
          </a:xfrm>
        </p:grpSpPr>
        <p:pic>
          <p:nvPicPr>
            <p:cNvPr id="148" name="그림 14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149" name="그림 14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150" name="그림 14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151" name="그림 15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152" name="그림 15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pic>
        <p:nvPicPr>
          <p:cNvPr id="153" name="그림 152"/>
          <p:cNvPicPr>
            <a:picLocks noChangeAspect="1"/>
          </p:cNvPicPr>
          <p:nvPr/>
        </p:nvPicPr>
        <p:blipFill rotWithShape="1">
          <a:blip r:embed="rId6"/>
          <a:srcRect b="22405"/>
          <a:stretch/>
        </p:blipFill>
        <p:spPr>
          <a:xfrm>
            <a:off x="7854731" y="3988593"/>
            <a:ext cx="1245039" cy="2882114"/>
          </a:xfrm>
          <a:prstGeom prst="rect">
            <a:avLst/>
          </a:prstGeom>
        </p:spPr>
      </p:pic>
      <p:sp>
        <p:nvSpPr>
          <p:cNvPr id="154" name="타원 153"/>
          <p:cNvSpPr/>
          <p:nvPr/>
        </p:nvSpPr>
        <p:spPr>
          <a:xfrm>
            <a:off x="8829675" y="5124450"/>
            <a:ext cx="276225" cy="276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55" name="직선 화살표 연결선 154"/>
          <p:cNvCxnSpPr/>
          <p:nvPr/>
        </p:nvCxnSpPr>
        <p:spPr>
          <a:xfrm flipV="1">
            <a:off x="8972550" y="4147578"/>
            <a:ext cx="0" cy="957822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타원 155"/>
          <p:cNvSpPr>
            <a:spLocks noChangeAspect="1"/>
          </p:cNvSpPr>
          <p:nvPr/>
        </p:nvSpPr>
        <p:spPr>
          <a:xfrm>
            <a:off x="8707794" y="509273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7" name="그림 15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682" y="1064475"/>
            <a:ext cx="152186" cy="1521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86150" y="5019675"/>
            <a:ext cx="762000" cy="1714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0 / 500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193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"/>
          <p:cNvSpPr/>
          <p:nvPr/>
        </p:nvSpPr>
        <p:spPr>
          <a:xfrm>
            <a:off x="194546" y="665148"/>
            <a:ext cx="4320000" cy="588805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6" name="Rectangle 212"/>
          <p:cNvSpPr/>
          <p:nvPr/>
        </p:nvSpPr>
        <p:spPr>
          <a:xfrm>
            <a:off x="207783" y="680787"/>
            <a:ext cx="4302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7" name="텍스트 상자 31"/>
          <p:cNvSpPr txBox="1"/>
          <p:nvPr/>
        </p:nvSpPr>
        <p:spPr>
          <a:xfrm>
            <a:off x="311456" y="787439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정보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텍스트 상자 31"/>
          <p:cNvSpPr txBox="1"/>
          <p:nvPr/>
        </p:nvSpPr>
        <p:spPr>
          <a:xfrm>
            <a:off x="413521" y="129960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설비명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텍스트 상자 31"/>
          <p:cNvSpPr txBox="1"/>
          <p:nvPr/>
        </p:nvSpPr>
        <p:spPr>
          <a:xfrm>
            <a:off x="417466" y="1596124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관리자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텍스트 상자 31"/>
          <p:cNvSpPr txBox="1"/>
          <p:nvPr/>
        </p:nvSpPr>
        <p:spPr>
          <a:xfrm>
            <a:off x="1043232" y="129960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노트북</a:t>
            </a:r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텍스트 상자 31"/>
          <p:cNvSpPr txBox="1"/>
          <p:nvPr/>
        </p:nvSpPr>
        <p:spPr>
          <a:xfrm>
            <a:off x="1090856" y="1596124"/>
            <a:ext cx="3288098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 </a:t>
            </a:r>
            <a:r>
              <a:rPr lang="ko-KR" altLang="en-US" sz="80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 </a:t>
            </a:r>
            <a:r>
              <a:rPr lang="en-US" altLang="ko-KR" sz="80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80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endParaRPr kumimoji="1" lang="ko-KR" altLang="en-US" sz="800" u="sng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3" name="Rounded Rectangle 215"/>
          <p:cNvSpPr/>
          <p:nvPr/>
        </p:nvSpPr>
        <p:spPr>
          <a:xfrm>
            <a:off x="4068235" y="1579852"/>
            <a:ext cx="387981" cy="153335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9525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더보기</a:t>
            </a:r>
            <a:endParaRPr kumimoji="0" lang="en-US" sz="8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14" name="Rounded Rectangle 939"/>
          <p:cNvSpPr/>
          <p:nvPr/>
        </p:nvSpPr>
        <p:spPr>
          <a:xfrm>
            <a:off x="1030127" y="1792706"/>
            <a:ext cx="2723724" cy="6858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pPr algn="ctr"/>
            <a:endParaRPr kumimoji="1" lang="ko-KR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텍스트 상자 31"/>
          <p:cNvSpPr txBox="1"/>
          <p:nvPr/>
        </p:nvSpPr>
        <p:spPr>
          <a:xfrm>
            <a:off x="1109060" y="1845915"/>
            <a:ext cx="3288098" cy="530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endParaRPr lang="en-US" altLang="ko-KR" sz="800" u="sng" smtClean="0">
              <a:solidFill>
                <a:srgbClr val="0070C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endParaRPr lang="en-US" altLang="ko-KR" sz="800" u="sng" smtClean="0">
              <a:solidFill>
                <a:srgbClr val="0070C0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endParaRPr kumimoji="1" lang="ko-KR" altLang="en-US" sz="800" u="sng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3596100" y="1871419"/>
            <a:ext cx="47625" cy="508807"/>
            <a:chOff x="6858000" y="2907897"/>
            <a:chExt cx="47625" cy="508807"/>
          </a:xfrm>
        </p:grpSpPr>
        <p:sp>
          <p:nvSpPr>
            <p:cNvPr id="17" name="모서리가 둥근 직사각형 16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9" name="텍스트 상자 31"/>
          <p:cNvSpPr txBox="1"/>
          <p:nvPr/>
        </p:nvSpPr>
        <p:spPr>
          <a:xfrm>
            <a:off x="430108" y="4010246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" name="텍스트 상자 31"/>
          <p:cNvSpPr txBox="1"/>
          <p:nvPr/>
        </p:nvSpPr>
        <p:spPr>
          <a:xfrm>
            <a:off x="416060" y="3281324"/>
            <a:ext cx="60601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승인제여부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1" name="텍스트 상자 31"/>
          <p:cNvSpPr txBox="1"/>
          <p:nvPr/>
        </p:nvSpPr>
        <p:spPr>
          <a:xfrm>
            <a:off x="416060" y="3648300"/>
            <a:ext cx="525711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목록명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2" name="텍스트 상자 31"/>
          <p:cNvSpPr txBox="1"/>
          <p:nvPr/>
        </p:nvSpPr>
        <p:spPr>
          <a:xfrm>
            <a:off x="414585" y="2972021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설비상태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텍스트 상자 31"/>
          <p:cNvSpPr txBox="1"/>
          <p:nvPr/>
        </p:nvSpPr>
        <p:spPr>
          <a:xfrm>
            <a:off x="1043232" y="297600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사용가능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텍스트 상자 31"/>
          <p:cNvSpPr txBox="1"/>
          <p:nvPr/>
        </p:nvSpPr>
        <p:spPr>
          <a:xfrm>
            <a:off x="1043232" y="3272336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승인제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5" name="텍스트 상자 31"/>
          <p:cNvSpPr txBox="1"/>
          <p:nvPr/>
        </p:nvSpPr>
        <p:spPr>
          <a:xfrm>
            <a:off x="1043232" y="3648300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회의실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" name="텍스트 상자 31"/>
          <p:cNvSpPr txBox="1"/>
          <p:nvPr/>
        </p:nvSpPr>
        <p:spPr>
          <a:xfrm>
            <a:off x="1043231" y="3983723"/>
            <a:ext cx="3288098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endParaRPr kumimoji="1" lang="ko-KR" altLang="en-US" sz="800" u="sng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35" name="텍스트 상자 31"/>
          <p:cNvSpPr txBox="1"/>
          <p:nvPr/>
        </p:nvSpPr>
        <p:spPr>
          <a:xfrm>
            <a:off x="417466" y="2645991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색상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030127" y="2645991"/>
            <a:ext cx="155206" cy="148009"/>
          </a:xfrm>
          <a:prstGeom prst="rect">
            <a:avLst/>
          </a:prstGeom>
          <a:solidFill>
            <a:srgbClr val="FF0066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7" name="텍스트 상자 31"/>
          <p:cNvSpPr txBox="1"/>
          <p:nvPr/>
        </p:nvSpPr>
        <p:spPr>
          <a:xfrm>
            <a:off x="430108" y="4311871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설명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8" name="텍스트 상자 31"/>
          <p:cNvSpPr txBox="1"/>
          <p:nvPr/>
        </p:nvSpPr>
        <p:spPr>
          <a:xfrm>
            <a:off x="1030127" y="4314548"/>
            <a:ext cx="1921426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회의실 정보입니다</a:t>
            </a:r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9" name="텍스트 상자 31"/>
          <p:cNvSpPr txBox="1"/>
          <p:nvPr/>
        </p:nvSpPr>
        <p:spPr>
          <a:xfrm>
            <a:off x="430108" y="4667531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사진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1224206" y="4650912"/>
            <a:ext cx="716882" cy="450000"/>
            <a:chOff x="703722" y="1883625"/>
            <a:chExt cx="1032458" cy="649397"/>
          </a:xfrm>
        </p:grpSpPr>
        <p:sp>
          <p:nvSpPr>
            <p:cNvPr id="58" name="Rectangle 178"/>
            <p:cNvSpPr/>
            <p:nvPr/>
          </p:nvSpPr>
          <p:spPr>
            <a:xfrm>
              <a:off x="703722" y="1887122"/>
              <a:ext cx="1032458" cy="6458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+mn-ea"/>
              </a:endParaRPr>
            </a:p>
          </p:txBody>
        </p:sp>
        <p:grpSp>
          <p:nvGrpSpPr>
            <p:cNvPr id="59" name="Group 179"/>
            <p:cNvGrpSpPr/>
            <p:nvPr/>
          </p:nvGrpSpPr>
          <p:grpSpPr>
            <a:xfrm>
              <a:off x="703722" y="1883625"/>
              <a:ext cx="1032089" cy="649397"/>
              <a:chOff x="1873093" y="1662082"/>
              <a:chExt cx="502639" cy="300527"/>
            </a:xfrm>
          </p:grpSpPr>
          <p:cxnSp>
            <p:nvCxnSpPr>
              <p:cNvPr id="60" name="Straight Connector 180"/>
              <p:cNvCxnSpPr/>
              <p:nvPr/>
            </p:nvCxnSpPr>
            <p:spPr>
              <a:xfrm flipH="1">
                <a:off x="1873093" y="1662082"/>
                <a:ext cx="502639" cy="300527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181"/>
              <p:cNvCxnSpPr/>
              <p:nvPr/>
            </p:nvCxnSpPr>
            <p:spPr>
              <a:xfrm>
                <a:off x="1874989" y="1668970"/>
                <a:ext cx="500742" cy="293639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그룹 49"/>
          <p:cNvGrpSpPr/>
          <p:nvPr/>
        </p:nvGrpSpPr>
        <p:grpSpPr>
          <a:xfrm>
            <a:off x="1973682" y="4650912"/>
            <a:ext cx="716882" cy="450000"/>
            <a:chOff x="703722" y="1883625"/>
            <a:chExt cx="1032458" cy="649397"/>
          </a:xfrm>
        </p:grpSpPr>
        <p:sp>
          <p:nvSpPr>
            <p:cNvPr id="52" name="Rectangle 178"/>
            <p:cNvSpPr/>
            <p:nvPr/>
          </p:nvSpPr>
          <p:spPr>
            <a:xfrm>
              <a:off x="703722" y="1887122"/>
              <a:ext cx="1032458" cy="6458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+mn-ea"/>
              </a:endParaRPr>
            </a:p>
          </p:txBody>
        </p:sp>
        <p:grpSp>
          <p:nvGrpSpPr>
            <p:cNvPr id="53" name="Group 179"/>
            <p:cNvGrpSpPr/>
            <p:nvPr/>
          </p:nvGrpSpPr>
          <p:grpSpPr>
            <a:xfrm>
              <a:off x="703722" y="1883625"/>
              <a:ext cx="1032089" cy="649397"/>
              <a:chOff x="1873093" y="1662082"/>
              <a:chExt cx="502639" cy="300527"/>
            </a:xfrm>
          </p:grpSpPr>
          <p:cxnSp>
            <p:nvCxnSpPr>
              <p:cNvPr id="54" name="Straight Connector 180"/>
              <p:cNvCxnSpPr/>
              <p:nvPr/>
            </p:nvCxnSpPr>
            <p:spPr>
              <a:xfrm flipH="1">
                <a:off x="1873093" y="1662082"/>
                <a:ext cx="502639" cy="300527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181"/>
              <p:cNvCxnSpPr/>
              <p:nvPr/>
            </p:nvCxnSpPr>
            <p:spPr>
              <a:xfrm>
                <a:off x="1874989" y="1668970"/>
                <a:ext cx="500742" cy="293639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4" name="그룹 43"/>
          <p:cNvGrpSpPr/>
          <p:nvPr/>
        </p:nvGrpSpPr>
        <p:grpSpPr>
          <a:xfrm>
            <a:off x="2723158" y="4650912"/>
            <a:ext cx="716882" cy="450000"/>
            <a:chOff x="703722" y="1883625"/>
            <a:chExt cx="1032458" cy="649397"/>
          </a:xfrm>
        </p:grpSpPr>
        <p:sp>
          <p:nvSpPr>
            <p:cNvPr id="46" name="Rectangle 178"/>
            <p:cNvSpPr/>
            <p:nvPr/>
          </p:nvSpPr>
          <p:spPr>
            <a:xfrm>
              <a:off x="703722" y="1887122"/>
              <a:ext cx="1032458" cy="6458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+mn-ea"/>
              </a:endParaRPr>
            </a:p>
          </p:txBody>
        </p:sp>
        <p:grpSp>
          <p:nvGrpSpPr>
            <p:cNvPr id="47" name="Group 179"/>
            <p:cNvGrpSpPr/>
            <p:nvPr/>
          </p:nvGrpSpPr>
          <p:grpSpPr>
            <a:xfrm>
              <a:off x="703722" y="1883625"/>
              <a:ext cx="1032089" cy="649397"/>
              <a:chOff x="1873093" y="1662082"/>
              <a:chExt cx="502639" cy="300527"/>
            </a:xfrm>
          </p:grpSpPr>
          <p:cxnSp>
            <p:nvCxnSpPr>
              <p:cNvPr id="48" name="Straight Connector 180"/>
              <p:cNvCxnSpPr/>
              <p:nvPr/>
            </p:nvCxnSpPr>
            <p:spPr>
              <a:xfrm flipH="1">
                <a:off x="1873093" y="1662082"/>
                <a:ext cx="502639" cy="300527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181"/>
              <p:cNvCxnSpPr/>
              <p:nvPr/>
            </p:nvCxnSpPr>
            <p:spPr>
              <a:xfrm>
                <a:off x="1874989" y="1668970"/>
                <a:ext cx="500742" cy="293639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3" name="그룹 62"/>
          <p:cNvGrpSpPr/>
          <p:nvPr/>
        </p:nvGrpSpPr>
        <p:grpSpPr>
          <a:xfrm>
            <a:off x="3472634" y="4659228"/>
            <a:ext cx="716882" cy="450000"/>
            <a:chOff x="703722" y="1883625"/>
            <a:chExt cx="1032458" cy="649397"/>
          </a:xfrm>
        </p:grpSpPr>
        <p:sp>
          <p:nvSpPr>
            <p:cNvPr id="65" name="Rectangle 178"/>
            <p:cNvSpPr/>
            <p:nvPr/>
          </p:nvSpPr>
          <p:spPr>
            <a:xfrm>
              <a:off x="703722" y="1887122"/>
              <a:ext cx="1032458" cy="6458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+mn-ea"/>
              </a:endParaRPr>
            </a:p>
          </p:txBody>
        </p:sp>
        <p:grpSp>
          <p:nvGrpSpPr>
            <p:cNvPr id="66" name="Group 179"/>
            <p:cNvGrpSpPr/>
            <p:nvPr/>
          </p:nvGrpSpPr>
          <p:grpSpPr>
            <a:xfrm>
              <a:off x="703722" y="1883625"/>
              <a:ext cx="1032089" cy="649397"/>
              <a:chOff x="1873093" y="1662082"/>
              <a:chExt cx="502639" cy="300527"/>
            </a:xfrm>
          </p:grpSpPr>
          <p:cxnSp>
            <p:nvCxnSpPr>
              <p:cNvPr id="67" name="Straight Connector 180"/>
              <p:cNvCxnSpPr/>
              <p:nvPr/>
            </p:nvCxnSpPr>
            <p:spPr>
              <a:xfrm flipH="1">
                <a:off x="1873093" y="1662082"/>
                <a:ext cx="502639" cy="300527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181"/>
              <p:cNvCxnSpPr/>
              <p:nvPr/>
            </p:nvCxnSpPr>
            <p:spPr>
              <a:xfrm>
                <a:off x="1874989" y="1668970"/>
                <a:ext cx="500742" cy="293639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3" name="그룹 72"/>
          <p:cNvGrpSpPr/>
          <p:nvPr/>
        </p:nvGrpSpPr>
        <p:grpSpPr>
          <a:xfrm>
            <a:off x="4262872" y="4659228"/>
            <a:ext cx="146581" cy="450000"/>
            <a:chOff x="4262872" y="5449803"/>
            <a:chExt cx="146581" cy="450000"/>
          </a:xfrm>
        </p:grpSpPr>
        <p:sp>
          <p:nvSpPr>
            <p:cNvPr id="70" name="Rectangle 602"/>
            <p:cNvSpPr/>
            <p:nvPr/>
          </p:nvSpPr>
          <p:spPr>
            <a:xfrm>
              <a:off x="4262872" y="5449803"/>
              <a:ext cx="146581" cy="45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+mn-ea"/>
              </a:endParaRPr>
            </a:p>
          </p:txBody>
        </p:sp>
        <p:sp>
          <p:nvSpPr>
            <p:cNvPr id="71" name="Freeform 14"/>
            <p:cNvSpPr>
              <a:spLocks noChangeArrowheads="1"/>
            </p:cNvSpPr>
            <p:nvPr/>
          </p:nvSpPr>
          <p:spPr bwMode="auto">
            <a:xfrm rot="5400000">
              <a:off x="4294258" y="5640574"/>
              <a:ext cx="90845" cy="68457"/>
            </a:xfrm>
            <a:custGeom>
              <a:avLst/>
              <a:gdLst>
                <a:gd name="T0" fmla="*/ 36 w 316"/>
                <a:gd name="T1" fmla="*/ 193 h 194"/>
                <a:gd name="T2" fmla="*/ 158 w 316"/>
                <a:gd name="T3" fmla="*/ 72 h 194"/>
                <a:gd name="T4" fmla="*/ 280 w 316"/>
                <a:gd name="T5" fmla="*/ 193 h 194"/>
                <a:gd name="T6" fmla="*/ 315 w 316"/>
                <a:gd name="T7" fmla="*/ 158 h 194"/>
                <a:gd name="T8" fmla="*/ 158 w 316"/>
                <a:gd name="T9" fmla="*/ 0 h 194"/>
                <a:gd name="T10" fmla="*/ 0 w 316"/>
                <a:gd name="T11" fmla="*/ 158 h 194"/>
                <a:gd name="T12" fmla="*/ 36 w 316"/>
                <a:gd name="T13" fmla="*/ 193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6" h="194">
                  <a:moveTo>
                    <a:pt x="36" y="193"/>
                  </a:moveTo>
                  <a:lnTo>
                    <a:pt x="158" y="72"/>
                  </a:lnTo>
                  <a:lnTo>
                    <a:pt x="280" y="193"/>
                  </a:lnTo>
                  <a:lnTo>
                    <a:pt x="315" y="158"/>
                  </a:lnTo>
                  <a:lnTo>
                    <a:pt x="158" y="0"/>
                  </a:lnTo>
                  <a:lnTo>
                    <a:pt x="0" y="158"/>
                  </a:lnTo>
                  <a:lnTo>
                    <a:pt x="36" y="193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050">
                <a:latin typeface="+mn-ea"/>
                <a:ea typeface="+mn-ea"/>
              </a:endParaRPr>
            </a:p>
          </p:txBody>
        </p:sp>
      </p:grpSp>
      <p:grpSp>
        <p:nvGrpSpPr>
          <p:cNvPr id="74" name="그룹 73"/>
          <p:cNvGrpSpPr/>
          <p:nvPr/>
        </p:nvGrpSpPr>
        <p:grpSpPr>
          <a:xfrm flipH="1">
            <a:off x="1047749" y="4659228"/>
            <a:ext cx="119497" cy="450000"/>
            <a:chOff x="4262872" y="5449803"/>
            <a:chExt cx="146581" cy="450000"/>
          </a:xfrm>
        </p:grpSpPr>
        <p:sp>
          <p:nvSpPr>
            <p:cNvPr id="75" name="Rectangle 602"/>
            <p:cNvSpPr/>
            <p:nvPr/>
          </p:nvSpPr>
          <p:spPr>
            <a:xfrm>
              <a:off x="4262872" y="5449803"/>
              <a:ext cx="146581" cy="45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latin typeface="+mn-ea"/>
              </a:endParaRPr>
            </a:p>
          </p:txBody>
        </p:sp>
        <p:sp>
          <p:nvSpPr>
            <p:cNvPr id="76" name="Freeform 14"/>
            <p:cNvSpPr>
              <a:spLocks noChangeArrowheads="1"/>
            </p:cNvSpPr>
            <p:nvPr/>
          </p:nvSpPr>
          <p:spPr bwMode="auto">
            <a:xfrm rot="5400000">
              <a:off x="4294258" y="5640574"/>
              <a:ext cx="90845" cy="68457"/>
            </a:xfrm>
            <a:custGeom>
              <a:avLst/>
              <a:gdLst>
                <a:gd name="T0" fmla="*/ 36 w 316"/>
                <a:gd name="T1" fmla="*/ 193 h 194"/>
                <a:gd name="T2" fmla="*/ 158 w 316"/>
                <a:gd name="T3" fmla="*/ 72 h 194"/>
                <a:gd name="T4" fmla="*/ 280 w 316"/>
                <a:gd name="T5" fmla="*/ 193 h 194"/>
                <a:gd name="T6" fmla="*/ 315 w 316"/>
                <a:gd name="T7" fmla="*/ 158 h 194"/>
                <a:gd name="T8" fmla="*/ 158 w 316"/>
                <a:gd name="T9" fmla="*/ 0 h 194"/>
                <a:gd name="T10" fmla="*/ 0 w 316"/>
                <a:gd name="T11" fmla="*/ 158 h 194"/>
                <a:gd name="T12" fmla="*/ 36 w 316"/>
                <a:gd name="T13" fmla="*/ 193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6" h="194">
                  <a:moveTo>
                    <a:pt x="36" y="193"/>
                  </a:moveTo>
                  <a:lnTo>
                    <a:pt x="158" y="72"/>
                  </a:lnTo>
                  <a:lnTo>
                    <a:pt x="280" y="193"/>
                  </a:lnTo>
                  <a:lnTo>
                    <a:pt x="315" y="158"/>
                  </a:lnTo>
                  <a:lnTo>
                    <a:pt x="158" y="0"/>
                  </a:lnTo>
                  <a:lnTo>
                    <a:pt x="0" y="158"/>
                  </a:lnTo>
                  <a:lnTo>
                    <a:pt x="36" y="193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050">
                <a:latin typeface="+mn-ea"/>
                <a:ea typeface="+mn-ea"/>
              </a:endParaRPr>
            </a:p>
          </p:txBody>
        </p:sp>
      </p:grpSp>
      <p:sp>
        <p:nvSpPr>
          <p:cNvPr id="77" name="직사각형"/>
          <p:cNvSpPr/>
          <p:nvPr/>
        </p:nvSpPr>
        <p:spPr>
          <a:xfrm>
            <a:off x="4781506" y="665148"/>
            <a:ext cx="4320000" cy="326867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78" name="Rounded Rectangle 939"/>
          <p:cNvSpPr/>
          <p:nvPr/>
        </p:nvSpPr>
        <p:spPr>
          <a:xfrm>
            <a:off x="5543548" y="882426"/>
            <a:ext cx="3349409" cy="188667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pPr algn="ctr"/>
            <a:endParaRPr kumimoji="1" lang="ko-KR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0" name="직선 연결선 79"/>
          <p:cNvCxnSpPr/>
          <p:nvPr/>
        </p:nvCxnSpPr>
        <p:spPr>
          <a:xfrm>
            <a:off x="5543548" y="925938"/>
            <a:ext cx="3349409" cy="1868062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/>
          <p:nvPr/>
        </p:nvCxnSpPr>
        <p:spPr>
          <a:xfrm flipH="1">
            <a:off x="5543548" y="925938"/>
            <a:ext cx="3349409" cy="1843164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145306" y="6362700"/>
            <a:ext cx="4531469" cy="304800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4603006" y="419100"/>
            <a:ext cx="4531469" cy="304800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88" name="직선 연결선 87"/>
          <p:cNvCxnSpPr/>
          <p:nvPr/>
        </p:nvCxnSpPr>
        <p:spPr>
          <a:xfrm>
            <a:off x="5006173" y="3099824"/>
            <a:ext cx="3994952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218"/>
          <p:cNvSpPr/>
          <p:nvPr/>
        </p:nvSpPr>
        <p:spPr>
          <a:xfrm>
            <a:off x="6574628" y="3306249"/>
            <a:ext cx="740399" cy="287333"/>
          </a:xfrm>
          <a:prstGeom prst="roundRect">
            <a:avLst>
              <a:gd name="adj" fmla="val 8420"/>
            </a:avLst>
          </a:prstGeom>
          <a:solidFill>
            <a:sysClr val="window" lastClr="FFFFFF">
              <a:lumMod val="85000"/>
            </a:sysClr>
          </a:solidFill>
          <a:ln w="9525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확인</a:t>
            </a:r>
            <a:endParaRPr kumimoji="0" lang="en-US" sz="8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92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896407"/>
              </p:ext>
            </p:extLst>
          </p:nvPr>
        </p:nvGraphicFramePr>
        <p:xfrm>
          <a:off x="9290533" y="786383"/>
          <a:ext cx="2835141" cy="1767677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등록된 설비 상세정보 화면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1-1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최대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명까지만 출력시키고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명 초과시 더보기 버튼으로 클릭시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명 단위로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출력시킴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54128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등록된 설비 이미지가 지정된 여역을 초과했을 경우 슬라이드 형식으로 제공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스퀘어 참고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2-1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②에서 선택된 이미지 미리보기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첫번째 이미지를 기본 제공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" name="타원 96"/>
          <p:cNvSpPr>
            <a:spLocks noChangeAspect="1"/>
          </p:cNvSpPr>
          <p:nvPr/>
        </p:nvSpPr>
        <p:spPr>
          <a:xfrm>
            <a:off x="116244" y="59693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0" name="타원 99"/>
          <p:cNvSpPr>
            <a:spLocks noChangeAspect="1"/>
          </p:cNvSpPr>
          <p:nvPr/>
        </p:nvSpPr>
        <p:spPr>
          <a:xfrm>
            <a:off x="249594" y="462601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1" name="타원 100"/>
          <p:cNvSpPr>
            <a:spLocks noChangeAspect="1"/>
          </p:cNvSpPr>
          <p:nvPr/>
        </p:nvSpPr>
        <p:spPr>
          <a:xfrm>
            <a:off x="7117119" y="179708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smtClea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정보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CA6.8.2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</a:p>
        </p:txBody>
      </p:sp>
      <p:cxnSp>
        <p:nvCxnSpPr>
          <p:cNvPr id="3" name="직선 화살표 연결선 2"/>
          <p:cNvCxnSpPr/>
          <p:nvPr/>
        </p:nvCxnSpPr>
        <p:spPr>
          <a:xfrm>
            <a:off x="4181475" y="1734614"/>
            <a:ext cx="0" cy="291722"/>
          </a:xfrm>
          <a:prstGeom prst="straightConnector1">
            <a:avLst/>
          </a:prstGeom>
          <a:ln w="3175">
            <a:solidFill>
              <a:srgbClr val="C0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타원 90"/>
          <p:cNvSpPr>
            <a:spLocks noChangeAspect="1"/>
          </p:cNvSpPr>
          <p:nvPr/>
        </p:nvSpPr>
        <p:spPr>
          <a:xfrm>
            <a:off x="4002444" y="145418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1-1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6" name="Rounded Rectangle 215"/>
          <p:cNvSpPr/>
          <p:nvPr/>
        </p:nvSpPr>
        <p:spPr>
          <a:xfrm>
            <a:off x="4068235" y="2322802"/>
            <a:ext cx="387981" cy="153335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9525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더보기</a:t>
            </a:r>
            <a:endParaRPr kumimoji="0" lang="en-US" sz="8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193" name="그림 192"/>
          <p:cNvPicPr>
            <a:picLocks noChangeAspect="1"/>
          </p:cNvPicPr>
          <p:nvPr/>
        </p:nvPicPr>
        <p:blipFill rotWithShape="1">
          <a:blip r:embed="rId2"/>
          <a:srcRect b="22405"/>
          <a:stretch/>
        </p:blipFill>
        <p:spPr>
          <a:xfrm>
            <a:off x="7854731" y="3988593"/>
            <a:ext cx="1245039" cy="2882114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8829675" y="5124450"/>
            <a:ext cx="276225" cy="276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41" name="직선 화살표 연결선 40"/>
          <p:cNvCxnSpPr/>
          <p:nvPr/>
        </p:nvCxnSpPr>
        <p:spPr>
          <a:xfrm flipV="1">
            <a:off x="8972550" y="4147578"/>
            <a:ext cx="0" cy="957822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7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1"/>
            </p:custDataLst>
          </p:nvPr>
        </p:nvSpPr>
        <p:spPr>
          <a:xfrm>
            <a:off x="312958" y="645653"/>
            <a:ext cx="4536504" cy="3888247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텍스트 상자 31"/>
          <p:cNvSpPr txBox="1"/>
          <p:nvPr/>
        </p:nvSpPr>
        <p:spPr>
          <a:xfrm>
            <a:off x="523058" y="1299603"/>
            <a:ext cx="82379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설비목록명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11" name="직선 연결선[R] 7"/>
          <p:cNvCxnSpPr/>
          <p:nvPr/>
        </p:nvCxnSpPr>
        <p:spPr>
          <a:xfrm>
            <a:off x="1237316" y="1422714"/>
            <a:ext cx="3096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64" name="텍스트 상자 31"/>
          <p:cNvSpPr txBox="1"/>
          <p:nvPr/>
        </p:nvSpPr>
        <p:spPr>
          <a:xfrm>
            <a:off x="523058" y="1632978"/>
            <a:ext cx="82379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5" name="텍스트 상자 31"/>
          <p:cNvSpPr txBox="1"/>
          <p:nvPr/>
        </p:nvSpPr>
        <p:spPr>
          <a:xfrm>
            <a:off x="523058" y="2023503"/>
            <a:ext cx="82379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설명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6" name="Rounded Rectangle 939"/>
          <p:cNvSpPr/>
          <p:nvPr/>
        </p:nvSpPr>
        <p:spPr>
          <a:xfrm>
            <a:off x="1235121" y="1998238"/>
            <a:ext cx="3100389" cy="14879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ctr"/>
          <a:lstStyle/>
          <a:p>
            <a:pPr algn="ctr"/>
            <a:endParaRPr kumimoji="1" lang="ko-KR" altLang="en-US" sz="7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67" name="Group 123"/>
          <p:cNvGrpSpPr/>
          <p:nvPr/>
        </p:nvGrpSpPr>
        <p:grpSpPr>
          <a:xfrm>
            <a:off x="1736664" y="4083656"/>
            <a:ext cx="1652246" cy="287333"/>
            <a:chOff x="4794917" y="5749958"/>
            <a:chExt cx="1197826" cy="187731"/>
          </a:xfrm>
        </p:grpSpPr>
        <p:sp>
          <p:nvSpPr>
            <p:cNvPr id="68" name="Rounded Rectangle 215"/>
            <p:cNvSpPr/>
            <p:nvPr/>
          </p:nvSpPr>
          <p:spPr>
            <a:xfrm>
              <a:off x="5452743" y="5749958"/>
              <a:ext cx="540000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취소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9" name="Rounded Rectangle 218"/>
            <p:cNvSpPr/>
            <p:nvPr/>
          </p:nvSpPr>
          <p:spPr>
            <a:xfrm>
              <a:off x="4794917" y="5749958"/>
              <a:ext cx="536766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noProof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완료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cxnSp>
        <p:nvCxnSpPr>
          <p:cNvPr id="71" name="직선 연결선 70"/>
          <p:cNvCxnSpPr/>
          <p:nvPr/>
        </p:nvCxnSpPr>
        <p:spPr>
          <a:xfrm>
            <a:off x="397204" y="3917937"/>
            <a:ext cx="439406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/>
          <p:nvPr/>
        </p:nvCxnSpPr>
        <p:spPr>
          <a:xfrm>
            <a:off x="4992063" y="1012397"/>
            <a:ext cx="0" cy="2888987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그림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086" y="3766812"/>
            <a:ext cx="1444877" cy="3115326"/>
          </a:xfrm>
          <a:prstGeom prst="rect">
            <a:avLst/>
          </a:prstGeom>
        </p:spPr>
      </p:pic>
      <p:sp>
        <p:nvSpPr>
          <p:cNvPr id="75" name="직사각형 74"/>
          <p:cNvSpPr/>
          <p:nvPr/>
        </p:nvSpPr>
        <p:spPr>
          <a:xfrm>
            <a:off x="8871527" y="4800601"/>
            <a:ext cx="177223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6" name="타원 75"/>
          <p:cNvSpPr>
            <a:spLocks noChangeAspect="1"/>
          </p:cNvSpPr>
          <p:nvPr/>
        </p:nvSpPr>
        <p:spPr>
          <a:xfrm>
            <a:off x="8993544" y="469268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172028"/>
              </p:ext>
            </p:extLst>
          </p:nvPr>
        </p:nvGraphicFramePr>
        <p:xfrm>
          <a:off x="9267471" y="793264"/>
          <a:ext cx="2857473" cy="1224856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LNB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[+] 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클릭시 출력되는 팝업 화면</a:t>
                      </a:r>
                      <a:endParaRPr kumimoji="1" lang="en-US" altLang="ko-KR" sz="80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[+] 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버튼은 관리자일 경우에만 출력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smtClean="0"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공유자 추가 방식은 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 동일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smtClean="0"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LNB</a:t>
                      </a:r>
                      <a:r>
                        <a:rPr kumimoji="1"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에서 선택된 설비 목록을 기본으로 출력</a:t>
                      </a:r>
                      <a:endParaRPr kumimoji="1" lang="en-US" altLang="ko-KR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Select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box 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드롭했을 경우 </a:t>
                      </a:r>
                      <a:r>
                        <a:rPr kumimoji="1" lang="en-US" altLang="ko-KR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LNB</a:t>
                      </a:r>
                      <a:r>
                        <a:rPr kumimoji="1" lang="ko-KR" altLang="en-US" sz="800" baseline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에 출력되는 설비 목록 출력</a:t>
                      </a:r>
                      <a:endParaRPr kumimoji="1" lang="ko-KR" altLang="en-US" sz="8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0" name="모서리가 둥근 직사각형 79"/>
          <p:cNvSpPr/>
          <p:nvPr/>
        </p:nvSpPr>
        <p:spPr>
          <a:xfrm>
            <a:off x="1313653" y="4665026"/>
            <a:ext cx="2495550" cy="285750"/>
          </a:xfrm>
          <a:prstGeom prst="roundRect">
            <a:avLst>
              <a:gd name="adj" fmla="val 50000"/>
            </a:avLst>
          </a:prstGeom>
          <a:solidFill>
            <a:srgbClr val="FFFF00">
              <a:alpha val="85000"/>
            </a:srgb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목록이 추가되었습니다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2" name="직선 화살표 연결선 81"/>
          <p:cNvCxnSpPr/>
          <p:nvPr/>
        </p:nvCxnSpPr>
        <p:spPr>
          <a:xfrm>
            <a:off x="2133600" y="4357128"/>
            <a:ext cx="0" cy="302135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212"/>
          <p:cNvSpPr/>
          <p:nvPr/>
        </p:nvSpPr>
        <p:spPr>
          <a:xfrm>
            <a:off x="327525" y="659016"/>
            <a:ext cx="4516617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84" name="텍스트 상자 31"/>
          <p:cNvSpPr txBox="1"/>
          <p:nvPr/>
        </p:nvSpPr>
        <p:spPr>
          <a:xfrm>
            <a:off x="507398" y="787439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목록</a:t>
            </a:r>
            <a:r>
              <a:rPr kumimoji="1"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추가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목록 추가</a:t>
            </a: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_window pop-up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CA6.8.3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79" name="그룹 78"/>
          <p:cNvGrpSpPr/>
          <p:nvPr/>
        </p:nvGrpSpPr>
        <p:grpSpPr>
          <a:xfrm>
            <a:off x="1219859" y="1531437"/>
            <a:ext cx="3097628" cy="232776"/>
            <a:chOff x="1086509" y="1531437"/>
            <a:chExt cx="3097628" cy="232776"/>
          </a:xfrm>
        </p:grpSpPr>
        <p:cxnSp>
          <p:nvCxnSpPr>
            <p:cNvPr id="87" name="직선 연결선[R] 7"/>
            <p:cNvCxnSpPr/>
            <p:nvPr/>
          </p:nvCxnSpPr>
          <p:spPr>
            <a:xfrm>
              <a:off x="1574030" y="1732503"/>
              <a:ext cx="26101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</p:cxnSp>
        <p:pic>
          <p:nvPicPr>
            <p:cNvPr id="88" name="그림 8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6509" y="1531437"/>
              <a:ext cx="426757" cy="232776"/>
            </a:xfrm>
            <a:prstGeom prst="rect">
              <a:avLst/>
            </a:prstGeom>
          </p:spPr>
        </p:pic>
      </p:grpSp>
      <p:sp>
        <p:nvSpPr>
          <p:cNvPr id="89" name="TextBox 88"/>
          <p:cNvSpPr txBox="1"/>
          <p:nvPr/>
        </p:nvSpPr>
        <p:spPr>
          <a:xfrm>
            <a:off x="3562350" y="3514725"/>
            <a:ext cx="762000" cy="1714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0 / 500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 rot="5400000">
            <a:off x="4810321" y="2328910"/>
            <a:ext cx="574444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800" smtClean="0">
                <a:solidFill>
                  <a:srgbClr val="FF0066"/>
                </a:solidFill>
                <a:latin typeface="+mn-ea"/>
                <a:ea typeface="+mn-ea"/>
              </a:rPr>
              <a:t>Scroll Area</a:t>
            </a:r>
            <a:endParaRPr lang="ko-KR" altLang="en-US" sz="800" dirty="0" smtClean="0">
              <a:solidFill>
                <a:srgbClr val="FF0066"/>
              </a:solidFill>
              <a:latin typeface="+mn-ea"/>
              <a:ea typeface="+mn-ea"/>
            </a:endParaRPr>
          </a:p>
        </p:txBody>
      </p:sp>
      <p:sp>
        <p:nvSpPr>
          <p:cNvPr id="91" name="타원 90"/>
          <p:cNvSpPr>
            <a:spLocks noChangeAspect="1"/>
          </p:cNvSpPr>
          <p:nvPr/>
        </p:nvSpPr>
        <p:spPr>
          <a:xfrm>
            <a:off x="278169" y="1597064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839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#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목록 정보</a:t>
            </a: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_window pop-up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CA6.8.4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9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1"/>
            </p:custDataLst>
          </p:nvPr>
        </p:nvSpPr>
        <p:spPr>
          <a:xfrm>
            <a:off x="312958" y="645653"/>
            <a:ext cx="4536504" cy="3888247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86" name="텍스트 상자 31"/>
          <p:cNvSpPr txBox="1"/>
          <p:nvPr/>
        </p:nvSpPr>
        <p:spPr>
          <a:xfrm>
            <a:off x="523058" y="1299603"/>
            <a:ext cx="82379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설비목록명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cxnSp>
        <p:nvCxnSpPr>
          <p:cNvPr id="87" name="직선 연결선[R] 7"/>
          <p:cNvCxnSpPr/>
          <p:nvPr/>
        </p:nvCxnSpPr>
        <p:spPr>
          <a:xfrm>
            <a:off x="1237316" y="1422714"/>
            <a:ext cx="3096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sp>
        <p:nvSpPr>
          <p:cNvPr id="88" name="텍스트 상자 31"/>
          <p:cNvSpPr txBox="1"/>
          <p:nvPr/>
        </p:nvSpPr>
        <p:spPr>
          <a:xfrm>
            <a:off x="523058" y="1632978"/>
            <a:ext cx="82379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9" name="텍스트 상자 31"/>
          <p:cNvSpPr txBox="1"/>
          <p:nvPr/>
        </p:nvSpPr>
        <p:spPr>
          <a:xfrm>
            <a:off x="523058" y="2023503"/>
            <a:ext cx="82379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설명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0" name="Rounded Rectangle 939"/>
          <p:cNvSpPr/>
          <p:nvPr/>
        </p:nvSpPr>
        <p:spPr>
          <a:xfrm>
            <a:off x="1235121" y="1998238"/>
            <a:ext cx="3100389" cy="148791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6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72000" tIns="0" rIns="0" bIns="0" anchor="t"/>
          <a:lstStyle/>
          <a:p>
            <a:endParaRPr kumimoji="1" lang="en-US" altLang="ko-KR" sz="800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  <a:p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회의실 설비 목록 입니다</a:t>
            </a:r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91" name="Group 123"/>
          <p:cNvGrpSpPr/>
          <p:nvPr/>
        </p:nvGrpSpPr>
        <p:grpSpPr>
          <a:xfrm>
            <a:off x="1736664" y="4083656"/>
            <a:ext cx="1652246" cy="287333"/>
            <a:chOff x="4794917" y="5749958"/>
            <a:chExt cx="1197826" cy="187731"/>
          </a:xfrm>
        </p:grpSpPr>
        <p:sp>
          <p:nvSpPr>
            <p:cNvPr id="92" name="Rounded Rectangle 215"/>
            <p:cNvSpPr/>
            <p:nvPr/>
          </p:nvSpPr>
          <p:spPr>
            <a:xfrm>
              <a:off x="5452743" y="5749958"/>
              <a:ext cx="540000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취소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3" name="Rounded Rectangle 218"/>
            <p:cNvSpPr/>
            <p:nvPr/>
          </p:nvSpPr>
          <p:spPr>
            <a:xfrm>
              <a:off x="4794917" y="5749958"/>
              <a:ext cx="536766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noProof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완료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cxnSp>
        <p:nvCxnSpPr>
          <p:cNvPr id="94" name="직선 연결선 93"/>
          <p:cNvCxnSpPr/>
          <p:nvPr/>
        </p:nvCxnSpPr>
        <p:spPr>
          <a:xfrm>
            <a:off x="397204" y="3917937"/>
            <a:ext cx="439406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/>
          <p:nvPr/>
        </p:nvCxnSpPr>
        <p:spPr>
          <a:xfrm>
            <a:off x="4992063" y="1012397"/>
            <a:ext cx="0" cy="2888987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212"/>
          <p:cNvSpPr/>
          <p:nvPr/>
        </p:nvSpPr>
        <p:spPr>
          <a:xfrm>
            <a:off x="327525" y="659016"/>
            <a:ext cx="4516617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97" name="텍스트 상자 31"/>
          <p:cNvSpPr txBox="1"/>
          <p:nvPr/>
        </p:nvSpPr>
        <p:spPr>
          <a:xfrm>
            <a:off x="507398" y="787439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목록 정보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98" name="그룹 97"/>
          <p:cNvGrpSpPr/>
          <p:nvPr/>
        </p:nvGrpSpPr>
        <p:grpSpPr>
          <a:xfrm>
            <a:off x="1219859" y="1531437"/>
            <a:ext cx="3097628" cy="232776"/>
            <a:chOff x="1086509" y="1531437"/>
            <a:chExt cx="3097628" cy="232776"/>
          </a:xfrm>
        </p:grpSpPr>
        <p:cxnSp>
          <p:nvCxnSpPr>
            <p:cNvPr id="99" name="직선 연결선[R] 7"/>
            <p:cNvCxnSpPr/>
            <p:nvPr/>
          </p:nvCxnSpPr>
          <p:spPr>
            <a:xfrm>
              <a:off x="1574030" y="1732503"/>
              <a:ext cx="26101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</p:cxnSp>
        <p:pic>
          <p:nvPicPr>
            <p:cNvPr id="100" name="그림 9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6509" y="1531437"/>
              <a:ext cx="426757" cy="232776"/>
            </a:xfrm>
            <a:prstGeom prst="rect">
              <a:avLst/>
            </a:prstGeom>
          </p:spPr>
        </p:pic>
      </p:grpSp>
      <p:sp>
        <p:nvSpPr>
          <p:cNvPr id="101" name="TextBox 100"/>
          <p:cNvSpPr txBox="1"/>
          <p:nvPr/>
        </p:nvSpPr>
        <p:spPr>
          <a:xfrm>
            <a:off x="3562350" y="3514725"/>
            <a:ext cx="762000" cy="1714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0 / 500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  <p:sp>
        <p:nvSpPr>
          <p:cNvPr id="102" name="TextBox 101"/>
          <p:cNvSpPr txBox="1"/>
          <p:nvPr/>
        </p:nvSpPr>
        <p:spPr>
          <a:xfrm rot="5400000">
            <a:off x="4810321" y="2328910"/>
            <a:ext cx="574444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800" smtClean="0">
                <a:solidFill>
                  <a:srgbClr val="FF0066"/>
                </a:solidFill>
                <a:latin typeface="+mn-ea"/>
                <a:ea typeface="+mn-ea"/>
              </a:rPr>
              <a:t>Scroll Area</a:t>
            </a:r>
            <a:endParaRPr lang="ko-KR" altLang="en-US" sz="800" dirty="0" smtClean="0">
              <a:solidFill>
                <a:srgbClr val="FF0066"/>
              </a:solidFill>
              <a:latin typeface="+mn-ea"/>
              <a:ea typeface="+mn-ea"/>
            </a:endParaRPr>
          </a:p>
        </p:txBody>
      </p:sp>
      <p:pic>
        <p:nvPicPr>
          <p:cNvPr id="103" name="그림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086" y="3766812"/>
            <a:ext cx="1444877" cy="3115326"/>
          </a:xfrm>
          <a:prstGeom prst="rect">
            <a:avLst/>
          </a:prstGeom>
        </p:spPr>
      </p:pic>
      <p:sp>
        <p:nvSpPr>
          <p:cNvPr id="104" name="직사각형 103"/>
          <p:cNvSpPr/>
          <p:nvPr/>
        </p:nvSpPr>
        <p:spPr>
          <a:xfrm>
            <a:off x="8655488" y="5036737"/>
            <a:ext cx="177223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5" name="타원 104"/>
          <p:cNvSpPr>
            <a:spLocks noChangeAspect="1"/>
          </p:cNvSpPr>
          <p:nvPr/>
        </p:nvSpPr>
        <p:spPr>
          <a:xfrm>
            <a:off x="8777505" y="4928825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1313653" y="4645976"/>
            <a:ext cx="2495550" cy="285750"/>
          </a:xfrm>
          <a:prstGeom prst="roundRect">
            <a:avLst>
              <a:gd name="adj" fmla="val 50000"/>
            </a:avLst>
          </a:prstGeom>
          <a:solidFill>
            <a:srgbClr val="FFFF00">
              <a:alpha val="85000"/>
            </a:srgb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수정되었습니다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2" name="직선 화살표 연결선 81"/>
          <p:cNvCxnSpPr/>
          <p:nvPr/>
        </p:nvCxnSpPr>
        <p:spPr>
          <a:xfrm>
            <a:off x="2133600" y="4338078"/>
            <a:ext cx="0" cy="302135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190624" y="1261988"/>
            <a:ext cx="962025" cy="138187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회의실</a:t>
            </a:r>
          </a:p>
        </p:txBody>
      </p:sp>
      <p:grpSp>
        <p:nvGrpSpPr>
          <p:cNvPr id="107" name="그룹 106"/>
          <p:cNvGrpSpPr/>
          <p:nvPr/>
        </p:nvGrpSpPr>
        <p:grpSpPr>
          <a:xfrm>
            <a:off x="1720585" y="1536802"/>
            <a:ext cx="2311928" cy="164895"/>
            <a:chOff x="5454385" y="3327502"/>
            <a:chExt cx="2311928" cy="164895"/>
          </a:xfrm>
        </p:grpSpPr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109" name="그림 10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110" name="그림 10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graphicFrame>
        <p:nvGraphicFramePr>
          <p:cNvPr id="11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520877"/>
              </p:ext>
            </p:extLst>
          </p:nvPr>
        </p:nvGraphicFramePr>
        <p:xfrm>
          <a:off x="9286521" y="802789"/>
          <a:ext cx="2857473" cy="807416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설비 목록버튼     클릭시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뷰화면이 아닌 수정화면으로 출력</a:t>
                      </a:r>
                      <a:endParaRPr kumimoji="1" lang="en-US" altLang="ko-KR" sz="80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화면구조는 설비 추가와 동일 하나 타이틀 및 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submit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버튼만 다름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pic>
        <p:nvPicPr>
          <p:cNvPr id="115" name="그림 1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682" y="1064475"/>
            <a:ext cx="152186" cy="15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1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1"/>
            </p:custDataLst>
          </p:nvPr>
        </p:nvSpPr>
        <p:spPr>
          <a:xfrm>
            <a:off x="312958" y="645654"/>
            <a:ext cx="4536504" cy="3288172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sz="900" b="0" i="0" u="none" strike="noStrike" kern="1200" cap="none" spc="0" normalizeH="0" baseline="0" noProof="0" dirty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텍스트 상자 31"/>
          <p:cNvSpPr txBox="1"/>
          <p:nvPr/>
        </p:nvSpPr>
        <p:spPr>
          <a:xfrm>
            <a:off x="523058" y="1299603"/>
            <a:ext cx="82379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설비목록명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4" name="텍스트 상자 31"/>
          <p:cNvSpPr txBox="1"/>
          <p:nvPr/>
        </p:nvSpPr>
        <p:spPr>
          <a:xfrm>
            <a:off x="523058" y="1632978"/>
            <a:ext cx="82379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5" name="텍스트 상자 31"/>
          <p:cNvSpPr txBox="1"/>
          <p:nvPr/>
        </p:nvSpPr>
        <p:spPr>
          <a:xfrm>
            <a:off x="523058" y="1966353"/>
            <a:ext cx="82379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설명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71" name="직선 연결선 70"/>
          <p:cNvCxnSpPr/>
          <p:nvPr/>
        </p:nvCxnSpPr>
        <p:spPr>
          <a:xfrm>
            <a:off x="397204" y="3241662"/>
            <a:ext cx="439406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텍스트 상자 31"/>
          <p:cNvSpPr txBox="1"/>
          <p:nvPr/>
        </p:nvSpPr>
        <p:spPr>
          <a:xfrm>
            <a:off x="1248225" y="1299603"/>
            <a:ext cx="82379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회의실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1" name="텍스트 상자 31"/>
          <p:cNvSpPr txBox="1"/>
          <p:nvPr/>
        </p:nvSpPr>
        <p:spPr>
          <a:xfrm>
            <a:off x="1248225" y="1966353"/>
            <a:ext cx="2590046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회의실 정보 입니다</a:t>
            </a:r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  <a:endParaRPr kumimoji="1" lang="ko-KR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4" name="Rounded Rectangle 218"/>
          <p:cNvSpPr/>
          <p:nvPr/>
        </p:nvSpPr>
        <p:spPr>
          <a:xfrm>
            <a:off x="2161293" y="3391123"/>
            <a:ext cx="740399" cy="287333"/>
          </a:xfrm>
          <a:prstGeom prst="roundRect">
            <a:avLst>
              <a:gd name="adj" fmla="val 8420"/>
            </a:avLst>
          </a:prstGeom>
          <a:solidFill>
            <a:sysClr val="window" lastClr="FFFFFF">
              <a:lumMod val="85000"/>
            </a:sysClr>
          </a:solidFill>
          <a:ln w="9525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확인</a:t>
            </a:r>
            <a:endParaRPr kumimoji="0" lang="en-US" sz="8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86" name="그림 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086" y="3766812"/>
            <a:ext cx="1444877" cy="3115326"/>
          </a:xfrm>
          <a:prstGeom prst="rect">
            <a:avLst/>
          </a:prstGeom>
        </p:spPr>
      </p:pic>
      <p:sp>
        <p:nvSpPr>
          <p:cNvPr id="87" name="직사각형 86"/>
          <p:cNvSpPr/>
          <p:nvPr/>
        </p:nvSpPr>
        <p:spPr>
          <a:xfrm>
            <a:off x="8627650" y="5007429"/>
            <a:ext cx="202331" cy="1809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8" name="타원 87"/>
          <p:cNvSpPr>
            <a:spLocks noChangeAspect="1"/>
          </p:cNvSpPr>
          <p:nvPr/>
        </p:nvSpPr>
        <p:spPr>
          <a:xfrm>
            <a:off x="8783994" y="4940339"/>
            <a:ext cx="178657" cy="180000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8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282806"/>
              </p:ext>
            </p:extLst>
          </p:nvPr>
        </p:nvGraphicFramePr>
        <p:xfrm>
          <a:off x="9267471" y="745639"/>
          <a:ext cx="2857473" cy="563576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 사용자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공유자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     </a:t>
                      </a:r>
                      <a:r>
                        <a:rPr kumimoji="1" lang="ko-KR" altLang="en-US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클릭시</a:t>
                      </a:r>
                      <a:r>
                        <a:rPr kumimoji="1" lang="en-US" altLang="ko-KR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 목록 정보 화면 출력</a:t>
                      </a:r>
                      <a:endParaRPr kumimoji="1" lang="en-US" altLang="ko-KR" sz="80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32" name="Rectangle 212"/>
          <p:cNvSpPr/>
          <p:nvPr/>
        </p:nvSpPr>
        <p:spPr>
          <a:xfrm>
            <a:off x="327525" y="659016"/>
            <a:ext cx="4516617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33" name="텍스트 상자 31"/>
          <p:cNvSpPr txBox="1"/>
          <p:nvPr/>
        </p:nvSpPr>
        <p:spPr>
          <a:xfrm>
            <a:off x="507398" y="787439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목록</a:t>
            </a:r>
            <a:r>
              <a:rPr kumimoji="1" lang="en-US" altLang="ko-KR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정보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목록 정보</a:t>
            </a: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_window pop-up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CA6.8.4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텍스트 상자 31"/>
          <p:cNvSpPr txBox="1"/>
          <p:nvPr/>
        </p:nvSpPr>
        <p:spPr>
          <a:xfrm>
            <a:off x="1233731" y="1596124"/>
            <a:ext cx="3288098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 </a:t>
            </a:r>
            <a:r>
              <a:rPr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외 </a:t>
            </a:r>
            <a:r>
              <a:rPr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15</a:t>
            </a:r>
            <a:r>
              <a:rPr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명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endParaRPr kumimoji="1" lang="ko-KR" altLang="en-US" sz="800" u="sng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37" name="Rounded Rectangle 215"/>
          <p:cNvSpPr/>
          <p:nvPr/>
        </p:nvSpPr>
        <p:spPr>
          <a:xfrm>
            <a:off x="4182535" y="1579852"/>
            <a:ext cx="387981" cy="153335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9525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더보기</a:t>
            </a:r>
            <a:endParaRPr kumimoji="0" lang="en-US" sz="8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cxnSp>
        <p:nvCxnSpPr>
          <p:cNvPr id="38" name="직선 화살표 연결선 37"/>
          <p:cNvCxnSpPr/>
          <p:nvPr/>
        </p:nvCxnSpPr>
        <p:spPr>
          <a:xfrm>
            <a:off x="4992063" y="1066821"/>
            <a:ext cx="0" cy="2170539"/>
          </a:xfrm>
          <a:prstGeom prst="straightConnector1">
            <a:avLst/>
          </a:prstGeom>
          <a:ln w="19050">
            <a:solidFill>
              <a:srgbClr val="FF0066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5400000">
            <a:off x="4810321" y="2119360"/>
            <a:ext cx="574444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800" smtClean="0">
                <a:solidFill>
                  <a:srgbClr val="FF0066"/>
                </a:solidFill>
                <a:latin typeface="+mn-ea"/>
                <a:ea typeface="+mn-ea"/>
              </a:rPr>
              <a:t>Scroll Area</a:t>
            </a:r>
            <a:endParaRPr lang="ko-KR" altLang="en-US" sz="800" dirty="0" smtClean="0">
              <a:solidFill>
                <a:srgbClr val="FF0066"/>
              </a:solidFill>
              <a:latin typeface="+mn-ea"/>
              <a:ea typeface="+mn-ea"/>
            </a:endParaRPr>
          </a:p>
        </p:txBody>
      </p:sp>
      <p:pic>
        <p:nvPicPr>
          <p:cNvPr id="40" name="그림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807" y="1007325"/>
            <a:ext cx="152186" cy="15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5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69" y="1426493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</a:t>
            </a:r>
            <a:r>
              <a:rPr kumimoji="1" lang="ko-KR" altLang="en-US" sz="2800" b="1" i="0" u="none" strike="noStrike" kern="1200" cap="none" spc="0" normalizeH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그룹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49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27227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7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1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설비 </a:t>
            </a:r>
            <a:r>
              <a:rPr kumimoji="1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예약하기</a:t>
            </a:r>
            <a:endParaRPr kumimoji="1" lang="x-none" altLang="x-none" sz="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16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1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설정</a:t>
              </a:r>
              <a:endParaRPr kumimoji="1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cxnSp>
        <p:nvCxnSpPr>
          <p:cNvPr id="13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[R] 7"/>
          <p:cNvCxnSpPr/>
          <p:nvPr/>
        </p:nvCxnSpPr>
        <p:spPr>
          <a:xfrm>
            <a:off x="2019038" y="1063409"/>
            <a:ext cx="55241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20" name="직선 연결선[R] 7"/>
          <p:cNvCxnSpPr/>
          <p:nvPr/>
        </p:nvCxnSpPr>
        <p:spPr>
          <a:xfrm>
            <a:off x="1971413" y="106340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24" name="텍스트 상자 31"/>
          <p:cNvSpPr txBox="1"/>
          <p:nvPr/>
        </p:nvSpPr>
        <p:spPr>
          <a:xfrm>
            <a:off x="2081146" y="839242"/>
            <a:ext cx="156575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2017.09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5" name="Group 532"/>
          <p:cNvGrpSpPr/>
          <p:nvPr/>
        </p:nvGrpSpPr>
        <p:grpSpPr>
          <a:xfrm>
            <a:off x="2729701" y="851474"/>
            <a:ext cx="540610" cy="144000"/>
            <a:chOff x="3113961" y="1702107"/>
            <a:chExt cx="540610" cy="144000"/>
          </a:xfrm>
        </p:grpSpPr>
        <p:sp>
          <p:nvSpPr>
            <p:cNvPr id="26" name="Freeform 9"/>
            <p:cNvSpPr>
              <a:spLocks noChangeArrowheads="1"/>
            </p:cNvSpPr>
            <p:nvPr/>
          </p:nvSpPr>
          <p:spPr bwMode="auto">
            <a:xfrm>
              <a:off x="31139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27" name="Freeform 10"/>
            <p:cNvSpPr>
              <a:spLocks noChangeArrowheads="1"/>
            </p:cNvSpPr>
            <p:nvPr/>
          </p:nvSpPr>
          <p:spPr bwMode="auto">
            <a:xfrm>
              <a:off x="32475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28" name="Rounded Rectangle 535"/>
            <p:cNvSpPr/>
            <p:nvPr/>
          </p:nvSpPr>
          <p:spPr>
            <a:xfrm>
              <a:off x="3373429" y="1702107"/>
              <a:ext cx="281142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오늘</a:t>
              </a: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3" name="그룹 132"/>
          <p:cNvGrpSpPr/>
          <p:nvPr/>
        </p:nvGrpSpPr>
        <p:grpSpPr>
          <a:xfrm>
            <a:off x="7267391" y="829761"/>
            <a:ext cx="1030245" cy="180000"/>
            <a:chOff x="6443058" y="1673426"/>
            <a:chExt cx="1030245" cy="180000"/>
          </a:xfrm>
        </p:grpSpPr>
        <p:grpSp>
          <p:nvGrpSpPr>
            <p:cNvPr id="134" name="Group 21"/>
            <p:cNvGrpSpPr/>
            <p:nvPr/>
          </p:nvGrpSpPr>
          <p:grpSpPr>
            <a:xfrm>
              <a:off x="6443058" y="1673426"/>
              <a:ext cx="344208" cy="180000"/>
              <a:chOff x="6706916" y="1673426"/>
              <a:chExt cx="344208" cy="180000"/>
            </a:xfrm>
          </p:grpSpPr>
          <p:sp>
            <p:nvSpPr>
              <p:cNvPr id="152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53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54" name="Rectangle 625"/>
              <p:cNvSpPr/>
              <p:nvPr/>
            </p:nvSpPr>
            <p:spPr>
              <a:xfrm>
                <a:off x="6745093" y="1714887"/>
                <a:ext cx="77071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55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월간</a:t>
                </a:r>
                <a:endParaRPr kumimoji="1" lang="ko-KR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5" name="Group 548"/>
            <p:cNvGrpSpPr/>
            <p:nvPr/>
          </p:nvGrpSpPr>
          <p:grpSpPr>
            <a:xfrm>
              <a:off x="6784180" y="1673426"/>
              <a:ext cx="344208" cy="180000"/>
              <a:chOff x="6706916" y="1673426"/>
              <a:chExt cx="344208" cy="180000"/>
            </a:xfrm>
          </p:grpSpPr>
          <p:sp>
            <p:nvSpPr>
              <p:cNvPr id="150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51" name="텍스트 상자 31"/>
              <p:cNvSpPr txBox="1"/>
              <p:nvPr/>
            </p:nvSpPr>
            <p:spPr>
              <a:xfrm>
                <a:off x="6852300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주간</a:t>
                </a:r>
                <a:endParaRPr kumimoji="1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6" name="Group 22"/>
            <p:cNvGrpSpPr/>
            <p:nvPr/>
          </p:nvGrpSpPr>
          <p:grpSpPr>
            <a:xfrm>
              <a:off x="6812150" y="1714887"/>
              <a:ext cx="102895" cy="76173"/>
              <a:chOff x="7271815" y="1714887"/>
              <a:chExt cx="102895" cy="76173"/>
            </a:xfrm>
          </p:grpSpPr>
          <p:sp>
            <p:nvSpPr>
              <p:cNvPr id="147" name="Rectangle 625"/>
              <p:cNvSpPr/>
              <p:nvPr/>
            </p:nvSpPr>
            <p:spPr>
              <a:xfrm>
                <a:off x="7338279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48" name="Rectangle 625"/>
              <p:cNvSpPr/>
              <p:nvPr/>
            </p:nvSpPr>
            <p:spPr>
              <a:xfrm>
                <a:off x="7305047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49" name="Rectangle 625"/>
              <p:cNvSpPr/>
              <p:nvPr/>
            </p:nvSpPr>
            <p:spPr>
              <a:xfrm>
                <a:off x="7271815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</p:grpSp>
        <p:grpSp>
          <p:nvGrpSpPr>
            <p:cNvPr id="137" name="Group 553"/>
            <p:cNvGrpSpPr/>
            <p:nvPr/>
          </p:nvGrpSpPr>
          <p:grpSpPr>
            <a:xfrm>
              <a:off x="7129095" y="1673426"/>
              <a:ext cx="344208" cy="180000"/>
              <a:chOff x="6706916" y="1673426"/>
              <a:chExt cx="344208" cy="180000"/>
            </a:xfrm>
          </p:grpSpPr>
          <p:sp>
            <p:nvSpPr>
              <p:cNvPr id="144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noFill/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45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146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일간</a:t>
                </a:r>
                <a:endParaRPr kumimoji="1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72" name="Group 168"/>
          <p:cNvGrpSpPr/>
          <p:nvPr/>
        </p:nvGrpSpPr>
        <p:grpSpPr>
          <a:xfrm>
            <a:off x="8791684" y="816988"/>
            <a:ext cx="162000" cy="180000"/>
            <a:chOff x="7681408" y="2293428"/>
            <a:chExt cx="161707" cy="180000"/>
          </a:xfrm>
        </p:grpSpPr>
        <p:sp>
          <p:nvSpPr>
            <p:cNvPr id="73" name="Rounded Rectangle 169"/>
            <p:cNvSpPr/>
            <p:nvPr/>
          </p:nvSpPr>
          <p:spPr>
            <a:xfrm>
              <a:off x="7681408" y="2293428"/>
              <a:ext cx="161707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74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8499465" y="817141"/>
            <a:ext cx="216000" cy="180000"/>
            <a:chOff x="8455344" y="813130"/>
            <a:chExt cx="216000" cy="180000"/>
          </a:xfrm>
        </p:grpSpPr>
        <p:sp>
          <p:nvSpPr>
            <p:cNvPr id="76" name="Rounded Rectangle 169"/>
            <p:cNvSpPr/>
            <p:nvPr/>
          </p:nvSpPr>
          <p:spPr>
            <a:xfrm>
              <a:off x="8455344" y="813130"/>
              <a:ext cx="216000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pic>
          <p:nvPicPr>
            <p:cNvPr id="77" name="내용 개체 틀 3"/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3805" y="824238"/>
              <a:ext cx="162000" cy="162000"/>
            </a:xfrm>
            <a:prstGeom prst="rect">
              <a:avLst/>
            </a:prstGeom>
          </p:spPr>
        </p:pic>
      </p:grpSp>
      <p:graphicFrame>
        <p:nvGraphicFramePr>
          <p:cNvPr id="101" name="내용 개체 틀 2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6636134"/>
              </p:ext>
            </p:extLst>
          </p:nvPr>
        </p:nvGraphicFramePr>
        <p:xfrm>
          <a:off x="1995980" y="1109402"/>
          <a:ext cx="7025781" cy="495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3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3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36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36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36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70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일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월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화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수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목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금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토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657506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27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28</a:t>
                      </a:r>
                      <a:endParaRPr lang="ko-KR" altLang="en-US" sz="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29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30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31</a:t>
                      </a:r>
                      <a:endParaRPr lang="ko-KR" altLang="en-US" sz="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8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12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13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14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15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16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17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18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19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21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22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23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24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25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26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27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28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29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31</a:t>
                      </a:r>
                      <a:endParaRPr lang="ko-KR" altLang="en-US" sz="8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ko-KR" altLang="en-US" sz="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ko-KR" altLang="en-US" sz="80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ko-KR" altLang="en-US" sz="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smtClean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ko-KR" altLang="en-US" sz="80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9" name="TextBox 128"/>
          <p:cNvSpPr txBox="1"/>
          <p:nvPr/>
        </p:nvSpPr>
        <p:spPr>
          <a:xfrm>
            <a:off x="6288187" y="821037"/>
            <a:ext cx="887029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내 예약한 설비 확인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#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설비그룹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월간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설비그룹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CA6.5.1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199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00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설비 </a:t>
            </a:r>
            <a:r>
              <a:rPr kumimoji="1" lang="en-US" altLang="ko-KR" sz="700" b="1" dirty="0" smtClean="0">
                <a:solidFill>
                  <a:srgbClr val="FF0000"/>
                </a:solidFill>
                <a:latin typeface="+mn-ea"/>
              </a:rPr>
              <a:t>3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01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2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204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05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208" name="그룹 207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209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217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21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1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2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2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22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2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2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2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26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23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6163136" y="862458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3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36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4017576" y="2304891"/>
            <a:ext cx="988177" cy="444171"/>
            <a:chOff x="4029299" y="2322475"/>
            <a:chExt cx="972000" cy="478928"/>
          </a:xfrm>
        </p:grpSpPr>
        <p:sp>
          <p:nvSpPr>
            <p:cNvPr id="117" name="Rectangle 14"/>
            <p:cNvSpPr>
              <a:spLocks/>
            </p:cNvSpPr>
            <p:nvPr/>
          </p:nvSpPr>
          <p:spPr bwMode="auto">
            <a:xfrm>
              <a:off x="4029299" y="2492127"/>
              <a:ext cx="972000" cy="144000"/>
            </a:xfrm>
            <a:prstGeom prst="rect">
              <a:avLst/>
            </a:prstGeom>
            <a:solidFill>
              <a:srgbClr val="FFC000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>
                <a:lnSpc>
                  <a:spcPct val="120000"/>
                </a:lnSpc>
              </a:pPr>
              <a:r>
                <a:rPr kumimoji="1" lang="ko-KR" altLang="en-US" sz="60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ko-KR" altLang="en-US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고객미팅          오후</a:t>
              </a:r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01:30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8" name="Rectangle 14"/>
            <p:cNvSpPr>
              <a:spLocks/>
            </p:cNvSpPr>
            <p:nvPr/>
          </p:nvSpPr>
          <p:spPr bwMode="auto">
            <a:xfrm>
              <a:off x="4029299" y="2657403"/>
              <a:ext cx="972000" cy="144000"/>
            </a:xfrm>
            <a:prstGeom prst="rect">
              <a:avLst/>
            </a:prstGeom>
            <a:solidFill>
              <a:srgbClr val="92D050"/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>
                <a:lnSpc>
                  <a:spcPct val="120000"/>
                </a:lnSpc>
              </a:pPr>
              <a:r>
                <a:rPr kumimoji="1" lang="ko-KR" altLang="en-US" sz="600" dirty="0" smtClean="0">
                  <a:solidFill>
                    <a:schemeClr val="bg1">
                      <a:lumMod val="75000"/>
                    </a:schemeClr>
                  </a:solidFill>
                  <a:latin typeface="+mn-ea"/>
                  <a:ea typeface="+mn-ea"/>
                </a:rPr>
                <a:t> </a:t>
              </a:r>
              <a:r>
                <a:rPr lang="en-US" altLang="ko-KR" sz="6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UX</a:t>
              </a:r>
              <a:r>
                <a:rPr lang="ko-KR" altLang="en-US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교육             오후</a:t>
              </a:r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03:00</a:t>
              </a:r>
              <a:endParaRPr lang="ko-KR" altLang="en-US" sz="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19" name="Rectangle 14"/>
            <p:cNvSpPr>
              <a:spLocks/>
            </p:cNvSpPr>
            <p:nvPr/>
          </p:nvSpPr>
          <p:spPr bwMode="auto">
            <a:xfrm>
              <a:off x="4029299" y="2322475"/>
              <a:ext cx="972000" cy="14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  <a:extLst/>
          </p:spPr>
          <p:txBody>
            <a:bodyPr lIns="0" tIns="0" rIns="0" bIns="0" anchor="ctr"/>
            <a:lstStyle/>
            <a:p>
              <a:pPr>
                <a:lnSpc>
                  <a:spcPct val="120000"/>
                </a:lnSpc>
              </a:pPr>
              <a:r>
                <a:rPr kumimoji="1" lang="ko-KR" altLang="en-US" sz="600" dirty="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 임원보고          </a:t>
              </a:r>
              <a:r>
                <a:rPr kumimoji="1" lang="ko-KR" altLang="en-US" sz="60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오전</a:t>
              </a:r>
              <a:r>
                <a:rPr kumimoji="1" lang="en-US" altLang="ko-KR" sz="600" smtClean="0">
                  <a:solidFill>
                    <a:schemeClr val="bg1">
                      <a:lumMod val="65000"/>
                    </a:schemeClr>
                  </a:solidFill>
                  <a:latin typeface="+mn-ea"/>
                  <a:ea typeface="+mn-ea"/>
                </a:rPr>
                <a:t>10:00</a:t>
              </a:r>
              <a:endParaRPr kumimoji="1" lang="ko-KR" altLang="en-US" sz="6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142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439370"/>
              </p:ext>
            </p:extLst>
          </p:nvPr>
        </p:nvGraphicFramePr>
        <p:xfrm>
          <a:off x="9286521" y="802789"/>
          <a:ext cx="2857473" cy="1224856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altLang="ko-KR" sz="800" dirty="0" smtClean="0"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설비그룹도 일반 설비와 동일하게 캘린더에 출력되고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b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상세등 관련 정보도 동일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smtClean="0">
                          <a:latin typeface="+mj-ea"/>
                          <a:ea typeface="+mj-ea"/>
                          <a:cs typeface="Nanum Gothic" charset="-127"/>
                        </a:rPr>
                        <a:t>2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관리자에게만 출력</a:t>
                      </a:r>
                      <a:endParaRPr kumimoji="1" lang="en-US" altLang="ko-KR" sz="80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클릭시 설비 그룹을 설정할 수 있는 팝업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CA6.9.2.1)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47868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smtClean="0">
                          <a:latin typeface="+mj-ea"/>
                          <a:ea typeface="+mj-ea"/>
                          <a:cs typeface="Nanum Gothic" charset="-127"/>
                        </a:rPr>
                        <a:t>3</a:t>
                      </a:r>
                      <a:endParaRPr sz="800" dirty="0"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 그룹 정보를 확인할 수 있는 팝업 출력</a:t>
                      </a:r>
                      <a:endParaRPr kumimoji="1"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746081"/>
                  </a:ext>
                </a:extLst>
              </a:tr>
            </a:tbl>
          </a:graphicData>
        </a:graphic>
      </p:graphicFrame>
      <p:sp>
        <p:nvSpPr>
          <p:cNvPr id="157" name="텍스트 상자 31"/>
          <p:cNvSpPr txBox="1"/>
          <p:nvPr/>
        </p:nvSpPr>
        <p:spPr>
          <a:xfrm>
            <a:off x="672858" y="39278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58" name="Freeform 24"/>
          <p:cNvSpPr>
            <a:spLocks noChangeArrowheads="1"/>
          </p:cNvSpPr>
          <p:nvPr/>
        </p:nvSpPr>
        <p:spPr bwMode="auto">
          <a:xfrm>
            <a:off x="674470" y="40290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691552" y="3751132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67" name="타원 166"/>
          <p:cNvSpPr>
            <a:spLocks noChangeAspect="1"/>
          </p:cNvSpPr>
          <p:nvPr/>
        </p:nvSpPr>
        <p:spPr>
          <a:xfrm>
            <a:off x="1922504" y="1060426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054" y="4164598"/>
            <a:ext cx="152186" cy="152186"/>
          </a:xfrm>
          <a:prstGeom prst="rect">
            <a:avLst/>
          </a:prstGeom>
        </p:spPr>
      </p:pic>
      <p:pic>
        <p:nvPicPr>
          <p:cNvPr id="170" name="그림 169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054" y="3950274"/>
            <a:ext cx="152186" cy="152186"/>
          </a:xfrm>
          <a:prstGeom prst="rect">
            <a:avLst/>
          </a:prstGeom>
        </p:spPr>
      </p:pic>
      <p:pic>
        <p:nvPicPr>
          <p:cNvPr id="93" name="그림 92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054" y="4393198"/>
            <a:ext cx="152186" cy="152186"/>
          </a:xfrm>
          <a:prstGeom prst="rect">
            <a:avLst/>
          </a:prstGeom>
        </p:spPr>
      </p:pic>
      <p:grpSp>
        <p:nvGrpSpPr>
          <p:cNvPr id="12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819611" y="41950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12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3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3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819611" y="43928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14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4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94" name="타원 93"/>
          <p:cNvSpPr>
            <a:spLocks noChangeAspect="1"/>
          </p:cNvSpPr>
          <p:nvPr/>
        </p:nvSpPr>
        <p:spPr>
          <a:xfrm>
            <a:off x="1503404" y="3746476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" name="타원 94"/>
          <p:cNvSpPr>
            <a:spLocks noChangeAspect="1"/>
          </p:cNvSpPr>
          <p:nvPr/>
        </p:nvSpPr>
        <p:spPr>
          <a:xfrm>
            <a:off x="1503404" y="3975076"/>
            <a:ext cx="152062" cy="153205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</a:t>
            </a:r>
            <a:endParaRPr kumimoji="1" lang="ko-KR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691552" y="1698987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691552" y="1957190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074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19700" y="4443412"/>
            <a:ext cx="1409700" cy="1495425"/>
          </a:xfrm>
          <a:prstGeom prst="rect">
            <a:avLst/>
          </a:prstGeom>
        </p:spPr>
      </p:pic>
      <p:sp>
        <p:nvSpPr>
          <p:cNvPr id="6" name="직사각형"/>
          <p:cNvSpPr/>
          <p:nvPr/>
        </p:nvSpPr>
        <p:spPr>
          <a:xfrm>
            <a:off x="194546" y="665149"/>
            <a:ext cx="4320000" cy="447899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7" name="Rectangle 212"/>
          <p:cNvSpPr/>
          <p:nvPr/>
        </p:nvSpPr>
        <p:spPr>
          <a:xfrm>
            <a:off x="207783" y="680787"/>
            <a:ext cx="4302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8" name="텍스트 상자 31"/>
          <p:cNvSpPr txBox="1"/>
          <p:nvPr/>
        </p:nvSpPr>
        <p:spPr>
          <a:xfrm>
            <a:off x="311456" y="787439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그룹 설정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텍스트 상자 31"/>
          <p:cNvSpPr txBox="1"/>
          <p:nvPr/>
        </p:nvSpPr>
        <p:spPr>
          <a:xfrm>
            <a:off x="413521" y="129960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그룹명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8" name="텍스트 상자 31"/>
          <p:cNvSpPr txBox="1"/>
          <p:nvPr/>
        </p:nvSpPr>
        <p:spPr>
          <a:xfrm>
            <a:off x="430108" y="1996238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22" name="직선 연결선[R] 7"/>
          <p:cNvCxnSpPr/>
          <p:nvPr/>
        </p:nvCxnSpPr>
        <p:spPr>
          <a:xfrm>
            <a:off x="1086509" y="1427703"/>
            <a:ext cx="3096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miter lim="400000"/>
          </a:ln>
        </p:spPr>
      </p:cxnSp>
      <p:grpSp>
        <p:nvGrpSpPr>
          <p:cNvPr id="196" name="그룹 195"/>
          <p:cNvGrpSpPr/>
          <p:nvPr/>
        </p:nvGrpSpPr>
        <p:grpSpPr>
          <a:xfrm>
            <a:off x="416060" y="3010552"/>
            <a:ext cx="3776454" cy="757629"/>
            <a:chOff x="416060" y="5868052"/>
            <a:chExt cx="3776454" cy="757629"/>
          </a:xfrm>
        </p:grpSpPr>
        <p:sp>
          <p:nvSpPr>
            <p:cNvPr id="21" name="텍스트 상자 31"/>
            <p:cNvSpPr txBox="1"/>
            <p:nvPr/>
          </p:nvSpPr>
          <p:spPr>
            <a:xfrm>
              <a:off x="416060" y="5901377"/>
              <a:ext cx="454551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kumimoji="1" lang="ko-KR" altLang="en-US" sz="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ea typeface="+mn-ea"/>
                </a:rPr>
                <a:t>설명 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3" name="Rounded Rectangle 939"/>
            <p:cNvSpPr/>
            <p:nvPr/>
          </p:nvSpPr>
          <p:spPr>
            <a:xfrm>
              <a:off x="1092125" y="5868052"/>
              <a:ext cx="3100389" cy="757629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65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72000" tIns="0" rIns="0" bIns="0" anchor="ctr"/>
            <a:lstStyle/>
            <a:p>
              <a:pPr algn="ctr"/>
              <a:endParaRPr kumimoji="1" lang="ko-KR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endParaRPr>
            </a:p>
          </p:txBody>
        </p:sp>
      </p:grpSp>
      <p:graphicFrame>
        <p:nvGraphicFramePr>
          <p:cNvPr id="6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712750"/>
              </p:ext>
            </p:extLst>
          </p:nvPr>
        </p:nvGraphicFramePr>
        <p:xfrm>
          <a:off x="9286521" y="802789"/>
          <a:ext cx="2857473" cy="816696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다수의 설비를 추가할 수 있는 기능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(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①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)</a:t>
                      </a: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을 제외하고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설비 추가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(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CA6.8.1)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와 동일한 기능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kumimoji="1" lang="ko-KR" altLang="en-US" sz="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클릭시 설비를 선택할수 있는 레이어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참조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1)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출력</a:t>
                      </a: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텍스트 상자 31"/>
          <p:cNvSpPr txBox="1"/>
          <p:nvPr/>
        </p:nvSpPr>
        <p:spPr>
          <a:xfrm>
            <a:off x="417466" y="1596124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</a:t>
            </a:r>
            <a:r>
              <a:rPr kumimoji="1" lang="en-US" altLang="ko-KR" sz="800" b="1" smtClean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56" name="Group 123"/>
          <p:cNvGrpSpPr/>
          <p:nvPr/>
        </p:nvGrpSpPr>
        <p:grpSpPr>
          <a:xfrm>
            <a:off x="1468812" y="4574177"/>
            <a:ext cx="1652246" cy="287333"/>
            <a:chOff x="4794917" y="5749958"/>
            <a:chExt cx="1197826" cy="187731"/>
          </a:xfrm>
        </p:grpSpPr>
        <p:sp>
          <p:nvSpPr>
            <p:cNvPr id="257" name="Rounded Rectangle 215"/>
            <p:cNvSpPr/>
            <p:nvPr/>
          </p:nvSpPr>
          <p:spPr>
            <a:xfrm>
              <a:off x="5452743" y="5749958"/>
              <a:ext cx="540000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취소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258" name="Rounded Rectangle 218"/>
            <p:cNvSpPr/>
            <p:nvPr/>
          </p:nvSpPr>
          <p:spPr>
            <a:xfrm>
              <a:off x="4794917" y="5749958"/>
              <a:ext cx="536766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noProof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완료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cxnSp>
        <p:nvCxnSpPr>
          <p:cNvPr id="260" name="직선 연결선 259"/>
          <p:cNvCxnSpPr/>
          <p:nvPr/>
        </p:nvCxnSpPr>
        <p:spPr>
          <a:xfrm>
            <a:off x="321639" y="4450080"/>
            <a:ext cx="3994952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 rot="5400000">
            <a:off x="4134046" y="2700385"/>
            <a:ext cx="574444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en-US" altLang="ko-KR" sz="800" smtClean="0">
                <a:solidFill>
                  <a:srgbClr val="FF0066"/>
                </a:solidFill>
                <a:latin typeface="+mn-ea"/>
                <a:ea typeface="+mn-ea"/>
              </a:rPr>
              <a:t>Scroll Area</a:t>
            </a:r>
            <a:endParaRPr lang="ko-KR" altLang="en-US" sz="800" dirty="0" smtClean="0">
              <a:solidFill>
                <a:srgbClr val="FF0066"/>
              </a:solidFill>
              <a:latin typeface="+mn-ea"/>
              <a:ea typeface="+mn-ea"/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4603006" y="419100"/>
            <a:ext cx="4531469" cy="304800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3" name="TextBox 262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그룹 설정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lvl="0"/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그룹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1086509" y="1531437"/>
            <a:ext cx="3097628" cy="232776"/>
            <a:chOff x="1086509" y="1531437"/>
            <a:chExt cx="3097628" cy="232776"/>
          </a:xfrm>
        </p:grpSpPr>
        <p:cxnSp>
          <p:nvCxnSpPr>
            <p:cNvPr id="272" name="직선 연결선[R] 7"/>
            <p:cNvCxnSpPr/>
            <p:nvPr/>
          </p:nvCxnSpPr>
          <p:spPr>
            <a:xfrm>
              <a:off x="1574030" y="1732503"/>
              <a:ext cx="2610107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miter lim="400000"/>
            </a:ln>
          </p:spPr>
        </p:cxn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86509" y="1531437"/>
              <a:ext cx="426757" cy="232776"/>
            </a:xfrm>
            <a:prstGeom prst="rect">
              <a:avLst/>
            </a:prstGeom>
          </p:spPr>
        </p:pic>
      </p:grpSp>
      <p:grpSp>
        <p:nvGrpSpPr>
          <p:cNvPr id="15" name="그룹 14"/>
          <p:cNvGrpSpPr/>
          <p:nvPr/>
        </p:nvGrpSpPr>
        <p:grpSpPr>
          <a:xfrm>
            <a:off x="1606285" y="1994002"/>
            <a:ext cx="2311928" cy="164895"/>
            <a:chOff x="5454385" y="3327502"/>
            <a:chExt cx="2311928" cy="164895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298" name="그림 29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299" name="그림 298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300" name="그림 299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301" name="그림 300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pic>
        <p:nvPicPr>
          <p:cNvPr id="304" name="그림 30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6509" y="1941012"/>
            <a:ext cx="426757" cy="232776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1533154" y="1943426"/>
            <a:ext cx="2659359" cy="8855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305" name="그룹 304"/>
          <p:cNvGrpSpPr/>
          <p:nvPr/>
        </p:nvGrpSpPr>
        <p:grpSpPr>
          <a:xfrm>
            <a:off x="1606285" y="2200377"/>
            <a:ext cx="2311928" cy="164895"/>
            <a:chOff x="5454385" y="3327502"/>
            <a:chExt cx="2311928" cy="164895"/>
          </a:xfrm>
        </p:grpSpPr>
        <p:pic>
          <p:nvPicPr>
            <p:cNvPr id="306" name="그림 305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307" name="그림 30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308" name="그림 30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309" name="그림 308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310" name="그림 309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grpSp>
        <p:nvGrpSpPr>
          <p:cNvPr id="311" name="그룹 310"/>
          <p:cNvGrpSpPr/>
          <p:nvPr/>
        </p:nvGrpSpPr>
        <p:grpSpPr>
          <a:xfrm>
            <a:off x="1606285" y="2406752"/>
            <a:ext cx="2311928" cy="164895"/>
            <a:chOff x="5454385" y="3327502"/>
            <a:chExt cx="2311928" cy="164895"/>
          </a:xfrm>
        </p:grpSpPr>
        <p:pic>
          <p:nvPicPr>
            <p:cNvPr id="312" name="그림 311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313" name="그림 312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314" name="그림 313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315" name="그림 314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316" name="그림 315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grpSp>
        <p:nvGrpSpPr>
          <p:cNvPr id="317" name="그룹 316"/>
          <p:cNvGrpSpPr/>
          <p:nvPr/>
        </p:nvGrpSpPr>
        <p:grpSpPr>
          <a:xfrm>
            <a:off x="1606285" y="2613127"/>
            <a:ext cx="2311928" cy="164895"/>
            <a:chOff x="5454385" y="3327502"/>
            <a:chExt cx="2311928" cy="164895"/>
          </a:xfrm>
        </p:grpSpPr>
        <p:pic>
          <p:nvPicPr>
            <p:cNvPr id="318" name="그림 31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925873" y="3327502"/>
              <a:ext cx="425978" cy="164895"/>
            </a:xfrm>
            <a:prstGeom prst="rect">
              <a:avLst/>
            </a:prstGeom>
          </p:spPr>
        </p:pic>
        <p:pic>
          <p:nvPicPr>
            <p:cNvPr id="319" name="그림 318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454385" y="3327502"/>
              <a:ext cx="425978" cy="164895"/>
            </a:xfrm>
            <a:prstGeom prst="rect">
              <a:avLst/>
            </a:prstGeom>
          </p:spPr>
        </p:pic>
        <p:pic>
          <p:nvPicPr>
            <p:cNvPr id="320" name="그림 319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868849" y="3327502"/>
              <a:ext cx="425978" cy="164895"/>
            </a:xfrm>
            <a:prstGeom prst="rect">
              <a:avLst/>
            </a:prstGeom>
          </p:spPr>
        </p:pic>
        <p:pic>
          <p:nvPicPr>
            <p:cNvPr id="321" name="그림 320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340335" y="3327502"/>
              <a:ext cx="425978" cy="164895"/>
            </a:xfrm>
            <a:prstGeom prst="rect">
              <a:avLst/>
            </a:prstGeom>
          </p:spPr>
        </p:pic>
        <p:pic>
          <p:nvPicPr>
            <p:cNvPr id="322" name="그림 321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397361" y="3327502"/>
              <a:ext cx="425978" cy="164895"/>
            </a:xfrm>
            <a:prstGeom prst="rect">
              <a:avLst/>
            </a:prstGeom>
          </p:spPr>
        </p:pic>
      </p:grpSp>
      <p:grpSp>
        <p:nvGrpSpPr>
          <p:cNvPr id="323" name="그룹 322"/>
          <p:cNvGrpSpPr/>
          <p:nvPr/>
        </p:nvGrpSpPr>
        <p:grpSpPr>
          <a:xfrm>
            <a:off x="4100925" y="2010525"/>
            <a:ext cx="47625" cy="744945"/>
            <a:chOff x="6858000" y="2907897"/>
            <a:chExt cx="47625" cy="508807"/>
          </a:xfrm>
        </p:grpSpPr>
        <p:sp>
          <p:nvSpPr>
            <p:cNvPr id="324" name="모서리가 둥근 직사각형 323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325" name="모서리가 둥근 직사각형 324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329" name="TextBox 328"/>
          <p:cNvSpPr txBox="1"/>
          <p:nvPr/>
        </p:nvSpPr>
        <p:spPr>
          <a:xfrm>
            <a:off x="3486150" y="3810000"/>
            <a:ext cx="762000" cy="1714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나눔고딕" panose="020B0600000101010101" charset="-127"/>
              </a:rPr>
              <a:t>0 / 500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나눔고딕" panose="020B0600000101010101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5375" y="1604888"/>
            <a:ext cx="400050" cy="100087"/>
          </a:xfrm>
          <a:prstGeom prst="rect">
            <a:avLst/>
          </a:prstGeom>
          <a:solidFill>
            <a:schemeClr val="bg1"/>
          </a:solidFill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선택</a:t>
            </a:r>
          </a:p>
        </p:txBody>
      </p:sp>
      <p:grpSp>
        <p:nvGrpSpPr>
          <p:cNvPr id="146" name="그룹 145"/>
          <p:cNvGrpSpPr/>
          <p:nvPr/>
        </p:nvGrpSpPr>
        <p:grpSpPr>
          <a:xfrm>
            <a:off x="1580527" y="1563079"/>
            <a:ext cx="738588" cy="159878"/>
            <a:chOff x="2380627" y="1553554"/>
            <a:chExt cx="738588" cy="159878"/>
          </a:xfrm>
        </p:grpSpPr>
        <p:sp>
          <p:nvSpPr>
            <p:cNvPr id="147" name="모서리가 둥근 직사각형 146"/>
            <p:cNvSpPr/>
            <p:nvPr/>
          </p:nvSpPr>
          <p:spPr>
            <a:xfrm>
              <a:off x="2380627" y="1553554"/>
              <a:ext cx="738588" cy="159878"/>
            </a:xfrm>
            <a:prstGeom prst="roundRect">
              <a:avLst>
                <a:gd name="adj" fmla="val 48443"/>
              </a:avLst>
            </a:prstGeom>
            <a:solidFill>
              <a:schemeClr val="bg1">
                <a:lumMod val="7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defTabSz="550863">
                <a:lnSpc>
                  <a:spcPct val="115000"/>
                </a:lnSpc>
                <a:spcAft>
                  <a:spcPts val="0"/>
                </a:spcAft>
              </a:pPr>
              <a:r>
                <a:rPr lang="en-US" altLang="ko-KR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Aha room</a:t>
              </a:r>
              <a:endPara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2883582" y="1557808"/>
              <a:ext cx="158098" cy="14280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X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149" name="그룹 148"/>
          <p:cNvGrpSpPr/>
          <p:nvPr/>
        </p:nvGrpSpPr>
        <p:grpSpPr>
          <a:xfrm>
            <a:off x="2371102" y="1563079"/>
            <a:ext cx="738588" cy="159878"/>
            <a:chOff x="2380627" y="1553554"/>
            <a:chExt cx="738588" cy="159878"/>
          </a:xfrm>
        </p:grpSpPr>
        <p:sp>
          <p:nvSpPr>
            <p:cNvPr id="150" name="모서리가 둥근 직사각형 149"/>
            <p:cNvSpPr/>
            <p:nvPr/>
          </p:nvSpPr>
          <p:spPr>
            <a:xfrm>
              <a:off x="2380627" y="1553554"/>
              <a:ext cx="738588" cy="159878"/>
            </a:xfrm>
            <a:prstGeom prst="roundRect">
              <a:avLst>
                <a:gd name="adj" fmla="val 48443"/>
              </a:avLst>
            </a:prstGeom>
            <a:solidFill>
              <a:schemeClr val="bg1">
                <a:lumMod val="7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defTabSz="550863">
                <a:lnSpc>
                  <a:spcPct val="115000"/>
                </a:lnSpc>
                <a:spcAft>
                  <a:spcPts val="0"/>
                </a:spcAft>
              </a:pPr>
              <a:r>
                <a:rPr lang="ko-KR" altLang="en-US" sz="6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삼성 노트북</a:t>
              </a:r>
              <a:endParaRPr lang="ko-KR" altLang="en-US" sz="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2883582" y="1557808"/>
              <a:ext cx="158098" cy="14280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X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153" name="그룹 152"/>
          <p:cNvGrpSpPr/>
          <p:nvPr/>
        </p:nvGrpSpPr>
        <p:grpSpPr>
          <a:xfrm>
            <a:off x="9447866" y="4060797"/>
            <a:ext cx="1296334" cy="2463828"/>
            <a:chOff x="5599766" y="2879697"/>
            <a:chExt cx="1296334" cy="2463828"/>
          </a:xfrm>
        </p:grpSpPr>
        <p:sp>
          <p:nvSpPr>
            <p:cNvPr id="154" name="직사각형 153"/>
            <p:cNvSpPr/>
            <p:nvPr/>
          </p:nvSpPr>
          <p:spPr>
            <a:xfrm>
              <a:off x="5599766" y="2879697"/>
              <a:ext cx="1296334" cy="24638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defTabSz="781050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155" name="그룹 154"/>
            <p:cNvGrpSpPr/>
            <p:nvPr/>
          </p:nvGrpSpPr>
          <p:grpSpPr>
            <a:xfrm>
              <a:off x="5759208" y="2931570"/>
              <a:ext cx="1048542" cy="1895904"/>
              <a:chOff x="6435483" y="2112420"/>
              <a:chExt cx="1048542" cy="1895904"/>
            </a:xfrm>
          </p:grpSpPr>
          <p:sp>
            <p:nvSpPr>
              <p:cNvPr id="159" name="텍스트 상자 31"/>
              <p:cNvSpPr txBox="1"/>
              <p:nvPr/>
            </p:nvSpPr>
            <p:spPr>
              <a:xfrm>
                <a:off x="6435483" y="2112420"/>
                <a:ext cx="1048542" cy="18959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ct val="220000"/>
                  </a:lnSpc>
                </a:pPr>
                <a:r>
                  <a:rPr lang="ko-KR" altLang="en-US" sz="8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ea"/>
                    <a:ea typeface="+mn-ea"/>
                  </a:rPr>
                  <a:t>회의실</a:t>
                </a:r>
                <a:endParaRPr lang="en-US" altLang="ko-KR" sz="8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endParaRPr>
              </a:p>
              <a:p>
                <a:pPr lvl="0" indent="161925">
                  <a:lnSpc>
                    <a:spcPct val="220000"/>
                  </a:lnSpc>
                </a:pPr>
                <a:r>
                  <a:rPr lang="en-US" altLang="ko-KR" sz="800" smtClean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ea"/>
                    <a:ea typeface="+mn-ea"/>
                  </a:rPr>
                  <a:t>Cebu</a:t>
                </a:r>
              </a:p>
              <a:p>
                <a:pPr lvl="0" indent="161925">
                  <a:lnSpc>
                    <a:spcPct val="220000"/>
                  </a:lnSpc>
                </a:pPr>
                <a:r>
                  <a:rPr lang="en-US" altLang="ko-KR" sz="800" smtClean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ea"/>
                    <a:ea typeface="+mn-ea"/>
                  </a:rPr>
                  <a:t>Palau</a:t>
                </a:r>
              </a:p>
              <a:p>
                <a:pPr lvl="0" indent="161925">
                  <a:lnSpc>
                    <a:spcPct val="220000"/>
                  </a:lnSpc>
                </a:pPr>
                <a:r>
                  <a:rPr lang="en-US" altLang="ko-KR" sz="800" smtClean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ea"/>
                    <a:ea typeface="+mn-ea"/>
                  </a:rPr>
                  <a:t>Jeju</a:t>
                </a:r>
              </a:p>
              <a:p>
                <a:pPr lvl="0">
                  <a:lnSpc>
                    <a:spcPct val="220000"/>
                  </a:lnSpc>
                </a:pPr>
                <a:r>
                  <a:rPr lang="ko-KR" altLang="en-US" sz="800" b="1" smtClean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ea"/>
                    <a:ea typeface="+mn-ea"/>
                  </a:rPr>
                  <a:t>빔 프로젝터</a:t>
                </a:r>
                <a:endParaRPr lang="en-US" altLang="ko-KR" sz="800" b="1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endParaRPr>
              </a:p>
              <a:p>
                <a:pPr lvl="0" indent="152400">
                  <a:lnSpc>
                    <a:spcPct val="220000"/>
                  </a:lnSpc>
                </a:pPr>
                <a:r>
                  <a:rPr lang="ko-KR" altLang="en-US" sz="800" smtClean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ea"/>
                    <a:ea typeface="+mn-ea"/>
                  </a:rPr>
                  <a:t>삼성</a:t>
                </a:r>
                <a:endParaRPr lang="en-US" altLang="ko-KR" sz="80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endParaRPr>
              </a:p>
              <a:p>
                <a:pPr lvl="0" indent="152400">
                  <a:lnSpc>
                    <a:spcPct val="220000"/>
                  </a:lnSpc>
                </a:pPr>
                <a:r>
                  <a:rPr lang="en-US" altLang="ko-KR" sz="800" smtClean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ea"/>
                    <a:ea typeface="+mn-ea"/>
                  </a:rPr>
                  <a:t>LG</a:t>
                </a:r>
                <a:endParaRPr lang="ko-KR" altLang="en-US" sz="8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160" name="그룹 159"/>
              <p:cNvGrpSpPr/>
              <p:nvPr/>
            </p:nvGrpSpPr>
            <p:grpSpPr>
              <a:xfrm>
                <a:off x="6448886" y="2481708"/>
                <a:ext cx="107839" cy="376436"/>
                <a:chOff x="6448886" y="2481708"/>
                <a:chExt cx="107839" cy="376436"/>
              </a:xfrm>
            </p:grpSpPr>
            <p:grpSp>
              <p:nvGrpSpPr>
                <p:cNvPr id="17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  <p:cNvGrpSpPr/>
                <p:nvPr>
                  <p:custDataLst>
                    <p:tags r:id="rId10"/>
                  </p:custDataLst>
                </p:nvPr>
              </p:nvGrpSpPr>
              <p:grpSpPr>
                <a:xfrm>
                  <a:off x="6448886" y="2481708"/>
                  <a:ext cx="107839" cy="109736"/>
                  <a:chOff x="554563" y="2632644"/>
                  <a:chExt cx="131556" cy="131556"/>
                </a:xfrm>
                <a:solidFill>
                  <a:schemeClr val="bg1"/>
                </a:solidFill>
              </p:grpSpPr>
              <p:sp>
                <p:nvSpPr>
                  <p:cNvPr id="175" name="Box" descr="&lt;SmartSettings&gt;&lt;SmartResize anchorLeft=&quot;Absolute&quot; anchorTop=&quot;None&quot; anchorRight=&quot;None&quot; anchorBottom=&quot;None&quot; /&gt;&lt;/SmartSettings&gt;"/>
                  <p:cNvSpPr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554563" y="2632644"/>
                    <a:ext cx="131556" cy="131556"/>
                  </a:xfrm>
                  <a:prstGeom prst="rect">
                    <a:avLst/>
                  </a:prstGeom>
                  <a:grpFill/>
                  <a:ln w="6350">
                    <a:solidFill>
                      <a:srgbClr val="80808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76" name="Check" descr="&lt;SmartSettings&gt;&lt;SmartResize anchorLeft=&quot;Absolute&quot; anchorTop=&quot;None&quot; anchorRight=&quot;None&quot; anchorBottom=&quot;None&quot; /&gt;&lt;/SmartSettings&gt;"/>
                  <p:cNvSpPr>
                    <a:spLocks noEditPoints="1"/>
                  </p:cNvSpPr>
                  <p:nvPr>
                    <p:custDataLst>
                      <p:tags r:id="rId15"/>
                    </p:custDataLst>
                  </p:nvPr>
                </p:nvSpPr>
                <p:spPr bwMode="auto">
                  <a:xfrm>
                    <a:off x="576252" y="2653644"/>
                    <a:ext cx="88178" cy="89556"/>
                  </a:xfrm>
                  <a:custGeom>
                    <a:avLst/>
                    <a:gdLst>
                      <a:gd name="T0" fmla="*/ 275 w 275"/>
                      <a:gd name="T1" fmla="*/ 0 h 275"/>
                      <a:gd name="T2" fmla="*/ 0 w 275"/>
                      <a:gd name="T3" fmla="*/ 275 h 275"/>
                      <a:gd name="T4" fmla="*/ 0 w 275"/>
                      <a:gd name="T5" fmla="*/ 0 h 275"/>
                      <a:gd name="T6" fmla="*/ 275 w 275"/>
                      <a:gd name="T7" fmla="*/ 275 h 2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75" h="275">
                        <a:moveTo>
                          <a:pt x="275" y="0"/>
                        </a:moveTo>
                        <a:lnTo>
                          <a:pt x="0" y="275"/>
                        </a:lnTo>
                        <a:moveTo>
                          <a:pt x="0" y="0"/>
                        </a:moveTo>
                        <a:lnTo>
                          <a:pt x="275" y="275"/>
                        </a:lnTo>
                      </a:path>
                    </a:pathLst>
                  </a:custGeom>
                  <a:grpFill/>
                  <a:ln w="6350" cap="flat">
                    <a:solidFill>
                      <a:srgbClr val="808080"/>
                    </a:solidFill>
                    <a:prstDash val="solid"/>
                    <a:miter lim="800000"/>
                    <a:headEnd/>
                    <a:tailEnd/>
                  </a:ln>
                  <a:extLst/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endParaRPr>
                  </a:p>
                </p:txBody>
              </p:sp>
            </p:grpSp>
            <p:grpSp>
              <p:nvGrpSpPr>
                <p:cNvPr id="17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  <p:cNvGrpSpPr/>
                <p:nvPr>
                  <p:custDataLst>
                    <p:tags r:id="rId11"/>
                  </p:custDataLst>
                </p:nvPr>
              </p:nvGrpSpPr>
              <p:grpSpPr>
                <a:xfrm>
                  <a:off x="6448886" y="2748408"/>
                  <a:ext cx="107839" cy="109736"/>
                  <a:chOff x="554563" y="2632644"/>
                  <a:chExt cx="131556" cy="131556"/>
                </a:xfrm>
                <a:solidFill>
                  <a:schemeClr val="bg1"/>
                </a:solidFill>
              </p:grpSpPr>
              <p:sp>
                <p:nvSpPr>
                  <p:cNvPr id="173" name="Box" descr="&lt;SmartSettings&gt;&lt;SmartResize anchorLeft=&quot;Absolute&quot; anchorTop=&quot;None&quot; anchorRight=&quot;None&quot; anchorBottom=&quot;None&quot; /&gt;&lt;/SmartSettings&gt;"/>
                  <p:cNvSpPr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554563" y="2632644"/>
                    <a:ext cx="131556" cy="131556"/>
                  </a:xfrm>
                  <a:prstGeom prst="rect">
                    <a:avLst/>
                  </a:prstGeom>
                  <a:grpFill/>
                  <a:ln w="6350">
                    <a:solidFill>
                      <a:srgbClr val="80808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74" name="Check" descr="&lt;SmartSettings&gt;&lt;SmartResize anchorLeft=&quot;Absolute&quot; anchorTop=&quot;None&quot; anchorRight=&quot;None&quot; anchorBottom=&quot;None&quot; /&gt;&lt;/SmartSettings&gt;" hidden="1"/>
                  <p:cNvSpPr>
                    <a:spLocks noEditPoints="1"/>
                  </p:cNvSpPr>
                  <p:nvPr>
                    <p:custDataLst>
                      <p:tags r:id="rId13"/>
                    </p:custDataLst>
                  </p:nvPr>
                </p:nvSpPr>
                <p:spPr bwMode="auto">
                  <a:xfrm>
                    <a:off x="576252" y="2653644"/>
                    <a:ext cx="88178" cy="89556"/>
                  </a:xfrm>
                  <a:custGeom>
                    <a:avLst/>
                    <a:gdLst>
                      <a:gd name="T0" fmla="*/ 275 w 275"/>
                      <a:gd name="T1" fmla="*/ 0 h 275"/>
                      <a:gd name="T2" fmla="*/ 0 w 275"/>
                      <a:gd name="T3" fmla="*/ 275 h 275"/>
                      <a:gd name="T4" fmla="*/ 0 w 275"/>
                      <a:gd name="T5" fmla="*/ 0 h 275"/>
                      <a:gd name="T6" fmla="*/ 275 w 275"/>
                      <a:gd name="T7" fmla="*/ 275 h 2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75" h="275">
                        <a:moveTo>
                          <a:pt x="275" y="0"/>
                        </a:moveTo>
                        <a:lnTo>
                          <a:pt x="0" y="275"/>
                        </a:lnTo>
                        <a:moveTo>
                          <a:pt x="0" y="0"/>
                        </a:moveTo>
                        <a:lnTo>
                          <a:pt x="275" y="275"/>
                        </a:lnTo>
                      </a:path>
                    </a:pathLst>
                  </a:custGeom>
                  <a:grpFill/>
                  <a:ln w="6350" cap="flat">
                    <a:solidFill>
                      <a:srgbClr val="808080"/>
                    </a:solidFill>
                    <a:prstDash val="solid"/>
                    <a:miter lim="800000"/>
                    <a:headEnd/>
                    <a:tailEnd/>
                  </a:ln>
                  <a:extLst/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grpSp>
            <p:nvGrpSpPr>
              <p:cNvPr id="1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<p:cNvGrpSpPr/>
              <p:nvPr>
                <p:custDataLst>
                  <p:tags r:id="rId1"/>
                </p:custDataLst>
              </p:nvPr>
            </p:nvGrpSpPr>
            <p:grpSpPr>
              <a:xfrm>
                <a:off x="6448886" y="3034158"/>
                <a:ext cx="107839" cy="109736"/>
                <a:chOff x="554563" y="2632644"/>
                <a:chExt cx="131556" cy="131556"/>
              </a:xfrm>
              <a:solidFill>
                <a:schemeClr val="bg1"/>
              </a:solidFill>
            </p:grpSpPr>
            <p:sp>
              <p:nvSpPr>
                <p:cNvPr id="169" name="Box" descr="&lt;SmartSettings&gt;&lt;SmartResize anchorLeft=&quot;Absolute&quot; anchorTop=&quot;None&quot; anchorRight=&quot;None&quot; anchorBottom=&quot;None&quot; /&gt;&lt;/SmartSettings&gt;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554563" y="2632644"/>
                  <a:ext cx="131556" cy="131556"/>
                </a:xfrm>
                <a:prstGeom prst="rect">
                  <a:avLst/>
                </a:prstGeom>
                <a:grpFill/>
                <a:ln w="6350">
                  <a:solidFill>
                    <a:srgbClr val="808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70" name="Check" descr="&lt;SmartSettings&gt;&lt;SmartResize anchorLeft=&quot;Absolute&quot; anchorTop=&quot;None&quot; anchorRight=&quot;None&quot; anchorBottom=&quot;None&quot; /&gt;&lt;/SmartSettings&gt;" hidden="1"/>
                <p:cNvSpPr>
                  <a:spLocks noEditPoints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576252" y="2653644"/>
                  <a:ext cx="88178" cy="89556"/>
                </a:xfrm>
                <a:custGeom>
                  <a:avLst/>
                  <a:gdLst>
                    <a:gd name="T0" fmla="*/ 275 w 275"/>
                    <a:gd name="T1" fmla="*/ 0 h 275"/>
                    <a:gd name="T2" fmla="*/ 0 w 275"/>
                    <a:gd name="T3" fmla="*/ 275 h 275"/>
                    <a:gd name="T4" fmla="*/ 0 w 275"/>
                    <a:gd name="T5" fmla="*/ 0 h 275"/>
                    <a:gd name="T6" fmla="*/ 275 w 275"/>
                    <a:gd name="T7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5" h="275">
                      <a:moveTo>
                        <a:pt x="275" y="0"/>
                      </a:moveTo>
                      <a:lnTo>
                        <a:pt x="0" y="275"/>
                      </a:lnTo>
                      <a:moveTo>
                        <a:pt x="0" y="0"/>
                      </a:moveTo>
                      <a:lnTo>
                        <a:pt x="275" y="275"/>
                      </a:lnTo>
                    </a:path>
                  </a:pathLst>
                </a:custGeom>
                <a:grpFill/>
                <a:ln w="6350" cap="flat">
                  <a:solidFill>
                    <a:srgbClr val="808080"/>
                  </a:solidFill>
                  <a:prstDash val="solid"/>
                  <a:miter lim="800000"/>
                  <a:headEnd/>
                  <a:tailEnd/>
                </a:ln>
                <a:ex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5F5F5F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62" name="그룹 161"/>
              <p:cNvGrpSpPr/>
              <p:nvPr/>
            </p:nvGrpSpPr>
            <p:grpSpPr>
              <a:xfrm>
                <a:off x="6448886" y="3548508"/>
                <a:ext cx="107839" cy="376436"/>
                <a:chOff x="6448886" y="2481708"/>
                <a:chExt cx="107839" cy="376436"/>
              </a:xfrm>
            </p:grpSpPr>
            <p:grpSp>
              <p:nvGrpSpPr>
                <p:cNvPr id="16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  <p:cNvGrpSpPr/>
                <p:nvPr>
                  <p:custDataLst>
                    <p:tags r:id="rId2"/>
                  </p:custDataLst>
                </p:nvPr>
              </p:nvGrpSpPr>
              <p:grpSpPr>
                <a:xfrm>
                  <a:off x="6448886" y="2481708"/>
                  <a:ext cx="107839" cy="109736"/>
                  <a:chOff x="554563" y="2632644"/>
                  <a:chExt cx="131556" cy="131556"/>
                </a:xfrm>
                <a:solidFill>
                  <a:schemeClr val="bg1"/>
                </a:solidFill>
              </p:grpSpPr>
              <p:sp>
                <p:nvSpPr>
                  <p:cNvPr id="167" name="Box" descr="&lt;SmartSettings&gt;&lt;SmartResize anchorLeft=&quot;Absolute&quot; anchorTop=&quot;None&quot; anchorRight=&quot;None&quot; anchorBottom=&quot;None&quot; /&gt;&lt;/SmartSettings&gt;"/>
                  <p:cNvSpPr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554563" y="2632644"/>
                    <a:ext cx="131556" cy="131556"/>
                  </a:xfrm>
                  <a:prstGeom prst="rect">
                    <a:avLst/>
                  </a:prstGeom>
                  <a:grpFill/>
                  <a:ln w="6350">
                    <a:solidFill>
                      <a:srgbClr val="80808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68" name="Check" descr="&lt;SmartSettings&gt;&lt;SmartResize anchorLeft=&quot;Absolute&quot; anchorTop=&quot;None&quot; anchorRight=&quot;None&quot; anchorBottom=&quot;None&quot; /&gt;&lt;/SmartSettings&gt;"/>
                  <p:cNvSpPr>
                    <a:spLocks noEditPoints="1"/>
                  </p:cNvSpPr>
                  <p:nvPr>
                    <p:custDataLst>
                      <p:tags r:id="rId7"/>
                    </p:custDataLst>
                  </p:nvPr>
                </p:nvSpPr>
                <p:spPr bwMode="auto">
                  <a:xfrm>
                    <a:off x="576252" y="2653644"/>
                    <a:ext cx="88178" cy="89556"/>
                  </a:xfrm>
                  <a:custGeom>
                    <a:avLst/>
                    <a:gdLst>
                      <a:gd name="T0" fmla="*/ 275 w 275"/>
                      <a:gd name="T1" fmla="*/ 0 h 275"/>
                      <a:gd name="T2" fmla="*/ 0 w 275"/>
                      <a:gd name="T3" fmla="*/ 275 h 275"/>
                      <a:gd name="T4" fmla="*/ 0 w 275"/>
                      <a:gd name="T5" fmla="*/ 0 h 275"/>
                      <a:gd name="T6" fmla="*/ 275 w 275"/>
                      <a:gd name="T7" fmla="*/ 275 h 2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75" h="275">
                        <a:moveTo>
                          <a:pt x="275" y="0"/>
                        </a:moveTo>
                        <a:lnTo>
                          <a:pt x="0" y="275"/>
                        </a:lnTo>
                        <a:moveTo>
                          <a:pt x="0" y="0"/>
                        </a:moveTo>
                        <a:lnTo>
                          <a:pt x="275" y="275"/>
                        </a:lnTo>
                      </a:path>
                    </a:pathLst>
                  </a:custGeom>
                  <a:grpFill/>
                  <a:ln w="6350" cap="flat">
                    <a:solidFill>
                      <a:srgbClr val="808080"/>
                    </a:solidFill>
                    <a:prstDash val="solid"/>
                    <a:miter lim="800000"/>
                    <a:headEnd/>
                    <a:tailEnd/>
                  </a:ln>
                  <a:extLst/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endParaRPr>
                  </a:p>
                </p:txBody>
              </p:sp>
            </p:grpSp>
            <p:grpSp>
              <p:nvGrpSpPr>
                <p:cNvPr id="16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      <p:cNvGrpSpPr/>
                <p:nvPr>
                  <p:custDataLst>
                    <p:tags r:id="rId3"/>
                  </p:custDataLst>
                </p:nvPr>
              </p:nvGrpSpPr>
              <p:grpSpPr>
                <a:xfrm>
                  <a:off x="6448886" y="2748408"/>
                  <a:ext cx="107839" cy="109736"/>
                  <a:chOff x="554563" y="2632644"/>
                  <a:chExt cx="131556" cy="131556"/>
                </a:xfrm>
                <a:solidFill>
                  <a:schemeClr val="bg1"/>
                </a:solidFill>
              </p:grpSpPr>
              <p:sp>
                <p:nvSpPr>
                  <p:cNvPr id="165" name="Box" descr="&lt;SmartSettings&gt;&lt;SmartResize anchorLeft=&quot;Absolute&quot; anchorTop=&quot;None&quot; anchorRight=&quot;None&quot; anchorBottom=&quot;None&quot; /&gt;&lt;/SmartSettings&gt;"/>
                  <p:cNvSpPr/>
                  <p:nvPr>
                    <p:custDataLst>
                      <p:tags r:id="rId4"/>
                    </p:custDataLst>
                  </p:nvPr>
                </p:nvSpPr>
                <p:spPr>
                  <a:xfrm>
                    <a:off x="554563" y="2632644"/>
                    <a:ext cx="131556" cy="131556"/>
                  </a:xfrm>
                  <a:prstGeom prst="rect">
                    <a:avLst/>
                  </a:prstGeom>
                  <a:grpFill/>
                  <a:ln w="6350">
                    <a:solidFill>
                      <a:srgbClr val="80808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endParaRPr>
                  </a:p>
                </p:txBody>
              </p:sp>
              <p:sp>
                <p:nvSpPr>
                  <p:cNvPr id="166" name="Check" descr="&lt;SmartSettings&gt;&lt;SmartResize anchorLeft=&quot;Absolute&quot; anchorTop=&quot;None&quot; anchorRight=&quot;None&quot; anchorBottom=&quot;None&quot; /&gt;&lt;/SmartSettings&gt;" hidden="1"/>
                  <p:cNvSpPr>
                    <a:spLocks noEditPoints="1"/>
                  </p:cNvSpPr>
                  <p:nvPr>
                    <p:custDataLst>
                      <p:tags r:id="rId5"/>
                    </p:custDataLst>
                  </p:nvPr>
                </p:nvSpPr>
                <p:spPr bwMode="auto">
                  <a:xfrm>
                    <a:off x="576252" y="2653644"/>
                    <a:ext cx="88178" cy="89556"/>
                  </a:xfrm>
                  <a:custGeom>
                    <a:avLst/>
                    <a:gdLst>
                      <a:gd name="T0" fmla="*/ 275 w 275"/>
                      <a:gd name="T1" fmla="*/ 0 h 275"/>
                      <a:gd name="T2" fmla="*/ 0 w 275"/>
                      <a:gd name="T3" fmla="*/ 275 h 275"/>
                      <a:gd name="T4" fmla="*/ 0 w 275"/>
                      <a:gd name="T5" fmla="*/ 0 h 275"/>
                      <a:gd name="T6" fmla="*/ 275 w 275"/>
                      <a:gd name="T7" fmla="*/ 275 h 2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75" h="275">
                        <a:moveTo>
                          <a:pt x="275" y="0"/>
                        </a:moveTo>
                        <a:lnTo>
                          <a:pt x="0" y="275"/>
                        </a:lnTo>
                        <a:moveTo>
                          <a:pt x="0" y="0"/>
                        </a:moveTo>
                        <a:lnTo>
                          <a:pt x="275" y="275"/>
                        </a:lnTo>
                      </a:path>
                    </a:pathLst>
                  </a:custGeom>
                  <a:grpFill/>
                  <a:ln w="6350" cap="flat">
                    <a:solidFill>
                      <a:srgbClr val="808080"/>
                    </a:solidFill>
                    <a:prstDash val="solid"/>
                    <a:miter lim="800000"/>
                    <a:headEnd/>
                    <a:tailEnd/>
                  </a:ln>
                  <a:extLst/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F5F5F"/>
                      </a:solidFill>
                      <a:effectLst/>
                      <a:uLnTx/>
                      <a:uFillTx/>
                      <a:latin typeface="Segoe UI" panose="020B0502040204020203" pitchFamily="34" charset="0"/>
                      <a:ea typeface="+mn-ea"/>
                      <a:cs typeface="Segoe UI" panose="020B0502040204020203" pitchFamily="34" charset="0"/>
                    </a:endParaRPr>
                  </a:p>
                </p:txBody>
              </p:sp>
            </p:grpSp>
          </p:grpSp>
        </p:grpSp>
        <p:sp>
          <p:nvSpPr>
            <p:cNvPr id="156" name="모서리가 둥근 직사각형 155"/>
            <p:cNvSpPr/>
            <p:nvPr/>
          </p:nvSpPr>
          <p:spPr>
            <a:xfrm>
              <a:off x="6673691" y="3045562"/>
              <a:ext cx="73343" cy="112297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57" name="Rounded Rectangle 218"/>
            <p:cNvSpPr/>
            <p:nvPr/>
          </p:nvSpPr>
          <p:spPr>
            <a:xfrm>
              <a:off x="5973475" y="5022848"/>
              <a:ext cx="543807" cy="218852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noProof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확인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158" name="직선 연결선 157"/>
            <p:cNvCxnSpPr/>
            <p:nvPr/>
          </p:nvCxnSpPr>
          <p:spPr>
            <a:xfrm>
              <a:off x="5705475" y="4914900"/>
              <a:ext cx="1121325" cy="0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" name="TextBox 177"/>
          <p:cNvSpPr txBox="1"/>
          <p:nvPr/>
        </p:nvSpPr>
        <p:spPr>
          <a:xfrm>
            <a:off x="5133975" y="4202702"/>
            <a:ext cx="914400" cy="188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[LNB]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해당 팝업을 출력시키는 경로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401175" y="3850277"/>
            <a:ext cx="914400" cy="188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참조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1]</a:t>
            </a:r>
            <a:endParaRPr lang="ko-KR" altLang="en-US" sz="800" b="1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CA6.9.2.1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1" name="타원 180"/>
          <p:cNvSpPr/>
          <p:nvPr/>
        </p:nvSpPr>
        <p:spPr>
          <a:xfrm>
            <a:off x="1017785" y="1467954"/>
            <a:ext cx="162835" cy="161899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Trebuchet MS" panose="020B0603020202020204" pitchFamily="34" charset="0"/>
                <a:ea typeface="나눔고딕" pitchFamily="50" charset="-127"/>
              </a:rPr>
              <a:t>1</a:t>
            </a:r>
            <a:endParaRPr lang="ko-KR" altLang="en-US" sz="800" dirty="0" smtClean="0">
              <a:solidFill>
                <a:schemeClr val="bg1"/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4324350" y="1040787"/>
            <a:ext cx="0" cy="3458688"/>
          </a:xfrm>
          <a:prstGeom prst="straightConnector1">
            <a:avLst/>
          </a:prstGeom>
          <a:ln w="28575">
            <a:solidFill>
              <a:srgbClr val="FF0066"/>
            </a:solidFill>
            <a:headEnd type="triangl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9649" y="1248775"/>
            <a:ext cx="1038225" cy="16092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설비그룹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409267" y="4470400"/>
            <a:ext cx="211666" cy="3640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 flipH="1">
            <a:off x="4978400" y="4653195"/>
            <a:ext cx="1371600" cy="0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563533" y="4699000"/>
            <a:ext cx="939800" cy="1270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rgbClr val="FF0000"/>
                </a:solidFill>
                <a:latin typeface="+mn-ea"/>
                <a:ea typeface="+mn-ea"/>
              </a:rPr>
              <a:t>관리자일 경우</a:t>
            </a:r>
          </a:p>
        </p:txBody>
      </p:sp>
    </p:spTree>
    <p:extLst>
      <p:ext uri="{BB962C8B-B14F-4D97-AF65-F5344CB8AC3E}">
        <p14:creationId xmlns:p14="http://schemas.microsoft.com/office/powerpoint/2010/main" val="120651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"/>
          <p:cNvSpPr/>
          <p:nvPr/>
        </p:nvSpPr>
        <p:spPr>
          <a:xfrm>
            <a:off x="189783" y="665149"/>
            <a:ext cx="4320000" cy="30229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65000"/>
                <a:lumOff val="35000"/>
              </a:schemeClr>
            </a:solidFill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0800" tIns="50800" rIns="50800" bIns="50800" anchor="ctr"/>
          <a:lstStyle/>
          <a:p>
            <a:endParaRPr sz="240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3" name="Rectangle 212"/>
          <p:cNvSpPr/>
          <p:nvPr/>
        </p:nvSpPr>
        <p:spPr>
          <a:xfrm>
            <a:off x="207783" y="680787"/>
            <a:ext cx="43020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4" name="텍스트 상자 31"/>
          <p:cNvSpPr txBox="1"/>
          <p:nvPr/>
        </p:nvSpPr>
        <p:spPr>
          <a:xfrm>
            <a:off x="311456" y="787439"/>
            <a:ext cx="198347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ko-KR" altLang="en-US" sz="9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 그룹</a:t>
            </a:r>
            <a:endParaRPr kumimoji="1" lang="ko-KR" alt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텍스트 상자 31"/>
          <p:cNvSpPr txBox="1"/>
          <p:nvPr/>
        </p:nvSpPr>
        <p:spPr>
          <a:xfrm>
            <a:off x="413521" y="1299603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그룹명</a:t>
            </a:r>
            <a:endParaRPr kumimoji="1" lang="ko-KR" altLang="en-US" sz="8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" name="텍스트 상자 31"/>
          <p:cNvSpPr txBox="1"/>
          <p:nvPr/>
        </p:nvSpPr>
        <p:spPr>
          <a:xfrm>
            <a:off x="413521" y="1881938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공유자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텍스트 상자 31"/>
          <p:cNvSpPr txBox="1"/>
          <p:nvPr/>
        </p:nvSpPr>
        <p:spPr>
          <a:xfrm>
            <a:off x="416060" y="2220917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설명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텍스트 상자 31"/>
          <p:cNvSpPr txBox="1"/>
          <p:nvPr/>
        </p:nvSpPr>
        <p:spPr>
          <a:xfrm>
            <a:off x="413521" y="1596124"/>
            <a:ext cx="454551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설비 </a:t>
            </a:r>
            <a:endParaRPr kumimoji="1" lang="ko-KR" altLang="en-US" sz="8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2" name="Group 123"/>
          <p:cNvGrpSpPr/>
          <p:nvPr/>
        </p:nvGrpSpPr>
        <p:grpSpPr>
          <a:xfrm>
            <a:off x="1468812" y="3194957"/>
            <a:ext cx="1652246" cy="287333"/>
            <a:chOff x="4794917" y="5749958"/>
            <a:chExt cx="1197826" cy="187731"/>
          </a:xfrm>
        </p:grpSpPr>
        <p:sp>
          <p:nvSpPr>
            <p:cNvPr id="13" name="Rounded Rectangle 215"/>
            <p:cNvSpPr/>
            <p:nvPr/>
          </p:nvSpPr>
          <p:spPr>
            <a:xfrm>
              <a:off x="5452743" y="5749958"/>
              <a:ext cx="540000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/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</a:rPr>
                <a:t>취소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4" name="Rounded Rectangle 218"/>
            <p:cNvSpPr/>
            <p:nvPr/>
          </p:nvSpPr>
          <p:spPr>
            <a:xfrm>
              <a:off x="4794917" y="5749958"/>
              <a:ext cx="536766" cy="187731"/>
            </a:xfrm>
            <a:prstGeom prst="roundRect">
              <a:avLst>
                <a:gd name="adj" fmla="val 8420"/>
              </a:avLst>
            </a:prstGeom>
            <a:solidFill>
              <a:sysClr val="window" lastClr="FFFFFF">
                <a:lumMod val="85000"/>
              </a:sysClr>
            </a:solidFill>
            <a:ln w="9525" cap="flat" cmpd="sng">
              <a:solidFill>
                <a:sysClr val="window" lastClr="FFFFFF">
                  <a:lumMod val="50000"/>
                </a:sys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kern="0" noProof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Calibri"/>
                  <a:ea typeface="맑은 고딕" panose="020B0503020000020004" pitchFamily="50" charset="-127"/>
                </a:rPr>
                <a:t>확인</a:t>
              </a:r>
              <a:endParaRPr kumimoji="0" lang="en-US" sz="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</a:endParaRPr>
            </a:p>
          </p:txBody>
        </p:sp>
      </p:grpSp>
      <p:cxnSp>
        <p:nvCxnSpPr>
          <p:cNvPr id="15" name="직선 연결선 14"/>
          <p:cNvCxnSpPr/>
          <p:nvPr/>
        </p:nvCxnSpPr>
        <p:spPr>
          <a:xfrm>
            <a:off x="321639" y="3055620"/>
            <a:ext cx="3994952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텍스트 상자 31"/>
          <p:cNvSpPr txBox="1"/>
          <p:nvPr/>
        </p:nvSpPr>
        <p:spPr>
          <a:xfrm>
            <a:off x="994546" y="1299603"/>
            <a:ext cx="2091554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노트북있는 회의실</a:t>
            </a:r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</a:t>
            </a:r>
            <a:endParaRPr kumimoji="1"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1" name="텍스트 상자 31"/>
          <p:cNvSpPr txBox="1"/>
          <p:nvPr/>
        </p:nvSpPr>
        <p:spPr>
          <a:xfrm>
            <a:off x="994546" y="1596124"/>
            <a:ext cx="2091554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Aha room, </a:t>
            </a:r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삼성 노트북</a:t>
            </a:r>
            <a:endParaRPr kumimoji="1"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2" name="텍스트 상자 31"/>
          <p:cNvSpPr txBox="1"/>
          <p:nvPr/>
        </p:nvSpPr>
        <p:spPr>
          <a:xfrm>
            <a:off x="994546" y="2220917"/>
            <a:ext cx="2091554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노트북있는 회의실입니다</a:t>
            </a:r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.</a:t>
            </a:r>
            <a:endParaRPr kumimoji="1" lang="ko-KR" altLang="en-US" sz="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63" name="텍스트 상자 31"/>
          <p:cNvSpPr txBox="1"/>
          <p:nvPr/>
        </p:nvSpPr>
        <p:spPr>
          <a:xfrm>
            <a:off x="974651" y="1893304"/>
            <a:ext cx="3288098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kumimoji="1"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kumimoji="1"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800" u="sng" smtClean="0">
                <a:solidFill>
                  <a:srgbClr val="0070C0"/>
                </a:solidFill>
                <a:latin typeface="+mn-ea"/>
                <a:ea typeface="+mn-ea"/>
              </a:rPr>
              <a:t>홍길동 </a:t>
            </a:r>
            <a:r>
              <a:rPr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외 </a:t>
            </a:r>
            <a:r>
              <a:rPr lang="en-US" altLang="ko-KR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15</a:t>
            </a:r>
            <a:r>
              <a:rPr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명</a:t>
            </a:r>
            <a:r>
              <a:rPr lang="en-US" altLang="ko-KR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endParaRPr kumimoji="1" lang="ko-KR" altLang="en-US" sz="800" u="sng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64" name="Rounded Rectangle 215"/>
          <p:cNvSpPr/>
          <p:nvPr/>
        </p:nvSpPr>
        <p:spPr>
          <a:xfrm>
            <a:off x="3923455" y="1877032"/>
            <a:ext cx="387981" cy="153335"/>
          </a:xfrm>
          <a:prstGeom prst="roundRect">
            <a:avLst>
              <a:gd name="adj" fmla="val 8420"/>
            </a:avLst>
          </a:prstGeom>
          <a:solidFill>
            <a:sysClr val="window" lastClr="FFFFFF"/>
          </a:solidFill>
          <a:ln w="9525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marL="0" marR="0" lvl="0" indent="0" algn="ctr" defTabSz="576818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</a:rPr>
              <a:t>더보기</a:t>
            </a:r>
            <a:endParaRPr kumimoji="0" lang="en-US" sz="800" b="0" i="0" u="none" strike="noStrike" kern="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65" name="그림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4443412"/>
            <a:ext cx="1409700" cy="1495425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133975" y="4202702"/>
            <a:ext cx="914400" cy="18832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[LNB]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해당 팝업을 출력시키는 경로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6409266" y="4629150"/>
            <a:ext cx="220133" cy="205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134908" y="4813300"/>
            <a:ext cx="939800" cy="1270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rgbClr val="FF0000"/>
                </a:solidFill>
                <a:latin typeface="+mn-ea"/>
                <a:ea typeface="+mn-ea"/>
              </a:rPr>
              <a:t>일반 사용자일 경우</a:t>
            </a:r>
          </a:p>
        </p:txBody>
      </p:sp>
      <p:cxnSp>
        <p:nvCxnSpPr>
          <p:cNvPr id="71" name="꺾인 연결선 70"/>
          <p:cNvCxnSpPr>
            <a:stCxn id="67" idx="1"/>
            <a:endCxn id="2" idx="2"/>
          </p:cNvCxnSpPr>
          <p:nvPr/>
        </p:nvCxnSpPr>
        <p:spPr>
          <a:xfrm rot="10800000">
            <a:off x="2349784" y="3688081"/>
            <a:ext cx="4059483" cy="1043729"/>
          </a:xfrm>
          <a:prstGeom prst="bentConnector2">
            <a:avLst/>
          </a:prstGeom>
          <a:ln w="3175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그룹 보기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lvl="0"/>
            <a:r>
              <a:rPr lang="ko-KR" altLang="en-US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80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그룹</a:t>
            </a:r>
            <a:endParaRPr lang="ko-KR" altLang="en-US" sz="80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550050"/>
              </p:ext>
            </p:extLst>
          </p:nvPr>
        </p:nvGraphicFramePr>
        <p:xfrm>
          <a:off x="9286521" y="802789"/>
          <a:ext cx="2857473" cy="471256"/>
        </p:xfrm>
        <a:graphic>
          <a:graphicData uri="http://schemas.openxmlformats.org/drawingml/2006/table">
            <a:tbl>
              <a:tblPr/>
              <a:tblGrid>
                <a:gridCol w="16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ea"/>
                          <a:ea typeface="+mj-ea"/>
                          <a:cs typeface="Nanum Gothic" charset="-127"/>
                        </a:rPr>
                        <a:t>1</a:t>
                      </a:r>
                      <a:endParaRPr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ea"/>
                        <a:ea typeface="+mj-ea"/>
                        <a:cs typeface="Nanum Gothic" charset="-127"/>
                      </a:endParaRPr>
                    </a:p>
                  </a:txBody>
                  <a:tcPr marL="0" marR="0" marT="50800" marB="50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 사용자가       클릭시</a:t>
                      </a:r>
                      <a:r>
                        <a:rPr kumimoji="1" lang="en-US" altLang="ko-KR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설비 그룹 보기 팝업 출력</a:t>
                      </a:r>
                    </a:p>
                  </a:txBody>
                  <a:tcPr marL="18000" marR="0" marT="36000" marB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CA6.9.2.2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6" name="타원 75"/>
          <p:cNvSpPr/>
          <p:nvPr/>
        </p:nvSpPr>
        <p:spPr>
          <a:xfrm>
            <a:off x="131960" y="572604"/>
            <a:ext cx="162835" cy="161899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Trebuchet MS" panose="020B0603020202020204" pitchFamily="34" charset="0"/>
                <a:ea typeface="나눔고딕" pitchFamily="50" charset="-127"/>
              </a:rPr>
              <a:t>1</a:t>
            </a:r>
            <a:endParaRPr lang="ko-KR" altLang="en-US" sz="800" dirty="0" smtClean="0">
              <a:solidFill>
                <a:schemeClr val="bg1"/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pic>
        <p:nvPicPr>
          <p:cNvPr id="77" name="그림 7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879" y="1088023"/>
            <a:ext cx="152186" cy="15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42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7069" y="142649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238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427227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 algn="ctr">
              <a:lnSpc>
                <a:spcPct val="130000"/>
              </a:lnSpc>
            </a:pPr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설비 </a:t>
            </a: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예약하기</a:t>
            </a:r>
            <a:endParaRPr lang="x-none" altLang="x-none" sz="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20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1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22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양쪽 모서리가 둥근 사각형 26"/>
          <p:cNvSpPr/>
          <p:nvPr/>
        </p:nvSpPr>
        <p:spPr>
          <a:xfrm>
            <a:off x="2004740" y="1227013"/>
            <a:ext cx="1273193" cy="268411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일반 설정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텍스트 상자 31"/>
          <p:cNvSpPr txBox="1"/>
          <p:nvPr/>
        </p:nvSpPr>
        <p:spPr>
          <a:xfrm>
            <a:off x="1993823" y="896910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322383"/>
              </p:ext>
            </p:extLst>
          </p:nvPr>
        </p:nvGraphicFramePr>
        <p:xfrm>
          <a:off x="9290533" y="786383"/>
          <a:ext cx="2835141" cy="583016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일정의 일반 설정 화면과 화면 구조 및 기능 동일한 화면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457200" y="6429375"/>
            <a:ext cx="1390650" cy="200025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7" name="꺾인 연결선 6"/>
          <p:cNvCxnSpPr>
            <a:stCxn id="5" idx="3"/>
          </p:cNvCxnSpPr>
          <p:nvPr/>
        </p:nvCxnSpPr>
        <p:spPr>
          <a:xfrm flipV="1">
            <a:off x="1847850" y="4214602"/>
            <a:ext cx="485775" cy="2314786"/>
          </a:xfrm>
          <a:prstGeom prst="bentConnector2">
            <a:avLst/>
          </a:prstGeom>
          <a:ln w="3175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</a:t>
            </a: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 설정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CA6.4.1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75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6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설비 </a:t>
            </a:r>
            <a:r>
              <a:rPr kumimoji="1" lang="en-US" altLang="ko-KR" sz="700" b="1" dirty="0" smtClean="0">
                <a:solidFill>
                  <a:srgbClr val="FF0000"/>
                </a:solidFill>
                <a:latin typeface="+mn-ea"/>
              </a:rPr>
              <a:t>3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9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0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86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04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0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1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32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3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34" name="텍스트 상자 31"/>
          <p:cNvSpPr txBox="1"/>
          <p:nvPr/>
        </p:nvSpPr>
        <p:spPr>
          <a:xfrm>
            <a:off x="672858" y="39278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35" name="Freeform 24"/>
          <p:cNvSpPr>
            <a:spLocks noChangeArrowheads="1"/>
          </p:cNvSpPr>
          <p:nvPr/>
        </p:nvSpPr>
        <p:spPr bwMode="auto">
          <a:xfrm>
            <a:off x="674470" y="40290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1691552" y="3751132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14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819611" y="41950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14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42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4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819611" y="43928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14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4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1691552" y="1698987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1691552" y="1957190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8129256" y="1219200"/>
            <a:ext cx="866095" cy="205990"/>
          </a:xfrm>
          <a:prstGeom prst="roundRect">
            <a:avLst/>
          </a:prstGeom>
          <a:solidFill>
            <a:sysClr val="window" lastClr="FFFFFF"/>
          </a:solidFill>
          <a:ln w="9525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576818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   달력보기</a:t>
            </a:r>
            <a:endParaRPr kumimoji="0" lang="ko-KR" altLang="en-US" sz="800" kern="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165" y="1253440"/>
            <a:ext cx="141069" cy="141069"/>
          </a:xfrm>
          <a:prstGeom prst="rect">
            <a:avLst/>
          </a:prstGeom>
        </p:spPr>
      </p:pic>
      <p:sp>
        <p:nvSpPr>
          <p:cNvPr id="107" name="양쪽 모서리가 둥근 사각형 106"/>
          <p:cNvSpPr/>
          <p:nvPr/>
        </p:nvSpPr>
        <p:spPr>
          <a:xfrm>
            <a:off x="3281076" y="1227013"/>
            <a:ext cx="1273193" cy="268411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설비 순서변경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19" name="내용 개체 틀 8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1657109"/>
              </p:ext>
            </p:extLst>
          </p:nvPr>
        </p:nvGraphicFramePr>
        <p:xfrm>
          <a:off x="1986464" y="1617719"/>
          <a:ext cx="7086995" cy="1211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8211">
                  <a:extLst>
                    <a:ext uri="{9D8B030D-6E8A-4147-A177-3AD203B41FA5}">
                      <a16:colId xmlns:a16="http://schemas.microsoft.com/office/drawing/2014/main" val="3085025482"/>
                    </a:ext>
                  </a:extLst>
                </a:gridCol>
                <a:gridCol w="5958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시간 형식</a:t>
                      </a:r>
                      <a:endParaRPr lang="ko-KR" altLang="en-US"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u="non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오전</a:t>
                      </a:r>
                      <a:r>
                        <a:rPr lang="en-US" altLang="ko-KR" sz="800" b="0" u="non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         </a:t>
                      </a:r>
                      <a:r>
                        <a:rPr lang="en-US" altLang="ko-KR" sz="800" b="0" u="non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u="none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시간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marL="0" algn="l" defTabSz="990570" rtl="0" eaLnBrk="1" latinLnBrk="1" hangingPunct="1"/>
                      <a:r>
                        <a:rPr lang="ko-KR" altLang="en-US" sz="800" b="0" kern="12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인쇄 형식</a:t>
                      </a:r>
                      <a:endParaRPr lang="ko-KR" altLang="en-US" sz="8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리스트              테이블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791048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달력 방식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일간                 주간                  월간</a:t>
                      </a: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시작 시각</a:t>
                      </a:r>
                      <a:endParaRPr lang="ko-KR" altLang="en-US" sz="800" b="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" name="TextBox 119"/>
          <p:cNvSpPr txBox="1"/>
          <p:nvPr/>
        </p:nvSpPr>
        <p:spPr>
          <a:xfrm rot="5400000">
            <a:off x="3924102" y="2586596"/>
            <a:ext cx="219579" cy="18955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3291640" y="2558382"/>
            <a:ext cx="932781" cy="228600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08:00</a:t>
            </a: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8207362" y="2909677"/>
            <a:ext cx="866095" cy="29717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저장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23" name="그룹 122"/>
          <p:cNvGrpSpPr/>
          <p:nvPr/>
        </p:nvGrpSpPr>
        <p:grpSpPr>
          <a:xfrm>
            <a:off x="3286970" y="1698434"/>
            <a:ext cx="902728" cy="118800"/>
            <a:chOff x="3286970" y="1774634"/>
            <a:chExt cx="902728" cy="118800"/>
          </a:xfrm>
        </p:grpSpPr>
        <p:sp>
          <p:nvSpPr>
            <p:cNvPr id="124" name="타원 123"/>
            <p:cNvSpPr>
              <a:spLocks noChangeAspect="1"/>
            </p:cNvSpPr>
            <p:nvPr/>
          </p:nvSpPr>
          <p:spPr>
            <a:xfrm>
              <a:off x="4081698" y="1774634"/>
              <a:ext cx="108000" cy="109475"/>
            </a:xfrm>
            <a:prstGeom prst="ellipse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pic>
          <p:nvPicPr>
            <p:cNvPr id="125" name="그림 124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6970" y="1774634"/>
              <a:ext cx="118800" cy="118800"/>
            </a:xfrm>
            <a:prstGeom prst="rect">
              <a:avLst/>
            </a:prstGeom>
          </p:spPr>
        </p:pic>
      </p:grpSp>
      <p:grpSp>
        <p:nvGrpSpPr>
          <p:cNvPr id="126" name="그룹 125"/>
          <p:cNvGrpSpPr/>
          <p:nvPr/>
        </p:nvGrpSpPr>
        <p:grpSpPr>
          <a:xfrm>
            <a:off x="3286970" y="2003234"/>
            <a:ext cx="902728" cy="118800"/>
            <a:chOff x="3286970" y="1774634"/>
            <a:chExt cx="902728" cy="118800"/>
          </a:xfrm>
        </p:grpSpPr>
        <p:sp>
          <p:nvSpPr>
            <p:cNvPr id="127" name="타원 126"/>
            <p:cNvSpPr>
              <a:spLocks noChangeAspect="1"/>
            </p:cNvSpPr>
            <p:nvPr/>
          </p:nvSpPr>
          <p:spPr>
            <a:xfrm>
              <a:off x="4081698" y="1774634"/>
              <a:ext cx="108000" cy="109475"/>
            </a:xfrm>
            <a:prstGeom prst="ellipse">
              <a:avLst/>
            </a:prstGeom>
            <a:noFill/>
            <a:ln w="158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pic>
          <p:nvPicPr>
            <p:cNvPr id="128" name="그림 127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6970" y="1774634"/>
              <a:ext cx="118800" cy="118800"/>
            </a:xfrm>
            <a:prstGeom prst="rect">
              <a:avLst/>
            </a:prstGeom>
          </p:spPr>
        </p:pic>
      </p:grpSp>
      <p:sp>
        <p:nvSpPr>
          <p:cNvPr id="129" name="타원 128"/>
          <p:cNvSpPr>
            <a:spLocks noChangeAspect="1"/>
          </p:cNvSpPr>
          <p:nvPr/>
        </p:nvSpPr>
        <p:spPr>
          <a:xfrm>
            <a:off x="4081698" y="2317559"/>
            <a:ext cx="108000" cy="109475"/>
          </a:xfrm>
          <a:prstGeom prst="ellipse">
            <a:avLst/>
          </a:pr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pic>
        <p:nvPicPr>
          <p:cNvPr id="130" name="그림 129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970" y="2317559"/>
            <a:ext cx="118800" cy="118800"/>
          </a:xfrm>
          <a:prstGeom prst="rect">
            <a:avLst/>
          </a:prstGeom>
        </p:spPr>
      </p:pic>
      <p:sp>
        <p:nvSpPr>
          <p:cNvPr id="131" name="타원 130"/>
          <p:cNvSpPr>
            <a:spLocks noChangeAspect="1"/>
          </p:cNvSpPr>
          <p:nvPr/>
        </p:nvSpPr>
        <p:spPr>
          <a:xfrm>
            <a:off x="4977048" y="2317559"/>
            <a:ext cx="108000" cy="109475"/>
          </a:xfrm>
          <a:prstGeom prst="ellipse">
            <a:avLst/>
          </a:prstGeom>
          <a:noFill/>
          <a:ln w="158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cxnSp>
        <p:nvCxnSpPr>
          <p:cNvPr id="137" name="직선 연결선 136"/>
          <p:cNvCxnSpPr/>
          <p:nvPr/>
        </p:nvCxnSpPr>
        <p:spPr>
          <a:xfrm>
            <a:off x="2004740" y="1498473"/>
            <a:ext cx="6990611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83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427227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 algn="ctr">
              <a:lnSpc>
                <a:spcPct val="130000"/>
              </a:lnSpc>
            </a:pPr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설비 </a:t>
            </a: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예약하기</a:t>
            </a:r>
            <a:endParaRPr lang="x-none" altLang="x-none" sz="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20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1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22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양쪽 모서리가 둥근 사각형 26"/>
          <p:cNvSpPr/>
          <p:nvPr/>
        </p:nvSpPr>
        <p:spPr>
          <a:xfrm>
            <a:off x="2004740" y="1227013"/>
            <a:ext cx="1273193" cy="268411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일반 설정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텍스트 상자 31"/>
          <p:cNvSpPr txBox="1"/>
          <p:nvPr/>
        </p:nvSpPr>
        <p:spPr>
          <a:xfrm>
            <a:off x="1993823" y="896910"/>
            <a:ext cx="19834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30" name="내용 개체 틀 85"/>
          <p:cNvGraphicFramePr>
            <a:graphicFrameLocks/>
          </p:cNvGraphicFramePr>
          <p:nvPr>
            <p:extLst/>
          </p:nvPr>
        </p:nvGraphicFramePr>
        <p:xfrm>
          <a:off x="1986464" y="1636769"/>
          <a:ext cx="7086994" cy="2423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497">
                  <a:extLst>
                    <a:ext uri="{9D8B030D-6E8A-4147-A177-3AD203B41FA5}">
                      <a16:colId xmlns:a16="http://schemas.microsoft.com/office/drawing/2014/main" val="3085025482"/>
                    </a:ext>
                  </a:extLst>
                </a:gridCol>
                <a:gridCol w="3543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891"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회의실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marL="0" algn="l" defTabSz="990570" rtl="0" eaLnBrk="1" latinLnBrk="1" hangingPunct="1"/>
                      <a:r>
                        <a:rPr lang="ko-KR" altLang="en-US" sz="800" b="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빔프로젝터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791048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노트북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차량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노트북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설비종류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설비종류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891"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설비종류</a:t>
                      </a: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108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1" name="직선 연결선 30"/>
          <p:cNvCxnSpPr/>
          <p:nvPr/>
        </p:nvCxnSpPr>
        <p:spPr>
          <a:xfrm>
            <a:off x="2004740" y="1498473"/>
            <a:ext cx="6990611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/>
          <p:cNvGrpSpPr/>
          <p:nvPr/>
        </p:nvGrpSpPr>
        <p:grpSpPr>
          <a:xfrm>
            <a:off x="4494428" y="1699760"/>
            <a:ext cx="925298" cy="138565"/>
            <a:chOff x="2463736" y="1734699"/>
            <a:chExt cx="1426406" cy="218379"/>
          </a:xfrm>
        </p:grpSpPr>
        <p:grpSp>
          <p:nvGrpSpPr>
            <p:cNvPr id="55" name="그룹 54"/>
            <p:cNvGrpSpPr/>
            <p:nvPr/>
          </p:nvGrpSpPr>
          <p:grpSpPr>
            <a:xfrm>
              <a:off x="2463736" y="1734699"/>
              <a:ext cx="1426406" cy="218379"/>
              <a:chOff x="2463735" y="1734699"/>
              <a:chExt cx="2120097" cy="218379"/>
            </a:xfrm>
          </p:grpSpPr>
          <p:sp>
            <p:nvSpPr>
              <p:cNvPr id="60" name="모서리가 둥근 직사각형 59"/>
              <p:cNvSpPr/>
              <p:nvPr/>
            </p:nvSpPr>
            <p:spPr>
              <a:xfrm>
                <a:off x="2463735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1" name="모서리가 둥근 직사각형 60"/>
              <p:cNvSpPr/>
              <p:nvPr/>
            </p:nvSpPr>
            <p:spPr>
              <a:xfrm>
                <a:off x="3007934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2" name="모서리가 둥근 직사각형 61"/>
              <p:cNvSpPr/>
              <p:nvPr/>
            </p:nvSpPr>
            <p:spPr>
              <a:xfrm>
                <a:off x="3552132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3" name="모서리가 둥근 직사각형 62"/>
              <p:cNvSpPr/>
              <p:nvPr/>
            </p:nvSpPr>
            <p:spPr>
              <a:xfrm>
                <a:off x="4096330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539856" y="1782464"/>
              <a:ext cx="183343" cy="124200"/>
            </a:xfrm>
            <a:prstGeom prst="rect">
              <a:avLst/>
            </a:prstGeom>
          </p:spPr>
        </p:pic>
        <p:pic>
          <p:nvPicPr>
            <p:cNvPr id="57" name="그림 56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903547" y="1790314"/>
              <a:ext cx="183343" cy="124200"/>
            </a:xfrm>
            <a:prstGeom prst="rect">
              <a:avLst/>
            </a:prstGeom>
          </p:spPr>
        </p:pic>
        <p:pic>
          <p:nvPicPr>
            <p:cNvPr id="58" name="그림 57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273531" y="1791989"/>
              <a:ext cx="183343" cy="124200"/>
            </a:xfrm>
            <a:prstGeom prst="rect">
              <a:avLst/>
            </a:prstGeom>
          </p:spPr>
        </p:pic>
        <p:pic>
          <p:nvPicPr>
            <p:cNvPr id="59" name="그림 58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645412" y="1782465"/>
              <a:ext cx="183343" cy="124200"/>
            </a:xfrm>
            <a:prstGeom prst="rect">
              <a:avLst/>
            </a:prstGeom>
          </p:spPr>
        </p:pic>
      </p:grpSp>
      <p:sp>
        <p:nvSpPr>
          <p:cNvPr id="66" name="모서리가 둥근 직사각형 65"/>
          <p:cNvSpPr/>
          <p:nvPr/>
        </p:nvSpPr>
        <p:spPr>
          <a:xfrm>
            <a:off x="8207363" y="4175306"/>
            <a:ext cx="866095" cy="29717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저장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77" name="Group 3"/>
          <p:cNvGraphicFramePr>
            <a:graphicFrameLocks noGrp="1"/>
          </p:cNvGraphicFramePr>
          <p:nvPr>
            <p:extLst/>
          </p:nvPr>
        </p:nvGraphicFramePr>
        <p:xfrm>
          <a:off x="9290533" y="786383"/>
          <a:ext cx="2835141" cy="804509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설비 목록 및 순서를 변경할 수 있는 화면으로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as-is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와 기능 동일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클릭시 달력화면으로 이동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759883"/>
                  </a:ext>
                </a:extLst>
              </a:tr>
            </a:tbl>
          </a:graphicData>
        </a:graphic>
      </p:graphicFrame>
      <p:sp>
        <p:nvSpPr>
          <p:cNvPr id="68" name="타원 67"/>
          <p:cNvSpPr/>
          <p:nvPr/>
        </p:nvSpPr>
        <p:spPr>
          <a:xfrm>
            <a:off x="1910966" y="1552769"/>
            <a:ext cx="162835" cy="161899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Trebuchet MS" panose="020B0603020202020204" pitchFamily="34" charset="0"/>
                <a:ea typeface="나눔고딕" pitchFamily="50" charset="-127"/>
              </a:rPr>
              <a:t>1</a:t>
            </a:r>
            <a:endParaRPr lang="ko-KR" altLang="en-US" sz="800" dirty="0" smtClean="0">
              <a:solidFill>
                <a:schemeClr val="bg1"/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222" name="모서리가 둥근 직사각형 221"/>
          <p:cNvSpPr/>
          <p:nvPr/>
        </p:nvSpPr>
        <p:spPr>
          <a:xfrm>
            <a:off x="6614052" y="4711880"/>
            <a:ext cx="2495550" cy="285750"/>
          </a:xfrm>
          <a:prstGeom prst="roundRect">
            <a:avLst>
              <a:gd name="adj" fmla="val 50000"/>
            </a:avLst>
          </a:prstGeom>
          <a:solidFill>
            <a:srgbClr val="FFFF00">
              <a:alpha val="85000"/>
            </a:srgb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저장되었습니다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</a:t>
            </a:r>
            <a:endParaRPr lang="ko-KR" altLang="en-US" sz="80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85" name="그룹 84"/>
          <p:cNvGrpSpPr/>
          <p:nvPr/>
        </p:nvGrpSpPr>
        <p:grpSpPr>
          <a:xfrm>
            <a:off x="8094878" y="1699760"/>
            <a:ext cx="925298" cy="138565"/>
            <a:chOff x="2463736" y="1734699"/>
            <a:chExt cx="1426406" cy="218379"/>
          </a:xfrm>
        </p:grpSpPr>
        <p:grpSp>
          <p:nvGrpSpPr>
            <p:cNvPr id="88" name="그룹 87"/>
            <p:cNvGrpSpPr/>
            <p:nvPr/>
          </p:nvGrpSpPr>
          <p:grpSpPr>
            <a:xfrm>
              <a:off x="2463736" y="1734699"/>
              <a:ext cx="1426406" cy="218379"/>
              <a:chOff x="2463735" y="1734699"/>
              <a:chExt cx="2120097" cy="218379"/>
            </a:xfrm>
          </p:grpSpPr>
          <p:sp>
            <p:nvSpPr>
              <p:cNvPr id="93" name="모서리가 둥근 직사각형 92"/>
              <p:cNvSpPr/>
              <p:nvPr/>
            </p:nvSpPr>
            <p:spPr>
              <a:xfrm>
                <a:off x="2463735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4" name="모서리가 둥근 직사각형 93"/>
              <p:cNvSpPr/>
              <p:nvPr/>
            </p:nvSpPr>
            <p:spPr>
              <a:xfrm>
                <a:off x="3007934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5" name="모서리가 둥근 직사각형 94"/>
              <p:cNvSpPr/>
              <p:nvPr/>
            </p:nvSpPr>
            <p:spPr>
              <a:xfrm>
                <a:off x="3552132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96" name="모서리가 둥근 직사각형 95"/>
              <p:cNvSpPr/>
              <p:nvPr/>
            </p:nvSpPr>
            <p:spPr>
              <a:xfrm>
                <a:off x="4096330" y="1734699"/>
                <a:ext cx="487502" cy="218379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endParaRPr lang="ko-KR" altLang="en-US" sz="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89" name="그림 8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539856" y="1782464"/>
              <a:ext cx="183343" cy="124200"/>
            </a:xfrm>
            <a:prstGeom prst="rect">
              <a:avLst/>
            </a:prstGeom>
          </p:spPr>
        </p:pic>
        <p:pic>
          <p:nvPicPr>
            <p:cNvPr id="90" name="그림 89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903547" y="1790314"/>
              <a:ext cx="183343" cy="124200"/>
            </a:xfrm>
            <a:prstGeom prst="rect">
              <a:avLst/>
            </a:prstGeom>
          </p:spPr>
        </p:pic>
        <p:pic>
          <p:nvPicPr>
            <p:cNvPr id="91" name="그림 90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273531" y="1791989"/>
              <a:ext cx="183343" cy="124200"/>
            </a:xfrm>
            <a:prstGeom prst="rect">
              <a:avLst/>
            </a:prstGeom>
          </p:spPr>
        </p:pic>
        <p:pic>
          <p:nvPicPr>
            <p:cNvPr id="92" name="그림 91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3645412" y="1782465"/>
              <a:ext cx="183343" cy="124200"/>
            </a:xfrm>
            <a:prstGeom prst="rect">
              <a:avLst/>
            </a:prstGeom>
          </p:spPr>
        </p:pic>
      </p:grpSp>
      <p:grpSp>
        <p:nvGrpSpPr>
          <p:cNvPr id="97" name="그룹 96"/>
          <p:cNvGrpSpPr/>
          <p:nvPr/>
        </p:nvGrpSpPr>
        <p:grpSpPr>
          <a:xfrm>
            <a:off x="5381625" y="1976957"/>
            <a:ext cx="47625" cy="1932196"/>
            <a:chOff x="6858000" y="2907897"/>
            <a:chExt cx="47625" cy="508807"/>
          </a:xfrm>
        </p:grpSpPr>
        <p:sp>
          <p:nvSpPr>
            <p:cNvPr id="98" name="모서리가 둥근 직사각형 97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99" name="모서리가 둥근 직사각형 98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8943975" y="1976957"/>
            <a:ext cx="47625" cy="1932196"/>
            <a:chOff x="6858000" y="2907897"/>
            <a:chExt cx="47625" cy="508807"/>
          </a:xfrm>
        </p:grpSpPr>
        <p:sp>
          <p:nvSpPr>
            <p:cNvPr id="101" name="모서리가 둥근 직사각형 100"/>
            <p:cNvSpPr/>
            <p:nvPr/>
          </p:nvSpPr>
          <p:spPr>
            <a:xfrm>
              <a:off x="6858000" y="2907897"/>
              <a:ext cx="47625" cy="50880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02" name="모서리가 둥근 직사각형 101"/>
            <p:cNvSpPr/>
            <p:nvPr/>
          </p:nvSpPr>
          <p:spPr>
            <a:xfrm>
              <a:off x="6858000" y="3015983"/>
              <a:ext cx="47625" cy="17833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5" name="직사각형 4"/>
          <p:cNvSpPr/>
          <p:nvPr/>
        </p:nvSpPr>
        <p:spPr>
          <a:xfrm>
            <a:off x="457200" y="6429375"/>
            <a:ext cx="1390650" cy="200025"/>
          </a:xfrm>
          <a:prstGeom prst="rect">
            <a:avLst/>
          </a:prstGeom>
          <a:noFill/>
          <a:ln w="3175">
            <a:solidFill>
              <a:srgbClr val="FF0000"/>
            </a:solidFill>
            <a:prstDash val="dash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7" name="꺾인 연결선 6"/>
          <p:cNvCxnSpPr>
            <a:stCxn id="5" idx="3"/>
          </p:cNvCxnSpPr>
          <p:nvPr/>
        </p:nvCxnSpPr>
        <p:spPr>
          <a:xfrm flipV="1">
            <a:off x="1847850" y="4214602"/>
            <a:ext cx="485775" cy="2314786"/>
          </a:xfrm>
          <a:prstGeom prst="bentConnector2">
            <a:avLst/>
          </a:prstGeom>
          <a:ln w="3175">
            <a:solidFill>
              <a:srgbClr val="FF0000"/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순서 변경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CA6.9.1</a:t>
            </a:r>
            <a:endParaRPr kumimoji="1" lang="ko-KR" altLang="en-US" sz="800" b="0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39216" y="352425"/>
            <a:ext cx="808559" cy="3048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75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6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설비 </a:t>
            </a:r>
            <a:r>
              <a:rPr kumimoji="1" lang="en-US" altLang="ko-KR" sz="700" b="1" dirty="0" smtClean="0">
                <a:solidFill>
                  <a:srgbClr val="FF0000"/>
                </a:solidFill>
                <a:latin typeface="+mn-ea"/>
              </a:rPr>
              <a:t>3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9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0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86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04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0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0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1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1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32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33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34" name="텍스트 상자 31"/>
          <p:cNvSpPr txBox="1"/>
          <p:nvPr/>
        </p:nvSpPr>
        <p:spPr>
          <a:xfrm>
            <a:off x="672858" y="39278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35" name="Freeform 24"/>
          <p:cNvSpPr>
            <a:spLocks noChangeArrowheads="1"/>
          </p:cNvSpPr>
          <p:nvPr/>
        </p:nvSpPr>
        <p:spPr bwMode="auto">
          <a:xfrm>
            <a:off x="674470" y="40290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1691552" y="3751132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14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819611" y="41950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14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42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4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819611" y="43928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14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4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1691552" y="1698987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1691552" y="1957190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8129256" y="1219200"/>
            <a:ext cx="866095" cy="205990"/>
          </a:xfrm>
          <a:prstGeom prst="roundRect">
            <a:avLst/>
          </a:prstGeom>
          <a:solidFill>
            <a:sysClr val="window" lastClr="FFFFFF"/>
          </a:solidFill>
          <a:ln w="9525" cap="flat" cmpd="sng">
            <a:solidFill>
              <a:sysClr val="window" lastClr="FFFFFF">
                <a:lumMod val="50000"/>
              </a:sys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 defTabSz="576818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mtClean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맑은 고딕" panose="020B0503020000020004" pitchFamily="50" charset="-127"/>
              </a:rPr>
              <a:t>   달력보기</a:t>
            </a:r>
            <a:endParaRPr kumimoji="0" lang="ko-KR" altLang="en-US" sz="800" kern="0" dirty="0">
              <a:solidFill>
                <a:prstClr val="black">
                  <a:lumMod val="75000"/>
                  <a:lumOff val="25000"/>
                </a:prstClr>
              </a:solidFill>
              <a:latin typeface="Calibri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165" y="1253440"/>
            <a:ext cx="141069" cy="141069"/>
          </a:xfrm>
          <a:prstGeom prst="rect">
            <a:avLst/>
          </a:prstGeom>
        </p:spPr>
      </p:pic>
      <p:sp>
        <p:nvSpPr>
          <p:cNvPr id="105" name="직각 삼각형 104"/>
          <p:cNvSpPr/>
          <p:nvPr/>
        </p:nvSpPr>
        <p:spPr>
          <a:xfrm flipH="1">
            <a:off x="11504356" y="5921713"/>
            <a:ext cx="640019" cy="742447"/>
          </a:xfrm>
          <a:prstGeom prst="rt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12/07</a:t>
            </a:r>
          </a:p>
          <a:p>
            <a:pPr algn="ctr"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수정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15450" y="5800725"/>
            <a:ext cx="914400" cy="91440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[12/07 </a:t>
            </a: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 내역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]</a:t>
            </a:r>
          </a:p>
          <a:p>
            <a:pPr marL="228600" indent="-228600">
              <a:lnSpc>
                <a:spcPct val="150000"/>
              </a:lnSpc>
              <a:buFont typeface="+mj-ea"/>
              <a:buAutoNum type="circleNumDbPlain" startAt="2"/>
            </a:pP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달력보기 버튼 추가</a:t>
            </a:r>
            <a:endParaRPr lang="en-US" altLang="ko-KR" sz="800" b="1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238125" indent="-2381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취소 버튼 삭제</a:t>
            </a:r>
          </a:p>
        </p:txBody>
      </p:sp>
      <p:sp>
        <p:nvSpPr>
          <p:cNvPr id="106" name="타원 105"/>
          <p:cNvSpPr/>
          <p:nvPr/>
        </p:nvSpPr>
        <p:spPr>
          <a:xfrm>
            <a:off x="8016491" y="1143194"/>
            <a:ext cx="162835" cy="161899"/>
          </a:xfrm>
          <a:prstGeom prst="ellipse">
            <a:avLst/>
          </a:prstGeom>
          <a:solidFill>
            <a:srgbClr val="0000FF"/>
          </a:solidFill>
          <a:ln w="3175">
            <a:solidFill>
              <a:srgbClr val="0000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bg1"/>
                </a:solidFill>
                <a:latin typeface="Trebuchet MS" panose="020B0603020202020204" pitchFamily="34" charset="0"/>
                <a:ea typeface="나눔고딕" pitchFamily="50" charset="-127"/>
              </a:rPr>
              <a:t>2</a:t>
            </a:r>
            <a:endParaRPr lang="ko-KR" altLang="en-US" sz="800" dirty="0" smtClean="0">
              <a:solidFill>
                <a:schemeClr val="bg1"/>
              </a:solidFill>
              <a:latin typeface="Trebuchet MS" panose="020B0603020202020204" pitchFamily="34" charset="0"/>
              <a:ea typeface="나눔고딕" pitchFamily="50" charset="-127"/>
            </a:endParaRPr>
          </a:p>
        </p:txBody>
      </p:sp>
      <p:sp>
        <p:nvSpPr>
          <p:cNvPr id="107" name="양쪽 모서리가 둥근 사각형 106"/>
          <p:cNvSpPr/>
          <p:nvPr/>
        </p:nvSpPr>
        <p:spPr>
          <a:xfrm>
            <a:off x="3281076" y="1227013"/>
            <a:ext cx="1273193" cy="268411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설비 순서변경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898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직선 연결선 244"/>
          <p:cNvCxnSpPr/>
          <p:nvPr/>
        </p:nvCxnSpPr>
        <p:spPr>
          <a:xfrm>
            <a:off x="1967513" y="1045187"/>
            <a:ext cx="7126331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검색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2577" y="399031"/>
            <a:ext cx="670898" cy="21056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125" name="직사각형 124"/>
          <p:cNvSpPr/>
          <p:nvPr/>
        </p:nvSpPr>
        <p:spPr>
          <a:xfrm>
            <a:off x="447675" y="705834"/>
            <a:ext cx="1390650" cy="59330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427227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pSp>
        <p:nvGrpSpPr>
          <p:cNvPr id="127" name="그룹 126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128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129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130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 algn="ctr">
              <a:lnSpc>
                <a:spcPct val="130000"/>
              </a:lnSpc>
            </a:pPr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설비 </a:t>
            </a: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예약하기</a:t>
            </a:r>
            <a:endParaRPr lang="x-none" altLang="x-none" sz="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2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33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설비 </a:t>
            </a:r>
            <a:r>
              <a:rPr kumimoji="1" lang="en-US" altLang="ko-KR" sz="700" b="1" dirty="0" smtClean="0">
                <a:solidFill>
                  <a:srgbClr val="FF0000"/>
                </a:solidFill>
                <a:latin typeface="+mn-ea"/>
              </a:rPr>
              <a:t>3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35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56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57" name="그룹 156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158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0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61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6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16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6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6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6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6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7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7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7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76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77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78" name="텍스트 상자 31"/>
          <p:cNvSpPr txBox="1"/>
          <p:nvPr/>
        </p:nvSpPr>
        <p:spPr>
          <a:xfrm>
            <a:off x="672858" y="39278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179" name="Freeform 24"/>
          <p:cNvSpPr>
            <a:spLocks noChangeArrowheads="1"/>
          </p:cNvSpPr>
          <p:nvPr/>
        </p:nvSpPr>
        <p:spPr bwMode="auto">
          <a:xfrm>
            <a:off x="674470" y="40290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18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819611" y="41950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18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8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8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819611" y="43928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18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86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8645870" y="813534"/>
            <a:ext cx="354278" cy="203200"/>
            <a:chOff x="7121870" y="765909"/>
            <a:chExt cx="354278" cy="203200"/>
          </a:xfrm>
        </p:grpSpPr>
        <p:sp>
          <p:nvSpPr>
            <p:cNvPr id="120" name="직사각형 119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▼</a:t>
              </a:r>
              <a:endParaRPr kumimoji="1" lang="ko-KR" alt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1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sp>
        <p:nvSpPr>
          <p:cNvPr id="196" name="타원 195"/>
          <p:cNvSpPr/>
          <p:nvPr/>
        </p:nvSpPr>
        <p:spPr>
          <a:xfrm>
            <a:off x="8931474" y="728188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1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grpSp>
        <p:nvGrpSpPr>
          <p:cNvPr id="200" name="그룹 199"/>
          <p:cNvGrpSpPr/>
          <p:nvPr/>
        </p:nvGrpSpPr>
        <p:grpSpPr>
          <a:xfrm>
            <a:off x="6991166" y="829761"/>
            <a:ext cx="1030245" cy="180000"/>
            <a:chOff x="6443058" y="1673426"/>
            <a:chExt cx="1030245" cy="180000"/>
          </a:xfrm>
        </p:grpSpPr>
        <p:grpSp>
          <p:nvGrpSpPr>
            <p:cNvPr id="201" name="Group 21"/>
            <p:cNvGrpSpPr/>
            <p:nvPr/>
          </p:nvGrpSpPr>
          <p:grpSpPr>
            <a:xfrm>
              <a:off x="6443058" y="1673426"/>
              <a:ext cx="344208" cy="180000"/>
              <a:chOff x="6706916" y="1673426"/>
              <a:chExt cx="344208" cy="180000"/>
            </a:xfrm>
          </p:grpSpPr>
          <p:sp>
            <p:nvSpPr>
              <p:cNvPr id="213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14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15" name="Rectangle 625"/>
              <p:cNvSpPr/>
              <p:nvPr/>
            </p:nvSpPr>
            <p:spPr>
              <a:xfrm>
                <a:off x="6745093" y="1714887"/>
                <a:ext cx="77071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17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월간</a:t>
                </a:r>
                <a:endParaRPr kumimoji="1" lang="ko-KR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02" name="Group 548"/>
            <p:cNvGrpSpPr/>
            <p:nvPr/>
          </p:nvGrpSpPr>
          <p:grpSpPr>
            <a:xfrm>
              <a:off x="6784180" y="1673426"/>
              <a:ext cx="344208" cy="180000"/>
              <a:chOff x="6706916" y="1673426"/>
              <a:chExt cx="344208" cy="180000"/>
            </a:xfrm>
          </p:grpSpPr>
          <p:sp>
            <p:nvSpPr>
              <p:cNvPr id="211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solidFill>
                <a:schemeClr val="bg1"/>
              </a:solidFill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12" name="텍스트 상자 31"/>
              <p:cNvSpPr txBox="1"/>
              <p:nvPr/>
            </p:nvSpPr>
            <p:spPr>
              <a:xfrm>
                <a:off x="6852300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주간</a:t>
                </a:r>
                <a:endParaRPr kumimoji="1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03" name="Group 22"/>
            <p:cNvGrpSpPr/>
            <p:nvPr/>
          </p:nvGrpSpPr>
          <p:grpSpPr>
            <a:xfrm>
              <a:off x="6812150" y="1714887"/>
              <a:ext cx="102895" cy="76173"/>
              <a:chOff x="7271815" y="1714887"/>
              <a:chExt cx="102895" cy="76173"/>
            </a:xfrm>
          </p:grpSpPr>
          <p:sp>
            <p:nvSpPr>
              <p:cNvPr id="208" name="Rectangle 625"/>
              <p:cNvSpPr/>
              <p:nvPr/>
            </p:nvSpPr>
            <p:spPr>
              <a:xfrm>
                <a:off x="7338279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09" name="Rectangle 625"/>
              <p:cNvSpPr/>
              <p:nvPr/>
            </p:nvSpPr>
            <p:spPr>
              <a:xfrm>
                <a:off x="7305047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10" name="Rectangle 625"/>
              <p:cNvSpPr/>
              <p:nvPr/>
            </p:nvSpPr>
            <p:spPr>
              <a:xfrm>
                <a:off x="7271815" y="1714887"/>
                <a:ext cx="36431" cy="7617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</p:grpSp>
        <p:grpSp>
          <p:nvGrpSpPr>
            <p:cNvPr id="204" name="Group 553"/>
            <p:cNvGrpSpPr/>
            <p:nvPr/>
          </p:nvGrpSpPr>
          <p:grpSpPr>
            <a:xfrm>
              <a:off x="7129095" y="1673426"/>
              <a:ext cx="344208" cy="180000"/>
              <a:chOff x="6706916" y="1673426"/>
              <a:chExt cx="344208" cy="180000"/>
            </a:xfrm>
          </p:grpSpPr>
          <p:sp>
            <p:nvSpPr>
              <p:cNvPr id="205" name="Rounded Rectangle 944"/>
              <p:cNvSpPr/>
              <p:nvPr/>
            </p:nvSpPr>
            <p:spPr>
              <a:xfrm>
                <a:off x="6706916" y="1673426"/>
                <a:ext cx="344208" cy="180000"/>
              </a:xfrm>
              <a:prstGeom prst="roundRect">
                <a:avLst>
                  <a:gd name="adj" fmla="val 8420"/>
                </a:avLst>
              </a:prstGeom>
              <a:noFill/>
              <a:ln w="6350" cap="flat" cmpd="sng">
                <a:solidFill>
                  <a:schemeClr val="bg1">
                    <a:lumMod val="50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06" name="Rectangle 623"/>
              <p:cNvSpPr/>
              <p:nvPr/>
            </p:nvSpPr>
            <p:spPr>
              <a:xfrm>
                <a:off x="6745093" y="1714887"/>
                <a:ext cx="76792" cy="767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 cap="flat" cmpd="sng">
                <a:solidFill>
                  <a:schemeClr val="bg1">
                    <a:lumMod val="65000"/>
                  </a:schemeClr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굴림" pitchFamily="50" charset="-127"/>
                  <a:ea typeface="굴림" pitchFamily="50" charset="-127"/>
                  <a:cs typeface="+mn-cs"/>
                </a:endParaRPr>
              </a:p>
            </p:txBody>
          </p:sp>
          <p:sp>
            <p:nvSpPr>
              <p:cNvPr id="207" name="텍스트 상자 31"/>
              <p:cNvSpPr txBox="1"/>
              <p:nvPr/>
            </p:nvSpPr>
            <p:spPr>
              <a:xfrm>
                <a:off x="6845212" y="1715412"/>
                <a:ext cx="178925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6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일간</a:t>
                </a:r>
                <a:endParaRPr kumimoji="1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221" name="Group 168"/>
          <p:cNvGrpSpPr/>
          <p:nvPr/>
        </p:nvGrpSpPr>
        <p:grpSpPr>
          <a:xfrm>
            <a:off x="8439259" y="816988"/>
            <a:ext cx="162000" cy="180000"/>
            <a:chOff x="7681408" y="2293428"/>
            <a:chExt cx="161707" cy="180000"/>
          </a:xfrm>
        </p:grpSpPr>
        <p:sp>
          <p:nvSpPr>
            <p:cNvPr id="222" name="Rounded Rectangle 169"/>
            <p:cNvSpPr/>
            <p:nvPr/>
          </p:nvSpPr>
          <p:spPr>
            <a:xfrm>
              <a:off x="7681408" y="2293428"/>
              <a:ext cx="161707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sp>
          <p:nvSpPr>
            <p:cNvPr id="223" name="Freeform 32"/>
            <p:cNvSpPr>
              <a:spLocks noChangeAspect="1" noChangeArrowheads="1"/>
            </p:cNvSpPr>
            <p:nvPr/>
          </p:nvSpPr>
          <p:spPr bwMode="auto">
            <a:xfrm>
              <a:off x="7714542" y="2340397"/>
              <a:ext cx="90979" cy="90000"/>
            </a:xfrm>
            <a:custGeom>
              <a:avLst/>
              <a:gdLst>
                <a:gd name="T0" fmla="*/ 347 w 411"/>
                <a:gd name="T1" fmla="*/ 59 h 407"/>
                <a:gd name="T2" fmla="*/ 205 w 411"/>
                <a:gd name="T3" fmla="*/ 0 h 407"/>
                <a:gd name="T4" fmla="*/ 0 w 411"/>
                <a:gd name="T5" fmla="*/ 205 h 407"/>
                <a:gd name="T6" fmla="*/ 205 w 411"/>
                <a:gd name="T7" fmla="*/ 406 h 407"/>
                <a:gd name="T8" fmla="*/ 401 w 411"/>
                <a:gd name="T9" fmla="*/ 254 h 407"/>
                <a:gd name="T10" fmla="*/ 347 w 411"/>
                <a:gd name="T11" fmla="*/ 254 h 407"/>
                <a:gd name="T12" fmla="*/ 205 w 411"/>
                <a:gd name="T13" fmla="*/ 357 h 407"/>
                <a:gd name="T14" fmla="*/ 49 w 411"/>
                <a:gd name="T15" fmla="*/ 205 h 407"/>
                <a:gd name="T16" fmla="*/ 205 w 411"/>
                <a:gd name="T17" fmla="*/ 49 h 407"/>
                <a:gd name="T18" fmla="*/ 313 w 411"/>
                <a:gd name="T19" fmla="*/ 98 h 407"/>
                <a:gd name="T20" fmla="*/ 230 w 411"/>
                <a:gd name="T21" fmla="*/ 176 h 407"/>
                <a:gd name="T22" fmla="*/ 410 w 411"/>
                <a:gd name="T23" fmla="*/ 176 h 407"/>
                <a:gd name="T24" fmla="*/ 410 w 411"/>
                <a:gd name="T25" fmla="*/ 0 h 407"/>
                <a:gd name="T26" fmla="*/ 347 w 411"/>
                <a:gd name="T27" fmla="*/ 59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11" h="407">
                  <a:moveTo>
                    <a:pt x="347" y="59"/>
                  </a:moveTo>
                  <a:cubicBezTo>
                    <a:pt x="313" y="20"/>
                    <a:pt x="259" y="0"/>
                    <a:pt x="205" y="0"/>
                  </a:cubicBezTo>
                  <a:cubicBezTo>
                    <a:pt x="93" y="0"/>
                    <a:pt x="0" y="93"/>
                    <a:pt x="0" y="205"/>
                  </a:cubicBezTo>
                  <a:cubicBezTo>
                    <a:pt x="0" y="318"/>
                    <a:pt x="93" y="406"/>
                    <a:pt x="205" y="406"/>
                  </a:cubicBezTo>
                  <a:cubicBezTo>
                    <a:pt x="298" y="406"/>
                    <a:pt x="376" y="342"/>
                    <a:pt x="401" y="254"/>
                  </a:cubicBezTo>
                  <a:lnTo>
                    <a:pt x="347" y="254"/>
                  </a:lnTo>
                  <a:cubicBezTo>
                    <a:pt x="327" y="313"/>
                    <a:pt x="269" y="357"/>
                    <a:pt x="205" y="357"/>
                  </a:cubicBezTo>
                  <a:cubicBezTo>
                    <a:pt x="122" y="357"/>
                    <a:pt x="49" y="291"/>
                    <a:pt x="49" y="205"/>
                  </a:cubicBezTo>
                  <a:cubicBezTo>
                    <a:pt x="49" y="120"/>
                    <a:pt x="122" y="49"/>
                    <a:pt x="205" y="49"/>
                  </a:cubicBezTo>
                  <a:cubicBezTo>
                    <a:pt x="249" y="49"/>
                    <a:pt x="283" y="69"/>
                    <a:pt x="313" y="98"/>
                  </a:cubicBezTo>
                  <a:lnTo>
                    <a:pt x="230" y="176"/>
                  </a:lnTo>
                  <a:lnTo>
                    <a:pt x="410" y="176"/>
                  </a:lnTo>
                  <a:lnTo>
                    <a:pt x="410" y="0"/>
                  </a:lnTo>
                  <a:lnTo>
                    <a:pt x="347" y="59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pSp>
        <p:nvGrpSpPr>
          <p:cNvPr id="226" name="그룹 225"/>
          <p:cNvGrpSpPr/>
          <p:nvPr/>
        </p:nvGrpSpPr>
        <p:grpSpPr>
          <a:xfrm>
            <a:off x="8147040" y="817141"/>
            <a:ext cx="216000" cy="180000"/>
            <a:chOff x="8455344" y="813130"/>
            <a:chExt cx="216000" cy="180000"/>
          </a:xfrm>
        </p:grpSpPr>
        <p:sp>
          <p:nvSpPr>
            <p:cNvPr id="233" name="Rounded Rectangle 169"/>
            <p:cNvSpPr/>
            <p:nvPr/>
          </p:nvSpPr>
          <p:spPr>
            <a:xfrm>
              <a:off x="8455344" y="813130"/>
              <a:ext cx="216000" cy="180000"/>
            </a:xfrm>
            <a:prstGeom prst="roundRect">
              <a:avLst>
                <a:gd name="adj" fmla="val 8420"/>
              </a:avLst>
            </a:prstGeom>
            <a:solidFill>
              <a:schemeClr val="bg1"/>
            </a:solidFill>
            <a:ln w="6350" cap="flat" cmpd="sng">
              <a:solidFill>
                <a:schemeClr val="bg1">
                  <a:lumMod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endParaRPr>
            </a:p>
          </p:txBody>
        </p:sp>
        <p:pic>
          <p:nvPicPr>
            <p:cNvPr id="235" name="내용 개체 틀 3"/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3805" y="824238"/>
              <a:ext cx="162000" cy="162000"/>
            </a:xfrm>
            <a:prstGeom prst="rect">
              <a:avLst/>
            </a:prstGeom>
          </p:spPr>
        </p:pic>
      </p:grpSp>
      <p:sp>
        <p:nvSpPr>
          <p:cNvPr id="236" name="TextBox 235"/>
          <p:cNvSpPr txBox="1"/>
          <p:nvPr/>
        </p:nvSpPr>
        <p:spPr>
          <a:xfrm>
            <a:off x="6011962" y="821037"/>
            <a:ext cx="887029" cy="200055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r>
              <a:rPr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내 예약한 설비 확인</a:t>
            </a:r>
            <a:endParaRPr lang="ko-KR" altLang="en-US" sz="700" dirty="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23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5886911" y="862458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3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239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240" name="텍스트 상자 31"/>
          <p:cNvSpPr txBox="1"/>
          <p:nvPr/>
        </p:nvSpPr>
        <p:spPr>
          <a:xfrm>
            <a:off x="2081146" y="839242"/>
            <a:ext cx="156575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2017.09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41" name="Group 532"/>
          <p:cNvGrpSpPr/>
          <p:nvPr/>
        </p:nvGrpSpPr>
        <p:grpSpPr>
          <a:xfrm>
            <a:off x="2729701" y="851474"/>
            <a:ext cx="540610" cy="144000"/>
            <a:chOff x="3113961" y="1702107"/>
            <a:chExt cx="540610" cy="144000"/>
          </a:xfrm>
        </p:grpSpPr>
        <p:sp>
          <p:nvSpPr>
            <p:cNvPr id="242" name="Freeform 9"/>
            <p:cNvSpPr>
              <a:spLocks noChangeArrowheads="1"/>
            </p:cNvSpPr>
            <p:nvPr/>
          </p:nvSpPr>
          <p:spPr bwMode="auto">
            <a:xfrm>
              <a:off x="3113961" y="1741427"/>
              <a:ext cx="50409" cy="80656"/>
            </a:xfrm>
            <a:custGeom>
              <a:avLst/>
              <a:gdLst>
                <a:gd name="T0" fmla="*/ 243 w 244"/>
                <a:gd name="T1" fmla="*/ 44 h 387"/>
                <a:gd name="T2" fmla="*/ 199 w 244"/>
                <a:gd name="T3" fmla="*/ 0 h 387"/>
                <a:gd name="T4" fmla="*/ 0 w 244"/>
                <a:gd name="T5" fmla="*/ 193 h 387"/>
                <a:gd name="T6" fmla="*/ 199 w 244"/>
                <a:gd name="T7" fmla="*/ 386 h 387"/>
                <a:gd name="T8" fmla="*/ 243 w 244"/>
                <a:gd name="T9" fmla="*/ 343 h 387"/>
                <a:gd name="T10" fmla="*/ 94 w 244"/>
                <a:gd name="T11" fmla="*/ 193 h 387"/>
                <a:gd name="T12" fmla="*/ 243 w 244"/>
                <a:gd name="T13" fmla="*/ 4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4" h="387">
                  <a:moveTo>
                    <a:pt x="243" y="44"/>
                  </a:moveTo>
                  <a:lnTo>
                    <a:pt x="199" y="0"/>
                  </a:lnTo>
                  <a:lnTo>
                    <a:pt x="0" y="193"/>
                  </a:lnTo>
                  <a:lnTo>
                    <a:pt x="199" y="386"/>
                  </a:lnTo>
                  <a:lnTo>
                    <a:pt x="243" y="343"/>
                  </a:lnTo>
                  <a:lnTo>
                    <a:pt x="94" y="193"/>
                  </a:lnTo>
                  <a:lnTo>
                    <a:pt x="243" y="44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243" name="Freeform 10"/>
            <p:cNvSpPr>
              <a:spLocks noChangeArrowheads="1"/>
            </p:cNvSpPr>
            <p:nvPr/>
          </p:nvSpPr>
          <p:spPr bwMode="auto">
            <a:xfrm>
              <a:off x="3247594" y="1741427"/>
              <a:ext cx="49493" cy="80656"/>
            </a:xfrm>
            <a:custGeom>
              <a:avLst/>
              <a:gdLst>
                <a:gd name="T0" fmla="*/ 44 w 238"/>
                <a:gd name="T1" fmla="*/ 0 h 387"/>
                <a:gd name="T2" fmla="*/ 0 w 238"/>
                <a:gd name="T3" fmla="*/ 44 h 387"/>
                <a:gd name="T4" fmla="*/ 150 w 238"/>
                <a:gd name="T5" fmla="*/ 193 h 387"/>
                <a:gd name="T6" fmla="*/ 0 w 238"/>
                <a:gd name="T7" fmla="*/ 343 h 387"/>
                <a:gd name="T8" fmla="*/ 44 w 238"/>
                <a:gd name="T9" fmla="*/ 386 h 387"/>
                <a:gd name="T10" fmla="*/ 237 w 238"/>
                <a:gd name="T11" fmla="*/ 193 h 387"/>
                <a:gd name="T12" fmla="*/ 44 w 23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8" h="387">
                  <a:moveTo>
                    <a:pt x="44" y="0"/>
                  </a:moveTo>
                  <a:lnTo>
                    <a:pt x="0" y="44"/>
                  </a:lnTo>
                  <a:lnTo>
                    <a:pt x="150" y="193"/>
                  </a:lnTo>
                  <a:lnTo>
                    <a:pt x="0" y="343"/>
                  </a:lnTo>
                  <a:lnTo>
                    <a:pt x="44" y="386"/>
                  </a:lnTo>
                  <a:lnTo>
                    <a:pt x="237" y="193"/>
                  </a:lnTo>
                  <a:lnTo>
                    <a:pt x="44" y="0"/>
                  </a:lnTo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  <p:sp>
          <p:nvSpPr>
            <p:cNvPr id="244" name="Rounded Rectangle 535"/>
            <p:cNvSpPr/>
            <p:nvPr/>
          </p:nvSpPr>
          <p:spPr>
            <a:xfrm>
              <a:off x="3373429" y="1702107"/>
              <a:ext cx="281142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7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오늘</a:t>
              </a:r>
              <a:endParaRPr kumimoji="1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46" name="TextBox 245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CA6.11</a:t>
            </a:r>
            <a:endParaRPr kumimoji="1" lang="ko-KR" altLang="en-US" sz="800" b="1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63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612984"/>
              </p:ext>
            </p:extLst>
          </p:nvPr>
        </p:nvGraphicFramePr>
        <p:xfrm>
          <a:off x="9273811" y="6198618"/>
          <a:ext cx="2835141" cy="469229"/>
        </p:xfrm>
        <a:graphic>
          <a:graphicData uri="http://schemas.openxmlformats.org/drawingml/2006/table">
            <a:tbl>
              <a:tblPr/>
              <a:tblGrid>
                <a:gridCol w="2835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7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2/26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화면 수정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검색입력창 화면 전체 수정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100" name="Rounded Rectangle 939"/>
          <p:cNvSpPr/>
          <p:nvPr/>
        </p:nvSpPr>
        <p:spPr>
          <a:xfrm>
            <a:off x="8534400" y="3581418"/>
            <a:ext cx="2319799" cy="172400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5995812" y="1045919"/>
            <a:ext cx="2981716" cy="19580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076950" y="2665945"/>
            <a:ext cx="622534" cy="215444"/>
          </a:xfrm>
          <a:prstGeom prst="rect">
            <a:avLst/>
          </a:prstGeom>
          <a:noFill/>
        </p:spPr>
        <p:txBody>
          <a:bodyPr wrap="none" lIns="36000" rIns="36000" rtlCol="0" anchor="ctr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sng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항목 초기화</a:t>
            </a:r>
            <a:endParaRPr kumimoji="1" lang="ko-KR" altLang="en-US" sz="800" b="0" i="0" u="sng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8382080" y="2641880"/>
            <a:ext cx="556726" cy="21907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</a:t>
            </a:r>
            <a:endParaRPr kumimoji="1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4" name="표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957368"/>
              </p:ext>
            </p:extLst>
          </p:nvPr>
        </p:nvGraphicFramePr>
        <p:xfrm>
          <a:off x="6055817" y="3588468"/>
          <a:ext cx="2306592" cy="113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012">
                  <a:extLst>
                    <a:ext uri="{9D8B030D-6E8A-4147-A177-3AD203B41FA5}">
                      <a16:colId xmlns:a16="http://schemas.microsoft.com/office/drawing/2014/main" val="3906341031"/>
                    </a:ext>
                  </a:extLst>
                </a:gridCol>
                <a:gridCol w="1301580">
                  <a:extLst>
                    <a:ext uri="{9D8B030D-6E8A-4147-A177-3AD203B41FA5}">
                      <a16:colId xmlns:a16="http://schemas.microsoft.com/office/drawing/2014/main" val="3527403590"/>
                    </a:ext>
                  </a:extLst>
                </a:gridCol>
              </a:tblGrid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회의실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 Cebu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692381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빔 프로젝터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 Palau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180977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노트북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 Jeju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785985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그룹</a:t>
                      </a:r>
                      <a:r>
                        <a:rPr lang="en-US" altLang="ko-KR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80052"/>
                  </a:ext>
                </a:extLst>
              </a:tr>
            </a:tbl>
          </a:graphicData>
        </a:graphic>
      </p:graphicFrame>
      <p:sp>
        <p:nvSpPr>
          <p:cNvPr id="105" name="Rounded Rectangle 448"/>
          <p:cNvSpPr/>
          <p:nvPr/>
        </p:nvSpPr>
        <p:spPr>
          <a:xfrm>
            <a:off x="6965926" y="5072372"/>
            <a:ext cx="432000" cy="180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>
              <a:lnSpc>
                <a:spcPct val="12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확인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289493" y="3699200"/>
            <a:ext cx="84884" cy="92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7289493" y="3988430"/>
            <a:ext cx="84884" cy="928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7289493" y="4266994"/>
            <a:ext cx="84884" cy="928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0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7107313" y="4244978"/>
            <a:ext cx="131556" cy="131556"/>
            <a:chOff x="554563" y="2625500"/>
            <a:chExt cx="131556" cy="131556"/>
          </a:xfrm>
        </p:grpSpPr>
        <p:sp>
          <p:nvSpPr>
            <p:cNvPr id="11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6"/>
              </p:custDataLst>
            </p:nvPr>
          </p:nvSpPr>
          <p:spPr>
            <a:xfrm>
              <a:off x="554563" y="2625500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1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7107313" y="3965279"/>
            <a:ext cx="131556" cy="131556"/>
            <a:chOff x="554563" y="2625500"/>
            <a:chExt cx="131556" cy="131556"/>
          </a:xfrm>
        </p:grpSpPr>
        <p:sp>
          <p:nvSpPr>
            <p:cNvPr id="11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5"/>
              </p:custDataLst>
            </p:nvPr>
          </p:nvSpPr>
          <p:spPr>
            <a:xfrm>
              <a:off x="554563" y="2625500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4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9"/>
            </p:custDataLst>
          </p:nvPr>
        </p:nvGrpSpPr>
        <p:grpSpPr>
          <a:xfrm>
            <a:off x="7107313" y="3680762"/>
            <a:ext cx="131556" cy="131556"/>
            <a:chOff x="554563" y="2625500"/>
            <a:chExt cx="131556" cy="131556"/>
          </a:xfrm>
        </p:grpSpPr>
        <p:sp>
          <p:nvSpPr>
            <p:cNvPr id="11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554563" y="2625500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7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18" name="Rounded Rectangle 939"/>
          <p:cNvSpPr/>
          <p:nvPr/>
        </p:nvSpPr>
        <p:spPr>
          <a:xfrm>
            <a:off x="6051485" y="3581418"/>
            <a:ext cx="2310924" cy="1724008"/>
          </a:xfrm>
          <a:prstGeom prst="roundRect">
            <a:avLst>
              <a:gd name="adj" fmla="val 0"/>
            </a:avLst>
          </a:prstGeom>
          <a:noFill/>
          <a:ln w="63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8267159" y="3650183"/>
            <a:ext cx="49740" cy="541260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123" name="표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385268"/>
              </p:ext>
            </p:extLst>
          </p:nvPr>
        </p:nvGraphicFramePr>
        <p:xfrm>
          <a:off x="6070600" y="1195914"/>
          <a:ext cx="2892426" cy="13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625">
                  <a:extLst>
                    <a:ext uri="{9D8B030D-6E8A-4147-A177-3AD203B41FA5}">
                      <a16:colId xmlns:a16="http://schemas.microsoft.com/office/drawing/2014/main" val="2958596753"/>
                    </a:ext>
                  </a:extLst>
                </a:gridCol>
                <a:gridCol w="2209801">
                  <a:extLst>
                    <a:ext uri="{9D8B030D-6E8A-4147-A177-3AD203B41FA5}">
                      <a16:colId xmlns:a16="http://schemas.microsoft.com/office/drawing/2014/main" val="87343257"/>
                    </a:ext>
                  </a:extLst>
                </a:gridCol>
              </a:tblGrid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날짜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~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646125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389544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제목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384676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설비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498105"/>
                  </a:ext>
                </a:extLst>
              </a:tr>
              <a:tr h="2618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작성자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436314"/>
                  </a:ext>
                </a:extLst>
              </a:tr>
            </a:tbl>
          </a:graphicData>
        </a:graphic>
      </p:graphicFrame>
      <p:grpSp>
        <p:nvGrpSpPr>
          <p:cNvPr id="124" name="그룹 123"/>
          <p:cNvGrpSpPr/>
          <p:nvPr/>
        </p:nvGrpSpPr>
        <p:grpSpPr>
          <a:xfrm>
            <a:off x="6785439" y="1222534"/>
            <a:ext cx="930552" cy="209550"/>
            <a:chOff x="3108789" y="3079909"/>
            <a:chExt cx="930552" cy="209550"/>
          </a:xfrm>
        </p:grpSpPr>
        <p:sp>
          <p:nvSpPr>
            <p:cNvPr id="134" name="직사각형 133"/>
            <p:cNvSpPr/>
            <p:nvPr/>
          </p:nvSpPr>
          <p:spPr>
            <a:xfrm>
              <a:off x="3108789" y="3079909"/>
              <a:ext cx="930552" cy="20955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2018-01-15</a:t>
              </a: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6" name="그림 135"/>
            <p:cNvPicPr>
              <a:picLocks noChangeAspect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5138" y="3107027"/>
              <a:ext cx="134369" cy="134369"/>
            </a:xfrm>
            <a:prstGeom prst="rect">
              <a:avLst/>
            </a:prstGeom>
          </p:spPr>
        </p:pic>
      </p:grpSp>
      <p:grpSp>
        <p:nvGrpSpPr>
          <p:cNvPr id="137" name="그룹 136"/>
          <p:cNvGrpSpPr/>
          <p:nvPr/>
        </p:nvGrpSpPr>
        <p:grpSpPr>
          <a:xfrm>
            <a:off x="6785439" y="1489234"/>
            <a:ext cx="930552" cy="209550"/>
            <a:chOff x="3108789" y="3079909"/>
            <a:chExt cx="930552" cy="209550"/>
          </a:xfrm>
        </p:grpSpPr>
        <p:sp>
          <p:nvSpPr>
            <p:cNvPr id="138" name="직사각형 137"/>
            <p:cNvSpPr/>
            <p:nvPr/>
          </p:nvSpPr>
          <p:spPr>
            <a:xfrm>
              <a:off x="3108789" y="3079909"/>
              <a:ext cx="930552" cy="20955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2018-01-15</a:t>
              </a: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39" name="그림 138"/>
            <p:cNvPicPr>
              <a:picLocks noChangeAspect="1"/>
            </p:cNvPicPr>
            <p:nvPr/>
          </p:nvPicPr>
          <p:blipFill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5138" y="3116552"/>
              <a:ext cx="134369" cy="134369"/>
            </a:xfrm>
            <a:prstGeom prst="rect">
              <a:avLst/>
            </a:prstGeom>
          </p:spPr>
        </p:pic>
      </p:grpSp>
      <p:sp>
        <p:nvSpPr>
          <p:cNvPr id="140" name="직사각형 139"/>
          <p:cNvSpPr/>
          <p:nvPr/>
        </p:nvSpPr>
        <p:spPr>
          <a:xfrm>
            <a:off x="7756989" y="1222534"/>
            <a:ext cx="930552" cy="2095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12:00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▼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7756989" y="1489234"/>
            <a:ext cx="930552" cy="2095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오전 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12:30 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▼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6785440" y="1746641"/>
            <a:ext cx="1902101" cy="20198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6785440" y="2003816"/>
            <a:ext cx="555849" cy="20198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설비선택</a:t>
            </a:r>
            <a:r>
              <a:rPr kumimoji="1" lang="ko-KR" altLang="en-US" sz="800" b="0" i="0" u="none" strike="noStrike" kern="1200" cap="none" spc="0" normalizeH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▼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4" name="Box" descr="&lt;SmartSettings&gt;&lt;SmartResize anchorLeft=&quot;Absolute&quot; anchorTop=&quot;None&quot; anchorRight=&quot;None&quot; anchorBottom=&quot;None&quot; /&gt;&lt;/SmartSettings&gt;"/>
          <p:cNvSpPr/>
          <p:nvPr>
            <p:custDataLst>
              <p:tags r:id="rId10"/>
            </p:custDataLst>
          </p:nvPr>
        </p:nvSpPr>
        <p:spPr>
          <a:xfrm>
            <a:off x="6125641" y="4801831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6246556" y="4789167"/>
            <a:ext cx="716219" cy="154308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전체 설비</a:t>
            </a:r>
          </a:p>
        </p:txBody>
      </p:sp>
      <p:cxnSp>
        <p:nvCxnSpPr>
          <p:cNvPr id="146" name="직선 연결선 145"/>
          <p:cNvCxnSpPr/>
          <p:nvPr/>
        </p:nvCxnSpPr>
        <p:spPr>
          <a:xfrm>
            <a:off x="7403241" y="2196931"/>
            <a:ext cx="1432135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43" idx="1"/>
          </p:cNvCxnSpPr>
          <p:nvPr/>
        </p:nvCxnSpPr>
        <p:spPr>
          <a:xfrm rot="10800000" flipV="1">
            <a:off x="6686550" y="2104811"/>
            <a:ext cx="98890" cy="1428964"/>
          </a:xfrm>
          <a:prstGeom prst="bentConnector2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7" name="표 1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520601"/>
              </p:ext>
            </p:extLst>
          </p:nvPr>
        </p:nvGraphicFramePr>
        <p:xfrm>
          <a:off x="8547608" y="3588468"/>
          <a:ext cx="2306592" cy="1139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012">
                  <a:extLst>
                    <a:ext uri="{9D8B030D-6E8A-4147-A177-3AD203B41FA5}">
                      <a16:colId xmlns:a16="http://schemas.microsoft.com/office/drawing/2014/main" val="3906341031"/>
                    </a:ext>
                  </a:extLst>
                </a:gridCol>
                <a:gridCol w="1301580">
                  <a:extLst>
                    <a:ext uri="{9D8B030D-6E8A-4147-A177-3AD203B41FA5}">
                      <a16:colId xmlns:a16="http://schemas.microsoft.com/office/drawing/2014/main" val="3527403590"/>
                    </a:ext>
                  </a:extLst>
                </a:gridCol>
              </a:tblGrid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회의실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r>
                        <a:rPr lang="ko-KR" altLang="en-US" sz="800" b="0" smtClean="0">
                          <a:solidFill>
                            <a:schemeClr val="accent1">
                              <a:lumMod val="40000"/>
                              <a:lumOff val="60000"/>
                            </a:schemeClr>
                          </a:solidFill>
                        </a:rPr>
                        <a:t>■</a:t>
                      </a:r>
                      <a:r>
                        <a:rPr lang="en-US" altLang="ko-KR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Cebu</a:t>
                      </a:r>
                      <a:endParaRPr lang="ko-KR" altLang="en-US" sz="800" b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692381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빔 프로젝터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180975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rgbClr val="7030A0"/>
                          </a:solidFill>
                        </a:rPr>
                        <a:t>■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노트북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180977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노트북</a:t>
                      </a:r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80975"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785985"/>
                  </a:ext>
                </a:extLst>
              </a:tr>
              <a:tr h="28486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그룹</a:t>
                      </a:r>
                      <a:r>
                        <a:rPr lang="en-US" altLang="ko-KR" sz="800" b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  <a:endParaRPr lang="ko-KR" altLang="en-US" sz="800" b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280052"/>
                  </a:ext>
                </a:extLst>
              </a:tr>
            </a:tbl>
          </a:graphicData>
        </a:graphic>
      </p:graphicFrame>
      <p:sp>
        <p:nvSpPr>
          <p:cNvPr id="188" name="Rounded Rectangle 448"/>
          <p:cNvSpPr/>
          <p:nvPr/>
        </p:nvSpPr>
        <p:spPr>
          <a:xfrm>
            <a:off x="9457717" y="5072372"/>
            <a:ext cx="432000" cy="180000"/>
          </a:xfrm>
          <a:prstGeom prst="roundRect">
            <a:avLst>
              <a:gd name="adj" fmla="val 8420"/>
            </a:avLst>
          </a:prstGeom>
          <a:solidFill>
            <a:schemeClr val="bg1"/>
          </a:solidFill>
          <a:ln w="6350" cap="flat" cmpd="sng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lIns="0" tIns="0" rIns="0" bIns="0" anchor="ctr"/>
          <a:lstStyle/>
          <a:p>
            <a:pPr algn="ctr">
              <a:lnSpc>
                <a:spcPct val="12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확인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9" name="모서리가 둥근 직사각형 188"/>
          <p:cNvSpPr/>
          <p:nvPr/>
        </p:nvSpPr>
        <p:spPr>
          <a:xfrm>
            <a:off x="10758950" y="3650183"/>
            <a:ext cx="49740" cy="541260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90" name="Box" descr="&lt;SmartSettings&gt;&lt;SmartResize anchorLeft=&quot;Absolute&quot; anchorTop=&quot;None&quot; anchorRight=&quot;None&quot; anchorBottom=&quot;None&quot; /&gt;&lt;/SmartSettings&gt;"/>
          <p:cNvSpPr/>
          <p:nvPr>
            <p:custDataLst>
              <p:tags r:id="rId11"/>
            </p:custDataLst>
          </p:nvPr>
        </p:nvSpPr>
        <p:spPr>
          <a:xfrm>
            <a:off x="8617432" y="4801831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 smtClean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8738347" y="4789167"/>
            <a:ext cx="716219" cy="154308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전체 설비</a:t>
            </a:r>
          </a:p>
        </p:txBody>
      </p:sp>
      <p:sp>
        <p:nvSpPr>
          <p:cNvPr id="192" name="타원 191"/>
          <p:cNvSpPr/>
          <p:nvPr/>
        </p:nvSpPr>
        <p:spPr>
          <a:xfrm>
            <a:off x="6647313" y="1156813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2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193" name="타원 192"/>
          <p:cNvSpPr/>
          <p:nvPr/>
        </p:nvSpPr>
        <p:spPr>
          <a:xfrm>
            <a:off x="6666363" y="1937863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3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194" name="타원 193"/>
          <p:cNvSpPr/>
          <p:nvPr/>
        </p:nvSpPr>
        <p:spPr>
          <a:xfrm>
            <a:off x="5950149" y="3508261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3-1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grpSp>
        <p:nvGrpSpPr>
          <p:cNvPr id="19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2"/>
            </p:custDataLst>
          </p:nvPr>
        </p:nvGrpSpPr>
        <p:grpSpPr>
          <a:xfrm>
            <a:off x="9612388" y="3671237"/>
            <a:ext cx="131556" cy="131556"/>
            <a:chOff x="554563" y="2625500"/>
            <a:chExt cx="131556" cy="131556"/>
          </a:xfrm>
        </p:grpSpPr>
        <p:sp>
          <p:nvSpPr>
            <p:cNvPr id="19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3"/>
              </p:custDataLst>
            </p:nvPr>
          </p:nvSpPr>
          <p:spPr>
            <a:xfrm>
              <a:off x="554563" y="2625500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 smtClean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8" name="Check" descr="&lt;Tags&gt;&lt;SMARTRESIZEANCHORS&gt;None,None,Absolute,None&lt;/SMARTRESIZEANCHORS&gt;&lt;/Tags&gt;" hidden="1"/>
            <p:cNvSpPr>
              <a:spLocks noEditPoints="1"/>
            </p:cNvSpPr>
            <p:nvPr/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9" name="모서리가 둥근 직사각형 198"/>
          <p:cNvSpPr/>
          <p:nvPr/>
        </p:nvSpPr>
        <p:spPr>
          <a:xfrm>
            <a:off x="9553575" y="3623309"/>
            <a:ext cx="847725" cy="558165"/>
          </a:xfrm>
          <a:prstGeom prst="roundRect">
            <a:avLst>
              <a:gd name="adj" fmla="val 12457"/>
            </a:avLst>
          </a:prstGeom>
          <a:noFill/>
          <a:ln w="19050">
            <a:solidFill>
              <a:srgbClr val="FF0000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16" name="직선 화살표 연결선 215"/>
          <p:cNvCxnSpPr/>
          <p:nvPr/>
        </p:nvCxnSpPr>
        <p:spPr>
          <a:xfrm>
            <a:off x="10401300" y="2936071"/>
            <a:ext cx="0" cy="597704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8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938669"/>
              </p:ext>
            </p:extLst>
          </p:nvPr>
        </p:nvGraphicFramePr>
        <p:xfrm>
          <a:off x="9290533" y="786383"/>
          <a:ext cx="2835141" cy="2149688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승인 대기중인 설비의 검색은 해당 화면에 맞는  검색 조건이 출력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시간 기본 설정은 오늘날짜의 시간 기준으로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분 단위로 세팅하여 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76783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설비 종류를 선택할 수 있는 항목으로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select box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클릭시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3-1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출력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08761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3-1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설비 선택 레이어창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기본은 모든 미선택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전체 설비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’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체크시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레이어내 모든 설비 체크박스 체크 처리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그룹 설비는 그룹으로 묶여진 설비를 </a:t>
                      </a:r>
                      <a:r>
                        <a:rPr kumimoji="1" lang="en-US" altLang="ko-KR" sz="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ko-KR" altLang="en-US" sz="8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개의 조건으로 묶어서 출력</a:t>
                      </a:r>
                      <a:endParaRPr kumimoji="1" lang="en-US" altLang="ko-KR" sz="800" b="0" i="0" u="sng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405640"/>
                  </a:ext>
                </a:extLst>
              </a:tr>
            </a:tbl>
          </a:graphicData>
        </a:graphic>
      </p:graphicFrame>
      <p:grpSp>
        <p:nvGrpSpPr>
          <p:cNvPr id="219" name="그룹 218"/>
          <p:cNvGrpSpPr/>
          <p:nvPr/>
        </p:nvGrpSpPr>
        <p:grpSpPr>
          <a:xfrm>
            <a:off x="6775915" y="2264395"/>
            <a:ext cx="2038090" cy="204603"/>
            <a:chOff x="6788094" y="1667828"/>
            <a:chExt cx="2024439" cy="204603"/>
          </a:xfrm>
        </p:grpSpPr>
        <p:sp>
          <p:nvSpPr>
            <p:cNvPr id="229" name="직사각형 228"/>
            <p:cNvSpPr/>
            <p:nvPr/>
          </p:nvSpPr>
          <p:spPr>
            <a:xfrm>
              <a:off x="6840703" y="1670441"/>
              <a:ext cx="1971830" cy="20198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   </a:t>
              </a: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31" name="그룹 230"/>
            <p:cNvGrpSpPr/>
            <p:nvPr/>
          </p:nvGrpSpPr>
          <p:grpSpPr>
            <a:xfrm>
              <a:off x="6788094" y="1667828"/>
              <a:ext cx="211565" cy="204603"/>
              <a:chOff x="4492569" y="5265446"/>
              <a:chExt cx="211565" cy="204603"/>
            </a:xfrm>
          </p:grpSpPr>
          <p:sp>
            <p:nvSpPr>
              <p:cNvPr id="232" name="모서리가 둥근 직사각형 231"/>
              <p:cNvSpPr/>
              <p:nvPr/>
            </p:nvSpPr>
            <p:spPr>
              <a:xfrm>
                <a:off x="4492569" y="5265446"/>
                <a:ext cx="211565" cy="204603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marL="0" marR="0" lvl="0" indent="0" algn="ctr" defTabSz="914400" rtl="0" eaLnBrk="1" fontAlgn="base" latinLnBrk="1" hangingPunct="1">
                  <a:lnSpc>
                    <a:spcPct val="115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pic>
            <p:nvPicPr>
              <p:cNvPr id="234" name="그림 233"/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56303" y="5299912"/>
                <a:ext cx="104100" cy="12492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6406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[R] 7"/>
          <p:cNvCxnSpPr/>
          <p:nvPr/>
        </p:nvCxnSpPr>
        <p:spPr>
          <a:xfrm>
            <a:off x="2019038" y="1063409"/>
            <a:ext cx="55241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3" name="직선 연결선[R] 7"/>
          <p:cNvCxnSpPr/>
          <p:nvPr/>
        </p:nvCxnSpPr>
        <p:spPr>
          <a:xfrm>
            <a:off x="1971413" y="106340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4" name="텍스트 상자 31"/>
          <p:cNvSpPr txBox="1"/>
          <p:nvPr/>
        </p:nvSpPr>
        <p:spPr>
          <a:xfrm>
            <a:off x="2076470" y="859108"/>
            <a:ext cx="150922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 결과 </a:t>
            </a:r>
            <a:r>
              <a:rPr kumimoji="1" lang="en-US" altLang="ko-KR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1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건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8645870" y="813534"/>
            <a:ext cx="354278" cy="203200"/>
            <a:chOff x="7121870" y="765909"/>
            <a:chExt cx="354278" cy="203200"/>
          </a:xfrm>
        </p:grpSpPr>
        <p:sp>
          <p:nvSpPr>
            <p:cNvPr id="6" name="직사각형 5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▼</a:t>
              </a:r>
              <a:endParaRPr kumimoji="1" lang="ko-KR" alt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057822"/>
              </p:ext>
            </p:extLst>
          </p:nvPr>
        </p:nvGraphicFramePr>
        <p:xfrm>
          <a:off x="1976282" y="1080719"/>
          <a:ext cx="7045482" cy="3354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177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3239141">
                  <a:extLst>
                    <a:ext uri="{9D8B030D-6E8A-4147-A177-3AD203B41FA5}">
                      <a16:colId xmlns:a16="http://schemas.microsoft.com/office/drawing/2014/main" val="152764876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231801258"/>
                    </a:ext>
                  </a:extLst>
                </a:gridCol>
                <a:gridCol w="1139032">
                  <a:extLst>
                    <a:ext uri="{9D8B030D-6E8A-4147-A177-3AD203B41FA5}">
                      <a16:colId xmlns:a16="http://schemas.microsoft.com/office/drawing/2014/main" val="3954956524"/>
                    </a:ext>
                  </a:extLst>
                </a:gridCol>
                <a:gridCol w="1139032">
                  <a:extLst>
                    <a:ext uri="{9D8B030D-6E8A-4147-A177-3AD203B41FA5}">
                      <a16:colId xmlns:a16="http://schemas.microsoft.com/office/drawing/2014/main" val="557283381"/>
                    </a:ext>
                  </a:extLst>
                </a:gridCol>
              </a:tblGrid>
              <a:tr h="3049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</a:rPr>
                        <a:t>종류</a:t>
                      </a: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작성자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시작일시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종료일시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Cebu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Cebu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Cebu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Cebu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Cebu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18671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Cebu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575809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Cebu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31274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Cebu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936497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Cebu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276746"/>
                  </a:ext>
                </a:extLst>
              </a:tr>
              <a:tr h="304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Cebu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EGW </a:t>
                      </a:r>
                      <a:r>
                        <a:rPr kumimoji="1" lang="ko-KR" altLang="en-US" sz="800" b="0" i="0" u="sng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2018-01-15 15:00</a:t>
                      </a: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657768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7273885" y="816233"/>
            <a:ext cx="866095" cy="205990"/>
            <a:chOff x="8129256" y="1219200"/>
            <a:chExt cx="866095" cy="205990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8129256" y="1219200"/>
              <a:ext cx="866095" cy="20599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3175" cap="flat" cmpd="sng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달력보기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7165" y="1253440"/>
              <a:ext cx="141069" cy="141069"/>
            </a:xfrm>
            <a:prstGeom prst="rect">
              <a:avLst/>
            </a:prstGeom>
          </p:spPr>
        </p:pic>
      </p:grpSp>
      <p:grpSp>
        <p:nvGrpSpPr>
          <p:cNvPr id="12" name="그룹 11"/>
          <p:cNvGrpSpPr/>
          <p:nvPr/>
        </p:nvGrpSpPr>
        <p:grpSpPr>
          <a:xfrm>
            <a:off x="8182047" y="815947"/>
            <a:ext cx="457017" cy="209550"/>
            <a:chOff x="6935345" y="1198923"/>
            <a:chExt cx="457017" cy="209550"/>
          </a:xfrm>
        </p:grpSpPr>
        <p:sp>
          <p:nvSpPr>
            <p:cNvPr id="13" name="직사각형 12"/>
            <p:cNvSpPr/>
            <p:nvPr/>
          </p:nvSpPr>
          <p:spPr>
            <a:xfrm>
              <a:off x="6935345" y="1198923"/>
              <a:ext cx="421005" cy="209550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15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개</a:t>
              </a: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 rot="5400000">
              <a:off x="7195363" y="1196328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4295800" y="4505324"/>
            <a:ext cx="2199772" cy="157041"/>
            <a:chOff x="4513478" y="6457949"/>
            <a:chExt cx="2199772" cy="157041"/>
          </a:xfrm>
        </p:grpSpPr>
        <p:sp>
          <p:nvSpPr>
            <p:cNvPr id="16" name="텍스트 상자 31"/>
            <p:cNvSpPr txBox="1"/>
            <p:nvPr/>
          </p:nvSpPr>
          <p:spPr>
            <a:xfrm>
              <a:off x="4513478" y="6476915"/>
              <a:ext cx="1698799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&lt;&lt;   &lt;  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en-US" altLang="ko-KR" sz="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3    </a:t>
              </a: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   &gt;&gt;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6150902" y="6457949"/>
              <a:ext cx="321114" cy="157041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endParaRPr>
            </a:p>
          </p:txBody>
        </p:sp>
        <p:sp>
          <p:nvSpPr>
            <p:cNvPr id="18" name="텍스트 상자 31"/>
            <p:cNvSpPr txBox="1"/>
            <p:nvPr/>
          </p:nvSpPr>
          <p:spPr>
            <a:xfrm>
              <a:off x="6460735" y="6471999"/>
              <a:ext cx="252515" cy="12311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 3</a:t>
              </a:r>
              <a:endPara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9" name="타원 18"/>
          <p:cNvSpPr/>
          <p:nvPr/>
        </p:nvSpPr>
        <p:spPr>
          <a:xfrm>
            <a:off x="3454599" y="1452088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3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1882974" y="832963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1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2577" y="399031"/>
            <a:ext cx="670898" cy="21056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설비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447675" y="705834"/>
            <a:ext cx="1390650" cy="59330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27227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25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26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27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 algn="ctr">
              <a:lnSpc>
                <a:spcPct val="130000"/>
              </a:lnSpc>
            </a:pPr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설비 </a:t>
            </a: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예약하기</a:t>
            </a:r>
            <a:endParaRPr lang="x-none" altLang="x-none" sz="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9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0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설비 </a:t>
            </a:r>
            <a:r>
              <a:rPr kumimoji="1" lang="en-US" altLang="ko-KR" sz="700" b="1" dirty="0" smtClean="0">
                <a:solidFill>
                  <a:srgbClr val="FF0000"/>
                </a:solidFill>
                <a:latin typeface="+mn-ea"/>
              </a:rPr>
              <a:t>3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1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2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34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37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3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6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47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8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49" name="텍스트 상자 31"/>
          <p:cNvSpPr txBox="1"/>
          <p:nvPr/>
        </p:nvSpPr>
        <p:spPr>
          <a:xfrm>
            <a:off x="672858" y="39278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50" name="Freeform 24"/>
          <p:cNvSpPr>
            <a:spLocks noChangeArrowheads="1"/>
          </p:cNvSpPr>
          <p:nvPr/>
        </p:nvSpPr>
        <p:spPr bwMode="auto">
          <a:xfrm>
            <a:off x="674470" y="40290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691552" y="3751132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5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819611" y="41950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5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819611" y="43928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5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검색 결과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설비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CA6.11.1</a:t>
            </a:r>
            <a:endParaRPr kumimoji="1" lang="ko-KR" altLang="en-US" sz="800" b="1" i="0" u="none" strike="noStrike" kern="1200" cap="none" spc="0" normalizeH="0" baseline="0" noProof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3" name="Group 3"/>
          <p:cNvGraphicFramePr>
            <a:graphicFrameLocks noGrp="1"/>
          </p:cNvGraphicFramePr>
          <p:nvPr>
            <p:extLst/>
          </p:nvPr>
        </p:nvGraphicFramePr>
        <p:xfrm>
          <a:off x="9290533" y="786383"/>
          <a:ext cx="2835141" cy="1521800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검색 결과 화면은 검색 상세 조건에 따른 리스트형으로 출력 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클릭시 이전 달력보기 화면으로 화면 전환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화면 전환시 입력된 상세 검색 조건들도 리셋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76783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1113" indent="0" algn="l" defTabSz="914400">
                        <a:buSzPct val="75000"/>
                        <a:buFont typeface="Arial" charset="0"/>
                        <a:buNone/>
                        <a:tabLst/>
                        <a:defRPr sz="2000"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제목 클릭시</a:t>
                      </a:r>
                      <a:r>
                        <a:rPr lang="en-US" altLang="ko-KR" sz="800" smtClean="0">
                          <a:latin typeface="+mn-ea"/>
                          <a:ea typeface="+mn-ea"/>
                          <a:cs typeface="Nanum Gothic" charset="-127"/>
                        </a:rPr>
                        <a:t>, </a:t>
                      </a: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일정 상세정보 팝업 출력되며</a:t>
                      </a:r>
                      <a:r>
                        <a:rPr lang="en-US" altLang="ko-KR" sz="800" baseline="0" smtClean="0">
                          <a:latin typeface="+mn-ea"/>
                          <a:ea typeface="+mn-ea"/>
                          <a:cs typeface="Nanum Gothic" charset="-127"/>
                        </a:rPr>
                        <a:t> </a:t>
                      </a:r>
                      <a:r>
                        <a:rPr lang="ko-KR" altLang="en-US" sz="800" baseline="0" smtClean="0">
                          <a:latin typeface="+mn-ea"/>
                          <a:ea typeface="+mn-ea"/>
                          <a:cs typeface="Nanum Gothic" charset="-127"/>
                        </a:rPr>
                        <a:t>수정권한에 따라 아래와 같이 분기 처리</a:t>
                      </a:r>
                      <a:endParaRPr lang="en-US" altLang="ko-KR" sz="800" smtClean="0">
                        <a:latin typeface="+mn-ea"/>
                        <a:ea typeface="+mn-ea"/>
                        <a:cs typeface="Nanum Gothic" charset="-127"/>
                      </a:endParaRPr>
                    </a:p>
                    <a:p>
                      <a:pPr marL="182563" indent="-171450" algn="l" defTabSz="914400">
                        <a:buSzPct val="75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수정권한이 없을 경우 </a:t>
                      </a:r>
                      <a:r>
                        <a:rPr lang="en-US" altLang="ko-KR" sz="800" smtClean="0">
                          <a:latin typeface="+mn-ea"/>
                          <a:ea typeface="+mn-ea"/>
                          <a:cs typeface="Nanum Gothic" charset="-127"/>
                        </a:rPr>
                        <a:t>CA6.1.1.3</a:t>
                      </a:r>
                    </a:p>
                    <a:p>
                      <a:pPr marL="182563" indent="-171450" algn="l" defTabSz="914400">
                        <a:buSzPct val="75000"/>
                        <a:buFont typeface="Arial" panose="020B0604020202020204" pitchFamily="34" charset="0"/>
                        <a:buChar char="•"/>
                        <a:tabLst/>
                        <a:defRPr sz="2000"/>
                      </a:pPr>
                      <a:r>
                        <a:rPr lang="ko-KR" altLang="en-US" sz="800" smtClean="0">
                          <a:latin typeface="+mn-ea"/>
                          <a:ea typeface="+mn-ea"/>
                          <a:cs typeface="Nanum Gothic" charset="-127"/>
                        </a:rPr>
                        <a:t>수정권한이 있을 경우 </a:t>
                      </a:r>
                      <a:r>
                        <a:rPr lang="en-US" altLang="ko-KR" sz="800" smtClean="0">
                          <a:latin typeface="+mn-ea"/>
                          <a:ea typeface="+mn-ea"/>
                          <a:cs typeface="Nanum Gothic" charset="-127"/>
                        </a:rPr>
                        <a:t>CA6.1.1.4</a:t>
                      </a:r>
                      <a:endParaRPr lang="en-US" altLang="ko-KR" sz="800" dirty="0" smtClean="0">
                        <a:latin typeface="+mn-ea"/>
                        <a:ea typeface="+mn-ea"/>
                        <a:cs typeface="Nanum Gothic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608761"/>
                  </a:ext>
                </a:extLst>
              </a:tr>
            </a:tbl>
          </a:graphicData>
        </a:graphic>
      </p:graphicFrame>
      <p:sp>
        <p:nvSpPr>
          <p:cNvPr id="64" name="타원 63"/>
          <p:cNvSpPr/>
          <p:nvPr/>
        </p:nvSpPr>
        <p:spPr>
          <a:xfrm>
            <a:off x="7216974" y="728188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2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48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2577" y="399031"/>
            <a:ext cx="670898" cy="21056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일정</a:t>
            </a:r>
          </a:p>
        </p:txBody>
      </p:sp>
      <p:cxnSp>
        <p:nvCxnSpPr>
          <p:cNvPr id="3" name="직선 연결선[R] 7"/>
          <p:cNvCxnSpPr/>
          <p:nvPr/>
        </p:nvCxnSpPr>
        <p:spPr>
          <a:xfrm>
            <a:off x="2019038" y="1063409"/>
            <a:ext cx="55241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cxnSp>
        <p:nvCxnSpPr>
          <p:cNvPr id="4" name="직선 연결선[R] 7"/>
          <p:cNvCxnSpPr/>
          <p:nvPr/>
        </p:nvCxnSpPr>
        <p:spPr>
          <a:xfrm>
            <a:off x="1971413" y="1063409"/>
            <a:ext cx="705035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miter lim="400000"/>
          </a:ln>
        </p:spPr>
      </p:cxnSp>
      <p:sp>
        <p:nvSpPr>
          <p:cNvPr id="9" name="텍스트 상자 31"/>
          <p:cNvSpPr txBox="1"/>
          <p:nvPr/>
        </p:nvSpPr>
        <p:spPr>
          <a:xfrm>
            <a:off x="2076471" y="859108"/>
            <a:ext cx="78817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 결과</a:t>
            </a:r>
            <a:endParaRPr kumimoji="1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7" name="그룹 36"/>
          <p:cNvGrpSpPr/>
          <p:nvPr/>
        </p:nvGrpSpPr>
        <p:grpSpPr>
          <a:xfrm>
            <a:off x="8645870" y="813534"/>
            <a:ext cx="354278" cy="203200"/>
            <a:chOff x="7121870" y="765909"/>
            <a:chExt cx="354278" cy="203200"/>
          </a:xfrm>
        </p:grpSpPr>
        <p:sp>
          <p:nvSpPr>
            <p:cNvPr id="38" name="직사각형 37"/>
            <p:cNvSpPr/>
            <p:nvPr/>
          </p:nvSpPr>
          <p:spPr>
            <a:xfrm>
              <a:off x="7121870" y="765909"/>
              <a:ext cx="354278" cy="203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 marL="0" marR="0" lvl="0" indent="0" algn="r" defTabSz="914400" rtl="0" eaLnBrk="1" fontAlgn="base" latinLnBrk="1" hangingPunct="1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▼</a:t>
              </a:r>
              <a:endParaRPr kumimoji="1" lang="ko-KR" alt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Freeform 10"/>
            <p:cNvSpPr>
              <a:spLocks noChangeAspect="1" noChangeArrowheads="1"/>
            </p:cNvSpPr>
            <p:nvPr/>
          </p:nvSpPr>
          <p:spPr bwMode="auto">
            <a:xfrm>
              <a:off x="7194208" y="822367"/>
              <a:ext cx="108001" cy="108000"/>
            </a:xfrm>
            <a:custGeom>
              <a:avLst/>
              <a:gdLst>
                <a:gd name="T0" fmla="*/ 332 w 471"/>
                <a:gd name="T1" fmla="*/ 296 h 471"/>
                <a:gd name="T2" fmla="*/ 312 w 471"/>
                <a:gd name="T3" fmla="*/ 296 h 471"/>
                <a:gd name="T4" fmla="*/ 307 w 471"/>
                <a:gd name="T5" fmla="*/ 286 h 471"/>
                <a:gd name="T6" fmla="*/ 348 w 471"/>
                <a:gd name="T7" fmla="*/ 173 h 471"/>
                <a:gd name="T8" fmla="*/ 174 w 471"/>
                <a:gd name="T9" fmla="*/ 0 h 471"/>
                <a:gd name="T10" fmla="*/ 0 w 471"/>
                <a:gd name="T11" fmla="*/ 173 h 471"/>
                <a:gd name="T12" fmla="*/ 174 w 471"/>
                <a:gd name="T13" fmla="*/ 347 h 471"/>
                <a:gd name="T14" fmla="*/ 286 w 471"/>
                <a:gd name="T15" fmla="*/ 306 h 471"/>
                <a:gd name="T16" fmla="*/ 296 w 471"/>
                <a:gd name="T17" fmla="*/ 311 h 471"/>
                <a:gd name="T18" fmla="*/ 296 w 471"/>
                <a:gd name="T19" fmla="*/ 337 h 471"/>
                <a:gd name="T20" fmla="*/ 429 w 471"/>
                <a:gd name="T21" fmla="*/ 470 h 471"/>
                <a:gd name="T22" fmla="*/ 470 w 471"/>
                <a:gd name="T23" fmla="*/ 429 h 471"/>
                <a:gd name="T24" fmla="*/ 332 w 471"/>
                <a:gd name="T25" fmla="*/ 296 h 471"/>
                <a:gd name="T26" fmla="*/ 174 w 471"/>
                <a:gd name="T27" fmla="*/ 296 h 471"/>
                <a:gd name="T28" fmla="*/ 56 w 471"/>
                <a:gd name="T29" fmla="*/ 173 h 471"/>
                <a:gd name="T30" fmla="*/ 174 w 471"/>
                <a:gd name="T31" fmla="*/ 56 h 471"/>
                <a:gd name="T32" fmla="*/ 296 w 471"/>
                <a:gd name="T33" fmla="*/ 173 h 471"/>
                <a:gd name="T34" fmla="*/ 174 w 471"/>
                <a:gd name="T35" fmla="*/ 296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471">
                  <a:moveTo>
                    <a:pt x="332" y="296"/>
                  </a:moveTo>
                  <a:lnTo>
                    <a:pt x="312" y="296"/>
                  </a:lnTo>
                  <a:lnTo>
                    <a:pt x="307" y="286"/>
                  </a:lnTo>
                  <a:cubicBezTo>
                    <a:pt x="332" y="255"/>
                    <a:pt x="348" y="219"/>
                    <a:pt x="348" y="173"/>
                  </a:cubicBezTo>
                  <a:cubicBezTo>
                    <a:pt x="348" y="76"/>
                    <a:pt x="271" y="0"/>
                    <a:pt x="174" y="0"/>
                  </a:cubicBezTo>
                  <a:cubicBezTo>
                    <a:pt x="77" y="0"/>
                    <a:pt x="0" y="76"/>
                    <a:pt x="0" y="173"/>
                  </a:cubicBezTo>
                  <a:cubicBezTo>
                    <a:pt x="0" y="270"/>
                    <a:pt x="77" y="347"/>
                    <a:pt x="174" y="347"/>
                  </a:cubicBezTo>
                  <a:cubicBezTo>
                    <a:pt x="215" y="347"/>
                    <a:pt x="256" y="332"/>
                    <a:pt x="286" y="306"/>
                  </a:cubicBezTo>
                  <a:lnTo>
                    <a:pt x="296" y="311"/>
                  </a:lnTo>
                  <a:lnTo>
                    <a:pt x="296" y="337"/>
                  </a:lnTo>
                  <a:lnTo>
                    <a:pt x="429" y="470"/>
                  </a:lnTo>
                  <a:lnTo>
                    <a:pt x="470" y="429"/>
                  </a:lnTo>
                  <a:lnTo>
                    <a:pt x="332" y="296"/>
                  </a:lnTo>
                  <a:close/>
                  <a:moveTo>
                    <a:pt x="174" y="296"/>
                  </a:moveTo>
                  <a:cubicBezTo>
                    <a:pt x="107" y="296"/>
                    <a:pt x="56" y="240"/>
                    <a:pt x="56" y="173"/>
                  </a:cubicBezTo>
                  <a:cubicBezTo>
                    <a:pt x="56" y="107"/>
                    <a:pt x="107" y="56"/>
                    <a:pt x="174" y="56"/>
                  </a:cubicBezTo>
                  <a:cubicBezTo>
                    <a:pt x="240" y="56"/>
                    <a:pt x="296" y="107"/>
                    <a:pt x="296" y="173"/>
                  </a:cubicBezTo>
                  <a:cubicBezTo>
                    <a:pt x="296" y="240"/>
                    <a:pt x="240" y="296"/>
                    <a:pt x="174" y="2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63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charset="0"/>
                <a:ea typeface="ＭＳ Ｐゴシック" charset="0"/>
              </a:endParaRPr>
            </a:p>
          </p:txBody>
        </p:sp>
      </p:grpSp>
      <p:graphicFrame>
        <p:nvGraphicFramePr>
          <p:cNvPr id="67" name="표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600393"/>
              </p:ext>
            </p:extLst>
          </p:nvPr>
        </p:nvGraphicFramePr>
        <p:xfrm>
          <a:off x="1976282" y="1080719"/>
          <a:ext cx="7045482" cy="1433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5482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</a:tblGrid>
              <a:tr h="14338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 결과가 없습니다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</a:tbl>
          </a:graphicData>
        </a:graphic>
      </p:graphicFrame>
      <p:grpSp>
        <p:nvGrpSpPr>
          <p:cNvPr id="69" name="그룹 68"/>
          <p:cNvGrpSpPr/>
          <p:nvPr/>
        </p:nvGrpSpPr>
        <p:grpSpPr>
          <a:xfrm>
            <a:off x="7273885" y="816233"/>
            <a:ext cx="866095" cy="205990"/>
            <a:chOff x="8129256" y="1219200"/>
            <a:chExt cx="866095" cy="205990"/>
          </a:xfrm>
        </p:grpSpPr>
        <p:sp>
          <p:nvSpPr>
            <p:cNvPr id="70" name="모서리가 둥근 직사각형 69"/>
            <p:cNvSpPr/>
            <p:nvPr/>
          </p:nvSpPr>
          <p:spPr>
            <a:xfrm>
              <a:off x="8129256" y="1219200"/>
              <a:ext cx="866095" cy="20599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3175" cap="flat" cmpd="sng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576818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alibri"/>
                  <a:ea typeface="맑은 고딕" panose="020B0503020000020004" pitchFamily="50" charset="-127"/>
                  <a:cs typeface="+mn-cs"/>
                </a:rPr>
                <a:t>   달력보기</a:t>
              </a:r>
              <a:endPara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71" name="그림 70"/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97165" y="1253440"/>
              <a:ext cx="141069" cy="141069"/>
            </a:xfrm>
            <a:prstGeom prst="rect">
              <a:avLst/>
            </a:prstGeom>
          </p:spPr>
        </p:pic>
      </p:grpSp>
      <p:grpSp>
        <p:nvGrpSpPr>
          <p:cNvPr id="72" name="그룹 71"/>
          <p:cNvGrpSpPr/>
          <p:nvPr/>
        </p:nvGrpSpPr>
        <p:grpSpPr>
          <a:xfrm>
            <a:off x="8182047" y="815947"/>
            <a:ext cx="457017" cy="209550"/>
            <a:chOff x="6935345" y="1198923"/>
            <a:chExt cx="457017" cy="209550"/>
          </a:xfrm>
        </p:grpSpPr>
        <p:sp>
          <p:nvSpPr>
            <p:cNvPr id="73" name="직사각형 72"/>
            <p:cNvSpPr/>
            <p:nvPr/>
          </p:nvSpPr>
          <p:spPr>
            <a:xfrm>
              <a:off x="6935345" y="1198923"/>
              <a:ext cx="421005" cy="209550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15</a:t>
              </a:r>
              <a:r>
                <a:rPr kumimoji="1" lang="ko-KR" altLang="en-US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개</a:t>
              </a:r>
              <a:endParaRPr kumimoji="1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 rot="5400000">
              <a:off x="7195363" y="1196328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black">
                      <a:lumMod val="95000"/>
                      <a:lumOff val="5000"/>
                    </a:prstClr>
                  </a:solidFill>
                  <a:effectLst/>
                  <a:uLnTx/>
                  <a:uFillTx/>
                  <a:latin typeface="HY견고딕" panose="02030600000101010101" pitchFamily="18" charset="-127"/>
                  <a:ea typeface="HY견고딕" panose="02030600000101010101" pitchFamily="18" charset="-127"/>
                  <a:cs typeface="+mn-cs"/>
                </a:rPr>
                <a:t>&gt;</a:t>
              </a:r>
              <a:endPara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endParaRPr>
            </a:p>
          </p:txBody>
        </p:sp>
      </p:grpSp>
      <p:graphicFrame>
        <p:nvGraphicFramePr>
          <p:cNvPr id="20" name="Group 3"/>
          <p:cNvGraphicFramePr>
            <a:graphicFrameLocks noGrp="1"/>
          </p:cNvGraphicFramePr>
          <p:nvPr>
            <p:extLst/>
          </p:nvPr>
        </p:nvGraphicFramePr>
        <p:xfrm>
          <a:off x="9290533" y="786383"/>
          <a:ext cx="2835141" cy="469229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</a:rPr>
                        <a:t>Description</a:t>
                      </a:r>
                      <a:endParaRPr kumimoji="1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rebuchet MS" panose="020B0603020202020204" pitchFamily="34" charset="0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검색 결과가 없을 경우 출력되는 문구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736587"/>
                  </a:ext>
                </a:extLst>
              </a:tr>
            </a:tbl>
          </a:graphicData>
        </a:graphic>
      </p:graphicFrame>
      <p:sp>
        <p:nvSpPr>
          <p:cNvPr id="21" name="타원 20"/>
          <p:cNvSpPr/>
          <p:nvPr/>
        </p:nvSpPr>
        <p:spPr>
          <a:xfrm>
            <a:off x="4654749" y="1747363"/>
            <a:ext cx="168508" cy="171599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1</a:t>
            </a: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나눔고딕" pitchFamily="50" charset="-127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20266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검색결과 없을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0791" y="773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kumimoji="1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&gt;</a:t>
            </a:r>
            <a:r>
              <a:rPr kumimoji="1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2816" y="305956"/>
            <a:ext cx="995782" cy="20839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CA6.10.2</a:t>
            </a:r>
            <a:endParaRPr kumimoji="1" lang="ko-KR" altLang="en-US" sz="800" b="1" i="0" u="none" strike="noStrike" kern="1200" cap="none" spc="0" normalizeH="0" baseline="0" noProof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47675" y="705834"/>
            <a:ext cx="1390650" cy="59330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27227" y="689685"/>
            <a:ext cx="1422000" cy="5979654"/>
          </a:xfrm>
          <a:prstGeom prst="rect">
            <a:avLst/>
          </a:prstGeom>
          <a:solidFill>
            <a:srgbClr val="EAEAEA"/>
          </a:solidFill>
        </p:spPr>
        <p:txBody>
          <a:bodyPr wrap="none" lIns="36000" tIns="36000" rIns="36000" bIns="36000" rtlCol="0" anchor="ctr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479620" y="6381339"/>
            <a:ext cx="727034" cy="288000"/>
            <a:chOff x="484080" y="6381339"/>
            <a:chExt cx="727034" cy="288000"/>
          </a:xfrm>
        </p:grpSpPr>
        <p:sp>
          <p:nvSpPr>
            <p:cNvPr id="29" name="텍스트 상자 31"/>
            <p:cNvSpPr txBox="1"/>
            <p:nvPr/>
          </p:nvSpPr>
          <p:spPr>
            <a:xfrm>
              <a:off x="636603" y="6381339"/>
              <a:ext cx="574511" cy="288000"/>
            </a:xfrm>
            <a:prstGeom prst="rect">
              <a:avLst/>
            </a:prstGeom>
            <a:noFill/>
          </p:spPr>
          <p:txBody>
            <a:bodyPr wrap="square" lIns="0" rtlCol="0" anchor="ctr">
              <a:noAutofit/>
            </a:bodyPr>
            <a:lstStyle/>
            <a:p>
              <a:r>
                <a:rPr kumimoji="1" lang="ko-KR" altLang="en-US" sz="600" b="1" dirty="0" smtClean="0"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ea typeface="+mn-ea"/>
                </a:rPr>
                <a:t>설정</a:t>
              </a:r>
              <a:endParaRPr kumimoji="1" lang="ko-KR" altLang="en-US" sz="600" dirty="0">
                <a:solidFill>
                  <a:prstClr val="white">
                    <a:lumMod val="50000"/>
                  </a:prstClr>
                </a:solidFill>
                <a:latin typeface="+mn-ea"/>
                <a:ea typeface="+mn-ea"/>
              </a:endParaRPr>
            </a:p>
          </p:txBody>
        </p:sp>
        <p:sp>
          <p:nvSpPr>
            <p:cNvPr id="30" name="Freeform 13"/>
            <p:cNvSpPr>
              <a:spLocks noChangeAspect="1" noChangeArrowheads="1"/>
            </p:cNvSpPr>
            <p:nvPr/>
          </p:nvSpPr>
          <p:spPr bwMode="auto">
            <a:xfrm>
              <a:off x="484080" y="6480339"/>
              <a:ext cx="89257" cy="90000"/>
            </a:xfrm>
            <a:custGeom>
              <a:avLst/>
              <a:gdLst>
                <a:gd name="T0" fmla="*/ 455 w 527"/>
                <a:gd name="T1" fmla="*/ 291 h 533"/>
                <a:gd name="T2" fmla="*/ 460 w 527"/>
                <a:gd name="T3" fmla="*/ 266 h 533"/>
                <a:gd name="T4" fmla="*/ 455 w 527"/>
                <a:gd name="T5" fmla="*/ 240 h 533"/>
                <a:gd name="T6" fmla="*/ 511 w 527"/>
                <a:gd name="T7" fmla="*/ 194 h 533"/>
                <a:gd name="T8" fmla="*/ 516 w 527"/>
                <a:gd name="T9" fmla="*/ 179 h 533"/>
                <a:gd name="T10" fmla="*/ 465 w 527"/>
                <a:gd name="T11" fmla="*/ 82 h 533"/>
                <a:gd name="T12" fmla="*/ 444 w 527"/>
                <a:gd name="T13" fmla="*/ 82 h 533"/>
                <a:gd name="T14" fmla="*/ 378 w 527"/>
                <a:gd name="T15" fmla="*/ 107 h 533"/>
                <a:gd name="T16" fmla="*/ 332 w 527"/>
                <a:gd name="T17" fmla="*/ 82 h 533"/>
                <a:gd name="T18" fmla="*/ 322 w 527"/>
                <a:gd name="T19" fmla="*/ 10 h 533"/>
                <a:gd name="T20" fmla="*/ 311 w 527"/>
                <a:gd name="T21" fmla="*/ 0 h 533"/>
                <a:gd name="T22" fmla="*/ 204 w 527"/>
                <a:gd name="T23" fmla="*/ 0 h 533"/>
                <a:gd name="T24" fmla="*/ 194 w 527"/>
                <a:gd name="T25" fmla="*/ 10 h 533"/>
                <a:gd name="T26" fmla="*/ 184 w 527"/>
                <a:gd name="T27" fmla="*/ 82 h 533"/>
                <a:gd name="T28" fmla="*/ 138 w 527"/>
                <a:gd name="T29" fmla="*/ 107 h 533"/>
                <a:gd name="T30" fmla="*/ 71 w 527"/>
                <a:gd name="T31" fmla="*/ 82 h 533"/>
                <a:gd name="T32" fmla="*/ 56 w 527"/>
                <a:gd name="T33" fmla="*/ 87 h 533"/>
                <a:gd name="T34" fmla="*/ 0 w 527"/>
                <a:gd name="T35" fmla="*/ 179 h 533"/>
                <a:gd name="T36" fmla="*/ 5 w 527"/>
                <a:gd name="T37" fmla="*/ 194 h 533"/>
                <a:gd name="T38" fmla="*/ 61 w 527"/>
                <a:gd name="T39" fmla="*/ 240 h 533"/>
                <a:gd name="T40" fmla="*/ 61 w 527"/>
                <a:gd name="T41" fmla="*/ 266 h 533"/>
                <a:gd name="T42" fmla="*/ 61 w 527"/>
                <a:gd name="T43" fmla="*/ 291 h 533"/>
                <a:gd name="T44" fmla="*/ 5 w 527"/>
                <a:gd name="T45" fmla="*/ 337 h 533"/>
                <a:gd name="T46" fmla="*/ 5 w 527"/>
                <a:gd name="T47" fmla="*/ 353 h 533"/>
                <a:gd name="T48" fmla="*/ 56 w 527"/>
                <a:gd name="T49" fmla="*/ 450 h 533"/>
                <a:gd name="T50" fmla="*/ 71 w 527"/>
                <a:gd name="T51" fmla="*/ 450 h 533"/>
                <a:gd name="T52" fmla="*/ 138 w 527"/>
                <a:gd name="T53" fmla="*/ 424 h 533"/>
                <a:gd name="T54" fmla="*/ 184 w 527"/>
                <a:gd name="T55" fmla="*/ 450 h 533"/>
                <a:gd name="T56" fmla="*/ 194 w 527"/>
                <a:gd name="T57" fmla="*/ 521 h 533"/>
                <a:gd name="T58" fmla="*/ 209 w 527"/>
                <a:gd name="T59" fmla="*/ 532 h 533"/>
                <a:gd name="T60" fmla="*/ 317 w 527"/>
                <a:gd name="T61" fmla="*/ 532 h 533"/>
                <a:gd name="T62" fmla="*/ 327 w 527"/>
                <a:gd name="T63" fmla="*/ 521 h 533"/>
                <a:gd name="T64" fmla="*/ 337 w 527"/>
                <a:gd name="T65" fmla="*/ 450 h 533"/>
                <a:gd name="T66" fmla="*/ 383 w 527"/>
                <a:gd name="T67" fmla="*/ 424 h 533"/>
                <a:gd name="T68" fmla="*/ 449 w 527"/>
                <a:gd name="T69" fmla="*/ 450 h 533"/>
                <a:gd name="T70" fmla="*/ 470 w 527"/>
                <a:gd name="T71" fmla="*/ 445 h 533"/>
                <a:gd name="T72" fmla="*/ 521 w 527"/>
                <a:gd name="T73" fmla="*/ 353 h 533"/>
                <a:gd name="T74" fmla="*/ 521 w 527"/>
                <a:gd name="T75" fmla="*/ 337 h 533"/>
                <a:gd name="T76" fmla="*/ 455 w 527"/>
                <a:gd name="T77" fmla="*/ 291 h 533"/>
                <a:gd name="T78" fmla="*/ 260 w 527"/>
                <a:gd name="T79" fmla="*/ 358 h 533"/>
                <a:gd name="T80" fmla="*/ 163 w 527"/>
                <a:gd name="T81" fmla="*/ 266 h 533"/>
                <a:gd name="T82" fmla="*/ 260 w 527"/>
                <a:gd name="T83" fmla="*/ 174 h 533"/>
                <a:gd name="T84" fmla="*/ 352 w 527"/>
                <a:gd name="T85" fmla="*/ 266 h 533"/>
                <a:gd name="T86" fmla="*/ 260 w 527"/>
                <a:gd name="T87" fmla="*/ 358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27" h="533">
                  <a:moveTo>
                    <a:pt x="455" y="291"/>
                  </a:moveTo>
                  <a:cubicBezTo>
                    <a:pt x="455" y="286"/>
                    <a:pt x="460" y="276"/>
                    <a:pt x="460" y="266"/>
                  </a:cubicBezTo>
                  <a:cubicBezTo>
                    <a:pt x="460" y="256"/>
                    <a:pt x="460" y="245"/>
                    <a:pt x="455" y="240"/>
                  </a:cubicBezTo>
                  <a:lnTo>
                    <a:pt x="511" y="194"/>
                  </a:lnTo>
                  <a:cubicBezTo>
                    <a:pt x="521" y="189"/>
                    <a:pt x="521" y="184"/>
                    <a:pt x="516" y="179"/>
                  </a:cubicBezTo>
                  <a:lnTo>
                    <a:pt x="465" y="82"/>
                  </a:lnTo>
                  <a:cubicBezTo>
                    <a:pt x="460" y="82"/>
                    <a:pt x="455" y="77"/>
                    <a:pt x="444" y="82"/>
                  </a:cubicBezTo>
                  <a:lnTo>
                    <a:pt x="378" y="107"/>
                  </a:lnTo>
                  <a:cubicBezTo>
                    <a:pt x="368" y="97"/>
                    <a:pt x="352" y="92"/>
                    <a:pt x="332" y="82"/>
                  </a:cubicBezTo>
                  <a:lnTo>
                    <a:pt x="322" y="10"/>
                  </a:lnTo>
                  <a:cubicBezTo>
                    <a:pt x="327" y="5"/>
                    <a:pt x="317" y="0"/>
                    <a:pt x="311" y="0"/>
                  </a:cubicBezTo>
                  <a:lnTo>
                    <a:pt x="204" y="0"/>
                  </a:lnTo>
                  <a:cubicBezTo>
                    <a:pt x="199" y="0"/>
                    <a:pt x="194" y="5"/>
                    <a:pt x="194" y="10"/>
                  </a:cubicBezTo>
                  <a:lnTo>
                    <a:pt x="184" y="82"/>
                  </a:lnTo>
                  <a:cubicBezTo>
                    <a:pt x="163" y="87"/>
                    <a:pt x="153" y="97"/>
                    <a:pt x="138" y="107"/>
                  </a:cubicBezTo>
                  <a:lnTo>
                    <a:pt x="71" y="82"/>
                  </a:lnTo>
                  <a:cubicBezTo>
                    <a:pt x="66" y="77"/>
                    <a:pt x="61" y="82"/>
                    <a:pt x="56" y="87"/>
                  </a:cubicBezTo>
                  <a:lnTo>
                    <a:pt x="0" y="179"/>
                  </a:lnTo>
                  <a:cubicBezTo>
                    <a:pt x="0" y="184"/>
                    <a:pt x="0" y="189"/>
                    <a:pt x="5" y="194"/>
                  </a:cubicBezTo>
                  <a:lnTo>
                    <a:pt x="61" y="240"/>
                  </a:lnTo>
                  <a:cubicBezTo>
                    <a:pt x="61" y="245"/>
                    <a:pt x="61" y="256"/>
                    <a:pt x="61" y="266"/>
                  </a:cubicBezTo>
                  <a:cubicBezTo>
                    <a:pt x="61" y="276"/>
                    <a:pt x="61" y="286"/>
                    <a:pt x="61" y="291"/>
                  </a:cubicBezTo>
                  <a:lnTo>
                    <a:pt x="5" y="337"/>
                  </a:lnTo>
                  <a:cubicBezTo>
                    <a:pt x="0" y="343"/>
                    <a:pt x="0" y="348"/>
                    <a:pt x="5" y="353"/>
                  </a:cubicBezTo>
                  <a:lnTo>
                    <a:pt x="56" y="450"/>
                  </a:lnTo>
                  <a:cubicBezTo>
                    <a:pt x="61" y="450"/>
                    <a:pt x="66" y="455"/>
                    <a:pt x="71" y="450"/>
                  </a:cubicBezTo>
                  <a:lnTo>
                    <a:pt x="138" y="424"/>
                  </a:lnTo>
                  <a:cubicBezTo>
                    <a:pt x="153" y="434"/>
                    <a:pt x="168" y="445"/>
                    <a:pt x="184" y="450"/>
                  </a:cubicBezTo>
                  <a:lnTo>
                    <a:pt x="194" y="521"/>
                  </a:lnTo>
                  <a:cubicBezTo>
                    <a:pt x="194" y="526"/>
                    <a:pt x="199" y="532"/>
                    <a:pt x="209" y="532"/>
                  </a:cubicBezTo>
                  <a:lnTo>
                    <a:pt x="317" y="532"/>
                  </a:lnTo>
                  <a:cubicBezTo>
                    <a:pt x="322" y="532"/>
                    <a:pt x="327" y="526"/>
                    <a:pt x="327" y="521"/>
                  </a:cubicBezTo>
                  <a:lnTo>
                    <a:pt x="337" y="450"/>
                  </a:lnTo>
                  <a:cubicBezTo>
                    <a:pt x="357" y="445"/>
                    <a:pt x="373" y="434"/>
                    <a:pt x="383" y="424"/>
                  </a:cubicBezTo>
                  <a:lnTo>
                    <a:pt x="449" y="450"/>
                  </a:lnTo>
                  <a:cubicBezTo>
                    <a:pt x="455" y="455"/>
                    <a:pt x="465" y="450"/>
                    <a:pt x="470" y="445"/>
                  </a:cubicBezTo>
                  <a:lnTo>
                    <a:pt x="521" y="353"/>
                  </a:lnTo>
                  <a:cubicBezTo>
                    <a:pt x="526" y="348"/>
                    <a:pt x="526" y="337"/>
                    <a:pt x="521" y="337"/>
                  </a:cubicBezTo>
                  <a:lnTo>
                    <a:pt x="455" y="291"/>
                  </a:lnTo>
                  <a:close/>
                  <a:moveTo>
                    <a:pt x="260" y="358"/>
                  </a:moveTo>
                  <a:cubicBezTo>
                    <a:pt x="209" y="358"/>
                    <a:pt x="163" y="317"/>
                    <a:pt x="163" y="266"/>
                  </a:cubicBezTo>
                  <a:cubicBezTo>
                    <a:pt x="163" y="215"/>
                    <a:pt x="209" y="174"/>
                    <a:pt x="260" y="174"/>
                  </a:cubicBezTo>
                  <a:cubicBezTo>
                    <a:pt x="311" y="174"/>
                    <a:pt x="352" y="215"/>
                    <a:pt x="352" y="266"/>
                  </a:cubicBezTo>
                  <a:cubicBezTo>
                    <a:pt x="352" y="317"/>
                    <a:pt x="311" y="358"/>
                    <a:pt x="260" y="35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id-ID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Roboto" charset="0"/>
                  <a:ea typeface="ＭＳ Ｐゴシック" charset="0"/>
                  <a:cs typeface="ＭＳ Ｐゴシック" charset="0"/>
                </a:defRPr>
              </a:lvl9pPr>
            </a:lstStyle>
            <a:p>
              <a:endParaRPr lang="en-US" sz="140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31" name="직선 연결선[R] 33"/>
          <p:cNvCxnSpPr/>
          <p:nvPr/>
        </p:nvCxnSpPr>
        <p:spPr>
          <a:xfrm>
            <a:off x="426411" y="6381340"/>
            <a:ext cx="1402953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14"/>
          <p:cNvSpPr>
            <a:spLocks/>
          </p:cNvSpPr>
          <p:nvPr/>
        </p:nvSpPr>
        <p:spPr bwMode="auto">
          <a:xfrm>
            <a:off x="568877" y="800773"/>
            <a:ext cx="1152000" cy="266400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  <a:extLst/>
        </p:spPr>
        <p:txBody>
          <a:bodyPr lIns="0" tIns="0" rIns="0" bIns="0" anchor="ctr"/>
          <a:lstStyle/>
          <a:p>
            <a:pPr lvl="0" algn="ctr">
              <a:lnSpc>
                <a:spcPct val="130000"/>
              </a:lnSpc>
            </a:pPr>
            <a:r>
              <a:rPr lang="ko-KR" altLang="en-US" sz="8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설비 </a:t>
            </a:r>
            <a:r>
              <a:rPr lang="ko-KR" altLang="en-US" sz="8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예약하기</a:t>
            </a:r>
            <a:endParaRPr lang="x-none" altLang="x-none" sz="800" b="1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3" name="텍스트 상자 31"/>
          <p:cNvSpPr txBox="1"/>
          <p:nvPr/>
        </p:nvSpPr>
        <p:spPr>
          <a:xfrm>
            <a:off x="655033" y="1213631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내가 예약한 설비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4" name="텍스트 상자 31"/>
          <p:cNvSpPr txBox="1"/>
          <p:nvPr/>
        </p:nvSpPr>
        <p:spPr>
          <a:xfrm>
            <a:off x="655033" y="1425190"/>
            <a:ext cx="1269604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승인 대기중인 설비 </a:t>
            </a:r>
            <a:r>
              <a:rPr kumimoji="1" lang="en-US" altLang="ko-KR" sz="700" b="1" dirty="0" smtClean="0">
                <a:solidFill>
                  <a:srgbClr val="FF0000"/>
                </a:solidFill>
                <a:latin typeface="+mn-ea"/>
              </a:rPr>
              <a:t>3</a:t>
            </a:r>
            <a:endParaRPr kumimoji="1" lang="ko-KR" altLang="en-US" sz="7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5" name="텍스트 상자 31"/>
          <p:cNvSpPr txBox="1"/>
          <p:nvPr/>
        </p:nvSpPr>
        <p:spPr>
          <a:xfrm>
            <a:off x="657786" y="172819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목록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36" name="Freeform 24"/>
          <p:cNvSpPr>
            <a:spLocks noChangeArrowheads="1"/>
          </p:cNvSpPr>
          <p:nvPr/>
        </p:nvSpPr>
        <p:spPr bwMode="auto">
          <a:xfrm>
            <a:off x="503653" y="175683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506160" y="1648809"/>
            <a:ext cx="1283075" cy="2047875"/>
            <a:chOff x="746806" y="2515584"/>
            <a:chExt cx="1411382" cy="2047875"/>
          </a:xfrm>
        </p:grpSpPr>
        <p:cxnSp>
          <p:nvCxnSpPr>
            <p:cNvPr id="41" name="직선 연결선[R] 33"/>
            <p:cNvCxnSpPr/>
            <p:nvPr/>
          </p:nvCxnSpPr>
          <p:spPr>
            <a:xfrm>
              <a:off x="746806" y="2515584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[R] 33"/>
            <p:cNvCxnSpPr/>
            <p:nvPr/>
          </p:nvCxnSpPr>
          <p:spPr>
            <a:xfrm>
              <a:off x="746806" y="4563459"/>
              <a:ext cx="141138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텍스트 상자 31"/>
          <p:cNvSpPr txBox="1"/>
          <p:nvPr/>
        </p:nvSpPr>
        <p:spPr>
          <a:xfrm>
            <a:off x="672858" y="1893345"/>
            <a:ext cx="1048542" cy="17604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dirty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회의실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Cebu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Palau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Jeju</a:t>
            </a:r>
          </a:p>
          <a:p>
            <a:pPr lvl="0">
              <a:lnSpc>
                <a:spcPct val="220000"/>
              </a:lnSpc>
            </a:pPr>
            <a:r>
              <a:rPr lang="en-US" altLang="ko-KR" sz="7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빔 </a:t>
            </a:r>
            <a:r>
              <a:rPr lang="ko-KR" altLang="en-US" sz="6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프로젝터</a:t>
            </a:r>
            <a:endParaRPr lang="ko-KR" altLang="en-US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</a:t>
            </a:r>
            <a:r>
              <a:rPr lang="en-US" altLang="ko-KR" sz="6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노트북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차량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  <a:p>
            <a:pPr>
              <a:lnSpc>
                <a:spcPct val="220000"/>
              </a:lnSpc>
            </a:pPr>
            <a:r>
              <a:rPr lang="en-US" altLang="ko-KR" sz="700" b="1">
                <a:solidFill>
                  <a:prstClr val="black">
                    <a:lumMod val="65000"/>
                    <a:lumOff val="3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&gt;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설비종류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  <a:endParaRPr lang="en-US" altLang="ko-KR" sz="600" b="1" dirty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44" name="Freeform 24"/>
          <p:cNvSpPr>
            <a:spLocks noChangeArrowheads="1"/>
          </p:cNvSpPr>
          <p:nvPr/>
        </p:nvSpPr>
        <p:spPr bwMode="auto">
          <a:xfrm>
            <a:off x="688326" y="1988125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grpSp>
        <p:nvGrpSpPr>
          <p:cNvPr id="4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"/>
            </p:custDataLst>
          </p:nvPr>
        </p:nvGrpSpPr>
        <p:grpSpPr>
          <a:xfrm>
            <a:off x="819611" y="2157858"/>
            <a:ext cx="107839" cy="109736"/>
            <a:chOff x="554563" y="2632644"/>
            <a:chExt cx="131556" cy="13155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4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4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"/>
            </p:custDataLst>
          </p:nvPr>
        </p:nvGrpSpPr>
        <p:grpSpPr>
          <a:xfrm>
            <a:off x="819611" y="2363420"/>
            <a:ext cx="107839" cy="109736"/>
            <a:chOff x="554563" y="2632644"/>
            <a:chExt cx="131556" cy="131556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819611" y="2568983"/>
            <a:ext cx="107839" cy="109736"/>
            <a:chOff x="554563" y="2632644"/>
            <a:chExt cx="131556" cy="13155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0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5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54" name="텍스트 상자 31"/>
          <p:cNvSpPr txBox="1"/>
          <p:nvPr/>
        </p:nvSpPr>
        <p:spPr>
          <a:xfrm>
            <a:off x="657786" y="3804645"/>
            <a:ext cx="1131933" cy="107722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kumimoji="1" lang="ko-KR" altLang="en-US" sz="7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설비 그룹</a:t>
            </a:r>
            <a:endParaRPr kumimoji="1" lang="ko-KR" altLang="en-US" sz="7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55" name="Freeform 24"/>
          <p:cNvSpPr>
            <a:spLocks noChangeArrowheads="1"/>
          </p:cNvSpPr>
          <p:nvPr/>
        </p:nvSpPr>
        <p:spPr bwMode="auto">
          <a:xfrm>
            <a:off x="503653" y="3833286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56" name="텍스트 상자 31"/>
          <p:cNvSpPr txBox="1"/>
          <p:nvPr/>
        </p:nvSpPr>
        <p:spPr>
          <a:xfrm>
            <a:off x="672858" y="3927885"/>
            <a:ext cx="1048542" cy="6093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indent="114300">
              <a:lnSpc>
                <a:spcPct val="220000"/>
              </a:lnSpc>
            </a:pP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설비그룹</a:t>
            </a: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1</a:t>
            </a:r>
          </a:p>
          <a:p>
            <a:pPr lvl="0" indent="300038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</a:rPr>
              <a:t>Aha room</a:t>
            </a:r>
            <a:endParaRPr lang="en-US" altLang="ko-KR" sz="600" b="1">
              <a:solidFill>
                <a:prstClr val="black">
                  <a:lumMod val="65000"/>
                  <a:lumOff val="35000"/>
                </a:prstClr>
              </a:solidFill>
              <a:latin typeface="+mn-ea"/>
            </a:endParaRPr>
          </a:p>
          <a:p>
            <a:pPr indent="114300">
              <a:lnSpc>
                <a:spcPct val="220000"/>
              </a:lnSpc>
            </a:pPr>
            <a:r>
              <a:rPr lang="en-US" altLang="ko-KR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       </a:t>
            </a:r>
            <a:r>
              <a:rPr lang="ko-KR" altLang="en-US" sz="600" b="1" smtClean="0">
                <a:solidFill>
                  <a:prstClr val="black">
                    <a:lumMod val="65000"/>
                    <a:lumOff val="35000"/>
                  </a:prstClr>
                </a:solidFill>
                <a:latin typeface="+mn-ea"/>
                <a:ea typeface="+mn-ea"/>
              </a:rPr>
              <a:t>삼성 노트북</a:t>
            </a:r>
            <a:endParaRPr lang="en-US" altLang="ko-KR" sz="600" b="1" smtClean="0">
              <a:solidFill>
                <a:prstClr val="black">
                  <a:lumMod val="65000"/>
                  <a:lumOff val="35000"/>
                </a:prstClr>
              </a:solidFill>
              <a:latin typeface="+mn-ea"/>
              <a:ea typeface="+mn-ea"/>
            </a:endParaRPr>
          </a:p>
        </p:txBody>
      </p:sp>
      <p:sp>
        <p:nvSpPr>
          <p:cNvPr id="57" name="Freeform 24"/>
          <p:cNvSpPr>
            <a:spLocks noChangeArrowheads="1"/>
          </p:cNvSpPr>
          <p:nvPr/>
        </p:nvSpPr>
        <p:spPr bwMode="auto">
          <a:xfrm>
            <a:off x="674470" y="4029073"/>
            <a:ext cx="73363" cy="45719"/>
          </a:xfrm>
          <a:custGeom>
            <a:avLst/>
            <a:gdLst>
              <a:gd name="T0" fmla="*/ 155 w 306"/>
              <a:gd name="T1" fmla="*/ 0 h 190"/>
              <a:gd name="T2" fmla="*/ 0 w 306"/>
              <a:gd name="T3" fmla="*/ 155 h 190"/>
              <a:gd name="T4" fmla="*/ 39 w 306"/>
              <a:gd name="T5" fmla="*/ 189 h 190"/>
              <a:gd name="T6" fmla="*/ 155 w 306"/>
              <a:gd name="T7" fmla="*/ 73 h 190"/>
              <a:gd name="T8" fmla="*/ 271 w 306"/>
              <a:gd name="T9" fmla="*/ 189 h 190"/>
              <a:gd name="T10" fmla="*/ 305 w 306"/>
              <a:gd name="T11" fmla="*/ 155 h 190"/>
              <a:gd name="T12" fmla="*/ 155 w 306"/>
              <a:gd name="T13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6" h="190">
                <a:moveTo>
                  <a:pt x="155" y="0"/>
                </a:moveTo>
                <a:lnTo>
                  <a:pt x="0" y="155"/>
                </a:lnTo>
                <a:lnTo>
                  <a:pt x="39" y="189"/>
                </a:lnTo>
                <a:lnTo>
                  <a:pt x="155" y="73"/>
                </a:lnTo>
                <a:lnTo>
                  <a:pt x="271" y="189"/>
                </a:lnTo>
                <a:lnTo>
                  <a:pt x="305" y="155"/>
                </a:lnTo>
                <a:lnTo>
                  <a:pt x="155" y="0"/>
                </a:ln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none" lIns="0" tIns="0" rIns="0" bIns="0" anchor="ctr"/>
          <a:lstStyle>
            <a:defPPr>
              <a:defRPr lang="id-ID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Roboto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1633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691552" y="3751132"/>
            <a:ext cx="70532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1100" b="1" dirty="0">
                <a:solidFill>
                  <a:prstClr val="white">
                    <a:lumMod val="50000"/>
                  </a:prstClr>
                </a:solidFill>
              </a:rPr>
              <a:t>+</a:t>
            </a:r>
            <a:endParaRPr lang="en-US" sz="1100" b="1" dirty="0">
              <a:solidFill>
                <a:prstClr val="white">
                  <a:lumMod val="50000"/>
                </a:prstClr>
              </a:solidFill>
            </a:endParaRPr>
          </a:p>
        </p:txBody>
      </p:sp>
      <p:grpSp>
        <p:nvGrpSpPr>
          <p:cNvPr id="5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819611" y="4195034"/>
            <a:ext cx="107839" cy="109736"/>
            <a:chOff x="554563" y="2632644"/>
            <a:chExt cx="131556" cy="131556"/>
          </a:xfrm>
          <a:solidFill>
            <a:srgbClr val="FFC000"/>
          </a:solidFill>
        </p:grpSpPr>
        <p:sp>
          <p:nvSpPr>
            <p:cNvPr id="6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8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6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819611" y="4392860"/>
            <a:ext cx="107839" cy="109736"/>
            <a:chOff x="554563" y="2632644"/>
            <a:chExt cx="131556" cy="131556"/>
          </a:xfrm>
          <a:solidFill>
            <a:srgbClr val="92D050"/>
          </a:solidFill>
        </p:grpSpPr>
        <p:sp>
          <p:nvSpPr>
            <p:cNvPr id="6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6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6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5039388" y="2559458"/>
            <a:ext cx="914400" cy="285750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440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BfEzuTqNME3tyH47IqLgUMbGw+YPaPQeyAtWIkWMNdA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BfEzuTqNME3tyH47IqLgUMbGw+YPaPQeyAtWIkWMNdA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UItfbbf56VsV801Tm1+ZLniuImKs/t58DPI7x5bnHgM=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66"/>
        </a:solidFill>
      </a:spPr>
      <a:bodyPr wrap="none" lIns="36000" tIns="36000" rIns="36000" bIns="36000" rtlCol="0" anchor="ctr">
        <a:noAutofit/>
      </a:bodyPr>
      <a:lstStyle>
        <a:defPPr algn="ctr">
          <a:lnSpc>
            <a:spcPct val="115000"/>
          </a:lnSpc>
          <a:spcAft>
            <a:spcPts val="1000"/>
          </a:spcAft>
          <a:defRPr sz="800" dirty="0" smtClean="0">
            <a:solidFill>
              <a:schemeClr val="tx1">
                <a:lumMod val="75000"/>
                <a:lumOff val="25000"/>
              </a:schemeClr>
            </a:solidFill>
            <a:latin typeface="나눔고딕" pitchFamily="50" charset="-127"/>
            <a:ea typeface="나눔고딕" pitchFamily="50" charset="-127"/>
          </a:defRPr>
        </a:defPPr>
      </a:lstStyle>
    </a:spDef>
    <a:lnDef>
      <a:spPr>
        <a:ln w="3175">
          <a:solidFill>
            <a:schemeClr val="tx1">
              <a:lumMod val="95000"/>
              <a:lumOff val="5000"/>
            </a:schemeClr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72000" rIns="72000" rtlCol="0" anchor="ctr">
        <a:noAutofit/>
      </a:bodyPr>
      <a:lstStyle>
        <a:defPPr>
          <a:defRPr sz="800" smtClean="0">
            <a:solidFill>
              <a:schemeClr val="tx1">
                <a:lumMod val="75000"/>
                <a:lumOff val="25000"/>
              </a:schemeClr>
            </a:solidFill>
            <a:latin typeface="나눔고딕" panose="020B0600000101010101" charset="-127"/>
            <a:ea typeface="나눔고딕" panose="020B0600000101010101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Trebuchet MS"/>
        <a:ea typeface="맑은 고딕"/>
        <a:cs typeface=""/>
      </a:majorFont>
      <a:minorFont>
        <a:latin typeface="Taho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36000" tIns="36000" rIns="36000" bIns="36000" rtlCol="0">
        <a:spAutoFit/>
      </a:bodyPr>
      <a:lstStyle>
        <a:defPPr>
          <a:defRPr sz="600" dirty="0">
            <a:solidFill>
              <a:schemeClr val="tx1">
                <a:lumMod val="75000"/>
                <a:lumOff val="25000"/>
              </a:schemeClr>
            </a:solidFill>
            <a:latin typeface="+mn-ea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52460</TotalTime>
  <Words>10963</Words>
  <Application>Microsoft Office PowerPoint</Application>
  <PresentationFormat>와이드스크린</PresentationFormat>
  <Paragraphs>4225</Paragraphs>
  <Slides>72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24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72</vt:i4>
      </vt:variant>
    </vt:vector>
  </HeadingPairs>
  <TitlesOfParts>
    <vt:vector size="100" baseType="lpstr">
      <vt:lpstr>Apple SD 산돌고딕 Neo 볼드체</vt:lpstr>
      <vt:lpstr>HY견고딕</vt:lpstr>
      <vt:lpstr>Mangal</vt:lpstr>
      <vt:lpstr>ＭＳ Ｐゴシック</vt:lpstr>
      <vt:lpstr>Nanum Gothic</vt:lpstr>
      <vt:lpstr>Roboto</vt:lpstr>
      <vt:lpstr>굴림</vt:lpstr>
      <vt:lpstr>나눔고딕</vt:lpstr>
      <vt:lpstr>나눔고딕 ExtraBold</vt:lpstr>
      <vt:lpstr>나눔고딕코딩</vt:lpstr>
      <vt:lpstr>나눔스퀘어 Bold</vt:lpstr>
      <vt:lpstr>돋움</vt:lpstr>
      <vt:lpstr>맑은 고딕</vt:lpstr>
      <vt:lpstr>맑은 고딕</vt:lpstr>
      <vt:lpstr>Arial</vt:lpstr>
      <vt:lpstr>Calibri</vt:lpstr>
      <vt:lpstr>Franklin Gothic Demi Cond</vt:lpstr>
      <vt:lpstr>Helvetica</vt:lpstr>
      <vt:lpstr>Segoe UI</vt:lpstr>
      <vt:lpstr>Tahoma</vt:lpstr>
      <vt:lpstr>Trebuchet MS</vt:lpstr>
      <vt:lpstr>Tw Cen MT</vt:lpstr>
      <vt:lpstr>Verdana</vt:lpstr>
      <vt:lpstr>Wingdings</vt:lpstr>
      <vt:lpstr>디자인 사용자 지정</vt:lpstr>
      <vt:lpstr>3_디자인 사용자 지정</vt:lpstr>
      <vt:lpstr>2_디자인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8. 설비예약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vinyl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HSK-rbdyd</dc:creator>
  <cp:lastModifiedBy>HSK-rbdyd</cp:lastModifiedBy>
  <cp:revision>2771</cp:revision>
  <cp:lastPrinted>2017-11-23T01:51:44Z</cp:lastPrinted>
  <dcterms:created xsi:type="dcterms:W3CDTF">2011-02-01T05:54:11Z</dcterms:created>
  <dcterms:modified xsi:type="dcterms:W3CDTF">2018-03-27T04:25:19Z</dcterms:modified>
</cp:coreProperties>
</file>