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3.xml" ContentType="application/vnd.openxmlformats-officedocument.them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4.xml" ContentType="application/vnd.openxmlformats-officedocument.theme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5.xml" ContentType="application/vnd.openxmlformats-officedocument.them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heme/theme6.xml" ContentType="application/vnd.openxmlformats-officedocument.theme+xml"/>
  <Override PartName="/ppt/theme/theme7.xml" ContentType="application/vnd.openxmlformats-officedocument.them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5034" r:id="rId1"/>
    <p:sldMasterId id="2147485009" r:id="rId2"/>
    <p:sldMasterId id="2147485038" r:id="rId3"/>
    <p:sldMasterId id="2147485043" r:id="rId4"/>
    <p:sldMasterId id="2147485046" r:id="rId5"/>
  </p:sldMasterIdLst>
  <p:notesMasterIdLst>
    <p:notesMasterId r:id="rId108"/>
  </p:notesMasterIdLst>
  <p:handoutMasterIdLst>
    <p:handoutMasterId r:id="rId109"/>
  </p:handoutMasterIdLst>
  <p:sldIdLst>
    <p:sldId id="256" r:id="rId6"/>
    <p:sldId id="257" r:id="rId7"/>
    <p:sldId id="533" r:id="rId8"/>
    <p:sldId id="609" r:id="rId9"/>
    <p:sldId id="330" r:id="rId10"/>
    <p:sldId id="359" r:id="rId11"/>
    <p:sldId id="329" r:id="rId12"/>
    <p:sldId id="513" r:id="rId13"/>
    <p:sldId id="514" r:id="rId14"/>
    <p:sldId id="332" r:id="rId15"/>
    <p:sldId id="536" r:id="rId16"/>
    <p:sldId id="556" r:id="rId17"/>
    <p:sldId id="537" r:id="rId18"/>
    <p:sldId id="339" r:id="rId19"/>
    <p:sldId id="412" r:id="rId20"/>
    <p:sldId id="499" r:id="rId21"/>
    <p:sldId id="500" r:id="rId22"/>
    <p:sldId id="501" r:id="rId23"/>
    <p:sldId id="502" r:id="rId24"/>
    <p:sldId id="542" r:id="rId25"/>
    <p:sldId id="411" r:id="rId26"/>
    <p:sldId id="543" r:id="rId27"/>
    <p:sldId id="546" r:id="rId28"/>
    <p:sldId id="550" r:id="rId29"/>
    <p:sldId id="548" r:id="rId30"/>
    <p:sldId id="413" r:id="rId31"/>
    <p:sldId id="551" r:id="rId32"/>
    <p:sldId id="545" r:id="rId33"/>
    <p:sldId id="506" r:id="rId34"/>
    <p:sldId id="509" r:id="rId35"/>
    <p:sldId id="492" r:id="rId36"/>
    <p:sldId id="353" r:id="rId37"/>
    <p:sldId id="358" r:id="rId38"/>
    <p:sldId id="417" r:id="rId39"/>
    <p:sldId id="519" r:id="rId40"/>
    <p:sldId id="484" r:id="rId41"/>
    <p:sldId id="485" r:id="rId42"/>
    <p:sldId id="521" r:id="rId43"/>
    <p:sldId id="518" r:id="rId44"/>
    <p:sldId id="523" r:id="rId45"/>
    <p:sldId id="511" r:id="rId46"/>
    <p:sldId id="516" r:id="rId47"/>
    <p:sldId id="517" r:id="rId48"/>
    <p:sldId id="522" r:id="rId49"/>
    <p:sldId id="434" r:id="rId50"/>
    <p:sldId id="594" r:id="rId51"/>
    <p:sldId id="595" r:id="rId52"/>
    <p:sldId id="598" r:id="rId53"/>
    <p:sldId id="596" r:id="rId54"/>
    <p:sldId id="597" r:id="rId55"/>
    <p:sldId id="586" r:id="rId56"/>
    <p:sldId id="590" r:id="rId57"/>
    <p:sldId id="601" r:id="rId58"/>
    <p:sldId id="602" r:id="rId59"/>
    <p:sldId id="588" r:id="rId60"/>
    <p:sldId id="600" r:id="rId61"/>
    <p:sldId id="603" r:id="rId62"/>
    <p:sldId id="467" r:id="rId63"/>
    <p:sldId id="466" r:id="rId64"/>
    <p:sldId id="493" r:id="rId65"/>
    <p:sldId id="487" r:id="rId66"/>
    <p:sldId id="491" r:id="rId67"/>
    <p:sldId id="494" r:id="rId68"/>
    <p:sldId id="444" r:id="rId69"/>
    <p:sldId id="445" r:id="rId70"/>
    <p:sldId id="438" r:id="rId71"/>
    <p:sldId id="446" r:id="rId72"/>
    <p:sldId id="528" r:id="rId73"/>
    <p:sldId id="495" r:id="rId74"/>
    <p:sldId id="515" r:id="rId75"/>
    <p:sldId id="504" r:id="rId76"/>
    <p:sldId id="610" r:id="rId77"/>
    <p:sldId id="496" r:id="rId78"/>
    <p:sldId id="581" r:id="rId79"/>
    <p:sldId id="583" r:id="rId80"/>
    <p:sldId id="582" r:id="rId81"/>
    <p:sldId id="398" r:id="rId82"/>
    <p:sldId id="454" r:id="rId83"/>
    <p:sldId id="608" r:id="rId84"/>
    <p:sldId id="497" r:id="rId85"/>
    <p:sldId id="471" r:id="rId86"/>
    <p:sldId id="498" r:id="rId87"/>
    <p:sldId id="453" r:id="rId88"/>
    <p:sldId id="479" r:id="rId89"/>
    <p:sldId id="480" r:id="rId90"/>
    <p:sldId id="357" r:id="rId91"/>
    <p:sldId id="365" r:id="rId92"/>
    <p:sldId id="389" r:id="rId93"/>
    <p:sldId id="392" r:id="rId94"/>
    <p:sldId id="390" r:id="rId95"/>
    <p:sldId id="562" r:id="rId96"/>
    <p:sldId id="558" r:id="rId97"/>
    <p:sldId id="561" r:id="rId98"/>
    <p:sldId id="567" r:id="rId99"/>
    <p:sldId id="563" r:id="rId100"/>
    <p:sldId id="568" r:id="rId101"/>
    <p:sldId id="564" r:id="rId102"/>
    <p:sldId id="569" r:id="rId103"/>
    <p:sldId id="565" r:id="rId104"/>
    <p:sldId id="570" r:id="rId105"/>
    <p:sldId id="566" r:id="rId106"/>
    <p:sldId id="571" r:id="rId107"/>
  </p:sldIdLst>
  <p:sldSz cx="12192000" cy="6858000"/>
  <p:notesSz cx="6797675" cy="9926638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74D76028-AD71-4528-8F85-50E0D84C89E9}">
          <p14:sldIdLst>
            <p14:sldId id="256"/>
            <p14:sldId id="257"/>
            <p14:sldId id="533"/>
            <p14:sldId id="609"/>
          </p14:sldIdLst>
        </p14:section>
        <p14:section name="Structure" id="{A78FF789-8460-4253-8E88-FCFF993EC42E}">
          <p14:sldIdLst>
            <p14:sldId id="330"/>
            <p14:sldId id="359"/>
            <p14:sldId id="329"/>
            <p14:sldId id="513"/>
            <p14:sldId id="514"/>
            <p14:sldId id="332"/>
            <p14:sldId id="536"/>
            <p14:sldId id="556"/>
          </p14:sldIdLst>
        </p14:section>
        <p14:section name="Main" id="{DAD29EFA-644C-4FC1-9C8A-3D1E47FFF6CE}">
          <p14:sldIdLst>
            <p14:sldId id="537"/>
            <p14:sldId id="339"/>
            <p14:sldId id="412"/>
            <p14:sldId id="499"/>
            <p14:sldId id="500"/>
            <p14:sldId id="501"/>
            <p14:sldId id="502"/>
            <p14:sldId id="542"/>
            <p14:sldId id="411"/>
            <p14:sldId id="543"/>
            <p14:sldId id="546"/>
            <p14:sldId id="550"/>
            <p14:sldId id="548"/>
            <p14:sldId id="413"/>
            <p14:sldId id="551"/>
            <p14:sldId id="545"/>
            <p14:sldId id="506"/>
            <p14:sldId id="509"/>
          </p14:sldIdLst>
        </p14:section>
        <p14:section name="그룹_워크피드" id="{C5358087-FEB8-480F-A55A-90FE56FDDC0D}">
          <p14:sldIdLst>
            <p14:sldId id="492"/>
            <p14:sldId id="353"/>
            <p14:sldId id="358"/>
            <p14:sldId id="417"/>
            <p14:sldId id="519"/>
            <p14:sldId id="484"/>
            <p14:sldId id="485"/>
            <p14:sldId id="521"/>
            <p14:sldId id="518"/>
            <p14:sldId id="523"/>
            <p14:sldId id="511"/>
            <p14:sldId id="516"/>
            <p14:sldId id="517"/>
            <p14:sldId id="522"/>
          </p14:sldIdLst>
        </p14:section>
        <p14:section name="그룹_글쓰기" id="{1F809674-D14A-48D2-B0DB-3ACAF21A26FC}">
          <p14:sldIdLst>
            <p14:sldId id="434"/>
            <p14:sldId id="594"/>
            <p14:sldId id="595"/>
            <p14:sldId id="598"/>
            <p14:sldId id="596"/>
            <p14:sldId id="597"/>
            <p14:sldId id="586"/>
            <p14:sldId id="590"/>
            <p14:sldId id="601"/>
            <p14:sldId id="602"/>
            <p14:sldId id="588"/>
            <p14:sldId id="600"/>
            <p14:sldId id="603"/>
            <p14:sldId id="467"/>
            <p14:sldId id="466"/>
          </p14:sldIdLst>
        </p14:section>
        <p14:section name="그룹_사진" id="{23B56F24-24C3-47B7-81DC-F95192A82210}">
          <p14:sldIdLst>
            <p14:sldId id="493"/>
            <p14:sldId id="487"/>
            <p14:sldId id="491"/>
          </p14:sldIdLst>
        </p14:section>
        <p14:section name="그룹_파일" id="{DF0AE459-E368-4D1C-B2CA-3546922467D5}">
          <p14:sldIdLst>
            <p14:sldId id="494"/>
            <p14:sldId id="444"/>
            <p14:sldId id="445"/>
            <p14:sldId id="438"/>
            <p14:sldId id="446"/>
            <p14:sldId id="528"/>
          </p14:sldIdLst>
        </p14:section>
        <p14:section name="그룹_멤버" id="{7B89316A-2716-45E6-8971-DD7BF994F3F0}">
          <p14:sldIdLst>
            <p14:sldId id="495"/>
            <p14:sldId id="515"/>
            <p14:sldId id="504"/>
            <p14:sldId id="610"/>
          </p14:sldIdLst>
        </p14:section>
        <p14:section name="그룹_일정" id="{49A273CD-606A-417C-BC79-AAEE6E367876}">
          <p14:sldIdLst>
            <p14:sldId id="496"/>
            <p14:sldId id="581"/>
            <p14:sldId id="583"/>
            <p14:sldId id="582"/>
            <p14:sldId id="398"/>
            <p14:sldId id="454"/>
            <p14:sldId id="608"/>
          </p14:sldIdLst>
        </p14:section>
        <p14:section name="그룹_보고" id="{A393490F-D996-4802-8E57-7EAFC822889F}">
          <p14:sldIdLst>
            <p14:sldId id="497"/>
            <p14:sldId id="471"/>
          </p14:sldIdLst>
        </p14:section>
        <p14:section name="그룹_공지" id="{B4573F26-C660-4654-9131-9B5FF824350E}">
          <p14:sldIdLst>
            <p14:sldId id="498"/>
            <p14:sldId id="453"/>
          </p14:sldIdLst>
        </p14:section>
        <p14:section name="공개 그룹/종료된 그룹" id="{7877469C-5904-4C00-8745-653DDE61B5B5}">
          <p14:sldIdLst>
            <p14:sldId id="479"/>
            <p14:sldId id="480"/>
          </p14:sldIdLst>
        </p14:section>
        <p14:section name="그룹만들기" id="{B79FA5D8-E3B1-4EDE-BEB6-362C95A5B44B}">
          <p14:sldIdLst>
            <p14:sldId id="357"/>
          </p14:sldIdLst>
        </p14:section>
        <p14:section name="환경설정" id="{4436693B-3A7B-4747-B504-F93B9DDFEBC1}">
          <p14:sldIdLst>
            <p14:sldId id="365"/>
            <p14:sldId id="389"/>
            <p14:sldId id="392"/>
            <p14:sldId id="390"/>
          </p14:sldIdLst>
        </p14:section>
        <p14:section name="검색" id="{CD2D3B14-3A7A-4132-AFDE-5DE1082BA551}">
          <p14:sldIdLst>
            <p14:sldId id="562"/>
            <p14:sldId id="558"/>
            <p14:sldId id="561"/>
            <p14:sldId id="567"/>
            <p14:sldId id="563"/>
            <p14:sldId id="568"/>
            <p14:sldId id="564"/>
            <p14:sldId id="569"/>
            <p14:sldId id="565"/>
            <p14:sldId id="570"/>
            <p14:sldId id="566"/>
            <p14:sldId id="571"/>
          </p14:sldIdLst>
        </p14:section>
      </p14:sectionLst>
    </p:ext>
    <p:ext uri="{EFAFB233-063F-42B5-8137-9DF3F51BA10A}">
      <p15:sldGuideLst xmlns:p15="http://schemas.microsoft.com/office/powerpoint/2012/main">
        <p15:guide id="7" pos="1644" userDrawn="1">
          <p15:clr>
            <a:srgbClr val="A4A3A4"/>
          </p15:clr>
        </p15:guide>
        <p15:guide id="8" pos="4316" userDrawn="1">
          <p15:clr>
            <a:srgbClr val="A4A3A4"/>
          </p15:clr>
        </p15:guide>
        <p15:guide id="9" orient="horz" pos="1338" userDrawn="1">
          <p15:clr>
            <a:srgbClr val="A4A3A4"/>
          </p15:clr>
        </p15:guide>
        <p15:guide id="10" orient="horz" pos="414" userDrawn="1">
          <p15:clr>
            <a:srgbClr val="A4A3A4"/>
          </p15:clr>
        </p15:guide>
        <p15:guide id="11" pos="5677" userDrawn="1">
          <p15:clr>
            <a:srgbClr val="A4A3A4"/>
          </p15:clr>
        </p15:guide>
        <p15:guide id="12" orient="horz" pos="731" userDrawn="1">
          <p15:clr>
            <a:srgbClr val="A4A3A4"/>
          </p15:clr>
        </p15:guide>
        <p15:guide id="13" orient="horz" pos="3113" userDrawn="1">
          <p15:clr>
            <a:srgbClr val="A4A3A4"/>
          </p15:clr>
        </p15:guide>
        <p15:guide id="14" pos="3840" userDrawn="1">
          <p15:clr>
            <a:srgbClr val="A4A3A4"/>
          </p15:clr>
        </p15:guide>
        <p15:guide id="15" userDrawn="1">
          <p15:clr>
            <a:srgbClr val="A4A3A4"/>
          </p15:clr>
        </p15:guide>
        <p15:guide id="16" orient="horz" pos="70">
          <p15:clr>
            <a:srgbClr val="A4A3A4"/>
          </p15:clr>
        </p15:guide>
        <p15:guide id="17" orient="horz" pos="210" userDrawn="1">
          <p15:clr>
            <a:srgbClr val="A4A3A4"/>
          </p15:clr>
        </p15:guide>
        <p15:guide id="18" orient="horz" pos="504">
          <p15:clr>
            <a:srgbClr val="A4A3A4"/>
          </p15:clr>
        </p15:guide>
        <p15:guide id="19" orient="horz" pos="677">
          <p15:clr>
            <a:srgbClr val="A4A3A4"/>
          </p15:clr>
        </p15:guide>
        <p15:guide id="20" orient="horz" pos="4178" userDrawn="1">
          <p15:clr>
            <a:srgbClr val="A4A3A4"/>
          </p15:clr>
        </p15:guide>
        <p15:guide id="21" pos="726">
          <p15:clr>
            <a:srgbClr val="A4A3A4"/>
          </p15:clr>
        </p15:guide>
        <p15:guide id="22" pos="7296">
          <p15:clr>
            <a:srgbClr val="A4A3A4"/>
          </p15:clr>
        </p15:guide>
        <p15:guide id="23" pos="30" userDrawn="1">
          <p15:clr>
            <a:srgbClr val="A4A3A4"/>
          </p15:clr>
        </p15:guide>
        <p15:guide id="24" pos="311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FF6699"/>
    <a:srgbClr val="FF99CC"/>
    <a:srgbClr val="FF00FF"/>
    <a:srgbClr val="FF33CC"/>
    <a:srgbClr val="2E6FFD"/>
    <a:srgbClr val="7F7F7F"/>
    <a:srgbClr val="595959"/>
    <a:srgbClr val="7075F8"/>
    <a:srgbClr val="C0B8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5BE263C-DBD7-4A20-BB59-AAB30ACAA65A}" styleName="보통 스타일 3 - 강조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2833802-FEF1-4C79-8D5D-14CF1EAF98D9}" styleName="밝은 스타일 2 - 강조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198" autoAdjust="0"/>
    <p:restoredTop sz="61054" autoAdjust="0"/>
  </p:normalViewPr>
  <p:slideViewPr>
    <p:cSldViewPr snapToGrid="0" snapToObjects="1">
      <p:cViewPr varScale="1">
        <p:scale>
          <a:sx n="80" d="100"/>
          <a:sy n="80" d="100"/>
        </p:scale>
        <p:origin x="792" y="48"/>
      </p:cViewPr>
      <p:guideLst>
        <p:guide pos="1644"/>
        <p:guide pos="4316"/>
        <p:guide orient="horz" pos="1338"/>
        <p:guide orient="horz" pos="414"/>
        <p:guide pos="5677"/>
        <p:guide orient="horz" pos="731"/>
        <p:guide orient="horz" pos="3113"/>
        <p:guide pos="3840"/>
        <p:guide/>
        <p:guide orient="horz" pos="70"/>
        <p:guide orient="horz" pos="210"/>
        <p:guide orient="horz" pos="504"/>
        <p:guide orient="horz" pos="677"/>
        <p:guide orient="horz" pos="4178"/>
        <p:guide pos="726"/>
        <p:guide pos="7296"/>
        <p:guide pos="30"/>
        <p:guide pos="3114"/>
      </p:guideLst>
    </p:cSldViewPr>
  </p:slideViewPr>
  <p:outlineViewPr>
    <p:cViewPr>
      <p:scale>
        <a:sx n="33" d="100"/>
        <a:sy n="33" d="100"/>
      </p:scale>
      <p:origin x="0" y="894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 snapToObjects="1">
      <p:cViewPr varScale="1">
        <p:scale>
          <a:sx n="84" d="100"/>
          <a:sy n="84" d="100"/>
        </p:scale>
        <p:origin x="-3954" y="-96"/>
      </p:cViewPr>
      <p:guideLst>
        <p:guide orient="horz" pos="3126"/>
        <p:guide pos="2141"/>
      </p:guideLst>
    </p:cSldViewPr>
  </p:notesViewPr>
  <p:gridSpacing cx="45005" cy="45005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84" Type="http://schemas.openxmlformats.org/officeDocument/2006/relationships/slide" Target="slides/slide79.xml"/><Relationship Id="rId89" Type="http://schemas.openxmlformats.org/officeDocument/2006/relationships/slide" Target="slides/slide84.xml"/><Relationship Id="rId112" Type="http://schemas.openxmlformats.org/officeDocument/2006/relationships/theme" Target="theme/theme1.xml"/><Relationship Id="rId16" Type="http://schemas.openxmlformats.org/officeDocument/2006/relationships/slide" Target="slides/slide11.xml"/><Relationship Id="rId107" Type="http://schemas.openxmlformats.org/officeDocument/2006/relationships/slide" Target="slides/slide102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slide" Target="slides/slide74.xml"/><Relationship Id="rId102" Type="http://schemas.openxmlformats.org/officeDocument/2006/relationships/slide" Target="slides/slide97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5.xml"/><Relationship Id="rId95" Type="http://schemas.openxmlformats.org/officeDocument/2006/relationships/slide" Target="slides/slide90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113" Type="http://schemas.openxmlformats.org/officeDocument/2006/relationships/tableStyles" Target="tableStyles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59" Type="http://schemas.openxmlformats.org/officeDocument/2006/relationships/slide" Target="slides/slide54.xml"/><Relationship Id="rId103" Type="http://schemas.openxmlformats.org/officeDocument/2006/relationships/slide" Target="slides/slide98.xml"/><Relationship Id="rId108" Type="http://schemas.openxmlformats.org/officeDocument/2006/relationships/notesMaster" Target="notesMasters/notesMaster1.xml"/><Relationship Id="rId54" Type="http://schemas.openxmlformats.org/officeDocument/2006/relationships/slide" Target="slides/slide49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91" Type="http://schemas.openxmlformats.org/officeDocument/2006/relationships/slide" Target="slides/slide86.xml"/><Relationship Id="rId96" Type="http://schemas.openxmlformats.org/officeDocument/2006/relationships/slide" Target="slides/slide9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6" Type="http://schemas.openxmlformats.org/officeDocument/2006/relationships/slide" Target="slides/slide101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94" Type="http://schemas.openxmlformats.org/officeDocument/2006/relationships/slide" Target="slides/slide89.xml"/><Relationship Id="rId99" Type="http://schemas.openxmlformats.org/officeDocument/2006/relationships/slide" Target="slides/slide94.xml"/><Relationship Id="rId101" Type="http://schemas.openxmlformats.org/officeDocument/2006/relationships/slide" Target="slides/slide96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109" Type="http://schemas.openxmlformats.org/officeDocument/2006/relationships/handoutMaster" Target="handoutMasters/handoutMaster1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slide" Target="slides/slide92.xml"/><Relationship Id="rId104" Type="http://schemas.openxmlformats.org/officeDocument/2006/relationships/slide" Target="slides/slide99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110" Type="http://schemas.openxmlformats.org/officeDocument/2006/relationships/presProps" Target="presProps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slide" Target="slides/slide95.xml"/><Relationship Id="rId105" Type="http://schemas.openxmlformats.org/officeDocument/2006/relationships/slide" Target="slides/slide100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slide" Target="slides/slide93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0.xml"/><Relationship Id="rId46" Type="http://schemas.openxmlformats.org/officeDocument/2006/relationships/slide" Target="slides/slide41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62" Type="http://schemas.openxmlformats.org/officeDocument/2006/relationships/slide" Target="slides/slide57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111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448" cy="496253"/>
          </a:xfrm>
          <a:prstGeom prst="rect">
            <a:avLst/>
          </a:prstGeom>
        </p:spPr>
        <p:txBody>
          <a:bodyPr vert="horz" lIns="91312" tIns="45656" rIns="91312" bIns="45656" rtlCol="0"/>
          <a:lstStyle>
            <a:lvl1pPr algn="l">
              <a:defRPr sz="1200"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50643" y="0"/>
            <a:ext cx="2945448" cy="496253"/>
          </a:xfrm>
          <a:prstGeom prst="rect">
            <a:avLst/>
          </a:prstGeom>
        </p:spPr>
        <p:txBody>
          <a:bodyPr vert="horz" lIns="91312" tIns="45656" rIns="91312" bIns="45656" rtlCol="0"/>
          <a:lstStyle>
            <a:lvl1pPr algn="r">
              <a:defRPr sz="1200"/>
            </a:lvl1pPr>
          </a:lstStyle>
          <a:p>
            <a:pPr>
              <a:defRPr/>
            </a:pPr>
            <a:fld id="{51B664AD-C4EC-484B-B50A-8C6F83EF08F0}" type="datetimeFigureOut">
              <a:rPr lang="ko-KR" altLang="en-US"/>
              <a:pPr>
                <a:defRPr/>
              </a:pPr>
              <a:t>2018-03-30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8800"/>
            <a:ext cx="2945448" cy="496252"/>
          </a:xfrm>
          <a:prstGeom prst="rect">
            <a:avLst/>
          </a:prstGeom>
        </p:spPr>
        <p:txBody>
          <a:bodyPr vert="horz" lIns="91312" tIns="45656" rIns="91312" bIns="45656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50643" y="9428800"/>
            <a:ext cx="2945448" cy="496252"/>
          </a:xfrm>
          <a:prstGeom prst="rect">
            <a:avLst/>
          </a:prstGeom>
        </p:spPr>
        <p:txBody>
          <a:bodyPr vert="horz" lIns="91312" tIns="45656" rIns="91312" bIns="45656" rtlCol="0" anchor="b"/>
          <a:lstStyle>
            <a:lvl1pPr algn="r">
              <a:defRPr sz="1200"/>
            </a:lvl1pPr>
          </a:lstStyle>
          <a:p>
            <a:pPr>
              <a:defRPr/>
            </a:pPr>
            <a:fld id="{9FAF0397-1E63-4BEE-AE82-6522F530A705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5265695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448" cy="496253"/>
          </a:xfrm>
          <a:prstGeom prst="rect">
            <a:avLst/>
          </a:prstGeom>
        </p:spPr>
        <p:txBody>
          <a:bodyPr vert="horz" lIns="91312" tIns="45656" rIns="91312" bIns="45656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643" y="0"/>
            <a:ext cx="2945448" cy="496253"/>
          </a:xfrm>
          <a:prstGeom prst="rect">
            <a:avLst/>
          </a:prstGeom>
        </p:spPr>
        <p:txBody>
          <a:bodyPr vert="horz" lIns="91312" tIns="45656" rIns="91312" bIns="45656" rtlCol="0"/>
          <a:lstStyle>
            <a:lvl1pPr algn="r">
              <a:defRPr sz="1200"/>
            </a:lvl1pPr>
          </a:lstStyle>
          <a:p>
            <a:fld id="{B1671ED8-3809-4B06-9EAD-C3D980C23EBE}" type="datetimeFigureOut">
              <a:rPr lang="ko-KR" altLang="en-US" smtClean="0"/>
              <a:pPr/>
              <a:t>2018-03-30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2075" y="744538"/>
            <a:ext cx="6613525" cy="3721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312" tIns="45656" rIns="91312" bIns="45656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0085" y="4715192"/>
            <a:ext cx="5437506" cy="4466274"/>
          </a:xfrm>
          <a:prstGeom prst="rect">
            <a:avLst/>
          </a:prstGeom>
        </p:spPr>
        <p:txBody>
          <a:bodyPr vert="horz" lIns="91312" tIns="45656" rIns="91312" bIns="45656" rtlCol="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800"/>
            <a:ext cx="2945448" cy="496252"/>
          </a:xfrm>
          <a:prstGeom prst="rect">
            <a:avLst/>
          </a:prstGeom>
        </p:spPr>
        <p:txBody>
          <a:bodyPr vert="horz" lIns="91312" tIns="45656" rIns="91312" bIns="45656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643" y="9428800"/>
            <a:ext cx="2945448" cy="496252"/>
          </a:xfrm>
          <a:prstGeom prst="rect">
            <a:avLst/>
          </a:prstGeom>
        </p:spPr>
        <p:txBody>
          <a:bodyPr vert="horz" lIns="91312" tIns="45656" rIns="91312" bIns="45656" rtlCol="0" anchor="b"/>
          <a:lstStyle>
            <a:lvl1pPr algn="r">
              <a:defRPr sz="1200"/>
            </a:lvl1pPr>
          </a:lstStyle>
          <a:p>
            <a:fld id="{8A7C340E-E18C-4A02-9B44-DBDB315C4D6A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56523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2" Type="http://schemas.openxmlformats.org/officeDocument/2006/relationships/tags" Target="../tags/tag9.xml"/><Relationship Id="rId1" Type="http://schemas.openxmlformats.org/officeDocument/2006/relationships/tags" Target="../tags/tag8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" Type="http://schemas.openxmlformats.org/officeDocument/2006/relationships/tags" Target="../tags/tag10.xml"/><Relationship Id="rId4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39174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3778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633"/>
          </a:p>
        </p:txBody>
      </p:sp>
      <p:sp>
        <p:nvSpPr>
          <p:cNvPr id="10" name="텍스트 상자 31"/>
          <p:cNvSpPr txBox="1"/>
          <p:nvPr/>
        </p:nvSpPr>
        <p:spPr>
          <a:xfrm>
            <a:off x="52739" y="1050554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kumimoji="1" sz="7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ko-KR" altLang="en-US" sz="800" b="0" dirty="0">
                <a:latin typeface="+mn-ea"/>
                <a:ea typeface="+mn-ea"/>
              </a:rPr>
              <a:t>메일</a:t>
            </a:r>
          </a:p>
        </p:txBody>
      </p:sp>
      <p:sp>
        <p:nvSpPr>
          <p:cNvPr id="11" name="텍스트 상자 38"/>
          <p:cNvSpPr txBox="1"/>
          <p:nvPr/>
        </p:nvSpPr>
        <p:spPr>
          <a:xfrm>
            <a:off x="52739" y="1496068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결재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" name="텍스트 상자 41"/>
          <p:cNvSpPr txBox="1"/>
          <p:nvPr/>
        </p:nvSpPr>
        <p:spPr>
          <a:xfrm>
            <a:off x="52739" y="1941582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업무넷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" name="텍스트 상자 44"/>
          <p:cNvSpPr txBox="1"/>
          <p:nvPr/>
        </p:nvSpPr>
        <p:spPr>
          <a:xfrm>
            <a:off x="52739" y="2389985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" name="텍스트 상자 47"/>
          <p:cNvSpPr txBox="1"/>
          <p:nvPr/>
        </p:nvSpPr>
        <p:spPr>
          <a:xfrm>
            <a:off x="52739" y="2828237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게시판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" name="텍스트 상자 50"/>
          <p:cNvSpPr txBox="1"/>
          <p:nvPr/>
        </p:nvSpPr>
        <p:spPr>
          <a:xfrm>
            <a:off x="52739" y="3264450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" name="텍스트 상자 53"/>
          <p:cNvSpPr txBox="1"/>
          <p:nvPr/>
        </p:nvSpPr>
        <p:spPr>
          <a:xfrm>
            <a:off x="52739" y="3718403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설비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" name="텍스트 상자 56"/>
          <p:cNvSpPr txBox="1"/>
          <p:nvPr/>
        </p:nvSpPr>
        <p:spPr>
          <a:xfrm>
            <a:off x="52739" y="4185072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문서함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" name="텍스트 상자 59"/>
          <p:cNvSpPr txBox="1"/>
          <p:nvPr/>
        </p:nvSpPr>
        <p:spPr>
          <a:xfrm>
            <a:off x="52739" y="4641378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주소록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" name="타원 374"/>
          <p:cNvSpPr/>
          <p:nvPr/>
        </p:nvSpPr>
        <p:spPr>
          <a:xfrm>
            <a:off x="110414" y="786854"/>
            <a:ext cx="244650" cy="24465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0" name="타원 375"/>
          <p:cNvSpPr/>
          <p:nvPr/>
        </p:nvSpPr>
        <p:spPr>
          <a:xfrm>
            <a:off x="110414" y="1230842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1" name="타원 376"/>
          <p:cNvSpPr/>
          <p:nvPr/>
        </p:nvSpPr>
        <p:spPr>
          <a:xfrm>
            <a:off x="110414" y="1676424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2" name="타원 377"/>
          <p:cNvSpPr/>
          <p:nvPr/>
        </p:nvSpPr>
        <p:spPr>
          <a:xfrm>
            <a:off x="110414" y="2125120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3" name="타원 378"/>
          <p:cNvSpPr/>
          <p:nvPr/>
        </p:nvSpPr>
        <p:spPr>
          <a:xfrm>
            <a:off x="110414" y="2568343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4" name="타원 379"/>
          <p:cNvSpPr/>
          <p:nvPr/>
        </p:nvSpPr>
        <p:spPr>
          <a:xfrm>
            <a:off x="110414" y="3000750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5" name="타원 380"/>
          <p:cNvSpPr/>
          <p:nvPr/>
        </p:nvSpPr>
        <p:spPr>
          <a:xfrm>
            <a:off x="110414" y="3447476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6" name="타원 381"/>
          <p:cNvSpPr/>
          <p:nvPr/>
        </p:nvSpPr>
        <p:spPr>
          <a:xfrm>
            <a:off x="110414" y="3908656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7" name="타원 382"/>
          <p:cNvSpPr/>
          <p:nvPr/>
        </p:nvSpPr>
        <p:spPr>
          <a:xfrm>
            <a:off x="110414" y="4370335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grpSp>
        <p:nvGrpSpPr>
          <p:cNvPr id="34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35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52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53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6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4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7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8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9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40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9694705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31286" y="670229"/>
            <a:ext cx="1331526" cy="59972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633"/>
          </a:p>
        </p:txBody>
      </p:sp>
      <p:sp>
        <p:nvSpPr>
          <p:cNvPr id="10" name="텍스트 상자 31"/>
          <p:cNvSpPr txBox="1"/>
          <p:nvPr/>
        </p:nvSpPr>
        <p:spPr>
          <a:xfrm>
            <a:off x="52739" y="1050554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kumimoji="1" sz="7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ko-KR" altLang="en-US" sz="800" b="0" dirty="0">
                <a:latin typeface="+mn-ea"/>
                <a:ea typeface="+mn-ea"/>
              </a:rPr>
              <a:t>메일</a:t>
            </a:r>
          </a:p>
        </p:txBody>
      </p:sp>
      <p:sp>
        <p:nvSpPr>
          <p:cNvPr id="11" name="텍스트 상자 38"/>
          <p:cNvSpPr txBox="1"/>
          <p:nvPr/>
        </p:nvSpPr>
        <p:spPr>
          <a:xfrm>
            <a:off x="52739" y="1496068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결재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" name="텍스트 상자 41"/>
          <p:cNvSpPr txBox="1"/>
          <p:nvPr/>
        </p:nvSpPr>
        <p:spPr>
          <a:xfrm>
            <a:off x="52739" y="1941582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업무넷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" name="텍스트 상자 44"/>
          <p:cNvSpPr txBox="1"/>
          <p:nvPr/>
        </p:nvSpPr>
        <p:spPr>
          <a:xfrm>
            <a:off x="52739" y="2389985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" name="텍스트 상자 47"/>
          <p:cNvSpPr txBox="1"/>
          <p:nvPr/>
        </p:nvSpPr>
        <p:spPr>
          <a:xfrm>
            <a:off x="52739" y="2828237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게시판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" name="텍스트 상자 50"/>
          <p:cNvSpPr txBox="1"/>
          <p:nvPr/>
        </p:nvSpPr>
        <p:spPr>
          <a:xfrm>
            <a:off x="52739" y="3264450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" name="텍스트 상자 53"/>
          <p:cNvSpPr txBox="1"/>
          <p:nvPr/>
        </p:nvSpPr>
        <p:spPr>
          <a:xfrm>
            <a:off x="52739" y="3718403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설비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" name="텍스트 상자 56"/>
          <p:cNvSpPr txBox="1"/>
          <p:nvPr/>
        </p:nvSpPr>
        <p:spPr>
          <a:xfrm>
            <a:off x="52739" y="4185072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문서함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" name="텍스트 상자 59"/>
          <p:cNvSpPr txBox="1"/>
          <p:nvPr/>
        </p:nvSpPr>
        <p:spPr>
          <a:xfrm>
            <a:off x="52739" y="4641378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주소록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" name="타원 374"/>
          <p:cNvSpPr/>
          <p:nvPr/>
        </p:nvSpPr>
        <p:spPr>
          <a:xfrm>
            <a:off x="110414" y="786854"/>
            <a:ext cx="244650" cy="24465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0" name="타원 375"/>
          <p:cNvSpPr/>
          <p:nvPr/>
        </p:nvSpPr>
        <p:spPr>
          <a:xfrm>
            <a:off x="110414" y="1230842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1" name="타원 376"/>
          <p:cNvSpPr/>
          <p:nvPr/>
        </p:nvSpPr>
        <p:spPr>
          <a:xfrm>
            <a:off x="110414" y="1676424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2" name="타원 377"/>
          <p:cNvSpPr/>
          <p:nvPr/>
        </p:nvSpPr>
        <p:spPr>
          <a:xfrm>
            <a:off x="110414" y="2125120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3" name="타원 378"/>
          <p:cNvSpPr/>
          <p:nvPr/>
        </p:nvSpPr>
        <p:spPr>
          <a:xfrm>
            <a:off x="110414" y="2568343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4" name="타원 379"/>
          <p:cNvSpPr/>
          <p:nvPr/>
        </p:nvSpPr>
        <p:spPr>
          <a:xfrm>
            <a:off x="110414" y="3000750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5" name="타원 380"/>
          <p:cNvSpPr/>
          <p:nvPr/>
        </p:nvSpPr>
        <p:spPr>
          <a:xfrm>
            <a:off x="110414" y="3447476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6" name="타원 381"/>
          <p:cNvSpPr/>
          <p:nvPr/>
        </p:nvSpPr>
        <p:spPr>
          <a:xfrm>
            <a:off x="110414" y="3908656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  <p:sp>
        <p:nvSpPr>
          <p:cNvPr id="27" name="타원 382"/>
          <p:cNvSpPr/>
          <p:nvPr/>
        </p:nvSpPr>
        <p:spPr>
          <a:xfrm>
            <a:off x="110414" y="4370335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80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10982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21860" y="670229"/>
            <a:ext cx="1440000" cy="5997270"/>
          </a:xfrm>
          <a:prstGeom prst="rect">
            <a:avLst/>
          </a:prstGeom>
          <a:solidFill>
            <a:srgbClr val="EAEAEA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" name="그룹 4"/>
          <p:cNvGrpSpPr/>
          <p:nvPr userDrawn="1"/>
        </p:nvGrpSpPr>
        <p:grpSpPr>
          <a:xfrm>
            <a:off x="100988" y="786854"/>
            <a:ext cx="270000" cy="2980511"/>
            <a:chOff x="110414" y="786854"/>
            <a:chExt cx="270000" cy="2980511"/>
          </a:xfrm>
        </p:grpSpPr>
        <p:sp>
          <p:nvSpPr>
            <p:cNvPr id="43" name="타원 374"/>
            <p:cNvSpPr>
              <a:spLocks noChangeAspect="1"/>
            </p:cNvSpPr>
            <p:nvPr/>
          </p:nvSpPr>
          <p:spPr>
            <a:xfrm>
              <a:off x="110414" y="786854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타원 375"/>
            <p:cNvSpPr>
              <a:spLocks noChangeAspect="1"/>
            </p:cNvSpPr>
            <p:nvPr/>
          </p:nvSpPr>
          <p:spPr>
            <a:xfrm>
              <a:off x="110414" y="112424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타원 376"/>
            <p:cNvSpPr>
              <a:spLocks noChangeAspect="1"/>
            </p:cNvSpPr>
            <p:nvPr/>
          </p:nvSpPr>
          <p:spPr>
            <a:xfrm>
              <a:off x="110414" y="1460103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타원 377"/>
            <p:cNvSpPr>
              <a:spLocks noChangeAspect="1"/>
            </p:cNvSpPr>
            <p:nvPr/>
          </p:nvSpPr>
          <p:spPr>
            <a:xfrm>
              <a:off x="110414" y="1798958"/>
              <a:ext cx="270000" cy="27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65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타원 378"/>
            <p:cNvSpPr>
              <a:spLocks noChangeAspect="1"/>
            </p:cNvSpPr>
            <p:nvPr/>
          </p:nvSpPr>
          <p:spPr>
            <a:xfrm>
              <a:off x="110414" y="213878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타원 379"/>
            <p:cNvSpPr>
              <a:spLocks noChangeAspect="1"/>
            </p:cNvSpPr>
            <p:nvPr/>
          </p:nvSpPr>
          <p:spPr>
            <a:xfrm>
              <a:off x="110414" y="2477636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타원 380"/>
            <p:cNvSpPr>
              <a:spLocks noChangeAspect="1"/>
            </p:cNvSpPr>
            <p:nvPr/>
          </p:nvSpPr>
          <p:spPr>
            <a:xfrm>
              <a:off x="110414" y="281649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타원 381"/>
            <p:cNvSpPr>
              <a:spLocks noChangeAspect="1"/>
            </p:cNvSpPr>
            <p:nvPr/>
          </p:nvSpPr>
          <p:spPr>
            <a:xfrm>
              <a:off x="110414" y="315692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타원 382"/>
            <p:cNvSpPr>
              <a:spLocks noChangeAspect="1"/>
            </p:cNvSpPr>
            <p:nvPr/>
          </p:nvSpPr>
          <p:spPr>
            <a:xfrm>
              <a:off x="110414" y="3497365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1" name="그룹 60"/>
          <p:cNvGrpSpPr/>
          <p:nvPr userDrawn="1"/>
        </p:nvGrpSpPr>
        <p:grpSpPr>
          <a:xfrm>
            <a:off x="5036815" y="409849"/>
            <a:ext cx="2968666" cy="216000"/>
            <a:chOff x="2305531" y="1335166"/>
            <a:chExt cx="2968666" cy="216000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2305531" y="1335166"/>
              <a:ext cx="2968666" cy="2160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63" name="그룹 62"/>
            <p:cNvGrpSpPr/>
            <p:nvPr/>
          </p:nvGrpSpPr>
          <p:grpSpPr>
            <a:xfrm>
              <a:off x="2449590" y="1335166"/>
              <a:ext cx="2355694" cy="216000"/>
              <a:chOff x="2431066" y="4910563"/>
              <a:chExt cx="2355694" cy="216000"/>
            </a:xfrm>
          </p:grpSpPr>
          <p:sp>
            <p:nvSpPr>
              <p:cNvPr id="66" name="Freeform 10"/>
              <p:cNvSpPr>
                <a:spLocks noChangeAspect="1" noChangeArrowheads="1"/>
              </p:cNvSpPr>
              <p:nvPr/>
            </p:nvSpPr>
            <p:spPr bwMode="auto">
              <a:xfrm>
                <a:off x="4618366" y="4969558"/>
                <a:ext cx="108197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67" name="Group 101"/>
              <p:cNvGrpSpPr/>
              <p:nvPr/>
            </p:nvGrpSpPr>
            <p:grpSpPr>
              <a:xfrm>
                <a:off x="2431066" y="4910563"/>
                <a:ext cx="2355694" cy="216000"/>
                <a:chOff x="4060747" y="5250371"/>
                <a:chExt cx="2355694" cy="216000"/>
              </a:xfrm>
            </p:grpSpPr>
            <p:sp>
              <p:nvSpPr>
                <p:cNvPr id="68" name="텍스트 상자 31"/>
                <p:cNvSpPr txBox="1"/>
                <p:nvPr/>
              </p:nvSpPr>
              <p:spPr>
                <a:xfrm>
                  <a:off x="4060747" y="5250371"/>
                  <a:ext cx="937423" cy="2160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작성자</a:t>
                  </a:r>
                  <a:r>
                    <a:rPr kumimoji="1" lang="en-US" altLang="ko-KR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,</a:t>
                  </a:r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제목 또는 키워드</a:t>
                  </a:r>
                  <a:endParaRPr kumimoji="1" lang="ko-KR" altLang="en-US" sz="6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69" name="Straight Connector 1159"/>
                <p:cNvCxnSpPr/>
                <p:nvPr/>
              </p:nvCxnSpPr>
              <p:spPr>
                <a:xfrm>
                  <a:off x="6416441" y="5301166"/>
                  <a:ext cx="0" cy="101464"/>
                </a:xfrm>
                <a:prstGeom prst="line">
                  <a:avLst/>
                </a:prstGeom>
                <a:solidFill>
                  <a:schemeClr val="bg1"/>
                </a:solidFill>
                <a:ln w="12700" cap="flat" cmpd="sng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64" name="텍스트 상자 31"/>
            <p:cNvSpPr txBox="1"/>
            <p:nvPr/>
          </p:nvSpPr>
          <p:spPr>
            <a:xfrm>
              <a:off x="4881660" y="1395638"/>
              <a:ext cx="178925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상세</a:t>
              </a:r>
            </a:p>
          </p:txBody>
        </p:sp>
        <p:sp>
          <p:nvSpPr>
            <p:cNvPr id="65" name="Triangle 942"/>
            <p:cNvSpPr>
              <a:spLocks noChangeAspect="1"/>
            </p:cNvSpPr>
            <p:nvPr/>
          </p:nvSpPr>
          <p:spPr>
            <a:xfrm flipV="1">
              <a:off x="5107700" y="1422142"/>
              <a:ext cx="75371" cy="43200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700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  <p:sp>
        <p:nvSpPr>
          <p:cNvPr id="70" name="텍스트 상자 44"/>
          <p:cNvSpPr txBox="1"/>
          <p:nvPr userDrawn="1"/>
        </p:nvSpPr>
        <p:spPr>
          <a:xfrm>
            <a:off x="492268" y="350741"/>
            <a:ext cx="962157" cy="315154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스퀘어 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74602" y="1837778"/>
            <a:ext cx="322772" cy="19236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5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스퀘어</a:t>
            </a:r>
          </a:p>
        </p:txBody>
      </p:sp>
    </p:spTree>
    <p:extLst>
      <p:ext uri="{BB962C8B-B14F-4D97-AF65-F5344CB8AC3E}">
        <p14:creationId xmlns:p14="http://schemas.microsoft.com/office/powerpoint/2010/main" val="26125698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07979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"/>
          <p:cNvSpPr>
            <a:spLocks noGrp="1"/>
          </p:cNvSpPr>
          <p:nvPr>
            <p:ph type="title"/>
          </p:nvPr>
        </p:nvSpPr>
        <p:spPr>
          <a:xfrm>
            <a:off x="170837" y="109010"/>
            <a:ext cx="10515163" cy="30888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defRPr sz="1600">
                <a:latin typeface="+mj-ea"/>
                <a:ea typeface="+mj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88546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ubtitl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개체 틀 1"/>
          <p:cNvSpPr>
            <a:spLocks noGrp="1"/>
          </p:cNvSpPr>
          <p:nvPr>
            <p:ph type="title"/>
          </p:nvPr>
        </p:nvSpPr>
        <p:spPr>
          <a:xfrm>
            <a:off x="170837" y="166885"/>
            <a:ext cx="10515163" cy="30888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defRPr sz="1600">
                <a:latin typeface="+mj-ea"/>
                <a:ea typeface="+mj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  <p:sp>
        <p:nvSpPr>
          <p:cNvPr id="4" name="Line 10"/>
          <p:cNvSpPr>
            <a:spLocks noChangeShapeType="1"/>
          </p:cNvSpPr>
          <p:nvPr userDrawn="1"/>
        </p:nvSpPr>
        <p:spPr bwMode="auto">
          <a:xfrm flipV="1">
            <a:off x="168961" y="983938"/>
            <a:ext cx="1184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lIns="129214" tIns="64607" rIns="129214" bIns="64607"/>
          <a:lstStyle/>
          <a:p>
            <a:pPr lvl="0" latinLnBrk="1"/>
            <a:endParaRPr kumimoji="1" lang="ko-KR" altLang="en-US" sz="2500">
              <a:ln w="6350" cmpd="sng">
                <a:solidFill>
                  <a:schemeClr val="tx1"/>
                </a:solidFill>
              </a:ln>
              <a:latin typeface="굴림" charset="-127"/>
              <a:ea typeface="굴림" charset="-127"/>
              <a:cs typeface="굴림"/>
            </a:endParaRPr>
          </a:p>
        </p:txBody>
      </p:sp>
      <p:sp>
        <p:nvSpPr>
          <p:cNvPr id="8" name="내용 개체 틀 7"/>
          <p:cNvSpPr>
            <a:spLocks noGrp="1"/>
          </p:cNvSpPr>
          <p:nvPr>
            <p:ph sz="quarter" idx="11"/>
          </p:nvPr>
        </p:nvSpPr>
        <p:spPr>
          <a:xfrm>
            <a:off x="180168" y="616441"/>
            <a:ext cx="3348000" cy="324000"/>
          </a:xfrm>
          <a:prstGeom prst="rect">
            <a:avLst/>
          </a:prstGeom>
        </p:spPr>
        <p:txBody>
          <a:bodyPr anchor="ctr"/>
          <a:lstStyle>
            <a:lvl1pPr marL="0" indent="0">
              <a:buFontTx/>
              <a:buNone/>
              <a:defRPr sz="1200"/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39574887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개체 틀 1"/>
          <p:cNvSpPr>
            <a:spLocks noGrp="1"/>
          </p:cNvSpPr>
          <p:nvPr>
            <p:ph type="title"/>
          </p:nvPr>
        </p:nvSpPr>
        <p:spPr>
          <a:xfrm>
            <a:off x="170837" y="109010"/>
            <a:ext cx="10515163" cy="30888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defRPr sz="1600">
                <a:latin typeface="Franklin Gothic Demi Cond" pitchFamily="34" charset="0"/>
                <a:ea typeface="+mj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84630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533075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625546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1"/>
          <p:cNvSpPr>
            <a:spLocks noGrp="1"/>
          </p:cNvSpPr>
          <p:nvPr>
            <p:ph type="title"/>
          </p:nvPr>
        </p:nvSpPr>
        <p:spPr>
          <a:xfrm>
            <a:off x="681038" y="2286000"/>
            <a:ext cx="7697852" cy="565772"/>
          </a:xfrm>
          <a:prstGeom prst="rect">
            <a:avLst/>
          </a:prstGeom>
        </p:spPr>
        <p:txBody>
          <a:bodyPr lIns="68415" tIns="34208" rIns="68415" bIns="34208" anchor="ctr">
            <a:noAutofit/>
          </a:bodyPr>
          <a:lstStyle>
            <a:lvl1pPr algn="l">
              <a:defRPr sz="2400" b="0" spc="-112"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</a:defRPr>
            </a:lvl1pPr>
          </a:lstStyle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8" name="모서리가 둥근 직사각형 7"/>
          <p:cNvSpPr/>
          <p:nvPr userDrawn="1"/>
        </p:nvSpPr>
        <p:spPr>
          <a:xfrm>
            <a:off x="535261" y="2466005"/>
            <a:ext cx="54000" cy="252000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/>
          </a:p>
        </p:txBody>
      </p:sp>
      <p:cxnSp>
        <p:nvCxnSpPr>
          <p:cNvPr id="9" name="직선 연결선 8"/>
          <p:cNvCxnSpPr/>
          <p:nvPr userDrawn="1"/>
        </p:nvCxnSpPr>
        <p:spPr>
          <a:xfrm>
            <a:off x="681038" y="2851771"/>
            <a:ext cx="7697852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80355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91640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1237316" y="85946"/>
            <a:ext cx="3022450" cy="190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  <p:sp>
        <p:nvSpPr>
          <p:cNvPr id="3" name="내용 개체 틀 3"/>
          <p:cNvSpPr>
            <a:spLocks noGrp="1"/>
          </p:cNvSpPr>
          <p:nvPr>
            <p:ph sz="quarter" idx="10"/>
          </p:nvPr>
        </p:nvSpPr>
        <p:spPr>
          <a:xfrm>
            <a:off x="5437427" y="85946"/>
            <a:ext cx="3679809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7887351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sp>
        <p:nvSpPr>
          <p:cNvPr id="10" name="텍스트 상자 31"/>
          <p:cNvSpPr txBox="1"/>
          <p:nvPr/>
        </p:nvSpPr>
        <p:spPr>
          <a:xfrm>
            <a:off x="52739" y="1050554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kumimoji="1" sz="7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메일</a:t>
            </a:r>
          </a:p>
        </p:txBody>
      </p:sp>
      <p:sp>
        <p:nvSpPr>
          <p:cNvPr id="11" name="텍스트 상자 38"/>
          <p:cNvSpPr txBox="1"/>
          <p:nvPr/>
        </p:nvSpPr>
        <p:spPr>
          <a:xfrm>
            <a:off x="52739" y="1496068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결재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텍스트 상자 41"/>
          <p:cNvSpPr txBox="1"/>
          <p:nvPr/>
        </p:nvSpPr>
        <p:spPr>
          <a:xfrm>
            <a:off x="52739" y="1941582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업무넷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텍스트 상자 44"/>
          <p:cNvSpPr txBox="1"/>
          <p:nvPr/>
        </p:nvSpPr>
        <p:spPr>
          <a:xfrm>
            <a:off x="52739" y="2389985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스퀘어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텍스트 상자 47"/>
          <p:cNvSpPr txBox="1"/>
          <p:nvPr/>
        </p:nvSpPr>
        <p:spPr>
          <a:xfrm>
            <a:off x="52739" y="2828237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게시판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텍스트 상자 50"/>
          <p:cNvSpPr txBox="1"/>
          <p:nvPr/>
        </p:nvSpPr>
        <p:spPr>
          <a:xfrm>
            <a:off x="52739" y="3264450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일정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텍스트 상자 53"/>
          <p:cNvSpPr txBox="1"/>
          <p:nvPr/>
        </p:nvSpPr>
        <p:spPr>
          <a:xfrm>
            <a:off x="52739" y="3718403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설비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텍스트 상자 56"/>
          <p:cNvSpPr txBox="1"/>
          <p:nvPr/>
        </p:nvSpPr>
        <p:spPr>
          <a:xfrm>
            <a:off x="52739" y="4185072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문서함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텍스트 상자 59"/>
          <p:cNvSpPr txBox="1"/>
          <p:nvPr/>
        </p:nvSpPr>
        <p:spPr>
          <a:xfrm>
            <a:off x="52739" y="4641378"/>
            <a:ext cx="360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주소록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타원 374"/>
          <p:cNvSpPr/>
          <p:nvPr/>
        </p:nvSpPr>
        <p:spPr>
          <a:xfrm>
            <a:off x="110414" y="786854"/>
            <a:ext cx="244650" cy="24465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타원 375"/>
          <p:cNvSpPr/>
          <p:nvPr/>
        </p:nvSpPr>
        <p:spPr>
          <a:xfrm>
            <a:off x="110414" y="1230842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타원 376"/>
          <p:cNvSpPr/>
          <p:nvPr/>
        </p:nvSpPr>
        <p:spPr>
          <a:xfrm>
            <a:off x="110414" y="1676424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타원 377"/>
          <p:cNvSpPr/>
          <p:nvPr/>
        </p:nvSpPr>
        <p:spPr>
          <a:xfrm>
            <a:off x="110414" y="2125120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타원 378"/>
          <p:cNvSpPr/>
          <p:nvPr/>
        </p:nvSpPr>
        <p:spPr>
          <a:xfrm>
            <a:off x="110414" y="2568343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타원 379"/>
          <p:cNvSpPr/>
          <p:nvPr/>
        </p:nvSpPr>
        <p:spPr>
          <a:xfrm>
            <a:off x="110414" y="3000750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타원 380"/>
          <p:cNvSpPr/>
          <p:nvPr/>
        </p:nvSpPr>
        <p:spPr>
          <a:xfrm>
            <a:off x="110414" y="3447476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타원 381"/>
          <p:cNvSpPr/>
          <p:nvPr/>
        </p:nvSpPr>
        <p:spPr>
          <a:xfrm>
            <a:off x="110414" y="3908656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타원 382"/>
          <p:cNvSpPr/>
          <p:nvPr/>
        </p:nvSpPr>
        <p:spPr>
          <a:xfrm>
            <a:off x="110414" y="4370335"/>
            <a:ext cx="244650" cy="24465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4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35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52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53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6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4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7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8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9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40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41" name="제목 개체 틀 1"/>
          <p:cNvSpPr>
            <a:spLocks noGrp="1"/>
          </p:cNvSpPr>
          <p:nvPr>
            <p:ph type="title"/>
          </p:nvPr>
        </p:nvSpPr>
        <p:spPr>
          <a:xfrm>
            <a:off x="1237316" y="85946"/>
            <a:ext cx="3022450" cy="190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  <p:sp>
        <p:nvSpPr>
          <p:cNvPr id="42" name="내용 개체 틀 3"/>
          <p:cNvSpPr>
            <a:spLocks noGrp="1"/>
          </p:cNvSpPr>
          <p:nvPr>
            <p:ph sz="quarter" idx="10"/>
          </p:nvPr>
        </p:nvSpPr>
        <p:spPr>
          <a:xfrm>
            <a:off x="5437427" y="85946"/>
            <a:ext cx="3679809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3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19455911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31286" y="670229"/>
            <a:ext cx="1331526" cy="59972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" name="제목 7"/>
          <p:cNvSpPr>
            <a:spLocks noGrp="1"/>
          </p:cNvSpPr>
          <p:nvPr>
            <p:ph type="title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41" name="내용 개체 틀 40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2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13" name="그룹 12"/>
          <p:cNvGrpSpPr/>
          <p:nvPr userDrawn="1"/>
        </p:nvGrpSpPr>
        <p:grpSpPr>
          <a:xfrm>
            <a:off x="55089" y="786854"/>
            <a:ext cx="360000" cy="2980511"/>
            <a:chOff x="59802" y="786854"/>
            <a:chExt cx="360000" cy="2980511"/>
          </a:xfrm>
        </p:grpSpPr>
        <p:grpSp>
          <p:nvGrpSpPr>
            <p:cNvPr id="5" name="그룹 4"/>
            <p:cNvGrpSpPr/>
            <p:nvPr userDrawn="1"/>
          </p:nvGrpSpPr>
          <p:grpSpPr>
            <a:xfrm>
              <a:off x="59802" y="786854"/>
              <a:ext cx="360000" cy="2980511"/>
              <a:chOff x="59802" y="786854"/>
              <a:chExt cx="360000" cy="2980511"/>
            </a:xfrm>
          </p:grpSpPr>
          <p:sp>
            <p:nvSpPr>
              <p:cNvPr id="54" name="타원 374"/>
              <p:cNvSpPr>
                <a:spLocks noChangeAspect="1"/>
              </p:cNvSpPr>
              <p:nvPr/>
            </p:nvSpPr>
            <p:spPr>
              <a:xfrm>
                <a:off x="110414" y="786854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5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메일</a:t>
                </a:r>
              </a:p>
            </p:txBody>
          </p:sp>
          <p:sp>
            <p:nvSpPr>
              <p:cNvPr id="55" name="타원 375"/>
              <p:cNvSpPr>
                <a:spLocks noChangeAspect="1"/>
              </p:cNvSpPr>
              <p:nvPr/>
            </p:nvSpPr>
            <p:spPr>
              <a:xfrm>
                <a:off x="110414" y="1124248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5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결재</a:t>
                </a:r>
              </a:p>
            </p:txBody>
          </p:sp>
          <p:sp>
            <p:nvSpPr>
              <p:cNvPr id="56" name="타원 376"/>
              <p:cNvSpPr>
                <a:spLocks noChangeAspect="1"/>
              </p:cNvSpPr>
              <p:nvPr/>
            </p:nvSpPr>
            <p:spPr>
              <a:xfrm>
                <a:off x="110414" y="1460103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7" name="타원 377"/>
              <p:cNvSpPr>
                <a:spLocks noChangeAspect="1"/>
              </p:cNvSpPr>
              <p:nvPr/>
            </p:nvSpPr>
            <p:spPr>
              <a:xfrm>
                <a:off x="110414" y="1798958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8" name="타원 378"/>
              <p:cNvSpPr>
                <a:spLocks noChangeAspect="1"/>
              </p:cNvSpPr>
              <p:nvPr/>
            </p:nvSpPr>
            <p:spPr>
              <a:xfrm>
                <a:off x="110414" y="2138781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9" name="타원 379"/>
              <p:cNvSpPr>
                <a:spLocks noChangeAspect="1"/>
              </p:cNvSpPr>
              <p:nvPr/>
            </p:nvSpPr>
            <p:spPr>
              <a:xfrm>
                <a:off x="110414" y="2477636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5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일정</a:t>
                </a:r>
              </a:p>
            </p:txBody>
          </p:sp>
          <p:sp>
            <p:nvSpPr>
              <p:cNvPr id="60" name="타원 380"/>
              <p:cNvSpPr>
                <a:spLocks noChangeAspect="1"/>
              </p:cNvSpPr>
              <p:nvPr/>
            </p:nvSpPr>
            <p:spPr>
              <a:xfrm>
                <a:off x="110414" y="2816491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5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설비</a:t>
                </a:r>
                <a:endParaRPr kumimoji="1" lang="en-US" altLang="ko-KR" sz="6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5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예약</a:t>
                </a:r>
              </a:p>
            </p:txBody>
          </p:sp>
          <p:sp>
            <p:nvSpPr>
              <p:cNvPr id="61" name="타원 381"/>
              <p:cNvSpPr>
                <a:spLocks noChangeAspect="1"/>
              </p:cNvSpPr>
              <p:nvPr/>
            </p:nvSpPr>
            <p:spPr>
              <a:xfrm>
                <a:off x="110414" y="3156928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62" name="타원 382"/>
              <p:cNvSpPr>
                <a:spLocks noChangeAspect="1"/>
              </p:cNvSpPr>
              <p:nvPr/>
            </p:nvSpPr>
            <p:spPr>
              <a:xfrm>
                <a:off x="110414" y="3497365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65" name="텍스트 상자 41"/>
              <p:cNvSpPr txBox="1"/>
              <p:nvPr userDrawn="1"/>
            </p:nvSpPr>
            <p:spPr>
              <a:xfrm>
                <a:off x="59802" y="1545089"/>
                <a:ext cx="360000" cy="1000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50" b="0" i="0" u="none" strike="noStrike" kern="1200" cap="none" spc="0" normalizeH="0" baseline="0" noProof="0" dirty="0" err="1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업무넷</a:t>
                </a:r>
                <a:endParaRPr kumimoji="1" lang="ko-KR" altLang="en-US" sz="6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9" name="TextBox 8"/>
            <p:cNvSpPr txBox="1"/>
            <p:nvPr userDrawn="1"/>
          </p:nvSpPr>
          <p:spPr>
            <a:xfrm>
              <a:off x="78416" y="1837778"/>
              <a:ext cx="322772" cy="192360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스퀘어</a:t>
              </a:r>
            </a:p>
          </p:txBody>
        </p:sp>
        <p:sp>
          <p:nvSpPr>
            <p:cNvPr id="10" name="TextBox 9"/>
            <p:cNvSpPr txBox="1"/>
            <p:nvPr userDrawn="1"/>
          </p:nvSpPr>
          <p:spPr>
            <a:xfrm>
              <a:off x="78416" y="2177601"/>
              <a:ext cx="322772" cy="192360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게시판</a:t>
              </a: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74816" y="3195748"/>
              <a:ext cx="322772" cy="192360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문서함</a:t>
              </a: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74816" y="3536185"/>
              <a:ext cx="322772" cy="192360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주소록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518139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31286" y="670229"/>
            <a:ext cx="1331526" cy="59972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" name="제목 7"/>
          <p:cNvSpPr>
            <a:spLocks noGrp="1"/>
          </p:cNvSpPr>
          <p:nvPr>
            <p:ph type="title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41" name="내용 개체 틀 40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5" name="그룹 4"/>
          <p:cNvGrpSpPr/>
          <p:nvPr userDrawn="1"/>
        </p:nvGrpSpPr>
        <p:grpSpPr>
          <a:xfrm>
            <a:off x="100988" y="786854"/>
            <a:ext cx="270000" cy="2980511"/>
            <a:chOff x="110414" y="786854"/>
            <a:chExt cx="270000" cy="2980511"/>
          </a:xfrm>
        </p:grpSpPr>
        <p:sp>
          <p:nvSpPr>
            <p:cNvPr id="43" name="타원 374"/>
            <p:cNvSpPr>
              <a:spLocks noChangeAspect="1"/>
            </p:cNvSpPr>
            <p:nvPr/>
          </p:nvSpPr>
          <p:spPr>
            <a:xfrm>
              <a:off x="110414" y="786854"/>
              <a:ext cx="270000" cy="27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메일</a:t>
              </a:r>
            </a:p>
          </p:txBody>
        </p:sp>
        <p:sp>
          <p:nvSpPr>
            <p:cNvPr id="44" name="타원 375"/>
            <p:cNvSpPr>
              <a:spLocks noChangeAspect="1"/>
            </p:cNvSpPr>
            <p:nvPr/>
          </p:nvSpPr>
          <p:spPr>
            <a:xfrm>
              <a:off x="110414" y="112424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타원 376"/>
            <p:cNvSpPr>
              <a:spLocks noChangeAspect="1"/>
            </p:cNvSpPr>
            <p:nvPr/>
          </p:nvSpPr>
          <p:spPr>
            <a:xfrm>
              <a:off x="110414" y="1460103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타원 377"/>
            <p:cNvSpPr>
              <a:spLocks noChangeAspect="1"/>
            </p:cNvSpPr>
            <p:nvPr/>
          </p:nvSpPr>
          <p:spPr>
            <a:xfrm>
              <a:off x="110414" y="179895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타원 378"/>
            <p:cNvSpPr>
              <a:spLocks noChangeAspect="1"/>
            </p:cNvSpPr>
            <p:nvPr/>
          </p:nvSpPr>
          <p:spPr>
            <a:xfrm>
              <a:off x="110414" y="213878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타원 379"/>
            <p:cNvSpPr>
              <a:spLocks noChangeAspect="1"/>
            </p:cNvSpPr>
            <p:nvPr/>
          </p:nvSpPr>
          <p:spPr>
            <a:xfrm>
              <a:off x="110414" y="2477636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타원 380"/>
            <p:cNvSpPr>
              <a:spLocks noChangeAspect="1"/>
            </p:cNvSpPr>
            <p:nvPr/>
          </p:nvSpPr>
          <p:spPr>
            <a:xfrm>
              <a:off x="110414" y="281649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타원 381"/>
            <p:cNvSpPr>
              <a:spLocks noChangeAspect="1"/>
            </p:cNvSpPr>
            <p:nvPr/>
          </p:nvSpPr>
          <p:spPr>
            <a:xfrm>
              <a:off x="110414" y="315692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타원 382"/>
            <p:cNvSpPr>
              <a:spLocks noChangeAspect="1"/>
            </p:cNvSpPr>
            <p:nvPr/>
          </p:nvSpPr>
          <p:spPr>
            <a:xfrm>
              <a:off x="110414" y="3497365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9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15684850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21860" y="670229"/>
            <a:ext cx="1440000" cy="5997270"/>
          </a:xfrm>
          <a:prstGeom prst="rect">
            <a:avLst/>
          </a:prstGeom>
          <a:solidFill>
            <a:srgbClr val="EAEAEA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" name="그룹 4"/>
          <p:cNvGrpSpPr/>
          <p:nvPr userDrawn="1"/>
        </p:nvGrpSpPr>
        <p:grpSpPr>
          <a:xfrm>
            <a:off x="100988" y="786854"/>
            <a:ext cx="270000" cy="2980511"/>
            <a:chOff x="110414" y="786854"/>
            <a:chExt cx="270000" cy="2980511"/>
          </a:xfrm>
        </p:grpSpPr>
        <p:sp>
          <p:nvSpPr>
            <p:cNvPr id="43" name="타원 374"/>
            <p:cNvSpPr>
              <a:spLocks noChangeAspect="1"/>
            </p:cNvSpPr>
            <p:nvPr/>
          </p:nvSpPr>
          <p:spPr>
            <a:xfrm>
              <a:off x="110414" y="786854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타원 375"/>
            <p:cNvSpPr>
              <a:spLocks noChangeAspect="1"/>
            </p:cNvSpPr>
            <p:nvPr/>
          </p:nvSpPr>
          <p:spPr>
            <a:xfrm>
              <a:off x="110414" y="112424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타원 376"/>
            <p:cNvSpPr>
              <a:spLocks noChangeAspect="1"/>
            </p:cNvSpPr>
            <p:nvPr/>
          </p:nvSpPr>
          <p:spPr>
            <a:xfrm>
              <a:off x="110414" y="1460103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타원 377"/>
            <p:cNvSpPr>
              <a:spLocks noChangeAspect="1"/>
            </p:cNvSpPr>
            <p:nvPr/>
          </p:nvSpPr>
          <p:spPr>
            <a:xfrm>
              <a:off x="110414" y="1798958"/>
              <a:ext cx="270000" cy="27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65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타원 378"/>
            <p:cNvSpPr>
              <a:spLocks noChangeAspect="1"/>
            </p:cNvSpPr>
            <p:nvPr/>
          </p:nvSpPr>
          <p:spPr>
            <a:xfrm>
              <a:off x="110414" y="213878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타원 379"/>
            <p:cNvSpPr>
              <a:spLocks noChangeAspect="1"/>
            </p:cNvSpPr>
            <p:nvPr/>
          </p:nvSpPr>
          <p:spPr>
            <a:xfrm>
              <a:off x="110414" y="2477636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타원 380"/>
            <p:cNvSpPr>
              <a:spLocks noChangeAspect="1"/>
            </p:cNvSpPr>
            <p:nvPr/>
          </p:nvSpPr>
          <p:spPr>
            <a:xfrm>
              <a:off x="110414" y="281649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타원 381"/>
            <p:cNvSpPr>
              <a:spLocks noChangeAspect="1"/>
            </p:cNvSpPr>
            <p:nvPr/>
          </p:nvSpPr>
          <p:spPr>
            <a:xfrm>
              <a:off x="110414" y="315692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타원 382"/>
            <p:cNvSpPr>
              <a:spLocks noChangeAspect="1"/>
            </p:cNvSpPr>
            <p:nvPr/>
          </p:nvSpPr>
          <p:spPr>
            <a:xfrm>
              <a:off x="110414" y="3497365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0" name="텍스트 상자 44"/>
          <p:cNvSpPr txBox="1"/>
          <p:nvPr userDrawn="1"/>
        </p:nvSpPr>
        <p:spPr>
          <a:xfrm>
            <a:off x="492268" y="350741"/>
            <a:ext cx="962157" cy="315154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스퀘어 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74602" y="1837778"/>
            <a:ext cx="322772" cy="19236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5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스퀘어</a:t>
            </a:r>
          </a:p>
        </p:txBody>
      </p:sp>
      <p:sp>
        <p:nvSpPr>
          <p:cNvPr id="41" name="TextBox 40"/>
          <p:cNvSpPr txBox="1"/>
          <p:nvPr userDrawn="1"/>
        </p:nvSpPr>
        <p:spPr>
          <a:xfrm>
            <a:off x="870539" y="1832838"/>
            <a:ext cx="123999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b="1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9" name="직선 연결선 8"/>
          <p:cNvCxnSpPr/>
          <p:nvPr userDrawn="1"/>
        </p:nvCxnSpPr>
        <p:spPr>
          <a:xfrm>
            <a:off x="421860" y="670229"/>
            <a:ext cx="866264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01863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25348" y="670229"/>
            <a:ext cx="1440000" cy="5997270"/>
          </a:xfrm>
          <a:prstGeom prst="rect">
            <a:avLst/>
          </a:prstGeom>
          <a:solidFill>
            <a:srgbClr val="EAEAEA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" name="제목 7"/>
          <p:cNvSpPr>
            <a:spLocks noGrp="1"/>
          </p:cNvSpPr>
          <p:nvPr>
            <p:ph type="title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41" name="내용 개체 틀 40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5" name="그룹 4"/>
          <p:cNvGrpSpPr/>
          <p:nvPr userDrawn="1"/>
        </p:nvGrpSpPr>
        <p:grpSpPr>
          <a:xfrm>
            <a:off x="100988" y="786854"/>
            <a:ext cx="270000" cy="2980511"/>
            <a:chOff x="110414" y="786854"/>
            <a:chExt cx="270000" cy="2980511"/>
          </a:xfrm>
        </p:grpSpPr>
        <p:sp>
          <p:nvSpPr>
            <p:cNvPr id="54" name="타원 374"/>
            <p:cNvSpPr>
              <a:spLocks noChangeAspect="1"/>
            </p:cNvSpPr>
            <p:nvPr/>
          </p:nvSpPr>
          <p:spPr>
            <a:xfrm>
              <a:off x="110414" y="786854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타원 375"/>
            <p:cNvSpPr>
              <a:spLocks noChangeAspect="1"/>
            </p:cNvSpPr>
            <p:nvPr/>
          </p:nvSpPr>
          <p:spPr>
            <a:xfrm>
              <a:off x="110414" y="112424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타원 376"/>
            <p:cNvSpPr>
              <a:spLocks noChangeAspect="1"/>
            </p:cNvSpPr>
            <p:nvPr/>
          </p:nvSpPr>
          <p:spPr>
            <a:xfrm>
              <a:off x="110414" y="1460103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타원 377"/>
            <p:cNvSpPr>
              <a:spLocks noChangeAspect="1"/>
            </p:cNvSpPr>
            <p:nvPr/>
          </p:nvSpPr>
          <p:spPr>
            <a:xfrm>
              <a:off x="110414" y="179895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타원 378"/>
            <p:cNvSpPr>
              <a:spLocks noChangeAspect="1"/>
            </p:cNvSpPr>
            <p:nvPr/>
          </p:nvSpPr>
          <p:spPr>
            <a:xfrm>
              <a:off x="110414" y="213878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타원 379"/>
            <p:cNvSpPr>
              <a:spLocks noChangeAspect="1"/>
            </p:cNvSpPr>
            <p:nvPr/>
          </p:nvSpPr>
          <p:spPr>
            <a:xfrm>
              <a:off x="110414" y="2477636"/>
              <a:ext cx="270000" cy="27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일정</a:t>
              </a:r>
            </a:p>
          </p:txBody>
        </p:sp>
        <p:sp>
          <p:nvSpPr>
            <p:cNvPr id="60" name="타원 380"/>
            <p:cNvSpPr>
              <a:spLocks noChangeAspect="1"/>
            </p:cNvSpPr>
            <p:nvPr/>
          </p:nvSpPr>
          <p:spPr>
            <a:xfrm>
              <a:off x="110414" y="281649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타원 381"/>
            <p:cNvSpPr>
              <a:spLocks noChangeAspect="1"/>
            </p:cNvSpPr>
            <p:nvPr/>
          </p:nvSpPr>
          <p:spPr>
            <a:xfrm>
              <a:off x="110414" y="315692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타원 382"/>
            <p:cNvSpPr>
              <a:spLocks noChangeAspect="1"/>
            </p:cNvSpPr>
            <p:nvPr/>
          </p:nvSpPr>
          <p:spPr>
            <a:xfrm>
              <a:off x="110414" y="3497365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2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3" name="텍스트 상자 44"/>
          <p:cNvSpPr txBox="1"/>
          <p:nvPr userDrawn="1"/>
        </p:nvSpPr>
        <p:spPr>
          <a:xfrm>
            <a:off x="492268" y="350741"/>
            <a:ext cx="962157" cy="315154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일정 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39970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21860" y="670229"/>
            <a:ext cx="1440000" cy="5997270"/>
          </a:xfrm>
          <a:prstGeom prst="rect">
            <a:avLst/>
          </a:prstGeom>
          <a:solidFill>
            <a:srgbClr val="EAEAEA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" name="제목 7"/>
          <p:cNvSpPr>
            <a:spLocks noGrp="1"/>
          </p:cNvSpPr>
          <p:nvPr>
            <p:ph type="title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41" name="내용 개체 틀 40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5" name="그룹 4"/>
          <p:cNvGrpSpPr/>
          <p:nvPr userDrawn="1"/>
        </p:nvGrpSpPr>
        <p:grpSpPr>
          <a:xfrm>
            <a:off x="100988" y="786854"/>
            <a:ext cx="270000" cy="2980511"/>
            <a:chOff x="110414" y="786854"/>
            <a:chExt cx="270000" cy="2980511"/>
          </a:xfrm>
        </p:grpSpPr>
        <p:sp>
          <p:nvSpPr>
            <p:cNvPr id="54" name="타원 374"/>
            <p:cNvSpPr>
              <a:spLocks noChangeAspect="1"/>
            </p:cNvSpPr>
            <p:nvPr/>
          </p:nvSpPr>
          <p:spPr>
            <a:xfrm>
              <a:off x="110414" y="786854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타원 375"/>
            <p:cNvSpPr>
              <a:spLocks noChangeAspect="1"/>
            </p:cNvSpPr>
            <p:nvPr/>
          </p:nvSpPr>
          <p:spPr>
            <a:xfrm>
              <a:off x="110414" y="112424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타원 376"/>
            <p:cNvSpPr>
              <a:spLocks noChangeAspect="1"/>
            </p:cNvSpPr>
            <p:nvPr/>
          </p:nvSpPr>
          <p:spPr>
            <a:xfrm>
              <a:off x="110414" y="1460103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타원 377"/>
            <p:cNvSpPr>
              <a:spLocks noChangeAspect="1"/>
            </p:cNvSpPr>
            <p:nvPr/>
          </p:nvSpPr>
          <p:spPr>
            <a:xfrm>
              <a:off x="110414" y="179895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타원 378"/>
            <p:cNvSpPr>
              <a:spLocks noChangeAspect="1"/>
            </p:cNvSpPr>
            <p:nvPr/>
          </p:nvSpPr>
          <p:spPr>
            <a:xfrm>
              <a:off x="110414" y="213878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타원 379"/>
            <p:cNvSpPr>
              <a:spLocks noChangeAspect="1"/>
            </p:cNvSpPr>
            <p:nvPr/>
          </p:nvSpPr>
          <p:spPr>
            <a:xfrm>
              <a:off x="110414" y="2477636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타원 380"/>
            <p:cNvSpPr>
              <a:spLocks noChangeAspect="1"/>
            </p:cNvSpPr>
            <p:nvPr/>
          </p:nvSpPr>
          <p:spPr>
            <a:xfrm>
              <a:off x="110414" y="2816491"/>
              <a:ext cx="270000" cy="27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설비</a:t>
              </a:r>
              <a:endParaRPr kumimoji="1" lang="en-US" altLang="ko-KR" sz="65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예약</a:t>
              </a:r>
            </a:p>
          </p:txBody>
        </p:sp>
        <p:sp>
          <p:nvSpPr>
            <p:cNvPr id="61" name="타원 381"/>
            <p:cNvSpPr>
              <a:spLocks noChangeAspect="1"/>
            </p:cNvSpPr>
            <p:nvPr/>
          </p:nvSpPr>
          <p:spPr>
            <a:xfrm>
              <a:off x="110414" y="315692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타원 382"/>
            <p:cNvSpPr>
              <a:spLocks noChangeAspect="1"/>
            </p:cNvSpPr>
            <p:nvPr/>
          </p:nvSpPr>
          <p:spPr>
            <a:xfrm>
              <a:off x="110414" y="3497365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2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4" name="텍스트 상자 44"/>
          <p:cNvSpPr txBox="1"/>
          <p:nvPr userDrawn="1"/>
        </p:nvSpPr>
        <p:spPr>
          <a:xfrm>
            <a:off x="492268" y="350741"/>
            <a:ext cx="962157" cy="315154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설비예약 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5" name="그룹 44"/>
          <p:cNvGrpSpPr/>
          <p:nvPr userDrawn="1"/>
        </p:nvGrpSpPr>
        <p:grpSpPr>
          <a:xfrm>
            <a:off x="4913335" y="400849"/>
            <a:ext cx="2968666" cy="216001"/>
            <a:chOff x="2305531" y="1344167"/>
            <a:chExt cx="2968666" cy="216001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2305531" y="1344167"/>
              <a:ext cx="2968666" cy="2160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47" name="그룹 46"/>
            <p:cNvGrpSpPr/>
            <p:nvPr/>
          </p:nvGrpSpPr>
          <p:grpSpPr>
            <a:xfrm>
              <a:off x="2449590" y="1344168"/>
              <a:ext cx="2355694" cy="216000"/>
              <a:chOff x="2431066" y="4919565"/>
              <a:chExt cx="2355694" cy="216000"/>
            </a:xfrm>
          </p:grpSpPr>
          <p:sp>
            <p:nvSpPr>
              <p:cNvPr id="50" name="Freeform 10"/>
              <p:cNvSpPr>
                <a:spLocks noChangeAspect="1" noChangeArrowheads="1"/>
              </p:cNvSpPr>
              <p:nvPr/>
            </p:nvSpPr>
            <p:spPr bwMode="auto">
              <a:xfrm>
                <a:off x="4618366" y="4969558"/>
                <a:ext cx="108197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1" name="Group 101"/>
              <p:cNvGrpSpPr/>
              <p:nvPr/>
            </p:nvGrpSpPr>
            <p:grpSpPr>
              <a:xfrm>
                <a:off x="2431066" y="4919565"/>
                <a:ext cx="2355694" cy="216000"/>
                <a:chOff x="4060747" y="5259373"/>
                <a:chExt cx="2355694" cy="216000"/>
              </a:xfrm>
            </p:grpSpPr>
            <p:sp>
              <p:nvSpPr>
                <p:cNvPr id="52" name="텍스트 상자 31"/>
                <p:cNvSpPr txBox="1"/>
                <p:nvPr/>
              </p:nvSpPr>
              <p:spPr>
                <a:xfrm>
                  <a:off x="4060747" y="5259373"/>
                  <a:ext cx="937423" cy="2160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r>
                    <a:rPr lang="ko-KR" altLang="en-US" sz="600" b="1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스퀘어 검색</a:t>
                  </a:r>
                </a:p>
              </p:txBody>
            </p:sp>
            <p:cxnSp>
              <p:nvCxnSpPr>
                <p:cNvPr id="53" name="Straight Connector 1159"/>
                <p:cNvCxnSpPr/>
                <p:nvPr/>
              </p:nvCxnSpPr>
              <p:spPr>
                <a:xfrm>
                  <a:off x="6416441" y="5316034"/>
                  <a:ext cx="0" cy="101464"/>
                </a:xfrm>
                <a:prstGeom prst="line">
                  <a:avLst/>
                </a:prstGeom>
                <a:solidFill>
                  <a:schemeClr val="bg1"/>
                </a:solidFill>
                <a:ln w="12700" cap="flat" cmpd="sng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48" name="텍스트 상자 31"/>
            <p:cNvSpPr txBox="1"/>
            <p:nvPr/>
          </p:nvSpPr>
          <p:spPr>
            <a:xfrm>
              <a:off x="4857113" y="1344168"/>
              <a:ext cx="178925" cy="215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상세</a:t>
              </a:r>
            </a:p>
          </p:txBody>
        </p:sp>
        <p:sp>
          <p:nvSpPr>
            <p:cNvPr id="49" name="Triangle 942"/>
            <p:cNvSpPr>
              <a:spLocks noChangeAspect="1"/>
            </p:cNvSpPr>
            <p:nvPr/>
          </p:nvSpPr>
          <p:spPr>
            <a:xfrm flipV="1">
              <a:off x="5083153" y="1430689"/>
              <a:ext cx="75371" cy="43200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700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6284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421860" y="670229"/>
            <a:ext cx="1440000" cy="5997270"/>
          </a:xfrm>
          <a:prstGeom prst="rect">
            <a:avLst/>
          </a:prstGeom>
          <a:solidFill>
            <a:srgbClr val="EAEAEA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632002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2"/>
            <a:ext cx="367200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" name="제목 7"/>
          <p:cNvSpPr>
            <a:spLocks noGrp="1"/>
          </p:cNvSpPr>
          <p:nvPr>
            <p:ph type="title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41" name="내용 개체 틀 40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2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74602" y="786854"/>
            <a:ext cx="322772" cy="2980511"/>
            <a:chOff x="74602" y="786854"/>
            <a:chExt cx="322772" cy="2980511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100988" y="786854"/>
              <a:ext cx="270000" cy="2980511"/>
              <a:chOff x="110414" y="786854"/>
              <a:chExt cx="270000" cy="2980511"/>
            </a:xfrm>
          </p:grpSpPr>
          <p:sp>
            <p:nvSpPr>
              <p:cNvPr id="54" name="타원 374"/>
              <p:cNvSpPr>
                <a:spLocks noChangeAspect="1"/>
              </p:cNvSpPr>
              <p:nvPr/>
            </p:nvSpPr>
            <p:spPr>
              <a:xfrm>
                <a:off x="110414" y="786854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5" name="타원 375"/>
              <p:cNvSpPr>
                <a:spLocks noChangeAspect="1"/>
              </p:cNvSpPr>
              <p:nvPr/>
            </p:nvSpPr>
            <p:spPr>
              <a:xfrm>
                <a:off x="110414" y="1124248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6" name="타원 376"/>
              <p:cNvSpPr>
                <a:spLocks noChangeAspect="1"/>
              </p:cNvSpPr>
              <p:nvPr/>
            </p:nvSpPr>
            <p:spPr>
              <a:xfrm>
                <a:off x="110414" y="1460103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7" name="타원 377"/>
              <p:cNvSpPr>
                <a:spLocks noChangeAspect="1"/>
              </p:cNvSpPr>
              <p:nvPr/>
            </p:nvSpPr>
            <p:spPr>
              <a:xfrm>
                <a:off x="110414" y="1798958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8" name="타원 378"/>
              <p:cNvSpPr>
                <a:spLocks noChangeAspect="1"/>
              </p:cNvSpPr>
              <p:nvPr/>
            </p:nvSpPr>
            <p:spPr>
              <a:xfrm>
                <a:off x="110414" y="2138781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9" name="타원 379"/>
              <p:cNvSpPr>
                <a:spLocks noChangeAspect="1"/>
              </p:cNvSpPr>
              <p:nvPr/>
            </p:nvSpPr>
            <p:spPr>
              <a:xfrm>
                <a:off x="110414" y="2477636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60" name="타원 380"/>
              <p:cNvSpPr>
                <a:spLocks noChangeAspect="1"/>
              </p:cNvSpPr>
              <p:nvPr/>
            </p:nvSpPr>
            <p:spPr>
              <a:xfrm>
                <a:off x="110414" y="2816491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61" name="타원 381"/>
              <p:cNvSpPr>
                <a:spLocks noChangeAspect="1"/>
              </p:cNvSpPr>
              <p:nvPr/>
            </p:nvSpPr>
            <p:spPr>
              <a:xfrm>
                <a:off x="110414" y="3156928"/>
                <a:ext cx="270000" cy="2700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62" name="타원 382"/>
              <p:cNvSpPr>
                <a:spLocks noChangeAspect="1"/>
              </p:cNvSpPr>
              <p:nvPr/>
            </p:nvSpPr>
            <p:spPr>
              <a:xfrm>
                <a:off x="110414" y="3497365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5" name="TextBox 4"/>
            <p:cNvSpPr txBox="1"/>
            <p:nvPr userDrawn="1"/>
          </p:nvSpPr>
          <p:spPr>
            <a:xfrm>
              <a:off x="74602" y="3536185"/>
              <a:ext cx="322772" cy="192360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주소록</a:t>
              </a:r>
            </a:p>
          </p:txBody>
        </p:sp>
      </p:grpSp>
      <p:sp>
        <p:nvSpPr>
          <p:cNvPr id="45" name="텍스트 상자 44"/>
          <p:cNvSpPr txBox="1"/>
          <p:nvPr userDrawn="1"/>
        </p:nvSpPr>
        <p:spPr>
          <a:xfrm>
            <a:off x="492268" y="350741"/>
            <a:ext cx="962157" cy="315154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주소록 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941650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39"/>
          <p:cNvSpPr/>
          <p:nvPr userDrawn="1"/>
        </p:nvSpPr>
        <p:spPr>
          <a:xfrm>
            <a:off x="52602" y="347472"/>
            <a:ext cx="367200" cy="31860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339"/>
          <p:cNvSpPr/>
          <p:nvPr userDrawn="1"/>
        </p:nvSpPr>
        <p:spPr>
          <a:xfrm>
            <a:off x="52602" y="347471"/>
            <a:ext cx="367200" cy="32400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Freeform 6"/>
          <p:cNvSpPr>
            <a:spLocks noChangeAspect="1" noChangeArrowheads="1"/>
          </p:cNvSpPr>
          <p:nvPr userDrawn="1"/>
        </p:nvSpPr>
        <p:spPr bwMode="auto">
          <a:xfrm>
            <a:off x="149249" y="435816"/>
            <a:ext cx="174435" cy="147600"/>
          </a:xfrm>
          <a:custGeom>
            <a:avLst/>
            <a:gdLst>
              <a:gd name="T0" fmla="*/ 205 w 514"/>
              <a:gd name="T1" fmla="*/ 435 h 436"/>
              <a:gd name="T2" fmla="*/ 205 w 514"/>
              <a:gd name="T3" fmla="*/ 279 h 436"/>
              <a:gd name="T4" fmla="*/ 308 w 514"/>
              <a:gd name="T5" fmla="*/ 279 h 436"/>
              <a:gd name="T6" fmla="*/ 308 w 514"/>
              <a:gd name="T7" fmla="*/ 435 h 436"/>
              <a:gd name="T8" fmla="*/ 435 w 514"/>
              <a:gd name="T9" fmla="*/ 435 h 436"/>
              <a:gd name="T10" fmla="*/ 435 w 514"/>
              <a:gd name="T11" fmla="*/ 230 h 436"/>
              <a:gd name="T12" fmla="*/ 513 w 514"/>
              <a:gd name="T13" fmla="*/ 230 h 436"/>
              <a:gd name="T14" fmla="*/ 254 w 514"/>
              <a:gd name="T15" fmla="*/ 0 h 436"/>
              <a:gd name="T16" fmla="*/ 0 w 514"/>
              <a:gd name="T17" fmla="*/ 230 h 436"/>
              <a:gd name="T18" fmla="*/ 78 w 514"/>
              <a:gd name="T19" fmla="*/ 230 h 436"/>
              <a:gd name="T20" fmla="*/ 78 w 514"/>
              <a:gd name="T21" fmla="*/ 435 h 436"/>
              <a:gd name="T22" fmla="*/ 205 w 514"/>
              <a:gd name="T23" fmla="*/ 435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4" h="436">
                <a:moveTo>
                  <a:pt x="205" y="435"/>
                </a:moveTo>
                <a:lnTo>
                  <a:pt x="205" y="279"/>
                </a:lnTo>
                <a:lnTo>
                  <a:pt x="308" y="279"/>
                </a:lnTo>
                <a:lnTo>
                  <a:pt x="308" y="435"/>
                </a:lnTo>
                <a:lnTo>
                  <a:pt x="435" y="435"/>
                </a:lnTo>
                <a:lnTo>
                  <a:pt x="435" y="230"/>
                </a:lnTo>
                <a:lnTo>
                  <a:pt x="513" y="230"/>
                </a:lnTo>
                <a:lnTo>
                  <a:pt x="254" y="0"/>
                </a:lnTo>
                <a:lnTo>
                  <a:pt x="0" y="230"/>
                </a:lnTo>
                <a:lnTo>
                  <a:pt x="78" y="230"/>
                </a:lnTo>
                <a:lnTo>
                  <a:pt x="78" y="435"/>
                </a:lnTo>
                <a:lnTo>
                  <a:pt x="205" y="435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grpSp>
        <p:nvGrpSpPr>
          <p:cNvPr id="2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2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3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3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3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3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3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aphicFrame>
        <p:nvGraphicFramePr>
          <p:cNvPr id="41" name="Group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28581039"/>
              </p:ext>
            </p:extLst>
          </p:nvPr>
        </p:nvGraphicFramePr>
        <p:xfrm>
          <a:off x="56091" y="83132"/>
          <a:ext cx="9173409" cy="213360"/>
        </p:xfrm>
        <a:graphic>
          <a:graphicData uri="http://schemas.openxmlformats.org/drawingml/2006/table">
            <a:tbl>
              <a:tblPr/>
              <a:tblGrid>
                <a:gridCol w="11709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9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42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00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53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화면경로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3" name="Window Body" descr="&lt;SmartSettings&gt;&lt;SmartResize anchorLeft=&quot;Absolute&quot; anchorTop=&quot;Absolute&quot; anchorRight=&quot;Absolute&quot; anchorBottom=&quot;Absolute&quot; /&gt;&lt;/SmartSettings&gt;"/>
          <p:cNvSpPr/>
          <p:nvPr userDrawn="1">
            <p:custDataLst>
              <p:tags r:id="rId1"/>
            </p:custDataLst>
          </p:nvPr>
        </p:nvSpPr>
        <p:spPr>
          <a:xfrm>
            <a:off x="52602" y="74712"/>
            <a:ext cx="9173460" cy="211038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graphicFrame>
        <p:nvGraphicFramePr>
          <p:cNvPr id="45" name="Group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6210083"/>
              </p:ext>
            </p:extLst>
          </p:nvPr>
        </p:nvGraphicFramePr>
        <p:xfrm>
          <a:off x="9290533" y="83132"/>
          <a:ext cx="2835141" cy="648072"/>
        </p:xfrm>
        <a:graphic>
          <a:graphicData uri="http://schemas.openxmlformats.org/drawingml/2006/table">
            <a:tbl>
              <a:tblPr/>
              <a:tblGrid>
                <a:gridCol w="824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0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PROJECT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EGW UI/UX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이수진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" name="Window Body" descr="&lt;SmartSettings&gt;&lt;SmartResize anchorLeft=&quot;Absolute&quot; anchorTop=&quot;Absolute&quot; anchorRight=&quot;Absolute&quot; anchorBottom=&quot;Absolute&quot; /&gt;&lt;/SmartSettings&gt;"/>
          <p:cNvSpPr/>
          <p:nvPr userDrawn="1">
            <p:custDataLst>
              <p:tags r:id="rId2"/>
            </p:custDataLst>
          </p:nvPr>
        </p:nvSpPr>
        <p:spPr>
          <a:xfrm>
            <a:off x="9273877" y="74712"/>
            <a:ext cx="2851448" cy="65871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5" name="내용 개체 틀 4"/>
          <p:cNvSpPr>
            <a:spLocks noGrp="1"/>
          </p:cNvSpPr>
          <p:nvPr>
            <p:ph sz="quarter" idx="10"/>
          </p:nvPr>
        </p:nvSpPr>
        <p:spPr>
          <a:xfrm>
            <a:off x="5428918" y="84831"/>
            <a:ext cx="3656727" cy="1908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8" name="제목 7"/>
          <p:cNvSpPr>
            <a:spLocks noGrp="1"/>
          </p:cNvSpPr>
          <p:nvPr>
            <p:ph type="title"/>
          </p:nvPr>
        </p:nvSpPr>
        <p:spPr>
          <a:xfrm>
            <a:off x="1238528" y="87592"/>
            <a:ext cx="3007856" cy="1908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25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1212461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9" name="Group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04413587"/>
              </p:ext>
            </p:extLst>
          </p:nvPr>
        </p:nvGraphicFramePr>
        <p:xfrm>
          <a:off x="66251" y="83132"/>
          <a:ext cx="9173409" cy="213360"/>
        </p:xfrm>
        <a:graphic>
          <a:graphicData uri="http://schemas.openxmlformats.org/drawingml/2006/table">
            <a:tbl>
              <a:tblPr/>
              <a:tblGrid>
                <a:gridCol w="11709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9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42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00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53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화면경로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0" name="Group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53767100"/>
              </p:ext>
            </p:extLst>
          </p:nvPr>
        </p:nvGraphicFramePr>
        <p:xfrm>
          <a:off x="9290533" y="83132"/>
          <a:ext cx="2835141" cy="648072"/>
        </p:xfrm>
        <a:graphic>
          <a:graphicData uri="http://schemas.openxmlformats.org/drawingml/2006/table">
            <a:tbl>
              <a:tblPr/>
              <a:tblGrid>
                <a:gridCol w="824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0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PROJECT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EGW UI/UX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1" name="TextBox 80"/>
          <p:cNvSpPr txBox="1"/>
          <p:nvPr userDrawn="1"/>
        </p:nvSpPr>
        <p:spPr>
          <a:xfrm>
            <a:off x="55277" y="6658139"/>
            <a:ext cx="3287207" cy="190904"/>
          </a:xfrm>
          <a:prstGeom prst="rect">
            <a:avLst/>
          </a:prstGeom>
          <a:noFill/>
        </p:spPr>
        <p:txBody>
          <a:bodyPr wrap="none" lIns="36000" rIns="36000" rtlCol="0">
            <a:noAutofit/>
          </a:bodyPr>
          <a:lstStyle/>
          <a:p>
            <a:pPr marL="0" marR="0" lvl="0" indent="0" algn="l" defTabSz="107240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Trebuchet MS" panose="020B0603020202020204" pitchFamily="34" charset="0"/>
                <a:ea typeface="나눔고딕" panose="020B0600000101010101" charset="-127"/>
                <a:cs typeface="Verdana" panose="020B0604030504040204" pitchFamily="34" charset="0"/>
              </a:rPr>
              <a:t>HANDYSOFT, INC. –  A DASAN Group Company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Trebuchet MS" panose="020B0603020202020204" pitchFamily="34" charset="0"/>
              <a:ea typeface="나눔고딕" panose="020B0600000101010101" charset="-127"/>
              <a:cs typeface="Verdana" panose="020B0604030504040204" pitchFamily="34" charset="0"/>
            </a:endParaRPr>
          </a:p>
        </p:txBody>
      </p:sp>
      <p:sp>
        <p:nvSpPr>
          <p:cNvPr id="83" name="Window Body" descr="&lt;SmartSettings&gt;&lt;SmartResize anchorLeft=&quot;Absolute&quot; anchorTop=&quot;Absolute&quot; anchorRight=&quot;Absolute&quot; anchorBottom=&quot;Absolute&quot; /&gt;&lt;/SmartSettings&gt;"/>
          <p:cNvSpPr/>
          <p:nvPr userDrawn="1">
            <p:custDataLst>
              <p:tags r:id="rId1"/>
            </p:custDataLst>
          </p:nvPr>
        </p:nvSpPr>
        <p:spPr>
          <a:xfrm>
            <a:off x="52602" y="74712"/>
            <a:ext cx="9173460" cy="211038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84" name="Window Body" descr="&lt;SmartSettings&gt;&lt;SmartResize anchorLeft=&quot;Absolute&quot; anchorTop=&quot;Absolute&quot; anchorRight=&quot;Absolute&quot; anchorBottom=&quot;Absolute&quot; /&gt;&lt;/SmartSettings&gt;"/>
          <p:cNvSpPr/>
          <p:nvPr userDrawn="1">
            <p:custDataLst>
              <p:tags r:id="rId2"/>
            </p:custDataLst>
          </p:nvPr>
        </p:nvSpPr>
        <p:spPr>
          <a:xfrm>
            <a:off x="9273877" y="74712"/>
            <a:ext cx="2851448" cy="65871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86" name="TextBox 85"/>
          <p:cNvSpPr txBox="1"/>
          <p:nvPr userDrawn="1"/>
        </p:nvSpPr>
        <p:spPr>
          <a:xfrm>
            <a:off x="11352584" y="6669360"/>
            <a:ext cx="648072" cy="188640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9D9B70-5658-42EA-A7C8-1D839C7DC5C0}" type="slidenum">
              <a:rPr kumimoji="1" lang="ko-KR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B0600000101010101" charset="-127"/>
                <a:ea typeface="나눔고딕" panose="020B0600000101010101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ko-KR" altLang="en-US" sz="1000" b="0" i="0" u="none" strike="noStrike" kern="120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+mn-cs"/>
            </a:endParaRPr>
          </a:p>
        </p:txBody>
      </p:sp>
      <p:sp>
        <p:nvSpPr>
          <p:cNvPr id="2" name="직사각형 1"/>
          <p:cNvSpPr/>
          <p:nvPr userDrawn="1"/>
        </p:nvSpPr>
        <p:spPr>
          <a:xfrm>
            <a:off x="431286" y="357951"/>
            <a:ext cx="1331526" cy="599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/>
          <p:cNvSpPr/>
          <p:nvPr userDrawn="1">
            <p:custDataLst>
              <p:tags r:id="rId3"/>
            </p:custDataLst>
          </p:nvPr>
        </p:nvSpPr>
        <p:spPr>
          <a:xfrm>
            <a:off x="52602" y="347472"/>
            <a:ext cx="9173460" cy="599781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32" name="제목 개체 틀 1"/>
          <p:cNvSpPr>
            <a:spLocks noGrp="1"/>
          </p:cNvSpPr>
          <p:nvPr>
            <p:ph type="title"/>
          </p:nvPr>
        </p:nvSpPr>
        <p:spPr>
          <a:xfrm>
            <a:off x="1237316" y="85946"/>
            <a:ext cx="3022450" cy="190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  <p:sp>
        <p:nvSpPr>
          <p:cNvPr id="33" name="내용 개체 틀 3"/>
          <p:cNvSpPr>
            <a:spLocks noGrp="1"/>
          </p:cNvSpPr>
          <p:nvPr>
            <p:ph sz="quarter" idx="10"/>
          </p:nvPr>
        </p:nvSpPr>
        <p:spPr>
          <a:xfrm>
            <a:off x="5437427" y="85946"/>
            <a:ext cx="3679809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4" name="직사각형 14"/>
          <p:cNvSpPr/>
          <p:nvPr userDrawn="1"/>
        </p:nvSpPr>
        <p:spPr>
          <a:xfrm>
            <a:off x="52601" y="347472"/>
            <a:ext cx="9177123" cy="32275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8" name="Group 911"/>
          <p:cNvGrpSpPr>
            <a:grpSpLocks noChangeAspect="1"/>
          </p:cNvGrpSpPr>
          <p:nvPr userDrawn="1"/>
        </p:nvGrpSpPr>
        <p:grpSpPr>
          <a:xfrm>
            <a:off x="8121000" y="409850"/>
            <a:ext cx="945986" cy="216000"/>
            <a:chOff x="7109348" y="1300074"/>
            <a:chExt cx="729307" cy="166525"/>
          </a:xfrm>
        </p:grpSpPr>
        <p:grpSp>
          <p:nvGrpSpPr>
            <p:cNvPr id="49" name="Group 912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59" name="Oval 922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60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50" name="Group 913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57" name="Oval 920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5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51" name="Group 914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52" name="Oval 915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53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54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" name="그룹 2"/>
          <p:cNvGrpSpPr/>
          <p:nvPr userDrawn="1"/>
        </p:nvGrpSpPr>
        <p:grpSpPr>
          <a:xfrm>
            <a:off x="52602" y="347472"/>
            <a:ext cx="382484" cy="5997819"/>
            <a:chOff x="52602" y="347472"/>
            <a:chExt cx="382484" cy="5997819"/>
          </a:xfrm>
        </p:grpSpPr>
        <p:sp>
          <p:nvSpPr>
            <p:cNvPr id="45" name="직사각형 339"/>
            <p:cNvSpPr/>
            <p:nvPr userDrawn="1"/>
          </p:nvSpPr>
          <p:spPr>
            <a:xfrm>
              <a:off x="52602" y="347472"/>
              <a:ext cx="367200" cy="5997819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직사각형 339"/>
            <p:cNvSpPr/>
            <p:nvPr userDrawn="1"/>
          </p:nvSpPr>
          <p:spPr>
            <a:xfrm>
              <a:off x="52602" y="347472"/>
              <a:ext cx="367200" cy="322757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6"/>
            <p:cNvSpPr>
              <a:spLocks noChangeAspect="1" noChangeArrowheads="1"/>
            </p:cNvSpPr>
            <p:nvPr userDrawn="1"/>
          </p:nvSpPr>
          <p:spPr bwMode="auto">
            <a:xfrm>
              <a:off x="149249" y="435816"/>
              <a:ext cx="174435" cy="147600"/>
            </a:xfrm>
            <a:custGeom>
              <a:avLst/>
              <a:gdLst>
                <a:gd name="T0" fmla="*/ 205 w 514"/>
                <a:gd name="T1" fmla="*/ 435 h 436"/>
                <a:gd name="T2" fmla="*/ 205 w 514"/>
                <a:gd name="T3" fmla="*/ 279 h 436"/>
                <a:gd name="T4" fmla="*/ 308 w 514"/>
                <a:gd name="T5" fmla="*/ 279 h 436"/>
                <a:gd name="T6" fmla="*/ 308 w 514"/>
                <a:gd name="T7" fmla="*/ 435 h 436"/>
                <a:gd name="T8" fmla="*/ 435 w 514"/>
                <a:gd name="T9" fmla="*/ 435 h 436"/>
                <a:gd name="T10" fmla="*/ 435 w 514"/>
                <a:gd name="T11" fmla="*/ 230 h 436"/>
                <a:gd name="T12" fmla="*/ 513 w 514"/>
                <a:gd name="T13" fmla="*/ 230 h 436"/>
                <a:gd name="T14" fmla="*/ 254 w 514"/>
                <a:gd name="T15" fmla="*/ 0 h 436"/>
                <a:gd name="T16" fmla="*/ 0 w 514"/>
                <a:gd name="T17" fmla="*/ 230 h 436"/>
                <a:gd name="T18" fmla="*/ 78 w 514"/>
                <a:gd name="T19" fmla="*/ 230 h 436"/>
                <a:gd name="T20" fmla="*/ 78 w 514"/>
                <a:gd name="T21" fmla="*/ 435 h 436"/>
                <a:gd name="T22" fmla="*/ 205 w 514"/>
                <a:gd name="T23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436">
                  <a:moveTo>
                    <a:pt x="205" y="435"/>
                  </a:moveTo>
                  <a:lnTo>
                    <a:pt x="205" y="279"/>
                  </a:lnTo>
                  <a:lnTo>
                    <a:pt x="308" y="279"/>
                  </a:lnTo>
                  <a:lnTo>
                    <a:pt x="308" y="435"/>
                  </a:lnTo>
                  <a:lnTo>
                    <a:pt x="435" y="435"/>
                  </a:lnTo>
                  <a:lnTo>
                    <a:pt x="435" y="230"/>
                  </a:lnTo>
                  <a:lnTo>
                    <a:pt x="513" y="230"/>
                  </a:lnTo>
                  <a:lnTo>
                    <a:pt x="254" y="0"/>
                  </a:lnTo>
                  <a:lnTo>
                    <a:pt x="0" y="230"/>
                  </a:lnTo>
                  <a:lnTo>
                    <a:pt x="78" y="230"/>
                  </a:lnTo>
                  <a:lnTo>
                    <a:pt x="78" y="435"/>
                  </a:lnTo>
                  <a:lnTo>
                    <a:pt x="205" y="435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61" name="타원 374"/>
            <p:cNvSpPr>
              <a:spLocks noChangeAspect="1"/>
            </p:cNvSpPr>
            <p:nvPr userDrawn="1"/>
          </p:nvSpPr>
          <p:spPr>
            <a:xfrm>
              <a:off x="110414" y="786854"/>
              <a:ext cx="270000" cy="27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타원 375"/>
            <p:cNvSpPr>
              <a:spLocks noChangeAspect="1"/>
            </p:cNvSpPr>
            <p:nvPr userDrawn="1"/>
          </p:nvSpPr>
          <p:spPr>
            <a:xfrm>
              <a:off x="110414" y="112424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타원 376"/>
            <p:cNvSpPr>
              <a:spLocks noChangeAspect="1"/>
            </p:cNvSpPr>
            <p:nvPr userDrawn="1"/>
          </p:nvSpPr>
          <p:spPr>
            <a:xfrm>
              <a:off x="110414" y="1460103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타원 377"/>
            <p:cNvSpPr>
              <a:spLocks noChangeAspect="1"/>
            </p:cNvSpPr>
            <p:nvPr userDrawn="1"/>
          </p:nvSpPr>
          <p:spPr>
            <a:xfrm>
              <a:off x="110414" y="179895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타원 378"/>
            <p:cNvSpPr>
              <a:spLocks noChangeAspect="1"/>
            </p:cNvSpPr>
            <p:nvPr userDrawn="1"/>
          </p:nvSpPr>
          <p:spPr>
            <a:xfrm>
              <a:off x="110414" y="213878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타원 379"/>
            <p:cNvSpPr>
              <a:spLocks noChangeAspect="1"/>
            </p:cNvSpPr>
            <p:nvPr userDrawn="1"/>
          </p:nvSpPr>
          <p:spPr>
            <a:xfrm>
              <a:off x="110414" y="2477636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타원 380"/>
            <p:cNvSpPr>
              <a:spLocks noChangeAspect="1"/>
            </p:cNvSpPr>
            <p:nvPr userDrawn="1"/>
          </p:nvSpPr>
          <p:spPr>
            <a:xfrm>
              <a:off x="110414" y="2816491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타원 381"/>
            <p:cNvSpPr>
              <a:spLocks noChangeAspect="1"/>
            </p:cNvSpPr>
            <p:nvPr userDrawn="1"/>
          </p:nvSpPr>
          <p:spPr>
            <a:xfrm>
              <a:off x="110414" y="3156928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타원 382"/>
            <p:cNvSpPr>
              <a:spLocks noChangeAspect="1"/>
            </p:cNvSpPr>
            <p:nvPr userDrawn="1"/>
          </p:nvSpPr>
          <p:spPr>
            <a:xfrm>
              <a:off x="110414" y="3497365"/>
              <a:ext cx="270000" cy="270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텍스트 상자 31"/>
            <p:cNvSpPr txBox="1"/>
            <p:nvPr userDrawn="1"/>
          </p:nvSpPr>
          <p:spPr>
            <a:xfrm>
              <a:off x="75086" y="872438"/>
              <a:ext cx="360000" cy="100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kumimoji="1" sz="700" b="1">
                  <a:solidFill>
                    <a:schemeClr val="tx1">
                      <a:lumMod val="75000"/>
                      <a:lumOff val="25000"/>
                    </a:schemeClr>
                  </a:solidFill>
                </a:defRPr>
              </a:lvl1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5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메일</a:t>
              </a:r>
            </a:p>
          </p:txBody>
        </p:sp>
      </p:grpSp>
      <p:sp>
        <p:nvSpPr>
          <p:cNvPr id="72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9370148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ubtitl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개체 틀 1"/>
          <p:cNvSpPr>
            <a:spLocks noGrp="1"/>
          </p:cNvSpPr>
          <p:nvPr>
            <p:ph type="title"/>
          </p:nvPr>
        </p:nvSpPr>
        <p:spPr>
          <a:xfrm>
            <a:off x="1237316" y="85946"/>
            <a:ext cx="3022450" cy="190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kumimoji="1" lang="ko-KR" altLang="en-US" dirty="0" smtClean="0"/>
              <a:t>마스터 제목 스타일 편집</a:t>
            </a:r>
            <a:endParaRPr kumimoji="1"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0"/>
          </p:nvPr>
        </p:nvSpPr>
        <p:spPr>
          <a:xfrm>
            <a:off x="5437427" y="85946"/>
            <a:ext cx="3679809" cy="190800"/>
          </a:xfrm>
          <a:prstGeom prst="rect">
            <a:avLst/>
          </a:prstGeo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5" name="내용 개체 틀 8"/>
          <p:cNvSpPr>
            <a:spLocks noGrp="1"/>
          </p:cNvSpPr>
          <p:nvPr>
            <p:ph sz="quarter" idx="11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+mn-ea"/>
                <a:ea typeface="+mn-ea"/>
              </a:defRPr>
            </a:lvl1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026321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845054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05545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4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6.xml"/><Relationship Id="rId10" Type="http://schemas.openxmlformats.org/officeDocument/2006/relationships/tags" Target="../tags/tag4.xml"/><Relationship Id="rId4" Type="http://schemas.openxmlformats.org/officeDocument/2006/relationships/slideLayout" Target="../slideLayouts/slideLayout5.xml"/><Relationship Id="rId9" Type="http://schemas.openxmlformats.org/officeDocument/2006/relationships/tags" Target="../tags/tag3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slideLayout" Target="../slideLayouts/slideLayout8.xml"/><Relationship Id="rId1" Type="http://schemas.openxmlformats.org/officeDocument/2006/relationships/slideLayout" Target="../slideLayouts/slideLayout7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11.xml"/><Relationship Id="rId4" Type="http://schemas.openxmlformats.org/officeDocument/2006/relationships/slideLayout" Target="../slideLayouts/slideLayout10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theme" Target="../theme/theme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17" Type="http://schemas.openxmlformats.org/officeDocument/2006/relationships/tags" Target="../tags/tag7.xml"/><Relationship Id="rId2" Type="http://schemas.openxmlformats.org/officeDocument/2006/relationships/slideLayout" Target="../slideLayouts/slideLayout15.xml"/><Relationship Id="rId16" Type="http://schemas.openxmlformats.org/officeDocument/2006/relationships/tags" Target="../tags/tag6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5" Type="http://schemas.openxmlformats.org/officeDocument/2006/relationships/tags" Target="../tags/tag5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theme" Target="../theme/theme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순서도: 처리 6"/>
          <p:cNvSpPr/>
          <p:nvPr/>
        </p:nvSpPr>
        <p:spPr>
          <a:xfrm>
            <a:off x="0" y="4394"/>
            <a:ext cx="12192000" cy="6853606"/>
          </a:xfrm>
          <a:prstGeom prst="flowChartProcess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11352584" y="6669360"/>
            <a:ext cx="648072" cy="188640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algn="r"/>
            <a:fld id="{209D9B70-5658-42EA-A7C8-1D839C7DC5C0}" type="slidenum">
              <a:rPr lang="ko-KR" altLang="en-US" sz="1000" b="0" smtClean="0">
                <a:solidFill>
                  <a:schemeClr val="tx1">
                    <a:lumMod val="75000"/>
                    <a:lumOff val="25000"/>
                  </a:schemeClr>
                </a:solidFill>
                <a:latin typeface="Tw Cen MT" panose="020B0602020104020603" pitchFamily="34" charset="0"/>
                <a:ea typeface="+mn-ea"/>
              </a:rPr>
              <a:t>‹#›</a:t>
            </a:fld>
            <a:endParaRPr lang="ko-KR" altLang="en-US" sz="1000" b="0" smtClean="0">
              <a:solidFill>
                <a:schemeClr val="tx1">
                  <a:lumMod val="75000"/>
                  <a:lumOff val="25000"/>
                </a:schemeClr>
              </a:solidFill>
              <a:latin typeface="Tw Cen MT" panose="020B0602020104020603" pitchFamily="34" charset="0"/>
              <a:ea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5277" y="6658139"/>
            <a:ext cx="3287207" cy="190904"/>
          </a:xfrm>
          <a:prstGeom prst="rect">
            <a:avLst/>
          </a:prstGeom>
          <a:noFill/>
        </p:spPr>
        <p:txBody>
          <a:bodyPr wrap="none" lIns="36000" rIns="36000" rtlCol="0">
            <a:noAutofit/>
          </a:bodyPr>
          <a:lstStyle/>
          <a:p>
            <a:pPr marL="0" marR="0" lvl="0" indent="0" algn="l" defTabSz="107240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Trebuchet MS" panose="020B060302020202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HANDYSOFT, INC. –  A DASAN Group Company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Trebuchet MS" panose="020B0603020202020204" pitchFamily="34" charset="0"/>
              <a:ea typeface="굴림" pitchFamily="50" charset="-127"/>
              <a:cs typeface="Verdana" panose="020B0604030504040204" pitchFamily="34" charset="0"/>
            </a:endParaRPr>
          </a:p>
        </p:txBody>
      </p:sp>
      <p:sp>
        <p:nvSpPr>
          <p:cNvPr id="5" name="제목 1"/>
          <p:cNvSpPr txBox="1">
            <a:spLocks/>
          </p:cNvSpPr>
          <p:nvPr/>
        </p:nvSpPr>
        <p:spPr>
          <a:xfrm>
            <a:off x="990124" y="1793965"/>
            <a:ext cx="8533160" cy="770318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54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j-cs"/>
              </a:defRPr>
            </a:lvl1pPr>
          </a:lstStyle>
          <a:p>
            <a:pPr fontAlgn="auto">
              <a:spcAft>
                <a:spcPts val="0"/>
              </a:spcAft>
            </a:pPr>
            <a:r>
              <a:rPr kumimoji="0" lang="en-US" altLang="ko-KR" sz="4400" b="1" smtClean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rebuchet MS" panose="020B0603020202020204" pitchFamily="34" charset="0"/>
              </a:rPr>
              <a:t>EGW</a:t>
            </a:r>
            <a:r>
              <a:rPr kumimoji="0" lang="en-US" altLang="ko-KR" sz="440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_</a:t>
            </a:r>
            <a:endParaRPr kumimoji="0" lang="ko-KR" altLang="en-US" sz="4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rebuchet MS" panose="020B0603020202020204" pitchFamily="34" charset="0"/>
            </a:endParaRPr>
          </a:p>
        </p:txBody>
      </p:sp>
      <p:sp>
        <p:nvSpPr>
          <p:cNvPr id="6" name="텍스트 개체 틀 21"/>
          <p:cNvSpPr txBox="1">
            <a:spLocks/>
          </p:cNvSpPr>
          <p:nvPr/>
        </p:nvSpPr>
        <p:spPr>
          <a:xfrm>
            <a:off x="1001450" y="2473846"/>
            <a:ext cx="2736304" cy="903008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228600" indent="-22860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ko-KR" altLang="en-US" sz="2400" b="1" kern="1200" smtClean="0">
                <a:solidFill>
                  <a:schemeClr val="bg1">
                    <a:lumMod val="65000"/>
                  </a:schemeClr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j-cs"/>
              </a:defRPr>
            </a:lvl1pPr>
            <a:lvl2pPr marL="596646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lang="ko-KR" altLang="en-US" sz="24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ko-KR" altLang="en-US" sz="20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ko-KR" altLang="en-US" sz="18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ko-KR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Font typeface="Arial" panose="020B0604020202020204" pitchFamily="34" charset="0"/>
              <a:buNone/>
            </a:pPr>
            <a:r>
              <a:rPr kumimoji="0" lang="en-US" altLang="ko-KR" sz="1100" b="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Ver :</a:t>
            </a:r>
          </a:p>
          <a:p>
            <a:pPr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Font typeface="Arial" panose="020B0604020202020204" pitchFamily="34" charset="0"/>
              <a:buNone/>
            </a:pPr>
            <a:r>
              <a:rPr kumimoji="0" lang="ko-KR" altLang="en-US" sz="1100" b="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작성일 </a:t>
            </a:r>
            <a:r>
              <a:rPr kumimoji="0" lang="en-US" altLang="ko-KR" sz="1100" b="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</a:p>
          <a:p>
            <a:pPr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Font typeface="Arial" panose="020B0604020202020204" pitchFamily="34" charset="0"/>
              <a:buNone/>
            </a:pPr>
            <a:r>
              <a:rPr kumimoji="0" lang="ko-KR" altLang="en-US" sz="1100" b="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작성자 </a:t>
            </a:r>
            <a:r>
              <a:rPr kumimoji="0" lang="en-US" altLang="ko-KR" sz="1100" b="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</a:p>
        </p:txBody>
      </p:sp>
    </p:spTree>
    <p:extLst>
      <p:ext uri="{BB962C8B-B14F-4D97-AF65-F5344CB8AC3E}">
        <p14:creationId xmlns:p14="http://schemas.microsoft.com/office/powerpoint/2010/main" val="25642309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35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901399"/>
              </p:ext>
            </p:extLst>
          </p:nvPr>
        </p:nvGraphicFramePr>
        <p:xfrm>
          <a:off x="51480" y="83132"/>
          <a:ext cx="9173409" cy="213360"/>
        </p:xfrm>
        <a:graphic>
          <a:graphicData uri="http://schemas.openxmlformats.org/drawingml/2006/table">
            <a:tbl>
              <a:tblPr/>
              <a:tblGrid>
                <a:gridCol w="11709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9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42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00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53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화면경로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875778"/>
              </p:ext>
            </p:extLst>
          </p:nvPr>
        </p:nvGraphicFramePr>
        <p:xfrm>
          <a:off x="9290533" y="83132"/>
          <a:ext cx="2835141" cy="648072"/>
        </p:xfrm>
        <a:graphic>
          <a:graphicData uri="http://schemas.openxmlformats.org/drawingml/2006/table">
            <a:tbl>
              <a:tblPr/>
              <a:tblGrid>
                <a:gridCol w="824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0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PROJECT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EGW UI/UX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이수진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55277" y="6658139"/>
            <a:ext cx="3287207" cy="190904"/>
          </a:xfrm>
          <a:prstGeom prst="rect">
            <a:avLst/>
          </a:prstGeom>
          <a:noFill/>
        </p:spPr>
        <p:txBody>
          <a:bodyPr wrap="none" lIns="36000" rIns="36000" rtlCol="0">
            <a:noAutofit/>
          </a:bodyPr>
          <a:lstStyle/>
          <a:p>
            <a:pPr marL="0" marR="0" lvl="0" indent="0" algn="l" defTabSz="107240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Trebuchet MS" panose="020B0603020202020204" pitchFamily="34" charset="0"/>
                <a:ea typeface="나눔고딕" panose="020B0600000101010101" charset="-127"/>
                <a:cs typeface="Verdana" panose="020B0604030504040204" pitchFamily="34" charset="0"/>
              </a:rPr>
              <a:t>HANDYSOFT, INC. –  A DASAN Group Company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Trebuchet MS" panose="020B0603020202020204" pitchFamily="34" charset="0"/>
              <a:ea typeface="나눔고딕" panose="020B0600000101010101" charset="-127"/>
              <a:cs typeface="Verdana" panose="020B0604030504040204" pitchFamily="34" charset="0"/>
            </a:endParaRPr>
          </a:p>
        </p:txBody>
      </p:sp>
      <p:sp>
        <p:nvSpPr>
          <p:cNvPr id="12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7"/>
            </p:custDataLst>
          </p:nvPr>
        </p:nvSpPr>
        <p:spPr>
          <a:xfrm>
            <a:off x="52602" y="347472"/>
            <a:ext cx="9173460" cy="632188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13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8"/>
            </p:custDataLst>
          </p:nvPr>
        </p:nvSpPr>
        <p:spPr>
          <a:xfrm>
            <a:off x="52602" y="74712"/>
            <a:ext cx="9173460" cy="211038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14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9"/>
            </p:custDataLst>
          </p:nvPr>
        </p:nvSpPr>
        <p:spPr>
          <a:xfrm>
            <a:off x="9273877" y="74712"/>
            <a:ext cx="2851448" cy="65871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16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0"/>
            </p:custDataLst>
          </p:nvPr>
        </p:nvSpPr>
        <p:spPr>
          <a:xfrm>
            <a:off x="9273877" y="790574"/>
            <a:ext cx="2851448" cy="587878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1352584" y="6669360"/>
            <a:ext cx="648072" cy="188640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algn="r"/>
            <a:fld id="{209D9B70-5658-42EA-A7C8-1D839C7DC5C0}" type="slidenum">
              <a:rPr lang="ko-KR" altLang="en-US" sz="1000" b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B0600000101010101" charset="-127"/>
                <a:ea typeface="나눔고딕" panose="020B0600000101010101" charset="-127"/>
              </a:rPr>
              <a:t>‹#›</a:t>
            </a:fld>
            <a:endParaRPr lang="ko-KR" altLang="en-US" sz="1000" b="0" smtClean="0">
              <a:solidFill>
                <a:schemeClr val="tx1">
                  <a:lumMod val="75000"/>
                  <a:lumOff val="25000"/>
                </a:schemeClr>
              </a:solidFill>
              <a:latin typeface="나눔고딕" panose="020B0600000101010101" charset="-127"/>
              <a:ea typeface="나눔고딕" panose="020B0600000101010101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15344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27" r:id="rId1"/>
    <p:sldLayoutId id="2147485041" r:id="rId2"/>
    <p:sldLayoutId id="2147485042" r:id="rId3"/>
    <p:sldLayoutId id="2147485059" r:id="rId4"/>
    <p:sldLayoutId id="2147485061" r:id="rId5"/>
  </p:sldLayoutIdLst>
  <p:timing>
    <p:tnLst>
      <p:par>
        <p:cTn id="1" dur="indefinite" restart="never" nodeType="tmRoot"/>
      </p:par>
    </p:tnLst>
  </p:timing>
  <p:hf hd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sz="867" kern="1200">
          <a:solidFill>
            <a:srgbClr val="595959"/>
          </a:solidFill>
          <a:latin typeface="나눔고딕" pitchFamily="50" charset="-127"/>
          <a:ea typeface="나눔고딕" pitchFamily="50" charset="-127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5pPr>
      <a:lvl6pPr marL="495285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6pPr>
      <a:lvl7pPr marL="990570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7pPr>
      <a:lvl8pPr marL="1485854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8pPr>
      <a:lvl9pPr marL="1981139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9pPr>
    </p:titleStyle>
    <p:bodyStyle>
      <a:lvl1pPr marL="371464" indent="-371464" algn="l" rtl="0" eaLnBrk="0" fontAlgn="base" latinLnBrk="1" hangingPunct="0">
        <a:spcBef>
          <a:spcPct val="20000"/>
        </a:spcBef>
        <a:spcAft>
          <a:spcPct val="0"/>
        </a:spcAft>
        <a:defRPr sz="867" kern="1200">
          <a:solidFill>
            <a:srgbClr val="595959"/>
          </a:solidFill>
          <a:latin typeface="나눔고딕" pitchFamily="50" charset="-127"/>
          <a:ea typeface="나눔고딕" pitchFamily="50" charset="-127"/>
          <a:cs typeface="+mn-cs"/>
        </a:defRPr>
      </a:lvl1pPr>
      <a:lvl2pPr marL="804838" indent="-309553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2pPr>
      <a:lvl3pPr marL="1238212" indent="-247642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3pPr>
      <a:lvl4pPr marL="1733497" indent="-247642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4pPr>
      <a:lvl5pPr marL="2228781" indent="-247642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5pPr>
      <a:lvl6pPr marL="2724066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6pPr>
      <a:lvl7pPr marL="3219351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7pPr>
      <a:lvl8pPr marL="3714636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8pPr>
      <a:lvl9pPr marL="4209920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1pPr>
      <a:lvl2pPr marL="495285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90570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3pPr>
      <a:lvl4pPr marL="1485854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4pPr>
      <a:lvl5pPr marL="1981139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5pPr>
      <a:lvl6pPr marL="2476424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09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7pPr>
      <a:lvl8pPr marL="3466993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8pPr>
      <a:lvl9pPr marL="3962278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11352584" y="6669360"/>
            <a:ext cx="648072" cy="188640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9D9B70-5658-42EA-A7C8-1D839C7DC5C0}" type="slidenum">
              <a:rPr kumimoji="1" lang="ko-KR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w Cen MT" panose="020B0602020104020603" pitchFamily="34" charset="0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ko-KR" altLang="en-US" sz="1000" b="0" i="0" u="none" strike="noStrike" kern="120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w Cen MT" panose="020B0602020104020603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5277" y="6658139"/>
            <a:ext cx="3287207" cy="190904"/>
          </a:xfrm>
          <a:prstGeom prst="rect">
            <a:avLst/>
          </a:prstGeom>
          <a:noFill/>
        </p:spPr>
        <p:txBody>
          <a:bodyPr wrap="none" lIns="36000" rIns="36000" rtlCol="0">
            <a:noAutofit/>
          </a:bodyPr>
          <a:lstStyle/>
          <a:p>
            <a:pPr marL="0" marR="0" lvl="0" indent="0" algn="l" defTabSz="107240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Trebuchet MS" panose="020B060302020202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HANDYSOFT, INC. –  A DASAN Group Company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Trebuchet MS" panose="020B0603020202020204" pitchFamily="34" charset="0"/>
              <a:ea typeface="굴림" pitchFamily="50" charset="-127"/>
              <a:cs typeface="Verdana" panose="020B0604030504040204" pitchFamily="34" charset="0"/>
            </a:endParaRPr>
          </a:p>
        </p:txBody>
      </p:sp>
      <p:cxnSp>
        <p:nvCxnSpPr>
          <p:cNvPr id="4" name="직선 연결선 3"/>
          <p:cNvCxnSpPr/>
          <p:nvPr/>
        </p:nvCxnSpPr>
        <p:spPr>
          <a:xfrm>
            <a:off x="201000" y="546283"/>
            <a:ext cx="11811961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85241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39" r:id="rId1"/>
    <p:sldLayoutId id="2147485051" r:id="rId2"/>
    <p:sldLayoutId id="2147485040" r:id="rId3"/>
    <p:sldLayoutId id="2147485062" r:id="rId4"/>
    <p:sldLayoutId id="2147485064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11352584" y="6669360"/>
            <a:ext cx="648072" cy="188640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9D9B70-5658-42EA-A7C8-1D839C7DC5C0}" type="slidenum">
              <a:rPr kumimoji="1" lang="ko-KR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w Cen MT" panose="020B0602020104020603" pitchFamily="34" charset="0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ko-KR" altLang="en-US" sz="1000" b="0" i="0" u="none" strike="noStrike" kern="120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w Cen MT" panose="020B0602020104020603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5277" y="6658139"/>
            <a:ext cx="3287207" cy="190904"/>
          </a:xfrm>
          <a:prstGeom prst="rect">
            <a:avLst/>
          </a:prstGeom>
          <a:noFill/>
        </p:spPr>
        <p:txBody>
          <a:bodyPr wrap="none" lIns="36000" rIns="36000" rtlCol="0">
            <a:noAutofit/>
          </a:bodyPr>
          <a:lstStyle/>
          <a:p>
            <a:pPr marL="0" marR="0" lvl="0" indent="0" algn="l" defTabSz="107240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HANDYSOFT, INC. –  A DASAN Group Company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Verdana" panose="020B0604030504040204" pitchFamily="34" charset="0"/>
              <a:ea typeface="굴림" pitchFamily="50" charset="-127"/>
              <a:cs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35375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44" r:id="rId1"/>
    <p:sldLayoutId id="2147485045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288552"/>
              </p:ext>
            </p:extLst>
          </p:nvPr>
        </p:nvGraphicFramePr>
        <p:xfrm>
          <a:off x="56091" y="83132"/>
          <a:ext cx="9173409" cy="213360"/>
        </p:xfrm>
        <a:graphic>
          <a:graphicData uri="http://schemas.openxmlformats.org/drawingml/2006/table">
            <a:tbl>
              <a:tblPr/>
              <a:tblGrid>
                <a:gridCol w="11709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9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42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00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53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화면경로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8829690"/>
              </p:ext>
            </p:extLst>
          </p:nvPr>
        </p:nvGraphicFramePr>
        <p:xfrm>
          <a:off x="9290533" y="83132"/>
          <a:ext cx="2835141" cy="648072"/>
        </p:xfrm>
        <a:graphic>
          <a:graphicData uri="http://schemas.openxmlformats.org/drawingml/2006/table">
            <a:tbl>
              <a:tblPr/>
              <a:tblGrid>
                <a:gridCol w="824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0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PROJECT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EGW UI/UX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이수진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55277" y="6658139"/>
            <a:ext cx="3287207" cy="190904"/>
          </a:xfrm>
          <a:prstGeom prst="rect">
            <a:avLst/>
          </a:prstGeom>
          <a:noFill/>
        </p:spPr>
        <p:txBody>
          <a:bodyPr wrap="none" lIns="36000" rIns="36000" rtlCol="0">
            <a:noAutofit/>
          </a:bodyPr>
          <a:lstStyle/>
          <a:p>
            <a:pPr marL="0" marR="0" lvl="0" indent="0" algn="l" defTabSz="107240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Trebuchet MS" panose="020B0603020202020204" pitchFamily="34" charset="0"/>
                <a:ea typeface="나눔고딕" panose="020B0600000101010101" charset="-127"/>
                <a:cs typeface="Verdana" panose="020B0604030504040204" pitchFamily="34" charset="0"/>
              </a:rPr>
              <a:t>HANDYSOFT, INC. –  A DASAN Group Company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Trebuchet MS" panose="020B0603020202020204" pitchFamily="34" charset="0"/>
              <a:ea typeface="나눔고딕" panose="020B0600000101010101" charset="-127"/>
              <a:cs typeface="Verdana" panose="020B0604030504040204" pitchFamily="34" charset="0"/>
            </a:endParaRPr>
          </a:p>
        </p:txBody>
      </p:sp>
      <p:sp>
        <p:nvSpPr>
          <p:cNvPr id="12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5"/>
            </p:custDataLst>
          </p:nvPr>
        </p:nvSpPr>
        <p:spPr>
          <a:xfrm>
            <a:off x="52602" y="347472"/>
            <a:ext cx="9173460" cy="632188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13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6"/>
            </p:custDataLst>
          </p:nvPr>
        </p:nvSpPr>
        <p:spPr>
          <a:xfrm>
            <a:off x="52602" y="74712"/>
            <a:ext cx="9173460" cy="211038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14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7"/>
            </p:custDataLst>
          </p:nvPr>
        </p:nvSpPr>
        <p:spPr>
          <a:xfrm>
            <a:off x="9273877" y="74712"/>
            <a:ext cx="2851448" cy="65871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1352584" y="6669360"/>
            <a:ext cx="648072" cy="188640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9D9B70-5658-42EA-A7C8-1D839C7DC5C0}" type="slidenum">
              <a:rPr kumimoji="1" lang="ko-KR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B0600000101010101" charset="-127"/>
                <a:ea typeface="나눔고딕" panose="020B0600000101010101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ko-KR" altLang="en-US" sz="1000" b="0" i="0" u="none" strike="noStrike" kern="120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7887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47" r:id="rId1"/>
    <p:sldLayoutId id="2147485048" r:id="rId2"/>
    <p:sldLayoutId id="2147485054" r:id="rId3"/>
    <p:sldLayoutId id="2147485049" r:id="rId4"/>
    <p:sldLayoutId id="2147485055" r:id="rId5"/>
    <p:sldLayoutId id="2147485057" r:id="rId6"/>
    <p:sldLayoutId id="2147485058" r:id="rId7"/>
    <p:sldLayoutId id="2147485056" r:id="rId8"/>
    <p:sldLayoutId id="2147485052" r:id="rId9"/>
    <p:sldLayoutId id="2147485050" r:id="rId10"/>
    <p:sldLayoutId id="2147485053" r:id="rId11"/>
    <p:sldLayoutId id="2147485060" r:id="rId12"/>
    <p:sldLayoutId id="2147485065" r:id="rId13"/>
  </p:sldLayoutIdLst>
  <p:timing>
    <p:tnLst>
      <p:par>
        <p:cTn id="1" dur="indefinite" restart="never" nodeType="tmRoot"/>
      </p:par>
    </p:tnLst>
  </p:timing>
  <p:hf hd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sz="867" kern="1200">
          <a:solidFill>
            <a:srgbClr val="595959"/>
          </a:solidFill>
          <a:latin typeface="나눔고딕" pitchFamily="50" charset="-127"/>
          <a:ea typeface="나눔고딕" pitchFamily="50" charset="-127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5pPr>
      <a:lvl6pPr marL="495285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6pPr>
      <a:lvl7pPr marL="990570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7pPr>
      <a:lvl8pPr marL="1485854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8pPr>
      <a:lvl9pPr marL="1981139" algn="l" rtl="0" fontAlgn="base" latinLnBrk="1">
        <a:spcBef>
          <a:spcPct val="0"/>
        </a:spcBef>
        <a:spcAft>
          <a:spcPct val="0"/>
        </a:spcAft>
        <a:defRPr sz="867">
          <a:solidFill>
            <a:srgbClr val="595959"/>
          </a:solidFill>
          <a:latin typeface="나눔고딕" pitchFamily="50" charset="-127"/>
          <a:ea typeface="나눔고딕" pitchFamily="50" charset="-127"/>
        </a:defRPr>
      </a:lvl9pPr>
    </p:titleStyle>
    <p:bodyStyle>
      <a:lvl1pPr marL="371464" indent="-371464" algn="l" rtl="0" eaLnBrk="0" fontAlgn="base" latinLnBrk="1" hangingPunct="0">
        <a:spcBef>
          <a:spcPct val="20000"/>
        </a:spcBef>
        <a:spcAft>
          <a:spcPct val="0"/>
        </a:spcAft>
        <a:defRPr sz="867" kern="1200">
          <a:solidFill>
            <a:srgbClr val="595959"/>
          </a:solidFill>
          <a:latin typeface="나눔고딕" pitchFamily="50" charset="-127"/>
          <a:ea typeface="나눔고딕" pitchFamily="50" charset="-127"/>
          <a:cs typeface="+mn-cs"/>
        </a:defRPr>
      </a:lvl1pPr>
      <a:lvl2pPr marL="804838" indent="-309553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2pPr>
      <a:lvl3pPr marL="1238212" indent="-247642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3pPr>
      <a:lvl4pPr marL="1733497" indent="-247642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4pPr>
      <a:lvl5pPr marL="2228781" indent="-247642" algn="l" rtl="0" eaLnBrk="0" fontAlgn="base" latinLnBrk="1" hangingPunct="0">
        <a:spcBef>
          <a:spcPct val="20000"/>
        </a:spcBef>
        <a:spcAft>
          <a:spcPct val="0"/>
        </a:spcAft>
        <a:defRPr sz="975" kern="1200">
          <a:solidFill>
            <a:schemeClr val="tx1"/>
          </a:solidFill>
          <a:latin typeface="나눔고딕" pitchFamily="50" charset="-127"/>
          <a:ea typeface="나눔고딕" pitchFamily="50" charset="-127"/>
          <a:cs typeface="+mn-cs"/>
        </a:defRPr>
      </a:lvl5pPr>
      <a:lvl6pPr marL="2724066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6pPr>
      <a:lvl7pPr marL="3219351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7pPr>
      <a:lvl8pPr marL="3714636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8pPr>
      <a:lvl9pPr marL="4209920" indent="-247642" algn="l" defTabSz="990570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1pPr>
      <a:lvl2pPr marL="495285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90570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3pPr>
      <a:lvl4pPr marL="1485854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4pPr>
      <a:lvl5pPr marL="1981139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5pPr>
      <a:lvl6pPr marL="2476424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09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7pPr>
      <a:lvl8pPr marL="3466993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8pPr>
      <a:lvl9pPr marL="3962278" algn="l" defTabSz="990570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20.xml"/><Relationship Id="rId13" Type="http://schemas.openxmlformats.org/officeDocument/2006/relationships/tags" Target="../tags/tag25.xml"/><Relationship Id="rId18" Type="http://schemas.openxmlformats.org/officeDocument/2006/relationships/tags" Target="../tags/tag30.xml"/><Relationship Id="rId3" Type="http://schemas.openxmlformats.org/officeDocument/2006/relationships/tags" Target="../tags/tag15.xml"/><Relationship Id="rId21" Type="http://schemas.openxmlformats.org/officeDocument/2006/relationships/tags" Target="../tags/tag33.xml"/><Relationship Id="rId7" Type="http://schemas.openxmlformats.org/officeDocument/2006/relationships/tags" Target="../tags/tag19.xml"/><Relationship Id="rId12" Type="http://schemas.openxmlformats.org/officeDocument/2006/relationships/tags" Target="../tags/tag24.xml"/><Relationship Id="rId17" Type="http://schemas.openxmlformats.org/officeDocument/2006/relationships/tags" Target="../tags/tag29.xml"/><Relationship Id="rId2" Type="http://schemas.openxmlformats.org/officeDocument/2006/relationships/tags" Target="../tags/tag14.xml"/><Relationship Id="rId16" Type="http://schemas.openxmlformats.org/officeDocument/2006/relationships/tags" Target="../tags/tag28.xml"/><Relationship Id="rId20" Type="http://schemas.openxmlformats.org/officeDocument/2006/relationships/tags" Target="../tags/tag32.xml"/><Relationship Id="rId1" Type="http://schemas.openxmlformats.org/officeDocument/2006/relationships/tags" Target="../tags/tag13.xml"/><Relationship Id="rId6" Type="http://schemas.openxmlformats.org/officeDocument/2006/relationships/tags" Target="../tags/tag18.xml"/><Relationship Id="rId11" Type="http://schemas.openxmlformats.org/officeDocument/2006/relationships/tags" Target="../tags/tag23.xml"/><Relationship Id="rId5" Type="http://schemas.openxmlformats.org/officeDocument/2006/relationships/tags" Target="../tags/tag17.xml"/><Relationship Id="rId15" Type="http://schemas.openxmlformats.org/officeDocument/2006/relationships/tags" Target="../tags/tag27.xml"/><Relationship Id="rId23" Type="http://schemas.openxmlformats.org/officeDocument/2006/relationships/image" Target="../media/image10.png"/><Relationship Id="rId10" Type="http://schemas.openxmlformats.org/officeDocument/2006/relationships/tags" Target="../tags/tag22.xml"/><Relationship Id="rId19" Type="http://schemas.openxmlformats.org/officeDocument/2006/relationships/tags" Target="../tags/tag31.xml"/><Relationship Id="rId4" Type="http://schemas.openxmlformats.org/officeDocument/2006/relationships/tags" Target="../tags/tag16.xml"/><Relationship Id="rId9" Type="http://schemas.openxmlformats.org/officeDocument/2006/relationships/tags" Target="../tags/tag21.xml"/><Relationship Id="rId14" Type="http://schemas.openxmlformats.org/officeDocument/2006/relationships/tags" Target="../tags/tag26.xml"/><Relationship Id="rId22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5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2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3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34.xml"/><Relationship Id="rId5" Type="http://schemas.openxmlformats.org/officeDocument/2006/relationships/image" Target="../media/image6.png"/><Relationship Id="rId4" Type="http://schemas.openxmlformats.org/officeDocument/2006/relationships/image" Target="../media/image2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tags" Target="../tags/tag36.xml"/><Relationship Id="rId1" Type="http://schemas.openxmlformats.org/officeDocument/2006/relationships/tags" Target="../tags/tag35.xml"/><Relationship Id="rId5" Type="http://schemas.openxmlformats.org/officeDocument/2006/relationships/image" Target="../media/image6.png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12.png"/><Relationship Id="rId7" Type="http://schemas.openxmlformats.org/officeDocument/2006/relationships/image" Target="../media/image6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5.png"/><Relationship Id="rId4" Type="http://schemas.openxmlformats.org/officeDocument/2006/relationships/image" Target="../media/image3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12.png"/><Relationship Id="rId7" Type="http://schemas.openxmlformats.org/officeDocument/2006/relationships/image" Target="../media/image6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5.png"/><Relationship Id="rId4" Type="http://schemas.openxmlformats.org/officeDocument/2006/relationships/image" Target="../media/image3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12.png"/><Relationship Id="rId9" Type="http://schemas.openxmlformats.org/officeDocument/2006/relationships/image" Target="../media/image7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5.png"/><Relationship Id="rId5" Type="http://schemas.openxmlformats.org/officeDocument/2006/relationships/image" Target="../media/image6.png"/><Relationship Id="rId4" Type="http://schemas.openxmlformats.org/officeDocument/2006/relationships/image" Target="../media/image7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tags" Target="../tags/tag39.xml"/><Relationship Id="rId7" Type="http://schemas.openxmlformats.org/officeDocument/2006/relationships/image" Target="../media/image2.png"/><Relationship Id="rId2" Type="http://schemas.openxmlformats.org/officeDocument/2006/relationships/tags" Target="../tags/tag38.xml"/><Relationship Id="rId1" Type="http://schemas.openxmlformats.org/officeDocument/2006/relationships/tags" Target="../tags/tag37.xml"/><Relationship Id="rId6" Type="http://schemas.microsoft.com/office/2007/relationships/hdphoto" Target="../media/hdphoto1.wdp"/><Relationship Id="rId5" Type="http://schemas.openxmlformats.org/officeDocument/2006/relationships/image" Target="../media/image33.jpeg"/><Relationship Id="rId4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0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tags" Target="../tags/tag43.xml"/><Relationship Id="rId7" Type="http://schemas.openxmlformats.org/officeDocument/2006/relationships/image" Target="../media/image37.png"/><Relationship Id="rId2" Type="http://schemas.openxmlformats.org/officeDocument/2006/relationships/tags" Target="../tags/tag42.xml"/><Relationship Id="rId1" Type="http://schemas.openxmlformats.org/officeDocument/2006/relationships/tags" Target="../tags/tag41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45.xml"/><Relationship Id="rId10" Type="http://schemas.openxmlformats.org/officeDocument/2006/relationships/image" Target="../media/image38.png"/><Relationship Id="rId4" Type="http://schemas.openxmlformats.org/officeDocument/2006/relationships/tags" Target="../tags/tag44.xml"/><Relationship Id="rId9" Type="http://schemas.openxmlformats.org/officeDocument/2006/relationships/image" Target="../media/image5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tags" Target="../tags/tag48.xml"/><Relationship Id="rId2" Type="http://schemas.openxmlformats.org/officeDocument/2006/relationships/tags" Target="../tags/tag47.xml"/><Relationship Id="rId1" Type="http://schemas.openxmlformats.org/officeDocument/2006/relationships/tags" Target="../tags/tag46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.png"/><Relationship Id="rId5" Type="http://schemas.openxmlformats.org/officeDocument/2006/relationships/image" Target="../media/image4.png"/><Relationship Id="rId4" Type="http://schemas.openxmlformats.org/officeDocument/2006/relationships/image" Target="../media/image12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50.xml"/><Relationship Id="rId1" Type="http://schemas.openxmlformats.org/officeDocument/2006/relationships/tags" Target="../tags/tag49.xml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1.pn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slideLayout" Target="../slideLayouts/slideLayout18.xml"/><Relationship Id="rId2" Type="http://schemas.openxmlformats.org/officeDocument/2006/relationships/tags" Target="../tags/tag52.xml"/><Relationship Id="rId16" Type="http://schemas.openxmlformats.org/officeDocument/2006/relationships/image" Target="../media/image7.pn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tags" Target="../tags/tag61.xml"/><Relationship Id="rId5" Type="http://schemas.openxmlformats.org/officeDocument/2006/relationships/tags" Target="../tags/tag55.xml"/><Relationship Id="rId15" Type="http://schemas.openxmlformats.org/officeDocument/2006/relationships/image" Target="../media/image6.png"/><Relationship Id="rId10" Type="http://schemas.openxmlformats.org/officeDocument/2006/relationships/tags" Target="../tags/tag60.xml"/><Relationship Id="rId4" Type="http://schemas.openxmlformats.org/officeDocument/2006/relationships/tags" Target="../tags/tag54.xml"/><Relationship Id="rId9" Type="http://schemas.openxmlformats.org/officeDocument/2006/relationships/tags" Target="../tags/tag59.xml"/><Relationship Id="rId14" Type="http://schemas.openxmlformats.org/officeDocument/2006/relationships/image" Target="../media/image4.pn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tags" Target="../tags/tag63.xml"/><Relationship Id="rId1" Type="http://schemas.openxmlformats.org/officeDocument/2006/relationships/tags" Target="../tags/tag6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tags" Target="../tags/tag65.xml"/><Relationship Id="rId1" Type="http://schemas.openxmlformats.org/officeDocument/2006/relationships/tags" Target="../tags/tag64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tags" Target="../tags/tag67.xml"/><Relationship Id="rId1" Type="http://schemas.openxmlformats.org/officeDocument/2006/relationships/tags" Target="../tags/tag66.xml"/><Relationship Id="rId6" Type="http://schemas.openxmlformats.org/officeDocument/2006/relationships/image" Target="../media/image5.png"/><Relationship Id="rId5" Type="http://schemas.openxmlformats.org/officeDocument/2006/relationships/image" Target="../media/image32.png"/><Relationship Id="rId4" Type="http://schemas.openxmlformats.org/officeDocument/2006/relationships/image" Target="../media/image34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5.png"/><Relationship Id="rId5" Type="http://schemas.openxmlformats.org/officeDocument/2006/relationships/image" Target="../media/image32.png"/><Relationship Id="rId4" Type="http://schemas.openxmlformats.org/officeDocument/2006/relationships/image" Target="../media/image34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47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tags" Target="../tags/tag72.xml"/><Relationship Id="rId7" Type="http://schemas.openxmlformats.org/officeDocument/2006/relationships/slideLayout" Target="../slideLayouts/slideLayout7.xml"/><Relationship Id="rId2" Type="http://schemas.openxmlformats.org/officeDocument/2006/relationships/tags" Target="../tags/tag71.xml"/><Relationship Id="rId1" Type="http://schemas.openxmlformats.org/officeDocument/2006/relationships/tags" Target="../tags/tag70.xml"/><Relationship Id="rId6" Type="http://schemas.openxmlformats.org/officeDocument/2006/relationships/tags" Target="../tags/tag75.xml"/><Relationship Id="rId5" Type="http://schemas.openxmlformats.org/officeDocument/2006/relationships/tags" Target="../tags/tag74.xml"/><Relationship Id="rId4" Type="http://schemas.openxmlformats.org/officeDocument/2006/relationships/tags" Target="../tags/tag73.xml"/><Relationship Id="rId9" Type="http://schemas.openxmlformats.org/officeDocument/2006/relationships/image" Target="../media/image5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45.pn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44.png"/><Relationship Id="rId11" Type="http://schemas.openxmlformats.org/officeDocument/2006/relationships/image" Target="../media/image49.png"/><Relationship Id="rId5" Type="http://schemas.openxmlformats.org/officeDocument/2006/relationships/image" Target="../media/image5.png"/><Relationship Id="rId10" Type="http://schemas.openxmlformats.org/officeDocument/2006/relationships/image" Target="../media/image48.png"/><Relationship Id="rId4" Type="http://schemas.openxmlformats.org/officeDocument/2006/relationships/image" Target="../media/image32.png"/><Relationship Id="rId9" Type="http://schemas.openxmlformats.org/officeDocument/2006/relationships/image" Target="../media/image46.png"/></Relationships>
</file>

<file path=ppt/slides/_rels/slide5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50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.png"/><Relationship Id="rId5" Type="http://schemas.openxmlformats.org/officeDocument/2006/relationships/image" Target="../media/image4.png"/><Relationship Id="rId4" Type="http://schemas.openxmlformats.org/officeDocument/2006/relationships/image" Target="../media/image12.png"/><Relationship Id="rId9" Type="http://schemas.openxmlformats.org/officeDocument/2006/relationships/image" Target="../media/image51.png"/></Relationships>
</file>

<file path=ppt/slides/_rels/slide5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50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2.png"/><Relationship Id="rId5" Type="http://schemas.openxmlformats.org/officeDocument/2006/relationships/image" Target="../media/image4.png"/><Relationship Id="rId4" Type="http://schemas.openxmlformats.org/officeDocument/2006/relationships/image" Target="../media/image12.png"/><Relationship Id="rId9" Type="http://schemas.openxmlformats.org/officeDocument/2006/relationships/image" Target="../media/image51.pn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85.xml"/><Relationship Id="rId13" Type="http://schemas.openxmlformats.org/officeDocument/2006/relationships/tags" Target="../tags/tag90.xml"/><Relationship Id="rId18" Type="http://schemas.openxmlformats.org/officeDocument/2006/relationships/tags" Target="../tags/tag95.xml"/><Relationship Id="rId3" Type="http://schemas.openxmlformats.org/officeDocument/2006/relationships/tags" Target="../tags/tag80.xml"/><Relationship Id="rId21" Type="http://schemas.openxmlformats.org/officeDocument/2006/relationships/tags" Target="../tags/tag98.xml"/><Relationship Id="rId7" Type="http://schemas.openxmlformats.org/officeDocument/2006/relationships/tags" Target="../tags/tag84.xml"/><Relationship Id="rId12" Type="http://schemas.openxmlformats.org/officeDocument/2006/relationships/tags" Target="../tags/tag89.xml"/><Relationship Id="rId17" Type="http://schemas.openxmlformats.org/officeDocument/2006/relationships/tags" Target="../tags/tag94.xml"/><Relationship Id="rId2" Type="http://schemas.openxmlformats.org/officeDocument/2006/relationships/tags" Target="../tags/tag79.xml"/><Relationship Id="rId16" Type="http://schemas.openxmlformats.org/officeDocument/2006/relationships/tags" Target="../tags/tag93.xml"/><Relationship Id="rId20" Type="http://schemas.openxmlformats.org/officeDocument/2006/relationships/tags" Target="../tags/tag97.xml"/><Relationship Id="rId1" Type="http://schemas.openxmlformats.org/officeDocument/2006/relationships/tags" Target="../tags/tag78.xml"/><Relationship Id="rId6" Type="http://schemas.openxmlformats.org/officeDocument/2006/relationships/tags" Target="../tags/tag83.xml"/><Relationship Id="rId11" Type="http://schemas.openxmlformats.org/officeDocument/2006/relationships/tags" Target="../tags/tag88.xml"/><Relationship Id="rId5" Type="http://schemas.openxmlformats.org/officeDocument/2006/relationships/tags" Target="../tags/tag82.xml"/><Relationship Id="rId15" Type="http://schemas.openxmlformats.org/officeDocument/2006/relationships/tags" Target="../tags/tag92.xml"/><Relationship Id="rId10" Type="http://schemas.openxmlformats.org/officeDocument/2006/relationships/tags" Target="../tags/tag87.xml"/><Relationship Id="rId19" Type="http://schemas.openxmlformats.org/officeDocument/2006/relationships/tags" Target="../tags/tag96.xml"/><Relationship Id="rId4" Type="http://schemas.openxmlformats.org/officeDocument/2006/relationships/tags" Target="../tags/tag81.xml"/><Relationship Id="rId9" Type="http://schemas.openxmlformats.org/officeDocument/2006/relationships/tags" Target="../tags/tag86.xml"/><Relationship Id="rId14" Type="http://schemas.openxmlformats.org/officeDocument/2006/relationships/tags" Target="../tags/tag91.xml"/><Relationship Id="rId22" Type="http://schemas.openxmlformats.org/officeDocument/2006/relationships/slideLayout" Target="../slideLayouts/slideLayout1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34.png"/><Relationship Id="rId4" Type="http://schemas.openxmlformats.org/officeDocument/2006/relationships/image" Target="../media/image59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4.png"/><Relationship Id="rId5" Type="http://schemas.microsoft.com/office/2007/relationships/hdphoto" Target="../media/hdphoto3.wdp"/><Relationship Id="rId4" Type="http://schemas.openxmlformats.org/officeDocument/2006/relationships/image" Target="../media/image60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5" Type="http://schemas.openxmlformats.org/officeDocument/2006/relationships/image" Target="../media/image63.png"/><Relationship Id="rId4" Type="http://schemas.openxmlformats.org/officeDocument/2006/relationships/image" Target="../media/image39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8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8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8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4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7" Type="http://schemas.openxmlformats.org/officeDocument/2006/relationships/image" Target="../media/image69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7" Type="http://schemas.openxmlformats.org/officeDocument/2006/relationships/image" Target="../media/image69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4.png"/><Relationship Id="rId5" Type="http://schemas.openxmlformats.org/officeDocument/2006/relationships/image" Target="../media/image70.png"/><Relationship Id="rId4" Type="http://schemas.openxmlformats.org/officeDocument/2006/relationships/image" Target="../media/image67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74.png"/><Relationship Id="rId2" Type="http://schemas.openxmlformats.org/officeDocument/2006/relationships/tags" Target="../tags/tag102.xml"/><Relationship Id="rId1" Type="http://schemas.openxmlformats.org/officeDocument/2006/relationships/tags" Target="../tags/tag101.xml"/><Relationship Id="rId6" Type="http://schemas.openxmlformats.org/officeDocument/2006/relationships/image" Target="../media/image73.png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04.xml"/><Relationship Id="rId1" Type="http://schemas.openxmlformats.org/officeDocument/2006/relationships/tags" Target="../tags/tag103.xml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12.png"/><Relationship Id="rId7" Type="http://schemas.openxmlformats.org/officeDocument/2006/relationships/image" Target="../media/image6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5.png"/><Relationship Id="rId4" Type="http://schemas.openxmlformats.org/officeDocument/2006/relationships/image" Target="../media/image3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5.xml"/><Relationship Id="rId5" Type="http://schemas.openxmlformats.org/officeDocument/2006/relationships/image" Target="../media/image27.png"/><Relationship Id="rId4" Type="http://schemas.openxmlformats.org/officeDocument/2006/relationships/image" Target="../media/image80.png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18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18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5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5.png"/><Relationship Id="rId4" Type="http://schemas.openxmlformats.org/officeDocument/2006/relationships/image" Target="../media/image3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4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113.xml"/><Relationship Id="rId13" Type="http://schemas.openxmlformats.org/officeDocument/2006/relationships/tags" Target="../tags/tag118.xml"/><Relationship Id="rId18" Type="http://schemas.openxmlformats.org/officeDocument/2006/relationships/tags" Target="../tags/tag123.xml"/><Relationship Id="rId3" Type="http://schemas.openxmlformats.org/officeDocument/2006/relationships/tags" Target="../tags/tag108.xml"/><Relationship Id="rId21" Type="http://schemas.openxmlformats.org/officeDocument/2006/relationships/tags" Target="../tags/tag126.xml"/><Relationship Id="rId7" Type="http://schemas.openxmlformats.org/officeDocument/2006/relationships/tags" Target="../tags/tag112.xml"/><Relationship Id="rId12" Type="http://schemas.openxmlformats.org/officeDocument/2006/relationships/tags" Target="../tags/tag117.xml"/><Relationship Id="rId17" Type="http://schemas.openxmlformats.org/officeDocument/2006/relationships/tags" Target="../tags/tag122.xml"/><Relationship Id="rId2" Type="http://schemas.openxmlformats.org/officeDocument/2006/relationships/tags" Target="../tags/tag107.xml"/><Relationship Id="rId16" Type="http://schemas.openxmlformats.org/officeDocument/2006/relationships/tags" Target="../tags/tag121.xml"/><Relationship Id="rId20" Type="http://schemas.openxmlformats.org/officeDocument/2006/relationships/tags" Target="../tags/tag125.xml"/><Relationship Id="rId1" Type="http://schemas.openxmlformats.org/officeDocument/2006/relationships/tags" Target="../tags/tag106.xml"/><Relationship Id="rId6" Type="http://schemas.openxmlformats.org/officeDocument/2006/relationships/tags" Target="../tags/tag111.xml"/><Relationship Id="rId11" Type="http://schemas.openxmlformats.org/officeDocument/2006/relationships/tags" Target="../tags/tag116.xml"/><Relationship Id="rId5" Type="http://schemas.openxmlformats.org/officeDocument/2006/relationships/tags" Target="../tags/tag110.xml"/><Relationship Id="rId15" Type="http://schemas.openxmlformats.org/officeDocument/2006/relationships/tags" Target="../tags/tag120.xml"/><Relationship Id="rId10" Type="http://schemas.openxmlformats.org/officeDocument/2006/relationships/tags" Target="../tags/tag115.xml"/><Relationship Id="rId19" Type="http://schemas.openxmlformats.org/officeDocument/2006/relationships/tags" Target="../tags/tag124.xml"/><Relationship Id="rId4" Type="http://schemas.openxmlformats.org/officeDocument/2006/relationships/tags" Target="../tags/tag109.xml"/><Relationship Id="rId9" Type="http://schemas.openxmlformats.org/officeDocument/2006/relationships/tags" Target="../tags/tag114.xml"/><Relationship Id="rId14" Type="http://schemas.openxmlformats.org/officeDocument/2006/relationships/tags" Target="../tags/tag119.xml"/><Relationship Id="rId22" Type="http://schemas.openxmlformats.org/officeDocument/2006/relationships/slideLayout" Target="../slideLayouts/slideLayout18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tags" Target="../tags/tag129.xml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128.xml"/><Relationship Id="rId1" Type="http://schemas.openxmlformats.org/officeDocument/2006/relationships/tags" Target="../tags/tag127.xml"/><Relationship Id="rId6" Type="http://schemas.openxmlformats.org/officeDocument/2006/relationships/tags" Target="../tags/tag132.xml"/><Relationship Id="rId5" Type="http://schemas.openxmlformats.org/officeDocument/2006/relationships/tags" Target="../tags/tag131.xml"/><Relationship Id="rId4" Type="http://schemas.openxmlformats.org/officeDocument/2006/relationships/tags" Target="../tags/tag130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8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8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tags" Target="../tags/tag135.xml"/><Relationship Id="rId2" Type="http://schemas.openxmlformats.org/officeDocument/2006/relationships/tags" Target="../tags/tag134.xml"/><Relationship Id="rId1" Type="http://schemas.openxmlformats.org/officeDocument/2006/relationships/tags" Target="../tags/tag133.xml"/><Relationship Id="rId6" Type="http://schemas.openxmlformats.org/officeDocument/2006/relationships/image" Target="../media/image72.png"/><Relationship Id="rId5" Type="http://schemas.openxmlformats.org/officeDocument/2006/relationships/image" Target="../media/image71.png"/><Relationship Id="rId4" Type="http://schemas.openxmlformats.org/officeDocument/2006/relationships/slideLayout" Target="../slideLayouts/slideLayout18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18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2468909" y="1793965"/>
            <a:ext cx="8533160" cy="770318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54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j-cs"/>
              </a:defRPr>
            </a:lvl1pPr>
          </a:lstStyle>
          <a:p>
            <a:pPr lvl="0" fontAlgn="auto">
              <a:spcAft>
                <a:spcPts val="0"/>
              </a:spcAft>
              <a:defRPr/>
            </a:pPr>
            <a:r>
              <a:rPr kumimoji="0" lang="ko-KR" altLang="en-US" sz="4400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스퀘어</a:t>
            </a:r>
            <a:endParaRPr kumimoji="0" lang="ko-KR" altLang="en-US" sz="4400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5" name="텍스트 개체 틀 21"/>
          <p:cNvSpPr txBox="1">
            <a:spLocks/>
          </p:cNvSpPr>
          <p:nvPr/>
        </p:nvSpPr>
        <p:spPr>
          <a:xfrm>
            <a:off x="1559496" y="2473846"/>
            <a:ext cx="2736304" cy="903008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228600" indent="-22860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ko-KR" altLang="en-US" sz="2400" b="1" kern="1200" smtClean="0">
                <a:solidFill>
                  <a:schemeClr val="bg1">
                    <a:lumMod val="65000"/>
                  </a:schemeClr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j-cs"/>
              </a:defRPr>
            </a:lvl1pPr>
            <a:lvl2pPr marL="596646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lang="ko-KR" altLang="en-US" sz="24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ko-KR" altLang="en-US" sz="20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ko-KR" altLang="en-US" sz="18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ko-KR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rtl="0" eaLnBrk="1" fontAlgn="auto" latinLnBrk="1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j-cs"/>
              </a:rPr>
              <a:t>2.8</a:t>
            </a:r>
            <a:endParaRPr kumimoji="0" lang="en-US" altLang="ko-KR" sz="11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j-cs"/>
            </a:endParaRPr>
          </a:p>
          <a:p>
            <a:pPr marL="228600" marR="0" lvl="0" indent="-228600" algn="l" defTabSz="914400" rtl="0" eaLnBrk="1" fontAlgn="auto" latinLnBrk="1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j-cs"/>
              </a:rPr>
              <a:t>2018-03-30</a:t>
            </a:r>
            <a:endParaRPr kumimoji="0" lang="en-US" altLang="ko-KR" sz="11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j-cs"/>
            </a:endParaRPr>
          </a:p>
          <a:p>
            <a:pPr marL="228600" marR="0" lvl="0" indent="-228600" algn="l" defTabSz="914400" rtl="0" eaLnBrk="1" fontAlgn="auto" latinLnBrk="1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ko-KR" sz="11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969879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424576"/>
              </p:ext>
            </p:extLst>
          </p:nvPr>
        </p:nvGraphicFramePr>
        <p:xfrm>
          <a:off x="990126" y="836716"/>
          <a:ext cx="10218442" cy="5386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426">
                  <a:extLst>
                    <a:ext uri="{9D8B030D-6E8A-4147-A177-3AD203B41FA5}">
                      <a16:colId xmlns:a16="http://schemas.microsoft.com/office/drawing/2014/main" val="2455209323"/>
                    </a:ext>
                  </a:extLst>
                </a:gridCol>
                <a:gridCol w="7200800">
                  <a:extLst>
                    <a:ext uri="{9D8B030D-6E8A-4147-A177-3AD203B41FA5}">
                      <a16:colId xmlns:a16="http://schemas.microsoft.com/office/drawing/2014/main" val="3789796816"/>
                    </a:ext>
                  </a:extLst>
                </a:gridCol>
                <a:gridCol w="972108">
                  <a:extLst>
                    <a:ext uri="{9D8B030D-6E8A-4147-A177-3AD203B41FA5}">
                      <a16:colId xmlns:a16="http://schemas.microsoft.com/office/drawing/2014/main" val="1094341974"/>
                    </a:ext>
                  </a:extLst>
                </a:gridCol>
                <a:gridCol w="972108">
                  <a:extLst>
                    <a:ext uri="{9D8B030D-6E8A-4147-A177-3AD203B41FA5}">
                      <a16:colId xmlns:a16="http://schemas.microsoft.com/office/drawing/2014/main" val="179082165"/>
                    </a:ext>
                  </a:extLst>
                </a:gridCol>
              </a:tblGrid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작성일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변경 이력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Ver</a:t>
                      </a:r>
                      <a:endParaRPr lang="ko-KR" altLang="en-US" sz="9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832114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2017.09.11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초안작성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(5.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스퀘어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)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이수진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0.01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7651868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2017.09.18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5.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스퀘어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_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화면 고도화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화면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ID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추가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이수진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0.02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9306640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2017.09.26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상세 페이지 추가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이수진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0.03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481431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2017.09.26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27P,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28p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파일 탭 페이지 레이아웃 수정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29p       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멤버 탭 페이지 레이아웃 수정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이수진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0.04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570096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2017.09.28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18p~21p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플래그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VIP,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그룹추가 상세 페이지 추가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22p~23p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    scroll area 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재정의</a:t>
                      </a:r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36p        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파일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목록 수정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37p        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멤버 리스트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&amp;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상세 페이지 수정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38p~39p 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일정추가 버튼 추가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45p~47p  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검색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결과 페이지 추가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이수진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0.05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069815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2017.10.27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사진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&gt;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 생성 및 이동 기능 삭제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1.3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206292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2017.11.01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49p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kumimoji="1" lang="ko-KR" altLang="en-US" sz="800" dirty="0" smtClean="0"/>
                        <a:t>일정</a:t>
                      </a:r>
                      <a:r>
                        <a:rPr kumimoji="1" lang="en-US" altLang="ko-KR" sz="800" dirty="0" smtClean="0"/>
                        <a:t>_</a:t>
                      </a:r>
                      <a:r>
                        <a:rPr kumimoji="1" lang="ko-KR" altLang="en-US" sz="800" dirty="0" err="1" smtClean="0"/>
                        <a:t>캘린더형</a:t>
                      </a:r>
                      <a:r>
                        <a:rPr kumimoji="0" lang="ko-KR" altLang="en-US" sz="800" baseline="0" dirty="0" smtClean="0"/>
                        <a:t> </a:t>
                      </a:r>
                      <a:r>
                        <a:rPr kumimoji="0" lang="en-US" altLang="ko-KR" sz="800" baseline="0" dirty="0" smtClean="0"/>
                        <a:t>&gt;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상세 등록 버튼 추가 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53p   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_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목록형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&gt; 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목록형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페이지에서는 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간편등록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기능 삭제</a:t>
                      </a:r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51p    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상세등록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레이어 팝업에서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설정된 날짜에 기 등록된 일정 데이터 </a:t>
                      </a:r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리스팅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기능 추가</a:t>
                      </a:r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53p    </a:t>
                      </a:r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간편등록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레이어 팝업에서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설정된 날짜에 기 등록된 일정 데이터 </a:t>
                      </a:r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리스팅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기능 추가</a:t>
                      </a:r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김태윤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1.4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7901359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2017.11.03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설계서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디자인 동기화 작업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화면설계서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수정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7p, 8p, 17p, 19p, 20p, 21p, 43p, 66p, 67p)</a:t>
                      </a:r>
                    </a:p>
                    <a:p>
                      <a:pPr latinLnBrk="1"/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신규페이지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생성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(9-13p, 44p, 64-65p)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김태윤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1.5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0150990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2017.11.13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의견쓰기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수정 화면 추가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(21p)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그룹초대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삭제 및 참여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가입하기 버튼 삭제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(66p,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각각의 해당 페이지 화면 수정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 </a:t>
                      </a:r>
                      <a:r>
                        <a:rPr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재시작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기능 추가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(65p)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태그 자동입력 기능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멤버 자동완성 기능 추가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(23P,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각각의 해당 페이지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달력 모듈 현행화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디자인 싱크에 맞게 변경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(24p, 26p)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김태윤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1.6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4041531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2017.11.22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플래그글 일정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삭제</a:t>
                      </a:r>
                      <a:endParaRPr lang="en-US" altLang="ko-KR" sz="800" baseline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 일정 달력형 수정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메뉴간 연동 기능 범위 정의</a:t>
                      </a:r>
                      <a:endParaRPr lang="en-US" altLang="ko-KR" sz="800" baseline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 일정 목록형 수정</a:t>
                      </a:r>
                      <a:endParaRPr lang="ko-KR" altLang="en-US" sz="80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1.7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6707145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2017.12.06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1.8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8969914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8110434"/>
                  </a:ext>
                </a:extLst>
              </a:tr>
            </a:tbl>
          </a:graphicData>
        </a:graphic>
      </p:graphicFrame>
      <p:sp>
        <p:nvSpPr>
          <p:cNvPr id="4" name="텍스트 개체 틀 3"/>
          <p:cNvSpPr txBox="1">
            <a:spLocks/>
          </p:cNvSpPr>
          <p:nvPr/>
        </p:nvSpPr>
        <p:spPr>
          <a:xfrm>
            <a:off x="437676" y="260648"/>
            <a:ext cx="8568952" cy="33326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 spc="-100" baseline="0">
                <a:solidFill>
                  <a:srgbClr val="0B55B5"/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ko-KR" altLang="en-US" sz="1400" b="1" i="0" u="none" strike="noStrike" kern="1200" cap="none" spc="-10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코딩" panose="020D0009000000000000" pitchFamily="49" charset="-127"/>
                <a:ea typeface="나눔고딕코딩" panose="020D0009000000000000" pitchFamily="49" charset="-127"/>
                <a:cs typeface="+mn-cs"/>
              </a:rPr>
              <a:t>개정 이력</a:t>
            </a:r>
            <a:endParaRPr kumimoji="0" lang="ko-KR" altLang="en-US" sz="1200" b="1" i="0" u="none" strike="noStrike" kern="1200" cap="none" spc="-10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코딩" panose="020D0009000000000000" pitchFamily="49" charset="-127"/>
              <a:ea typeface="나눔고딕코딩" panose="020D0009000000000000" pitchFamily="49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30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926185"/>
              </p:ext>
            </p:extLst>
          </p:nvPr>
        </p:nvGraphicFramePr>
        <p:xfrm>
          <a:off x="990126" y="836716"/>
          <a:ext cx="10218442" cy="59275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426">
                  <a:extLst>
                    <a:ext uri="{9D8B030D-6E8A-4147-A177-3AD203B41FA5}">
                      <a16:colId xmlns:a16="http://schemas.microsoft.com/office/drawing/2014/main" val="2455209323"/>
                    </a:ext>
                  </a:extLst>
                </a:gridCol>
                <a:gridCol w="6604198">
                  <a:extLst>
                    <a:ext uri="{9D8B030D-6E8A-4147-A177-3AD203B41FA5}">
                      <a16:colId xmlns:a16="http://schemas.microsoft.com/office/drawing/2014/main" val="3789796816"/>
                    </a:ext>
                  </a:extLst>
                </a:gridCol>
                <a:gridCol w="1568710">
                  <a:extLst>
                    <a:ext uri="{9D8B030D-6E8A-4147-A177-3AD203B41FA5}">
                      <a16:colId xmlns:a16="http://schemas.microsoft.com/office/drawing/2014/main" val="1094341974"/>
                    </a:ext>
                  </a:extLst>
                </a:gridCol>
                <a:gridCol w="972108">
                  <a:extLst>
                    <a:ext uri="{9D8B030D-6E8A-4147-A177-3AD203B41FA5}">
                      <a16:colId xmlns:a16="http://schemas.microsoft.com/office/drawing/2014/main" val="179082165"/>
                    </a:ext>
                  </a:extLst>
                </a:gridCol>
              </a:tblGrid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작성일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변경 이력</a:t>
                      </a:r>
                      <a:endParaRPr lang="ko-KR" altLang="en-US" sz="9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화면</a:t>
                      </a:r>
                      <a:r>
                        <a:rPr lang="en-US" altLang="ko-KR" sz="9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9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Ver</a:t>
                      </a:r>
                      <a:endParaRPr lang="ko-KR" altLang="en-US" sz="9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832114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2017.12.19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스퀘어 메인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: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나를 멘션한 최신글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VIP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 작성한 최신글 알림 카운터 삭제</a:t>
                      </a:r>
                      <a:endParaRPr lang="en-US" altLang="ko-KR" sz="80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trike="sng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스퀘어 메인 </a:t>
                      </a:r>
                      <a:r>
                        <a:rPr lang="en-US" altLang="ko-KR" sz="800" strike="sng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: </a:t>
                      </a:r>
                      <a:r>
                        <a:rPr lang="ko-KR" altLang="en-US" sz="800" strike="sng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태그를 통한 검색화면 추가</a:t>
                      </a:r>
                      <a:endParaRPr lang="en-US" altLang="ko-KR" sz="800" strike="sngStrike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trike="sng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검색 기능 정의</a:t>
                      </a:r>
                      <a:r>
                        <a:rPr lang="en-US" altLang="ko-KR" sz="800" strike="sng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: 10 page</a:t>
                      </a:r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trike="sng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검색결과 화면 추가</a:t>
                      </a:r>
                      <a:endParaRPr lang="ko-KR" altLang="en-US" sz="800" strike="sngStrik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/>
                        <a:t>SQ5.1.1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strike="sngStrike" smtClean="0"/>
                        <a:t>SQ5.1.5</a:t>
                      </a:r>
                      <a:endParaRPr kumimoji="0" lang="ko-KR" altLang="en-US" sz="800" strike="sngStrike" smtClean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trike="sng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-</a:t>
                      </a:r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trike="sng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SQ5.2.1.5 SQ5.2.3.1</a:t>
                      </a:r>
                      <a:endParaRPr lang="ko-KR" altLang="en-US" sz="800" strike="sngStrik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1.9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7651868"/>
                  </a:ext>
                </a:extLst>
              </a:tr>
              <a:tr h="303462"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2017.12.21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&gt;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사진 메뉴내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[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삭제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]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기능 제거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SQ5.1.2.2 / SQ5.2.2.1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2.0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9306640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뷰어내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[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삭제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]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기능 삭제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SQ5.2.2.3 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481431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&gt;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파일 목록내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[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삭제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]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기능 삭제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SQ5.1.2.3 / SQ5.2.3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570096"/>
                  </a:ext>
                </a:extLst>
              </a:tr>
              <a:tr h="30346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2018.01.05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VIP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글 관련 화면 추가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21P~29P</a:t>
                      </a: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2.1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069815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등록시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달력 선택 방식 수정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65P~70P</a:t>
                      </a: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206292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2018.01.08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VIP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지정시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조직도 기반으로 수정</a:t>
                      </a:r>
                      <a:endParaRPr lang="en-US" altLang="ko-KR" sz="800" baseline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VIP tag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 작성시에도 적용</a:t>
                      </a:r>
                      <a:endParaRPr lang="en-US" altLang="ko-KR" sz="800" baseline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설정 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&gt; VIP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관리 화면 삭제</a:t>
                      </a:r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23P~27P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2.2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7901359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2018.01.17</a:t>
                      </a:r>
                      <a:endParaRPr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lnSpc>
                          <a:spcPct val="15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태그 검색 결과 화면 추가</a:t>
                      </a:r>
                      <a:endParaRPr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indent="-171450" latinLnBrk="1">
                        <a:lnSpc>
                          <a:spcPct val="15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그룹별 피드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사진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파일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보고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공지 탭메뉴별 검색창 및 결과 추가</a:t>
                      </a:r>
                      <a:endParaRPr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indent="-171450" latinLnBrk="1">
                        <a:lnSpc>
                          <a:spcPct val="150000"/>
                        </a:lnSpc>
                        <a:buFont typeface="맑은 고딕" panose="020B0503020000020004" pitchFamily="50" charset="-127"/>
                        <a:buChar char="※"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검색창은 전화면 공통 적용될 사항이나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 80~89P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에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가이드로 정의</a:t>
                      </a:r>
                      <a:endParaRPr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  <a:p>
                      <a:pPr marL="171450" indent="-171450" latinLnBrk="1">
                        <a:lnSpc>
                          <a:spcPct val="150000"/>
                        </a:lnSpc>
                        <a:buFont typeface="맑은 고딕" panose="020B0503020000020004" pitchFamily="50" charset="-127"/>
                        <a:buChar char="※"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멤버는 검색 제외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일정은 연계 화면이므로 해당 문서내 생략</a:t>
                      </a:r>
                      <a:endParaRPr lang="en-US" altLang="ko-KR" sz="8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SQ5.8</a:t>
                      </a:r>
                      <a:endParaRPr lang="ko-KR" altLang="en-US" sz="800" b="1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SQ5.9.1/SQ5.9.2/SQ5.9.3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/SQ5.9.4</a:t>
                      </a:r>
                      <a:endParaRPr lang="ko-KR" altLang="en-US" sz="800" b="1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2.3</a:t>
                      </a:r>
                      <a:endParaRPr lang="ko-KR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0150990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2018.01.19</a:t>
                      </a:r>
                      <a:endParaRPr lang="ko-KR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스퀘어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↔ 일정 연동 기능 정의</a:t>
                      </a:r>
                      <a:endParaRPr lang="ko-KR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66~76page</a:t>
                      </a:r>
                      <a:endParaRPr lang="ko-KR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2.4</a:t>
                      </a:r>
                      <a:endParaRPr lang="ko-KR" alt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4041531"/>
                  </a:ext>
                </a:extLst>
              </a:tr>
              <a:tr h="303462">
                <a:tc rowSpan="5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2018.01.22</a:t>
                      </a:r>
                      <a:endParaRPr lang="ko-KR" altLang="en-US" sz="8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컨텐츠 일정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피드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)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등록 화면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: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반복 설정 버튼 추가</a:t>
                      </a:r>
                      <a:endParaRPr lang="ko-KR" altLang="en-US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SQ5.2.1.3.2</a:t>
                      </a:r>
                      <a:endParaRPr lang="ko-KR" altLang="en-US" sz="8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2.5</a:t>
                      </a:r>
                      <a:endParaRPr lang="ko-KR" altLang="en-US" sz="8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6707145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반복 설정 레이어 화면 예제 추가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: #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디자인 작업 필요 없음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47~48page</a:t>
                      </a:r>
                      <a:endParaRPr lang="ko-KR" altLang="en-US" sz="8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906253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컨텐츠 일정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피드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)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수정 화면 추가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: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반복일정 수정 케이스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SQ5.2.1.3.3</a:t>
                      </a:r>
                      <a:endParaRPr lang="ko-KR" altLang="en-US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67017632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컨텐츠 일정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피드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)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출력 방식 수정</a:t>
                      </a:r>
                      <a:endParaRPr lang="ko-KR" altLang="en-US" sz="8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36Page</a:t>
                      </a:r>
                      <a:endParaRPr lang="ko-KR" altLang="en-US" sz="8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8969914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>
                        <a:solidFill>
                          <a:srgbClr val="0070C0"/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일정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_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목록형</a:t>
                      </a:r>
                      <a:endParaRPr kumimoji="0" lang="ko-KR" altLang="en-US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SQ5.2.5.1</a:t>
                      </a:r>
                      <a:r>
                        <a:rPr kumimoji="0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/ </a:t>
                      </a:r>
                      <a:r>
                        <a:rPr kumimoji="0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SQ5.2.5.2</a:t>
                      </a:r>
                      <a:endParaRPr kumimoji="0" lang="ko-KR" altLang="en-US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>
                        <a:solidFill>
                          <a:srgbClr val="0070C0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886646"/>
                  </a:ext>
                </a:extLst>
              </a:tr>
            </a:tbl>
          </a:graphicData>
        </a:graphic>
      </p:graphicFrame>
      <p:sp>
        <p:nvSpPr>
          <p:cNvPr id="4" name="텍스트 개체 틀 3"/>
          <p:cNvSpPr txBox="1">
            <a:spLocks/>
          </p:cNvSpPr>
          <p:nvPr/>
        </p:nvSpPr>
        <p:spPr>
          <a:xfrm>
            <a:off x="437676" y="260648"/>
            <a:ext cx="8568952" cy="33326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 spc="-100" baseline="0">
                <a:solidFill>
                  <a:srgbClr val="0B55B5"/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ko-KR" altLang="en-US" sz="1400" b="1" i="0" u="none" strike="noStrike" kern="1200" cap="none" spc="-10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코딩" panose="020D0009000000000000" pitchFamily="49" charset="-127"/>
                <a:ea typeface="나눔고딕코딩" panose="020D0009000000000000" pitchFamily="49" charset="-127"/>
                <a:cs typeface="+mn-cs"/>
              </a:rPr>
              <a:t>개정 이력</a:t>
            </a:r>
            <a:endParaRPr kumimoji="0" lang="ko-KR" altLang="en-US" sz="1200" b="1" i="0" u="none" strike="noStrike" kern="1200" cap="none" spc="-10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코딩" panose="020D0009000000000000" pitchFamily="49" charset="-127"/>
              <a:ea typeface="나눔고딕코딩" panose="020D0009000000000000" pitchFamily="49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5349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151924"/>
              </p:ext>
            </p:extLst>
          </p:nvPr>
        </p:nvGraphicFramePr>
        <p:xfrm>
          <a:off x="990126" y="836716"/>
          <a:ext cx="10218442" cy="40404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426">
                  <a:extLst>
                    <a:ext uri="{9D8B030D-6E8A-4147-A177-3AD203B41FA5}">
                      <a16:colId xmlns:a16="http://schemas.microsoft.com/office/drawing/2014/main" val="2455209323"/>
                    </a:ext>
                  </a:extLst>
                </a:gridCol>
                <a:gridCol w="7200800">
                  <a:extLst>
                    <a:ext uri="{9D8B030D-6E8A-4147-A177-3AD203B41FA5}">
                      <a16:colId xmlns:a16="http://schemas.microsoft.com/office/drawing/2014/main" val="3789796816"/>
                    </a:ext>
                  </a:extLst>
                </a:gridCol>
                <a:gridCol w="972108">
                  <a:extLst>
                    <a:ext uri="{9D8B030D-6E8A-4147-A177-3AD203B41FA5}">
                      <a16:colId xmlns:a16="http://schemas.microsoft.com/office/drawing/2014/main" val="1094341974"/>
                    </a:ext>
                  </a:extLst>
                </a:gridCol>
                <a:gridCol w="972108">
                  <a:extLst>
                    <a:ext uri="{9D8B030D-6E8A-4147-A177-3AD203B41FA5}">
                      <a16:colId xmlns:a16="http://schemas.microsoft.com/office/drawing/2014/main" val="179082165"/>
                    </a:ext>
                  </a:extLst>
                </a:gridCol>
              </a:tblGrid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작성일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변경 이력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화면</a:t>
                      </a:r>
                      <a:r>
                        <a:rPr lang="en-US" altLang="ko-KR" sz="9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Ver</a:t>
                      </a:r>
                      <a:endParaRPr lang="ko-KR" altLang="en-US" sz="9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832114"/>
                  </a:ext>
                </a:extLst>
              </a:tr>
              <a:tr h="303462"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2018.01.29</a:t>
                      </a:r>
                      <a:endParaRPr lang="ko-KR" altLang="en-US" sz="8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간편 등록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layer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수정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SQ5.2.1.3.2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atinLnBrk="1"/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2.6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7651868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간편 등록완료 화면 추가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SQ5.2.1.3.2.1</a:t>
                      </a:r>
                      <a:endParaRPr lang="ko-KR" altLang="en-US" sz="800" b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9306640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상세 등록 팝업 추가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SQ5.2.1.3.3.1 / SQ5.2.1.3.3.2</a:t>
                      </a:r>
                      <a:endParaRPr lang="ko-KR" altLang="en-US" sz="8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481431"/>
                  </a:ext>
                </a:extLst>
              </a:tr>
              <a:tr h="303462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상세 수정 팝업 화면 예시</a:t>
                      </a:r>
                      <a:endParaRPr lang="en-US" altLang="ko-KR" sz="800" b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일정 상세 보기 팝업 추가 예시</a:t>
                      </a:r>
                      <a:endParaRPr lang="en-US" altLang="ko-KR" sz="8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CA6.1.1.5</a:t>
                      </a:r>
                      <a:endParaRPr kumimoji="1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CA6.1.1.3</a:t>
                      </a:r>
                      <a:endParaRPr kumimoji="1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570096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2018.02.27</a:t>
                      </a:r>
                      <a:endParaRPr lang="ko-KR" altLang="en-US" sz="8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LNB Tree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내 수정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삭제 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layer 2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가지 타입 제공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8P</a:t>
                      </a:r>
                      <a:endParaRPr lang="ko-KR" altLang="en-US" sz="8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2.7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069815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2018.03.30</a:t>
                      </a:r>
                      <a:endParaRPr lang="ko-KR" altLang="en-US" sz="8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smtClean="0"/>
                        <a:t>스퀘어 홈</a:t>
                      </a:r>
                      <a:r>
                        <a:rPr kumimoji="0" lang="en-US" altLang="ko-KR" sz="800" b="1" smtClean="0"/>
                        <a:t>&gt; </a:t>
                      </a:r>
                      <a:r>
                        <a:rPr kumimoji="0" lang="ko-KR" altLang="en-US" sz="800" b="1" smtClean="0"/>
                        <a:t>그룹 </a:t>
                      </a:r>
                      <a:r>
                        <a:rPr kumimoji="0" lang="en-US" altLang="ko-KR" sz="800" b="1" smtClean="0"/>
                        <a:t>&gt; </a:t>
                      </a:r>
                      <a:r>
                        <a:rPr kumimoji="0" lang="ko-KR" altLang="en-US" sz="800" b="1" smtClean="0"/>
                        <a:t>멤버</a:t>
                      </a:r>
                      <a:r>
                        <a:rPr kumimoji="0" lang="ko-KR" altLang="en-US" sz="800" b="1" baseline="0" smtClean="0"/>
                        <a:t> </a:t>
                      </a:r>
                      <a:r>
                        <a:rPr kumimoji="0" lang="en-US" altLang="ko-KR" sz="800" b="1" baseline="0" smtClean="0"/>
                        <a:t>: </a:t>
                      </a:r>
                      <a:r>
                        <a:rPr kumimoji="0" lang="ko-KR" altLang="en-US" sz="800" b="1" baseline="0" smtClean="0"/>
                        <a:t>등급 설정 및 멤버 삭제 기능 제외</a:t>
                      </a:r>
                      <a:endParaRPr kumimoji="0" lang="ko-KR" altLang="en-US" sz="800" b="1" smtClean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smtClean="0"/>
                        <a:t>SQ5.2.4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smtClean="0"/>
                        <a:t>SQ5.2.5</a:t>
                      </a:r>
                      <a:endParaRPr lang="ko-KR" altLang="en-US" sz="800" b="1" smtClean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2.8</a:t>
                      </a:r>
                      <a:endParaRPr lang="ko-KR" altLang="en-US" sz="8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9206292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7901359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0150990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4041531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6707145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8969914"/>
                  </a:ext>
                </a:extLst>
              </a:tr>
              <a:tr h="30346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8110434"/>
                  </a:ext>
                </a:extLst>
              </a:tr>
            </a:tbl>
          </a:graphicData>
        </a:graphic>
      </p:graphicFrame>
      <p:sp>
        <p:nvSpPr>
          <p:cNvPr id="4" name="텍스트 개체 틀 3"/>
          <p:cNvSpPr txBox="1">
            <a:spLocks/>
          </p:cNvSpPr>
          <p:nvPr/>
        </p:nvSpPr>
        <p:spPr>
          <a:xfrm>
            <a:off x="437676" y="260648"/>
            <a:ext cx="8568952" cy="33326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 spc="-100" baseline="0">
                <a:solidFill>
                  <a:srgbClr val="0B55B5"/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ko-KR" altLang="en-US" sz="1400" b="1" i="0" u="none" strike="noStrike" kern="1200" cap="none" spc="-10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코딩" panose="020D0009000000000000" pitchFamily="49" charset="-127"/>
                <a:ea typeface="나눔고딕코딩" panose="020D0009000000000000" pitchFamily="49" charset="-127"/>
                <a:cs typeface="+mn-cs"/>
              </a:rPr>
              <a:t>개정 이력</a:t>
            </a:r>
            <a:endParaRPr kumimoji="0" lang="ko-KR" altLang="en-US" sz="1200" b="1" i="0" u="none" strike="noStrike" kern="1200" cap="none" spc="-10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코딩" panose="020D0009000000000000" pitchFamily="49" charset="-127"/>
              <a:ea typeface="나눔고딕코딩" panose="020D0009000000000000" pitchFamily="49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2097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5. </a:t>
            </a:r>
            <a:r>
              <a:rPr lang="ko-KR" altLang="en-US" dirty="0" smtClean="0"/>
              <a:t>스퀘어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13822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5. </a:t>
            </a:r>
            <a:r>
              <a:rPr lang="ko-KR" altLang="en-US" dirty="0"/>
              <a:t>스퀘어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quarter" idx="11"/>
          </p:nvPr>
        </p:nvSpPr>
        <p:spPr/>
        <p:txBody>
          <a:bodyPr/>
          <a:lstStyle/>
          <a:p>
            <a:r>
              <a:rPr kumimoji="1" lang="en-US" altLang="ko-KR" dirty="0"/>
              <a:t>5.1.</a:t>
            </a:r>
            <a:r>
              <a:rPr kumimoji="1" lang="ko-KR" altLang="en-US" dirty="0"/>
              <a:t> </a:t>
            </a:r>
            <a:r>
              <a:rPr kumimoji="1" lang="en-US" altLang="ko-KR" dirty="0"/>
              <a:t>Concept</a:t>
            </a:r>
            <a:r>
              <a:rPr kumimoji="1" lang="ko-KR" altLang="en-US" dirty="0"/>
              <a:t> </a:t>
            </a:r>
            <a:r>
              <a:rPr kumimoji="1" lang="en-US" altLang="ko-KR" dirty="0"/>
              <a:t>&amp; </a:t>
            </a:r>
            <a:r>
              <a:rPr kumimoji="1" lang="en-US" altLang="ko-KR" dirty="0" smtClean="0"/>
              <a:t>Direction</a:t>
            </a:r>
            <a:endParaRPr kumimoji="1" lang="ko-KR" altLang="en-US" dirty="0"/>
          </a:p>
        </p:txBody>
      </p:sp>
      <p:graphicFrame>
        <p:nvGraphicFramePr>
          <p:cNvPr id="4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716019"/>
              </p:ext>
            </p:extLst>
          </p:nvPr>
        </p:nvGraphicFramePr>
        <p:xfrm>
          <a:off x="514349" y="1809943"/>
          <a:ext cx="11160126" cy="46808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913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01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670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41270"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en-US" altLang="ko-KR" sz="10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UX Direction</a:t>
                      </a:r>
                      <a:endParaRPr lang="ko-KR" altLang="en-US" sz="10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1000" b="0" kern="1200" noProof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To-be </a:t>
                      </a:r>
                      <a:r>
                        <a:rPr lang="ko-KR" altLang="en-US" sz="1000" b="0" kern="1200" noProof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개선 포인트</a:t>
                      </a:r>
                      <a:endParaRPr lang="en-US" altLang="ko-KR" sz="1000" b="0" kern="1200" noProof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ko-KR" altLang="en-US" sz="1000" b="0" kern="1200" noProof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적용 화면</a:t>
                      </a:r>
                      <a:endParaRPr lang="en-US" altLang="ko-KR" sz="1000" b="0" kern="1200" noProof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사용 의도를 고려한 메뉴 역할 정의</a:t>
                      </a:r>
                      <a:b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메뉴의 중복제거 및 통합</a:t>
                      </a: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endParaRPr kumimoji="0" lang="en-US" altLang="ko-KR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업무 흐름을 고려한 메뉴</a:t>
                      </a: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기능 간 연계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멤버 간 메일 전송</a:t>
                      </a:r>
                      <a:r>
                        <a:rPr lang="en-US" altLang="ko-KR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strike="sngStrike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 요청</a:t>
                      </a:r>
                      <a:r>
                        <a:rPr lang="en-US" altLang="ko-KR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공유</a:t>
                      </a:r>
                      <a:r>
                        <a:rPr lang="en-US" altLang="ko-KR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공유 기능 연계</a:t>
                      </a: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strike="sngStrike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스퀘어 멤버 정보 </a:t>
                      </a:r>
                      <a:r>
                        <a:rPr lang="ko-KR" altLang="en-US" sz="1100" strike="sngStrike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/>
                        </a:rPr>
                        <a:t> 사용자 주소록에 스퀘어 그룹과 연동</a:t>
                      </a: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/>
                        </a:rPr>
                        <a:t>스퀘어 공유일정 정보  사용자 일정에 스퀘어 달력과 연동</a:t>
                      </a:r>
                      <a:endParaRPr lang="en-US" altLang="ko-KR" sz="11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상세</a:t>
                      </a: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strike="sngStrike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주소록</a:t>
                      </a: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사람 중심의 커뮤니케이션 지원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VIP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 자동분류</a:t>
                      </a:r>
                      <a:endParaRPr lang="en-US" altLang="ko-KR" sz="1100" dirty="0" smtClean="0">
                        <a:solidFill>
                          <a:schemeClr val="bg1">
                            <a:lumMod val="7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charset="-127"/>
                          <a:ea typeface="+mn-ea"/>
                          <a:cs typeface="+mn-cs"/>
                        </a:rPr>
                        <a:t>VIP </a:t>
                      </a:r>
                      <a:r>
                        <a:rPr kumimoji="0" lang="ko-KR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charset="-127"/>
                          <a:ea typeface="+mn-ea"/>
                          <a:cs typeface="+mn-cs"/>
                        </a:rPr>
                        <a:t>글</a:t>
                      </a:r>
                      <a:endParaRPr kumimoji="0" lang="en-US" altLang="ko-KR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charset="-127"/>
                        <a:ea typeface="+mn-ea"/>
                        <a:cs typeface="+mn-cs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4.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토픽 중심의 업무 통합 관리 지원</a:t>
                      </a:r>
                      <a:endParaRPr 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일정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멤버 중심으로 뷰모드 전환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상세 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5.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양방향 커뮤니케이션 공간 제공</a:t>
                      </a:r>
                      <a:endParaRPr lang="en-US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20000"/>
                        </a:lnSpc>
                        <a:buFont typeface="Arial" charset="0"/>
                        <a:buNone/>
                      </a:pP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20000"/>
                        </a:lnSpc>
                        <a:buFont typeface="Arial" charset="0"/>
                        <a:buNone/>
                      </a:pP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03854">
                <a:tc>
                  <a:txBody>
                    <a:bodyPr/>
                    <a:lstStyle/>
                    <a:p>
                      <a:pPr marL="0" marR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6.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개인 업무의 우선순위 관리</a:t>
                      </a:r>
                      <a:endParaRPr lang="en-US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워크피드 우측 소식 영역에서 최신 멘션 글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VIP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 요약 제공</a:t>
                      </a: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사용자가 플래그한 글을 모아보는 중요 글함 제공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자주 확인하는 그룹은 별도 등록하여 그룹 리스트 내 상단 고정 기능 제공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중요도에 따른 알림 및 피드백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워크피드</a:t>
                      </a: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플래그 글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목록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공통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7.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개인 선호 및 업무 특성을 반영한 시스템 구조</a:t>
                      </a:r>
                      <a:endParaRPr lang="en-US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indent="0" algn="l" defTabSz="64606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8.</a:t>
                      </a:r>
                      <a:r>
                        <a:rPr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협업 관계자 간의 공동 업무 관리</a:t>
                      </a:r>
                      <a:endParaRPr lang="en-US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별 스퀘어에서 파일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일정</a:t>
                      </a:r>
                      <a:r>
                        <a:rPr lang="en-US" altLang="ko-KR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공지 공유 기능 강화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20000"/>
                        </a:lnSpc>
                        <a:buFont typeface="Arial" charset="0"/>
                        <a:buChar char="•"/>
                      </a:pPr>
                      <a:r>
                        <a:rPr lang="ko-KR" altLang="en-US" sz="11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상세</a:t>
                      </a:r>
                      <a:endParaRPr lang="en-US" altLang="ko-KR" sz="11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T="54000" marB="54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Rounded Rectangle 6"/>
          <p:cNvSpPr/>
          <p:nvPr/>
        </p:nvSpPr>
        <p:spPr>
          <a:xfrm>
            <a:off x="514350" y="1081104"/>
            <a:ext cx="11160125" cy="720000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0000"/>
              </a:lnSpc>
            </a:pPr>
            <a:r>
              <a:rPr lang="en-US" altLang="ko-KR" sz="1800" b="1" dirty="0">
                <a:solidFill>
                  <a:schemeClr val="bg1"/>
                </a:solidFill>
                <a:latin typeface="+mn-ea"/>
              </a:rPr>
              <a:t>“</a:t>
            </a:r>
            <a:r>
              <a:rPr lang="ko-KR" altLang="en-US" sz="1800" b="1" dirty="0">
                <a:solidFill>
                  <a:schemeClr val="bg1"/>
                </a:solidFill>
                <a:latin typeface="+mn-ea"/>
              </a:rPr>
              <a:t>그룹 내 수평적인 커뮤니케이션 영역</a:t>
            </a:r>
            <a:r>
              <a:rPr lang="en-US" altLang="ko-KR" sz="1800" b="1" dirty="0" smtClean="0">
                <a:solidFill>
                  <a:schemeClr val="bg1"/>
                </a:solidFill>
                <a:latin typeface="+mn-ea"/>
              </a:rPr>
              <a:t>”</a:t>
            </a:r>
            <a:r>
              <a:rPr lang="ko-KR" altLang="en-US" sz="1800" b="1" dirty="0" smtClean="0">
                <a:solidFill>
                  <a:schemeClr val="bg1"/>
                </a:solidFill>
                <a:latin typeface="+mn-ea"/>
              </a:rPr>
              <a:t>  </a:t>
            </a:r>
            <a:r>
              <a:rPr lang="en-US" altLang="ko-KR" sz="1800" b="1" dirty="0" smtClean="0">
                <a:solidFill>
                  <a:schemeClr val="bg1"/>
                </a:solidFill>
                <a:latin typeface="+mn-ea"/>
              </a:rPr>
              <a:t>“</a:t>
            </a:r>
            <a:r>
              <a:rPr lang="ko-KR" altLang="en-US" sz="1800" b="1" dirty="0" smtClean="0">
                <a:solidFill>
                  <a:schemeClr val="bg1"/>
                </a:solidFill>
                <a:latin typeface="+mn-ea"/>
              </a:rPr>
              <a:t>비정형 업무의 협업 공간</a:t>
            </a:r>
            <a:r>
              <a:rPr lang="en-US" altLang="ko-KR" sz="1800" b="1" dirty="0" smtClean="0">
                <a:solidFill>
                  <a:schemeClr val="bg1"/>
                </a:solidFill>
                <a:latin typeface="+mn-ea"/>
              </a:rPr>
              <a:t>”</a:t>
            </a:r>
            <a:endParaRPr lang="en-US" altLang="ko-KR" sz="18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87123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5. </a:t>
            </a:r>
            <a:r>
              <a:rPr lang="ko-KR" altLang="en-US" dirty="0" smtClean="0"/>
              <a:t>스퀘어</a:t>
            </a:r>
            <a:endParaRPr lang="ko-KR" altLang="en-US" dirty="0"/>
          </a:p>
        </p:txBody>
      </p:sp>
      <p:sp>
        <p:nvSpPr>
          <p:cNvPr id="5" name="텍스트 개체 틀 4"/>
          <p:cNvSpPr>
            <a:spLocks noGrp="1"/>
          </p:cNvSpPr>
          <p:nvPr>
            <p:ph sz="quarter" idx="11"/>
          </p:nvPr>
        </p:nvSpPr>
        <p:spPr>
          <a:prstGeom prst="rect">
            <a:avLst/>
          </a:prstGeom>
        </p:spPr>
        <p:txBody>
          <a:bodyPr/>
          <a:lstStyle/>
          <a:p>
            <a:pPr marL="0" indent="0">
              <a:buNone/>
            </a:pPr>
            <a:r>
              <a:rPr kumimoji="1" lang="en-US" altLang="ko-KR" dirty="0" smtClean="0"/>
              <a:t>5.2.</a:t>
            </a:r>
            <a:r>
              <a:rPr kumimoji="1" lang="ko-KR" altLang="en-US" dirty="0" smtClean="0"/>
              <a:t> </a:t>
            </a:r>
            <a:r>
              <a:rPr kumimoji="1" lang="en-US" altLang="ko-KR" dirty="0"/>
              <a:t>LNB</a:t>
            </a:r>
            <a:r>
              <a:rPr kumimoji="1" lang="ko-KR" altLang="en-US" dirty="0"/>
              <a:t> 메뉴 </a:t>
            </a:r>
            <a:r>
              <a:rPr kumimoji="1" lang="ko-KR" altLang="en-US" dirty="0" smtClean="0"/>
              <a:t>영역</a:t>
            </a:r>
            <a:endParaRPr kumimoji="1" lang="ko-KR" altLang="en-US" dirty="0"/>
          </a:p>
        </p:txBody>
      </p:sp>
      <p:sp>
        <p:nvSpPr>
          <p:cNvPr id="6" name="직사각형 339"/>
          <p:cNvSpPr/>
          <p:nvPr/>
        </p:nvSpPr>
        <p:spPr>
          <a:xfrm>
            <a:off x="402457" y="1030244"/>
            <a:ext cx="367200" cy="573269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>
              <a:latin typeface="+mn-ea"/>
            </a:endParaRPr>
          </a:p>
        </p:txBody>
      </p:sp>
      <p:sp>
        <p:nvSpPr>
          <p:cNvPr id="7" name="직사각형"/>
          <p:cNvSpPr/>
          <p:nvPr/>
        </p:nvSpPr>
        <p:spPr>
          <a:xfrm rot="5400000">
            <a:off x="-2280290" y="3712994"/>
            <a:ext cx="5732692" cy="367198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grpSp>
        <p:nvGrpSpPr>
          <p:cNvPr id="8" name="Group 121"/>
          <p:cNvGrpSpPr/>
          <p:nvPr/>
        </p:nvGrpSpPr>
        <p:grpSpPr>
          <a:xfrm>
            <a:off x="459711" y="1111590"/>
            <a:ext cx="258969" cy="3587760"/>
            <a:chOff x="459711" y="1300554"/>
            <a:chExt cx="258969" cy="3587760"/>
          </a:xfrm>
        </p:grpSpPr>
        <p:sp>
          <p:nvSpPr>
            <p:cNvPr id="9" name="타원 83"/>
            <p:cNvSpPr>
              <a:spLocks noChangeAspect="1"/>
            </p:cNvSpPr>
            <p:nvPr/>
          </p:nvSpPr>
          <p:spPr>
            <a:xfrm>
              <a:off x="459711" y="1671205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타원 84"/>
            <p:cNvSpPr>
              <a:spLocks noChangeAspect="1"/>
            </p:cNvSpPr>
            <p:nvPr/>
          </p:nvSpPr>
          <p:spPr>
            <a:xfrm>
              <a:off x="459711" y="2041856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타원 85"/>
            <p:cNvSpPr>
              <a:spLocks noChangeAspect="1"/>
            </p:cNvSpPr>
            <p:nvPr/>
          </p:nvSpPr>
          <p:spPr>
            <a:xfrm>
              <a:off x="459711" y="241404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타원 86"/>
            <p:cNvSpPr>
              <a:spLocks noChangeAspect="1"/>
            </p:cNvSpPr>
            <p:nvPr/>
          </p:nvSpPr>
          <p:spPr>
            <a:xfrm>
              <a:off x="459711" y="2786242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타원 87"/>
            <p:cNvSpPr>
              <a:spLocks noChangeAspect="1"/>
            </p:cNvSpPr>
            <p:nvPr/>
          </p:nvSpPr>
          <p:spPr>
            <a:xfrm>
              <a:off x="459711" y="3161360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타원 88"/>
            <p:cNvSpPr>
              <a:spLocks noChangeAspect="1"/>
            </p:cNvSpPr>
            <p:nvPr/>
          </p:nvSpPr>
          <p:spPr>
            <a:xfrm>
              <a:off x="459711" y="353052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타원 89"/>
            <p:cNvSpPr>
              <a:spLocks noChangeAspect="1"/>
            </p:cNvSpPr>
            <p:nvPr/>
          </p:nvSpPr>
          <p:spPr>
            <a:xfrm>
              <a:off x="459711" y="389672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타원 90"/>
            <p:cNvSpPr>
              <a:spLocks noChangeAspect="1"/>
            </p:cNvSpPr>
            <p:nvPr/>
          </p:nvSpPr>
          <p:spPr>
            <a:xfrm>
              <a:off x="459711" y="426291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타원 91"/>
            <p:cNvSpPr>
              <a:spLocks noChangeAspect="1"/>
            </p:cNvSpPr>
            <p:nvPr/>
          </p:nvSpPr>
          <p:spPr>
            <a:xfrm>
              <a:off x="459711" y="462911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타원 83"/>
            <p:cNvSpPr>
              <a:spLocks noChangeAspect="1"/>
            </p:cNvSpPr>
            <p:nvPr/>
          </p:nvSpPr>
          <p:spPr>
            <a:xfrm>
              <a:off x="459711" y="130055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타원 83"/>
            <p:cNvSpPr>
              <a:spLocks noChangeAspect="1"/>
            </p:cNvSpPr>
            <p:nvPr/>
          </p:nvSpPr>
          <p:spPr>
            <a:xfrm>
              <a:off x="459711" y="2416974"/>
              <a:ext cx="258969" cy="2592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kumimoji="1" lang="ko-KR" altLang="en-US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스퀘어</a:t>
              </a:r>
              <a:endParaRPr kumimoji="1"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75" name="Group 93"/>
          <p:cNvGrpSpPr/>
          <p:nvPr/>
        </p:nvGrpSpPr>
        <p:grpSpPr>
          <a:xfrm>
            <a:off x="2293962" y="1456825"/>
            <a:ext cx="1626187" cy="295523"/>
            <a:chOff x="2293962" y="1642204"/>
            <a:chExt cx="3639548" cy="295523"/>
          </a:xfrm>
        </p:grpSpPr>
        <p:cxnSp>
          <p:nvCxnSpPr>
            <p:cNvPr id="76" name="직선 연결선[R] 85"/>
            <p:cNvCxnSpPr/>
            <p:nvPr/>
          </p:nvCxnSpPr>
          <p:spPr>
            <a:xfrm>
              <a:off x="2293962" y="1642204"/>
              <a:ext cx="0" cy="295523"/>
            </a:xfrm>
            <a:prstGeom prst="line">
              <a:avLst/>
            </a:prstGeom>
            <a:ln w="22225">
              <a:solidFill>
                <a:srgbClr val="FF2F92"/>
              </a:solidFill>
              <a:headEnd type="none" w="sm" len="sm"/>
              <a:tailEnd type="none" w="sm" len="sm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텍스트 상자 31"/>
            <p:cNvSpPr txBox="1"/>
            <p:nvPr/>
          </p:nvSpPr>
          <p:spPr>
            <a:xfrm>
              <a:off x="2476272" y="1697632"/>
              <a:ext cx="3457238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  <a:spcAft>
                  <a:spcPts val="200"/>
                </a:spcAft>
              </a:pPr>
              <a:r>
                <a:rPr kumimoji="1" lang="ko-KR" altLang="en-US" sz="1000" b="1" dirty="0" smtClean="0">
                  <a:solidFill>
                    <a:srgbClr val="FF2F92"/>
                  </a:solidFill>
                  <a:latin typeface="+mn-ea"/>
                  <a:ea typeface="+mn-ea"/>
                </a:rPr>
                <a:t>액션버튼 영역</a:t>
              </a:r>
              <a:endParaRPr kumimoji="1" lang="en-US" altLang="ko-KR" sz="1000" b="1" dirty="0" smtClean="0">
                <a:solidFill>
                  <a:srgbClr val="FF2F92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78" name="Group 99"/>
          <p:cNvGrpSpPr/>
          <p:nvPr/>
        </p:nvGrpSpPr>
        <p:grpSpPr>
          <a:xfrm>
            <a:off x="2293962" y="2617631"/>
            <a:ext cx="1626188" cy="2901106"/>
            <a:chOff x="2293962" y="3739429"/>
            <a:chExt cx="1626188" cy="2761060"/>
          </a:xfrm>
        </p:grpSpPr>
        <p:cxnSp>
          <p:nvCxnSpPr>
            <p:cNvPr id="79" name="직선 연결선[R] 85"/>
            <p:cNvCxnSpPr/>
            <p:nvPr/>
          </p:nvCxnSpPr>
          <p:spPr>
            <a:xfrm>
              <a:off x="2293962" y="3739429"/>
              <a:ext cx="0" cy="2761060"/>
            </a:xfrm>
            <a:prstGeom prst="line">
              <a:avLst/>
            </a:prstGeom>
            <a:ln w="22225">
              <a:solidFill>
                <a:srgbClr val="FF2F92"/>
              </a:solidFill>
              <a:headEnd type="none" w="sm" len="sm"/>
              <a:tailEnd type="none" w="sm" len="sm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텍스트 상자 31"/>
            <p:cNvSpPr txBox="1"/>
            <p:nvPr/>
          </p:nvSpPr>
          <p:spPr>
            <a:xfrm>
              <a:off x="2395226" y="5026272"/>
              <a:ext cx="1524924" cy="175752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  <a:spcAft>
                  <a:spcPts val="200"/>
                </a:spcAft>
              </a:pPr>
              <a:r>
                <a:rPr kumimoji="1" lang="ko-KR" altLang="en-US" sz="1000" b="1" dirty="0" smtClean="0">
                  <a:solidFill>
                    <a:srgbClr val="FF2F92"/>
                  </a:solidFill>
                  <a:latin typeface="+mn-ea"/>
                  <a:ea typeface="+mn-ea"/>
                </a:rPr>
                <a:t>개인 분류 메뉴 영역</a:t>
              </a:r>
              <a:endParaRPr kumimoji="1" lang="en-US" altLang="ko-KR" sz="1000" b="1" dirty="0" smtClean="0">
                <a:solidFill>
                  <a:srgbClr val="FF2F92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81" name="Group 172"/>
          <p:cNvGrpSpPr/>
          <p:nvPr/>
        </p:nvGrpSpPr>
        <p:grpSpPr>
          <a:xfrm>
            <a:off x="2293962" y="5624191"/>
            <a:ext cx="1626188" cy="642315"/>
            <a:chOff x="2293962" y="1162210"/>
            <a:chExt cx="1626188" cy="329127"/>
          </a:xfrm>
        </p:grpSpPr>
        <p:cxnSp>
          <p:nvCxnSpPr>
            <p:cNvPr id="82" name="직선 연결선[R] 85"/>
            <p:cNvCxnSpPr/>
            <p:nvPr/>
          </p:nvCxnSpPr>
          <p:spPr>
            <a:xfrm>
              <a:off x="2293962" y="1162210"/>
              <a:ext cx="0" cy="329127"/>
            </a:xfrm>
            <a:prstGeom prst="line">
              <a:avLst/>
            </a:prstGeom>
            <a:ln w="22225">
              <a:solidFill>
                <a:srgbClr val="FF2F92"/>
              </a:solidFill>
              <a:headEnd type="none" w="sm" len="sm"/>
              <a:tailEnd type="none" w="sm" len="sm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텍스트 상자 31"/>
            <p:cNvSpPr txBox="1"/>
            <p:nvPr/>
          </p:nvSpPr>
          <p:spPr>
            <a:xfrm>
              <a:off x="2395226" y="1288766"/>
              <a:ext cx="1524924" cy="9462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  <a:spcAft>
                  <a:spcPts val="200"/>
                </a:spcAft>
              </a:pPr>
              <a:r>
                <a:rPr kumimoji="1" lang="ko-KR" altLang="en-US" sz="1000" b="1" dirty="0" smtClean="0">
                  <a:solidFill>
                    <a:srgbClr val="FF2F92"/>
                  </a:solidFill>
                  <a:latin typeface="+mn-ea"/>
                  <a:ea typeface="+mn-ea"/>
                </a:rPr>
                <a:t>시스템 메뉴 영역</a:t>
              </a:r>
              <a:endParaRPr kumimoji="1" lang="en-US" altLang="ko-KR" sz="1000" b="1" dirty="0" smtClean="0">
                <a:solidFill>
                  <a:srgbClr val="FF2F92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84" name="Group 175"/>
          <p:cNvGrpSpPr/>
          <p:nvPr/>
        </p:nvGrpSpPr>
        <p:grpSpPr>
          <a:xfrm>
            <a:off x="2293962" y="1812499"/>
            <a:ext cx="1397264" cy="671786"/>
            <a:chOff x="2293962" y="1642204"/>
            <a:chExt cx="1397264" cy="911475"/>
          </a:xfrm>
        </p:grpSpPr>
        <p:cxnSp>
          <p:nvCxnSpPr>
            <p:cNvPr id="85" name="직선 연결선[R] 85"/>
            <p:cNvCxnSpPr/>
            <p:nvPr/>
          </p:nvCxnSpPr>
          <p:spPr>
            <a:xfrm>
              <a:off x="2293962" y="1642204"/>
              <a:ext cx="0" cy="911475"/>
            </a:xfrm>
            <a:prstGeom prst="line">
              <a:avLst/>
            </a:prstGeom>
            <a:ln w="22225">
              <a:solidFill>
                <a:srgbClr val="FF2F92"/>
              </a:solidFill>
              <a:headEnd type="none" w="sm" len="sm"/>
              <a:tailEnd type="none" w="sm" len="sm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2395226" y="1972665"/>
              <a:ext cx="1296000" cy="25055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  <a:spcAft>
                  <a:spcPts val="200"/>
                </a:spcAft>
              </a:pPr>
              <a:r>
                <a:rPr kumimoji="1" lang="ko-KR" altLang="en-US" sz="1000" b="1" dirty="0" smtClean="0">
                  <a:solidFill>
                    <a:srgbClr val="FF2F92"/>
                  </a:solidFill>
                  <a:latin typeface="+mn-ea"/>
                  <a:ea typeface="+mn-ea"/>
                </a:rPr>
                <a:t>자동분류 메뉴 영역</a:t>
              </a:r>
              <a:endParaRPr kumimoji="1" lang="en-US" altLang="ko-KR" sz="1000" b="1" dirty="0" smtClean="0">
                <a:solidFill>
                  <a:srgbClr val="FF2F92"/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88" name="표"/>
          <p:cNvGraphicFramePr/>
          <p:nvPr>
            <p:extLst>
              <p:ext uri="{D42A27DB-BD31-4B8C-83A1-F6EECF244321}">
                <p14:modId xmlns:p14="http://schemas.microsoft.com/office/powerpoint/2010/main" val="913088144"/>
              </p:ext>
            </p:extLst>
          </p:nvPr>
        </p:nvGraphicFramePr>
        <p:xfrm>
          <a:off x="3880977" y="2016117"/>
          <a:ext cx="7915090" cy="4212400"/>
        </p:xfrm>
        <a:graphic>
          <a:graphicData uri="http://schemas.openxmlformats.org/drawingml/2006/table">
            <a:tbl>
              <a:tblPr/>
              <a:tblGrid>
                <a:gridCol w="801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42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152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636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085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분류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메뉴명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To-be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 역할 정의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뱃지 숫자 제공 정책 정의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indent="0" algn="ctr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&lt;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에 속한 모든 그룹의 피드를 최신순으로 제공 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메인화면 진입 시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Default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포커스 제공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7938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329">
                <a:tc rowSpan="3">
                  <a:txBody>
                    <a:bodyPr/>
                    <a:lstStyle/>
                    <a:p>
                      <a:pPr marL="11113" indent="0" algn="ctr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자동분류 메뉴 영역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플래그 글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플래그 표시한 글이 있는 모든 그룹을 조회하는 영역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사용자에 의한 수동분류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7938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8329">
                <a:tc vMerge="1">
                  <a:txBody>
                    <a:bodyPr/>
                    <a:lstStyle/>
                    <a:p>
                      <a:pPr marL="11113" indent="0" algn="ctr" defTabSz="914400">
                        <a:lnSpc>
                          <a:spcPct val="15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멘션 글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멘션된 글이 있는 모든 그룹을 조회하는 영역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시스템에 의한 자동분류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멘션됐으나 미확인된 글 수의 총합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329">
                <a:tc vMerge="1">
                  <a:txBody>
                    <a:bodyPr/>
                    <a:lstStyle/>
                    <a:p>
                      <a:pPr marL="11113" indent="0" algn="ctr" defTabSz="914400">
                        <a:lnSpc>
                          <a:spcPct val="15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VIP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글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지정한 사용자가 작성한 모든 그룹 내의 글을 사용자별로 조회하는 영역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개인설정에 의한 자동분류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지정한 사용자가 작성했으나 미확인된 글 수의 총합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8329">
                <a:tc rowSpan="2">
                  <a:txBody>
                    <a:bodyPr/>
                    <a:lstStyle/>
                    <a:p>
                      <a:pPr marL="11113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개인 분류 메뉴 영역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즐겨 찾는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그룹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즐겨찾기 설정한 그룹만 제공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&lt;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내 그룹 즐겨찾기 설정 시 해당 영역에 복사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중복 제공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즐겨찾기 해제 시 해당 영역에서 제거됨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각 그룹별 사용자가 미확인한 글 수의 총합 제공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8329">
                <a:tc vMerge="1">
                  <a:txBody>
                    <a:bodyPr/>
                    <a:lstStyle/>
                    <a:p>
                      <a:pPr marL="11113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ko-KR" altLang="en-US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ko-KR" altLang="en-US" sz="800" dirty="0" smtClean="0"/>
                        <a:t>내 그룹</a:t>
                      </a:r>
                      <a:endParaRPr lang="en-US" sz="800" dirty="0"/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멤버 혹은 관리자로 포함된 그룹을 제공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폴더를 생성하여 그룹을 분류 가능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Default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폴더 제공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기본 그룹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폴더를 지정하지 않은 그룹은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&lt;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기본 그룹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에 분류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제공 순서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최근 추가순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설정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사용자 생성 폴더 관리 및 삭제 가능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각 그룹별 사용자가 미확인한 글 수의 총합 제공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8329">
                <a:tc rowSpan="2">
                  <a:txBody>
                    <a:bodyPr/>
                    <a:lstStyle/>
                    <a:p>
                      <a:pPr marL="11113" indent="0" algn="ctr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시스템 메뉴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영역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공개 그룹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열람권한이 열려있는 모든 그룹을 모아서 조회하는 영역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메뉴와 중복 가능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Default :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닫힘 상태로 제공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646069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8329">
                <a:tc vMerge="1">
                  <a:txBody>
                    <a:bodyPr/>
                    <a:lstStyle/>
                    <a:p>
                      <a:pPr marL="11113" indent="0" algn="ctr" defTabSz="914400">
                        <a:lnSpc>
                          <a:spcPct val="15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종료된 그룹</a:t>
                      </a:r>
                      <a:endParaRPr lang="en-US" altLang="ko-KR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관리자에 의해 종료된 모든 그룹을 모아서 조회하는 영역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과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공개 그룹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메뉴에 속한 그룹이 종료 시 종료된 그룹으로 이동</a:t>
                      </a:r>
                    </a:p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Default :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닫힘 상태로 제공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7938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US" dirty="0"/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trike="sngStrike" dirty="0" smtClean="0">
                          <a:latin typeface="+mn-ea"/>
                          <a:ea typeface="+mn-ea"/>
                          <a:cs typeface="Nanum Gothic" charset="-127"/>
                        </a:rPr>
                        <a:t>그룹 초대</a:t>
                      </a:r>
                      <a:endParaRPr lang="en-US" altLang="ko-KR" sz="800" strike="sngStrike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strike="sngStrike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그룹에 초대된 이력 리스트 제공</a:t>
                      </a:r>
                      <a:endParaRPr lang="en-US" altLang="ko-KR" sz="800" strike="sngStrike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strike="sngStrike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미확인한 초대 건수의 총합</a:t>
                      </a:r>
                      <a:endParaRPr lang="en-US" altLang="ko-KR" sz="800" strike="sngStrike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89" name="Table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6845705"/>
              </p:ext>
            </p:extLst>
          </p:nvPr>
        </p:nvGraphicFramePr>
        <p:xfrm>
          <a:off x="3880977" y="1122436"/>
          <a:ext cx="5216528" cy="548769"/>
        </p:xfrm>
        <a:graphic>
          <a:graphicData uri="http://schemas.openxmlformats.org/drawingml/2006/table">
            <a:tbl>
              <a:tblPr/>
              <a:tblGrid>
                <a:gridCol w="8120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76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668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4689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분류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메뉴명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To-be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 역할 정의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메인 액션 버튼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그룹 만들기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Default :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 시 새로운 그룹 생성 팝업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모달 레이어 팝업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제공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0" name="텍스트 상자 31"/>
          <p:cNvSpPr txBox="1"/>
          <p:nvPr/>
        </p:nvSpPr>
        <p:spPr>
          <a:xfrm>
            <a:off x="3880977" y="1728837"/>
            <a:ext cx="619868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dirty="0" smtClean="0">
                <a:solidFill>
                  <a:srgbClr val="FF0000"/>
                </a:solidFill>
                <a:latin typeface="+mn-ea"/>
                <a:ea typeface="+mn-ea"/>
              </a:rPr>
              <a:t>* 자동분류 영역의 경우</a:t>
            </a:r>
            <a:r>
              <a:rPr kumimoji="1" lang="en-US" altLang="ko-KR" sz="800" dirty="0" smtClean="0">
                <a:solidFill>
                  <a:srgbClr val="FF0000"/>
                </a:solidFill>
                <a:latin typeface="+mn-ea"/>
                <a:ea typeface="+mn-ea"/>
              </a:rPr>
              <a:t>,</a:t>
            </a:r>
            <a:r>
              <a:rPr kumimoji="1"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smtClean="0">
                <a:solidFill>
                  <a:srgbClr val="FF0000"/>
                </a:solidFill>
                <a:latin typeface="+mn-ea"/>
                <a:ea typeface="+mn-ea"/>
              </a:rPr>
              <a:t>플래그글</a:t>
            </a:r>
            <a:r>
              <a:rPr kumimoji="1" lang="en-US" altLang="ko-KR" sz="800" dirty="0" smtClean="0">
                <a:solidFill>
                  <a:srgbClr val="FF0000"/>
                </a:solidFill>
                <a:latin typeface="+mn-ea"/>
                <a:ea typeface="+mn-ea"/>
              </a:rPr>
              <a:t>/</a:t>
            </a:r>
            <a:r>
              <a:rPr kumimoji="1" lang="ko-KR" altLang="en-US" sz="800" dirty="0" smtClean="0">
                <a:solidFill>
                  <a:srgbClr val="FF0000"/>
                </a:solidFill>
                <a:latin typeface="+mn-ea"/>
                <a:ea typeface="+mn-ea"/>
              </a:rPr>
              <a:t>멘션글</a:t>
            </a:r>
            <a:r>
              <a:rPr kumimoji="1" lang="en-US" altLang="ko-KR" sz="800" dirty="0" smtClean="0">
                <a:solidFill>
                  <a:srgbClr val="FF0000"/>
                </a:solidFill>
                <a:latin typeface="+mn-ea"/>
                <a:ea typeface="+mn-ea"/>
              </a:rPr>
              <a:t>/VIP</a:t>
            </a:r>
            <a:r>
              <a:rPr kumimoji="1" lang="ko-KR" altLang="en-US" sz="800" dirty="0" smtClean="0">
                <a:solidFill>
                  <a:srgbClr val="FF0000"/>
                </a:solidFill>
                <a:latin typeface="+mn-ea"/>
                <a:ea typeface="+mn-ea"/>
              </a:rPr>
              <a:t>글이 워크피드에 대한 필터링이기 때문에 워크피드와 함께 그룹핑되어야 함 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772253" y="1030241"/>
            <a:ext cx="1463244" cy="5732698"/>
            <a:chOff x="772253" y="1030241"/>
            <a:chExt cx="1463244" cy="5732698"/>
          </a:xfrm>
        </p:grpSpPr>
        <p:sp>
          <p:nvSpPr>
            <p:cNvPr id="20" name="직사각형 98"/>
            <p:cNvSpPr/>
            <p:nvPr/>
          </p:nvSpPr>
          <p:spPr>
            <a:xfrm>
              <a:off x="772253" y="1030241"/>
              <a:ext cx="1422685" cy="57326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779221" y="5535609"/>
              <a:ext cx="1411382" cy="1162911"/>
              <a:chOff x="779221" y="5535609"/>
              <a:chExt cx="1411382" cy="1162911"/>
            </a:xfrm>
          </p:grpSpPr>
          <p:grpSp>
            <p:nvGrpSpPr>
              <p:cNvPr id="24" name="Group 92"/>
              <p:cNvGrpSpPr/>
              <p:nvPr/>
            </p:nvGrpSpPr>
            <p:grpSpPr>
              <a:xfrm>
                <a:off x="785281" y="6451892"/>
                <a:ext cx="1404000" cy="246628"/>
                <a:chOff x="785281" y="6952264"/>
                <a:chExt cx="1404000" cy="246628"/>
              </a:xfrm>
            </p:grpSpPr>
            <p:sp>
              <p:nvSpPr>
                <p:cNvPr id="25" name="텍스트 상자 31"/>
                <p:cNvSpPr txBox="1"/>
                <p:nvPr/>
              </p:nvSpPr>
              <p:spPr>
                <a:xfrm>
                  <a:off x="965893" y="7014226"/>
                  <a:ext cx="1171015" cy="184666"/>
                </a:xfrm>
                <a:prstGeom prst="rect">
                  <a:avLst/>
                </a:prstGeom>
                <a:noFill/>
              </p:spPr>
              <p:txBody>
                <a:bodyPr wrap="square" lIns="0" rtlCol="0">
                  <a:spAutoFit/>
                </a:bodyPr>
                <a:lstStyle/>
                <a:p>
                  <a:r>
                    <a:rPr kumimoji="1" lang="ko-KR" altLang="en-US" sz="600" b="1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설정  </a:t>
                  </a:r>
                  <a:endParaRPr kumimoji="1" lang="ko-KR" altLang="en-US" sz="600" dirty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26" name="Freeform 13"/>
                <p:cNvSpPr>
                  <a:spLocks noChangeAspect="1" noChangeArrowheads="1"/>
                </p:cNvSpPr>
                <p:nvPr/>
              </p:nvSpPr>
              <p:spPr bwMode="auto">
                <a:xfrm>
                  <a:off x="837212" y="7057163"/>
                  <a:ext cx="89257" cy="90000"/>
                </a:xfrm>
                <a:custGeom>
                  <a:avLst/>
                  <a:gdLst>
                    <a:gd name="T0" fmla="*/ 455 w 527"/>
                    <a:gd name="T1" fmla="*/ 291 h 533"/>
                    <a:gd name="T2" fmla="*/ 460 w 527"/>
                    <a:gd name="T3" fmla="*/ 266 h 533"/>
                    <a:gd name="T4" fmla="*/ 455 w 527"/>
                    <a:gd name="T5" fmla="*/ 240 h 533"/>
                    <a:gd name="T6" fmla="*/ 511 w 527"/>
                    <a:gd name="T7" fmla="*/ 194 h 533"/>
                    <a:gd name="T8" fmla="*/ 516 w 527"/>
                    <a:gd name="T9" fmla="*/ 179 h 533"/>
                    <a:gd name="T10" fmla="*/ 465 w 527"/>
                    <a:gd name="T11" fmla="*/ 82 h 533"/>
                    <a:gd name="T12" fmla="*/ 444 w 527"/>
                    <a:gd name="T13" fmla="*/ 82 h 533"/>
                    <a:gd name="T14" fmla="*/ 378 w 527"/>
                    <a:gd name="T15" fmla="*/ 107 h 533"/>
                    <a:gd name="T16" fmla="*/ 332 w 527"/>
                    <a:gd name="T17" fmla="*/ 82 h 533"/>
                    <a:gd name="T18" fmla="*/ 322 w 527"/>
                    <a:gd name="T19" fmla="*/ 10 h 533"/>
                    <a:gd name="T20" fmla="*/ 311 w 527"/>
                    <a:gd name="T21" fmla="*/ 0 h 533"/>
                    <a:gd name="T22" fmla="*/ 204 w 527"/>
                    <a:gd name="T23" fmla="*/ 0 h 533"/>
                    <a:gd name="T24" fmla="*/ 194 w 527"/>
                    <a:gd name="T25" fmla="*/ 10 h 533"/>
                    <a:gd name="T26" fmla="*/ 184 w 527"/>
                    <a:gd name="T27" fmla="*/ 82 h 533"/>
                    <a:gd name="T28" fmla="*/ 138 w 527"/>
                    <a:gd name="T29" fmla="*/ 107 h 533"/>
                    <a:gd name="T30" fmla="*/ 71 w 527"/>
                    <a:gd name="T31" fmla="*/ 82 h 533"/>
                    <a:gd name="T32" fmla="*/ 56 w 527"/>
                    <a:gd name="T33" fmla="*/ 87 h 533"/>
                    <a:gd name="T34" fmla="*/ 0 w 527"/>
                    <a:gd name="T35" fmla="*/ 179 h 533"/>
                    <a:gd name="T36" fmla="*/ 5 w 527"/>
                    <a:gd name="T37" fmla="*/ 194 h 533"/>
                    <a:gd name="T38" fmla="*/ 61 w 527"/>
                    <a:gd name="T39" fmla="*/ 240 h 533"/>
                    <a:gd name="T40" fmla="*/ 61 w 527"/>
                    <a:gd name="T41" fmla="*/ 266 h 533"/>
                    <a:gd name="T42" fmla="*/ 61 w 527"/>
                    <a:gd name="T43" fmla="*/ 291 h 533"/>
                    <a:gd name="T44" fmla="*/ 5 w 527"/>
                    <a:gd name="T45" fmla="*/ 337 h 533"/>
                    <a:gd name="T46" fmla="*/ 5 w 527"/>
                    <a:gd name="T47" fmla="*/ 353 h 533"/>
                    <a:gd name="T48" fmla="*/ 56 w 527"/>
                    <a:gd name="T49" fmla="*/ 450 h 533"/>
                    <a:gd name="T50" fmla="*/ 71 w 527"/>
                    <a:gd name="T51" fmla="*/ 450 h 533"/>
                    <a:gd name="T52" fmla="*/ 138 w 527"/>
                    <a:gd name="T53" fmla="*/ 424 h 533"/>
                    <a:gd name="T54" fmla="*/ 184 w 527"/>
                    <a:gd name="T55" fmla="*/ 450 h 533"/>
                    <a:gd name="T56" fmla="*/ 194 w 527"/>
                    <a:gd name="T57" fmla="*/ 521 h 533"/>
                    <a:gd name="T58" fmla="*/ 209 w 527"/>
                    <a:gd name="T59" fmla="*/ 532 h 533"/>
                    <a:gd name="T60" fmla="*/ 317 w 527"/>
                    <a:gd name="T61" fmla="*/ 532 h 533"/>
                    <a:gd name="T62" fmla="*/ 327 w 527"/>
                    <a:gd name="T63" fmla="*/ 521 h 533"/>
                    <a:gd name="T64" fmla="*/ 337 w 527"/>
                    <a:gd name="T65" fmla="*/ 450 h 533"/>
                    <a:gd name="T66" fmla="*/ 383 w 527"/>
                    <a:gd name="T67" fmla="*/ 424 h 533"/>
                    <a:gd name="T68" fmla="*/ 449 w 527"/>
                    <a:gd name="T69" fmla="*/ 450 h 533"/>
                    <a:gd name="T70" fmla="*/ 470 w 527"/>
                    <a:gd name="T71" fmla="*/ 445 h 533"/>
                    <a:gd name="T72" fmla="*/ 521 w 527"/>
                    <a:gd name="T73" fmla="*/ 353 h 533"/>
                    <a:gd name="T74" fmla="*/ 521 w 527"/>
                    <a:gd name="T75" fmla="*/ 337 h 533"/>
                    <a:gd name="T76" fmla="*/ 455 w 527"/>
                    <a:gd name="T77" fmla="*/ 291 h 533"/>
                    <a:gd name="T78" fmla="*/ 260 w 527"/>
                    <a:gd name="T79" fmla="*/ 358 h 533"/>
                    <a:gd name="T80" fmla="*/ 163 w 527"/>
                    <a:gd name="T81" fmla="*/ 266 h 533"/>
                    <a:gd name="T82" fmla="*/ 260 w 527"/>
                    <a:gd name="T83" fmla="*/ 174 h 533"/>
                    <a:gd name="T84" fmla="*/ 352 w 527"/>
                    <a:gd name="T85" fmla="*/ 266 h 533"/>
                    <a:gd name="T86" fmla="*/ 260 w 527"/>
                    <a:gd name="T87" fmla="*/ 358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527" h="533">
                      <a:moveTo>
                        <a:pt x="455" y="291"/>
                      </a:moveTo>
                      <a:cubicBezTo>
                        <a:pt x="455" y="286"/>
                        <a:pt x="460" y="276"/>
                        <a:pt x="460" y="266"/>
                      </a:cubicBezTo>
                      <a:cubicBezTo>
                        <a:pt x="460" y="256"/>
                        <a:pt x="460" y="245"/>
                        <a:pt x="455" y="240"/>
                      </a:cubicBezTo>
                      <a:lnTo>
                        <a:pt x="511" y="194"/>
                      </a:lnTo>
                      <a:cubicBezTo>
                        <a:pt x="521" y="189"/>
                        <a:pt x="521" y="184"/>
                        <a:pt x="516" y="179"/>
                      </a:cubicBezTo>
                      <a:lnTo>
                        <a:pt x="465" y="82"/>
                      </a:lnTo>
                      <a:cubicBezTo>
                        <a:pt x="460" y="82"/>
                        <a:pt x="455" y="77"/>
                        <a:pt x="444" y="82"/>
                      </a:cubicBezTo>
                      <a:lnTo>
                        <a:pt x="378" y="107"/>
                      </a:lnTo>
                      <a:cubicBezTo>
                        <a:pt x="368" y="97"/>
                        <a:pt x="352" y="92"/>
                        <a:pt x="332" y="82"/>
                      </a:cubicBezTo>
                      <a:lnTo>
                        <a:pt x="322" y="10"/>
                      </a:lnTo>
                      <a:cubicBezTo>
                        <a:pt x="327" y="5"/>
                        <a:pt x="317" y="0"/>
                        <a:pt x="311" y="0"/>
                      </a:cubicBezTo>
                      <a:lnTo>
                        <a:pt x="204" y="0"/>
                      </a:lnTo>
                      <a:cubicBezTo>
                        <a:pt x="199" y="0"/>
                        <a:pt x="194" y="5"/>
                        <a:pt x="194" y="10"/>
                      </a:cubicBezTo>
                      <a:lnTo>
                        <a:pt x="184" y="82"/>
                      </a:lnTo>
                      <a:cubicBezTo>
                        <a:pt x="163" y="87"/>
                        <a:pt x="153" y="97"/>
                        <a:pt x="138" y="107"/>
                      </a:cubicBezTo>
                      <a:lnTo>
                        <a:pt x="71" y="82"/>
                      </a:lnTo>
                      <a:cubicBezTo>
                        <a:pt x="66" y="77"/>
                        <a:pt x="61" y="82"/>
                        <a:pt x="56" y="87"/>
                      </a:cubicBezTo>
                      <a:lnTo>
                        <a:pt x="0" y="179"/>
                      </a:lnTo>
                      <a:cubicBezTo>
                        <a:pt x="0" y="184"/>
                        <a:pt x="0" y="189"/>
                        <a:pt x="5" y="194"/>
                      </a:cubicBezTo>
                      <a:lnTo>
                        <a:pt x="61" y="240"/>
                      </a:lnTo>
                      <a:cubicBezTo>
                        <a:pt x="61" y="245"/>
                        <a:pt x="61" y="256"/>
                        <a:pt x="61" y="266"/>
                      </a:cubicBezTo>
                      <a:cubicBezTo>
                        <a:pt x="61" y="276"/>
                        <a:pt x="61" y="286"/>
                        <a:pt x="61" y="291"/>
                      </a:cubicBezTo>
                      <a:lnTo>
                        <a:pt x="5" y="337"/>
                      </a:lnTo>
                      <a:cubicBezTo>
                        <a:pt x="0" y="343"/>
                        <a:pt x="0" y="348"/>
                        <a:pt x="5" y="353"/>
                      </a:cubicBezTo>
                      <a:lnTo>
                        <a:pt x="56" y="450"/>
                      </a:lnTo>
                      <a:cubicBezTo>
                        <a:pt x="61" y="450"/>
                        <a:pt x="66" y="455"/>
                        <a:pt x="71" y="450"/>
                      </a:cubicBezTo>
                      <a:lnTo>
                        <a:pt x="138" y="424"/>
                      </a:lnTo>
                      <a:cubicBezTo>
                        <a:pt x="153" y="434"/>
                        <a:pt x="168" y="445"/>
                        <a:pt x="184" y="450"/>
                      </a:cubicBezTo>
                      <a:lnTo>
                        <a:pt x="194" y="521"/>
                      </a:lnTo>
                      <a:cubicBezTo>
                        <a:pt x="194" y="526"/>
                        <a:pt x="199" y="532"/>
                        <a:pt x="209" y="532"/>
                      </a:cubicBezTo>
                      <a:lnTo>
                        <a:pt x="317" y="532"/>
                      </a:lnTo>
                      <a:cubicBezTo>
                        <a:pt x="322" y="532"/>
                        <a:pt x="327" y="526"/>
                        <a:pt x="327" y="521"/>
                      </a:cubicBezTo>
                      <a:lnTo>
                        <a:pt x="337" y="450"/>
                      </a:lnTo>
                      <a:cubicBezTo>
                        <a:pt x="357" y="445"/>
                        <a:pt x="373" y="434"/>
                        <a:pt x="383" y="424"/>
                      </a:cubicBezTo>
                      <a:lnTo>
                        <a:pt x="449" y="450"/>
                      </a:lnTo>
                      <a:cubicBezTo>
                        <a:pt x="455" y="455"/>
                        <a:pt x="465" y="450"/>
                        <a:pt x="470" y="445"/>
                      </a:cubicBezTo>
                      <a:lnTo>
                        <a:pt x="521" y="353"/>
                      </a:lnTo>
                      <a:cubicBezTo>
                        <a:pt x="526" y="348"/>
                        <a:pt x="526" y="337"/>
                        <a:pt x="521" y="337"/>
                      </a:cubicBezTo>
                      <a:lnTo>
                        <a:pt x="455" y="291"/>
                      </a:lnTo>
                      <a:close/>
                      <a:moveTo>
                        <a:pt x="260" y="358"/>
                      </a:moveTo>
                      <a:cubicBezTo>
                        <a:pt x="209" y="358"/>
                        <a:pt x="163" y="317"/>
                        <a:pt x="163" y="266"/>
                      </a:cubicBezTo>
                      <a:cubicBezTo>
                        <a:pt x="163" y="215"/>
                        <a:pt x="209" y="174"/>
                        <a:pt x="260" y="174"/>
                      </a:cubicBezTo>
                      <a:cubicBezTo>
                        <a:pt x="311" y="174"/>
                        <a:pt x="352" y="215"/>
                        <a:pt x="352" y="266"/>
                      </a:cubicBezTo>
                      <a:cubicBezTo>
                        <a:pt x="352" y="317"/>
                        <a:pt x="311" y="358"/>
                        <a:pt x="260" y="358"/>
                      </a:cubicBez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400">
                    <a:solidFill>
                      <a:prstClr val="black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27" name="직선 연결선[R] 33"/>
                <p:cNvCxnSpPr/>
                <p:nvPr/>
              </p:nvCxnSpPr>
              <p:spPr>
                <a:xfrm>
                  <a:off x="785281" y="6952264"/>
                  <a:ext cx="1404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" name="직선 연결선[R] 33"/>
              <p:cNvCxnSpPr/>
              <p:nvPr/>
            </p:nvCxnSpPr>
            <p:spPr>
              <a:xfrm>
                <a:off x="784744" y="604303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" name="텍스트 상자 31"/>
              <p:cNvSpPr txBox="1"/>
              <p:nvPr/>
            </p:nvSpPr>
            <p:spPr>
              <a:xfrm>
                <a:off x="959833" y="5844495"/>
                <a:ext cx="82026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종료된 그룹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0" name="텍스트 상자 31"/>
              <p:cNvSpPr txBox="1"/>
              <p:nvPr/>
            </p:nvSpPr>
            <p:spPr>
              <a:xfrm>
                <a:off x="959833" y="5643607"/>
                <a:ext cx="82026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공개 그룹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1" name="Freeform 24"/>
              <p:cNvSpPr>
                <a:spLocks noChangeArrowheads="1"/>
              </p:cNvSpPr>
              <p:nvPr/>
            </p:nvSpPr>
            <p:spPr bwMode="auto">
              <a:xfrm flipV="1">
                <a:off x="837212" y="5672883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2" name="Freeform 24"/>
              <p:cNvSpPr>
                <a:spLocks noChangeArrowheads="1"/>
              </p:cNvSpPr>
              <p:nvPr/>
            </p:nvSpPr>
            <p:spPr bwMode="auto">
              <a:xfrm flipV="1">
                <a:off x="843821" y="5873367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0" name="직선 연결선[R] 33"/>
              <p:cNvCxnSpPr/>
              <p:nvPr/>
            </p:nvCxnSpPr>
            <p:spPr>
              <a:xfrm>
                <a:off x="779221" y="5535609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그룹 70"/>
            <p:cNvGrpSpPr/>
            <p:nvPr/>
          </p:nvGrpSpPr>
          <p:grpSpPr>
            <a:xfrm>
              <a:off x="777617" y="1157076"/>
              <a:ext cx="1457880" cy="2176813"/>
              <a:chOff x="777617" y="1157076"/>
              <a:chExt cx="1457880" cy="2176813"/>
            </a:xfrm>
          </p:grpSpPr>
          <p:sp>
            <p:nvSpPr>
              <p:cNvPr id="21" name="Rectangle 14"/>
              <p:cNvSpPr>
                <a:spLocks/>
              </p:cNvSpPr>
              <p:nvPr/>
            </p:nvSpPr>
            <p:spPr bwMode="auto">
              <a:xfrm>
                <a:off x="883402" y="1482241"/>
                <a:ext cx="1195982" cy="26744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1270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  <a:extLst/>
            </p:spPr>
            <p:txBody>
              <a:bodyPr lIns="0" tIns="0" rIns="0" bIns="0" anchor="ctr"/>
              <a:lstStyle/>
              <a:p>
                <a:pPr algn="ctr">
                  <a:lnSpc>
                    <a:spcPct val="130000"/>
                  </a:lnSpc>
                </a:pPr>
                <a:endParaRPr lang="x-none" altLang="x-none" sz="7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2" name="Rectangle 90"/>
              <p:cNvSpPr/>
              <p:nvPr/>
            </p:nvSpPr>
            <p:spPr>
              <a:xfrm>
                <a:off x="1071176" y="1490654"/>
                <a:ext cx="734496" cy="2523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ko-KR" altLang="en-US" sz="8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그룹 만들기</a:t>
                </a:r>
                <a:endParaRPr lang="x-none" altLang="x-none" sz="8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3" name="Text Box 22"/>
              <p:cNvSpPr txBox="1">
                <a:spLocks/>
              </p:cNvSpPr>
              <p:nvPr/>
            </p:nvSpPr>
            <p:spPr bwMode="auto">
              <a:xfrm>
                <a:off x="883855" y="1157076"/>
                <a:ext cx="538691" cy="1942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/>
              <a:p>
                <a:r>
                  <a:rPr lang="ko-KR" altLang="en-US" sz="10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  <a:cs typeface="Apple SD 산돌고딕 Neo 볼드체" charset="-127"/>
                    <a:sym typeface="Apple SD 산돌고딕 Neo 볼드체" charset="-127"/>
                  </a:rPr>
                  <a:t>스퀘어</a:t>
                </a:r>
                <a:endParaRPr lang="x-none" altLang="x-none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Apple SD 산돌고딕 Neo 볼드체" charset="-127"/>
                  <a:sym typeface="Apple SD 산돌고딕 Neo 볼드체" charset="-127"/>
                </a:endParaRPr>
              </a:p>
            </p:txBody>
          </p:sp>
          <p:sp>
            <p:nvSpPr>
              <p:cNvPr id="33" name="텍스트 상자 31"/>
              <p:cNvSpPr txBox="1"/>
              <p:nvPr/>
            </p:nvSpPr>
            <p:spPr>
              <a:xfrm>
                <a:off x="959833" y="2651451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즐겨찾는 그룹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34" name="직선 연결선[R] 33"/>
              <p:cNvCxnSpPr/>
              <p:nvPr/>
            </p:nvCxnSpPr>
            <p:spPr>
              <a:xfrm>
                <a:off x="779221" y="2580714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Freeform 24"/>
              <p:cNvSpPr>
                <a:spLocks noChangeArrowheads="1"/>
              </p:cNvSpPr>
              <p:nvPr/>
            </p:nvSpPr>
            <p:spPr bwMode="auto">
              <a:xfrm>
                <a:off x="846720" y="2676016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36" name="직선 연결선[R] 33"/>
              <p:cNvCxnSpPr/>
              <p:nvPr/>
            </p:nvCxnSpPr>
            <p:spPr>
              <a:xfrm>
                <a:off x="779221" y="2820616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텍스트 상자 31"/>
              <p:cNvSpPr txBox="1"/>
              <p:nvPr/>
            </p:nvSpPr>
            <p:spPr>
              <a:xfrm>
                <a:off x="1066442" y="2823365"/>
                <a:ext cx="1044000" cy="51052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400"/>
                  </a:lnSpc>
                </a:pP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A </a:t>
                </a:r>
                <a:r>
                  <a:rPr kumimoji="1"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통신사 서비스 </a:t>
                </a: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</a:p>
              <a:p>
                <a:pPr>
                  <a:lnSpc>
                    <a:spcPts val="1400"/>
                  </a:lnSpc>
                </a:pP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EGW UX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 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en-US" altLang="ko-KR" sz="600" b="1" dirty="0">
                    <a:solidFill>
                      <a:srgbClr val="FF0000"/>
                    </a:solidFill>
                    <a:latin typeface="+mn-ea"/>
                    <a:ea typeface="+mn-ea"/>
                  </a:rPr>
                  <a:t>3</a:t>
                </a:r>
                <a:endParaRPr lang="ko-KR" altLang="en-US" sz="6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  <a:p>
                <a:pPr lvl="0">
                  <a:lnSpc>
                    <a:spcPts val="14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자동차 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UX 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 </a:t>
                </a:r>
                <a:r>
                  <a:rPr lang="en-US" altLang="ko-KR" sz="600" b="1" dirty="0" smtClean="0">
                    <a:solidFill>
                      <a:srgbClr val="FF0000"/>
                    </a:solidFill>
                    <a:latin typeface="+mn-ea"/>
                    <a:ea typeface="+mn-ea"/>
                  </a:rPr>
                  <a:t>5</a:t>
                </a:r>
                <a:endParaRPr lang="ko-KR" altLang="en-US" sz="6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2" name="Rectangle 118"/>
              <p:cNvSpPr/>
              <p:nvPr/>
            </p:nvSpPr>
            <p:spPr>
              <a:xfrm>
                <a:off x="777617" y="1793760"/>
                <a:ext cx="1417183" cy="20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>
                  <a:solidFill>
                    <a:prstClr val="white"/>
                  </a:solidFill>
                  <a:latin typeface="+mn-ea"/>
                </a:endParaRPr>
              </a:p>
            </p:txBody>
          </p:sp>
          <p:sp>
            <p:nvSpPr>
              <p:cNvPr id="43" name="텍스트 상자 31"/>
              <p:cNvSpPr txBox="1"/>
              <p:nvPr/>
            </p:nvSpPr>
            <p:spPr>
              <a:xfrm>
                <a:off x="965893" y="1847048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워크피드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4" name="텍스트 상자 31"/>
              <p:cNvSpPr txBox="1"/>
              <p:nvPr/>
            </p:nvSpPr>
            <p:spPr>
              <a:xfrm>
                <a:off x="965893" y="2000446"/>
                <a:ext cx="820269" cy="51328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400"/>
                  </a:lnSpc>
                </a:pPr>
                <a:r>
                  <a:rPr kumimoji="1" lang="ko-KR" altLang="en-US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플래그 글</a:t>
                </a:r>
                <a:endPara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  <a:p>
                <a:pPr lvl="0">
                  <a:lnSpc>
                    <a:spcPts val="1400"/>
                  </a:lnSpc>
                </a:pPr>
                <a:r>
                  <a:rPr lang="ko-KR" altLang="en-US" sz="700" dirty="0" err="1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멘션</a:t>
                </a:r>
                <a:r>
                  <a:rPr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글 </a:t>
                </a:r>
                <a:r>
                  <a:rPr lang="en-US" altLang="ko-KR" sz="700" b="1" dirty="0">
                    <a:solidFill>
                      <a:srgbClr val="FF0000"/>
                    </a:solidFill>
                    <a:latin typeface="+mn-ea"/>
                    <a:ea typeface="+mn-ea"/>
                  </a:rPr>
                  <a:t>5</a:t>
                </a:r>
                <a:endParaRPr lang="ko-KR" altLang="en-US" sz="7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  <a:p>
                <a:pPr>
                  <a:lnSpc>
                    <a:spcPts val="1400"/>
                  </a:lnSpc>
                </a:pPr>
                <a:r>
                  <a:rPr lang="en-US" altLang="ko-KR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VIP</a:t>
                </a:r>
                <a:r>
                  <a:rPr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7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글 </a:t>
                </a:r>
                <a:r>
                  <a:rPr lang="en-US" altLang="ko-KR" sz="700" b="1" smtClean="0">
                    <a:solidFill>
                      <a:srgbClr val="FF0000"/>
                    </a:solidFill>
                    <a:latin typeface="+mn-ea"/>
                    <a:ea typeface="+mn-ea"/>
                  </a:rPr>
                  <a:t>3</a:t>
                </a:r>
                <a:endParaRPr lang="ko-KR" altLang="en-US" sz="7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70" name="그룹 69"/>
            <p:cNvGrpSpPr/>
            <p:nvPr/>
          </p:nvGrpSpPr>
          <p:grpSpPr>
            <a:xfrm>
              <a:off x="779221" y="3447566"/>
              <a:ext cx="1450216" cy="1980583"/>
              <a:chOff x="779221" y="3447566"/>
              <a:chExt cx="1450216" cy="1980583"/>
            </a:xfrm>
          </p:grpSpPr>
          <p:sp>
            <p:nvSpPr>
              <p:cNvPr id="47" name="텍스트 상자 31"/>
              <p:cNvSpPr txBox="1"/>
              <p:nvPr/>
            </p:nvSpPr>
            <p:spPr>
              <a:xfrm>
                <a:off x="1078389" y="3925472"/>
                <a:ext cx="792000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자동차 </a:t>
                </a: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UX </a:t>
                </a:r>
                <a:r>
                  <a:rPr kumimoji="1"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</a:t>
                </a: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600" b="1" dirty="0" smtClean="0">
                    <a:solidFill>
                      <a:srgbClr val="FF0000"/>
                    </a:solidFill>
                    <a:latin typeface="+mn-ea"/>
                    <a:ea typeface="+mn-ea"/>
                  </a:rPr>
                  <a:t>5</a:t>
                </a:r>
              </a:p>
              <a:p>
                <a:pPr lvl="0"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병원 </a:t>
                </a:r>
                <a:r>
                  <a:rPr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서비스디자인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텍스트 상자 31"/>
              <p:cNvSpPr txBox="1"/>
              <p:nvPr/>
            </p:nvSpPr>
            <p:spPr>
              <a:xfrm>
                <a:off x="1080112" y="3780839"/>
                <a:ext cx="79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기본 그룹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0" name="Freeform 24"/>
              <p:cNvSpPr>
                <a:spLocks noChangeArrowheads="1"/>
              </p:cNvSpPr>
              <p:nvPr/>
            </p:nvSpPr>
            <p:spPr bwMode="auto">
              <a:xfrm>
                <a:off x="961147" y="3811841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텍스트 상자 31"/>
              <p:cNvSpPr txBox="1"/>
              <p:nvPr/>
            </p:nvSpPr>
            <p:spPr>
              <a:xfrm>
                <a:off x="959833" y="3518303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내 그룹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79221" y="3447566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Freeform 24"/>
              <p:cNvSpPr>
                <a:spLocks noChangeArrowheads="1"/>
              </p:cNvSpPr>
              <p:nvPr/>
            </p:nvSpPr>
            <p:spPr bwMode="auto">
              <a:xfrm>
                <a:off x="846720" y="3542868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4" name="직선 연결선[R] 33"/>
              <p:cNvCxnSpPr/>
              <p:nvPr/>
            </p:nvCxnSpPr>
            <p:spPr>
              <a:xfrm>
                <a:off x="779221" y="3687468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5" name="Group 143"/>
              <p:cNvGrpSpPr/>
              <p:nvPr/>
            </p:nvGrpSpPr>
            <p:grpSpPr>
              <a:xfrm>
                <a:off x="1879383" y="3478906"/>
                <a:ext cx="221965" cy="169277"/>
                <a:chOff x="1879383" y="5177290"/>
                <a:chExt cx="221965" cy="169277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1879383" y="5177290"/>
                  <a:ext cx="100990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r>
                    <a:rPr lang="en-US" altLang="ko-KR" sz="1100" b="1" dirty="0" smtClean="0">
                      <a:solidFill>
                        <a:prstClr val="white">
                          <a:lumMod val="50000"/>
                        </a:prstClr>
                      </a:solidFill>
                      <a:latin typeface="+mn-ea"/>
                      <a:ea typeface="+mn-ea"/>
                    </a:rPr>
                    <a:t>+</a:t>
                  </a:r>
                  <a:endParaRPr lang="en-US" sz="1100" b="1" dirty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57" name="Freeform 13"/>
                <p:cNvSpPr>
                  <a:spLocks noChangeAspect="1" noChangeArrowheads="1"/>
                </p:cNvSpPr>
                <p:nvPr/>
              </p:nvSpPr>
              <p:spPr bwMode="auto">
                <a:xfrm>
                  <a:off x="2029943" y="5240831"/>
                  <a:ext cx="71405" cy="72000"/>
                </a:xfrm>
                <a:custGeom>
                  <a:avLst/>
                  <a:gdLst>
                    <a:gd name="T0" fmla="*/ 455 w 527"/>
                    <a:gd name="T1" fmla="*/ 291 h 533"/>
                    <a:gd name="T2" fmla="*/ 460 w 527"/>
                    <a:gd name="T3" fmla="*/ 266 h 533"/>
                    <a:gd name="T4" fmla="*/ 455 w 527"/>
                    <a:gd name="T5" fmla="*/ 240 h 533"/>
                    <a:gd name="T6" fmla="*/ 511 w 527"/>
                    <a:gd name="T7" fmla="*/ 194 h 533"/>
                    <a:gd name="T8" fmla="*/ 516 w 527"/>
                    <a:gd name="T9" fmla="*/ 179 h 533"/>
                    <a:gd name="T10" fmla="*/ 465 w 527"/>
                    <a:gd name="T11" fmla="*/ 82 h 533"/>
                    <a:gd name="T12" fmla="*/ 444 w 527"/>
                    <a:gd name="T13" fmla="*/ 82 h 533"/>
                    <a:gd name="T14" fmla="*/ 378 w 527"/>
                    <a:gd name="T15" fmla="*/ 107 h 533"/>
                    <a:gd name="T16" fmla="*/ 332 w 527"/>
                    <a:gd name="T17" fmla="*/ 82 h 533"/>
                    <a:gd name="T18" fmla="*/ 322 w 527"/>
                    <a:gd name="T19" fmla="*/ 10 h 533"/>
                    <a:gd name="T20" fmla="*/ 311 w 527"/>
                    <a:gd name="T21" fmla="*/ 0 h 533"/>
                    <a:gd name="T22" fmla="*/ 204 w 527"/>
                    <a:gd name="T23" fmla="*/ 0 h 533"/>
                    <a:gd name="T24" fmla="*/ 194 w 527"/>
                    <a:gd name="T25" fmla="*/ 10 h 533"/>
                    <a:gd name="T26" fmla="*/ 184 w 527"/>
                    <a:gd name="T27" fmla="*/ 82 h 533"/>
                    <a:gd name="T28" fmla="*/ 138 w 527"/>
                    <a:gd name="T29" fmla="*/ 107 h 533"/>
                    <a:gd name="T30" fmla="*/ 71 w 527"/>
                    <a:gd name="T31" fmla="*/ 82 h 533"/>
                    <a:gd name="T32" fmla="*/ 56 w 527"/>
                    <a:gd name="T33" fmla="*/ 87 h 533"/>
                    <a:gd name="T34" fmla="*/ 0 w 527"/>
                    <a:gd name="T35" fmla="*/ 179 h 533"/>
                    <a:gd name="T36" fmla="*/ 5 w 527"/>
                    <a:gd name="T37" fmla="*/ 194 h 533"/>
                    <a:gd name="T38" fmla="*/ 61 w 527"/>
                    <a:gd name="T39" fmla="*/ 240 h 533"/>
                    <a:gd name="T40" fmla="*/ 61 w 527"/>
                    <a:gd name="T41" fmla="*/ 266 h 533"/>
                    <a:gd name="T42" fmla="*/ 61 w 527"/>
                    <a:gd name="T43" fmla="*/ 291 h 533"/>
                    <a:gd name="T44" fmla="*/ 5 w 527"/>
                    <a:gd name="T45" fmla="*/ 337 h 533"/>
                    <a:gd name="T46" fmla="*/ 5 w 527"/>
                    <a:gd name="T47" fmla="*/ 353 h 533"/>
                    <a:gd name="T48" fmla="*/ 56 w 527"/>
                    <a:gd name="T49" fmla="*/ 450 h 533"/>
                    <a:gd name="T50" fmla="*/ 71 w 527"/>
                    <a:gd name="T51" fmla="*/ 450 h 533"/>
                    <a:gd name="T52" fmla="*/ 138 w 527"/>
                    <a:gd name="T53" fmla="*/ 424 h 533"/>
                    <a:gd name="T54" fmla="*/ 184 w 527"/>
                    <a:gd name="T55" fmla="*/ 450 h 533"/>
                    <a:gd name="T56" fmla="*/ 194 w 527"/>
                    <a:gd name="T57" fmla="*/ 521 h 533"/>
                    <a:gd name="T58" fmla="*/ 209 w 527"/>
                    <a:gd name="T59" fmla="*/ 532 h 533"/>
                    <a:gd name="T60" fmla="*/ 317 w 527"/>
                    <a:gd name="T61" fmla="*/ 532 h 533"/>
                    <a:gd name="T62" fmla="*/ 327 w 527"/>
                    <a:gd name="T63" fmla="*/ 521 h 533"/>
                    <a:gd name="T64" fmla="*/ 337 w 527"/>
                    <a:gd name="T65" fmla="*/ 450 h 533"/>
                    <a:gd name="T66" fmla="*/ 383 w 527"/>
                    <a:gd name="T67" fmla="*/ 424 h 533"/>
                    <a:gd name="T68" fmla="*/ 449 w 527"/>
                    <a:gd name="T69" fmla="*/ 450 h 533"/>
                    <a:gd name="T70" fmla="*/ 470 w 527"/>
                    <a:gd name="T71" fmla="*/ 445 h 533"/>
                    <a:gd name="T72" fmla="*/ 521 w 527"/>
                    <a:gd name="T73" fmla="*/ 353 h 533"/>
                    <a:gd name="T74" fmla="*/ 521 w 527"/>
                    <a:gd name="T75" fmla="*/ 337 h 533"/>
                    <a:gd name="T76" fmla="*/ 455 w 527"/>
                    <a:gd name="T77" fmla="*/ 291 h 533"/>
                    <a:gd name="T78" fmla="*/ 260 w 527"/>
                    <a:gd name="T79" fmla="*/ 358 h 533"/>
                    <a:gd name="T80" fmla="*/ 163 w 527"/>
                    <a:gd name="T81" fmla="*/ 266 h 533"/>
                    <a:gd name="T82" fmla="*/ 260 w 527"/>
                    <a:gd name="T83" fmla="*/ 174 h 533"/>
                    <a:gd name="T84" fmla="*/ 352 w 527"/>
                    <a:gd name="T85" fmla="*/ 266 h 533"/>
                    <a:gd name="T86" fmla="*/ 260 w 527"/>
                    <a:gd name="T87" fmla="*/ 358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527" h="533">
                      <a:moveTo>
                        <a:pt x="455" y="291"/>
                      </a:moveTo>
                      <a:cubicBezTo>
                        <a:pt x="455" y="286"/>
                        <a:pt x="460" y="276"/>
                        <a:pt x="460" y="266"/>
                      </a:cubicBezTo>
                      <a:cubicBezTo>
                        <a:pt x="460" y="256"/>
                        <a:pt x="460" y="245"/>
                        <a:pt x="455" y="240"/>
                      </a:cubicBezTo>
                      <a:lnTo>
                        <a:pt x="511" y="194"/>
                      </a:lnTo>
                      <a:cubicBezTo>
                        <a:pt x="521" y="189"/>
                        <a:pt x="521" y="184"/>
                        <a:pt x="516" y="179"/>
                      </a:cubicBezTo>
                      <a:lnTo>
                        <a:pt x="465" y="82"/>
                      </a:lnTo>
                      <a:cubicBezTo>
                        <a:pt x="460" y="82"/>
                        <a:pt x="455" y="77"/>
                        <a:pt x="444" y="82"/>
                      </a:cubicBezTo>
                      <a:lnTo>
                        <a:pt x="378" y="107"/>
                      </a:lnTo>
                      <a:cubicBezTo>
                        <a:pt x="368" y="97"/>
                        <a:pt x="352" y="92"/>
                        <a:pt x="332" y="82"/>
                      </a:cubicBezTo>
                      <a:lnTo>
                        <a:pt x="322" y="10"/>
                      </a:lnTo>
                      <a:cubicBezTo>
                        <a:pt x="327" y="5"/>
                        <a:pt x="317" y="0"/>
                        <a:pt x="311" y="0"/>
                      </a:cubicBezTo>
                      <a:lnTo>
                        <a:pt x="204" y="0"/>
                      </a:lnTo>
                      <a:cubicBezTo>
                        <a:pt x="199" y="0"/>
                        <a:pt x="194" y="5"/>
                        <a:pt x="194" y="10"/>
                      </a:cubicBezTo>
                      <a:lnTo>
                        <a:pt x="184" y="82"/>
                      </a:lnTo>
                      <a:cubicBezTo>
                        <a:pt x="163" y="87"/>
                        <a:pt x="153" y="97"/>
                        <a:pt x="138" y="107"/>
                      </a:cubicBezTo>
                      <a:lnTo>
                        <a:pt x="71" y="82"/>
                      </a:lnTo>
                      <a:cubicBezTo>
                        <a:pt x="66" y="77"/>
                        <a:pt x="61" y="82"/>
                        <a:pt x="56" y="87"/>
                      </a:cubicBezTo>
                      <a:lnTo>
                        <a:pt x="0" y="179"/>
                      </a:lnTo>
                      <a:cubicBezTo>
                        <a:pt x="0" y="184"/>
                        <a:pt x="0" y="189"/>
                        <a:pt x="5" y="194"/>
                      </a:cubicBezTo>
                      <a:lnTo>
                        <a:pt x="61" y="240"/>
                      </a:lnTo>
                      <a:cubicBezTo>
                        <a:pt x="61" y="245"/>
                        <a:pt x="61" y="256"/>
                        <a:pt x="61" y="266"/>
                      </a:cubicBezTo>
                      <a:cubicBezTo>
                        <a:pt x="61" y="276"/>
                        <a:pt x="61" y="286"/>
                        <a:pt x="61" y="291"/>
                      </a:cubicBezTo>
                      <a:lnTo>
                        <a:pt x="5" y="337"/>
                      </a:lnTo>
                      <a:cubicBezTo>
                        <a:pt x="0" y="343"/>
                        <a:pt x="0" y="348"/>
                        <a:pt x="5" y="353"/>
                      </a:cubicBezTo>
                      <a:lnTo>
                        <a:pt x="56" y="450"/>
                      </a:lnTo>
                      <a:cubicBezTo>
                        <a:pt x="61" y="450"/>
                        <a:pt x="66" y="455"/>
                        <a:pt x="71" y="450"/>
                      </a:cubicBezTo>
                      <a:lnTo>
                        <a:pt x="138" y="424"/>
                      </a:lnTo>
                      <a:cubicBezTo>
                        <a:pt x="153" y="434"/>
                        <a:pt x="168" y="445"/>
                        <a:pt x="184" y="450"/>
                      </a:cubicBezTo>
                      <a:lnTo>
                        <a:pt x="194" y="521"/>
                      </a:lnTo>
                      <a:cubicBezTo>
                        <a:pt x="194" y="526"/>
                        <a:pt x="199" y="532"/>
                        <a:pt x="209" y="532"/>
                      </a:cubicBezTo>
                      <a:lnTo>
                        <a:pt x="317" y="532"/>
                      </a:lnTo>
                      <a:cubicBezTo>
                        <a:pt x="322" y="532"/>
                        <a:pt x="327" y="526"/>
                        <a:pt x="327" y="521"/>
                      </a:cubicBezTo>
                      <a:lnTo>
                        <a:pt x="337" y="450"/>
                      </a:lnTo>
                      <a:cubicBezTo>
                        <a:pt x="357" y="445"/>
                        <a:pt x="373" y="434"/>
                        <a:pt x="383" y="424"/>
                      </a:cubicBezTo>
                      <a:lnTo>
                        <a:pt x="449" y="450"/>
                      </a:lnTo>
                      <a:cubicBezTo>
                        <a:pt x="455" y="455"/>
                        <a:pt x="465" y="450"/>
                        <a:pt x="470" y="445"/>
                      </a:cubicBezTo>
                      <a:lnTo>
                        <a:pt x="521" y="353"/>
                      </a:lnTo>
                      <a:cubicBezTo>
                        <a:pt x="526" y="348"/>
                        <a:pt x="526" y="337"/>
                        <a:pt x="521" y="337"/>
                      </a:cubicBezTo>
                      <a:lnTo>
                        <a:pt x="455" y="291"/>
                      </a:lnTo>
                      <a:close/>
                      <a:moveTo>
                        <a:pt x="260" y="358"/>
                      </a:moveTo>
                      <a:cubicBezTo>
                        <a:pt x="209" y="358"/>
                        <a:pt x="163" y="317"/>
                        <a:pt x="163" y="266"/>
                      </a:cubicBezTo>
                      <a:cubicBezTo>
                        <a:pt x="163" y="215"/>
                        <a:pt x="209" y="174"/>
                        <a:pt x="260" y="174"/>
                      </a:cubicBezTo>
                      <a:cubicBezTo>
                        <a:pt x="311" y="174"/>
                        <a:pt x="352" y="215"/>
                        <a:pt x="352" y="266"/>
                      </a:cubicBezTo>
                      <a:cubicBezTo>
                        <a:pt x="352" y="317"/>
                        <a:pt x="311" y="358"/>
                        <a:pt x="260" y="35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solidFill>
                      <a:prstClr val="black"/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60" name="텍스트 상자 31"/>
              <p:cNvSpPr txBox="1"/>
              <p:nvPr/>
            </p:nvSpPr>
            <p:spPr>
              <a:xfrm>
                <a:off x="1080112" y="4324770"/>
                <a:ext cx="79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2017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4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분기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1" name="Freeform 24"/>
              <p:cNvSpPr>
                <a:spLocks noChangeArrowheads="1"/>
              </p:cNvSpPr>
              <p:nvPr/>
            </p:nvSpPr>
            <p:spPr bwMode="auto">
              <a:xfrm>
                <a:off x="961147" y="4355772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5" name="텍스트 상자 31"/>
              <p:cNvSpPr txBox="1"/>
              <p:nvPr/>
            </p:nvSpPr>
            <p:spPr>
              <a:xfrm>
                <a:off x="1080112" y="4995995"/>
                <a:ext cx="79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2017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3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분기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6" name="Freeform 24"/>
              <p:cNvSpPr>
                <a:spLocks noChangeArrowheads="1"/>
              </p:cNvSpPr>
              <p:nvPr/>
            </p:nvSpPr>
            <p:spPr bwMode="auto">
              <a:xfrm>
                <a:off x="961147" y="5026997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7" name="텍스트 상자 31"/>
              <p:cNvSpPr txBox="1"/>
              <p:nvPr/>
            </p:nvSpPr>
            <p:spPr>
              <a:xfrm>
                <a:off x="1078389" y="4443513"/>
                <a:ext cx="792000" cy="461665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EGW UX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 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 </a:t>
                </a:r>
                <a:r>
                  <a:rPr lang="en-US" altLang="ko-KR" sz="600" b="1" dirty="0">
                    <a:solidFill>
                      <a:srgbClr val="FF0000"/>
                    </a:solidFill>
                    <a:latin typeface="+mn-ea"/>
                    <a:ea typeface="+mn-ea"/>
                  </a:rPr>
                  <a:t>3</a:t>
                </a:r>
                <a:endParaRPr lang="ko-KR" altLang="en-US" sz="6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A 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통신사 서비스 </a:t>
                </a:r>
                <a:r>
                  <a:rPr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</a:p>
              <a:p>
                <a:pPr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정부 과제 </a:t>
                </a:r>
                <a:r>
                  <a:rPr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8" name="텍스트 상자 31"/>
              <p:cNvSpPr txBox="1"/>
              <p:nvPr/>
            </p:nvSpPr>
            <p:spPr>
              <a:xfrm>
                <a:off x="1078389" y="5120372"/>
                <a:ext cx="792000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lvl="0"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스퀘어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A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  <a:p>
                <a:pPr lvl="0"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스퀘어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B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87" name="Freeform 13"/>
            <p:cNvSpPr>
              <a:spLocks noChangeAspect="1" noChangeArrowheads="1"/>
            </p:cNvSpPr>
            <p:nvPr/>
          </p:nvSpPr>
          <p:spPr bwMode="auto">
            <a:xfrm>
              <a:off x="2028961" y="2427306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79773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직사각형 98"/>
          <p:cNvSpPr/>
          <p:nvPr/>
        </p:nvSpPr>
        <p:spPr>
          <a:xfrm>
            <a:off x="5543136" y="1277643"/>
            <a:ext cx="1422685" cy="33397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5" name="직사각형 339"/>
          <p:cNvSpPr/>
          <p:nvPr/>
        </p:nvSpPr>
        <p:spPr>
          <a:xfrm>
            <a:off x="288157" y="620669"/>
            <a:ext cx="367200" cy="573269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>
              <a:latin typeface="+mn-ea"/>
            </a:endParaRPr>
          </a:p>
        </p:txBody>
      </p:sp>
      <p:sp>
        <p:nvSpPr>
          <p:cNvPr id="6" name="직사각형"/>
          <p:cNvSpPr/>
          <p:nvPr/>
        </p:nvSpPr>
        <p:spPr>
          <a:xfrm rot="5400000">
            <a:off x="-2394590" y="3303419"/>
            <a:ext cx="5732692" cy="367198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grpSp>
        <p:nvGrpSpPr>
          <p:cNvPr id="7" name="Group 121"/>
          <p:cNvGrpSpPr/>
          <p:nvPr/>
        </p:nvGrpSpPr>
        <p:grpSpPr>
          <a:xfrm>
            <a:off x="345411" y="702015"/>
            <a:ext cx="258969" cy="3587760"/>
            <a:chOff x="459711" y="1300554"/>
            <a:chExt cx="258969" cy="3587760"/>
          </a:xfrm>
        </p:grpSpPr>
        <p:sp>
          <p:nvSpPr>
            <p:cNvPr id="8" name="타원 83"/>
            <p:cNvSpPr>
              <a:spLocks noChangeAspect="1"/>
            </p:cNvSpPr>
            <p:nvPr/>
          </p:nvSpPr>
          <p:spPr>
            <a:xfrm>
              <a:off x="459711" y="1671205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타원 84"/>
            <p:cNvSpPr>
              <a:spLocks noChangeAspect="1"/>
            </p:cNvSpPr>
            <p:nvPr/>
          </p:nvSpPr>
          <p:spPr>
            <a:xfrm>
              <a:off x="459711" y="2041856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타원 85"/>
            <p:cNvSpPr>
              <a:spLocks noChangeAspect="1"/>
            </p:cNvSpPr>
            <p:nvPr/>
          </p:nvSpPr>
          <p:spPr>
            <a:xfrm>
              <a:off x="459711" y="241404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타원 86"/>
            <p:cNvSpPr>
              <a:spLocks noChangeAspect="1"/>
            </p:cNvSpPr>
            <p:nvPr/>
          </p:nvSpPr>
          <p:spPr>
            <a:xfrm>
              <a:off x="459711" y="2786242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타원 87"/>
            <p:cNvSpPr>
              <a:spLocks noChangeAspect="1"/>
            </p:cNvSpPr>
            <p:nvPr/>
          </p:nvSpPr>
          <p:spPr>
            <a:xfrm>
              <a:off x="459711" y="3161360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타원 88"/>
            <p:cNvSpPr>
              <a:spLocks noChangeAspect="1"/>
            </p:cNvSpPr>
            <p:nvPr/>
          </p:nvSpPr>
          <p:spPr>
            <a:xfrm>
              <a:off x="459711" y="353052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타원 89"/>
            <p:cNvSpPr>
              <a:spLocks noChangeAspect="1"/>
            </p:cNvSpPr>
            <p:nvPr/>
          </p:nvSpPr>
          <p:spPr>
            <a:xfrm>
              <a:off x="459711" y="389672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타원 90"/>
            <p:cNvSpPr>
              <a:spLocks noChangeAspect="1"/>
            </p:cNvSpPr>
            <p:nvPr/>
          </p:nvSpPr>
          <p:spPr>
            <a:xfrm>
              <a:off x="459711" y="426291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타원 91"/>
            <p:cNvSpPr>
              <a:spLocks noChangeAspect="1"/>
            </p:cNvSpPr>
            <p:nvPr/>
          </p:nvSpPr>
          <p:spPr>
            <a:xfrm>
              <a:off x="459711" y="462911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타원 83"/>
            <p:cNvSpPr>
              <a:spLocks noChangeAspect="1"/>
            </p:cNvSpPr>
            <p:nvPr/>
          </p:nvSpPr>
          <p:spPr>
            <a:xfrm>
              <a:off x="459711" y="130055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타원 83"/>
            <p:cNvSpPr>
              <a:spLocks noChangeAspect="1"/>
            </p:cNvSpPr>
            <p:nvPr/>
          </p:nvSpPr>
          <p:spPr>
            <a:xfrm>
              <a:off x="459711" y="2416974"/>
              <a:ext cx="258969" cy="2592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kumimoji="1" lang="ko-KR" altLang="en-US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스퀘어</a:t>
              </a:r>
              <a:endParaRPr kumimoji="1"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9" name="그룹 18"/>
          <p:cNvGrpSpPr/>
          <p:nvPr/>
        </p:nvGrpSpPr>
        <p:grpSpPr>
          <a:xfrm>
            <a:off x="657953" y="620666"/>
            <a:ext cx="1463244" cy="5732698"/>
            <a:chOff x="772253" y="1030241"/>
            <a:chExt cx="1463244" cy="5732698"/>
          </a:xfrm>
        </p:grpSpPr>
        <p:sp>
          <p:nvSpPr>
            <p:cNvPr id="20" name="직사각형 98"/>
            <p:cNvSpPr/>
            <p:nvPr/>
          </p:nvSpPr>
          <p:spPr>
            <a:xfrm>
              <a:off x="772253" y="1030241"/>
              <a:ext cx="1422685" cy="57326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779221" y="5535609"/>
              <a:ext cx="1411382" cy="1162911"/>
              <a:chOff x="779221" y="5535609"/>
              <a:chExt cx="1411382" cy="1162911"/>
            </a:xfrm>
          </p:grpSpPr>
          <p:grpSp>
            <p:nvGrpSpPr>
              <p:cNvPr id="52" name="Group 92"/>
              <p:cNvGrpSpPr/>
              <p:nvPr/>
            </p:nvGrpSpPr>
            <p:grpSpPr>
              <a:xfrm>
                <a:off x="785281" y="6451892"/>
                <a:ext cx="1404000" cy="246628"/>
                <a:chOff x="785281" y="6952264"/>
                <a:chExt cx="1404000" cy="246628"/>
              </a:xfrm>
            </p:grpSpPr>
            <p:sp>
              <p:nvSpPr>
                <p:cNvPr id="59" name="텍스트 상자 31"/>
                <p:cNvSpPr txBox="1"/>
                <p:nvPr/>
              </p:nvSpPr>
              <p:spPr>
                <a:xfrm>
                  <a:off x="965893" y="7014226"/>
                  <a:ext cx="1171015" cy="184666"/>
                </a:xfrm>
                <a:prstGeom prst="rect">
                  <a:avLst/>
                </a:prstGeom>
                <a:noFill/>
              </p:spPr>
              <p:txBody>
                <a:bodyPr wrap="square" lIns="0" rtlCol="0">
                  <a:spAutoFit/>
                </a:bodyPr>
                <a:lstStyle/>
                <a:p>
                  <a:r>
                    <a:rPr kumimoji="1" lang="ko-KR" altLang="en-US" sz="600" b="1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설정  </a:t>
                  </a:r>
                  <a:endParaRPr kumimoji="1" lang="ko-KR" altLang="en-US" sz="600" dirty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60" name="Freeform 13"/>
                <p:cNvSpPr>
                  <a:spLocks noChangeAspect="1" noChangeArrowheads="1"/>
                </p:cNvSpPr>
                <p:nvPr/>
              </p:nvSpPr>
              <p:spPr bwMode="auto">
                <a:xfrm>
                  <a:off x="837212" y="7057163"/>
                  <a:ext cx="89257" cy="90000"/>
                </a:xfrm>
                <a:custGeom>
                  <a:avLst/>
                  <a:gdLst>
                    <a:gd name="T0" fmla="*/ 455 w 527"/>
                    <a:gd name="T1" fmla="*/ 291 h 533"/>
                    <a:gd name="T2" fmla="*/ 460 w 527"/>
                    <a:gd name="T3" fmla="*/ 266 h 533"/>
                    <a:gd name="T4" fmla="*/ 455 w 527"/>
                    <a:gd name="T5" fmla="*/ 240 h 533"/>
                    <a:gd name="T6" fmla="*/ 511 w 527"/>
                    <a:gd name="T7" fmla="*/ 194 h 533"/>
                    <a:gd name="T8" fmla="*/ 516 w 527"/>
                    <a:gd name="T9" fmla="*/ 179 h 533"/>
                    <a:gd name="T10" fmla="*/ 465 w 527"/>
                    <a:gd name="T11" fmla="*/ 82 h 533"/>
                    <a:gd name="T12" fmla="*/ 444 w 527"/>
                    <a:gd name="T13" fmla="*/ 82 h 533"/>
                    <a:gd name="T14" fmla="*/ 378 w 527"/>
                    <a:gd name="T15" fmla="*/ 107 h 533"/>
                    <a:gd name="T16" fmla="*/ 332 w 527"/>
                    <a:gd name="T17" fmla="*/ 82 h 533"/>
                    <a:gd name="T18" fmla="*/ 322 w 527"/>
                    <a:gd name="T19" fmla="*/ 10 h 533"/>
                    <a:gd name="T20" fmla="*/ 311 w 527"/>
                    <a:gd name="T21" fmla="*/ 0 h 533"/>
                    <a:gd name="T22" fmla="*/ 204 w 527"/>
                    <a:gd name="T23" fmla="*/ 0 h 533"/>
                    <a:gd name="T24" fmla="*/ 194 w 527"/>
                    <a:gd name="T25" fmla="*/ 10 h 533"/>
                    <a:gd name="T26" fmla="*/ 184 w 527"/>
                    <a:gd name="T27" fmla="*/ 82 h 533"/>
                    <a:gd name="T28" fmla="*/ 138 w 527"/>
                    <a:gd name="T29" fmla="*/ 107 h 533"/>
                    <a:gd name="T30" fmla="*/ 71 w 527"/>
                    <a:gd name="T31" fmla="*/ 82 h 533"/>
                    <a:gd name="T32" fmla="*/ 56 w 527"/>
                    <a:gd name="T33" fmla="*/ 87 h 533"/>
                    <a:gd name="T34" fmla="*/ 0 w 527"/>
                    <a:gd name="T35" fmla="*/ 179 h 533"/>
                    <a:gd name="T36" fmla="*/ 5 w 527"/>
                    <a:gd name="T37" fmla="*/ 194 h 533"/>
                    <a:gd name="T38" fmla="*/ 61 w 527"/>
                    <a:gd name="T39" fmla="*/ 240 h 533"/>
                    <a:gd name="T40" fmla="*/ 61 w 527"/>
                    <a:gd name="T41" fmla="*/ 266 h 533"/>
                    <a:gd name="T42" fmla="*/ 61 w 527"/>
                    <a:gd name="T43" fmla="*/ 291 h 533"/>
                    <a:gd name="T44" fmla="*/ 5 w 527"/>
                    <a:gd name="T45" fmla="*/ 337 h 533"/>
                    <a:gd name="T46" fmla="*/ 5 w 527"/>
                    <a:gd name="T47" fmla="*/ 353 h 533"/>
                    <a:gd name="T48" fmla="*/ 56 w 527"/>
                    <a:gd name="T49" fmla="*/ 450 h 533"/>
                    <a:gd name="T50" fmla="*/ 71 w 527"/>
                    <a:gd name="T51" fmla="*/ 450 h 533"/>
                    <a:gd name="T52" fmla="*/ 138 w 527"/>
                    <a:gd name="T53" fmla="*/ 424 h 533"/>
                    <a:gd name="T54" fmla="*/ 184 w 527"/>
                    <a:gd name="T55" fmla="*/ 450 h 533"/>
                    <a:gd name="T56" fmla="*/ 194 w 527"/>
                    <a:gd name="T57" fmla="*/ 521 h 533"/>
                    <a:gd name="T58" fmla="*/ 209 w 527"/>
                    <a:gd name="T59" fmla="*/ 532 h 533"/>
                    <a:gd name="T60" fmla="*/ 317 w 527"/>
                    <a:gd name="T61" fmla="*/ 532 h 533"/>
                    <a:gd name="T62" fmla="*/ 327 w 527"/>
                    <a:gd name="T63" fmla="*/ 521 h 533"/>
                    <a:gd name="T64" fmla="*/ 337 w 527"/>
                    <a:gd name="T65" fmla="*/ 450 h 533"/>
                    <a:gd name="T66" fmla="*/ 383 w 527"/>
                    <a:gd name="T67" fmla="*/ 424 h 533"/>
                    <a:gd name="T68" fmla="*/ 449 w 527"/>
                    <a:gd name="T69" fmla="*/ 450 h 533"/>
                    <a:gd name="T70" fmla="*/ 470 w 527"/>
                    <a:gd name="T71" fmla="*/ 445 h 533"/>
                    <a:gd name="T72" fmla="*/ 521 w 527"/>
                    <a:gd name="T73" fmla="*/ 353 h 533"/>
                    <a:gd name="T74" fmla="*/ 521 w 527"/>
                    <a:gd name="T75" fmla="*/ 337 h 533"/>
                    <a:gd name="T76" fmla="*/ 455 w 527"/>
                    <a:gd name="T77" fmla="*/ 291 h 533"/>
                    <a:gd name="T78" fmla="*/ 260 w 527"/>
                    <a:gd name="T79" fmla="*/ 358 h 533"/>
                    <a:gd name="T80" fmla="*/ 163 w 527"/>
                    <a:gd name="T81" fmla="*/ 266 h 533"/>
                    <a:gd name="T82" fmla="*/ 260 w 527"/>
                    <a:gd name="T83" fmla="*/ 174 h 533"/>
                    <a:gd name="T84" fmla="*/ 352 w 527"/>
                    <a:gd name="T85" fmla="*/ 266 h 533"/>
                    <a:gd name="T86" fmla="*/ 260 w 527"/>
                    <a:gd name="T87" fmla="*/ 358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527" h="533">
                      <a:moveTo>
                        <a:pt x="455" y="291"/>
                      </a:moveTo>
                      <a:cubicBezTo>
                        <a:pt x="455" y="286"/>
                        <a:pt x="460" y="276"/>
                        <a:pt x="460" y="266"/>
                      </a:cubicBezTo>
                      <a:cubicBezTo>
                        <a:pt x="460" y="256"/>
                        <a:pt x="460" y="245"/>
                        <a:pt x="455" y="240"/>
                      </a:cubicBezTo>
                      <a:lnTo>
                        <a:pt x="511" y="194"/>
                      </a:lnTo>
                      <a:cubicBezTo>
                        <a:pt x="521" y="189"/>
                        <a:pt x="521" y="184"/>
                        <a:pt x="516" y="179"/>
                      </a:cubicBezTo>
                      <a:lnTo>
                        <a:pt x="465" y="82"/>
                      </a:lnTo>
                      <a:cubicBezTo>
                        <a:pt x="460" y="82"/>
                        <a:pt x="455" y="77"/>
                        <a:pt x="444" y="82"/>
                      </a:cubicBezTo>
                      <a:lnTo>
                        <a:pt x="378" y="107"/>
                      </a:lnTo>
                      <a:cubicBezTo>
                        <a:pt x="368" y="97"/>
                        <a:pt x="352" y="92"/>
                        <a:pt x="332" y="82"/>
                      </a:cubicBezTo>
                      <a:lnTo>
                        <a:pt x="322" y="10"/>
                      </a:lnTo>
                      <a:cubicBezTo>
                        <a:pt x="327" y="5"/>
                        <a:pt x="317" y="0"/>
                        <a:pt x="311" y="0"/>
                      </a:cubicBezTo>
                      <a:lnTo>
                        <a:pt x="204" y="0"/>
                      </a:lnTo>
                      <a:cubicBezTo>
                        <a:pt x="199" y="0"/>
                        <a:pt x="194" y="5"/>
                        <a:pt x="194" y="10"/>
                      </a:cubicBezTo>
                      <a:lnTo>
                        <a:pt x="184" y="82"/>
                      </a:lnTo>
                      <a:cubicBezTo>
                        <a:pt x="163" y="87"/>
                        <a:pt x="153" y="97"/>
                        <a:pt x="138" y="107"/>
                      </a:cubicBezTo>
                      <a:lnTo>
                        <a:pt x="71" y="82"/>
                      </a:lnTo>
                      <a:cubicBezTo>
                        <a:pt x="66" y="77"/>
                        <a:pt x="61" y="82"/>
                        <a:pt x="56" y="87"/>
                      </a:cubicBezTo>
                      <a:lnTo>
                        <a:pt x="0" y="179"/>
                      </a:lnTo>
                      <a:cubicBezTo>
                        <a:pt x="0" y="184"/>
                        <a:pt x="0" y="189"/>
                        <a:pt x="5" y="194"/>
                      </a:cubicBezTo>
                      <a:lnTo>
                        <a:pt x="61" y="240"/>
                      </a:lnTo>
                      <a:cubicBezTo>
                        <a:pt x="61" y="245"/>
                        <a:pt x="61" y="256"/>
                        <a:pt x="61" y="266"/>
                      </a:cubicBezTo>
                      <a:cubicBezTo>
                        <a:pt x="61" y="276"/>
                        <a:pt x="61" y="286"/>
                        <a:pt x="61" y="291"/>
                      </a:cubicBezTo>
                      <a:lnTo>
                        <a:pt x="5" y="337"/>
                      </a:lnTo>
                      <a:cubicBezTo>
                        <a:pt x="0" y="343"/>
                        <a:pt x="0" y="348"/>
                        <a:pt x="5" y="353"/>
                      </a:cubicBezTo>
                      <a:lnTo>
                        <a:pt x="56" y="450"/>
                      </a:lnTo>
                      <a:cubicBezTo>
                        <a:pt x="61" y="450"/>
                        <a:pt x="66" y="455"/>
                        <a:pt x="71" y="450"/>
                      </a:cubicBezTo>
                      <a:lnTo>
                        <a:pt x="138" y="424"/>
                      </a:lnTo>
                      <a:cubicBezTo>
                        <a:pt x="153" y="434"/>
                        <a:pt x="168" y="445"/>
                        <a:pt x="184" y="450"/>
                      </a:cubicBezTo>
                      <a:lnTo>
                        <a:pt x="194" y="521"/>
                      </a:lnTo>
                      <a:cubicBezTo>
                        <a:pt x="194" y="526"/>
                        <a:pt x="199" y="532"/>
                        <a:pt x="209" y="532"/>
                      </a:cubicBezTo>
                      <a:lnTo>
                        <a:pt x="317" y="532"/>
                      </a:lnTo>
                      <a:cubicBezTo>
                        <a:pt x="322" y="532"/>
                        <a:pt x="327" y="526"/>
                        <a:pt x="327" y="521"/>
                      </a:cubicBezTo>
                      <a:lnTo>
                        <a:pt x="337" y="450"/>
                      </a:lnTo>
                      <a:cubicBezTo>
                        <a:pt x="357" y="445"/>
                        <a:pt x="373" y="434"/>
                        <a:pt x="383" y="424"/>
                      </a:cubicBezTo>
                      <a:lnTo>
                        <a:pt x="449" y="450"/>
                      </a:lnTo>
                      <a:cubicBezTo>
                        <a:pt x="455" y="455"/>
                        <a:pt x="465" y="450"/>
                        <a:pt x="470" y="445"/>
                      </a:cubicBezTo>
                      <a:lnTo>
                        <a:pt x="521" y="353"/>
                      </a:lnTo>
                      <a:cubicBezTo>
                        <a:pt x="526" y="348"/>
                        <a:pt x="526" y="337"/>
                        <a:pt x="521" y="337"/>
                      </a:cubicBezTo>
                      <a:lnTo>
                        <a:pt x="455" y="291"/>
                      </a:lnTo>
                      <a:close/>
                      <a:moveTo>
                        <a:pt x="260" y="358"/>
                      </a:moveTo>
                      <a:cubicBezTo>
                        <a:pt x="209" y="358"/>
                        <a:pt x="163" y="317"/>
                        <a:pt x="163" y="266"/>
                      </a:cubicBezTo>
                      <a:cubicBezTo>
                        <a:pt x="163" y="215"/>
                        <a:pt x="209" y="174"/>
                        <a:pt x="260" y="174"/>
                      </a:cubicBezTo>
                      <a:cubicBezTo>
                        <a:pt x="311" y="174"/>
                        <a:pt x="352" y="215"/>
                        <a:pt x="352" y="266"/>
                      </a:cubicBezTo>
                      <a:cubicBezTo>
                        <a:pt x="352" y="317"/>
                        <a:pt x="311" y="358"/>
                        <a:pt x="260" y="358"/>
                      </a:cubicBez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400">
                    <a:solidFill>
                      <a:prstClr val="black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61" name="직선 연결선[R] 33"/>
                <p:cNvCxnSpPr/>
                <p:nvPr/>
              </p:nvCxnSpPr>
              <p:spPr>
                <a:xfrm>
                  <a:off x="785281" y="6952264"/>
                  <a:ext cx="1404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3" name="직선 연결선[R] 33"/>
              <p:cNvCxnSpPr/>
              <p:nvPr/>
            </p:nvCxnSpPr>
            <p:spPr>
              <a:xfrm>
                <a:off x="784744" y="604303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텍스트 상자 31"/>
              <p:cNvSpPr txBox="1"/>
              <p:nvPr/>
            </p:nvSpPr>
            <p:spPr>
              <a:xfrm>
                <a:off x="959833" y="5844495"/>
                <a:ext cx="82026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종료된 그룹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5" name="텍스트 상자 31"/>
              <p:cNvSpPr txBox="1"/>
              <p:nvPr/>
            </p:nvSpPr>
            <p:spPr>
              <a:xfrm>
                <a:off x="959833" y="5643607"/>
                <a:ext cx="82026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공개 그룹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6" name="Freeform 24"/>
              <p:cNvSpPr>
                <a:spLocks noChangeArrowheads="1"/>
              </p:cNvSpPr>
              <p:nvPr/>
            </p:nvSpPr>
            <p:spPr bwMode="auto">
              <a:xfrm flipV="1">
                <a:off x="837212" y="5672883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7" name="Freeform 24"/>
              <p:cNvSpPr>
                <a:spLocks noChangeArrowheads="1"/>
              </p:cNvSpPr>
              <p:nvPr/>
            </p:nvSpPr>
            <p:spPr bwMode="auto">
              <a:xfrm flipV="1">
                <a:off x="843821" y="5873367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8" name="직선 연결선[R] 33"/>
              <p:cNvCxnSpPr/>
              <p:nvPr/>
            </p:nvCxnSpPr>
            <p:spPr>
              <a:xfrm>
                <a:off x="779221" y="5535609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그룹 21"/>
            <p:cNvGrpSpPr/>
            <p:nvPr/>
          </p:nvGrpSpPr>
          <p:grpSpPr>
            <a:xfrm>
              <a:off x="777617" y="1157076"/>
              <a:ext cx="1457880" cy="2176813"/>
              <a:chOff x="777617" y="1157076"/>
              <a:chExt cx="1457880" cy="2176813"/>
            </a:xfrm>
          </p:grpSpPr>
          <p:sp>
            <p:nvSpPr>
              <p:cNvPr id="41" name="Rectangle 14"/>
              <p:cNvSpPr>
                <a:spLocks/>
              </p:cNvSpPr>
              <p:nvPr/>
            </p:nvSpPr>
            <p:spPr bwMode="auto">
              <a:xfrm>
                <a:off x="883402" y="1482241"/>
                <a:ext cx="1195982" cy="26744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1270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  <a:extLst/>
            </p:spPr>
            <p:txBody>
              <a:bodyPr lIns="0" tIns="0" rIns="0" bIns="0" anchor="ctr"/>
              <a:lstStyle/>
              <a:p>
                <a:pPr algn="ctr">
                  <a:lnSpc>
                    <a:spcPct val="130000"/>
                  </a:lnSpc>
                </a:pPr>
                <a:endParaRPr lang="x-none" altLang="x-none" sz="7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2" name="Rectangle 90"/>
              <p:cNvSpPr/>
              <p:nvPr/>
            </p:nvSpPr>
            <p:spPr>
              <a:xfrm>
                <a:off x="1071176" y="1490654"/>
                <a:ext cx="734496" cy="2523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ko-KR" altLang="en-US" sz="8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그룹 만들기</a:t>
                </a:r>
                <a:endParaRPr lang="x-none" altLang="x-none" sz="8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3" name="Text Box 22"/>
              <p:cNvSpPr txBox="1">
                <a:spLocks/>
              </p:cNvSpPr>
              <p:nvPr/>
            </p:nvSpPr>
            <p:spPr bwMode="auto">
              <a:xfrm>
                <a:off x="883855" y="1157076"/>
                <a:ext cx="538691" cy="1942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/>
              <a:p>
                <a:r>
                  <a:rPr lang="ko-KR" altLang="en-US" sz="10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  <a:cs typeface="Apple SD 산돌고딕 Neo 볼드체" charset="-127"/>
                    <a:sym typeface="Apple SD 산돌고딕 Neo 볼드체" charset="-127"/>
                  </a:rPr>
                  <a:t>스퀘어</a:t>
                </a:r>
                <a:endParaRPr lang="x-none" altLang="x-none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Apple SD 산돌고딕 Neo 볼드체" charset="-127"/>
                  <a:sym typeface="Apple SD 산돌고딕 Neo 볼드체" charset="-127"/>
                </a:endParaRPr>
              </a:p>
            </p:txBody>
          </p:sp>
          <p:sp>
            <p:nvSpPr>
              <p:cNvPr id="44" name="텍스트 상자 31"/>
              <p:cNvSpPr txBox="1"/>
              <p:nvPr/>
            </p:nvSpPr>
            <p:spPr>
              <a:xfrm>
                <a:off x="959833" y="2651451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즐겨찾는 그룹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5" name="직선 연결선[R] 33"/>
              <p:cNvCxnSpPr/>
              <p:nvPr/>
            </p:nvCxnSpPr>
            <p:spPr>
              <a:xfrm>
                <a:off x="779221" y="2580714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Freeform 24"/>
              <p:cNvSpPr>
                <a:spLocks noChangeArrowheads="1"/>
              </p:cNvSpPr>
              <p:nvPr/>
            </p:nvSpPr>
            <p:spPr bwMode="auto">
              <a:xfrm>
                <a:off x="846720" y="2676016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7" name="직선 연결선[R] 33"/>
              <p:cNvCxnSpPr/>
              <p:nvPr/>
            </p:nvCxnSpPr>
            <p:spPr>
              <a:xfrm>
                <a:off x="779221" y="2820616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텍스트 상자 31"/>
              <p:cNvSpPr txBox="1"/>
              <p:nvPr/>
            </p:nvSpPr>
            <p:spPr>
              <a:xfrm>
                <a:off x="1066442" y="2823365"/>
                <a:ext cx="1044000" cy="51052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400"/>
                  </a:lnSpc>
                </a:pP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A </a:t>
                </a:r>
                <a:r>
                  <a:rPr kumimoji="1"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통신사 서비스 </a:t>
                </a: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</a:p>
              <a:p>
                <a:pPr>
                  <a:lnSpc>
                    <a:spcPts val="1400"/>
                  </a:lnSpc>
                </a:pP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EGW UX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 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en-US" altLang="ko-KR" sz="600" b="1" dirty="0">
                    <a:solidFill>
                      <a:srgbClr val="FF0000"/>
                    </a:solidFill>
                    <a:latin typeface="+mn-ea"/>
                    <a:ea typeface="+mn-ea"/>
                  </a:rPr>
                  <a:t>3</a:t>
                </a:r>
                <a:endParaRPr lang="ko-KR" altLang="en-US" sz="6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  <a:p>
                <a:pPr lvl="0">
                  <a:lnSpc>
                    <a:spcPts val="14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자동차 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UX 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 </a:t>
                </a:r>
                <a:r>
                  <a:rPr lang="en-US" altLang="ko-KR" sz="600" b="1" dirty="0" smtClean="0">
                    <a:solidFill>
                      <a:srgbClr val="FF0000"/>
                    </a:solidFill>
                    <a:latin typeface="+mn-ea"/>
                    <a:ea typeface="+mn-ea"/>
                  </a:rPr>
                  <a:t>5</a:t>
                </a:r>
                <a:endParaRPr lang="ko-KR" altLang="en-US" sz="6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Rectangle 118"/>
              <p:cNvSpPr/>
              <p:nvPr/>
            </p:nvSpPr>
            <p:spPr>
              <a:xfrm>
                <a:off x="777617" y="1793760"/>
                <a:ext cx="1417183" cy="20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>
                  <a:solidFill>
                    <a:prstClr val="white"/>
                  </a:solidFill>
                  <a:latin typeface="+mn-ea"/>
                </a:endParaRPr>
              </a:p>
            </p:txBody>
          </p:sp>
          <p:sp>
            <p:nvSpPr>
              <p:cNvPr id="50" name="텍스트 상자 31"/>
              <p:cNvSpPr txBox="1"/>
              <p:nvPr/>
            </p:nvSpPr>
            <p:spPr>
              <a:xfrm>
                <a:off x="965893" y="1847048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워크피드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텍스트 상자 31"/>
              <p:cNvSpPr txBox="1"/>
              <p:nvPr/>
            </p:nvSpPr>
            <p:spPr>
              <a:xfrm>
                <a:off x="965893" y="2000446"/>
                <a:ext cx="820269" cy="51328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400"/>
                  </a:lnSpc>
                </a:pPr>
                <a:r>
                  <a:rPr kumimoji="1" lang="ko-KR" altLang="en-US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플래그 글</a:t>
                </a:r>
                <a:endPara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  <a:p>
                <a:pPr lvl="0">
                  <a:lnSpc>
                    <a:spcPts val="1400"/>
                  </a:lnSpc>
                </a:pPr>
                <a:r>
                  <a:rPr lang="ko-KR" altLang="en-US" sz="700" dirty="0" err="1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멘션</a:t>
                </a:r>
                <a:r>
                  <a:rPr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글 </a:t>
                </a:r>
                <a:r>
                  <a:rPr lang="en-US" altLang="ko-KR" sz="700" b="1" dirty="0">
                    <a:solidFill>
                      <a:srgbClr val="FF0000"/>
                    </a:solidFill>
                    <a:latin typeface="+mn-ea"/>
                    <a:ea typeface="+mn-ea"/>
                  </a:rPr>
                  <a:t>5</a:t>
                </a:r>
                <a:endParaRPr lang="ko-KR" altLang="en-US" sz="7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  <a:p>
                <a:pPr>
                  <a:lnSpc>
                    <a:spcPts val="1400"/>
                  </a:lnSpc>
                </a:pPr>
                <a:r>
                  <a:rPr lang="en-US" altLang="ko-KR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VIP</a:t>
                </a:r>
                <a:r>
                  <a:rPr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7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글 </a:t>
                </a:r>
                <a:r>
                  <a:rPr lang="en-US" altLang="ko-KR" sz="700" b="1" smtClean="0">
                    <a:solidFill>
                      <a:srgbClr val="FF0000"/>
                    </a:solidFill>
                    <a:latin typeface="+mn-ea"/>
                    <a:ea typeface="+mn-ea"/>
                  </a:rPr>
                  <a:t>3</a:t>
                </a:r>
                <a:endParaRPr lang="ko-KR" altLang="en-US" sz="7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3" name="그룹 22"/>
            <p:cNvGrpSpPr/>
            <p:nvPr/>
          </p:nvGrpSpPr>
          <p:grpSpPr>
            <a:xfrm>
              <a:off x="779221" y="3447566"/>
              <a:ext cx="1450216" cy="1980583"/>
              <a:chOff x="779221" y="3447566"/>
              <a:chExt cx="1450216" cy="1980583"/>
            </a:xfrm>
          </p:grpSpPr>
          <p:sp>
            <p:nvSpPr>
              <p:cNvPr id="25" name="텍스트 상자 31"/>
              <p:cNvSpPr txBox="1"/>
              <p:nvPr/>
            </p:nvSpPr>
            <p:spPr>
              <a:xfrm>
                <a:off x="1078389" y="3925472"/>
                <a:ext cx="792000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자동차 </a:t>
                </a: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UX </a:t>
                </a:r>
                <a:r>
                  <a:rPr kumimoji="1"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</a:t>
                </a:r>
                <a:r>
                  <a:rPr kumimoji="1"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600" b="1" dirty="0" smtClean="0">
                    <a:solidFill>
                      <a:srgbClr val="FF0000"/>
                    </a:solidFill>
                    <a:latin typeface="+mn-ea"/>
                    <a:ea typeface="+mn-ea"/>
                  </a:rPr>
                  <a:t>5</a:t>
                </a:r>
              </a:p>
              <a:p>
                <a:pPr lvl="0"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병원 </a:t>
                </a:r>
                <a:r>
                  <a:rPr lang="ko-KR" altLang="en-US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서비스디자인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6" name="텍스트 상자 31"/>
              <p:cNvSpPr txBox="1"/>
              <p:nvPr/>
            </p:nvSpPr>
            <p:spPr>
              <a:xfrm>
                <a:off x="1080112" y="3780839"/>
                <a:ext cx="79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기본 그룹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7" name="Freeform 24"/>
              <p:cNvSpPr>
                <a:spLocks noChangeArrowheads="1"/>
              </p:cNvSpPr>
              <p:nvPr/>
            </p:nvSpPr>
            <p:spPr bwMode="auto">
              <a:xfrm>
                <a:off x="961147" y="3811841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8" name="텍스트 상자 31"/>
              <p:cNvSpPr txBox="1"/>
              <p:nvPr/>
            </p:nvSpPr>
            <p:spPr>
              <a:xfrm>
                <a:off x="959833" y="3518303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내 그룹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9" name="직선 연결선[R] 33"/>
              <p:cNvCxnSpPr/>
              <p:nvPr/>
            </p:nvCxnSpPr>
            <p:spPr>
              <a:xfrm>
                <a:off x="779221" y="3447566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Freeform 24"/>
              <p:cNvSpPr>
                <a:spLocks noChangeArrowheads="1"/>
              </p:cNvSpPr>
              <p:nvPr/>
            </p:nvSpPr>
            <p:spPr bwMode="auto">
              <a:xfrm>
                <a:off x="846720" y="3542868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31" name="직선 연결선[R] 33"/>
              <p:cNvCxnSpPr/>
              <p:nvPr/>
            </p:nvCxnSpPr>
            <p:spPr>
              <a:xfrm>
                <a:off x="779221" y="3687468"/>
                <a:ext cx="141138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Group 143"/>
              <p:cNvGrpSpPr/>
              <p:nvPr/>
            </p:nvGrpSpPr>
            <p:grpSpPr>
              <a:xfrm>
                <a:off x="1879383" y="3478906"/>
                <a:ext cx="221965" cy="169277"/>
                <a:chOff x="1879383" y="5177290"/>
                <a:chExt cx="221965" cy="169277"/>
              </a:xfrm>
            </p:grpSpPr>
            <p:sp>
              <p:nvSpPr>
                <p:cNvPr id="39" name="TextBox 38"/>
                <p:cNvSpPr txBox="1"/>
                <p:nvPr/>
              </p:nvSpPr>
              <p:spPr>
                <a:xfrm>
                  <a:off x="1879383" y="5177290"/>
                  <a:ext cx="100990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r>
                    <a:rPr lang="en-US" altLang="ko-KR" sz="1100" b="1" dirty="0" smtClean="0">
                      <a:solidFill>
                        <a:prstClr val="white">
                          <a:lumMod val="50000"/>
                        </a:prstClr>
                      </a:solidFill>
                      <a:latin typeface="+mn-ea"/>
                      <a:ea typeface="+mn-ea"/>
                    </a:rPr>
                    <a:t>+</a:t>
                  </a:r>
                  <a:endParaRPr lang="en-US" sz="1100" b="1" dirty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40" name="Freeform 13"/>
                <p:cNvSpPr>
                  <a:spLocks noChangeAspect="1" noChangeArrowheads="1"/>
                </p:cNvSpPr>
                <p:nvPr/>
              </p:nvSpPr>
              <p:spPr bwMode="auto">
                <a:xfrm>
                  <a:off x="2029943" y="5240831"/>
                  <a:ext cx="71405" cy="72000"/>
                </a:xfrm>
                <a:custGeom>
                  <a:avLst/>
                  <a:gdLst>
                    <a:gd name="T0" fmla="*/ 455 w 527"/>
                    <a:gd name="T1" fmla="*/ 291 h 533"/>
                    <a:gd name="T2" fmla="*/ 460 w 527"/>
                    <a:gd name="T3" fmla="*/ 266 h 533"/>
                    <a:gd name="T4" fmla="*/ 455 w 527"/>
                    <a:gd name="T5" fmla="*/ 240 h 533"/>
                    <a:gd name="T6" fmla="*/ 511 w 527"/>
                    <a:gd name="T7" fmla="*/ 194 h 533"/>
                    <a:gd name="T8" fmla="*/ 516 w 527"/>
                    <a:gd name="T9" fmla="*/ 179 h 533"/>
                    <a:gd name="T10" fmla="*/ 465 w 527"/>
                    <a:gd name="T11" fmla="*/ 82 h 533"/>
                    <a:gd name="T12" fmla="*/ 444 w 527"/>
                    <a:gd name="T13" fmla="*/ 82 h 533"/>
                    <a:gd name="T14" fmla="*/ 378 w 527"/>
                    <a:gd name="T15" fmla="*/ 107 h 533"/>
                    <a:gd name="T16" fmla="*/ 332 w 527"/>
                    <a:gd name="T17" fmla="*/ 82 h 533"/>
                    <a:gd name="T18" fmla="*/ 322 w 527"/>
                    <a:gd name="T19" fmla="*/ 10 h 533"/>
                    <a:gd name="T20" fmla="*/ 311 w 527"/>
                    <a:gd name="T21" fmla="*/ 0 h 533"/>
                    <a:gd name="T22" fmla="*/ 204 w 527"/>
                    <a:gd name="T23" fmla="*/ 0 h 533"/>
                    <a:gd name="T24" fmla="*/ 194 w 527"/>
                    <a:gd name="T25" fmla="*/ 10 h 533"/>
                    <a:gd name="T26" fmla="*/ 184 w 527"/>
                    <a:gd name="T27" fmla="*/ 82 h 533"/>
                    <a:gd name="T28" fmla="*/ 138 w 527"/>
                    <a:gd name="T29" fmla="*/ 107 h 533"/>
                    <a:gd name="T30" fmla="*/ 71 w 527"/>
                    <a:gd name="T31" fmla="*/ 82 h 533"/>
                    <a:gd name="T32" fmla="*/ 56 w 527"/>
                    <a:gd name="T33" fmla="*/ 87 h 533"/>
                    <a:gd name="T34" fmla="*/ 0 w 527"/>
                    <a:gd name="T35" fmla="*/ 179 h 533"/>
                    <a:gd name="T36" fmla="*/ 5 w 527"/>
                    <a:gd name="T37" fmla="*/ 194 h 533"/>
                    <a:gd name="T38" fmla="*/ 61 w 527"/>
                    <a:gd name="T39" fmla="*/ 240 h 533"/>
                    <a:gd name="T40" fmla="*/ 61 w 527"/>
                    <a:gd name="T41" fmla="*/ 266 h 533"/>
                    <a:gd name="T42" fmla="*/ 61 w 527"/>
                    <a:gd name="T43" fmla="*/ 291 h 533"/>
                    <a:gd name="T44" fmla="*/ 5 w 527"/>
                    <a:gd name="T45" fmla="*/ 337 h 533"/>
                    <a:gd name="T46" fmla="*/ 5 w 527"/>
                    <a:gd name="T47" fmla="*/ 353 h 533"/>
                    <a:gd name="T48" fmla="*/ 56 w 527"/>
                    <a:gd name="T49" fmla="*/ 450 h 533"/>
                    <a:gd name="T50" fmla="*/ 71 w 527"/>
                    <a:gd name="T51" fmla="*/ 450 h 533"/>
                    <a:gd name="T52" fmla="*/ 138 w 527"/>
                    <a:gd name="T53" fmla="*/ 424 h 533"/>
                    <a:gd name="T54" fmla="*/ 184 w 527"/>
                    <a:gd name="T55" fmla="*/ 450 h 533"/>
                    <a:gd name="T56" fmla="*/ 194 w 527"/>
                    <a:gd name="T57" fmla="*/ 521 h 533"/>
                    <a:gd name="T58" fmla="*/ 209 w 527"/>
                    <a:gd name="T59" fmla="*/ 532 h 533"/>
                    <a:gd name="T60" fmla="*/ 317 w 527"/>
                    <a:gd name="T61" fmla="*/ 532 h 533"/>
                    <a:gd name="T62" fmla="*/ 327 w 527"/>
                    <a:gd name="T63" fmla="*/ 521 h 533"/>
                    <a:gd name="T64" fmla="*/ 337 w 527"/>
                    <a:gd name="T65" fmla="*/ 450 h 533"/>
                    <a:gd name="T66" fmla="*/ 383 w 527"/>
                    <a:gd name="T67" fmla="*/ 424 h 533"/>
                    <a:gd name="T68" fmla="*/ 449 w 527"/>
                    <a:gd name="T69" fmla="*/ 450 h 533"/>
                    <a:gd name="T70" fmla="*/ 470 w 527"/>
                    <a:gd name="T71" fmla="*/ 445 h 533"/>
                    <a:gd name="T72" fmla="*/ 521 w 527"/>
                    <a:gd name="T73" fmla="*/ 353 h 533"/>
                    <a:gd name="T74" fmla="*/ 521 w 527"/>
                    <a:gd name="T75" fmla="*/ 337 h 533"/>
                    <a:gd name="T76" fmla="*/ 455 w 527"/>
                    <a:gd name="T77" fmla="*/ 291 h 533"/>
                    <a:gd name="T78" fmla="*/ 260 w 527"/>
                    <a:gd name="T79" fmla="*/ 358 h 533"/>
                    <a:gd name="T80" fmla="*/ 163 w 527"/>
                    <a:gd name="T81" fmla="*/ 266 h 533"/>
                    <a:gd name="T82" fmla="*/ 260 w 527"/>
                    <a:gd name="T83" fmla="*/ 174 h 533"/>
                    <a:gd name="T84" fmla="*/ 352 w 527"/>
                    <a:gd name="T85" fmla="*/ 266 h 533"/>
                    <a:gd name="T86" fmla="*/ 260 w 527"/>
                    <a:gd name="T87" fmla="*/ 358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527" h="533">
                      <a:moveTo>
                        <a:pt x="455" y="291"/>
                      </a:moveTo>
                      <a:cubicBezTo>
                        <a:pt x="455" y="286"/>
                        <a:pt x="460" y="276"/>
                        <a:pt x="460" y="266"/>
                      </a:cubicBezTo>
                      <a:cubicBezTo>
                        <a:pt x="460" y="256"/>
                        <a:pt x="460" y="245"/>
                        <a:pt x="455" y="240"/>
                      </a:cubicBezTo>
                      <a:lnTo>
                        <a:pt x="511" y="194"/>
                      </a:lnTo>
                      <a:cubicBezTo>
                        <a:pt x="521" y="189"/>
                        <a:pt x="521" y="184"/>
                        <a:pt x="516" y="179"/>
                      </a:cubicBezTo>
                      <a:lnTo>
                        <a:pt x="465" y="82"/>
                      </a:lnTo>
                      <a:cubicBezTo>
                        <a:pt x="460" y="82"/>
                        <a:pt x="455" y="77"/>
                        <a:pt x="444" y="82"/>
                      </a:cubicBezTo>
                      <a:lnTo>
                        <a:pt x="378" y="107"/>
                      </a:lnTo>
                      <a:cubicBezTo>
                        <a:pt x="368" y="97"/>
                        <a:pt x="352" y="92"/>
                        <a:pt x="332" y="82"/>
                      </a:cubicBezTo>
                      <a:lnTo>
                        <a:pt x="322" y="10"/>
                      </a:lnTo>
                      <a:cubicBezTo>
                        <a:pt x="327" y="5"/>
                        <a:pt x="317" y="0"/>
                        <a:pt x="311" y="0"/>
                      </a:cubicBezTo>
                      <a:lnTo>
                        <a:pt x="204" y="0"/>
                      </a:lnTo>
                      <a:cubicBezTo>
                        <a:pt x="199" y="0"/>
                        <a:pt x="194" y="5"/>
                        <a:pt x="194" y="10"/>
                      </a:cubicBezTo>
                      <a:lnTo>
                        <a:pt x="184" y="82"/>
                      </a:lnTo>
                      <a:cubicBezTo>
                        <a:pt x="163" y="87"/>
                        <a:pt x="153" y="97"/>
                        <a:pt x="138" y="107"/>
                      </a:cubicBezTo>
                      <a:lnTo>
                        <a:pt x="71" y="82"/>
                      </a:lnTo>
                      <a:cubicBezTo>
                        <a:pt x="66" y="77"/>
                        <a:pt x="61" y="82"/>
                        <a:pt x="56" y="87"/>
                      </a:cubicBezTo>
                      <a:lnTo>
                        <a:pt x="0" y="179"/>
                      </a:lnTo>
                      <a:cubicBezTo>
                        <a:pt x="0" y="184"/>
                        <a:pt x="0" y="189"/>
                        <a:pt x="5" y="194"/>
                      </a:cubicBezTo>
                      <a:lnTo>
                        <a:pt x="61" y="240"/>
                      </a:lnTo>
                      <a:cubicBezTo>
                        <a:pt x="61" y="245"/>
                        <a:pt x="61" y="256"/>
                        <a:pt x="61" y="266"/>
                      </a:cubicBezTo>
                      <a:cubicBezTo>
                        <a:pt x="61" y="276"/>
                        <a:pt x="61" y="286"/>
                        <a:pt x="61" y="291"/>
                      </a:cubicBezTo>
                      <a:lnTo>
                        <a:pt x="5" y="337"/>
                      </a:lnTo>
                      <a:cubicBezTo>
                        <a:pt x="0" y="343"/>
                        <a:pt x="0" y="348"/>
                        <a:pt x="5" y="353"/>
                      </a:cubicBezTo>
                      <a:lnTo>
                        <a:pt x="56" y="450"/>
                      </a:lnTo>
                      <a:cubicBezTo>
                        <a:pt x="61" y="450"/>
                        <a:pt x="66" y="455"/>
                        <a:pt x="71" y="450"/>
                      </a:cubicBezTo>
                      <a:lnTo>
                        <a:pt x="138" y="424"/>
                      </a:lnTo>
                      <a:cubicBezTo>
                        <a:pt x="153" y="434"/>
                        <a:pt x="168" y="445"/>
                        <a:pt x="184" y="450"/>
                      </a:cubicBezTo>
                      <a:lnTo>
                        <a:pt x="194" y="521"/>
                      </a:lnTo>
                      <a:cubicBezTo>
                        <a:pt x="194" y="526"/>
                        <a:pt x="199" y="532"/>
                        <a:pt x="209" y="532"/>
                      </a:cubicBezTo>
                      <a:lnTo>
                        <a:pt x="317" y="532"/>
                      </a:lnTo>
                      <a:cubicBezTo>
                        <a:pt x="322" y="532"/>
                        <a:pt x="327" y="526"/>
                        <a:pt x="327" y="521"/>
                      </a:cubicBezTo>
                      <a:lnTo>
                        <a:pt x="337" y="450"/>
                      </a:lnTo>
                      <a:cubicBezTo>
                        <a:pt x="357" y="445"/>
                        <a:pt x="373" y="434"/>
                        <a:pt x="383" y="424"/>
                      </a:cubicBezTo>
                      <a:lnTo>
                        <a:pt x="449" y="450"/>
                      </a:lnTo>
                      <a:cubicBezTo>
                        <a:pt x="455" y="455"/>
                        <a:pt x="465" y="450"/>
                        <a:pt x="470" y="445"/>
                      </a:cubicBezTo>
                      <a:lnTo>
                        <a:pt x="521" y="353"/>
                      </a:lnTo>
                      <a:cubicBezTo>
                        <a:pt x="526" y="348"/>
                        <a:pt x="526" y="337"/>
                        <a:pt x="521" y="337"/>
                      </a:cubicBezTo>
                      <a:lnTo>
                        <a:pt x="455" y="291"/>
                      </a:lnTo>
                      <a:close/>
                      <a:moveTo>
                        <a:pt x="260" y="358"/>
                      </a:moveTo>
                      <a:cubicBezTo>
                        <a:pt x="209" y="358"/>
                        <a:pt x="163" y="317"/>
                        <a:pt x="163" y="266"/>
                      </a:cubicBezTo>
                      <a:cubicBezTo>
                        <a:pt x="163" y="215"/>
                        <a:pt x="209" y="174"/>
                        <a:pt x="260" y="174"/>
                      </a:cubicBezTo>
                      <a:cubicBezTo>
                        <a:pt x="311" y="174"/>
                        <a:pt x="352" y="215"/>
                        <a:pt x="352" y="266"/>
                      </a:cubicBezTo>
                      <a:cubicBezTo>
                        <a:pt x="352" y="317"/>
                        <a:pt x="311" y="358"/>
                        <a:pt x="260" y="35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solidFill>
                      <a:prstClr val="black"/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33" name="텍스트 상자 31"/>
              <p:cNvSpPr txBox="1"/>
              <p:nvPr/>
            </p:nvSpPr>
            <p:spPr>
              <a:xfrm>
                <a:off x="1080112" y="4324770"/>
                <a:ext cx="79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2017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4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분기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4" name="Freeform 24"/>
              <p:cNvSpPr>
                <a:spLocks noChangeArrowheads="1"/>
              </p:cNvSpPr>
              <p:nvPr/>
            </p:nvSpPr>
            <p:spPr bwMode="auto">
              <a:xfrm>
                <a:off x="961147" y="4355772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5" name="텍스트 상자 31"/>
              <p:cNvSpPr txBox="1"/>
              <p:nvPr/>
            </p:nvSpPr>
            <p:spPr>
              <a:xfrm>
                <a:off x="1080112" y="4995995"/>
                <a:ext cx="79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2017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3</a:t>
                </a:r>
                <a:r>
                  <a:rPr kumimoji="1" lang="ko-KR" altLang="en-US" sz="700" dirty="0" smtClean="0">
                    <a:solidFill>
                      <a:prstClr val="black"/>
                    </a:solidFill>
                    <a:latin typeface="+mn-ea"/>
                    <a:ea typeface="+mn-ea"/>
                  </a:rPr>
                  <a:t>분기</a:t>
                </a:r>
                <a:endParaRPr kumimoji="1" lang="ko-KR" altLang="en-US" sz="700" dirty="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6" name="Freeform 24"/>
              <p:cNvSpPr>
                <a:spLocks noChangeArrowheads="1"/>
              </p:cNvSpPr>
              <p:nvPr/>
            </p:nvSpPr>
            <p:spPr bwMode="auto">
              <a:xfrm>
                <a:off x="961147" y="5026997"/>
                <a:ext cx="73363" cy="45719"/>
              </a:xfrm>
              <a:custGeom>
                <a:avLst/>
                <a:gdLst>
                  <a:gd name="T0" fmla="*/ 155 w 306"/>
                  <a:gd name="T1" fmla="*/ 0 h 190"/>
                  <a:gd name="T2" fmla="*/ 0 w 306"/>
                  <a:gd name="T3" fmla="*/ 155 h 190"/>
                  <a:gd name="T4" fmla="*/ 39 w 306"/>
                  <a:gd name="T5" fmla="*/ 189 h 190"/>
                  <a:gd name="T6" fmla="*/ 155 w 306"/>
                  <a:gd name="T7" fmla="*/ 73 h 190"/>
                  <a:gd name="T8" fmla="*/ 271 w 306"/>
                  <a:gd name="T9" fmla="*/ 189 h 190"/>
                  <a:gd name="T10" fmla="*/ 305 w 306"/>
                  <a:gd name="T11" fmla="*/ 155 h 190"/>
                  <a:gd name="T12" fmla="*/ 155 w 306"/>
                  <a:gd name="T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" h="190">
                    <a:moveTo>
                      <a:pt x="155" y="0"/>
                    </a:moveTo>
                    <a:lnTo>
                      <a:pt x="0" y="155"/>
                    </a:lnTo>
                    <a:lnTo>
                      <a:pt x="39" y="189"/>
                    </a:lnTo>
                    <a:lnTo>
                      <a:pt x="155" y="73"/>
                    </a:lnTo>
                    <a:lnTo>
                      <a:pt x="271" y="189"/>
                    </a:lnTo>
                    <a:lnTo>
                      <a:pt x="305" y="155"/>
                    </a:lnTo>
                    <a:lnTo>
                      <a:pt x="155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7" name="텍스트 상자 31"/>
              <p:cNvSpPr txBox="1"/>
              <p:nvPr/>
            </p:nvSpPr>
            <p:spPr>
              <a:xfrm>
                <a:off x="1078389" y="4443513"/>
                <a:ext cx="792000" cy="461665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EGW UX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개선 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 </a:t>
                </a:r>
                <a:r>
                  <a:rPr lang="en-US" altLang="ko-KR" sz="600" b="1" dirty="0">
                    <a:solidFill>
                      <a:srgbClr val="FF0000"/>
                    </a:solidFill>
                    <a:latin typeface="+mn-ea"/>
                    <a:ea typeface="+mn-ea"/>
                  </a:rPr>
                  <a:t>3</a:t>
                </a:r>
                <a:endParaRPr lang="ko-KR" altLang="en-US" sz="600" b="1" dirty="0">
                  <a:solidFill>
                    <a:srgbClr val="FF0000"/>
                  </a:solidFill>
                  <a:latin typeface="+mn-ea"/>
                  <a:ea typeface="+mn-ea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A </a:t>
                </a: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통신사 서비스 </a:t>
                </a:r>
                <a:r>
                  <a:rPr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</a:p>
              <a:p>
                <a:pPr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정부 과제 </a:t>
                </a:r>
                <a:r>
                  <a:rPr lang="en-US" altLang="ko-KR" sz="60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TF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8" name="텍스트 상자 31"/>
              <p:cNvSpPr txBox="1"/>
              <p:nvPr/>
            </p:nvSpPr>
            <p:spPr>
              <a:xfrm>
                <a:off x="1078389" y="5120372"/>
                <a:ext cx="792000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lvl="0"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스퀘어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A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  <a:p>
                <a:pPr lvl="0">
                  <a:lnSpc>
                    <a:spcPts val="1200"/>
                  </a:lnSpc>
                </a:pPr>
                <a:r>
                  <a: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스퀘어</a:t>
                </a:r>
                <a:r>
                  <a:rPr lang="en-US" altLang="ko-KR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B</a:t>
                </a:r>
                <a:endPara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" name="Freeform 13"/>
            <p:cNvSpPr>
              <a:spLocks noChangeAspect="1" noChangeArrowheads="1"/>
            </p:cNvSpPr>
            <p:nvPr/>
          </p:nvSpPr>
          <p:spPr bwMode="auto">
            <a:xfrm>
              <a:off x="2028961" y="2427306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31" name="TextBox 130"/>
          <p:cNvSpPr txBox="1"/>
          <p:nvPr/>
        </p:nvSpPr>
        <p:spPr>
          <a:xfrm>
            <a:off x="276225" y="133350"/>
            <a:ext cx="2909698" cy="31892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Tree</a:t>
            </a:r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내 그룹 이동</a:t>
            </a:r>
            <a:r>
              <a:rPr lang="en-US" altLang="ko-KR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수정 및 삭제</a:t>
            </a:r>
            <a:endParaRPr lang="ko-KR" altLang="en-US" sz="16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2" name="왼쪽 중괄호 131"/>
          <p:cNvSpPr/>
          <p:nvPr/>
        </p:nvSpPr>
        <p:spPr>
          <a:xfrm>
            <a:off x="652006" y="3287418"/>
            <a:ext cx="176669" cy="1848141"/>
          </a:xfrm>
          <a:prstGeom prst="leftBrace">
            <a:avLst>
              <a:gd name="adj1" fmla="val 211515"/>
              <a:gd name="adj2" fmla="val 51220"/>
            </a:avLst>
          </a:prstGeom>
          <a:ln w="31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/>
          <p:cNvSpPr/>
          <p:nvPr/>
        </p:nvSpPr>
        <p:spPr>
          <a:xfrm>
            <a:off x="895350" y="4439210"/>
            <a:ext cx="923925" cy="152400"/>
          </a:xfrm>
          <a:prstGeom prst="rect">
            <a:avLst/>
          </a:prstGeom>
          <a:solidFill>
            <a:schemeClr val="tx1">
              <a:lumMod val="95000"/>
              <a:lumOff val="5000"/>
              <a:alpha val="4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smtClean="0">
                <a:latin typeface="+mn-ea"/>
              </a:rPr>
              <a:t>스퀘어 </a:t>
            </a:r>
            <a:r>
              <a:rPr lang="en-US" altLang="ko-KR" sz="800" smtClean="0">
                <a:latin typeface="+mn-ea"/>
              </a:rPr>
              <a:t>B</a:t>
            </a:r>
            <a:endParaRPr lang="ko-KR" altLang="en-US" sz="800">
              <a:latin typeface="+mn-ea"/>
            </a:endParaRPr>
          </a:p>
        </p:txBody>
      </p:sp>
      <p:sp>
        <p:nvSpPr>
          <p:cNvPr id="136" name="직사각형 135"/>
          <p:cNvSpPr/>
          <p:nvPr/>
        </p:nvSpPr>
        <p:spPr>
          <a:xfrm>
            <a:off x="895350" y="4876800"/>
            <a:ext cx="923925" cy="152400"/>
          </a:xfrm>
          <a:prstGeom prst="rect">
            <a:avLst/>
          </a:prstGeom>
          <a:noFill/>
          <a:ln w="3175">
            <a:solidFill>
              <a:schemeClr val="tx1">
                <a:lumMod val="95000"/>
                <a:lumOff val="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800">
              <a:latin typeface="+mn-ea"/>
            </a:endParaRPr>
          </a:p>
        </p:txBody>
      </p:sp>
      <p:grpSp>
        <p:nvGrpSpPr>
          <p:cNvPr id="145" name="Group 17"/>
          <p:cNvGrpSpPr/>
          <p:nvPr/>
        </p:nvGrpSpPr>
        <p:grpSpPr>
          <a:xfrm>
            <a:off x="1615772" y="4473839"/>
            <a:ext cx="304278" cy="545764"/>
            <a:chOff x="894970" y="4659474"/>
            <a:chExt cx="320727" cy="575266"/>
          </a:xfrm>
        </p:grpSpPr>
        <p:grpSp>
          <p:nvGrpSpPr>
            <p:cNvPr id="146" name="Group 34"/>
            <p:cNvGrpSpPr/>
            <p:nvPr/>
          </p:nvGrpSpPr>
          <p:grpSpPr>
            <a:xfrm>
              <a:off x="894970" y="4659474"/>
              <a:ext cx="182413" cy="575266"/>
              <a:chOff x="894970" y="4659474"/>
              <a:chExt cx="182413" cy="575266"/>
            </a:xfrm>
          </p:grpSpPr>
          <p:sp>
            <p:nvSpPr>
              <p:cNvPr id="148" name="AutoShape 133"/>
              <p:cNvSpPr>
                <a:spLocks/>
              </p:cNvSpPr>
              <p:nvPr/>
            </p:nvSpPr>
            <p:spPr bwMode="auto">
              <a:xfrm>
                <a:off x="954203" y="5111456"/>
                <a:ext cx="123180" cy="123284"/>
              </a:xfrm>
              <a:custGeom>
                <a:avLst/>
                <a:gdLst>
                  <a:gd name="T0" fmla="+- 0 10800 961"/>
                  <a:gd name="T1" fmla="*/ T0 w 19679"/>
                  <a:gd name="T2" fmla="+- 0 10800 961"/>
                  <a:gd name="T3" fmla="*/ 10800 h 19679"/>
                  <a:gd name="T4" fmla="+- 0 10800 961"/>
                  <a:gd name="T5" fmla="*/ T4 w 19679"/>
                  <a:gd name="T6" fmla="+- 0 10800 961"/>
                  <a:gd name="T7" fmla="*/ 10800 h 19679"/>
                  <a:gd name="T8" fmla="+- 0 10800 961"/>
                  <a:gd name="T9" fmla="*/ T8 w 19679"/>
                  <a:gd name="T10" fmla="+- 0 10800 961"/>
                  <a:gd name="T11" fmla="*/ 10800 h 19679"/>
                  <a:gd name="T12" fmla="+- 0 10800 961"/>
                  <a:gd name="T13" fmla="*/ T12 w 19679"/>
                  <a:gd name="T14" fmla="+- 0 10800 961"/>
                  <a:gd name="T15" fmla="*/ 10800 h 19679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19679" h="19679">
                    <a:moveTo>
                      <a:pt x="16796" y="2881"/>
                    </a:moveTo>
                    <a:cubicBezTo>
                      <a:pt x="20639" y="6724"/>
                      <a:pt x="20639" y="12953"/>
                      <a:pt x="16796" y="16796"/>
                    </a:cubicBezTo>
                    <a:cubicBezTo>
                      <a:pt x="12953" y="20638"/>
                      <a:pt x="6724" y="20638"/>
                      <a:pt x="2881" y="16796"/>
                    </a:cubicBezTo>
                    <a:cubicBezTo>
                      <a:pt x="-961" y="12953"/>
                      <a:pt x="-961" y="6724"/>
                      <a:pt x="2881" y="2881"/>
                    </a:cubicBezTo>
                    <a:cubicBezTo>
                      <a:pt x="6724" y="-961"/>
                      <a:pt x="12953" y="-961"/>
                      <a:pt x="16796" y="2881"/>
                    </a:cubicBezTo>
                    <a:close/>
                  </a:path>
                </a:pathLst>
              </a:custGeom>
              <a:solidFill>
                <a:srgbClr val="0000FF">
                  <a:alpha val="49000"/>
                </a:srgbClr>
              </a:solidFill>
              <a:ln w="9525" cap="flat" cmpd="sng">
                <a:noFill/>
                <a:prstDash val="dash"/>
                <a:miter lim="0"/>
                <a:headEnd/>
                <a:tailEnd/>
              </a:ln>
              <a:effectLst/>
              <a:extLst/>
            </p:spPr>
            <p:txBody>
              <a:bodyPr lIns="0" tIns="0" rIns="0" bIns="0" anchor="ctr"/>
              <a:lstStyle/>
              <a:p>
                <a:endParaRPr lang="en-US" sz="18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" name="AutoShape 133"/>
              <p:cNvSpPr>
                <a:spLocks/>
              </p:cNvSpPr>
              <p:nvPr/>
            </p:nvSpPr>
            <p:spPr bwMode="auto">
              <a:xfrm>
                <a:off x="894970" y="4659474"/>
                <a:ext cx="123180" cy="123285"/>
              </a:xfrm>
              <a:custGeom>
                <a:avLst/>
                <a:gdLst>
                  <a:gd name="T0" fmla="+- 0 10800 961"/>
                  <a:gd name="T1" fmla="*/ T0 w 19679"/>
                  <a:gd name="T2" fmla="+- 0 10800 961"/>
                  <a:gd name="T3" fmla="*/ 10800 h 19679"/>
                  <a:gd name="T4" fmla="+- 0 10800 961"/>
                  <a:gd name="T5" fmla="*/ T4 w 19679"/>
                  <a:gd name="T6" fmla="+- 0 10800 961"/>
                  <a:gd name="T7" fmla="*/ 10800 h 19679"/>
                  <a:gd name="T8" fmla="+- 0 10800 961"/>
                  <a:gd name="T9" fmla="*/ T8 w 19679"/>
                  <a:gd name="T10" fmla="+- 0 10800 961"/>
                  <a:gd name="T11" fmla="*/ 10800 h 19679"/>
                  <a:gd name="T12" fmla="+- 0 10800 961"/>
                  <a:gd name="T13" fmla="*/ T12 w 19679"/>
                  <a:gd name="T14" fmla="+- 0 10800 961"/>
                  <a:gd name="T15" fmla="*/ 10800 h 19679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19679" h="19679">
                    <a:moveTo>
                      <a:pt x="16796" y="2881"/>
                    </a:moveTo>
                    <a:cubicBezTo>
                      <a:pt x="20639" y="6724"/>
                      <a:pt x="20639" y="12953"/>
                      <a:pt x="16796" y="16796"/>
                    </a:cubicBezTo>
                    <a:cubicBezTo>
                      <a:pt x="12953" y="20638"/>
                      <a:pt x="6724" y="20638"/>
                      <a:pt x="2881" y="16796"/>
                    </a:cubicBezTo>
                    <a:cubicBezTo>
                      <a:pt x="-961" y="12953"/>
                      <a:pt x="-961" y="6724"/>
                      <a:pt x="2881" y="2881"/>
                    </a:cubicBezTo>
                    <a:cubicBezTo>
                      <a:pt x="6724" y="-961"/>
                      <a:pt x="12953" y="-961"/>
                      <a:pt x="16796" y="2881"/>
                    </a:cubicBezTo>
                    <a:close/>
                  </a:path>
                </a:pathLst>
              </a:custGeom>
              <a:solidFill>
                <a:srgbClr val="0000FF">
                  <a:alpha val="49000"/>
                </a:srgbClr>
              </a:solidFill>
              <a:ln w="9525" cap="flat" cmpd="sng">
                <a:noFill/>
                <a:prstDash val="dash"/>
                <a:miter lim="0"/>
                <a:headEnd/>
                <a:tailEnd/>
              </a:ln>
              <a:effectLst/>
              <a:extLst/>
            </p:spPr>
            <p:txBody>
              <a:bodyPr lIns="0" tIns="0" rIns="0" bIns="0" anchor="ctr"/>
              <a:lstStyle/>
              <a:p>
                <a:endParaRPr lang="en-US" sz="18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50" name="Straight Connector 5"/>
              <p:cNvCxnSpPr/>
              <p:nvPr/>
            </p:nvCxnSpPr>
            <p:spPr>
              <a:xfrm flipH="1" flipV="1">
                <a:off x="947703" y="4717298"/>
                <a:ext cx="68088" cy="461818"/>
              </a:xfrm>
              <a:prstGeom prst="line">
                <a:avLst/>
              </a:prstGeom>
              <a:ln w="6350">
                <a:solidFill>
                  <a:srgbClr val="0000FF"/>
                </a:solidFill>
                <a:prstDash val="sysDash"/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47" name="Picture 160" descr="1442995944_cursor.png"/>
            <p:cNvPicPr>
              <a:picLocks noChangeAspect="1"/>
            </p:cNvPicPr>
            <p:nvPr/>
          </p:nvPicPr>
          <p:blipFill>
            <a:blip r:embed="rId2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1491" y="4714094"/>
              <a:ext cx="264206" cy="264204"/>
            </a:xfrm>
            <a:prstGeom prst="rect">
              <a:avLst/>
            </a:prstGeom>
          </p:spPr>
        </p:pic>
      </p:grpSp>
      <p:sp>
        <p:nvSpPr>
          <p:cNvPr id="94" name="텍스트 상자 31"/>
          <p:cNvSpPr txBox="1"/>
          <p:nvPr/>
        </p:nvSpPr>
        <p:spPr>
          <a:xfrm>
            <a:off x="5734629" y="1314348"/>
            <a:ext cx="1220526" cy="215443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ct val="200000"/>
              </a:lnSpc>
            </a:pPr>
            <a:r>
              <a:rPr kumimoji="1" lang="ko-KR" altLang="en-US" sz="700" b="1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en-US" altLang="ko-KR" sz="700" b="1" smtClean="0">
              <a:solidFill>
                <a:prstClr val="black"/>
              </a:solidFill>
              <a:latin typeface="+mn-ea"/>
              <a:ea typeface="+mn-ea"/>
            </a:endParaRPr>
          </a:p>
          <a:p>
            <a:pPr indent="92075"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자동차 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UX </a:t>
            </a: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개선</a:t>
            </a:r>
            <a:endParaRPr lang="en-US" altLang="ko-KR" sz="7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indent="92075">
              <a:lnSpc>
                <a:spcPct val="200000"/>
              </a:lnSpc>
            </a:pPr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병원 서비스디자인</a:t>
            </a:r>
            <a:endParaRPr kumimoji="1" lang="en-US" altLang="ko-KR" sz="7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b="1" smtClean="0">
                <a:solidFill>
                  <a:prstClr val="black"/>
                </a:solidFill>
                <a:latin typeface="+mn-ea"/>
                <a:ea typeface="+mn-ea"/>
              </a:rPr>
              <a:t>2017 4</a:t>
            </a:r>
            <a:r>
              <a:rPr lang="ko-KR" altLang="en-US" sz="700" b="1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lang="en-US" altLang="ko-KR" sz="700" b="1" smtClean="0">
              <a:solidFill>
                <a:prstClr val="black"/>
              </a:solidFill>
              <a:latin typeface="+mn-ea"/>
              <a:ea typeface="+mn-ea"/>
            </a:endParaRPr>
          </a:p>
          <a:p>
            <a:pPr indent="92075">
              <a:lnSpc>
                <a:spcPct val="200000"/>
              </a:lnSpc>
            </a:pPr>
            <a:r>
              <a:rPr kumimoji="1"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EGW 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UX </a:t>
            </a: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개선 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</a:p>
          <a:p>
            <a:pPr indent="92075">
              <a:lnSpc>
                <a:spcPct val="200000"/>
              </a:lnSpc>
            </a:pPr>
            <a:r>
              <a:rPr kumimoji="1"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 </a:t>
            </a:r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</a:p>
          <a:p>
            <a:pPr indent="92075"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정부 과제 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</a:p>
          <a:p>
            <a:pPr>
              <a:lnSpc>
                <a:spcPct val="200000"/>
              </a:lnSpc>
            </a:pPr>
            <a:r>
              <a:rPr kumimoji="1" lang="en-US" altLang="ko-KR" sz="700" b="1" smtClean="0">
                <a:solidFill>
                  <a:prstClr val="black"/>
                </a:solidFill>
                <a:latin typeface="+mn-ea"/>
                <a:ea typeface="+mn-ea"/>
              </a:rPr>
              <a:t>2017 3</a:t>
            </a:r>
            <a:r>
              <a:rPr kumimoji="1" lang="ko-KR" altLang="en-US" sz="700" b="1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en-US" altLang="ko-KR" sz="700" b="1" smtClean="0">
              <a:solidFill>
                <a:prstClr val="black"/>
              </a:solidFill>
              <a:latin typeface="+mn-ea"/>
              <a:ea typeface="+mn-ea"/>
            </a:endParaRPr>
          </a:p>
          <a:p>
            <a:pPr indent="92075"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</a:t>
            </a:r>
          </a:p>
          <a:p>
            <a:pPr indent="92075"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B</a:t>
            </a:r>
            <a:endParaRPr kumimoji="1" lang="en-US" altLang="ko-KR" sz="7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" name="TextBox 1"/>
          <p:cNvSpPr txBox="1"/>
          <p:nvPr/>
        </p:nvSpPr>
        <p:spPr>
          <a:xfrm rot="16200000">
            <a:off x="5618106" y="1368556"/>
            <a:ext cx="11020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43" name="TextBox 142"/>
          <p:cNvSpPr txBox="1"/>
          <p:nvPr/>
        </p:nvSpPr>
        <p:spPr>
          <a:xfrm rot="16200000">
            <a:off x="5618106" y="2016256"/>
            <a:ext cx="11020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44" name="TextBox 143"/>
          <p:cNvSpPr txBox="1"/>
          <p:nvPr/>
        </p:nvSpPr>
        <p:spPr>
          <a:xfrm rot="16200000">
            <a:off x="5618106" y="2871601"/>
            <a:ext cx="11020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" name="모서리가 둥근 직사각형 2"/>
          <p:cNvSpPr/>
          <p:nvPr/>
        </p:nvSpPr>
        <p:spPr>
          <a:xfrm>
            <a:off x="6877049" y="1401243"/>
            <a:ext cx="45720" cy="750971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모서리가 둥근 직사각형 151"/>
          <p:cNvSpPr/>
          <p:nvPr/>
        </p:nvSpPr>
        <p:spPr>
          <a:xfrm rot="16200000">
            <a:off x="5796827" y="4281813"/>
            <a:ext cx="45720" cy="466294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Freeform 23"/>
          <p:cNvSpPr>
            <a:spLocks noChangeAspect="1" noChangeArrowheads="1"/>
          </p:cNvSpPr>
          <p:nvPr/>
        </p:nvSpPr>
        <p:spPr bwMode="auto">
          <a:xfrm>
            <a:off x="6225454" y="2061375"/>
            <a:ext cx="61713" cy="61714"/>
          </a:xfrm>
          <a:custGeom>
            <a:avLst/>
            <a:gdLst>
              <a:gd name="T0" fmla="*/ 0 w 587"/>
              <a:gd name="T1" fmla="*/ 467 h 586"/>
              <a:gd name="T2" fmla="*/ 0 w 587"/>
              <a:gd name="T3" fmla="*/ 585 h 586"/>
              <a:gd name="T4" fmla="*/ 125 w 587"/>
              <a:gd name="T5" fmla="*/ 585 h 586"/>
              <a:gd name="T6" fmla="*/ 480 w 587"/>
              <a:gd name="T7" fmla="*/ 224 h 586"/>
              <a:gd name="T8" fmla="*/ 355 w 587"/>
              <a:gd name="T9" fmla="*/ 100 h 586"/>
              <a:gd name="T10" fmla="*/ 0 w 587"/>
              <a:gd name="T11" fmla="*/ 467 h 586"/>
              <a:gd name="T12" fmla="*/ 573 w 587"/>
              <a:gd name="T13" fmla="*/ 131 h 586"/>
              <a:gd name="T14" fmla="*/ 573 w 587"/>
              <a:gd name="T15" fmla="*/ 87 h 586"/>
              <a:gd name="T16" fmla="*/ 499 w 587"/>
              <a:gd name="T17" fmla="*/ 12 h 586"/>
              <a:gd name="T18" fmla="*/ 455 w 587"/>
              <a:gd name="T19" fmla="*/ 12 h 586"/>
              <a:gd name="T20" fmla="*/ 399 w 587"/>
              <a:gd name="T21" fmla="*/ 68 h 586"/>
              <a:gd name="T22" fmla="*/ 517 w 587"/>
              <a:gd name="T23" fmla="*/ 193 h 586"/>
              <a:gd name="T24" fmla="*/ 573 w 587"/>
              <a:gd name="T25" fmla="*/ 131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7" h="586">
                <a:moveTo>
                  <a:pt x="0" y="467"/>
                </a:moveTo>
                <a:lnTo>
                  <a:pt x="0" y="585"/>
                </a:lnTo>
                <a:lnTo>
                  <a:pt x="125" y="585"/>
                </a:lnTo>
                <a:lnTo>
                  <a:pt x="480" y="224"/>
                </a:lnTo>
                <a:lnTo>
                  <a:pt x="355" y="100"/>
                </a:lnTo>
                <a:lnTo>
                  <a:pt x="0" y="467"/>
                </a:lnTo>
                <a:close/>
                <a:moveTo>
                  <a:pt x="573" y="131"/>
                </a:moveTo>
                <a:cubicBezTo>
                  <a:pt x="586" y="118"/>
                  <a:pt x="586" y="100"/>
                  <a:pt x="573" y="87"/>
                </a:cubicBezTo>
                <a:lnTo>
                  <a:pt x="499" y="12"/>
                </a:lnTo>
                <a:cubicBezTo>
                  <a:pt x="486" y="0"/>
                  <a:pt x="467" y="0"/>
                  <a:pt x="455" y="12"/>
                </a:cubicBezTo>
                <a:lnTo>
                  <a:pt x="399" y="68"/>
                </a:lnTo>
                <a:lnTo>
                  <a:pt x="517" y="193"/>
                </a:lnTo>
                <a:lnTo>
                  <a:pt x="573" y="13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1400">
              <a:solidFill>
                <a:prstClr val="black"/>
              </a:solidFill>
            </a:endParaRPr>
          </a:p>
        </p:txBody>
      </p:sp>
      <p:sp>
        <p:nvSpPr>
          <p:cNvPr id="155" name="직사각형 154"/>
          <p:cNvSpPr/>
          <p:nvPr/>
        </p:nvSpPr>
        <p:spPr>
          <a:xfrm>
            <a:off x="6200316" y="2151010"/>
            <a:ext cx="441960" cy="38862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2700000" sx="97000" sy="97000" algn="tl" rotWithShape="0">
              <a:schemeClr val="bg1">
                <a:lumMod val="8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수정삭제</a:t>
            </a:r>
            <a:endParaRPr lang="ko-KR" altLang="en-US" sz="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6180240" y="1979023"/>
            <a:ext cx="227907" cy="220288"/>
          </a:xfrm>
          <a:prstGeom prst="ellipse">
            <a:avLst/>
          </a:prstGeom>
          <a:noFill/>
          <a:ln w="19050">
            <a:solidFill>
              <a:srgbClr val="0000FF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5580289" y="2869474"/>
            <a:ext cx="1341120" cy="160020"/>
          </a:xfrm>
          <a:prstGeom prst="roundRect">
            <a:avLst>
              <a:gd name="adj" fmla="val 50000"/>
            </a:avLst>
          </a:prstGeom>
          <a:noFill/>
          <a:ln w="19050">
            <a:solidFill>
              <a:srgbClr val="0000FF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/>
          <p:cNvSpPr txBox="1"/>
          <p:nvPr/>
        </p:nvSpPr>
        <p:spPr>
          <a:xfrm>
            <a:off x="2143125" y="4366738"/>
            <a:ext cx="1876082" cy="62670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폴더 이동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]</a:t>
            </a:r>
          </a:p>
          <a:p>
            <a:pPr>
              <a:lnSpc>
                <a:spcPct val="150000"/>
              </a:lnSpc>
            </a:pP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스퀘어 그룹 선택 후 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drag &amp; drop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으로 </a:t>
            </a:r>
            <a:endParaRPr lang="en-US" altLang="ko-KR" sz="800" smtClean="0">
              <a:solidFill>
                <a:srgbClr val="0000FF"/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이동 가능</a:t>
            </a:r>
            <a:endParaRPr lang="ko-KR" altLang="en-US" sz="800" dirty="0">
              <a:solidFill>
                <a:srgbClr val="0000FF"/>
              </a:solidFill>
              <a:latin typeface="+mn-ea"/>
              <a:ea typeface="+mn-ea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106050" y="1885960"/>
            <a:ext cx="4844843" cy="1180699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폴더 수정 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1]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생성된 그룹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(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폴더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)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에 마우스 오버시    아이콘 출력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해당 아이콘 클릭시 수정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/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삭제 레이어가 출력</a:t>
            </a:r>
            <a:endParaRPr lang="en-US" altLang="ko-KR" sz="800" smtClean="0">
              <a:solidFill>
                <a:srgbClr val="0000FF"/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‘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수정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’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클릭시 그룹명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(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폴더명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)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을 변경할 수 있는 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input area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출력</a:t>
            </a:r>
            <a:endParaRPr lang="en-US" altLang="ko-KR" sz="800" smtClean="0">
              <a:solidFill>
                <a:srgbClr val="0000FF"/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‘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삭제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’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클릭시 해당 그룹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(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폴더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)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삭제 여부 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alert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출력 후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,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삭제 완료시 해당 그룹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(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폴더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)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는 삭제처리하고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,</a:t>
            </a:r>
            <a:b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</a:b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폴더내 스퀘어들은 기본 그룹으로 이동 처리</a:t>
            </a:r>
            <a:endParaRPr lang="ko-KR" altLang="en-US" sz="800" dirty="0">
              <a:solidFill>
                <a:srgbClr val="0000FF"/>
              </a:solidFill>
              <a:latin typeface="+mn-ea"/>
              <a:ea typeface="+mn-ea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7106050" y="3295676"/>
            <a:ext cx="1996307" cy="81136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폴더 수정 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2]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생성된 그룹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(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폴더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)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에 마우스 우클릭시 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/>
            </a:r>
            <a:b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</a:b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수정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/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삭제 레이어가 출력</a:t>
            </a:r>
            <a:endParaRPr lang="en-US" altLang="ko-KR" sz="800" b="1" smtClean="0">
              <a:solidFill>
                <a:srgbClr val="0000FF"/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수정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/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삭제 방식은 수정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1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과 동일</a:t>
            </a:r>
            <a:endParaRPr lang="ko-KR" altLang="en-US" sz="800" dirty="0">
              <a:solidFill>
                <a:srgbClr val="0000FF"/>
              </a:solidFill>
              <a:latin typeface="+mn-ea"/>
              <a:ea typeface="+mn-ea"/>
            </a:endParaRPr>
          </a:p>
        </p:txBody>
      </p:sp>
      <p:sp>
        <p:nvSpPr>
          <p:cNvPr id="158" name="Freeform 23"/>
          <p:cNvSpPr>
            <a:spLocks noChangeAspect="1" noChangeArrowheads="1"/>
          </p:cNvSpPr>
          <p:nvPr/>
        </p:nvSpPr>
        <p:spPr bwMode="auto">
          <a:xfrm>
            <a:off x="8977413" y="2168230"/>
            <a:ext cx="61713" cy="61714"/>
          </a:xfrm>
          <a:custGeom>
            <a:avLst/>
            <a:gdLst>
              <a:gd name="T0" fmla="*/ 0 w 587"/>
              <a:gd name="T1" fmla="*/ 467 h 586"/>
              <a:gd name="T2" fmla="*/ 0 w 587"/>
              <a:gd name="T3" fmla="*/ 585 h 586"/>
              <a:gd name="T4" fmla="*/ 125 w 587"/>
              <a:gd name="T5" fmla="*/ 585 h 586"/>
              <a:gd name="T6" fmla="*/ 480 w 587"/>
              <a:gd name="T7" fmla="*/ 224 h 586"/>
              <a:gd name="T8" fmla="*/ 355 w 587"/>
              <a:gd name="T9" fmla="*/ 100 h 586"/>
              <a:gd name="T10" fmla="*/ 0 w 587"/>
              <a:gd name="T11" fmla="*/ 467 h 586"/>
              <a:gd name="T12" fmla="*/ 573 w 587"/>
              <a:gd name="T13" fmla="*/ 131 h 586"/>
              <a:gd name="T14" fmla="*/ 573 w 587"/>
              <a:gd name="T15" fmla="*/ 87 h 586"/>
              <a:gd name="T16" fmla="*/ 499 w 587"/>
              <a:gd name="T17" fmla="*/ 12 h 586"/>
              <a:gd name="T18" fmla="*/ 455 w 587"/>
              <a:gd name="T19" fmla="*/ 12 h 586"/>
              <a:gd name="T20" fmla="*/ 399 w 587"/>
              <a:gd name="T21" fmla="*/ 68 h 586"/>
              <a:gd name="T22" fmla="*/ 517 w 587"/>
              <a:gd name="T23" fmla="*/ 193 h 586"/>
              <a:gd name="T24" fmla="*/ 573 w 587"/>
              <a:gd name="T25" fmla="*/ 131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7" h="586">
                <a:moveTo>
                  <a:pt x="0" y="467"/>
                </a:moveTo>
                <a:lnTo>
                  <a:pt x="0" y="585"/>
                </a:lnTo>
                <a:lnTo>
                  <a:pt x="125" y="585"/>
                </a:lnTo>
                <a:lnTo>
                  <a:pt x="480" y="224"/>
                </a:lnTo>
                <a:lnTo>
                  <a:pt x="355" y="100"/>
                </a:lnTo>
                <a:lnTo>
                  <a:pt x="0" y="467"/>
                </a:lnTo>
                <a:close/>
                <a:moveTo>
                  <a:pt x="573" y="131"/>
                </a:moveTo>
                <a:cubicBezTo>
                  <a:pt x="586" y="118"/>
                  <a:pt x="586" y="100"/>
                  <a:pt x="573" y="87"/>
                </a:cubicBezTo>
                <a:lnTo>
                  <a:pt x="499" y="12"/>
                </a:lnTo>
                <a:cubicBezTo>
                  <a:pt x="486" y="0"/>
                  <a:pt x="467" y="0"/>
                  <a:pt x="455" y="12"/>
                </a:cubicBezTo>
                <a:lnTo>
                  <a:pt x="399" y="68"/>
                </a:lnTo>
                <a:lnTo>
                  <a:pt x="517" y="193"/>
                </a:lnTo>
                <a:lnTo>
                  <a:pt x="573" y="13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1400">
              <a:solidFill>
                <a:prstClr val="black"/>
              </a:solidFill>
            </a:endParaRPr>
          </a:p>
        </p:txBody>
      </p:sp>
      <p:cxnSp>
        <p:nvCxnSpPr>
          <p:cNvPr id="66" name="직선 화살표 연결선 65"/>
          <p:cNvCxnSpPr/>
          <p:nvPr/>
        </p:nvCxnSpPr>
        <p:spPr>
          <a:xfrm flipH="1">
            <a:off x="6489783" y="2026536"/>
            <a:ext cx="565785" cy="0"/>
          </a:xfrm>
          <a:prstGeom prst="straightConnector1">
            <a:avLst/>
          </a:prstGeom>
          <a:ln>
            <a:solidFill>
              <a:srgbClr val="0000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화살표 연결선 158"/>
          <p:cNvCxnSpPr/>
          <p:nvPr/>
        </p:nvCxnSpPr>
        <p:spPr>
          <a:xfrm flipH="1" flipV="1">
            <a:off x="6261184" y="3055236"/>
            <a:ext cx="834941" cy="364239"/>
          </a:xfrm>
          <a:prstGeom prst="straightConnector1">
            <a:avLst/>
          </a:prstGeom>
          <a:ln>
            <a:solidFill>
              <a:srgbClr val="0000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0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516376"/>
              </p:ext>
            </p:extLst>
          </p:nvPr>
        </p:nvGraphicFramePr>
        <p:xfrm>
          <a:off x="9195283" y="6184272"/>
          <a:ext cx="2880000" cy="47125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2/27_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수정내역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171450" indent="-171450" defTabSz="91440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LNB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 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Tree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내 수정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/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삭제 방식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(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수정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2)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추가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72000" marR="72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65" name="직사각형 64"/>
          <p:cNvSpPr/>
          <p:nvPr/>
        </p:nvSpPr>
        <p:spPr>
          <a:xfrm>
            <a:off x="5753100" y="3005435"/>
            <a:ext cx="1047750" cy="7000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>
                <a:latin typeface="+mn-ea"/>
                <a:ea typeface="+mn-ea"/>
              </a:rPr>
              <a:t>EGW UX 개선 TF</a:t>
            </a:r>
          </a:p>
          <a:p>
            <a:pPr>
              <a:lnSpc>
                <a:spcPct val="200000"/>
              </a:lnSpc>
            </a:pPr>
            <a:r>
              <a:rPr lang="ko-KR" altLang="en-US" sz="700">
                <a:latin typeface="+mn-ea"/>
                <a:ea typeface="+mn-ea"/>
              </a:rPr>
              <a:t>A 통신사 서비스 TF</a:t>
            </a:r>
          </a:p>
          <a:p>
            <a:pPr>
              <a:lnSpc>
                <a:spcPct val="200000"/>
              </a:lnSpc>
            </a:pPr>
            <a:r>
              <a:rPr lang="ko-KR" altLang="en-US" sz="700">
                <a:latin typeface="+mn-ea"/>
                <a:ea typeface="+mn-ea"/>
              </a:rPr>
              <a:t>정부 과제 TF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5778495" y="3022312"/>
            <a:ext cx="441960" cy="38862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2700000" sx="97000" sy="97000" algn="tl" rotWithShape="0">
              <a:schemeClr val="bg1">
                <a:lumMod val="8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수정삭제</a:t>
            </a:r>
            <a:endParaRPr lang="ko-KR" altLang="en-US" sz="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5580289" y="3526699"/>
            <a:ext cx="1341120" cy="160020"/>
          </a:xfrm>
          <a:prstGeom prst="roundRect">
            <a:avLst>
              <a:gd name="adj" fmla="val 50000"/>
            </a:avLst>
          </a:prstGeom>
          <a:noFill/>
          <a:ln w="19050">
            <a:solidFill>
              <a:srgbClr val="0000FF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직사각형 90"/>
          <p:cNvSpPr/>
          <p:nvPr/>
        </p:nvSpPr>
        <p:spPr>
          <a:xfrm>
            <a:off x="5778495" y="3670012"/>
            <a:ext cx="1059508" cy="171447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2700000" sx="97000" sy="97000" algn="tl" rotWithShape="0">
              <a:schemeClr val="bg1">
                <a:lumMod val="8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기본 그룹으로 이동</a:t>
            </a:r>
            <a:endParaRPr lang="ko-KR" altLang="en-US" sz="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7106050" y="4305326"/>
            <a:ext cx="2518886" cy="62670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기본 그룹으로 이동 처리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생성된 폴더로 이동된 그룹명에 마우스 우클릭시 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/>
            </a:r>
            <a:b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</a:b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‘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기본 그룹으로 이동</a:t>
            </a:r>
            <a:r>
              <a:rPr lang="en-US" altLang="ko-KR" sz="800" b="1" smtClean="0">
                <a:solidFill>
                  <a:srgbClr val="0000FF"/>
                </a:solidFill>
                <a:latin typeface="+mn-ea"/>
                <a:ea typeface="+mn-ea"/>
              </a:rPr>
              <a:t>’</a:t>
            </a:r>
            <a:r>
              <a:rPr lang="ko-KR" altLang="en-US" sz="800" b="1" smtClean="0">
                <a:solidFill>
                  <a:srgbClr val="0000FF"/>
                </a:solidFill>
                <a:latin typeface="+mn-ea"/>
                <a:ea typeface="+mn-ea"/>
              </a:rPr>
              <a:t>할 수 있는 레이어 출력</a:t>
            </a:r>
            <a:endParaRPr lang="ko-KR" altLang="en-US" sz="800" dirty="0">
              <a:solidFill>
                <a:srgbClr val="0000FF"/>
              </a:solidFill>
              <a:latin typeface="+mn-ea"/>
              <a:ea typeface="+mn-ea"/>
            </a:endParaRPr>
          </a:p>
        </p:txBody>
      </p:sp>
      <p:cxnSp>
        <p:nvCxnSpPr>
          <p:cNvPr id="69" name="꺾인 연결선 68"/>
          <p:cNvCxnSpPr/>
          <p:nvPr/>
        </p:nvCxnSpPr>
        <p:spPr>
          <a:xfrm rot="10800000">
            <a:off x="6766578" y="3855453"/>
            <a:ext cx="338345" cy="593915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4154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339"/>
          <p:cNvSpPr/>
          <p:nvPr/>
        </p:nvSpPr>
        <p:spPr>
          <a:xfrm>
            <a:off x="288157" y="620669"/>
            <a:ext cx="367200" cy="573269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>
              <a:latin typeface="+mn-ea"/>
            </a:endParaRPr>
          </a:p>
        </p:txBody>
      </p:sp>
      <p:sp>
        <p:nvSpPr>
          <p:cNvPr id="6" name="직사각형"/>
          <p:cNvSpPr/>
          <p:nvPr/>
        </p:nvSpPr>
        <p:spPr>
          <a:xfrm rot="5400000">
            <a:off x="-2394590" y="3303419"/>
            <a:ext cx="5732692" cy="367198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grpSp>
        <p:nvGrpSpPr>
          <p:cNvPr id="7" name="Group 121"/>
          <p:cNvGrpSpPr/>
          <p:nvPr/>
        </p:nvGrpSpPr>
        <p:grpSpPr>
          <a:xfrm>
            <a:off x="345411" y="702015"/>
            <a:ext cx="258969" cy="3587760"/>
            <a:chOff x="459711" y="1300554"/>
            <a:chExt cx="258969" cy="3587760"/>
          </a:xfrm>
        </p:grpSpPr>
        <p:sp>
          <p:nvSpPr>
            <p:cNvPr id="8" name="타원 83"/>
            <p:cNvSpPr>
              <a:spLocks noChangeAspect="1"/>
            </p:cNvSpPr>
            <p:nvPr/>
          </p:nvSpPr>
          <p:spPr>
            <a:xfrm>
              <a:off x="459711" y="1671205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타원 84"/>
            <p:cNvSpPr>
              <a:spLocks noChangeAspect="1"/>
            </p:cNvSpPr>
            <p:nvPr/>
          </p:nvSpPr>
          <p:spPr>
            <a:xfrm>
              <a:off x="459711" y="2041856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타원 85"/>
            <p:cNvSpPr>
              <a:spLocks noChangeAspect="1"/>
            </p:cNvSpPr>
            <p:nvPr/>
          </p:nvSpPr>
          <p:spPr>
            <a:xfrm>
              <a:off x="459711" y="241404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타원 86"/>
            <p:cNvSpPr>
              <a:spLocks noChangeAspect="1"/>
            </p:cNvSpPr>
            <p:nvPr/>
          </p:nvSpPr>
          <p:spPr>
            <a:xfrm>
              <a:off x="459711" y="2786242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타원 87"/>
            <p:cNvSpPr>
              <a:spLocks noChangeAspect="1"/>
            </p:cNvSpPr>
            <p:nvPr/>
          </p:nvSpPr>
          <p:spPr>
            <a:xfrm>
              <a:off x="459711" y="3161360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타원 88"/>
            <p:cNvSpPr>
              <a:spLocks noChangeAspect="1"/>
            </p:cNvSpPr>
            <p:nvPr/>
          </p:nvSpPr>
          <p:spPr>
            <a:xfrm>
              <a:off x="459711" y="353052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타원 89"/>
            <p:cNvSpPr>
              <a:spLocks noChangeAspect="1"/>
            </p:cNvSpPr>
            <p:nvPr/>
          </p:nvSpPr>
          <p:spPr>
            <a:xfrm>
              <a:off x="459711" y="389672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타원 90"/>
            <p:cNvSpPr>
              <a:spLocks noChangeAspect="1"/>
            </p:cNvSpPr>
            <p:nvPr/>
          </p:nvSpPr>
          <p:spPr>
            <a:xfrm>
              <a:off x="459711" y="4262919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타원 91"/>
            <p:cNvSpPr>
              <a:spLocks noChangeAspect="1"/>
            </p:cNvSpPr>
            <p:nvPr/>
          </p:nvSpPr>
          <p:spPr>
            <a:xfrm>
              <a:off x="459711" y="462911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타원 83"/>
            <p:cNvSpPr>
              <a:spLocks noChangeAspect="1"/>
            </p:cNvSpPr>
            <p:nvPr/>
          </p:nvSpPr>
          <p:spPr>
            <a:xfrm>
              <a:off x="459711" y="1300554"/>
              <a:ext cx="258969" cy="259200"/>
            </a:xfrm>
            <a:prstGeom prst="ellipse">
              <a:avLst/>
            </a:prstGeom>
            <a:solidFill>
              <a:srgbClr val="FFFFFF">
                <a:alpha val="29804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타원 83"/>
            <p:cNvSpPr>
              <a:spLocks noChangeAspect="1"/>
            </p:cNvSpPr>
            <p:nvPr/>
          </p:nvSpPr>
          <p:spPr>
            <a:xfrm>
              <a:off x="459711" y="2416974"/>
              <a:ext cx="258969" cy="2592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kumimoji="1" lang="ko-KR" altLang="en-US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스퀘어</a:t>
              </a:r>
              <a:endParaRPr kumimoji="1"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</p:grpSp>
      <p:sp>
        <p:nvSpPr>
          <p:cNvPr id="20" name="직사각형 98"/>
          <p:cNvSpPr/>
          <p:nvPr/>
        </p:nvSpPr>
        <p:spPr>
          <a:xfrm>
            <a:off x="657953" y="620666"/>
            <a:ext cx="1422685" cy="573269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grpSp>
        <p:nvGrpSpPr>
          <p:cNvPr id="52" name="Group 92"/>
          <p:cNvGrpSpPr/>
          <p:nvPr/>
        </p:nvGrpSpPr>
        <p:grpSpPr>
          <a:xfrm>
            <a:off x="670981" y="6042317"/>
            <a:ext cx="1404000" cy="246628"/>
            <a:chOff x="785281" y="6952264"/>
            <a:chExt cx="1404000" cy="246628"/>
          </a:xfrm>
        </p:grpSpPr>
        <p:sp>
          <p:nvSpPr>
            <p:cNvPr id="5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6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텍스트 상자 31"/>
          <p:cNvSpPr txBox="1"/>
          <p:nvPr/>
        </p:nvSpPr>
        <p:spPr>
          <a:xfrm>
            <a:off x="845533" y="572067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55" name="텍스트 상자 31"/>
          <p:cNvSpPr txBox="1"/>
          <p:nvPr/>
        </p:nvSpPr>
        <p:spPr>
          <a:xfrm>
            <a:off x="845533" y="5519782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56" name="Freeform 24"/>
          <p:cNvSpPr>
            <a:spLocks noChangeArrowheads="1"/>
          </p:cNvSpPr>
          <p:nvPr/>
        </p:nvSpPr>
        <p:spPr bwMode="auto">
          <a:xfrm flipV="1">
            <a:off x="722912" y="5549058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57" name="Freeform 24"/>
          <p:cNvSpPr>
            <a:spLocks noChangeArrowheads="1"/>
          </p:cNvSpPr>
          <p:nvPr/>
        </p:nvSpPr>
        <p:spPr bwMode="auto">
          <a:xfrm flipV="1">
            <a:off x="729521" y="574954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58" name="직선 연결선[R] 33"/>
          <p:cNvCxnSpPr/>
          <p:nvPr/>
        </p:nvCxnSpPr>
        <p:spPr>
          <a:xfrm>
            <a:off x="664921" y="541178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" name="그룹 21"/>
          <p:cNvGrpSpPr/>
          <p:nvPr/>
        </p:nvGrpSpPr>
        <p:grpSpPr>
          <a:xfrm>
            <a:off x="663317" y="747501"/>
            <a:ext cx="1457880" cy="2176813"/>
            <a:chOff x="777617" y="1157076"/>
            <a:chExt cx="1457880" cy="2176813"/>
          </a:xfrm>
        </p:grpSpPr>
        <p:sp>
          <p:nvSpPr>
            <p:cNvPr id="41" name="Rectangle 14"/>
            <p:cNvSpPr>
              <a:spLocks/>
            </p:cNvSpPr>
            <p:nvPr/>
          </p:nvSpPr>
          <p:spPr bwMode="auto">
            <a:xfrm>
              <a:off x="883402" y="1482241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Rectangle 90"/>
            <p:cNvSpPr/>
            <p:nvPr/>
          </p:nvSpPr>
          <p:spPr>
            <a:xfrm>
              <a:off x="1071176" y="1490654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3" name="Text Box 22"/>
            <p:cNvSpPr txBox="1">
              <a:spLocks/>
            </p:cNvSpPr>
            <p:nvPr/>
          </p:nvSpPr>
          <p:spPr bwMode="auto">
            <a:xfrm>
              <a:off x="883855" y="1157076"/>
              <a:ext cx="538691" cy="194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r>
                <a:rPr lang="ko-KR" altLang="en-US" sz="10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Apple SD 산돌고딕 Neo 볼드체" charset="-127"/>
                  <a:sym typeface="Apple SD 산돌고딕 Neo 볼드체" charset="-127"/>
                </a:rPr>
                <a:t>스퀘어</a:t>
              </a:r>
              <a:endParaRPr lang="x-none" altLang="x-none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Apple SD 산돌고딕 Neo 볼드체" charset="-127"/>
                <a:sym typeface="Apple SD 산돌고딕 Neo 볼드체" charset="-127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959833" y="265145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5" name="직선 연결선[R] 33"/>
            <p:cNvCxnSpPr/>
            <p:nvPr/>
          </p:nvCxnSpPr>
          <p:spPr>
            <a:xfrm>
              <a:off x="779221" y="2580714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Freeform 24"/>
            <p:cNvSpPr>
              <a:spLocks noChangeArrowheads="1"/>
            </p:cNvSpPr>
            <p:nvPr/>
          </p:nvSpPr>
          <p:spPr bwMode="auto">
            <a:xfrm>
              <a:off x="846720" y="2676016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47" name="직선 연결선[R] 33"/>
            <p:cNvCxnSpPr/>
            <p:nvPr/>
          </p:nvCxnSpPr>
          <p:spPr>
            <a:xfrm>
              <a:off x="779221" y="2820616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텍스트 상자 31"/>
            <p:cNvSpPr txBox="1"/>
            <p:nvPr/>
          </p:nvSpPr>
          <p:spPr>
            <a:xfrm>
              <a:off x="1066442" y="2823365"/>
              <a:ext cx="1044000" cy="51052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ts val="1400"/>
                </a:lnSpc>
              </a:pP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</a:p>
            <a:p>
              <a:pPr>
                <a:lnSpc>
                  <a:spcPts val="1400"/>
                </a:lnSpc>
              </a:pP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lang="en-US" altLang="ko-KR" sz="600" b="1" dirty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  <a:p>
              <a:pPr lvl="0">
                <a:lnSpc>
                  <a:spcPts val="1400"/>
                </a:lnSpc>
              </a:pP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9" name="Rectangle 118"/>
            <p:cNvSpPr/>
            <p:nvPr/>
          </p:nvSpPr>
          <p:spPr>
            <a:xfrm>
              <a:off x="777617" y="1793760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50" name="텍스트 상자 31"/>
            <p:cNvSpPr txBox="1"/>
            <p:nvPr/>
          </p:nvSpPr>
          <p:spPr>
            <a:xfrm>
              <a:off x="965893" y="1847048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1" name="텍스트 상자 31"/>
            <p:cNvSpPr txBox="1"/>
            <p:nvPr/>
          </p:nvSpPr>
          <p:spPr>
            <a:xfrm>
              <a:off x="965893" y="2000446"/>
              <a:ext cx="820269" cy="51328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ts val="14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 lvl="0">
                <a:lnSpc>
                  <a:spcPts val="1400"/>
                </a:lnSpc>
              </a:pPr>
              <a:r>
                <a:rPr lang="ko-KR" altLang="en-US" sz="7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</a:t>
              </a:r>
              <a:r>
                <a:rPr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  <a:p>
              <a:pPr>
                <a:lnSpc>
                  <a:spcPts val="1400"/>
                </a:lnSpc>
              </a:pPr>
              <a:r>
                <a:rPr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글 </a:t>
              </a:r>
              <a:r>
                <a:rPr lang="en-US" altLang="ko-KR" sz="700" b="1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664921" y="3037991"/>
            <a:ext cx="1450216" cy="1980583"/>
            <a:chOff x="779221" y="3447566"/>
            <a:chExt cx="1450216" cy="1980583"/>
          </a:xfrm>
        </p:grpSpPr>
        <p:sp>
          <p:nvSpPr>
            <p:cNvPr id="25" name="텍스트 상자 31"/>
            <p:cNvSpPr txBox="1"/>
            <p:nvPr/>
          </p:nvSpPr>
          <p:spPr>
            <a:xfrm>
              <a:off x="1078389" y="3925472"/>
              <a:ext cx="792000" cy="30777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ts val="12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</a:p>
            <a:p>
              <a:pPr lvl="0">
                <a:lnSpc>
                  <a:spcPts val="1200"/>
                </a:lnSpc>
              </a:pP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병원 </a:t>
              </a:r>
              <a:r>
                <a:rPr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서비스디자인</a:t>
              </a:r>
              <a:endParaRPr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텍스트 상자 31"/>
            <p:cNvSpPr txBox="1"/>
            <p:nvPr/>
          </p:nvSpPr>
          <p:spPr>
            <a:xfrm>
              <a:off x="1080112" y="3780839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7" name="Freeform 24"/>
            <p:cNvSpPr>
              <a:spLocks noChangeArrowheads="1"/>
            </p:cNvSpPr>
            <p:nvPr/>
          </p:nvSpPr>
          <p:spPr bwMode="auto">
            <a:xfrm>
              <a:off x="961147" y="3811841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959833" y="3518303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9" name="직선 연결선[R] 33"/>
            <p:cNvCxnSpPr/>
            <p:nvPr/>
          </p:nvCxnSpPr>
          <p:spPr>
            <a:xfrm>
              <a:off x="779221" y="3447566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Freeform 24"/>
            <p:cNvSpPr>
              <a:spLocks noChangeArrowheads="1"/>
            </p:cNvSpPr>
            <p:nvPr/>
          </p:nvSpPr>
          <p:spPr bwMode="auto">
            <a:xfrm>
              <a:off x="846720" y="3542868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1" name="직선 연결선[R] 33"/>
            <p:cNvCxnSpPr/>
            <p:nvPr/>
          </p:nvCxnSpPr>
          <p:spPr>
            <a:xfrm>
              <a:off x="779221" y="3687468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Group 143"/>
            <p:cNvGrpSpPr/>
            <p:nvPr/>
          </p:nvGrpSpPr>
          <p:grpSpPr>
            <a:xfrm>
              <a:off x="1879383" y="3478906"/>
              <a:ext cx="221965" cy="169277"/>
              <a:chOff x="1879383" y="5177290"/>
              <a:chExt cx="221965" cy="169277"/>
            </a:xfrm>
          </p:grpSpPr>
          <p:sp>
            <p:nvSpPr>
              <p:cNvPr id="39" name="TextBox 3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40831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3" name="텍스트 상자 31"/>
            <p:cNvSpPr txBox="1"/>
            <p:nvPr/>
          </p:nvSpPr>
          <p:spPr>
            <a:xfrm>
              <a:off x="1080112" y="43247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Freeform 24"/>
            <p:cNvSpPr>
              <a:spLocks noChangeArrowheads="1"/>
            </p:cNvSpPr>
            <p:nvPr/>
          </p:nvSpPr>
          <p:spPr bwMode="auto">
            <a:xfrm>
              <a:off x="961147" y="435577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" name="텍스트 상자 31"/>
            <p:cNvSpPr txBox="1"/>
            <p:nvPr/>
          </p:nvSpPr>
          <p:spPr>
            <a:xfrm>
              <a:off x="1080112" y="4995995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961147" y="5026997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7" name="텍스트 상자 31"/>
            <p:cNvSpPr txBox="1"/>
            <p:nvPr/>
          </p:nvSpPr>
          <p:spPr>
            <a:xfrm>
              <a:off x="1078389" y="4443513"/>
              <a:ext cx="792000" cy="46166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lang="en-US" altLang="ko-KR" sz="600" b="1" dirty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  <a:p>
              <a:pPr>
                <a:lnSpc>
                  <a:spcPts val="1200"/>
                </a:lnSpc>
              </a:pP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</a:p>
            <a:p>
              <a:pPr>
                <a:lnSpc>
                  <a:spcPts val="1200"/>
                </a:lnSpc>
              </a:pP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" name="텍스트 상자 31"/>
            <p:cNvSpPr txBox="1"/>
            <p:nvPr/>
          </p:nvSpPr>
          <p:spPr>
            <a:xfrm>
              <a:off x="1078389" y="5120372"/>
              <a:ext cx="792000" cy="30777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>
                <a:lnSpc>
                  <a:spcPts val="1200"/>
                </a:lnSpc>
              </a:pP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스퀘어</a:t>
              </a: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A</a:t>
              </a:r>
              <a:endParaRPr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lvl="0">
                <a:lnSpc>
                  <a:spcPts val="1200"/>
                </a:lnSpc>
              </a:pPr>
              <a:r>
                <a:rPr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스퀘어</a:t>
              </a:r>
              <a:r>
                <a:rPr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B</a:t>
              </a:r>
              <a:endParaRPr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4" name="Freeform 13"/>
          <p:cNvSpPr>
            <a:spLocks noChangeAspect="1" noChangeArrowheads="1"/>
          </p:cNvSpPr>
          <p:nvPr/>
        </p:nvSpPr>
        <p:spPr bwMode="auto">
          <a:xfrm>
            <a:off x="1914661" y="2017731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276225" y="133350"/>
            <a:ext cx="1649738" cy="31892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Tree</a:t>
            </a:r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내 그룹 생성</a:t>
            </a:r>
            <a:endParaRPr lang="ko-KR" altLang="en-US" sz="16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7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7166676"/>
              </p:ext>
            </p:extLst>
          </p:nvPr>
        </p:nvGraphicFramePr>
        <p:xfrm>
          <a:off x="8201026" y="538733"/>
          <a:ext cx="3781774" cy="851240"/>
        </p:xfrm>
        <a:graphic>
          <a:graphicData uri="http://schemas.openxmlformats.org/drawingml/2006/table">
            <a:tbl>
              <a:tblPr/>
              <a:tblGrid>
                <a:gridCol w="4453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364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클릭시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최하단에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새 그룹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(N)’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이라는 임시 그룹명으로 인풋박스 출력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그룹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폴더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명 입력 후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background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클릭 또는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enter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 생성 완료 처리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타원 1"/>
          <p:cNvSpPr/>
          <p:nvPr/>
        </p:nvSpPr>
        <p:spPr>
          <a:xfrm>
            <a:off x="1665802" y="3026814"/>
            <a:ext cx="267773" cy="260963"/>
          </a:xfrm>
          <a:prstGeom prst="ellipse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816958" y="5056674"/>
            <a:ext cx="1119551" cy="163026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smtClean="0">
                <a:solidFill>
                  <a:schemeClr val="tx1"/>
                </a:solidFill>
              </a:rPr>
              <a:t>새 그룹</a:t>
            </a:r>
            <a:endParaRPr lang="ko-KR" altLang="en-US" sz="800">
              <a:solidFill>
                <a:schemeClr val="tx1"/>
              </a:solidFill>
            </a:endParaRPr>
          </a:p>
        </p:txBody>
      </p:sp>
      <p:cxnSp>
        <p:nvCxnSpPr>
          <p:cNvPr id="62" name="직선 화살표 연결선 61"/>
          <p:cNvCxnSpPr/>
          <p:nvPr/>
        </p:nvCxnSpPr>
        <p:spPr>
          <a:xfrm>
            <a:off x="1803183" y="3333164"/>
            <a:ext cx="0" cy="164731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타원 97"/>
          <p:cNvSpPr/>
          <p:nvPr/>
        </p:nvSpPr>
        <p:spPr>
          <a:xfrm>
            <a:off x="1560208" y="2961576"/>
            <a:ext cx="180909" cy="180909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0688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77"/>
          <p:cNvGrpSpPr/>
          <p:nvPr/>
        </p:nvGrpSpPr>
        <p:grpSpPr>
          <a:xfrm>
            <a:off x="7073147" y="1350550"/>
            <a:ext cx="729307" cy="166525"/>
            <a:chOff x="7109348" y="1300074"/>
            <a:chExt cx="729307" cy="166525"/>
          </a:xfrm>
        </p:grpSpPr>
        <p:grpSp>
          <p:nvGrpSpPr>
            <p:cNvPr id="5" name="Group 97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15" name="Oval 107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16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6" name="Group 98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13" name="Oval 105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14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7" name="Group 99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8" name="Oval 100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9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10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6" name="직사각형"/>
          <p:cNvSpPr/>
          <p:nvPr/>
        </p:nvSpPr>
        <p:spPr>
          <a:xfrm>
            <a:off x="2188744" y="1219207"/>
            <a:ext cx="5747934" cy="797167"/>
          </a:xfrm>
          <a:prstGeom prst="rect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cxnSp>
        <p:nvCxnSpPr>
          <p:cNvPr id="27" name="직선 연결선[R] 7"/>
          <p:cNvCxnSpPr/>
          <p:nvPr/>
        </p:nvCxnSpPr>
        <p:spPr>
          <a:xfrm>
            <a:off x="2297503" y="1908892"/>
            <a:ext cx="552412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28" name="직사각형"/>
          <p:cNvSpPr/>
          <p:nvPr/>
        </p:nvSpPr>
        <p:spPr>
          <a:xfrm rot="5400000">
            <a:off x="4863903" y="-1453880"/>
            <a:ext cx="396000" cy="5749550"/>
          </a:xfrm>
          <a:prstGeom prst="rect">
            <a:avLst/>
          </a:prstGeom>
          <a:solidFill>
            <a:schemeClr val="bg1">
              <a:lumMod val="50000"/>
              <a:alpha val="55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8391268" y="2121581"/>
            <a:ext cx="814325" cy="230832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>
              <a:lnSpc>
                <a:spcPct val="150000"/>
              </a:lnSpc>
              <a:spcAft>
                <a:spcPts val="200"/>
              </a:spcAft>
            </a:pPr>
            <a:r>
              <a:rPr kumimoji="1" lang="ko-KR" altLang="en-US" sz="1000" b="1" dirty="0" smtClean="0">
                <a:solidFill>
                  <a:srgbClr val="FF2F92"/>
                </a:solidFill>
                <a:latin typeface="+mn-ea"/>
                <a:ea typeface="+mn-ea"/>
              </a:rPr>
              <a:t>새로고침 버튼</a:t>
            </a:r>
            <a:endParaRPr kumimoji="1" lang="en-US" altLang="ko-KR" sz="1000" b="1" dirty="0" smtClean="0">
              <a:solidFill>
                <a:srgbClr val="FF2F92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8391268" y="2371510"/>
            <a:ext cx="1033937" cy="123111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>
              <a:spcAft>
                <a:spcPts val="200"/>
              </a:spcAft>
            </a:pP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선택 시 콘텐츠 재로딩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2194938" y="2147016"/>
            <a:ext cx="987450" cy="230832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>
              <a:lnSpc>
                <a:spcPct val="150000"/>
              </a:lnSpc>
              <a:spcAft>
                <a:spcPts val="200"/>
              </a:spcAft>
            </a:pPr>
            <a:r>
              <a:rPr kumimoji="1" lang="ko-KR" altLang="en-US" sz="1000" b="1" dirty="0" smtClean="0">
                <a:solidFill>
                  <a:srgbClr val="FF2F92"/>
                </a:solidFill>
                <a:latin typeface="+mn-ea"/>
                <a:ea typeface="+mn-ea"/>
              </a:rPr>
              <a:t>메뉴 타이틀 영역</a:t>
            </a:r>
            <a:endParaRPr kumimoji="1" lang="en-US" altLang="ko-KR" sz="1000" b="1" dirty="0" smtClean="0">
              <a:solidFill>
                <a:srgbClr val="FF2F92"/>
              </a:solidFill>
              <a:latin typeface="+mn-ea"/>
              <a:ea typeface="+mn-ea"/>
            </a:endParaRPr>
          </a:p>
        </p:txBody>
      </p:sp>
      <p:sp>
        <p:nvSpPr>
          <p:cNvPr id="32" name="텍스트 상자 31"/>
          <p:cNvSpPr txBox="1"/>
          <p:nvPr/>
        </p:nvSpPr>
        <p:spPr>
          <a:xfrm>
            <a:off x="2189136" y="2396945"/>
            <a:ext cx="1583767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spcAft>
                <a:spcPts val="200"/>
              </a:spcAft>
            </a:pP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메뉴 타이틀 제공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3" name="꺾인 연결선[E] 431"/>
          <p:cNvCxnSpPr/>
          <p:nvPr/>
        </p:nvCxnSpPr>
        <p:spPr>
          <a:xfrm rot="10800000" flipV="1">
            <a:off x="2194939" y="1783646"/>
            <a:ext cx="123591" cy="478785"/>
          </a:xfrm>
          <a:prstGeom prst="bentConnector3">
            <a:avLst>
              <a:gd name="adj1" fmla="val 284965"/>
            </a:avLst>
          </a:prstGeom>
          <a:ln w="15875">
            <a:solidFill>
              <a:srgbClr val="FF2F92"/>
            </a:solidFill>
            <a:prstDash val="dash"/>
            <a:headEnd type="oval" w="sm" len="sm"/>
            <a:tailEnd type="none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텍스트 상자 31"/>
          <p:cNvSpPr txBox="1"/>
          <p:nvPr/>
        </p:nvSpPr>
        <p:spPr>
          <a:xfrm>
            <a:off x="2318529" y="1714397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9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35" name="Group 137"/>
          <p:cNvGrpSpPr/>
          <p:nvPr/>
        </p:nvGrpSpPr>
        <p:grpSpPr>
          <a:xfrm>
            <a:off x="7073147" y="3107913"/>
            <a:ext cx="729307" cy="166525"/>
            <a:chOff x="7109348" y="1300074"/>
            <a:chExt cx="729307" cy="166525"/>
          </a:xfrm>
        </p:grpSpPr>
        <p:grpSp>
          <p:nvGrpSpPr>
            <p:cNvPr id="36" name="Group 138"/>
            <p:cNvGrpSpPr/>
            <p:nvPr/>
          </p:nvGrpSpPr>
          <p:grpSpPr>
            <a:xfrm>
              <a:off x="7109348" y="1300074"/>
              <a:ext cx="166525" cy="166525"/>
              <a:chOff x="7028881" y="1300074"/>
              <a:chExt cx="166525" cy="166525"/>
            </a:xfrm>
          </p:grpSpPr>
          <p:sp>
            <p:nvSpPr>
              <p:cNvPr id="46" name="Oval 148"/>
              <p:cNvSpPr/>
              <p:nvPr/>
            </p:nvSpPr>
            <p:spPr>
              <a:xfrm>
                <a:off x="7028881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7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067143" y="1338336"/>
                <a:ext cx="90000" cy="90000"/>
              </a:xfrm>
              <a:custGeom>
                <a:avLst/>
                <a:gdLst>
                  <a:gd name="T0" fmla="*/ 216 w 433"/>
                  <a:gd name="T1" fmla="*/ 216 h 433"/>
                  <a:gd name="T2" fmla="*/ 324 w 433"/>
                  <a:gd name="T3" fmla="*/ 108 h 433"/>
                  <a:gd name="T4" fmla="*/ 216 w 433"/>
                  <a:gd name="T5" fmla="*/ 0 h 433"/>
                  <a:gd name="T6" fmla="*/ 108 w 433"/>
                  <a:gd name="T7" fmla="*/ 108 h 433"/>
                  <a:gd name="T8" fmla="*/ 216 w 433"/>
                  <a:gd name="T9" fmla="*/ 216 h 433"/>
                  <a:gd name="T10" fmla="*/ 216 w 433"/>
                  <a:gd name="T11" fmla="*/ 267 h 433"/>
                  <a:gd name="T12" fmla="*/ 0 w 433"/>
                  <a:gd name="T13" fmla="*/ 375 h 433"/>
                  <a:gd name="T14" fmla="*/ 0 w 433"/>
                  <a:gd name="T15" fmla="*/ 432 h 433"/>
                  <a:gd name="T16" fmla="*/ 432 w 433"/>
                  <a:gd name="T17" fmla="*/ 432 h 433"/>
                  <a:gd name="T18" fmla="*/ 432 w 433"/>
                  <a:gd name="T19" fmla="*/ 375 h 433"/>
                  <a:gd name="T20" fmla="*/ 216 w 433"/>
                  <a:gd name="T21" fmla="*/ 26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3" h="433">
                    <a:moveTo>
                      <a:pt x="216" y="216"/>
                    </a:moveTo>
                    <a:cubicBezTo>
                      <a:pt x="272" y="216"/>
                      <a:pt x="324" y="167"/>
                      <a:pt x="324" y="108"/>
                    </a:cubicBezTo>
                    <a:cubicBezTo>
                      <a:pt x="324" y="49"/>
                      <a:pt x="275" y="0"/>
                      <a:pt x="216" y="0"/>
                    </a:cubicBezTo>
                    <a:cubicBezTo>
                      <a:pt x="157" y="0"/>
                      <a:pt x="108" y="49"/>
                      <a:pt x="108" y="108"/>
                    </a:cubicBezTo>
                    <a:cubicBezTo>
                      <a:pt x="108" y="167"/>
                      <a:pt x="154" y="216"/>
                      <a:pt x="216" y="216"/>
                    </a:cubicBezTo>
                    <a:close/>
                    <a:moveTo>
                      <a:pt x="216" y="267"/>
                    </a:moveTo>
                    <a:cubicBezTo>
                      <a:pt x="144" y="267"/>
                      <a:pt x="0" y="303"/>
                      <a:pt x="0" y="375"/>
                    </a:cubicBezTo>
                    <a:lnTo>
                      <a:pt x="0" y="432"/>
                    </a:lnTo>
                    <a:lnTo>
                      <a:pt x="432" y="432"/>
                    </a:lnTo>
                    <a:lnTo>
                      <a:pt x="432" y="375"/>
                    </a:lnTo>
                    <a:cubicBezTo>
                      <a:pt x="432" y="303"/>
                      <a:pt x="288" y="267"/>
                      <a:pt x="216" y="26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7" name="Group 139"/>
            <p:cNvGrpSpPr/>
            <p:nvPr/>
          </p:nvGrpSpPr>
          <p:grpSpPr>
            <a:xfrm>
              <a:off x="7390739" y="1300074"/>
              <a:ext cx="166525" cy="166525"/>
              <a:chOff x="7342082" y="1300074"/>
              <a:chExt cx="166525" cy="166525"/>
            </a:xfrm>
          </p:grpSpPr>
          <p:sp>
            <p:nvSpPr>
              <p:cNvPr id="44" name="Oval 146"/>
              <p:cNvSpPr/>
              <p:nvPr/>
            </p:nvSpPr>
            <p:spPr>
              <a:xfrm>
                <a:off x="7342082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sp>
            <p:nvSpPr>
              <p:cNvPr id="45" name="Freeform 13"/>
              <p:cNvSpPr>
                <a:spLocks noChangeAspect="1" noChangeArrowheads="1"/>
              </p:cNvSpPr>
              <p:nvPr/>
            </p:nvSpPr>
            <p:spPr bwMode="auto">
              <a:xfrm>
                <a:off x="7384848" y="1330115"/>
                <a:ext cx="90000" cy="106442"/>
              </a:xfrm>
              <a:custGeom>
                <a:avLst/>
                <a:gdLst>
                  <a:gd name="T0" fmla="*/ 226 w 459"/>
                  <a:gd name="T1" fmla="*/ 540 h 541"/>
                  <a:gd name="T2" fmla="*/ 283 w 459"/>
                  <a:gd name="T3" fmla="*/ 488 h 541"/>
                  <a:gd name="T4" fmla="*/ 175 w 459"/>
                  <a:gd name="T5" fmla="*/ 488 h 541"/>
                  <a:gd name="T6" fmla="*/ 226 w 459"/>
                  <a:gd name="T7" fmla="*/ 540 h 541"/>
                  <a:gd name="T8" fmla="*/ 401 w 459"/>
                  <a:gd name="T9" fmla="*/ 380 h 541"/>
                  <a:gd name="T10" fmla="*/ 401 w 459"/>
                  <a:gd name="T11" fmla="*/ 231 h 541"/>
                  <a:gd name="T12" fmla="*/ 268 w 459"/>
                  <a:gd name="T13" fmla="*/ 62 h 541"/>
                  <a:gd name="T14" fmla="*/ 268 w 459"/>
                  <a:gd name="T15" fmla="*/ 41 h 541"/>
                  <a:gd name="T16" fmla="*/ 226 w 459"/>
                  <a:gd name="T17" fmla="*/ 0 h 541"/>
                  <a:gd name="T18" fmla="*/ 191 w 459"/>
                  <a:gd name="T19" fmla="*/ 41 h 541"/>
                  <a:gd name="T20" fmla="*/ 191 w 459"/>
                  <a:gd name="T21" fmla="*/ 62 h 541"/>
                  <a:gd name="T22" fmla="*/ 52 w 459"/>
                  <a:gd name="T23" fmla="*/ 231 h 541"/>
                  <a:gd name="T24" fmla="*/ 52 w 459"/>
                  <a:gd name="T25" fmla="*/ 380 h 541"/>
                  <a:gd name="T26" fmla="*/ 0 w 459"/>
                  <a:gd name="T27" fmla="*/ 432 h 541"/>
                  <a:gd name="T28" fmla="*/ 0 w 459"/>
                  <a:gd name="T29" fmla="*/ 457 h 541"/>
                  <a:gd name="T30" fmla="*/ 458 w 459"/>
                  <a:gd name="T31" fmla="*/ 457 h 541"/>
                  <a:gd name="T32" fmla="*/ 458 w 459"/>
                  <a:gd name="T33" fmla="*/ 432 h 541"/>
                  <a:gd name="T34" fmla="*/ 401 w 459"/>
                  <a:gd name="T35" fmla="*/ 38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9" h="541">
                    <a:moveTo>
                      <a:pt x="226" y="540"/>
                    </a:moveTo>
                    <a:cubicBezTo>
                      <a:pt x="257" y="540"/>
                      <a:pt x="283" y="514"/>
                      <a:pt x="283" y="488"/>
                    </a:cubicBezTo>
                    <a:lnTo>
                      <a:pt x="175" y="488"/>
                    </a:lnTo>
                    <a:cubicBezTo>
                      <a:pt x="175" y="514"/>
                      <a:pt x="201" y="540"/>
                      <a:pt x="226" y="540"/>
                    </a:cubicBezTo>
                    <a:close/>
                    <a:moveTo>
                      <a:pt x="401" y="380"/>
                    </a:moveTo>
                    <a:lnTo>
                      <a:pt x="401" y="231"/>
                    </a:lnTo>
                    <a:cubicBezTo>
                      <a:pt x="401" y="149"/>
                      <a:pt x="345" y="82"/>
                      <a:pt x="268" y="62"/>
                    </a:cubicBezTo>
                    <a:lnTo>
                      <a:pt x="268" y="41"/>
                    </a:lnTo>
                    <a:cubicBezTo>
                      <a:pt x="268" y="21"/>
                      <a:pt x="250" y="0"/>
                      <a:pt x="226" y="0"/>
                    </a:cubicBezTo>
                    <a:cubicBezTo>
                      <a:pt x="203" y="0"/>
                      <a:pt x="191" y="21"/>
                      <a:pt x="191" y="41"/>
                    </a:cubicBezTo>
                    <a:lnTo>
                      <a:pt x="191" y="62"/>
                    </a:lnTo>
                    <a:cubicBezTo>
                      <a:pt x="108" y="82"/>
                      <a:pt x="52" y="149"/>
                      <a:pt x="52" y="231"/>
                    </a:cubicBezTo>
                    <a:lnTo>
                      <a:pt x="52" y="380"/>
                    </a:lnTo>
                    <a:lnTo>
                      <a:pt x="0" y="432"/>
                    </a:lnTo>
                    <a:lnTo>
                      <a:pt x="0" y="457"/>
                    </a:lnTo>
                    <a:lnTo>
                      <a:pt x="458" y="457"/>
                    </a:lnTo>
                    <a:lnTo>
                      <a:pt x="458" y="432"/>
                    </a:lnTo>
                    <a:lnTo>
                      <a:pt x="401" y="38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38" name="Group 140"/>
            <p:cNvGrpSpPr/>
            <p:nvPr/>
          </p:nvGrpSpPr>
          <p:grpSpPr>
            <a:xfrm>
              <a:off x="7672130" y="1300074"/>
              <a:ext cx="166525" cy="166525"/>
              <a:chOff x="7672130" y="1300074"/>
              <a:chExt cx="166525" cy="166525"/>
            </a:xfrm>
          </p:grpSpPr>
          <p:sp>
            <p:nvSpPr>
              <p:cNvPr id="39" name="Oval 141"/>
              <p:cNvSpPr/>
              <p:nvPr/>
            </p:nvSpPr>
            <p:spPr>
              <a:xfrm>
                <a:off x="7672130" y="1300074"/>
                <a:ext cx="166525" cy="166525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latin typeface="+mn-ea"/>
                  <a:ea typeface="+mn-ea"/>
                </a:endParaRPr>
              </a:p>
            </p:txBody>
          </p:sp>
          <p:grpSp>
            <p:nvGrpSpPr>
              <p:cNvPr id="40" name="그룹 28"/>
              <p:cNvGrpSpPr>
                <a:grpSpLocks noChangeAspect="1"/>
              </p:cNvGrpSpPr>
              <p:nvPr/>
            </p:nvGrpSpPr>
            <p:grpSpPr>
              <a:xfrm>
                <a:off x="7722065" y="1354636"/>
                <a:ext cx="72000" cy="58698"/>
                <a:chOff x="7719003" y="1331958"/>
                <a:chExt cx="143099" cy="116662"/>
              </a:xfrm>
            </p:grpSpPr>
            <p:cxnSp>
              <p:nvCxnSpPr>
                <p:cNvPr id="41" name="직선 연결선[R] 24"/>
                <p:cNvCxnSpPr/>
                <p:nvPr/>
              </p:nvCxnSpPr>
              <p:spPr>
                <a:xfrm>
                  <a:off x="7719003" y="1331958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직선 연결선[R] 25"/>
                <p:cNvCxnSpPr/>
                <p:nvPr/>
              </p:nvCxnSpPr>
              <p:spPr>
                <a:xfrm>
                  <a:off x="7719003" y="1390289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직선 연결선[R] 26"/>
                <p:cNvCxnSpPr/>
                <p:nvPr/>
              </p:nvCxnSpPr>
              <p:spPr>
                <a:xfrm>
                  <a:off x="7719003" y="1448620"/>
                  <a:ext cx="143099" cy="0"/>
                </a:xfrm>
                <a:prstGeom prst="line">
                  <a:avLst/>
                </a:prstGeom>
                <a:ln w="19050" cap="rnd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57" name="직사각형"/>
          <p:cNvSpPr/>
          <p:nvPr/>
        </p:nvSpPr>
        <p:spPr>
          <a:xfrm>
            <a:off x="2188744" y="2976570"/>
            <a:ext cx="5747934" cy="797167"/>
          </a:xfrm>
          <a:prstGeom prst="rect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cxnSp>
        <p:nvCxnSpPr>
          <p:cNvPr id="58" name="직선 연결선[R] 7"/>
          <p:cNvCxnSpPr/>
          <p:nvPr/>
        </p:nvCxnSpPr>
        <p:spPr>
          <a:xfrm>
            <a:off x="2297503" y="3666255"/>
            <a:ext cx="552412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9" name="직사각형"/>
          <p:cNvSpPr/>
          <p:nvPr/>
        </p:nvSpPr>
        <p:spPr>
          <a:xfrm rot="5400000">
            <a:off x="4863903" y="315058"/>
            <a:ext cx="396000" cy="5749550"/>
          </a:xfrm>
          <a:prstGeom prst="rect">
            <a:avLst/>
          </a:prstGeom>
          <a:solidFill>
            <a:schemeClr val="bg1">
              <a:lumMod val="50000"/>
              <a:alpha val="55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>
              <a:defRPr sz="2400">
                <a:solidFill>
                  <a:srgbClr val="FFFFFF"/>
                </a:solidFill>
              </a:defRPr>
            </a:pPr>
            <a:endParaRPr dirty="0">
              <a:latin typeface="+mn-ea"/>
              <a:ea typeface="+mn-ea"/>
            </a:endParaRPr>
          </a:p>
        </p:txBody>
      </p:sp>
      <p:sp>
        <p:nvSpPr>
          <p:cNvPr id="60" name="텍스트 상자 31"/>
          <p:cNvSpPr txBox="1"/>
          <p:nvPr/>
        </p:nvSpPr>
        <p:spPr>
          <a:xfrm>
            <a:off x="8534107" y="2762165"/>
            <a:ext cx="173124" cy="230832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>
              <a:lnSpc>
                <a:spcPct val="150000"/>
              </a:lnSpc>
              <a:spcAft>
                <a:spcPts val="200"/>
              </a:spcAft>
            </a:pPr>
            <a:r>
              <a:rPr kumimoji="1" lang="ko-KR" altLang="en-US" sz="1000" b="1" dirty="0" smtClean="0">
                <a:solidFill>
                  <a:srgbClr val="FF2F92"/>
                </a:solidFill>
                <a:latin typeface="+mn-ea"/>
                <a:ea typeface="+mn-ea"/>
              </a:rPr>
              <a:t>탭 </a:t>
            </a:r>
            <a:endParaRPr kumimoji="1" lang="en-US" altLang="ko-KR" sz="1000" b="1" dirty="0" smtClean="0">
              <a:solidFill>
                <a:srgbClr val="FF2F92"/>
              </a:solidFill>
              <a:latin typeface="+mn-ea"/>
              <a:ea typeface="+mn-ea"/>
            </a:endParaRPr>
          </a:p>
        </p:txBody>
      </p:sp>
      <p:sp>
        <p:nvSpPr>
          <p:cNvPr id="61" name="텍스트 상자 31"/>
          <p:cNvSpPr txBox="1"/>
          <p:nvPr/>
        </p:nvSpPr>
        <p:spPr>
          <a:xfrm>
            <a:off x="8534107" y="3012094"/>
            <a:ext cx="3382162" cy="13357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  <a:spcAft>
                <a:spcPts val="200"/>
              </a:spcAft>
            </a:pPr>
            <a:r>
              <a:rPr kumimoji="1"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그룹 내에서 제공되는 정보를 속성에 따라 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볼 수 있는 영역</a:t>
            </a:r>
            <a:endParaRPr kumimoji="1" lang="ko-KR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20000"/>
              </a:lnSpc>
              <a:spcAft>
                <a:spcPts val="200"/>
              </a:spcAft>
              <a:buFont typeface="Arial" charset="0"/>
              <a:buChar char="•"/>
            </a:pP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피드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사진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파일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멤버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일정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보고</a:t>
            </a:r>
          </a:p>
          <a:p>
            <a:pPr marL="171450" indent="-171450">
              <a:lnSpc>
                <a:spcPct val="120000"/>
              </a:lnSpc>
              <a:spcAft>
                <a:spcPts val="200"/>
              </a:spcAft>
              <a:buFont typeface="Arial" charset="0"/>
              <a:buChar char="•"/>
            </a:pP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파일 탭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: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해당 스퀘어 피드에 첨부된 파일 목록</a:t>
            </a:r>
            <a:endParaRPr kumimoji="1" lang="en-US" altLang="ko-KR" sz="8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20000"/>
              </a:lnSpc>
              <a:spcAft>
                <a:spcPts val="200"/>
              </a:spcAft>
              <a:buFont typeface="Arial" charset="0"/>
              <a:buChar char="•"/>
            </a:pPr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사진 탭 </a:t>
            </a:r>
            <a:r>
              <a:rPr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: </a:t>
            </a:r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사진 탭에서 등록된 사진 및 이미지를 </a:t>
            </a:r>
            <a:r>
              <a:rPr lang="ko-KR" altLang="en-US" sz="8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썸네일</a:t>
            </a:r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뷰로 제공</a:t>
            </a:r>
            <a:endParaRPr kumimoji="1" lang="ko-KR" altLang="en-US" sz="8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20000"/>
              </a:lnSpc>
              <a:spcAft>
                <a:spcPts val="200"/>
              </a:spcAft>
              <a:buFont typeface="Arial" charset="0"/>
              <a:buChar char="•"/>
            </a:pP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멤버 탭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: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해당 스퀘어에 소속된 멤버 주소록 리스트를 제공</a:t>
            </a:r>
          </a:p>
          <a:p>
            <a:pPr marL="171450" indent="-171450">
              <a:lnSpc>
                <a:spcPct val="120000"/>
              </a:lnSpc>
              <a:spcAft>
                <a:spcPts val="200"/>
              </a:spcAft>
              <a:buFont typeface="Arial" charset="0"/>
              <a:buChar char="•"/>
            </a:pP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일정 탭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: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해당 스퀘어에서 공유하는 일정을 캘린더뷰로 제공하며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,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공동 일정 생성 및 편집 가능</a:t>
            </a:r>
          </a:p>
          <a:p>
            <a:pPr marL="171450" indent="-171450">
              <a:lnSpc>
                <a:spcPct val="120000"/>
              </a:lnSpc>
              <a:spcAft>
                <a:spcPts val="200"/>
              </a:spcAft>
              <a:buFont typeface="Arial" charset="0"/>
              <a:buChar char="•"/>
            </a:pP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보고 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: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스퀘어 피드를 보고 형식에 맞게 올릴 수 있는 메뉴 </a:t>
            </a:r>
            <a:r>
              <a:rPr kumimoji="1" lang="en-US" altLang="ko-KR" sz="800" dirty="0" smtClean="0">
                <a:solidFill>
                  <a:srgbClr val="FF0000"/>
                </a:solidFill>
                <a:latin typeface="+mn-ea"/>
                <a:ea typeface="+mn-ea"/>
              </a:rPr>
              <a:t>(TBD)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62" name="꺾인 연결선[E] 7"/>
          <p:cNvCxnSpPr/>
          <p:nvPr/>
        </p:nvCxnSpPr>
        <p:spPr>
          <a:xfrm flipV="1">
            <a:off x="6306352" y="2869089"/>
            <a:ext cx="2149864" cy="525371"/>
          </a:xfrm>
          <a:prstGeom prst="bentConnector3">
            <a:avLst>
              <a:gd name="adj1" fmla="val 308"/>
            </a:avLst>
          </a:prstGeom>
          <a:ln w="15875">
            <a:solidFill>
              <a:srgbClr val="FF2F92"/>
            </a:solidFill>
            <a:prstDash val="dash"/>
            <a:headEnd type="oval" w="sm" len="sm"/>
            <a:tailEnd type="none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텍스트 상자 31"/>
          <p:cNvSpPr txBox="1"/>
          <p:nvPr/>
        </p:nvSpPr>
        <p:spPr>
          <a:xfrm>
            <a:off x="2194938" y="3904379"/>
            <a:ext cx="987450" cy="230832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>
              <a:lnSpc>
                <a:spcPct val="150000"/>
              </a:lnSpc>
              <a:spcAft>
                <a:spcPts val="200"/>
              </a:spcAft>
            </a:pPr>
            <a:r>
              <a:rPr kumimoji="1" lang="ko-KR" altLang="en-US" sz="1000" b="1" dirty="0" smtClean="0">
                <a:solidFill>
                  <a:srgbClr val="FF2F92"/>
                </a:solidFill>
                <a:latin typeface="+mn-ea"/>
                <a:ea typeface="+mn-ea"/>
              </a:rPr>
              <a:t>그룹 타이틀 영역</a:t>
            </a:r>
            <a:endParaRPr kumimoji="1" lang="en-US" altLang="ko-KR" sz="1000" b="1" dirty="0" smtClean="0">
              <a:solidFill>
                <a:srgbClr val="FF2F92"/>
              </a:solidFill>
              <a:latin typeface="+mn-ea"/>
              <a:ea typeface="+mn-ea"/>
            </a:endParaRPr>
          </a:p>
        </p:txBody>
      </p:sp>
      <p:sp>
        <p:nvSpPr>
          <p:cNvPr id="64" name="텍스트 상자 31"/>
          <p:cNvSpPr txBox="1"/>
          <p:nvPr/>
        </p:nvSpPr>
        <p:spPr>
          <a:xfrm>
            <a:off x="2189136" y="4154308"/>
            <a:ext cx="1583767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 타이틀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,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즐겨찾기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버튼 제공</a:t>
            </a:r>
          </a:p>
        </p:txBody>
      </p:sp>
      <p:cxnSp>
        <p:nvCxnSpPr>
          <p:cNvPr id="65" name="꺾인 연결선[E] 431"/>
          <p:cNvCxnSpPr/>
          <p:nvPr/>
        </p:nvCxnSpPr>
        <p:spPr>
          <a:xfrm rot="10800000" flipV="1">
            <a:off x="2194939" y="3541009"/>
            <a:ext cx="123591" cy="478785"/>
          </a:xfrm>
          <a:prstGeom prst="bentConnector3">
            <a:avLst>
              <a:gd name="adj1" fmla="val 284965"/>
            </a:avLst>
          </a:prstGeom>
          <a:ln w="15875">
            <a:solidFill>
              <a:srgbClr val="FF2F92"/>
            </a:solidFill>
            <a:prstDash val="dash"/>
            <a:headEnd type="oval" w="sm" len="sm"/>
            <a:tailEnd type="none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텍스트 상자 31"/>
          <p:cNvSpPr txBox="1"/>
          <p:nvPr/>
        </p:nvSpPr>
        <p:spPr>
          <a:xfrm>
            <a:off x="2512955" y="3471584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9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67" name="5-Point Star 179"/>
          <p:cNvSpPr>
            <a:spLocks noChangeAspect="1"/>
          </p:cNvSpPr>
          <p:nvPr/>
        </p:nvSpPr>
        <p:spPr>
          <a:xfrm>
            <a:off x="2361963" y="3492410"/>
            <a:ext cx="90000" cy="90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chemeClr val="tx1">
              <a:lumMod val="50000"/>
              <a:lumOff val="50000"/>
            </a:schemeClr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Rectangle 176"/>
          <p:cNvSpPr/>
          <p:nvPr/>
        </p:nvSpPr>
        <p:spPr>
          <a:xfrm>
            <a:off x="3663426" y="3422609"/>
            <a:ext cx="3373446" cy="243646"/>
          </a:xfrm>
          <a:prstGeom prst="rect">
            <a:avLst/>
          </a:prstGeom>
          <a:solidFill>
            <a:srgbClr val="FF2F92">
              <a:alpha val="29804"/>
            </a:srgbClr>
          </a:solidFill>
          <a:ln w="15875">
            <a:noFill/>
            <a:prstDash val="dash"/>
            <a:headEnd type="oval" w="sm" len="sm"/>
            <a:tailEnd type="none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6" name="AutoShape 63"/>
          <p:cNvSpPr>
            <a:spLocks/>
          </p:cNvSpPr>
          <p:nvPr/>
        </p:nvSpPr>
        <p:spPr bwMode="auto">
          <a:xfrm>
            <a:off x="540692" y="1219903"/>
            <a:ext cx="1049007" cy="23083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599"/>
                </a:lnTo>
                <a:lnTo>
                  <a:pt x="0" y="21599"/>
                </a:lnTo>
                <a:close/>
              </a:path>
            </a:pathLst>
          </a:cu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</a:bodyPr>
          <a:lstStyle/>
          <a:p>
            <a:pPr marL="133350" indent="-133350" defTabSz="457200"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000" b="1" dirty="0" smtClean="0">
                <a:latin typeface="+mn-ea"/>
                <a:ea typeface="+mn-ea"/>
              </a:rPr>
              <a:t>스퀘어 메인</a:t>
            </a:r>
            <a:endParaRPr lang="ko-KR" altLang="en-US" sz="1000" b="1" dirty="0">
              <a:latin typeface="+mn-ea"/>
              <a:ea typeface="+mn-ea"/>
            </a:endParaRPr>
          </a:p>
        </p:txBody>
      </p:sp>
      <p:sp>
        <p:nvSpPr>
          <p:cNvPr id="77" name="AutoShape 63"/>
          <p:cNvSpPr>
            <a:spLocks/>
          </p:cNvSpPr>
          <p:nvPr/>
        </p:nvSpPr>
        <p:spPr bwMode="auto">
          <a:xfrm>
            <a:off x="540692" y="2977138"/>
            <a:ext cx="1341988" cy="23083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599"/>
                </a:lnTo>
                <a:lnTo>
                  <a:pt x="0" y="21599"/>
                </a:lnTo>
                <a:close/>
              </a:path>
            </a:pathLst>
          </a:cu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</a:bodyPr>
          <a:lstStyle/>
          <a:p>
            <a:pPr marL="133350" indent="-133350" defTabSz="457200"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000" b="1" dirty="0" smtClean="0">
                <a:latin typeface="+mn-ea"/>
                <a:ea typeface="+mn-ea"/>
              </a:rPr>
              <a:t>그룹 상세 페이지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78" name="꺾인 연결선[E] 7"/>
          <p:cNvCxnSpPr>
            <a:endCxn id="29" idx="0"/>
          </p:cNvCxnSpPr>
          <p:nvPr/>
        </p:nvCxnSpPr>
        <p:spPr>
          <a:xfrm>
            <a:off x="7731487" y="1773667"/>
            <a:ext cx="1066944" cy="347914"/>
          </a:xfrm>
          <a:prstGeom prst="bentConnector2">
            <a:avLst/>
          </a:prstGeom>
          <a:ln w="15875">
            <a:solidFill>
              <a:srgbClr val="FF2F92"/>
            </a:solidFill>
            <a:prstDash val="dash"/>
            <a:headEnd type="oval" w="sm" len="sm"/>
            <a:tailEnd type="none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Freeform 32"/>
          <p:cNvSpPr>
            <a:spLocks noChangeAspect="1" noChangeArrowheads="1"/>
          </p:cNvSpPr>
          <p:nvPr/>
        </p:nvSpPr>
        <p:spPr bwMode="auto">
          <a:xfrm>
            <a:off x="7610669" y="1738879"/>
            <a:ext cx="90979" cy="90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06" name="Freeform 32"/>
          <p:cNvSpPr>
            <a:spLocks noChangeAspect="1" noChangeArrowheads="1"/>
          </p:cNvSpPr>
          <p:nvPr/>
        </p:nvSpPr>
        <p:spPr bwMode="auto">
          <a:xfrm>
            <a:off x="7634301" y="3495597"/>
            <a:ext cx="108000" cy="106838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3578754" y="3487603"/>
            <a:ext cx="3602514" cy="176117"/>
            <a:chOff x="3578754" y="3487603"/>
            <a:chExt cx="3602514" cy="176117"/>
          </a:xfrm>
        </p:grpSpPr>
        <p:sp>
          <p:nvSpPr>
            <p:cNvPr id="69" name="텍스트 상자 31"/>
            <p:cNvSpPr txBox="1"/>
            <p:nvPr/>
          </p:nvSpPr>
          <p:spPr>
            <a:xfrm>
              <a:off x="4024524" y="3487603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70" name="텍스트 상자 31"/>
            <p:cNvSpPr txBox="1"/>
            <p:nvPr/>
          </p:nvSpPr>
          <p:spPr>
            <a:xfrm>
              <a:off x="3578754" y="3492305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71" name="직선 연결선[R] 7"/>
            <p:cNvCxnSpPr/>
            <p:nvPr/>
          </p:nvCxnSpPr>
          <p:spPr>
            <a:xfrm>
              <a:off x="3790383" y="3663720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07" name="텍스트 상자 31"/>
            <p:cNvSpPr txBox="1"/>
            <p:nvPr/>
          </p:nvSpPr>
          <p:spPr>
            <a:xfrm>
              <a:off x="4483813" y="3498384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8" name="텍스트 상자 31"/>
            <p:cNvSpPr txBox="1"/>
            <p:nvPr/>
          </p:nvSpPr>
          <p:spPr>
            <a:xfrm>
              <a:off x="4934985" y="3498384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9" name="텍스트 상자 31"/>
            <p:cNvSpPr txBox="1"/>
            <p:nvPr/>
          </p:nvSpPr>
          <p:spPr>
            <a:xfrm>
              <a:off x="5386147" y="3498384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10" name="텍스트 상자 31"/>
            <p:cNvSpPr txBox="1"/>
            <p:nvPr/>
          </p:nvSpPr>
          <p:spPr>
            <a:xfrm>
              <a:off x="5837309" y="3498384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11" name="텍스트 상자 31"/>
            <p:cNvSpPr txBox="1"/>
            <p:nvPr/>
          </p:nvSpPr>
          <p:spPr>
            <a:xfrm>
              <a:off x="6280160" y="3498384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76225" y="133350"/>
            <a:ext cx="1653264" cy="31892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메뉴 타이틀 영역</a:t>
            </a:r>
            <a:endParaRPr lang="ko-KR" altLang="en-US" sz="16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9674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79"/>
          <p:cNvSpPr/>
          <p:nvPr/>
        </p:nvSpPr>
        <p:spPr>
          <a:xfrm>
            <a:off x="452360" y="895055"/>
            <a:ext cx="4896000" cy="163709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" name="텍스트 상자 31"/>
          <p:cNvSpPr txBox="1"/>
          <p:nvPr/>
        </p:nvSpPr>
        <p:spPr>
          <a:xfrm>
            <a:off x="910020" y="1016069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6" name="그룹 400"/>
          <p:cNvGrpSpPr/>
          <p:nvPr/>
        </p:nvGrpSpPr>
        <p:grpSpPr>
          <a:xfrm>
            <a:off x="567228" y="1005600"/>
            <a:ext cx="229236" cy="229194"/>
            <a:chOff x="2625629" y="3735853"/>
            <a:chExt cx="276891" cy="276839"/>
          </a:xfrm>
        </p:grpSpPr>
        <p:sp>
          <p:nvSpPr>
            <p:cNvPr id="7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8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9" name="텍스트 상자 31"/>
          <p:cNvSpPr txBox="1"/>
          <p:nvPr/>
        </p:nvSpPr>
        <p:spPr>
          <a:xfrm>
            <a:off x="910020" y="114238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" name="텍스트 상자 31"/>
          <p:cNvSpPr txBox="1"/>
          <p:nvPr/>
        </p:nvSpPr>
        <p:spPr>
          <a:xfrm>
            <a:off x="567228" y="1322506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700" b="1" dirty="0" smtClean="0">
                <a:latin typeface="+mn-ea"/>
                <a:ea typeface="+mn-ea"/>
              </a:rPr>
              <a:t>[EGW </a:t>
            </a:r>
            <a:r>
              <a:rPr lang="ko-KR" altLang="en-US" sz="700" b="1" dirty="0" err="1" smtClean="0">
                <a:latin typeface="+mn-ea"/>
                <a:ea typeface="+mn-ea"/>
              </a:rPr>
              <a:t>화면설계</a:t>
            </a:r>
            <a:r>
              <a:rPr lang="en-US" altLang="ko-KR" sz="700" b="1" dirty="0" smtClean="0">
                <a:latin typeface="+mn-ea"/>
                <a:ea typeface="+mn-ea"/>
              </a:rPr>
              <a:t> </a:t>
            </a:r>
            <a:r>
              <a:rPr lang="ko-KR" altLang="en-US" sz="700" b="1" dirty="0" smtClean="0">
                <a:latin typeface="+mn-ea"/>
                <a:ea typeface="+mn-ea"/>
              </a:rPr>
              <a:t>관련 리뷰</a:t>
            </a:r>
            <a:r>
              <a:rPr lang="en-US" altLang="ko-KR" sz="700" b="1" dirty="0">
                <a:latin typeface="+mn-ea"/>
                <a:ea typeface="+mn-ea"/>
              </a:rPr>
              <a:t> </a:t>
            </a:r>
            <a:r>
              <a:rPr lang="en-US" altLang="ko-KR" sz="700" b="1" dirty="0" smtClean="0">
                <a:latin typeface="+mn-ea"/>
                <a:ea typeface="+mn-ea"/>
              </a:rPr>
              <a:t>2017-09-25]</a:t>
            </a:r>
            <a:endParaRPr kumimoji="1" lang="ko-KR" altLang="en-US" sz="700" dirty="0">
              <a:latin typeface="+mn-ea"/>
              <a:ea typeface="+mn-ea"/>
            </a:endParaRPr>
          </a:p>
        </p:txBody>
      </p:sp>
      <p:sp>
        <p:nvSpPr>
          <p:cNvPr id="11" name="Freeform 26"/>
          <p:cNvSpPr>
            <a:spLocks noChangeAspect="1" noChangeArrowheads="1"/>
          </p:cNvSpPr>
          <p:nvPr/>
        </p:nvSpPr>
        <p:spPr bwMode="auto">
          <a:xfrm flipH="1">
            <a:off x="5215289" y="1020351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12" name="직선 연결선[R] 33"/>
          <p:cNvCxnSpPr/>
          <p:nvPr/>
        </p:nvCxnSpPr>
        <p:spPr>
          <a:xfrm>
            <a:off x="541022" y="227418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Freeform 25"/>
          <p:cNvSpPr>
            <a:spLocks noChangeAspect="1" noEditPoints="1"/>
          </p:cNvSpPr>
          <p:nvPr/>
        </p:nvSpPr>
        <p:spPr bwMode="auto">
          <a:xfrm>
            <a:off x="5023767" y="1015930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4" name="텍스트 상자 31"/>
          <p:cNvSpPr txBox="1"/>
          <p:nvPr/>
        </p:nvSpPr>
        <p:spPr>
          <a:xfrm>
            <a:off x="546593" y="1452605"/>
            <a:ext cx="2800791" cy="48546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EGW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공통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component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정의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화면설계 고도화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EGW WBS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업데이트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553885" y="2006923"/>
            <a:ext cx="666833" cy="177213"/>
            <a:chOff x="541106" y="4019222"/>
            <a:chExt cx="666833" cy="177213"/>
          </a:xfrm>
        </p:grpSpPr>
        <p:sp>
          <p:nvSpPr>
            <p:cNvPr id="16" name="Rounded Rectangle 133"/>
            <p:cNvSpPr/>
            <p:nvPr/>
          </p:nvSpPr>
          <p:spPr>
            <a:xfrm>
              <a:off x="541106" y="4019222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5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7" name="Group 1"/>
            <p:cNvGrpSpPr/>
            <p:nvPr/>
          </p:nvGrpSpPr>
          <p:grpSpPr>
            <a:xfrm>
              <a:off x="714374" y="4055826"/>
              <a:ext cx="493565" cy="107722"/>
              <a:chOff x="2459064" y="3489248"/>
              <a:chExt cx="493565" cy="107722"/>
            </a:xfrm>
          </p:grpSpPr>
          <p:sp>
            <p:nvSpPr>
              <p:cNvPr id="19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/>
              </a:p>
            </p:txBody>
          </p:sp>
          <p:sp>
            <p:nvSpPr>
              <p:cNvPr id="20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파일 </a:t>
                </a:r>
                <a:r>
                  <a:rPr kumimoji="1" lang="en-US" altLang="ko-KR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5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endParaRPr>
              </a:p>
            </p:txBody>
          </p:sp>
        </p:grpSp>
        <p:sp>
          <p:nvSpPr>
            <p:cNvPr id="18" name="Freeform 24"/>
            <p:cNvSpPr>
              <a:spLocks noChangeAspect="1" noChangeArrowheads="1"/>
            </p:cNvSpPr>
            <p:nvPr/>
          </p:nvSpPr>
          <p:spPr bwMode="auto">
            <a:xfrm flipV="1">
              <a:off x="598696" y="4095936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452360" y="2538476"/>
            <a:ext cx="4896001" cy="850249"/>
            <a:chOff x="1963754" y="2862685"/>
            <a:chExt cx="4896001" cy="850249"/>
          </a:xfrm>
        </p:grpSpPr>
        <p:sp>
          <p:nvSpPr>
            <p:cNvPr id="22" name="Rectangle 231"/>
            <p:cNvSpPr/>
            <p:nvPr/>
          </p:nvSpPr>
          <p:spPr>
            <a:xfrm>
              <a:off x="1963754" y="2862685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23" name="Group 7"/>
            <p:cNvGrpSpPr/>
            <p:nvPr/>
          </p:nvGrpSpPr>
          <p:grpSpPr>
            <a:xfrm>
              <a:off x="2078622" y="3259861"/>
              <a:ext cx="1612396" cy="251758"/>
              <a:chOff x="2478168" y="4010217"/>
              <a:chExt cx="1612396" cy="254004"/>
            </a:xfrm>
          </p:grpSpPr>
          <p:sp>
            <p:nvSpPr>
              <p:cNvPr id="32" name="텍스트 상자 31"/>
              <p:cNvSpPr txBox="1"/>
              <p:nvPr/>
            </p:nvSpPr>
            <p:spPr>
              <a:xfrm>
                <a:off x="2820960" y="4016255"/>
                <a:ext cx="1269604" cy="2479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33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35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36" name="Picture 157" descr="man-user (1).png"/>
                <p:cNvPicPr>
                  <a:picLocks noChangeAspect="1"/>
                </p:cNvPicPr>
                <p:nvPr/>
              </p:nvPicPr>
              <p:blipFill>
                <a:blip r:embed="rId3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34" name="텍스트 상자 31"/>
              <p:cNvSpPr txBox="1"/>
              <p:nvPr/>
            </p:nvSpPr>
            <p:spPr>
              <a:xfrm>
                <a:off x="3140726" y="4010217"/>
                <a:ext cx="598778" cy="11754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4" name="직선 연결선[R] 33"/>
            <p:cNvCxnSpPr/>
            <p:nvPr/>
          </p:nvCxnSpPr>
          <p:spPr>
            <a:xfrm>
              <a:off x="2052416" y="3189083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Rectangle 313"/>
            <p:cNvSpPr/>
            <p:nvPr/>
          </p:nvSpPr>
          <p:spPr>
            <a:xfrm>
              <a:off x="1963755" y="3580647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26" name="텍스트 상자 31"/>
            <p:cNvSpPr txBox="1"/>
            <p:nvPr/>
          </p:nvSpPr>
          <p:spPr>
            <a:xfrm>
              <a:off x="4141390" y="3594443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개 모두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7" name="Rectangle 321"/>
            <p:cNvSpPr/>
            <p:nvPr/>
          </p:nvSpPr>
          <p:spPr>
            <a:xfrm>
              <a:off x="2064079" y="2937144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2132955" y="2990868"/>
              <a:ext cx="7674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의견을 입력하세요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9" name="Rounded Rectangle 616"/>
            <p:cNvSpPr/>
            <p:nvPr/>
          </p:nvSpPr>
          <p:spPr>
            <a:xfrm>
              <a:off x="6379294" y="2945406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30" name="Freeform 17"/>
            <p:cNvSpPr>
              <a:spLocks noChangeArrowheads="1"/>
            </p:cNvSpPr>
            <p:nvPr/>
          </p:nvSpPr>
          <p:spPr bwMode="auto">
            <a:xfrm>
              <a:off x="5951279" y="2979736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31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300" y="2979736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8" name="그룹 37"/>
          <p:cNvGrpSpPr/>
          <p:nvPr/>
        </p:nvGrpSpPr>
        <p:grpSpPr>
          <a:xfrm>
            <a:off x="543314" y="2333151"/>
            <a:ext cx="936609" cy="115755"/>
            <a:chOff x="2054708" y="2657360"/>
            <a:chExt cx="936609" cy="115755"/>
          </a:xfrm>
        </p:grpSpPr>
        <p:sp>
          <p:nvSpPr>
            <p:cNvPr id="39" name="Freeform 739"/>
            <p:cNvSpPr>
              <a:spLocks noChangeAspect="1"/>
            </p:cNvSpPr>
            <p:nvPr/>
          </p:nvSpPr>
          <p:spPr>
            <a:xfrm>
              <a:off x="2054708" y="2665115"/>
              <a:ext cx="97509" cy="1080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rgbClr val="FFC000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" name="그룹 39"/>
            <p:cNvGrpSpPr/>
            <p:nvPr/>
          </p:nvGrpSpPr>
          <p:grpSpPr>
            <a:xfrm>
              <a:off x="2195181" y="2657360"/>
              <a:ext cx="796136" cy="115755"/>
              <a:chOff x="2195181" y="2841183"/>
              <a:chExt cx="796136" cy="115755"/>
            </a:xfrm>
          </p:grpSpPr>
          <p:grpSp>
            <p:nvGrpSpPr>
              <p:cNvPr id="41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43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50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51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44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45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46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47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8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9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42" name="그림 41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</p:grpSp>
      <p:sp>
        <p:nvSpPr>
          <p:cNvPr id="53" name="모서리가 둥근 직사각형 52"/>
          <p:cNvSpPr/>
          <p:nvPr/>
        </p:nvSpPr>
        <p:spPr>
          <a:xfrm>
            <a:off x="838200" y="1143000"/>
            <a:ext cx="590550" cy="133350"/>
          </a:xfrm>
          <a:prstGeom prst="roundRect">
            <a:avLst>
              <a:gd name="adj" fmla="val 993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모서리가 둥근 직사각형 53"/>
          <p:cNvSpPr/>
          <p:nvPr/>
        </p:nvSpPr>
        <p:spPr>
          <a:xfrm>
            <a:off x="1199606" y="2930870"/>
            <a:ext cx="352900" cy="133350"/>
          </a:xfrm>
          <a:prstGeom prst="roundRect">
            <a:avLst>
              <a:gd name="adj" fmla="val 993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/>
          <p:cNvSpPr txBox="1"/>
          <p:nvPr/>
        </p:nvSpPr>
        <p:spPr>
          <a:xfrm>
            <a:off x="5600700" y="885805"/>
            <a:ext cx="123488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228600" indent="-228600">
              <a:buFont typeface="+mj-ea"/>
              <a:buAutoNum type="circleNumDbPlain"/>
            </a:pP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본문 시간 표기 방식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57" name="표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0854716"/>
              </p:ext>
            </p:extLst>
          </p:nvPr>
        </p:nvGraphicFramePr>
        <p:xfrm>
          <a:off x="5638800" y="1184223"/>
          <a:ext cx="4048125" cy="2221040"/>
        </p:xfrm>
        <a:graphic>
          <a:graphicData uri="http://schemas.openxmlformats.org/drawingml/2006/table">
            <a:tbl>
              <a:tblPr/>
              <a:tblGrid>
                <a:gridCol w="838200">
                  <a:extLst>
                    <a:ext uri="{9D8B030D-6E8A-4147-A177-3AD203B41FA5}">
                      <a16:colId xmlns:a16="http://schemas.microsoft.com/office/drawing/2014/main" val="2725728518"/>
                    </a:ext>
                  </a:extLst>
                </a:gridCol>
                <a:gridCol w="3209925">
                  <a:extLst>
                    <a:ext uri="{9D8B030D-6E8A-4147-A177-3AD203B41FA5}">
                      <a16:colId xmlns:a16="http://schemas.microsoft.com/office/drawing/2014/main" val="2596680306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표기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설명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16959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mtClean="0">
                          <a:latin typeface="+mn-ea"/>
                          <a:ea typeface="+mn-ea"/>
                          <a:cs typeface="Nanum Gothic" charset="-127"/>
                        </a:rPr>
                        <a:t>방금 전</a:t>
                      </a:r>
                      <a:endParaRPr lang="ko-KR" altLang="en-US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현재로부터 </a:t>
                      </a:r>
                      <a:r>
                        <a:rPr lang="en-US" altLang="ko-KR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이내 작성된 글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441811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N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  <a:cs typeface="Nanum Gothic" charset="-127"/>
                        </a:rPr>
                        <a:t>분 전</a:t>
                      </a:r>
                      <a:endParaRPr lang="ko-KR" altLang="en-US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현재로부터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이내 작성된 글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(1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전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~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59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전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단위로 표기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5610875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N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시간 전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이후부터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24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이내 작성된 글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(1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전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~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23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전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단위로 표기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0618142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MM.DD</a:t>
                      </a:r>
                      <a:endParaRPr lang="ko-KR" altLang="en-US" sz="800" strike="sngStrike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24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이후에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작성된 글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시간표기 표준 룰을 따름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068113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YYYY.MM.DD</a:t>
                      </a:r>
                      <a:endParaRPr lang="ko-KR" altLang="en-US" sz="800" strike="sngStrike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년도가 변경될 경우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7262625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5562600" y="3590450"/>
            <a:ext cx="123488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228600" indent="-228600">
              <a:buFont typeface="+mj-ea"/>
              <a:buAutoNum type="circleNumDbPlain" startAt="2"/>
            </a:pP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댓글 시간 표기 방식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59" name="표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7431379"/>
              </p:ext>
            </p:extLst>
          </p:nvPr>
        </p:nvGraphicFramePr>
        <p:xfrm>
          <a:off x="5600700" y="3888868"/>
          <a:ext cx="4724400" cy="2221040"/>
        </p:xfrm>
        <a:graphic>
          <a:graphicData uri="http://schemas.openxmlformats.org/drawingml/2006/table">
            <a:tbl>
              <a:tblPr/>
              <a:tblGrid>
                <a:gridCol w="1411762">
                  <a:extLst>
                    <a:ext uri="{9D8B030D-6E8A-4147-A177-3AD203B41FA5}">
                      <a16:colId xmlns:a16="http://schemas.microsoft.com/office/drawing/2014/main" val="2725728518"/>
                    </a:ext>
                  </a:extLst>
                </a:gridCol>
                <a:gridCol w="3312638">
                  <a:extLst>
                    <a:ext uri="{9D8B030D-6E8A-4147-A177-3AD203B41FA5}">
                      <a16:colId xmlns:a16="http://schemas.microsoft.com/office/drawing/2014/main" val="2596680306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표기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설명</a:t>
                      </a:r>
                      <a:endParaRPr lang="ko-KR" altLang="en-US" sz="8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46800" marR="46800" marT="504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16959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mtClean="0">
                          <a:latin typeface="+mn-ea"/>
                          <a:ea typeface="+mn-ea"/>
                          <a:cs typeface="Nanum Gothic" charset="-127"/>
                        </a:rPr>
                        <a:t>방금 전</a:t>
                      </a:r>
                      <a:endParaRPr lang="ko-KR" altLang="en-US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현재로부터 </a:t>
                      </a:r>
                      <a:r>
                        <a:rPr lang="en-US" altLang="ko-KR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이내 작성된 글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5658976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N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  <a:cs typeface="Nanum Gothic" charset="-127"/>
                        </a:rPr>
                        <a:t>분 전</a:t>
                      </a:r>
                      <a:endParaRPr lang="ko-KR" altLang="en-US" sz="8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현재로부터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이내 작성된 글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(1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전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~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59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전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분 단위로 표기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5610875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N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시간 전</a:t>
                      </a: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이후부터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24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이내 작성된 글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(1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전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~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23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전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단위로 표기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0618142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MM.DD hh:mm</a:t>
                      </a:r>
                      <a:endParaRPr lang="ko-KR" altLang="en-US" sz="800" strike="sngStrike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24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 이후에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작성된 글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시간표기 표준 룰을 따름</a:t>
                      </a: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068113"/>
                  </a:ext>
                </a:extLst>
              </a:tr>
              <a:tr h="168329"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YYYY.MM.DD hh:mm</a:t>
                      </a:r>
                      <a:endParaRPr lang="ko-KR" altLang="en-US" sz="800" strike="sngStrike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indent="-8255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년도가 변경될 경우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46800" marR="46800" marT="50400" marB="50800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7262625"/>
                  </a:ext>
                </a:extLst>
              </a:tr>
            </a:tbl>
          </a:graphicData>
        </a:graphic>
      </p:graphicFrame>
      <p:sp>
        <p:nvSpPr>
          <p:cNvPr id="60" name="타원 59"/>
          <p:cNvSpPr/>
          <p:nvPr/>
        </p:nvSpPr>
        <p:spPr>
          <a:xfrm>
            <a:off x="743989" y="1037587"/>
            <a:ext cx="161925" cy="164759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smtClean="0"/>
              <a:t>1</a:t>
            </a:r>
            <a:endParaRPr lang="ko-KR" altLang="en-US" sz="800"/>
          </a:p>
        </p:txBody>
      </p:sp>
      <p:sp>
        <p:nvSpPr>
          <p:cNvPr id="61" name="타원 60"/>
          <p:cNvSpPr/>
          <p:nvPr/>
        </p:nvSpPr>
        <p:spPr>
          <a:xfrm>
            <a:off x="1088967" y="2823437"/>
            <a:ext cx="161925" cy="164759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smtClean="0"/>
              <a:t>2</a:t>
            </a:r>
            <a:endParaRPr lang="ko-KR" altLang="en-US" sz="800"/>
          </a:p>
        </p:txBody>
      </p:sp>
      <p:sp>
        <p:nvSpPr>
          <p:cNvPr id="62" name="TextBox 61"/>
          <p:cNvSpPr txBox="1"/>
          <p:nvPr/>
        </p:nvSpPr>
        <p:spPr>
          <a:xfrm>
            <a:off x="276225" y="133350"/>
            <a:ext cx="2841090" cy="31892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컨텐츠 날짜</a:t>
            </a:r>
            <a:r>
              <a:rPr lang="en-US" altLang="ko-KR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시간 표기 가이드</a:t>
            </a:r>
            <a:endParaRPr lang="ko-KR" altLang="en-US" sz="16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7628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79"/>
          <p:cNvSpPr/>
          <p:nvPr/>
        </p:nvSpPr>
        <p:spPr>
          <a:xfrm>
            <a:off x="452360" y="895055"/>
            <a:ext cx="4896000" cy="163709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" name="텍스트 상자 31"/>
          <p:cNvSpPr txBox="1"/>
          <p:nvPr/>
        </p:nvSpPr>
        <p:spPr>
          <a:xfrm>
            <a:off x="910020" y="1008375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   </a:t>
            </a:r>
            <a:r>
              <a:rPr kumimoji="1" lang="en-US" altLang="ko-KR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  </a:t>
            </a:r>
            <a:r>
              <a:rPr kumimoji="1" lang="en-US" altLang="ko-KR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8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6" name="그룹 400"/>
          <p:cNvGrpSpPr/>
          <p:nvPr/>
        </p:nvGrpSpPr>
        <p:grpSpPr>
          <a:xfrm>
            <a:off x="567228" y="1005600"/>
            <a:ext cx="229236" cy="229194"/>
            <a:chOff x="2625629" y="3735853"/>
            <a:chExt cx="276891" cy="276839"/>
          </a:xfrm>
        </p:grpSpPr>
        <p:sp>
          <p:nvSpPr>
            <p:cNvPr id="7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8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9" name="텍스트 상자 31"/>
          <p:cNvSpPr txBox="1"/>
          <p:nvPr/>
        </p:nvSpPr>
        <p:spPr>
          <a:xfrm>
            <a:off x="902494" y="118624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" name="텍스트 상자 31"/>
          <p:cNvSpPr txBox="1"/>
          <p:nvPr/>
        </p:nvSpPr>
        <p:spPr>
          <a:xfrm>
            <a:off x="567228" y="1322506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700" b="1" dirty="0" smtClean="0">
                <a:latin typeface="+mn-ea"/>
                <a:ea typeface="+mn-ea"/>
              </a:rPr>
              <a:t>[EGW </a:t>
            </a:r>
            <a:r>
              <a:rPr lang="ko-KR" altLang="en-US" sz="700" b="1" dirty="0" err="1" smtClean="0">
                <a:latin typeface="+mn-ea"/>
                <a:ea typeface="+mn-ea"/>
              </a:rPr>
              <a:t>화면설계</a:t>
            </a:r>
            <a:r>
              <a:rPr lang="en-US" altLang="ko-KR" sz="700" b="1" dirty="0" smtClean="0">
                <a:latin typeface="+mn-ea"/>
                <a:ea typeface="+mn-ea"/>
              </a:rPr>
              <a:t> </a:t>
            </a:r>
            <a:r>
              <a:rPr lang="ko-KR" altLang="en-US" sz="700" b="1" dirty="0" smtClean="0">
                <a:latin typeface="+mn-ea"/>
                <a:ea typeface="+mn-ea"/>
              </a:rPr>
              <a:t>관련 리뷰</a:t>
            </a:r>
            <a:r>
              <a:rPr lang="en-US" altLang="ko-KR" sz="700" b="1" dirty="0">
                <a:latin typeface="+mn-ea"/>
                <a:ea typeface="+mn-ea"/>
              </a:rPr>
              <a:t> </a:t>
            </a:r>
            <a:r>
              <a:rPr lang="en-US" altLang="ko-KR" sz="700" b="1" dirty="0" smtClean="0">
                <a:latin typeface="+mn-ea"/>
                <a:ea typeface="+mn-ea"/>
              </a:rPr>
              <a:t>2017-09-25]</a:t>
            </a:r>
            <a:endParaRPr kumimoji="1" lang="ko-KR" altLang="en-US" sz="700" dirty="0">
              <a:latin typeface="+mn-ea"/>
              <a:ea typeface="+mn-ea"/>
            </a:endParaRPr>
          </a:p>
        </p:txBody>
      </p:sp>
      <p:sp>
        <p:nvSpPr>
          <p:cNvPr id="11" name="Freeform 26"/>
          <p:cNvSpPr>
            <a:spLocks noChangeAspect="1" noChangeArrowheads="1"/>
          </p:cNvSpPr>
          <p:nvPr/>
        </p:nvSpPr>
        <p:spPr bwMode="auto">
          <a:xfrm flipH="1">
            <a:off x="5215289" y="1020351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12" name="직선 연결선[R] 33"/>
          <p:cNvCxnSpPr/>
          <p:nvPr/>
        </p:nvCxnSpPr>
        <p:spPr>
          <a:xfrm>
            <a:off x="541022" y="227418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Freeform 25"/>
          <p:cNvSpPr>
            <a:spLocks noChangeAspect="1" noEditPoints="1"/>
          </p:cNvSpPr>
          <p:nvPr/>
        </p:nvSpPr>
        <p:spPr bwMode="auto">
          <a:xfrm>
            <a:off x="5023767" y="1015930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4" name="텍스트 상자 31"/>
          <p:cNvSpPr txBox="1"/>
          <p:nvPr/>
        </p:nvSpPr>
        <p:spPr>
          <a:xfrm>
            <a:off x="546593" y="1452605"/>
            <a:ext cx="2800791" cy="48546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EGW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공통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component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정의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화면설계 고도화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EGW WBS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업데이트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553885" y="2006923"/>
            <a:ext cx="666833" cy="177213"/>
            <a:chOff x="541106" y="4019222"/>
            <a:chExt cx="666833" cy="177213"/>
          </a:xfrm>
        </p:grpSpPr>
        <p:sp>
          <p:nvSpPr>
            <p:cNvPr id="16" name="Rounded Rectangle 133"/>
            <p:cNvSpPr/>
            <p:nvPr/>
          </p:nvSpPr>
          <p:spPr>
            <a:xfrm>
              <a:off x="541106" y="4019222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5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7" name="Group 1"/>
            <p:cNvGrpSpPr/>
            <p:nvPr/>
          </p:nvGrpSpPr>
          <p:grpSpPr>
            <a:xfrm>
              <a:off x="714374" y="4055826"/>
              <a:ext cx="493565" cy="107722"/>
              <a:chOff x="2459064" y="3489248"/>
              <a:chExt cx="493565" cy="107722"/>
            </a:xfrm>
          </p:grpSpPr>
          <p:sp>
            <p:nvSpPr>
              <p:cNvPr id="19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/>
              </a:p>
            </p:txBody>
          </p:sp>
          <p:sp>
            <p:nvSpPr>
              <p:cNvPr id="20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파일 </a:t>
                </a:r>
                <a:r>
                  <a:rPr kumimoji="1" lang="en-US" altLang="ko-KR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5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endParaRPr>
              </a:p>
            </p:txBody>
          </p:sp>
        </p:grpSp>
        <p:sp>
          <p:nvSpPr>
            <p:cNvPr id="18" name="Freeform 24"/>
            <p:cNvSpPr>
              <a:spLocks noChangeAspect="1" noChangeArrowheads="1"/>
            </p:cNvSpPr>
            <p:nvPr/>
          </p:nvSpPr>
          <p:spPr bwMode="auto">
            <a:xfrm flipV="1">
              <a:off x="598696" y="4095936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452360" y="2538476"/>
            <a:ext cx="4896001" cy="850249"/>
            <a:chOff x="1963754" y="2862685"/>
            <a:chExt cx="4896001" cy="850249"/>
          </a:xfrm>
        </p:grpSpPr>
        <p:sp>
          <p:nvSpPr>
            <p:cNvPr id="22" name="Rectangle 231"/>
            <p:cNvSpPr/>
            <p:nvPr/>
          </p:nvSpPr>
          <p:spPr>
            <a:xfrm>
              <a:off x="1963754" y="2862685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23" name="Group 7"/>
            <p:cNvGrpSpPr/>
            <p:nvPr/>
          </p:nvGrpSpPr>
          <p:grpSpPr>
            <a:xfrm>
              <a:off x="2078622" y="3237571"/>
              <a:ext cx="1612396" cy="302327"/>
              <a:chOff x="2478168" y="3987726"/>
              <a:chExt cx="1612396" cy="305024"/>
            </a:xfrm>
          </p:grpSpPr>
          <p:sp>
            <p:nvSpPr>
              <p:cNvPr id="32" name="텍스트 상자 31"/>
              <p:cNvSpPr txBox="1"/>
              <p:nvPr/>
            </p:nvSpPr>
            <p:spPr>
              <a:xfrm>
                <a:off x="2820960" y="3987726"/>
                <a:ext cx="1269604" cy="30502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ko-KR" altLang="en-US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50000"/>
                  </a:lnSpc>
                </a:pP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33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35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36" name="Picture 157" descr="man-user (1).png"/>
                <p:cNvPicPr>
                  <a:picLocks noChangeAspect="1"/>
                </p:cNvPicPr>
                <p:nvPr/>
              </p:nvPicPr>
              <p:blipFill>
                <a:blip r:embed="rId3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34" name="텍스트 상자 31"/>
              <p:cNvSpPr txBox="1"/>
              <p:nvPr/>
            </p:nvSpPr>
            <p:spPr>
              <a:xfrm>
                <a:off x="3208459" y="3998827"/>
                <a:ext cx="598778" cy="11754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4" name="직선 연결선[R] 33"/>
            <p:cNvCxnSpPr/>
            <p:nvPr/>
          </p:nvCxnSpPr>
          <p:spPr>
            <a:xfrm>
              <a:off x="2052416" y="3189083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Rectangle 313"/>
            <p:cNvSpPr/>
            <p:nvPr/>
          </p:nvSpPr>
          <p:spPr>
            <a:xfrm>
              <a:off x="1963755" y="3580647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26" name="텍스트 상자 31"/>
            <p:cNvSpPr txBox="1"/>
            <p:nvPr/>
          </p:nvSpPr>
          <p:spPr>
            <a:xfrm>
              <a:off x="4141390" y="3594443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개 모두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7" name="Rectangle 321"/>
            <p:cNvSpPr/>
            <p:nvPr/>
          </p:nvSpPr>
          <p:spPr>
            <a:xfrm>
              <a:off x="2064079" y="2937144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2132955" y="2990868"/>
              <a:ext cx="7674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의견을 입력하세요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9" name="Rounded Rectangle 616"/>
            <p:cNvSpPr/>
            <p:nvPr/>
          </p:nvSpPr>
          <p:spPr>
            <a:xfrm>
              <a:off x="6379294" y="2945406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30" name="Freeform 17"/>
            <p:cNvSpPr>
              <a:spLocks noChangeArrowheads="1"/>
            </p:cNvSpPr>
            <p:nvPr/>
          </p:nvSpPr>
          <p:spPr bwMode="auto">
            <a:xfrm>
              <a:off x="5951279" y="2979736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31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300" y="2979736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8" name="그룹 37"/>
          <p:cNvGrpSpPr/>
          <p:nvPr/>
        </p:nvGrpSpPr>
        <p:grpSpPr>
          <a:xfrm>
            <a:off x="543314" y="2333151"/>
            <a:ext cx="936609" cy="115755"/>
            <a:chOff x="2054708" y="2657360"/>
            <a:chExt cx="936609" cy="115755"/>
          </a:xfrm>
        </p:grpSpPr>
        <p:sp>
          <p:nvSpPr>
            <p:cNvPr id="39" name="Freeform 739"/>
            <p:cNvSpPr>
              <a:spLocks noChangeAspect="1"/>
            </p:cNvSpPr>
            <p:nvPr/>
          </p:nvSpPr>
          <p:spPr>
            <a:xfrm>
              <a:off x="2054708" y="2665115"/>
              <a:ext cx="97509" cy="1080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rgbClr val="FFC000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" name="그룹 39"/>
            <p:cNvGrpSpPr/>
            <p:nvPr/>
          </p:nvGrpSpPr>
          <p:grpSpPr>
            <a:xfrm>
              <a:off x="2195181" y="2657360"/>
              <a:ext cx="796136" cy="115755"/>
              <a:chOff x="2195181" y="2841183"/>
              <a:chExt cx="796136" cy="115755"/>
            </a:xfrm>
          </p:grpSpPr>
          <p:grpSp>
            <p:nvGrpSpPr>
              <p:cNvPr id="41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43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50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51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44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45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46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47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8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9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42" name="그림 41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</p:grpSp>
      <p:sp>
        <p:nvSpPr>
          <p:cNvPr id="62" name="TextBox 61"/>
          <p:cNvSpPr txBox="1"/>
          <p:nvPr/>
        </p:nvSpPr>
        <p:spPr>
          <a:xfrm>
            <a:off x="276225" y="133350"/>
            <a:ext cx="2826662" cy="31892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사용자</a:t>
            </a:r>
            <a:r>
              <a:rPr lang="en-US" altLang="ko-KR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작성자</a:t>
            </a:r>
            <a:r>
              <a:rPr lang="en-US" altLang="ko-KR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) </a:t>
            </a:r>
            <a:r>
              <a:rPr lang="ko-KR" altLang="en-US" sz="16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바로가기 기능</a:t>
            </a:r>
            <a:endParaRPr lang="ko-KR" altLang="en-US" sz="16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3" name="그룹 62"/>
          <p:cNvGrpSpPr/>
          <p:nvPr/>
        </p:nvGrpSpPr>
        <p:grpSpPr>
          <a:xfrm>
            <a:off x="911316" y="1090514"/>
            <a:ext cx="375088" cy="60389"/>
            <a:chOff x="3037914" y="4842215"/>
            <a:chExt cx="375088" cy="60389"/>
          </a:xfrm>
        </p:grpSpPr>
        <p:cxnSp>
          <p:nvCxnSpPr>
            <p:cNvPr id="64" name="직선 연결선[R] 7"/>
            <p:cNvCxnSpPr/>
            <p:nvPr/>
          </p:nvCxnSpPr>
          <p:spPr>
            <a:xfrm>
              <a:off x="3037914" y="4897522"/>
              <a:ext cx="288000" cy="0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  <a:miter lim="400000"/>
            </a:ln>
          </p:spPr>
        </p:cxnSp>
        <p:sp>
          <p:nvSpPr>
            <p:cNvPr id="65" name="직각 삼각형 64"/>
            <p:cNvSpPr>
              <a:spLocks noChangeAspect="1"/>
            </p:cNvSpPr>
            <p:nvPr/>
          </p:nvSpPr>
          <p:spPr>
            <a:xfrm rot="16200000">
              <a:off x="3352613" y="4842215"/>
              <a:ext cx="60389" cy="60389"/>
            </a:xfrm>
            <a:prstGeom prst="rtTriangle">
              <a:avLst/>
            </a:prstGeom>
            <a:solidFill>
              <a:schemeClr val="tx1">
                <a:lumMod val="95000"/>
                <a:lumOff val="5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19550" y="3000218"/>
            <a:ext cx="326446" cy="60389"/>
            <a:chOff x="3077958" y="4842215"/>
            <a:chExt cx="326446" cy="60389"/>
          </a:xfrm>
        </p:grpSpPr>
        <p:cxnSp>
          <p:nvCxnSpPr>
            <p:cNvPr id="67" name="직선 연결선[R] 7"/>
            <p:cNvCxnSpPr/>
            <p:nvPr/>
          </p:nvCxnSpPr>
          <p:spPr>
            <a:xfrm>
              <a:off x="3077958" y="4897522"/>
              <a:ext cx="238016" cy="0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  <a:miter lim="400000"/>
            </a:ln>
          </p:spPr>
        </p:cxnSp>
        <p:sp>
          <p:nvSpPr>
            <p:cNvPr id="68" name="직각 삼각형 67"/>
            <p:cNvSpPr>
              <a:spLocks noChangeAspect="1"/>
            </p:cNvSpPr>
            <p:nvPr/>
          </p:nvSpPr>
          <p:spPr>
            <a:xfrm rot="16200000">
              <a:off x="3344015" y="4842215"/>
              <a:ext cx="60389" cy="60389"/>
            </a:xfrm>
            <a:prstGeom prst="rtTriangle">
              <a:avLst/>
            </a:prstGeom>
            <a:solidFill>
              <a:schemeClr val="tx1">
                <a:lumMod val="95000"/>
                <a:lumOff val="5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sp>
        <p:nvSpPr>
          <p:cNvPr id="2" name="모서리가 둥근 직사각형 1"/>
          <p:cNvSpPr/>
          <p:nvPr/>
        </p:nvSpPr>
        <p:spPr>
          <a:xfrm>
            <a:off x="862804" y="1080655"/>
            <a:ext cx="467232" cy="97459"/>
          </a:xfrm>
          <a:prstGeom prst="roundRect">
            <a:avLst/>
          </a:prstGeom>
          <a:noFill/>
          <a:ln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854682" y="3007392"/>
            <a:ext cx="467232" cy="97459"/>
          </a:xfrm>
          <a:prstGeom prst="roundRect">
            <a:avLst/>
          </a:prstGeom>
          <a:noFill/>
          <a:ln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14"/>
          <p:cNvSpPr>
            <a:spLocks/>
          </p:cNvSpPr>
          <p:nvPr/>
        </p:nvSpPr>
        <p:spPr bwMode="auto">
          <a:xfrm>
            <a:off x="1303945" y="1174293"/>
            <a:ext cx="1071590" cy="416382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sx="99000" sy="99000" algn="tl" rotWithShape="0">
              <a:prstClr val="black">
                <a:alpha val="40000"/>
              </a:prstClr>
            </a:outerShdw>
          </a:effectLst>
          <a:extLst/>
        </p:spPr>
        <p:txBody>
          <a:bodyPr lIns="50800" tIns="18000" rIns="50800" bIns="50800" anchor="t"/>
          <a:lstStyle/>
          <a:p>
            <a:pPr>
              <a:lnSpc>
                <a:spcPct val="150000"/>
              </a:lnSpc>
            </a:pP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로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지정하기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버디카드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71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5263291"/>
              </p:ext>
            </p:extLst>
          </p:nvPr>
        </p:nvGraphicFramePr>
        <p:xfrm>
          <a:off x="9214333" y="786383"/>
          <a:ext cx="2835141" cy="13836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82563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스퀘어에 등록된 컨텐츠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피드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파일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멤버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공지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보고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)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의 작성자명에 마우스 오버시 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VIP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지정 및 버디카드 출력 경로 제공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1-1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82563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해당 사용자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VIP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지정 경로로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VIP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지정시 사용자명 앞에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VIP tag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적용</a:t>
                      </a:r>
                      <a:endParaRPr kumimoji="1"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자세한 사항은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VIP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글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22~29page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참고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677899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1-2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버디카드 출력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864137"/>
                  </a:ext>
                </a:extLst>
              </a:tr>
            </a:tbl>
          </a:graphicData>
        </a:graphic>
      </p:graphicFrame>
      <p:sp>
        <p:nvSpPr>
          <p:cNvPr id="72" name="타원 71"/>
          <p:cNvSpPr/>
          <p:nvPr/>
        </p:nvSpPr>
        <p:spPr>
          <a:xfrm>
            <a:off x="734464" y="980437"/>
            <a:ext cx="161925" cy="164759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/>
              <a:t>1</a:t>
            </a:r>
            <a:endParaRPr lang="ko-KR" altLang="en-US" sz="800" dirty="0"/>
          </a:p>
        </p:txBody>
      </p:sp>
      <p:sp>
        <p:nvSpPr>
          <p:cNvPr id="74" name="타원 73"/>
          <p:cNvSpPr/>
          <p:nvPr/>
        </p:nvSpPr>
        <p:spPr>
          <a:xfrm>
            <a:off x="2087014" y="1190190"/>
            <a:ext cx="161925" cy="164759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smtClean="0"/>
              <a:t>1-1</a:t>
            </a:r>
            <a:endParaRPr lang="ko-KR" altLang="en-US" sz="600"/>
          </a:p>
        </p:txBody>
      </p:sp>
      <p:sp>
        <p:nvSpPr>
          <p:cNvPr id="75" name="타원 74"/>
          <p:cNvSpPr/>
          <p:nvPr/>
        </p:nvSpPr>
        <p:spPr>
          <a:xfrm>
            <a:off x="2087014" y="1390215"/>
            <a:ext cx="161925" cy="164759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smtClean="0"/>
              <a:t>1-2</a:t>
            </a:r>
            <a:endParaRPr lang="ko-KR" altLang="en-US" sz="600"/>
          </a:p>
        </p:txBody>
      </p:sp>
    </p:spTree>
    <p:extLst>
      <p:ext uri="{BB962C8B-B14F-4D97-AF65-F5344CB8AC3E}">
        <p14:creationId xmlns:p14="http://schemas.microsoft.com/office/powerpoint/2010/main" val="4136094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77069" y="1426493"/>
            <a:ext cx="315503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i="0" u="none" strike="noStrike" kern="1200" cap="none" spc="0" normalizeH="0" baseline="0" noProof="0" smtClean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스퀘어 메인 </a:t>
            </a:r>
            <a:r>
              <a:rPr kumimoji="1" lang="en-US" altLang="ko-KR" i="0" u="none" strike="noStrike" kern="1200" cap="none" spc="0" normalizeH="0" baseline="0" noProof="0" smtClean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kumimoji="1" lang="en-US" altLang="ko-KR" i="0" u="none" strike="noStrike" kern="1200" cap="none" spc="0" normalizeH="0" baseline="0" noProof="0" smtClean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28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워크피드</a:t>
            </a:r>
            <a:endParaRPr kumimoji="1" lang="ko-KR" altLang="en-US" sz="2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18050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7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dirty="0"/>
              <a:t>스퀘어 </a:t>
            </a:r>
            <a:r>
              <a:rPr kumimoji="1" lang="en-US" altLang="ko-KR" dirty="0" smtClean="0"/>
              <a:t>Main</a:t>
            </a:r>
            <a:endParaRPr lang="ko-KR" altLang="en-US" dirty="0"/>
          </a:p>
        </p:txBody>
      </p:sp>
      <p:sp>
        <p:nvSpPr>
          <p:cNvPr id="12" name="내용 개체 틀 11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endParaRPr lang="ko-KR" altLang="en-US" dirty="0"/>
          </a:p>
        </p:txBody>
      </p:sp>
      <p:sp>
        <p:nvSpPr>
          <p:cNvPr id="224" name="내용 개체 틀 22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SQ5.1.1</a:t>
            </a:r>
            <a:endParaRPr lang="ko-KR" altLang="en-US" dirty="0"/>
          </a:p>
        </p:txBody>
      </p:sp>
      <p:sp>
        <p:nvSpPr>
          <p:cNvPr id="9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1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3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53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4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5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6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9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0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4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6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374"/>
          <p:cNvSpPr/>
          <p:nvPr/>
        </p:nvSpPr>
        <p:spPr>
          <a:xfrm>
            <a:off x="434472" y="1148792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</a:t>
            </a:r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 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2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4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5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6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7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8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40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1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51" name="TextBox 50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2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42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5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7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8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9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50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57" name="텍스트 상자 31"/>
          <p:cNvSpPr txBox="1"/>
          <p:nvPr/>
        </p:nvSpPr>
        <p:spPr>
          <a:xfrm>
            <a:off x="1934313" y="838819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워크피드</a:t>
            </a:r>
            <a:endParaRPr lang="ko-KR" altLang="en-US" sz="9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58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8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9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Rectangle 280"/>
          <p:cNvSpPr/>
          <p:nvPr/>
        </p:nvSpPr>
        <p:spPr>
          <a:xfrm>
            <a:off x="6925831" y="1153521"/>
            <a:ext cx="2169137" cy="101509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2" name="텍스트 상자 31"/>
          <p:cNvSpPr txBox="1"/>
          <p:nvPr/>
        </p:nvSpPr>
        <p:spPr>
          <a:xfrm>
            <a:off x="6994572" y="1214929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초대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3" name="직선 연결선[R] 33"/>
          <p:cNvCxnSpPr/>
          <p:nvPr/>
        </p:nvCxnSpPr>
        <p:spPr>
          <a:xfrm>
            <a:off x="6994250" y="1370456"/>
            <a:ext cx="2016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텍스트 상자 31"/>
          <p:cNvSpPr txBox="1"/>
          <p:nvPr/>
        </p:nvSpPr>
        <p:spPr>
          <a:xfrm>
            <a:off x="7019534" y="1426102"/>
            <a:ext cx="1749902" cy="36933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이은경</a:t>
            </a:r>
            <a:r>
              <a:rPr kumimoji="1"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님이 </a:t>
            </a:r>
            <a:r>
              <a:rPr kumimoji="1"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B</a:t>
            </a:r>
            <a:r>
              <a:rPr kumimoji="1"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금융사 앱 구축 프로젝트</a:t>
            </a:r>
            <a:r>
              <a:rPr kumimoji="1"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그룹에 </a:t>
            </a:r>
            <a:r>
              <a:rPr kumimoji="1"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초대하셨습니다</a:t>
            </a:r>
            <a:r>
              <a:rPr kumimoji="1"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8405555" y="1239271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더보기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8" name="Rounded Rectangle 11"/>
          <p:cNvSpPr/>
          <p:nvPr/>
        </p:nvSpPr>
        <p:spPr>
          <a:xfrm>
            <a:off x="7515840" y="1233442"/>
            <a:ext cx="180000" cy="108000"/>
          </a:xfrm>
          <a:prstGeom prst="roundRect">
            <a:avLst>
              <a:gd name="adj" fmla="val 50000"/>
            </a:avLst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en-US" sz="700" dirty="0">
              <a:latin typeface="+mn-ea"/>
            </a:endParaRPr>
          </a:p>
        </p:txBody>
      </p:sp>
      <p:grpSp>
        <p:nvGrpSpPr>
          <p:cNvPr id="119" name="Group 12"/>
          <p:cNvGrpSpPr/>
          <p:nvPr/>
        </p:nvGrpSpPr>
        <p:grpSpPr>
          <a:xfrm>
            <a:off x="7135250" y="1878149"/>
            <a:ext cx="1749902" cy="214520"/>
            <a:chOff x="5972497" y="2774039"/>
            <a:chExt cx="1686993" cy="214520"/>
          </a:xfrm>
        </p:grpSpPr>
        <p:sp>
          <p:nvSpPr>
            <p:cNvPr id="120" name="Rounded Rectangle 616"/>
            <p:cNvSpPr/>
            <p:nvPr/>
          </p:nvSpPr>
          <p:spPr>
            <a:xfrm>
              <a:off x="5972497" y="2774039"/>
              <a:ext cx="828285" cy="21452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참여</a:t>
              </a:r>
              <a:endParaRPr lang="en-US" sz="700" b="1" dirty="0">
                <a:latin typeface="+mn-ea"/>
              </a:endParaRPr>
            </a:p>
          </p:txBody>
        </p:sp>
        <p:sp>
          <p:nvSpPr>
            <p:cNvPr id="121" name="Rounded Rectangle 618"/>
            <p:cNvSpPr/>
            <p:nvPr/>
          </p:nvSpPr>
          <p:spPr>
            <a:xfrm>
              <a:off x="6831205" y="2774039"/>
              <a:ext cx="828285" cy="214520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 smtClean="0">
                  <a:latin typeface="+mn-ea"/>
                </a:rPr>
                <a:t>거절</a:t>
              </a:r>
              <a:endParaRPr lang="en-US" sz="700" dirty="0">
                <a:latin typeface="+mn-ea"/>
              </a:endParaRPr>
            </a:p>
          </p:txBody>
        </p:sp>
      </p:grpSp>
      <p:sp>
        <p:nvSpPr>
          <p:cNvPr id="122" name="텍스트 상자 31"/>
          <p:cNvSpPr txBox="1"/>
          <p:nvPr/>
        </p:nvSpPr>
        <p:spPr>
          <a:xfrm>
            <a:off x="8091710" y="1651456"/>
            <a:ext cx="465305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10</a:t>
            </a:r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분 전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2" name="Rectangle 477"/>
          <p:cNvSpPr/>
          <p:nvPr/>
        </p:nvSpPr>
        <p:spPr>
          <a:xfrm>
            <a:off x="6925831" y="4162312"/>
            <a:ext cx="2169137" cy="19797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43" name="텍스트 상자 31"/>
          <p:cNvSpPr txBox="1"/>
          <p:nvPr/>
        </p:nvSpPr>
        <p:spPr>
          <a:xfrm>
            <a:off x="6994572" y="4243377"/>
            <a:ext cx="105735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가 작성한 최신 글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144" name="직선 연결선[R] 33"/>
          <p:cNvCxnSpPr/>
          <p:nvPr/>
        </p:nvCxnSpPr>
        <p:spPr>
          <a:xfrm>
            <a:off x="6994250" y="4398904"/>
            <a:ext cx="2016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5" name="텍스트 상자 31"/>
          <p:cNvSpPr txBox="1"/>
          <p:nvPr/>
        </p:nvSpPr>
        <p:spPr>
          <a:xfrm>
            <a:off x="8407706" y="4267719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더보기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6" name="Rounded Rectangle 11"/>
          <p:cNvSpPr/>
          <p:nvPr/>
        </p:nvSpPr>
        <p:spPr>
          <a:xfrm>
            <a:off x="8071705" y="4261910"/>
            <a:ext cx="180000" cy="108000"/>
          </a:xfrm>
          <a:prstGeom prst="roundRect">
            <a:avLst>
              <a:gd name="adj" fmla="val 50000"/>
            </a:avLst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atin typeface="+mn-ea"/>
              </a:rPr>
              <a:t>3</a:t>
            </a:r>
            <a:endParaRPr lang="en-US" sz="700" dirty="0">
              <a:latin typeface="+mn-ea"/>
            </a:endParaRPr>
          </a:p>
        </p:txBody>
      </p:sp>
      <p:sp>
        <p:nvSpPr>
          <p:cNvPr id="148" name="Rectangle 177"/>
          <p:cNvSpPr/>
          <p:nvPr/>
        </p:nvSpPr>
        <p:spPr>
          <a:xfrm>
            <a:off x="6981635" y="4463361"/>
            <a:ext cx="1981926" cy="49652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49" name="텍스트 상자 31"/>
          <p:cNvSpPr txBox="1"/>
          <p:nvPr/>
        </p:nvSpPr>
        <p:spPr>
          <a:xfrm>
            <a:off x="7069381" y="4534568"/>
            <a:ext cx="33745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박현주</a:t>
            </a:r>
            <a:endParaRPr kumimoji="1" lang="ko-KR" altLang="en-US" sz="7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0" name="텍스트 상자 31"/>
          <p:cNvSpPr txBox="1"/>
          <p:nvPr/>
        </p:nvSpPr>
        <p:spPr>
          <a:xfrm>
            <a:off x="7064255" y="4678418"/>
            <a:ext cx="1621213" cy="2215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어제 발행된 이 기사 읽어보세요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6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프로젝트에 참고 많이 될 것 같네요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1" name="텍스트 상자 31"/>
          <p:cNvSpPr txBox="1"/>
          <p:nvPr/>
        </p:nvSpPr>
        <p:spPr>
          <a:xfrm>
            <a:off x="8419495" y="4542263"/>
            <a:ext cx="422005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en-US" altLang="ko-KR" sz="6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6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분 전</a:t>
            </a:r>
            <a:endParaRPr kumimoji="1" lang="ko-KR" altLang="en-US" sz="6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2" name="텍스트 상자 31"/>
          <p:cNvSpPr txBox="1"/>
          <p:nvPr/>
        </p:nvSpPr>
        <p:spPr>
          <a:xfrm>
            <a:off x="7375488" y="4542263"/>
            <a:ext cx="756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UX</a:t>
            </a:r>
            <a:r>
              <a:rPr kumimoji="1" lang="ko-KR" altLang="en-US" sz="6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개선</a:t>
            </a:r>
            <a:endParaRPr kumimoji="1" lang="ko-KR" altLang="en-US" sz="6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4" name="Rectangle 177"/>
          <p:cNvSpPr/>
          <p:nvPr/>
        </p:nvSpPr>
        <p:spPr>
          <a:xfrm>
            <a:off x="6981634" y="5017231"/>
            <a:ext cx="1984077" cy="49652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55" name="텍스트 상자 31"/>
          <p:cNvSpPr txBox="1"/>
          <p:nvPr/>
        </p:nvSpPr>
        <p:spPr>
          <a:xfrm>
            <a:off x="7069381" y="5088438"/>
            <a:ext cx="33745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정종완</a:t>
            </a:r>
            <a:endParaRPr kumimoji="1" lang="ko-KR" altLang="en-US" sz="7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6" name="텍스트 상자 31"/>
          <p:cNvSpPr txBox="1"/>
          <p:nvPr/>
        </p:nvSpPr>
        <p:spPr>
          <a:xfrm>
            <a:off x="7064255" y="5232288"/>
            <a:ext cx="1820897" cy="2215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7" name="텍스트 상자 31"/>
          <p:cNvSpPr txBox="1"/>
          <p:nvPr/>
        </p:nvSpPr>
        <p:spPr>
          <a:xfrm>
            <a:off x="8419495" y="5096133"/>
            <a:ext cx="422005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en-US" altLang="ko-KR" sz="6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10</a:t>
            </a:r>
            <a:r>
              <a:rPr kumimoji="1" lang="ko-KR" altLang="en-US" sz="6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분 전</a:t>
            </a:r>
            <a:endParaRPr kumimoji="1" lang="ko-KR" altLang="en-US" sz="6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8" name="텍스트 상자 31"/>
          <p:cNvSpPr txBox="1"/>
          <p:nvPr/>
        </p:nvSpPr>
        <p:spPr>
          <a:xfrm>
            <a:off x="7375488" y="5096133"/>
            <a:ext cx="756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160" name="Rectangle 177"/>
          <p:cNvSpPr/>
          <p:nvPr/>
        </p:nvSpPr>
        <p:spPr>
          <a:xfrm>
            <a:off x="6981635" y="5571101"/>
            <a:ext cx="1981926" cy="49652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61" name="텍스트 상자 31"/>
          <p:cNvSpPr txBox="1"/>
          <p:nvPr/>
        </p:nvSpPr>
        <p:spPr>
          <a:xfrm>
            <a:off x="7069381" y="5642308"/>
            <a:ext cx="33745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정종완</a:t>
            </a:r>
            <a:endParaRPr kumimoji="1" lang="ko-KR" altLang="en-US" sz="7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2" name="텍스트 상자 31"/>
          <p:cNvSpPr txBox="1"/>
          <p:nvPr/>
        </p:nvSpPr>
        <p:spPr>
          <a:xfrm>
            <a:off x="7064255" y="5786158"/>
            <a:ext cx="1820897" cy="2215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첨부드리는 문서에 개발 이슈를 정리해 놓았으니 이번주 내로 내부 워크샵에서 정리 </a:t>
            </a:r>
            <a:r>
              <a:rPr kumimoji="1" lang="mr-IN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…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3" name="텍스트 상자 31"/>
          <p:cNvSpPr txBox="1"/>
          <p:nvPr/>
        </p:nvSpPr>
        <p:spPr>
          <a:xfrm>
            <a:off x="8419495" y="5650003"/>
            <a:ext cx="422005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en-US" altLang="ko-KR" sz="6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25</a:t>
            </a:r>
            <a:r>
              <a:rPr kumimoji="1" lang="ko-KR" altLang="en-US" sz="6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분 전</a:t>
            </a:r>
            <a:endParaRPr kumimoji="1" lang="ko-KR" altLang="en-US" sz="6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4" name="텍스트 상자 31"/>
          <p:cNvSpPr txBox="1"/>
          <p:nvPr/>
        </p:nvSpPr>
        <p:spPr>
          <a:xfrm>
            <a:off x="7375488" y="5650003"/>
            <a:ext cx="756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스퀘어 </a:t>
            </a:r>
            <a:r>
              <a:rPr kumimoji="1" lang="en-US" altLang="ko-KR" sz="6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9" name="Rectangle 382"/>
          <p:cNvSpPr/>
          <p:nvPr/>
        </p:nvSpPr>
        <p:spPr>
          <a:xfrm>
            <a:off x="6905666" y="1012030"/>
            <a:ext cx="2223679" cy="5610079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190" name="그룹 217"/>
          <p:cNvGrpSpPr/>
          <p:nvPr/>
        </p:nvGrpSpPr>
        <p:grpSpPr>
          <a:xfrm>
            <a:off x="8925437" y="1115127"/>
            <a:ext cx="434525" cy="5506984"/>
            <a:chOff x="7748271" y="3713164"/>
            <a:chExt cx="434525" cy="3329197"/>
          </a:xfrm>
        </p:grpSpPr>
        <p:grpSp>
          <p:nvGrpSpPr>
            <p:cNvPr id="191" name="그룹 7"/>
            <p:cNvGrpSpPr/>
            <p:nvPr/>
          </p:nvGrpSpPr>
          <p:grpSpPr>
            <a:xfrm>
              <a:off x="7748271" y="3713164"/>
              <a:ext cx="293725" cy="3329197"/>
              <a:chOff x="6151409" y="4328779"/>
              <a:chExt cx="948871" cy="3141326"/>
            </a:xfrm>
          </p:grpSpPr>
          <p:cxnSp>
            <p:nvCxnSpPr>
              <p:cNvPr id="193" name="직선 연결선[R] 222"/>
              <p:cNvCxnSpPr/>
              <p:nvPr/>
            </p:nvCxnSpPr>
            <p:spPr>
              <a:xfrm>
                <a:off x="6952525" y="4328779"/>
                <a:ext cx="0" cy="3141325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직선 연결선[R] 85"/>
              <p:cNvCxnSpPr/>
              <p:nvPr/>
            </p:nvCxnSpPr>
            <p:spPr>
              <a:xfrm>
                <a:off x="6151409" y="4328779"/>
                <a:ext cx="948871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직선 연결선[R] 86"/>
              <p:cNvCxnSpPr/>
              <p:nvPr/>
            </p:nvCxnSpPr>
            <p:spPr>
              <a:xfrm>
                <a:off x="6215663" y="7470105"/>
                <a:ext cx="884617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2" name="TextBox 1173"/>
            <p:cNvSpPr txBox="1"/>
            <p:nvPr/>
          </p:nvSpPr>
          <p:spPr>
            <a:xfrm rot="5400000">
              <a:off x="7867109" y="5262347"/>
              <a:ext cx="4159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i="1" dirty="0" smtClean="0">
                  <a:solidFill>
                    <a:srgbClr val="FF2F92"/>
                  </a:solidFill>
                  <a:latin typeface="+mn-ea"/>
                  <a:ea typeface="+mn-ea"/>
                  <a:cs typeface="Malgun Gothic" charset="0"/>
                </a:rPr>
                <a:t>Scroll Area</a:t>
              </a:r>
              <a:endParaRPr lang="en-US" sz="800" i="1" dirty="0">
                <a:solidFill>
                  <a:srgbClr val="FF2F92"/>
                </a:solidFill>
                <a:latin typeface="+mn-ea"/>
                <a:ea typeface="+mn-ea"/>
                <a:cs typeface="Malgun Gothic" charset="0"/>
              </a:endParaRPr>
            </a:p>
          </p:txBody>
        </p:sp>
      </p:grpSp>
      <p:grpSp>
        <p:nvGrpSpPr>
          <p:cNvPr id="267" name="그룹 266"/>
          <p:cNvGrpSpPr/>
          <p:nvPr/>
        </p:nvGrpSpPr>
        <p:grpSpPr>
          <a:xfrm>
            <a:off x="6925831" y="2235114"/>
            <a:ext cx="2169137" cy="1882657"/>
            <a:chOff x="6925831" y="2235114"/>
            <a:chExt cx="2169137" cy="1882657"/>
          </a:xfrm>
        </p:grpSpPr>
        <p:sp>
          <p:nvSpPr>
            <p:cNvPr id="59" name="Rectangle 195"/>
            <p:cNvSpPr/>
            <p:nvPr/>
          </p:nvSpPr>
          <p:spPr>
            <a:xfrm>
              <a:off x="6925831" y="2235114"/>
              <a:ext cx="2169137" cy="18826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76" name="텍스트 상자 31"/>
            <p:cNvSpPr txBox="1"/>
            <p:nvPr/>
          </p:nvSpPr>
          <p:spPr>
            <a:xfrm>
              <a:off x="6994572" y="2316178"/>
              <a:ext cx="105735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나를 멘션한 최신 글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7" name="직선 연결선[R] 33"/>
            <p:cNvCxnSpPr/>
            <p:nvPr/>
          </p:nvCxnSpPr>
          <p:spPr>
            <a:xfrm>
              <a:off x="6994250" y="2471705"/>
              <a:ext cx="2016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텍스트 상자 31"/>
            <p:cNvSpPr txBox="1"/>
            <p:nvPr/>
          </p:nvSpPr>
          <p:spPr>
            <a:xfrm>
              <a:off x="8407706" y="2340520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더보기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3" name="Rounded Rectangle 11"/>
            <p:cNvSpPr/>
            <p:nvPr/>
          </p:nvSpPr>
          <p:spPr>
            <a:xfrm>
              <a:off x="7999609" y="2333888"/>
              <a:ext cx="180000" cy="10800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dirty="0" smtClean="0">
                  <a:latin typeface="+mn-ea"/>
                </a:rPr>
                <a:t>5</a:t>
              </a:r>
              <a:endParaRPr lang="en-US" sz="700" dirty="0">
                <a:latin typeface="+mn-ea"/>
              </a:endParaRPr>
            </a:p>
          </p:txBody>
        </p:sp>
        <p:sp>
          <p:nvSpPr>
            <p:cNvPr id="125" name="Rectangle 177"/>
            <p:cNvSpPr/>
            <p:nvPr/>
          </p:nvSpPr>
          <p:spPr>
            <a:xfrm>
              <a:off x="7019561" y="2536162"/>
              <a:ext cx="1944000" cy="49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26" name="텍스트 상자 31"/>
            <p:cNvSpPr txBox="1"/>
            <p:nvPr/>
          </p:nvSpPr>
          <p:spPr>
            <a:xfrm>
              <a:off x="7107307" y="2582085"/>
              <a:ext cx="33745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홍사원</a:t>
              </a:r>
              <a:endPara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7" name="텍스트 상자 31"/>
            <p:cNvSpPr txBox="1"/>
            <p:nvPr/>
          </p:nvSpPr>
          <p:spPr>
            <a:xfrm>
              <a:off x="7102181" y="2708461"/>
              <a:ext cx="1782971" cy="3323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@</a:t>
              </a:r>
              <a:r>
                <a:rPr kumimoji="1" lang="ko-KR" altLang="en-US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김핸디</a:t>
              </a:r>
              <a:r>
                <a:rPr kumimoji="1"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어제 말씀하신 자료 공유드립니다</a:t>
              </a:r>
              <a:r>
                <a:rPr kumimoji="1" lang="en-US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~</a:t>
              </a:r>
              <a:endPara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지난번에 회의 때 논의되었던 </a:t>
              </a:r>
              <a:r>
                <a:rPr kumimoji="1" lang="ko-KR" altLang="en-US" sz="6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메인화면</a:t>
              </a:r>
              <a:r>
                <a:rPr kumimoji="1"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수정사항 반영하여 업데이트 </a:t>
              </a:r>
              <a:r>
                <a:rPr kumimoji="1" lang="mr-IN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…</a:t>
              </a:r>
              <a:endPara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8" name="텍스트 상자 31"/>
            <p:cNvSpPr txBox="1"/>
            <p:nvPr/>
          </p:nvSpPr>
          <p:spPr>
            <a:xfrm>
              <a:off x="8457421" y="2589780"/>
              <a:ext cx="4220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분 전</a:t>
              </a:r>
              <a:endParaRPr kumimoji="1" lang="ko-KR" altLang="en-US" sz="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9" name="텍스트 상자 31"/>
            <p:cNvSpPr txBox="1"/>
            <p:nvPr/>
          </p:nvSpPr>
          <p:spPr>
            <a:xfrm>
              <a:off x="7413414" y="2589780"/>
              <a:ext cx="756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UX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개선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31" name="Rectangle 177"/>
            <p:cNvSpPr/>
            <p:nvPr/>
          </p:nvSpPr>
          <p:spPr>
            <a:xfrm>
              <a:off x="7019561" y="3090032"/>
              <a:ext cx="1944000" cy="49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32" name="텍스트 상자 31"/>
            <p:cNvSpPr txBox="1"/>
            <p:nvPr/>
          </p:nvSpPr>
          <p:spPr>
            <a:xfrm>
              <a:off x="7107307" y="3161239"/>
              <a:ext cx="33745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</a:t>
              </a:r>
              <a:endPara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33" name="텍스트 상자 31"/>
            <p:cNvSpPr txBox="1"/>
            <p:nvPr/>
          </p:nvSpPr>
          <p:spPr>
            <a:xfrm>
              <a:off x="7102181" y="3305089"/>
              <a:ext cx="1782971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@</a:t>
              </a:r>
              <a:r>
                <a:rPr lang="ko-KR" altLang="en-US" sz="600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김핸디</a:t>
              </a:r>
              <a:r>
                <a:rPr lang="ko-KR" altLang="en-US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</a:t>
              </a:r>
              <a:r>
                <a:rPr lang="en-US" altLang="ko-KR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@</a:t>
              </a:r>
              <a:r>
                <a:rPr lang="ko-KR" altLang="en-US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이은미 </a:t>
              </a:r>
              <a:r>
                <a:rPr lang="en-US" altLang="ko-KR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@</a:t>
              </a:r>
              <a:r>
                <a:rPr lang="ko-KR" altLang="en-US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이민수 </a:t>
              </a:r>
              <a:r>
                <a:rPr kumimoji="1"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지난 회의 회의록 작성 하신분</a:t>
              </a:r>
              <a:r>
                <a:rPr kumimoji="1" lang="en-US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?</a:t>
              </a:r>
              <a:r>
                <a:rPr kumimoji="1"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스퀘어에 업로드 해주세요</a:t>
              </a:r>
              <a:r>
                <a:rPr kumimoji="1" lang="en-US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34" name="텍스트 상자 31"/>
            <p:cNvSpPr txBox="1"/>
            <p:nvPr/>
          </p:nvSpPr>
          <p:spPr>
            <a:xfrm>
              <a:off x="8457421" y="3168934"/>
              <a:ext cx="4220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10</a:t>
              </a:r>
              <a:r>
                <a:rPr kumimoji="1" lang="ko-KR" altLang="en-US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분 전</a:t>
              </a:r>
              <a:endParaRPr kumimoji="1" lang="ko-KR" altLang="en-US" sz="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35" name="텍스트 상자 31"/>
            <p:cNvSpPr txBox="1"/>
            <p:nvPr/>
          </p:nvSpPr>
          <p:spPr>
            <a:xfrm>
              <a:off x="7413414" y="3168934"/>
              <a:ext cx="756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A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37" name="Rectangle 177"/>
            <p:cNvSpPr/>
            <p:nvPr/>
          </p:nvSpPr>
          <p:spPr>
            <a:xfrm>
              <a:off x="7019561" y="3630455"/>
              <a:ext cx="1944000" cy="4037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38" name="텍스트 상자 31"/>
            <p:cNvSpPr txBox="1"/>
            <p:nvPr/>
          </p:nvSpPr>
          <p:spPr>
            <a:xfrm>
              <a:off x="7107307" y="3701661"/>
              <a:ext cx="33745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박현주</a:t>
              </a:r>
              <a:endPara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39" name="텍스트 상자 31"/>
            <p:cNvSpPr txBox="1"/>
            <p:nvPr/>
          </p:nvSpPr>
          <p:spPr>
            <a:xfrm>
              <a:off x="7102181" y="3900910"/>
              <a:ext cx="1621213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@</a:t>
              </a:r>
              <a:r>
                <a:rPr kumimoji="1" lang="ko-KR" altLang="en-US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김핸디</a:t>
              </a:r>
              <a:r>
                <a:rPr kumimoji="1"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이 자료 참고해주세요</a:t>
              </a:r>
              <a:r>
                <a:rPr kumimoji="1" lang="en-US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40" name="텍스트 상자 31"/>
            <p:cNvSpPr txBox="1"/>
            <p:nvPr/>
          </p:nvSpPr>
          <p:spPr>
            <a:xfrm>
              <a:off x="8457421" y="3709356"/>
              <a:ext cx="4220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25</a:t>
              </a:r>
              <a:r>
                <a:rPr kumimoji="1" lang="ko-KR" altLang="en-US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분 전</a:t>
              </a:r>
              <a:endParaRPr kumimoji="1" lang="ko-KR" altLang="en-US" sz="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41" name="텍스트 상자 31"/>
            <p:cNvSpPr txBox="1"/>
            <p:nvPr/>
          </p:nvSpPr>
          <p:spPr>
            <a:xfrm>
              <a:off x="7413414" y="3709356"/>
              <a:ext cx="756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스퀘어 </a:t>
              </a: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41" name="Rectangle 381"/>
          <p:cNvSpPr/>
          <p:nvPr/>
        </p:nvSpPr>
        <p:spPr>
          <a:xfrm>
            <a:off x="1913287" y="1124206"/>
            <a:ext cx="4968000" cy="39600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" name="Rectangle 381"/>
          <p:cNvSpPr/>
          <p:nvPr/>
        </p:nvSpPr>
        <p:spPr>
          <a:xfrm>
            <a:off x="1920212" y="1546110"/>
            <a:ext cx="4961075" cy="507600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" name="타원 249"/>
          <p:cNvSpPr>
            <a:spLocks noChangeAspect="1"/>
          </p:cNvSpPr>
          <p:nvPr/>
        </p:nvSpPr>
        <p:spPr>
          <a:xfrm>
            <a:off x="1820104" y="106694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2" name="타원 251"/>
          <p:cNvSpPr>
            <a:spLocks noChangeAspect="1"/>
          </p:cNvSpPr>
          <p:nvPr/>
        </p:nvSpPr>
        <p:spPr>
          <a:xfrm>
            <a:off x="8161705" y="856712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3" name="타원 252"/>
          <p:cNvSpPr>
            <a:spLocks noChangeAspect="1"/>
          </p:cNvSpPr>
          <p:nvPr/>
        </p:nvSpPr>
        <p:spPr>
          <a:xfrm>
            <a:off x="6962857" y="104636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4" name="타원 253"/>
          <p:cNvSpPr>
            <a:spLocks noChangeAspect="1"/>
          </p:cNvSpPr>
          <p:nvPr/>
        </p:nvSpPr>
        <p:spPr>
          <a:xfrm>
            <a:off x="6890724" y="2175134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5" name="타원 254"/>
          <p:cNvSpPr>
            <a:spLocks noChangeAspect="1"/>
          </p:cNvSpPr>
          <p:nvPr/>
        </p:nvSpPr>
        <p:spPr>
          <a:xfrm>
            <a:off x="6884430" y="411831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6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5386435"/>
              </p:ext>
            </p:extLst>
          </p:nvPr>
        </p:nvGraphicFramePr>
        <p:xfrm>
          <a:off x="9290533" y="786383"/>
          <a:ext cx="2835467" cy="46063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54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글쓰기 영역</a:t>
                      </a:r>
                      <a:endParaRPr lang="en-US" altLang="ko-KR" sz="7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스퀘어 글쓰기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레이어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팝업을 제공하는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진입점</a:t>
                      </a:r>
                      <a:endParaRPr lang="ko-KR" altLang="en-US" sz="7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가이드 문구 제공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멤버들에게 새로운 소식을 전해보세요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스크롤 시 고정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모달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레이어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팝업 제공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(5.6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스퀘어 글쓰기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우측 아이콘에 마우스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오버시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각각의 기능 설명 레이어 노출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사진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첨부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선택시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별도의 기능없이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작성레이어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팝업 노출</a:t>
                      </a:r>
                      <a:endParaRPr lang="en-US" altLang="ko-KR" sz="7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워크피드</a:t>
                      </a:r>
                      <a:endParaRPr lang="en-US" altLang="ko-KR" sz="7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내 그룹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에 속하는 모든 그룹의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피드를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최신 등록순서로 제공하는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동일 그룹 내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피드가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반복될 경우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그룹명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(2-1)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은 가장 상단에 한번만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표시 정보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해당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그룹명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그룹 진입 버튼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시간 정보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현재시간 기준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해당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전체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(5.5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구성 참조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무한 스크롤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스크롤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하단에 페이지 상단으로 가기 버튼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(4)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제공</a:t>
                      </a: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 smtClean="0">
                          <a:latin typeface="+mn-ea"/>
                          <a:ea typeface="+mn-ea"/>
                          <a:cs typeface="Malgun Gothic" charset="0"/>
                        </a:rPr>
                        <a:t>스퀘어 소식 모음</a:t>
                      </a:r>
                      <a:endParaRPr lang="en-US" altLang="ko-KR" sz="700" b="1" dirty="0" smtClean="0"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사용자의 전체 스퀘어 소식을 모아보는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그룹 초대 알림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  <a:cs typeface="Malgun Gothic" charset="0"/>
                        </a:rPr>
                        <a:t>,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 </a:t>
                      </a:r>
                      <a:r>
                        <a:rPr lang="ko-KR" altLang="en-US" sz="700" dirty="0" err="1" smtClean="0">
                          <a:latin typeface="+mn-ea"/>
                          <a:ea typeface="+mn-ea"/>
                          <a:cs typeface="Malgun Gothic" charset="0"/>
                        </a:rPr>
                        <a:t>멘션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 글 요약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  <a:cs typeface="Malgun Gothic" charset="0"/>
                        </a:rPr>
                        <a:t>,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  <a:cs typeface="Malgun Gothic" charset="0"/>
                        </a:rPr>
                        <a:t>VIP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 글 요약 정보 제공</a:t>
                      </a:r>
                    </a:p>
                    <a:p>
                      <a:endParaRPr lang="en-US" altLang="ko-KR" sz="700" b="1" dirty="0" smtClean="0"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700" b="1" smtClean="0">
                          <a:latin typeface="+mn-ea"/>
                          <a:ea typeface="+mn-ea"/>
                          <a:cs typeface="Malgun Gothic" charset="0"/>
                        </a:rPr>
                        <a:t>3-2</a:t>
                      </a:r>
                      <a:r>
                        <a:rPr lang="en-US" altLang="ko-KR" sz="700" b="1" baseline="0" smtClean="0">
                          <a:latin typeface="+mn-ea"/>
                          <a:ea typeface="+mn-ea"/>
                          <a:cs typeface="Malgun Gothic" charset="0"/>
                        </a:rPr>
                        <a:t> </a:t>
                      </a:r>
                      <a:r>
                        <a:rPr lang="ko-KR" altLang="en-US" sz="700" b="1" dirty="0" err="1" smtClean="0">
                          <a:latin typeface="+mn-ea"/>
                          <a:ea typeface="+mn-ea"/>
                          <a:cs typeface="Malgun Gothic" charset="0"/>
                        </a:rPr>
                        <a:t>멘션</a:t>
                      </a:r>
                      <a:r>
                        <a:rPr lang="ko-KR" altLang="en-US" sz="700" b="1" dirty="0" smtClean="0">
                          <a:latin typeface="+mn-ea"/>
                          <a:ea typeface="+mn-ea"/>
                          <a:cs typeface="Malgun Gothic" charset="0"/>
                        </a:rPr>
                        <a:t> 글 요약</a:t>
                      </a:r>
                      <a:endParaRPr lang="en-US" altLang="ko-KR" sz="700" b="1" dirty="0" smtClean="0"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사용자가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멘션된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 중 가장 최신 글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개를 제공하는 영역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표시 정보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작성자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해당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그룹명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시간 정보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현재시간 기준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내용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(N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자 초과 시 </a:t>
                      </a:r>
                      <a:r>
                        <a:rPr kumimoji="1" lang="mr-IN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…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버튼 선택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멘션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메뉴 진입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멘션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 내 미확인 글 카운트 수 제공</a:t>
                      </a:r>
                      <a:endParaRPr kumimoji="1" lang="en-US" altLang="ko-KR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메션글의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이름 클릭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버디카드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를 오픈하고 등록 글에는 링크 처리 없음</a:t>
                      </a: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700" b="1" dirty="0" smtClean="0">
                          <a:latin typeface="+mn-ea"/>
                          <a:ea typeface="+mn-ea"/>
                          <a:cs typeface="Malgun Gothic" charset="0"/>
                        </a:rPr>
                        <a:t>3-3 VIP</a:t>
                      </a:r>
                      <a:r>
                        <a:rPr lang="ko-KR" altLang="en-US" sz="700" b="1" dirty="0" smtClean="0">
                          <a:latin typeface="+mn-ea"/>
                          <a:ea typeface="+mn-ea"/>
                          <a:cs typeface="Malgun Gothic" charset="0"/>
                        </a:rPr>
                        <a:t> 글 요약</a:t>
                      </a:r>
                      <a:endParaRPr lang="en-US" altLang="ko-KR" sz="700" b="1" dirty="0" smtClean="0"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사용자가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로 지정한 사용자의 가장 최신 글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개를 제공하는 영역 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표시 정보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작성자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해당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그룹명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시간 정보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현재시간 기준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내용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(N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자 초과 시 </a:t>
                      </a:r>
                      <a:r>
                        <a:rPr kumimoji="1" lang="mr-IN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…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버튼 선택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‘VIP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메뉴 진입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글 내 미확인 글 카운트 </a:t>
                      </a:r>
                      <a:r>
                        <a:rPr kumimoji="1" lang="ko-KR" altLang="en-US" sz="7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수 제공</a:t>
                      </a:r>
                      <a:endParaRPr kumimoji="1" lang="en-US" altLang="ko-KR" sz="70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82563" marR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맑은 고딕" panose="020B0503020000020004" pitchFamily="50" charset="-127"/>
                        <a:buChar char="※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내가 워크피드 알림을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off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한 그룹이라도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나를 멘션한 글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(3-2)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이나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 VIP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가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작성글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(3-3)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에는 해당 내용 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68" name="Freeform 32"/>
          <p:cNvSpPr>
            <a:spLocks noChangeAspect="1" noChangeArrowheads="1"/>
          </p:cNvSpPr>
          <p:nvPr/>
        </p:nvSpPr>
        <p:spPr bwMode="auto">
          <a:xfrm>
            <a:off x="8952789" y="838889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4" name="그룹 3"/>
          <p:cNvGrpSpPr/>
          <p:nvPr/>
        </p:nvGrpSpPr>
        <p:grpSpPr>
          <a:xfrm>
            <a:off x="5841650" y="1256584"/>
            <a:ext cx="889785" cy="145888"/>
            <a:chOff x="5763766" y="-232900"/>
            <a:chExt cx="1144429" cy="187639"/>
          </a:xfrm>
        </p:grpSpPr>
        <p:sp>
          <p:nvSpPr>
            <p:cNvPr id="243" name="Freeform 17"/>
            <p:cNvSpPr>
              <a:spLocks noChangeArrowheads="1"/>
            </p:cNvSpPr>
            <p:nvPr/>
          </p:nvSpPr>
          <p:spPr bwMode="auto">
            <a:xfrm>
              <a:off x="5763766" y="-214900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44" name="Freeform 33"/>
            <p:cNvSpPr>
              <a:spLocks noEditPoints="1"/>
            </p:cNvSpPr>
            <p:nvPr/>
          </p:nvSpPr>
          <p:spPr bwMode="auto">
            <a:xfrm>
              <a:off x="6236907" y="-214900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245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3023" y="-214900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6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3551" y="-232900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7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8195" y="-22526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1" name="Rectangle 198"/>
          <p:cNvSpPr/>
          <p:nvPr/>
        </p:nvSpPr>
        <p:spPr>
          <a:xfrm>
            <a:off x="1963622" y="4269458"/>
            <a:ext cx="4899220" cy="23298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+mn-ea"/>
            </a:endParaRPr>
          </a:p>
        </p:txBody>
      </p:sp>
      <p:sp>
        <p:nvSpPr>
          <p:cNvPr id="269" name="텍스트 상자 31"/>
          <p:cNvSpPr txBox="1"/>
          <p:nvPr/>
        </p:nvSpPr>
        <p:spPr>
          <a:xfrm>
            <a:off x="2421281" y="440080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70" name="그룹 400"/>
          <p:cNvGrpSpPr/>
          <p:nvPr/>
        </p:nvGrpSpPr>
        <p:grpSpPr>
          <a:xfrm>
            <a:off x="2078489" y="4390331"/>
            <a:ext cx="229236" cy="229194"/>
            <a:chOff x="2625629" y="3735853"/>
            <a:chExt cx="276891" cy="276839"/>
          </a:xfrm>
        </p:grpSpPr>
        <p:sp>
          <p:nvSpPr>
            <p:cNvPr id="27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72" name="Picture 157" descr="man-user (1).png"/>
            <p:cNvPicPr>
              <a:picLocks noChangeAspect="1"/>
            </p:cNvPicPr>
            <p:nvPr/>
          </p:nvPicPr>
          <p:blipFill>
            <a:blip r:embed="rId5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73" name="텍스트 상자 31"/>
          <p:cNvSpPr txBox="1"/>
          <p:nvPr/>
        </p:nvSpPr>
        <p:spPr>
          <a:xfrm>
            <a:off x="2421281" y="4538657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74" name="텍스트 상자 31"/>
          <p:cNvSpPr txBox="1"/>
          <p:nvPr/>
        </p:nvSpPr>
        <p:spPr>
          <a:xfrm>
            <a:off x="2078489" y="4723411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</a:p>
          <a:p>
            <a:pPr>
              <a:lnSpc>
                <a:spcPct val="120000"/>
              </a:lnSpc>
            </a:pPr>
            <a:r>
              <a:rPr kumimoji="1" lang="mr-IN" altLang="ko-KR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더보기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75" name="Rectangle 300"/>
          <p:cNvSpPr/>
          <p:nvPr/>
        </p:nvSpPr>
        <p:spPr>
          <a:xfrm>
            <a:off x="1963622" y="1894381"/>
            <a:ext cx="4899220" cy="112531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76" name="텍스트 상자 31"/>
          <p:cNvSpPr txBox="1"/>
          <p:nvPr/>
        </p:nvSpPr>
        <p:spPr>
          <a:xfrm>
            <a:off x="2421281" y="202572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77" name="그룹 400"/>
          <p:cNvGrpSpPr/>
          <p:nvPr/>
        </p:nvGrpSpPr>
        <p:grpSpPr>
          <a:xfrm>
            <a:off x="2078489" y="2015253"/>
            <a:ext cx="229236" cy="229194"/>
            <a:chOff x="2625629" y="3735853"/>
            <a:chExt cx="276891" cy="276839"/>
          </a:xfrm>
        </p:grpSpPr>
        <p:sp>
          <p:nvSpPr>
            <p:cNvPr id="278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79" name="Picture 157" descr="man-user (1).png"/>
            <p:cNvPicPr>
              <a:picLocks noChangeAspect="1"/>
            </p:cNvPicPr>
            <p:nvPr/>
          </p:nvPicPr>
          <p:blipFill>
            <a:blip r:embed="rId5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80" name="텍스트 상자 31"/>
          <p:cNvSpPr txBox="1"/>
          <p:nvPr/>
        </p:nvSpPr>
        <p:spPr>
          <a:xfrm>
            <a:off x="2421281" y="2163579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1" name="텍스트 상자 31"/>
          <p:cNvSpPr txBox="1"/>
          <p:nvPr/>
        </p:nvSpPr>
        <p:spPr>
          <a:xfrm>
            <a:off x="2078489" y="2368652"/>
            <a:ext cx="3198684" cy="10772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2" name="Rectangle 306"/>
          <p:cNvSpPr/>
          <p:nvPr/>
        </p:nvSpPr>
        <p:spPr>
          <a:xfrm>
            <a:off x="1963622" y="3007128"/>
            <a:ext cx="4899220" cy="846704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83" name="Rounded Rectangle 308"/>
          <p:cNvSpPr/>
          <p:nvPr/>
        </p:nvSpPr>
        <p:spPr>
          <a:xfrm>
            <a:off x="2073149" y="2575658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84" name="Rounded Rectangle 309"/>
          <p:cNvSpPr/>
          <p:nvPr/>
        </p:nvSpPr>
        <p:spPr>
          <a:xfrm>
            <a:off x="2432705" y="2575658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85" name="직선 연결선[R] 33"/>
          <p:cNvCxnSpPr/>
          <p:nvPr/>
        </p:nvCxnSpPr>
        <p:spPr>
          <a:xfrm>
            <a:off x="2052284" y="2807770"/>
            <a:ext cx="4701155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86" name="Group 314"/>
          <p:cNvGrpSpPr/>
          <p:nvPr/>
        </p:nvGrpSpPr>
        <p:grpSpPr>
          <a:xfrm>
            <a:off x="2078489" y="3424071"/>
            <a:ext cx="1612396" cy="229194"/>
            <a:chOff x="2478168" y="4026446"/>
            <a:chExt cx="1612396" cy="229194"/>
          </a:xfrm>
        </p:grpSpPr>
        <p:sp>
          <p:nvSpPr>
            <p:cNvPr id="287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88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9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91" name="Picture 157" descr="man-user (1).png"/>
              <p:cNvPicPr>
                <a:picLocks noChangeAspect="1"/>
              </p:cNvPicPr>
              <p:nvPr/>
            </p:nvPicPr>
            <p:blipFill>
              <a:blip r:embed="rId5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89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92" name="Rectangle 321"/>
          <p:cNvSpPr/>
          <p:nvPr/>
        </p:nvSpPr>
        <p:spPr>
          <a:xfrm>
            <a:off x="2064079" y="3083032"/>
            <a:ext cx="4262914" cy="198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93" name="텍스트 상자 31"/>
          <p:cNvSpPr txBox="1"/>
          <p:nvPr/>
        </p:nvSpPr>
        <p:spPr>
          <a:xfrm>
            <a:off x="2132955" y="3136756"/>
            <a:ext cx="767405" cy="9233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6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의견을 입력하세요</a:t>
            </a:r>
            <a:endParaRPr kumimoji="1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01" name="직선 연결선[R] 33"/>
          <p:cNvCxnSpPr/>
          <p:nvPr/>
        </p:nvCxnSpPr>
        <p:spPr>
          <a:xfrm>
            <a:off x="2052284" y="3336439"/>
            <a:ext cx="475036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2" name="Rectangle 319"/>
          <p:cNvSpPr/>
          <p:nvPr/>
        </p:nvSpPr>
        <p:spPr>
          <a:xfrm>
            <a:off x="1963622" y="3723324"/>
            <a:ext cx="489922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500" b="1" u="sng" dirty="0">
                <a:solidFill>
                  <a:prstClr val="white"/>
                </a:solidFill>
                <a:latin typeface="맑은 고딕" panose="020B0503020000020004" pitchFamily="50" charset="-127"/>
              </a:rPr>
              <a:t>전체 </a:t>
            </a:r>
            <a:r>
              <a:rPr lang="ko-KR" altLang="en-US" sz="500" b="1" u="sng" dirty="0" err="1">
                <a:solidFill>
                  <a:prstClr val="white"/>
                </a:solidFill>
                <a:latin typeface="맑은 고딕" panose="020B0503020000020004" pitchFamily="50" charset="-127"/>
              </a:rPr>
              <a:t>댓글</a:t>
            </a:r>
            <a:r>
              <a:rPr lang="ko-KR" altLang="en-US" sz="500" b="1" u="sng" dirty="0">
                <a:solidFill>
                  <a:prstClr val="white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500" b="1" u="sng" dirty="0" smtClean="0">
                <a:solidFill>
                  <a:prstClr val="white"/>
                </a:solidFill>
                <a:latin typeface="맑은 고딕" panose="020B0503020000020004" pitchFamily="50" charset="-127"/>
              </a:rPr>
              <a:t>보기</a:t>
            </a:r>
            <a:endParaRPr lang="ko-KR" altLang="en-US" sz="500" b="1" u="sng" dirty="0">
              <a:solidFill>
                <a:prstClr val="white"/>
              </a:solidFill>
              <a:latin typeface="맑은 고딕" panose="020B0503020000020004" pitchFamily="50" charset="-127"/>
            </a:endParaRPr>
          </a:p>
        </p:txBody>
      </p:sp>
      <p:sp>
        <p:nvSpPr>
          <p:cNvPr id="303" name="Rectangle 354"/>
          <p:cNvSpPr/>
          <p:nvPr/>
        </p:nvSpPr>
        <p:spPr>
          <a:xfrm>
            <a:off x="4221312" y="5625623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>
            <a:off x="6390604" y="5625623"/>
            <a:ext cx="238503" cy="694220"/>
            <a:chOff x="5090982" y="5625623"/>
            <a:chExt cx="238503" cy="694220"/>
          </a:xfrm>
        </p:grpSpPr>
        <p:sp>
          <p:nvSpPr>
            <p:cNvPr id="305" name="Rectangle 355"/>
            <p:cNvSpPr/>
            <p:nvPr/>
          </p:nvSpPr>
          <p:spPr>
            <a:xfrm>
              <a:off x="5090982" y="5625623"/>
              <a:ext cx="238503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>
                <a:latin typeface="+mn-ea"/>
              </a:endParaRPr>
            </a:p>
          </p:txBody>
        </p:sp>
        <p:sp>
          <p:nvSpPr>
            <p:cNvPr id="306" name="Freeform 14"/>
            <p:cNvSpPr>
              <a:spLocks noChangeArrowheads="1"/>
            </p:cNvSpPr>
            <p:nvPr/>
          </p:nvSpPr>
          <p:spPr bwMode="auto">
            <a:xfrm rot="5400000">
              <a:off x="5147763" y="5926693"/>
              <a:ext cx="150676" cy="92080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307" name="Rectangle 439"/>
          <p:cNvSpPr/>
          <p:nvPr/>
        </p:nvSpPr>
        <p:spPr>
          <a:xfrm>
            <a:off x="1963622" y="1580722"/>
            <a:ext cx="4899220" cy="2882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08" name="텍스트 상자 31"/>
          <p:cNvSpPr txBox="1"/>
          <p:nvPr/>
        </p:nvSpPr>
        <p:spPr>
          <a:xfrm>
            <a:off x="2081677" y="1670962"/>
            <a:ext cx="1904107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UX</a:t>
            </a:r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개선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9" name="Freeform 14"/>
          <p:cNvSpPr>
            <a:spLocks noChangeArrowheads="1"/>
          </p:cNvSpPr>
          <p:nvPr/>
        </p:nvSpPr>
        <p:spPr bwMode="auto">
          <a:xfrm rot="5400000">
            <a:off x="6583585" y="1697332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10" name="Rectangle 507"/>
          <p:cNvSpPr/>
          <p:nvPr/>
        </p:nvSpPr>
        <p:spPr>
          <a:xfrm>
            <a:off x="1963622" y="3940861"/>
            <a:ext cx="4898392" cy="2882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11" name="텍스트 상자 31"/>
          <p:cNvSpPr txBox="1"/>
          <p:nvPr/>
        </p:nvSpPr>
        <p:spPr>
          <a:xfrm>
            <a:off x="2081677" y="4031101"/>
            <a:ext cx="1904107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통신사 서비스 </a:t>
            </a:r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TF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12" name="Freeform 25"/>
          <p:cNvSpPr>
            <a:spLocks noChangeAspect="1" noEditPoints="1"/>
          </p:cNvSpPr>
          <p:nvPr/>
        </p:nvSpPr>
        <p:spPr bwMode="auto">
          <a:xfrm>
            <a:off x="6392128" y="201464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13" name="Freeform 26"/>
          <p:cNvSpPr>
            <a:spLocks noChangeAspect="1" noChangeArrowheads="1"/>
          </p:cNvSpPr>
          <p:nvPr/>
        </p:nvSpPr>
        <p:spPr bwMode="auto">
          <a:xfrm flipH="1">
            <a:off x="6583650" y="2024237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314" name="직선 연결선[R] 33"/>
          <p:cNvCxnSpPr/>
          <p:nvPr/>
        </p:nvCxnSpPr>
        <p:spPr>
          <a:xfrm>
            <a:off x="2052284" y="6399491"/>
            <a:ext cx="4701155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6" name="Freeform 417"/>
          <p:cNvSpPr>
            <a:spLocks noChangeAspect="1"/>
          </p:cNvSpPr>
          <p:nvPr/>
        </p:nvSpPr>
        <p:spPr>
          <a:xfrm>
            <a:off x="2064078" y="6449796"/>
            <a:ext cx="80610" cy="89283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37" name="Rounded Rectangle 616"/>
          <p:cNvSpPr/>
          <p:nvPr/>
        </p:nvSpPr>
        <p:spPr>
          <a:xfrm>
            <a:off x="6379294" y="3091294"/>
            <a:ext cx="360000" cy="18000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 smtClean="0"/>
              <a:t>등록</a:t>
            </a:r>
            <a:endParaRPr lang="en-US" sz="700" b="1" dirty="0"/>
          </a:p>
        </p:txBody>
      </p:sp>
      <p:sp>
        <p:nvSpPr>
          <p:cNvPr id="338" name="Freeform 14"/>
          <p:cNvSpPr>
            <a:spLocks noChangeArrowheads="1"/>
          </p:cNvSpPr>
          <p:nvPr/>
        </p:nvSpPr>
        <p:spPr bwMode="auto">
          <a:xfrm rot="5400000">
            <a:off x="6558364" y="405747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39" name="Freeform 26"/>
          <p:cNvSpPr>
            <a:spLocks noChangeAspect="1" noChangeArrowheads="1"/>
          </p:cNvSpPr>
          <p:nvPr/>
        </p:nvSpPr>
        <p:spPr bwMode="auto">
          <a:xfrm flipH="1">
            <a:off x="6558429" y="4394759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40" name="Freeform 25"/>
          <p:cNvSpPr>
            <a:spLocks noChangeAspect="1" noEditPoints="1"/>
          </p:cNvSpPr>
          <p:nvPr/>
        </p:nvSpPr>
        <p:spPr bwMode="auto">
          <a:xfrm>
            <a:off x="6366907" y="438382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sp>
        <p:nvSpPr>
          <p:cNvPr id="341" name="Rectangle 354"/>
          <p:cNvSpPr/>
          <p:nvPr/>
        </p:nvSpPr>
        <p:spPr>
          <a:xfrm>
            <a:off x="2052210" y="5625623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sp>
        <p:nvSpPr>
          <p:cNvPr id="342" name="Rectangle 354"/>
          <p:cNvSpPr/>
          <p:nvPr/>
        </p:nvSpPr>
        <p:spPr>
          <a:xfrm>
            <a:off x="3135474" y="5625623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sp>
        <p:nvSpPr>
          <p:cNvPr id="343" name="Rectangle 354"/>
          <p:cNvSpPr/>
          <p:nvPr/>
        </p:nvSpPr>
        <p:spPr>
          <a:xfrm>
            <a:off x="5313398" y="5625623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sp>
        <p:nvSpPr>
          <p:cNvPr id="259" name="Freeform 17"/>
          <p:cNvSpPr>
            <a:spLocks noChangeArrowheads="1"/>
          </p:cNvSpPr>
          <p:nvPr/>
        </p:nvSpPr>
        <p:spPr bwMode="auto">
          <a:xfrm>
            <a:off x="5951279" y="3125624"/>
            <a:ext cx="125954" cy="125954"/>
          </a:xfrm>
          <a:custGeom>
            <a:avLst/>
            <a:gdLst>
              <a:gd name="T0" fmla="*/ 403 w 404"/>
              <a:gd name="T1" fmla="*/ 360 h 404"/>
              <a:gd name="T2" fmla="*/ 403 w 404"/>
              <a:gd name="T3" fmla="*/ 43 h 404"/>
              <a:gd name="T4" fmla="*/ 360 w 404"/>
              <a:gd name="T5" fmla="*/ 0 h 404"/>
              <a:gd name="T6" fmla="*/ 47 w 404"/>
              <a:gd name="T7" fmla="*/ 0 h 404"/>
              <a:gd name="T8" fmla="*/ 0 w 404"/>
              <a:gd name="T9" fmla="*/ 43 h 404"/>
              <a:gd name="T10" fmla="*/ 0 w 404"/>
              <a:gd name="T11" fmla="*/ 360 h 404"/>
              <a:gd name="T12" fmla="*/ 47 w 404"/>
              <a:gd name="T13" fmla="*/ 403 h 404"/>
              <a:gd name="T14" fmla="*/ 360 w 404"/>
              <a:gd name="T15" fmla="*/ 403 h 404"/>
              <a:gd name="T16" fmla="*/ 403 w 404"/>
              <a:gd name="T17" fmla="*/ 360 h 404"/>
              <a:gd name="T18" fmla="*/ 124 w 404"/>
              <a:gd name="T19" fmla="*/ 236 h 404"/>
              <a:gd name="T20" fmla="*/ 180 w 404"/>
              <a:gd name="T21" fmla="*/ 304 h 404"/>
              <a:gd name="T22" fmla="*/ 257 w 404"/>
              <a:gd name="T23" fmla="*/ 201 h 404"/>
              <a:gd name="T24" fmla="*/ 360 w 404"/>
              <a:gd name="T25" fmla="*/ 334 h 404"/>
              <a:gd name="T26" fmla="*/ 47 w 404"/>
              <a:gd name="T27" fmla="*/ 334 h 404"/>
              <a:gd name="T28" fmla="*/ 124 w 404"/>
              <a:gd name="T29" fmla="*/ 23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4" h="404">
                <a:moveTo>
                  <a:pt x="403" y="360"/>
                </a:moveTo>
                <a:lnTo>
                  <a:pt x="403" y="43"/>
                </a:lnTo>
                <a:cubicBezTo>
                  <a:pt x="403" y="21"/>
                  <a:pt x="386" y="0"/>
                  <a:pt x="360" y="0"/>
                </a:cubicBezTo>
                <a:lnTo>
                  <a:pt x="47" y="0"/>
                </a:lnTo>
                <a:cubicBezTo>
                  <a:pt x="22" y="0"/>
                  <a:pt x="0" y="21"/>
                  <a:pt x="0" y="43"/>
                </a:cubicBezTo>
                <a:lnTo>
                  <a:pt x="0" y="360"/>
                </a:lnTo>
                <a:cubicBezTo>
                  <a:pt x="0" y="381"/>
                  <a:pt x="22" y="403"/>
                  <a:pt x="47" y="403"/>
                </a:cubicBezTo>
                <a:lnTo>
                  <a:pt x="360" y="403"/>
                </a:lnTo>
                <a:cubicBezTo>
                  <a:pt x="386" y="403"/>
                  <a:pt x="403" y="381"/>
                  <a:pt x="403" y="360"/>
                </a:cubicBezTo>
                <a:close/>
                <a:moveTo>
                  <a:pt x="124" y="236"/>
                </a:moveTo>
                <a:lnTo>
                  <a:pt x="180" y="304"/>
                </a:lnTo>
                <a:lnTo>
                  <a:pt x="257" y="201"/>
                </a:lnTo>
                <a:lnTo>
                  <a:pt x="360" y="334"/>
                </a:lnTo>
                <a:lnTo>
                  <a:pt x="47" y="334"/>
                </a:lnTo>
                <a:lnTo>
                  <a:pt x="124" y="2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pic>
        <p:nvPicPr>
          <p:cNvPr id="260" name="Picture 2" descr="C:\Users\Administrator\Downloads\paperclip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7300" y="3125624"/>
            <a:ext cx="125954" cy="1259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1" name="타원 250"/>
          <p:cNvSpPr>
            <a:spLocks noChangeAspect="1"/>
          </p:cNvSpPr>
          <p:nvPr/>
        </p:nvSpPr>
        <p:spPr>
          <a:xfrm>
            <a:off x="1820104" y="1556084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모서리가 둥근 사각형 설명선 55"/>
          <p:cNvSpPr/>
          <p:nvPr/>
        </p:nvSpPr>
        <p:spPr>
          <a:xfrm>
            <a:off x="5803454" y="1012030"/>
            <a:ext cx="295650" cy="173387"/>
          </a:xfrm>
          <a:prstGeom prst="wedgeRoundRectCallout">
            <a:avLst>
              <a:gd name="adj1" fmla="val -20028"/>
              <a:gd name="adj2" fmla="val 76380"/>
              <a:gd name="adj3" fmla="val 16667"/>
            </a:avLst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dirty="0" smtClean="0">
                <a:latin typeface="나눔고딕" pitchFamily="50" charset="-127"/>
                <a:ea typeface="나눔고딕" pitchFamily="50" charset="-127"/>
              </a:rPr>
              <a:t>사진</a:t>
            </a:r>
          </a:p>
        </p:txBody>
      </p:sp>
      <p:grpSp>
        <p:nvGrpSpPr>
          <p:cNvPr id="218" name="그룹 217"/>
          <p:cNvGrpSpPr/>
          <p:nvPr/>
        </p:nvGrpSpPr>
        <p:grpSpPr>
          <a:xfrm>
            <a:off x="2195181" y="6431801"/>
            <a:ext cx="796136" cy="115755"/>
            <a:chOff x="2195181" y="2841183"/>
            <a:chExt cx="796136" cy="115755"/>
          </a:xfrm>
        </p:grpSpPr>
        <p:grpSp>
          <p:nvGrpSpPr>
            <p:cNvPr id="219" name="Group 10"/>
            <p:cNvGrpSpPr/>
            <p:nvPr/>
          </p:nvGrpSpPr>
          <p:grpSpPr>
            <a:xfrm>
              <a:off x="2195181" y="2847307"/>
              <a:ext cx="796136" cy="107722"/>
              <a:chOff x="2594860" y="3788208"/>
              <a:chExt cx="796136" cy="107722"/>
            </a:xfrm>
          </p:grpSpPr>
          <p:grpSp>
            <p:nvGrpSpPr>
              <p:cNvPr id="221" name="Group 311"/>
              <p:cNvGrpSpPr/>
              <p:nvPr/>
            </p:nvGrpSpPr>
            <p:grpSpPr>
              <a:xfrm>
                <a:off x="3127159" y="3788208"/>
                <a:ext cx="263837" cy="107722"/>
                <a:chOff x="5094041" y="3121801"/>
                <a:chExt cx="263837" cy="107722"/>
              </a:xfrm>
            </p:grpSpPr>
            <p:sp>
              <p:nvSpPr>
                <p:cNvPr id="235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5094041" y="3136639"/>
                  <a:ext cx="90000" cy="89388"/>
                </a:xfrm>
                <a:custGeom>
                  <a:avLst/>
                  <a:gdLst>
                    <a:gd name="T0" fmla="*/ 587 w 650"/>
                    <a:gd name="T1" fmla="*/ 0 h 644"/>
                    <a:gd name="T2" fmla="*/ 68 w 650"/>
                    <a:gd name="T3" fmla="*/ 0 h 644"/>
                    <a:gd name="T4" fmla="*/ 0 w 650"/>
                    <a:gd name="T5" fmla="*/ 62 h 644"/>
                    <a:gd name="T6" fmla="*/ 0 w 650"/>
                    <a:gd name="T7" fmla="*/ 643 h 644"/>
                    <a:gd name="T8" fmla="*/ 130 w 650"/>
                    <a:gd name="T9" fmla="*/ 513 h 644"/>
                    <a:gd name="T10" fmla="*/ 587 w 650"/>
                    <a:gd name="T11" fmla="*/ 513 h 644"/>
                    <a:gd name="T12" fmla="*/ 649 w 650"/>
                    <a:gd name="T13" fmla="*/ 451 h 644"/>
                    <a:gd name="T14" fmla="*/ 649 w 650"/>
                    <a:gd name="T15" fmla="*/ 62 h 644"/>
                    <a:gd name="T16" fmla="*/ 587 w 650"/>
                    <a:gd name="T17" fmla="*/ 0 h 644"/>
                    <a:gd name="T18" fmla="*/ 229 w 650"/>
                    <a:gd name="T19" fmla="*/ 290 h 644"/>
                    <a:gd name="T20" fmla="*/ 167 w 650"/>
                    <a:gd name="T21" fmla="*/ 290 h 644"/>
                    <a:gd name="T22" fmla="*/ 167 w 650"/>
                    <a:gd name="T23" fmla="*/ 222 h 644"/>
                    <a:gd name="T24" fmla="*/ 229 w 650"/>
                    <a:gd name="T25" fmla="*/ 222 h 644"/>
                    <a:gd name="T26" fmla="*/ 229 w 650"/>
                    <a:gd name="T27" fmla="*/ 290 h 644"/>
                    <a:gd name="T28" fmla="*/ 359 w 650"/>
                    <a:gd name="T29" fmla="*/ 290 h 644"/>
                    <a:gd name="T30" fmla="*/ 297 w 650"/>
                    <a:gd name="T31" fmla="*/ 290 h 644"/>
                    <a:gd name="T32" fmla="*/ 297 w 650"/>
                    <a:gd name="T33" fmla="*/ 222 h 644"/>
                    <a:gd name="T34" fmla="*/ 359 w 650"/>
                    <a:gd name="T35" fmla="*/ 222 h 644"/>
                    <a:gd name="T36" fmla="*/ 359 w 650"/>
                    <a:gd name="T37" fmla="*/ 290 h 644"/>
                    <a:gd name="T38" fmla="*/ 488 w 650"/>
                    <a:gd name="T39" fmla="*/ 290 h 644"/>
                    <a:gd name="T40" fmla="*/ 420 w 650"/>
                    <a:gd name="T41" fmla="*/ 290 h 644"/>
                    <a:gd name="T42" fmla="*/ 420 w 650"/>
                    <a:gd name="T43" fmla="*/ 222 h 644"/>
                    <a:gd name="T44" fmla="*/ 488 w 650"/>
                    <a:gd name="T45" fmla="*/ 222 h 644"/>
                    <a:gd name="T46" fmla="*/ 488 w 650"/>
                    <a:gd name="T47" fmla="*/ 290 h 6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50" h="644">
                      <a:moveTo>
                        <a:pt x="587" y="0"/>
                      </a:moveTo>
                      <a:lnTo>
                        <a:pt x="68" y="0"/>
                      </a:lnTo>
                      <a:cubicBezTo>
                        <a:pt x="31" y="0"/>
                        <a:pt x="0" y="24"/>
                        <a:pt x="0" y="62"/>
                      </a:cubicBezTo>
                      <a:lnTo>
                        <a:pt x="0" y="643"/>
                      </a:lnTo>
                      <a:lnTo>
                        <a:pt x="130" y="513"/>
                      </a:lnTo>
                      <a:lnTo>
                        <a:pt x="587" y="513"/>
                      </a:lnTo>
                      <a:cubicBezTo>
                        <a:pt x="618" y="513"/>
                        <a:pt x="649" y="482"/>
                        <a:pt x="649" y="451"/>
                      </a:cubicBezTo>
                      <a:lnTo>
                        <a:pt x="649" y="62"/>
                      </a:lnTo>
                      <a:cubicBezTo>
                        <a:pt x="649" y="24"/>
                        <a:pt x="618" y="0"/>
                        <a:pt x="587" y="0"/>
                      </a:cubicBezTo>
                      <a:close/>
                      <a:moveTo>
                        <a:pt x="229" y="290"/>
                      </a:moveTo>
                      <a:lnTo>
                        <a:pt x="167" y="290"/>
                      </a:lnTo>
                      <a:lnTo>
                        <a:pt x="167" y="222"/>
                      </a:lnTo>
                      <a:lnTo>
                        <a:pt x="229" y="222"/>
                      </a:lnTo>
                      <a:lnTo>
                        <a:pt x="229" y="290"/>
                      </a:lnTo>
                      <a:close/>
                      <a:moveTo>
                        <a:pt x="359" y="290"/>
                      </a:moveTo>
                      <a:lnTo>
                        <a:pt x="297" y="290"/>
                      </a:lnTo>
                      <a:lnTo>
                        <a:pt x="297" y="222"/>
                      </a:lnTo>
                      <a:lnTo>
                        <a:pt x="359" y="222"/>
                      </a:lnTo>
                      <a:lnTo>
                        <a:pt x="359" y="290"/>
                      </a:lnTo>
                      <a:close/>
                      <a:moveTo>
                        <a:pt x="488" y="290"/>
                      </a:moveTo>
                      <a:lnTo>
                        <a:pt x="420" y="290"/>
                      </a:lnTo>
                      <a:lnTo>
                        <a:pt x="420" y="222"/>
                      </a:lnTo>
                      <a:lnTo>
                        <a:pt x="488" y="222"/>
                      </a:lnTo>
                      <a:lnTo>
                        <a:pt x="488" y="2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sp>
              <p:nvSpPr>
                <p:cNvPr id="236" name="텍스트 상자 31"/>
                <p:cNvSpPr txBox="1"/>
                <p:nvPr/>
              </p:nvSpPr>
              <p:spPr>
                <a:xfrm>
                  <a:off x="5240219" y="3121801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4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222" name="Group 312"/>
              <p:cNvGrpSpPr/>
              <p:nvPr/>
            </p:nvGrpSpPr>
            <p:grpSpPr>
              <a:xfrm>
                <a:off x="2594860" y="3788208"/>
                <a:ext cx="534081" cy="107722"/>
                <a:chOff x="4269857" y="3799412"/>
                <a:chExt cx="534081" cy="107722"/>
              </a:xfrm>
            </p:grpSpPr>
            <p:sp>
              <p:nvSpPr>
                <p:cNvPr id="225" name="텍스트 상자 31"/>
                <p:cNvSpPr txBox="1"/>
                <p:nvPr/>
              </p:nvSpPr>
              <p:spPr>
                <a:xfrm>
                  <a:off x="4686279" y="3799412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3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grpSp>
              <p:nvGrpSpPr>
                <p:cNvPr id="226" name="Group 50"/>
                <p:cNvGrpSpPr>
                  <a:grpSpLocks noChangeAspect="1"/>
                </p:cNvGrpSpPr>
                <p:nvPr/>
              </p:nvGrpSpPr>
              <p:grpSpPr bwMode="auto">
                <a:xfrm>
                  <a:off x="4269857" y="3808273"/>
                  <a:ext cx="89419" cy="90000"/>
                  <a:chOff x="2178" y="1307"/>
                  <a:chExt cx="154" cy="155"/>
                </a:xfrm>
                <a:solidFill>
                  <a:schemeClr val="bg1">
                    <a:lumMod val="50000"/>
                  </a:schemeClr>
                </a:solidFill>
              </p:grpSpPr>
              <p:sp>
                <p:nvSpPr>
                  <p:cNvPr id="227" name="Oval 51"/>
                  <p:cNvSpPr>
                    <a:spLocks noChangeArrowheads="1"/>
                  </p:cNvSpPr>
                  <p:nvPr/>
                </p:nvSpPr>
                <p:spPr bwMode="auto">
                  <a:xfrm>
                    <a:off x="2271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33" name="Oval 52"/>
                  <p:cNvSpPr>
                    <a:spLocks noChangeArrowheads="1"/>
                  </p:cNvSpPr>
                  <p:nvPr/>
                </p:nvSpPr>
                <p:spPr bwMode="auto">
                  <a:xfrm>
                    <a:off x="2217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34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2178" y="1307"/>
                    <a:ext cx="154" cy="155"/>
                  </a:xfrm>
                  <a:custGeom>
                    <a:avLst/>
                    <a:gdLst>
                      <a:gd name="T0" fmla="*/ 250 w 500"/>
                      <a:gd name="T1" fmla="*/ 0 h 500"/>
                      <a:gd name="T2" fmla="*/ 0 w 500"/>
                      <a:gd name="T3" fmla="*/ 250 h 500"/>
                      <a:gd name="T4" fmla="*/ 250 w 500"/>
                      <a:gd name="T5" fmla="*/ 500 h 500"/>
                      <a:gd name="T6" fmla="*/ 500 w 500"/>
                      <a:gd name="T7" fmla="*/ 250 h 500"/>
                      <a:gd name="T8" fmla="*/ 250 w 500"/>
                      <a:gd name="T9" fmla="*/ 0 h 500"/>
                      <a:gd name="T10" fmla="*/ 250 w 500"/>
                      <a:gd name="T11" fmla="*/ 450 h 500"/>
                      <a:gd name="T12" fmla="*/ 50 w 500"/>
                      <a:gd name="T13" fmla="*/ 250 h 500"/>
                      <a:gd name="T14" fmla="*/ 250 w 500"/>
                      <a:gd name="T15" fmla="*/ 50 h 500"/>
                      <a:gd name="T16" fmla="*/ 450 w 500"/>
                      <a:gd name="T17" fmla="*/ 250 h 500"/>
                      <a:gd name="T18" fmla="*/ 250 w 500"/>
                      <a:gd name="T19" fmla="*/ 450 h 500"/>
                      <a:gd name="T20" fmla="*/ 250 w 500"/>
                      <a:gd name="T21" fmla="*/ 350 h 500"/>
                      <a:gd name="T22" fmla="*/ 164 w 500"/>
                      <a:gd name="T23" fmla="*/ 300 h 500"/>
                      <a:gd name="T24" fmla="*/ 122 w 500"/>
                      <a:gd name="T25" fmla="*/ 300 h 500"/>
                      <a:gd name="T26" fmla="*/ 250 w 500"/>
                      <a:gd name="T27" fmla="*/ 388 h 500"/>
                      <a:gd name="T28" fmla="*/ 378 w 500"/>
                      <a:gd name="T29" fmla="*/ 300 h 500"/>
                      <a:gd name="T30" fmla="*/ 336 w 500"/>
                      <a:gd name="T31" fmla="*/ 300 h 500"/>
                      <a:gd name="T32" fmla="*/ 250 w 500"/>
                      <a:gd name="T33" fmla="*/ 350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00" h="500">
                        <a:moveTo>
                          <a:pt x="250" y="0"/>
                        </a:moveTo>
                        <a:cubicBezTo>
                          <a:pt x="112" y="0"/>
                          <a:pt x="0" y="112"/>
                          <a:pt x="0" y="250"/>
                        </a:cubicBezTo>
                        <a:cubicBezTo>
                          <a:pt x="0" y="388"/>
                          <a:pt x="112" y="500"/>
                          <a:pt x="250" y="500"/>
                        </a:cubicBezTo>
                        <a:cubicBezTo>
                          <a:pt x="388" y="500"/>
                          <a:pt x="500" y="388"/>
                          <a:pt x="500" y="250"/>
                        </a:cubicBezTo>
                        <a:cubicBezTo>
                          <a:pt x="500" y="112"/>
                          <a:pt x="388" y="0"/>
                          <a:pt x="250" y="0"/>
                        </a:cubicBezTo>
                        <a:close/>
                        <a:moveTo>
                          <a:pt x="250" y="450"/>
                        </a:moveTo>
                        <a:cubicBezTo>
                          <a:pt x="140" y="450"/>
                          <a:pt x="50" y="361"/>
                          <a:pt x="50" y="250"/>
                        </a:cubicBezTo>
                        <a:cubicBezTo>
                          <a:pt x="50" y="139"/>
                          <a:pt x="140" y="50"/>
                          <a:pt x="250" y="50"/>
                        </a:cubicBezTo>
                        <a:cubicBezTo>
                          <a:pt x="361" y="50"/>
                          <a:pt x="450" y="140"/>
                          <a:pt x="450" y="250"/>
                        </a:cubicBezTo>
                        <a:cubicBezTo>
                          <a:pt x="450" y="361"/>
                          <a:pt x="361" y="450"/>
                          <a:pt x="250" y="450"/>
                        </a:cubicBezTo>
                        <a:close/>
                        <a:moveTo>
                          <a:pt x="250" y="350"/>
                        </a:moveTo>
                        <a:cubicBezTo>
                          <a:pt x="213" y="350"/>
                          <a:pt x="181" y="330"/>
                          <a:pt x="164" y="300"/>
                        </a:cubicBezTo>
                        <a:lnTo>
                          <a:pt x="122" y="300"/>
                        </a:lnTo>
                        <a:cubicBezTo>
                          <a:pt x="142" y="351"/>
                          <a:pt x="192" y="388"/>
                          <a:pt x="250" y="388"/>
                        </a:cubicBezTo>
                        <a:cubicBezTo>
                          <a:pt x="308" y="388"/>
                          <a:pt x="358" y="351"/>
                          <a:pt x="378" y="300"/>
                        </a:cubicBezTo>
                        <a:lnTo>
                          <a:pt x="336" y="300"/>
                        </a:lnTo>
                        <a:cubicBezTo>
                          <a:pt x="319" y="330"/>
                          <a:pt x="287" y="350"/>
                          <a:pt x="250" y="350"/>
                        </a:cubicBezTo>
                        <a:close/>
                      </a:path>
                    </a:pathLst>
                  </a:cu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</p:grpSp>
          </p:grpSp>
        </p:grpSp>
        <p:pic>
          <p:nvPicPr>
            <p:cNvPr id="220" name="그림 219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02915" y="2841183"/>
              <a:ext cx="270094" cy="115755"/>
            </a:xfrm>
            <a:prstGeom prst="rect">
              <a:avLst/>
            </a:prstGeom>
          </p:spPr>
        </p:pic>
      </p:grpSp>
      <p:grpSp>
        <p:nvGrpSpPr>
          <p:cNvPr id="237" name="그룹 236"/>
          <p:cNvGrpSpPr/>
          <p:nvPr/>
        </p:nvGrpSpPr>
        <p:grpSpPr>
          <a:xfrm>
            <a:off x="2063871" y="2843215"/>
            <a:ext cx="927446" cy="115755"/>
            <a:chOff x="2063871" y="2807721"/>
            <a:chExt cx="927446" cy="115755"/>
          </a:xfrm>
        </p:grpSpPr>
        <p:grpSp>
          <p:nvGrpSpPr>
            <p:cNvPr id="238" name="그룹 237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240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49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99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00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57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94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95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96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97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98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48" name="그림 247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39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직사각형 2"/>
          <p:cNvSpPr/>
          <p:nvPr/>
        </p:nvSpPr>
        <p:spPr>
          <a:xfrm>
            <a:off x="6962857" y="1046366"/>
            <a:ext cx="2166488" cy="1157670"/>
          </a:xfrm>
          <a:prstGeom prst="rect">
            <a:avLst/>
          </a:prstGeom>
          <a:solidFill>
            <a:srgbClr val="FF0000">
              <a:alpha val="55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1400" b="1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영역 삭제</a:t>
            </a:r>
            <a:endParaRPr lang="en-US" altLang="ko-KR" sz="1400" b="1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1400" b="1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20171113</a:t>
            </a:r>
            <a:endParaRPr lang="ko-KR" altLang="en-US" sz="1400" b="1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9282750" y="6057088"/>
            <a:ext cx="1263735" cy="46166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[12/19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수정 내역</a:t>
            </a: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]</a:t>
            </a:r>
          </a:p>
          <a:p>
            <a:pPr>
              <a:lnSpc>
                <a:spcPct val="150000"/>
              </a:lnSpc>
            </a:pP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3-2,3-3)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알림 카운터 삭제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7967133" y="2269067"/>
            <a:ext cx="541867" cy="169333"/>
          </a:xfrm>
          <a:prstGeom prst="rect">
            <a:avLst/>
          </a:prstGeom>
          <a:solidFill>
            <a:srgbClr val="0000FF">
              <a:alpha val="67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r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삭제</a:t>
            </a:r>
            <a:endParaRPr lang="ko-KR" altLang="en-US" sz="8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223" name="직사각형 222"/>
          <p:cNvSpPr/>
          <p:nvPr/>
        </p:nvSpPr>
        <p:spPr>
          <a:xfrm>
            <a:off x="7967133" y="4207921"/>
            <a:ext cx="541867" cy="169333"/>
          </a:xfrm>
          <a:prstGeom prst="rect">
            <a:avLst/>
          </a:prstGeom>
          <a:solidFill>
            <a:srgbClr val="0000FF">
              <a:alpha val="67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r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삭제</a:t>
            </a:r>
            <a:endParaRPr lang="ko-KR" altLang="en-US" sz="8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258" name="직각 삼각형 257"/>
          <p:cNvSpPr/>
          <p:nvPr/>
        </p:nvSpPr>
        <p:spPr>
          <a:xfrm flipH="1">
            <a:off x="11404515" y="5833174"/>
            <a:ext cx="720080" cy="834728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12/19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수정</a:t>
            </a:r>
            <a:endParaRPr lang="ko-KR" altLang="en-US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643121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플래그 글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플래그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SQ5.1.2</a:t>
            </a:r>
            <a:endParaRPr lang="ko-KR" altLang="en-US" dirty="0"/>
          </a:p>
        </p:txBody>
      </p:sp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4" name="텍스트 상자 31"/>
          <p:cNvSpPr txBox="1"/>
          <p:nvPr/>
        </p:nvSpPr>
        <p:spPr>
          <a:xfrm>
            <a:off x="193161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플래그 글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170" name="Rectangle 202"/>
          <p:cNvSpPr/>
          <p:nvPr/>
        </p:nvSpPr>
        <p:spPr>
          <a:xfrm>
            <a:off x="1962357" y="4042396"/>
            <a:ext cx="4889293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71" name="텍스트 상자 31"/>
          <p:cNvSpPr txBox="1"/>
          <p:nvPr/>
        </p:nvSpPr>
        <p:spPr>
          <a:xfrm>
            <a:off x="2420016" y="4163409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이영미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72" name="그룹 400"/>
          <p:cNvGrpSpPr/>
          <p:nvPr/>
        </p:nvGrpSpPr>
        <p:grpSpPr>
          <a:xfrm>
            <a:off x="2077224" y="4152940"/>
            <a:ext cx="229236" cy="229194"/>
            <a:chOff x="2625629" y="3735853"/>
            <a:chExt cx="276891" cy="276839"/>
          </a:xfrm>
        </p:grpSpPr>
        <p:sp>
          <p:nvSpPr>
            <p:cNvPr id="19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9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73" name="텍스트 상자 31"/>
          <p:cNvSpPr txBox="1"/>
          <p:nvPr/>
        </p:nvSpPr>
        <p:spPr>
          <a:xfrm>
            <a:off x="2420016" y="4301266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77" name="직선 연결선[R] 33"/>
          <p:cNvCxnSpPr/>
          <p:nvPr/>
        </p:nvCxnSpPr>
        <p:spPr>
          <a:xfrm>
            <a:off x="2051019" y="5213191"/>
            <a:ext cx="4694687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0" name="Freeform 26"/>
          <p:cNvSpPr>
            <a:spLocks noChangeAspect="1" noChangeArrowheads="1"/>
          </p:cNvSpPr>
          <p:nvPr/>
        </p:nvSpPr>
        <p:spPr bwMode="auto">
          <a:xfrm flipH="1">
            <a:off x="6623686" y="4167691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2" name="Freeform 25"/>
          <p:cNvSpPr>
            <a:spLocks noChangeAspect="1" noEditPoints="1"/>
          </p:cNvSpPr>
          <p:nvPr/>
        </p:nvSpPr>
        <p:spPr bwMode="auto">
          <a:xfrm>
            <a:off x="6432164" y="4163270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08" name="텍스트 상자 31"/>
          <p:cNvSpPr txBox="1"/>
          <p:nvPr/>
        </p:nvSpPr>
        <p:spPr>
          <a:xfrm>
            <a:off x="2080412" y="4474443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이은수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님을 멤버로 추가했습니다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09" name="Group 11"/>
          <p:cNvGrpSpPr/>
          <p:nvPr/>
        </p:nvGrpSpPr>
        <p:grpSpPr>
          <a:xfrm>
            <a:off x="2069276" y="4660538"/>
            <a:ext cx="4676430" cy="458876"/>
            <a:chOff x="4128804" y="3844617"/>
            <a:chExt cx="4676430" cy="458876"/>
          </a:xfrm>
        </p:grpSpPr>
        <p:sp>
          <p:nvSpPr>
            <p:cNvPr id="210" name="Rectangle 177"/>
            <p:cNvSpPr/>
            <p:nvPr/>
          </p:nvSpPr>
          <p:spPr>
            <a:xfrm>
              <a:off x="4128804" y="3844617"/>
              <a:ext cx="4676430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11" name="텍스트 상자 31"/>
            <p:cNvSpPr txBox="1"/>
            <p:nvPr/>
          </p:nvSpPr>
          <p:spPr>
            <a:xfrm>
              <a:off x="4551173" y="4023498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이은수 </a:t>
              </a:r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제품기획팀</a:t>
              </a:r>
              <a:endParaRPr kumimoji="1" lang="ko-KR" altLang="en-US" sz="7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12" name="Freeform 298"/>
            <p:cNvSpPr>
              <a:spLocks noChangeArrowheads="1"/>
            </p:cNvSpPr>
            <p:nvPr/>
          </p:nvSpPr>
          <p:spPr bwMode="auto">
            <a:xfrm rot="5400000">
              <a:off x="8537854" y="4038860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213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51197" y="3957715"/>
              <a:ext cx="222989" cy="222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14" name="Rectangle 202"/>
          <p:cNvSpPr/>
          <p:nvPr/>
        </p:nvSpPr>
        <p:spPr>
          <a:xfrm>
            <a:off x="1962357" y="5970784"/>
            <a:ext cx="4889293" cy="8667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5" name="텍스트 상자 31"/>
          <p:cNvSpPr txBox="1"/>
          <p:nvPr/>
        </p:nvSpPr>
        <p:spPr>
          <a:xfrm>
            <a:off x="2420016" y="609754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16" name="그룹 400"/>
          <p:cNvGrpSpPr/>
          <p:nvPr/>
        </p:nvGrpSpPr>
        <p:grpSpPr>
          <a:xfrm>
            <a:off x="2077224" y="6087079"/>
            <a:ext cx="229236" cy="229194"/>
            <a:chOff x="2625629" y="3735853"/>
            <a:chExt cx="276891" cy="276839"/>
          </a:xfrm>
        </p:grpSpPr>
        <p:sp>
          <p:nvSpPr>
            <p:cNvPr id="217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18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19" name="텍스트 상자 31"/>
          <p:cNvSpPr txBox="1"/>
          <p:nvPr/>
        </p:nvSpPr>
        <p:spPr>
          <a:xfrm>
            <a:off x="2420016" y="6235405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1" name="Freeform 26"/>
          <p:cNvSpPr>
            <a:spLocks noChangeAspect="1" noChangeArrowheads="1"/>
          </p:cNvSpPr>
          <p:nvPr/>
        </p:nvSpPr>
        <p:spPr bwMode="auto">
          <a:xfrm flipH="1">
            <a:off x="6623686" y="6101830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32" name="Freeform 25"/>
          <p:cNvSpPr>
            <a:spLocks noChangeAspect="1" noEditPoints="1"/>
          </p:cNvSpPr>
          <p:nvPr/>
        </p:nvSpPr>
        <p:spPr bwMode="auto">
          <a:xfrm>
            <a:off x="6432164" y="609740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34" name="텍스트 상자 31"/>
          <p:cNvSpPr txBox="1"/>
          <p:nvPr/>
        </p:nvSpPr>
        <p:spPr>
          <a:xfrm>
            <a:off x="2080412" y="6408582"/>
            <a:ext cx="3198684" cy="11650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기획안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문서 공유합니다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1" name="Rectangle 507"/>
          <p:cNvSpPr/>
          <p:nvPr/>
        </p:nvSpPr>
        <p:spPr>
          <a:xfrm>
            <a:off x="1963622" y="5682973"/>
            <a:ext cx="4898392" cy="2882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42" name="텍스트 상자 31"/>
          <p:cNvSpPr txBox="1"/>
          <p:nvPr/>
        </p:nvSpPr>
        <p:spPr>
          <a:xfrm>
            <a:off x="2081677" y="5773213"/>
            <a:ext cx="1904107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통신사 서비스 </a:t>
            </a:r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TF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3" name="Freeform 14"/>
          <p:cNvSpPr>
            <a:spLocks noChangeArrowheads="1"/>
          </p:cNvSpPr>
          <p:nvPr/>
        </p:nvSpPr>
        <p:spPr bwMode="auto">
          <a:xfrm rot="5400000">
            <a:off x="6558364" y="5799583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248" name="그룹 247"/>
          <p:cNvGrpSpPr/>
          <p:nvPr/>
        </p:nvGrpSpPr>
        <p:grpSpPr>
          <a:xfrm>
            <a:off x="2075519" y="6644651"/>
            <a:ext cx="666833" cy="177213"/>
            <a:chOff x="3426063" y="6254752"/>
            <a:chExt cx="666833" cy="177213"/>
          </a:xfrm>
        </p:grpSpPr>
        <p:sp>
          <p:nvSpPr>
            <p:cNvPr id="244" name="Rounded Rectangle 133"/>
            <p:cNvSpPr/>
            <p:nvPr/>
          </p:nvSpPr>
          <p:spPr>
            <a:xfrm>
              <a:off x="3426063" y="6254752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5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45" name="Group 1"/>
            <p:cNvGrpSpPr/>
            <p:nvPr/>
          </p:nvGrpSpPr>
          <p:grpSpPr>
            <a:xfrm>
              <a:off x="3599331" y="6291356"/>
              <a:ext cx="493565" cy="107722"/>
              <a:chOff x="2459064" y="3489248"/>
              <a:chExt cx="493565" cy="107722"/>
            </a:xfrm>
          </p:grpSpPr>
          <p:sp>
            <p:nvSpPr>
              <p:cNvPr id="246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47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파일 </a:t>
                </a:r>
                <a:r>
                  <a:rPr kumimoji="1" lang="en-US" altLang="ko-KR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5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</p:grpSp>
      <p:graphicFrame>
        <p:nvGraphicFramePr>
          <p:cNvPr id="24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2452166"/>
              </p:ext>
            </p:extLst>
          </p:nvPr>
        </p:nvGraphicFramePr>
        <p:xfrm>
          <a:off x="9290533" y="786383"/>
          <a:ext cx="2835467" cy="2730845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54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플래그 표시한 글이 있는 모든 그룹을 조회하는 영역</a:t>
                      </a: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4138" marR="0" lvl="0" indent="-73025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lang="en-US" altLang="ko-KR" sz="750" kern="1200" baseline="0" dirty="0" smtClean="0">
                        <a:solidFill>
                          <a:srgbClr val="0000FF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내가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플래그한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피드를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확인하는 기능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플래그 글</a:t>
                      </a:r>
                      <a:r>
                        <a:rPr kumimoji="1"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kumimoji="1"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메뉴 </a:t>
                      </a:r>
                      <a:r>
                        <a:rPr kumimoji="1"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탭중</a:t>
                      </a:r>
                      <a:r>
                        <a:rPr kumimoji="1"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＇</a:t>
                      </a:r>
                      <a:r>
                        <a:rPr kumimoji="1"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멤버</a:t>
                      </a:r>
                      <a:r>
                        <a:rPr kumimoji="1"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kumimoji="1"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탭 삭제</a:t>
                      </a: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탭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4138" marR="0" lvl="0" indent="-84138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피드에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등록된 파일이나 파일 탭에서 내가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플래그한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파일을 콘텐츠만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모아 확인하는 기능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탭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4138" marR="0" lvl="0" indent="-84138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일정이 포함된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글이나 일정을 내가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플래그한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콘텐츠를 모아 확인하는 기능</a:t>
                      </a: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 탭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4138" marR="0" lvl="0" indent="-84138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보고 콘텐츠 중 내가 플래그 한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콘텐츠를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모아 확인하는 기능 </a:t>
                      </a: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탭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4138" marR="0" lvl="0" indent="-84138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공지사항 중 내가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플래그한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공지 콘텐츠를 모아 확인하는 기능</a:t>
                      </a: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4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1374265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</a:t>
            </a:r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  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7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47" name="TextBox 46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52" name="Rectangle 381"/>
          <p:cNvSpPr/>
          <p:nvPr/>
        </p:nvSpPr>
        <p:spPr>
          <a:xfrm>
            <a:off x="3899897" y="730167"/>
            <a:ext cx="3099663" cy="40007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" name="타원 252"/>
          <p:cNvSpPr>
            <a:spLocks noChangeAspect="1"/>
          </p:cNvSpPr>
          <p:nvPr/>
        </p:nvSpPr>
        <p:spPr>
          <a:xfrm>
            <a:off x="3744815" y="85350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55" name="그룹 254"/>
          <p:cNvGrpSpPr/>
          <p:nvPr/>
        </p:nvGrpSpPr>
        <p:grpSpPr>
          <a:xfrm>
            <a:off x="9410024" y="6200867"/>
            <a:ext cx="396000" cy="396000"/>
            <a:chOff x="10903135" y="6381622"/>
            <a:chExt cx="396000" cy="396000"/>
          </a:xfrm>
        </p:grpSpPr>
        <p:sp>
          <p:nvSpPr>
            <p:cNvPr id="256" name="Oval 4"/>
            <p:cNvSpPr>
              <a:spLocks noChangeAspect="1"/>
            </p:cNvSpPr>
            <p:nvPr/>
          </p:nvSpPr>
          <p:spPr>
            <a:xfrm>
              <a:off x="10903135" y="6381622"/>
              <a:ext cx="396000" cy="396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0" tIns="108000" rIns="0" bIns="0" rtlCol="0" anchor="ctr"/>
            <a:lstStyle/>
            <a:p>
              <a:pPr marL="0" marR="0" lvl="0" indent="0" algn="ctr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</a:rPr>
                <a:t>TOP</a:t>
              </a:r>
            </a:p>
          </p:txBody>
        </p:sp>
        <p:sp>
          <p:nvSpPr>
            <p:cNvPr id="257" name="Freeform 24"/>
            <p:cNvSpPr>
              <a:spLocks noChangeAspect="1" noChangeArrowheads="1"/>
            </p:cNvSpPr>
            <p:nvPr/>
          </p:nvSpPr>
          <p:spPr bwMode="auto">
            <a:xfrm>
              <a:off x="11045288" y="6464107"/>
              <a:ext cx="111694" cy="69607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258" name="텍스트 상자 31"/>
          <p:cNvSpPr txBox="1"/>
          <p:nvPr/>
        </p:nvSpPr>
        <p:spPr>
          <a:xfrm>
            <a:off x="9873725" y="6353114"/>
            <a:ext cx="921227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88900" indent="-88900" defTabSz="576818" fontAlgn="auto" latinLnBrk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페이지 상단으로 </a:t>
            </a:r>
            <a: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/>
            </a:r>
            <a:b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</a:b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가기 버튼</a:t>
            </a:r>
            <a:endParaRPr lang="ko-KR" altLang="en-US" sz="75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176" name="그룹 175"/>
          <p:cNvGrpSpPr/>
          <p:nvPr/>
        </p:nvGrpSpPr>
        <p:grpSpPr>
          <a:xfrm>
            <a:off x="3834671" y="874786"/>
            <a:ext cx="3164889" cy="176117"/>
            <a:chOff x="4079770" y="874786"/>
            <a:chExt cx="3164889" cy="176117"/>
          </a:xfrm>
        </p:grpSpPr>
        <p:sp>
          <p:nvSpPr>
            <p:cNvPr id="193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94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97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98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07" name="텍스트 상자 31"/>
            <p:cNvSpPr txBox="1"/>
            <p:nvPr/>
          </p:nvSpPr>
          <p:spPr>
            <a:xfrm>
              <a:off x="545094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strike="sngStrike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strike="sngStrike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20" name="텍스트 상자 31"/>
            <p:cNvSpPr txBox="1"/>
            <p:nvPr/>
          </p:nvSpPr>
          <p:spPr>
            <a:xfrm>
              <a:off x="634355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22" name="텍스트 상자 31"/>
            <p:cNvSpPr txBox="1"/>
            <p:nvPr/>
          </p:nvSpPr>
          <p:spPr>
            <a:xfrm>
              <a:off x="590038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1962357" y="1163604"/>
            <a:ext cx="4889293" cy="2836525"/>
            <a:chOff x="1962357" y="1163604"/>
            <a:chExt cx="4889293" cy="2836525"/>
          </a:xfrm>
        </p:grpSpPr>
        <p:sp>
          <p:nvSpPr>
            <p:cNvPr id="65" name="Rectangle 501"/>
            <p:cNvSpPr/>
            <p:nvPr/>
          </p:nvSpPr>
          <p:spPr>
            <a:xfrm>
              <a:off x="1962357" y="1447238"/>
              <a:ext cx="4889293" cy="25528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66" name="텍스트 상자 31"/>
            <p:cNvSpPr txBox="1"/>
            <p:nvPr/>
          </p:nvSpPr>
          <p:spPr>
            <a:xfrm>
              <a:off x="2420016" y="157858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67" name="그룹 400"/>
            <p:cNvGrpSpPr/>
            <p:nvPr/>
          </p:nvGrpSpPr>
          <p:grpSpPr>
            <a:xfrm>
              <a:off x="2077224" y="1568112"/>
              <a:ext cx="229236" cy="229194"/>
              <a:chOff x="2625629" y="3735853"/>
              <a:chExt cx="276891" cy="276839"/>
            </a:xfrm>
          </p:grpSpPr>
          <p:sp>
            <p:nvSpPr>
              <p:cNvPr id="68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69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0" name="텍스트 상자 31"/>
            <p:cNvSpPr txBox="1"/>
            <p:nvPr/>
          </p:nvSpPr>
          <p:spPr>
            <a:xfrm>
              <a:off x="2420016" y="1716438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71" name="텍스트 상자 31"/>
            <p:cNvSpPr txBox="1"/>
            <p:nvPr/>
          </p:nvSpPr>
          <p:spPr>
            <a:xfrm>
              <a:off x="2077224" y="1921511"/>
              <a:ext cx="3250996" cy="49552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다음 달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회식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날짜 정하려고 합니다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확인후 댓글로 가능여부 남겨주세요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!</a:t>
              </a:r>
              <a:endPara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20000"/>
                </a:lnSpc>
              </a:pPr>
              <a:r>
                <a: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더불어 몇가지 이슈가 있어 공유드립니다</a:t>
              </a:r>
              <a:r>
                <a:rPr kumimoji="1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 marL="228600" indent="-228600">
                <a:lnSpc>
                  <a:spcPct val="120000"/>
                </a:lnSpc>
                <a:buAutoNum type="arabicPeriod"/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블라블라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20000"/>
                </a:lnSpc>
              </a:pPr>
              <a:r>
                <a:rPr kumimoji="1" lang="mr-IN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…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더보기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72" name="Rounded Rectangle 509"/>
            <p:cNvSpPr/>
            <p:nvPr/>
          </p:nvSpPr>
          <p:spPr>
            <a:xfrm>
              <a:off x="2049380" y="2753344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55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회식</a:t>
              </a:r>
              <a:endParaRPr lang="en-US" sz="5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3" name="Rounded Rectangle 510"/>
            <p:cNvSpPr/>
            <p:nvPr/>
          </p:nvSpPr>
          <p:spPr>
            <a:xfrm>
              <a:off x="2408936" y="2753344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55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일정</a:t>
              </a:r>
              <a:endParaRPr lang="en-US" sz="5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cxnSp>
          <p:nvCxnSpPr>
            <p:cNvPr id="74" name="직선 연결선[R] 33"/>
            <p:cNvCxnSpPr/>
            <p:nvPr/>
          </p:nvCxnSpPr>
          <p:spPr>
            <a:xfrm>
              <a:off x="2051018" y="2935536"/>
              <a:ext cx="4752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 507"/>
            <p:cNvSpPr/>
            <p:nvPr/>
          </p:nvSpPr>
          <p:spPr>
            <a:xfrm>
              <a:off x="1962357" y="3175210"/>
              <a:ext cx="4889293" cy="82491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76" name="Group 516"/>
            <p:cNvGrpSpPr/>
            <p:nvPr/>
          </p:nvGrpSpPr>
          <p:grpSpPr>
            <a:xfrm>
              <a:off x="2077224" y="3592153"/>
              <a:ext cx="1612396" cy="229194"/>
              <a:chOff x="2478168" y="4026446"/>
              <a:chExt cx="1612396" cy="229194"/>
            </a:xfrm>
          </p:grpSpPr>
          <p:sp>
            <p:nvSpPr>
              <p:cNvPr id="77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댓글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1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블라블라블라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78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80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81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79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87" name="직선 연결선[R] 33"/>
            <p:cNvCxnSpPr/>
            <p:nvPr/>
          </p:nvCxnSpPr>
          <p:spPr>
            <a:xfrm>
              <a:off x="2051018" y="3504521"/>
              <a:ext cx="4752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Rectangle 523"/>
            <p:cNvSpPr/>
            <p:nvPr/>
          </p:nvSpPr>
          <p:spPr>
            <a:xfrm>
              <a:off x="1962357" y="3874201"/>
              <a:ext cx="4889293" cy="12592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b="1" u="sng" dirty="0">
                  <a:solidFill>
                    <a:schemeClr val="bg1"/>
                  </a:solidFill>
                  <a:latin typeface="+mn-ea"/>
                </a:rPr>
                <a:t>4</a:t>
              </a:r>
              <a:r>
                <a:rPr lang="ko-KR" altLang="en-US" sz="600" b="1" u="sng" dirty="0">
                  <a:solidFill>
                    <a:schemeClr val="bg1"/>
                  </a:solidFill>
                  <a:latin typeface="+mn-ea"/>
                </a:rPr>
                <a:t>개 모두 </a:t>
              </a:r>
              <a:r>
                <a:rPr lang="ko-KR" altLang="en-US" sz="600" b="1" u="sng" dirty="0" smtClean="0">
                  <a:solidFill>
                    <a:schemeClr val="bg1"/>
                  </a:solidFill>
                  <a:latin typeface="+mn-ea"/>
                </a:rPr>
                <a:t>보기</a:t>
              </a:r>
              <a:endParaRPr lang="ko-KR" altLang="en-US" sz="600" b="1" u="sng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5" name="그룹 204"/>
            <p:cNvGrpSpPr/>
            <p:nvPr/>
          </p:nvGrpSpPr>
          <p:grpSpPr>
            <a:xfrm>
              <a:off x="6428565" y="1596491"/>
              <a:ext cx="242831" cy="112937"/>
              <a:chOff x="6858583" y="1643626"/>
              <a:chExt cx="242831" cy="112937"/>
            </a:xfrm>
          </p:grpSpPr>
          <p:sp>
            <p:nvSpPr>
              <p:cNvPr id="90" name="Freeform 25"/>
              <p:cNvSpPr>
                <a:spLocks noChangeAspect="1" noEditPoints="1"/>
              </p:cNvSpPr>
              <p:nvPr/>
            </p:nvSpPr>
            <p:spPr bwMode="auto">
              <a:xfrm>
                <a:off x="6858583" y="1643626"/>
                <a:ext cx="88128" cy="108000"/>
              </a:xfrm>
              <a:custGeom>
                <a:avLst/>
                <a:gdLst>
                  <a:gd name="T0" fmla="*/ 100 w 350"/>
                  <a:gd name="T1" fmla="*/ 325 h 425"/>
                  <a:gd name="T2" fmla="*/ 250 w 350"/>
                  <a:gd name="T3" fmla="*/ 325 h 425"/>
                  <a:gd name="T4" fmla="*/ 250 w 350"/>
                  <a:gd name="T5" fmla="*/ 175 h 425"/>
                  <a:gd name="T6" fmla="*/ 350 w 350"/>
                  <a:gd name="T7" fmla="*/ 175 h 425"/>
                  <a:gd name="T8" fmla="*/ 175 w 350"/>
                  <a:gd name="T9" fmla="*/ 0 h 425"/>
                  <a:gd name="T10" fmla="*/ 0 w 350"/>
                  <a:gd name="T11" fmla="*/ 175 h 425"/>
                  <a:gd name="T12" fmla="*/ 100 w 350"/>
                  <a:gd name="T13" fmla="*/ 175 h 425"/>
                  <a:gd name="T14" fmla="*/ 100 w 350"/>
                  <a:gd name="T15" fmla="*/ 325 h 425"/>
                  <a:gd name="T16" fmla="*/ 0 w 350"/>
                  <a:gd name="T17" fmla="*/ 375 h 425"/>
                  <a:gd name="T18" fmla="*/ 350 w 350"/>
                  <a:gd name="T19" fmla="*/ 375 h 425"/>
                  <a:gd name="T20" fmla="*/ 350 w 350"/>
                  <a:gd name="T21" fmla="*/ 425 h 425"/>
                  <a:gd name="T22" fmla="*/ 0 w 350"/>
                  <a:gd name="T23" fmla="*/ 425 h 425"/>
                  <a:gd name="T24" fmla="*/ 0 w 350"/>
                  <a:gd name="T25" fmla="*/ 37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0" h="425">
                    <a:moveTo>
                      <a:pt x="100" y="325"/>
                    </a:moveTo>
                    <a:lnTo>
                      <a:pt x="250" y="325"/>
                    </a:lnTo>
                    <a:lnTo>
                      <a:pt x="250" y="175"/>
                    </a:lnTo>
                    <a:lnTo>
                      <a:pt x="350" y="175"/>
                    </a:lnTo>
                    <a:lnTo>
                      <a:pt x="175" y="0"/>
                    </a:lnTo>
                    <a:lnTo>
                      <a:pt x="0" y="175"/>
                    </a:lnTo>
                    <a:lnTo>
                      <a:pt x="100" y="175"/>
                    </a:lnTo>
                    <a:lnTo>
                      <a:pt x="100" y="325"/>
                    </a:lnTo>
                    <a:close/>
                    <a:moveTo>
                      <a:pt x="0" y="375"/>
                    </a:moveTo>
                    <a:lnTo>
                      <a:pt x="350" y="375"/>
                    </a:lnTo>
                    <a:lnTo>
                      <a:pt x="350" y="425"/>
                    </a:lnTo>
                    <a:lnTo>
                      <a:pt x="0" y="425"/>
                    </a:lnTo>
                    <a:lnTo>
                      <a:pt x="0" y="375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9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7073543" y="1648563"/>
                <a:ext cx="27871" cy="108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cxnSp>
          <p:nvCxnSpPr>
            <p:cNvPr id="98" name="직선 연결선[R] 33"/>
            <p:cNvCxnSpPr/>
            <p:nvPr/>
          </p:nvCxnSpPr>
          <p:spPr>
            <a:xfrm>
              <a:off x="2051018" y="2696281"/>
              <a:ext cx="4752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ounded Rectangle 133"/>
            <p:cNvSpPr/>
            <p:nvPr/>
          </p:nvSpPr>
          <p:spPr>
            <a:xfrm>
              <a:off x="2058702" y="2462006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5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00" name="Group 1"/>
            <p:cNvGrpSpPr/>
            <p:nvPr/>
          </p:nvGrpSpPr>
          <p:grpSpPr>
            <a:xfrm>
              <a:off x="2231970" y="2498610"/>
              <a:ext cx="493565" cy="107722"/>
              <a:chOff x="2459064" y="3489248"/>
              <a:chExt cx="493565" cy="107722"/>
            </a:xfrm>
          </p:grpSpPr>
          <p:sp>
            <p:nvSpPr>
              <p:cNvPr id="101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102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파일 </a:t>
                </a:r>
                <a:r>
                  <a:rPr kumimoji="1" lang="en-US" altLang="ko-KR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5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04" name="Triangle 529"/>
            <p:cNvSpPr>
              <a:spLocks noChangeAspect="1"/>
            </p:cNvSpPr>
            <p:nvPr/>
          </p:nvSpPr>
          <p:spPr>
            <a:xfrm flipV="1">
              <a:off x="3984519" y="3915318"/>
              <a:ext cx="72000" cy="52888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prstClr val="white"/>
                </a:solidFill>
                <a:latin typeface="+mn-ea"/>
              </a:endParaRPr>
            </a:p>
          </p:txBody>
        </p:sp>
        <p:grpSp>
          <p:nvGrpSpPr>
            <p:cNvPr id="106" name="Group 5"/>
            <p:cNvGrpSpPr/>
            <p:nvPr/>
          </p:nvGrpSpPr>
          <p:grpSpPr>
            <a:xfrm>
              <a:off x="1962357" y="1163604"/>
              <a:ext cx="4889293" cy="288202"/>
              <a:chOff x="444761" y="1400721"/>
              <a:chExt cx="4889293" cy="288202"/>
            </a:xfrm>
          </p:grpSpPr>
          <p:sp>
            <p:nvSpPr>
              <p:cNvPr id="107" name="Rectangle 251"/>
              <p:cNvSpPr/>
              <p:nvPr/>
            </p:nvSpPr>
            <p:spPr>
              <a:xfrm>
                <a:off x="444761" y="1400721"/>
                <a:ext cx="4889293" cy="28820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+mn-ea"/>
                </a:endParaRPr>
              </a:p>
            </p:txBody>
          </p:sp>
          <p:sp>
            <p:nvSpPr>
              <p:cNvPr id="108" name="텍스트 상자 31"/>
              <p:cNvSpPr txBox="1"/>
              <p:nvPr/>
            </p:nvSpPr>
            <p:spPr>
              <a:xfrm>
                <a:off x="562816" y="1490961"/>
                <a:ext cx="190410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자동차 </a:t>
                </a:r>
                <a:r>
                  <a:rPr kumimoji="1" lang="en-US" altLang="ko-KR" sz="700" b="1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UX</a:t>
                </a:r>
                <a:r>
                  <a:rPr kumimoji="1" lang="ko-KR" altLang="en-US" sz="700" b="1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개선</a:t>
                </a:r>
                <a:endParaRPr kumimoji="1"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09" name="Freeform 14"/>
              <p:cNvSpPr>
                <a:spLocks noChangeArrowheads="1"/>
              </p:cNvSpPr>
              <p:nvPr/>
            </p:nvSpPr>
            <p:spPr bwMode="auto">
              <a:xfrm rot="5400000">
                <a:off x="5080459" y="1517331"/>
                <a:ext cx="91044" cy="55638"/>
              </a:xfrm>
              <a:custGeom>
                <a:avLst/>
                <a:gdLst>
                  <a:gd name="T0" fmla="*/ 36 w 316"/>
                  <a:gd name="T1" fmla="*/ 193 h 194"/>
                  <a:gd name="T2" fmla="*/ 158 w 316"/>
                  <a:gd name="T3" fmla="*/ 72 h 194"/>
                  <a:gd name="T4" fmla="*/ 280 w 316"/>
                  <a:gd name="T5" fmla="*/ 193 h 194"/>
                  <a:gd name="T6" fmla="*/ 315 w 316"/>
                  <a:gd name="T7" fmla="*/ 158 h 194"/>
                  <a:gd name="T8" fmla="*/ 158 w 316"/>
                  <a:gd name="T9" fmla="*/ 0 h 194"/>
                  <a:gd name="T10" fmla="*/ 0 w 316"/>
                  <a:gd name="T11" fmla="*/ 158 h 194"/>
                  <a:gd name="T12" fmla="*/ 36 w 316"/>
                  <a:gd name="T13" fmla="*/ 19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6" h="194">
                    <a:moveTo>
                      <a:pt x="36" y="193"/>
                    </a:moveTo>
                    <a:lnTo>
                      <a:pt x="158" y="72"/>
                    </a:lnTo>
                    <a:lnTo>
                      <a:pt x="280" y="193"/>
                    </a:lnTo>
                    <a:lnTo>
                      <a:pt x="315" y="158"/>
                    </a:lnTo>
                    <a:lnTo>
                      <a:pt x="158" y="0"/>
                    </a:lnTo>
                    <a:lnTo>
                      <a:pt x="0" y="158"/>
                    </a:lnTo>
                    <a:lnTo>
                      <a:pt x="36" y="193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sp>
          <p:nvSpPr>
            <p:cNvPr id="174" name="Rectangle 321"/>
            <p:cNvSpPr/>
            <p:nvPr/>
          </p:nvSpPr>
          <p:spPr>
            <a:xfrm>
              <a:off x="2064079" y="3242242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75" name="텍스트 상자 31"/>
            <p:cNvSpPr txBox="1"/>
            <p:nvPr/>
          </p:nvSpPr>
          <p:spPr>
            <a:xfrm>
              <a:off x="2132955" y="3295966"/>
              <a:ext cx="7674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의견을 입력하세요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8" name="Rounded Rectangle 616"/>
            <p:cNvSpPr/>
            <p:nvPr/>
          </p:nvSpPr>
          <p:spPr>
            <a:xfrm>
              <a:off x="6379294" y="3250504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179" name="Freeform 17"/>
            <p:cNvSpPr>
              <a:spLocks noChangeArrowheads="1"/>
            </p:cNvSpPr>
            <p:nvPr/>
          </p:nvSpPr>
          <p:spPr bwMode="auto">
            <a:xfrm>
              <a:off x="5951279" y="3284834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185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300" y="3284834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80" name="그룹 279"/>
          <p:cNvGrpSpPr/>
          <p:nvPr/>
        </p:nvGrpSpPr>
        <p:grpSpPr>
          <a:xfrm>
            <a:off x="2054708" y="3000555"/>
            <a:ext cx="936609" cy="115755"/>
            <a:chOff x="2054708" y="2657360"/>
            <a:chExt cx="936609" cy="115755"/>
          </a:xfrm>
        </p:grpSpPr>
        <p:sp>
          <p:nvSpPr>
            <p:cNvPr id="281" name="Freeform 739"/>
            <p:cNvSpPr>
              <a:spLocks noChangeAspect="1"/>
            </p:cNvSpPr>
            <p:nvPr/>
          </p:nvSpPr>
          <p:spPr>
            <a:xfrm>
              <a:off x="2054708" y="2665115"/>
              <a:ext cx="97509" cy="1080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rgbClr val="FFC000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82" name="그룹 281"/>
            <p:cNvGrpSpPr/>
            <p:nvPr/>
          </p:nvGrpSpPr>
          <p:grpSpPr>
            <a:xfrm>
              <a:off x="2195181" y="2657360"/>
              <a:ext cx="796136" cy="115755"/>
              <a:chOff x="2195181" y="2841183"/>
              <a:chExt cx="796136" cy="115755"/>
            </a:xfrm>
          </p:grpSpPr>
          <p:grpSp>
            <p:nvGrpSpPr>
              <p:cNvPr id="283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85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92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93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86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87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88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89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90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91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84" name="그림 283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</p:grpSp>
      <p:grpSp>
        <p:nvGrpSpPr>
          <p:cNvPr id="294" name="그룹 293"/>
          <p:cNvGrpSpPr/>
          <p:nvPr/>
        </p:nvGrpSpPr>
        <p:grpSpPr>
          <a:xfrm>
            <a:off x="2054708" y="5261625"/>
            <a:ext cx="936609" cy="115755"/>
            <a:chOff x="2054708" y="2657360"/>
            <a:chExt cx="936609" cy="115755"/>
          </a:xfrm>
        </p:grpSpPr>
        <p:sp>
          <p:nvSpPr>
            <p:cNvPr id="295" name="Freeform 739"/>
            <p:cNvSpPr>
              <a:spLocks noChangeAspect="1"/>
            </p:cNvSpPr>
            <p:nvPr/>
          </p:nvSpPr>
          <p:spPr>
            <a:xfrm>
              <a:off x="2054708" y="2665115"/>
              <a:ext cx="97509" cy="1080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rgbClr val="FFC000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6" name="그룹 295"/>
            <p:cNvGrpSpPr/>
            <p:nvPr/>
          </p:nvGrpSpPr>
          <p:grpSpPr>
            <a:xfrm>
              <a:off x="2195181" y="2657360"/>
              <a:ext cx="796136" cy="115755"/>
              <a:chOff x="2195181" y="2841183"/>
              <a:chExt cx="796136" cy="115755"/>
            </a:xfrm>
          </p:grpSpPr>
          <p:grpSp>
            <p:nvGrpSpPr>
              <p:cNvPr id="297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99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06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07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00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01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02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03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04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05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98" name="그림 297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</p:grpSp>
      <p:sp>
        <p:nvSpPr>
          <p:cNvPr id="181" name="TextBox 180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69" name="직사각형 168"/>
          <p:cNvSpPr/>
          <p:nvPr/>
        </p:nvSpPr>
        <p:spPr>
          <a:xfrm>
            <a:off x="5486400" y="847725"/>
            <a:ext cx="361950" cy="1714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04049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플래그 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사진 탭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플래그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 smtClean="0"/>
              <a:t>SQ5.1.2.2</a:t>
            </a:r>
            <a:endParaRPr lang="ko-KR" altLang="en-US" dirty="0"/>
          </a:p>
        </p:txBody>
      </p:sp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4" name="텍스트 상자 31"/>
          <p:cNvSpPr txBox="1"/>
          <p:nvPr/>
        </p:nvSpPr>
        <p:spPr>
          <a:xfrm>
            <a:off x="193161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플래그 글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4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1374265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7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47" name="TextBox 46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grpSp>
        <p:nvGrpSpPr>
          <p:cNvPr id="501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502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503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508" name="그룹 507"/>
          <p:cNvGrpSpPr/>
          <p:nvPr/>
        </p:nvGrpSpPr>
        <p:grpSpPr>
          <a:xfrm>
            <a:off x="3834671" y="874786"/>
            <a:ext cx="3164889" cy="176117"/>
            <a:chOff x="4079770" y="874786"/>
            <a:chExt cx="3164889" cy="176117"/>
          </a:xfrm>
        </p:grpSpPr>
        <p:sp>
          <p:nvSpPr>
            <p:cNvPr id="509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510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511" name="직선 연결선[R] 7"/>
            <p:cNvCxnSpPr/>
            <p:nvPr/>
          </p:nvCxnSpPr>
          <p:spPr>
            <a:xfrm>
              <a:off x="4755929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512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513" name="텍스트 상자 31"/>
            <p:cNvSpPr txBox="1"/>
            <p:nvPr/>
          </p:nvSpPr>
          <p:spPr>
            <a:xfrm>
              <a:off x="545094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strike="sngStrike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strike="sngStrike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514" name="텍스트 상자 31"/>
            <p:cNvSpPr txBox="1"/>
            <p:nvPr/>
          </p:nvSpPr>
          <p:spPr>
            <a:xfrm>
              <a:off x="634355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515" name="텍스트 상자 31"/>
            <p:cNvSpPr txBox="1"/>
            <p:nvPr/>
          </p:nvSpPr>
          <p:spPr>
            <a:xfrm>
              <a:off x="590038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55" name="TextBox 254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56" name="직사각형 255"/>
          <p:cNvSpPr/>
          <p:nvPr/>
        </p:nvSpPr>
        <p:spPr>
          <a:xfrm>
            <a:off x="5486400" y="847725"/>
            <a:ext cx="361950" cy="1714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58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"/>
            </p:custDataLst>
          </p:nvPr>
        </p:nvSpPr>
        <p:spPr>
          <a:xfrm>
            <a:off x="2105020" y="1160605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59" name="Rectangle 219"/>
          <p:cNvSpPr/>
          <p:nvPr/>
        </p:nvSpPr>
        <p:spPr>
          <a:xfrm>
            <a:off x="341594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355" name="Group 8"/>
          <p:cNvGrpSpPr/>
          <p:nvPr/>
        </p:nvGrpSpPr>
        <p:grpSpPr>
          <a:xfrm>
            <a:off x="3411586" y="1693373"/>
            <a:ext cx="1243746" cy="875719"/>
            <a:chOff x="4724020" y="5478057"/>
            <a:chExt cx="6056162" cy="548658"/>
          </a:xfrm>
        </p:grpSpPr>
        <p:cxnSp>
          <p:nvCxnSpPr>
            <p:cNvPr id="356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7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58" name="Rectangle 219"/>
          <p:cNvSpPr/>
          <p:nvPr/>
        </p:nvSpPr>
        <p:spPr>
          <a:xfrm>
            <a:off x="4740545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359" name="Group 8"/>
          <p:cNvGrpSpPr/>
          <p:nvPr/>
        </p:nvGrpSpPr>
        <p:grpSpPr>
          <a:xfrm>
            <a:off x="4736184" y="1693373"/>
            <a:ext cx="1243746" cy="875719"/>
            <a:chOff x="4724020" y="5478057"/>
            <a:chExt cx="6056162" cy="548658"/>
          </a:xfrm>
        </p:grpSpPr>
        <p:cxnSp>
          <p:nvCxnSpPr>
            <p:cNvPr id="360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1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62" name="Rectangle 219"/>
          <p:cNvSpPr/>
          <p:nvPr/>
        </p:nvSpPr>
        <p:spPr>
          <a:xfrm>
            <a:off x="605659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363" name="Group 8"/>
          <p:cNvGrpSpPr/>
          <p:nvPr/>
        </p:nvGrpSpPr>
        <p:grpSpPr>
          <a:xfrm>
            <a:off x="6052236" y="1693373"/>
            <a:ext cx="1243746" cy="875719"/>
            <a:chOff x="4724020" y="5478057"/>
            <a:chExt cx="6056162" cy="548658"/>
          </a:xfrm>
        </p:grpSpPr>
        <p:cxnSp>
          <p:nvCxnSpPr>
            <p:cNvPr id="364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66" name="그룹 413"/>
          <p:cNvGrpSpPr/>
          <p:nvPr/>
        </p:nvGrpSpPr>
        <p:grpSpPr>
          <a:xfrm>
            <a:off x="7368571" y="1689034"/>
            <a:ext cx="1252842" cy="880058"/>
            <a:chOff x="2503918" y="3068243"/>
            <a:chExt cx="1067259" cy="749695"/>
          </a:xfrm>
        </p:grpSpPr>
        <p:sp>
          <p:nvSpPr>
            <p:cNvPr id="367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68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69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70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71" name="그룹 413"/>
          <p:cNvGrpSpPr/>
          <p:nvPr/>
        </p:nvGrpSpPr>
        <p:grpSpPr>
          <a:xfrm>
            <a:off x="2078442" y="2652944"/>
            <a:ext cx="1252842" cy="880058"/>
            <a:chOff x="2503918" y="3068243"/>
            <a:chExt cx="1067259" cy="749695"/>
          </a:xfrm>
        </p:grpSpPr>
        <p:sp>
          <p:nvSpPr>
            <p:cNvPr id="372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73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74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75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76" name="그룹 413"/>
          <p:cNvGrpSpPr/>
          <p:nvPr/>
        </p:nvGrpSpPr>
        <p:grpSpPr>
          <a:xfrm>
            <a:off x="3411586" y="2652944"/>
            <a:ext cx="1252842" cy="880058"/>
            <a:chOff x="2503918" y="3068243"/>
            <a:chExt cx="1067259" cy="749695"/>
          </a:xfrm>
        </p:grpSpPr>
        <p:sp>
          <p:nvSpPr>
            <p:cNvPr id="377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78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79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80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81" name="그룹 413"/>
          <p:cNvGrpSpPr/>
          <p:nvPr/>
        </p:nvGrpSpPr>
        <p:grpSpPr>
          <a:xfrm>
            <a:off x="4736184" y="2652944"/>
            <a:ext cx="1252842" cy="880058"/>
            <a:chOff x="2503918" y="3068243"/>
            <a:chExt cx="1067259" cy="749695"/>
          </a:xfrm>
        </p:grpSpPr>
        <p:sp>
          <p:nvSpPr>
            <p:cNvPr id="382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83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84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85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86" name="그룹 413"/>
          <p:cNvGrpSpPr/>
          <p:nvPr/>
        </p:nvGrpSpPr>
        <p:grpSpPr>
          <a:xfrm>
            <a:off x="6052236" y="2652944"/>
            <a:ext cx="1252842" cy="880058"/>
            <a:chOff x="2503918" y="3068243"/>
            <a:chExt cx="1067259" cy="749695"/>
          </a:xfrm>
        </p:grpSpPr>
        <p:sp>
          <p:nvSpPr>
            <p:cNvPr id="387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88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89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90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91" name="그룹 413"/>
          <p:cNvGrpSpPr/>
          <p:nvPr/>
        </p:nvGrpSpPr>
        <p:grpSpPr>
          <a:xfrm>
            <a:off x="7368571" y="2652944"/>
            <a:ext cx="1252842" cy="880058"/>
            <a:chOff x="2503918" y="3068243"/>
            <a:chExt cx="1067259" cy="749695"/>
          </a:xfrm>
        </p:grpSpPr>
        <p:sp>
          <p:nvSpPr>
            <p:cNvPr id="392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93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94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95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96" name="그룹 395"/>
          <p:cNvGrpSpPr/>
          <p:nvPr/>
        </p:nvGrpSpPr>
        <p:grpSpPr>
          <a:xfrm>
            <a:off x="2078442" y="3618581"/>
            <a:ext cx="6542971" cy="880058"/>
            <a:chOff x="2078442" y="1689034"/>
            <a:chExt cx="6542971" cy="880058"/>
          </a:xfrm>
        </p:grpSpPr>
        <p:grpSp>
          <p:nvGrpSpPr>
            <p:cNvPr id="397" name="그룹 413"/>
            <p:cNvGrpSpPr/>
            <p:nvPr/>
          </p:nvGrpSpPr>
          <p:grpSpPr>
            <a:xfrm>
              <a:off x="2078442" y="1689034"/>
              <a:ext cx="1252842" cy="880058"/>
              <a:chOff x="2503918" y="3068243"/>
              <a:chExt cx="1067259" cy="749695"/>
            </a:xfrm>
          </p:grpSpPr>
          <p:sp>
            <p:nvSpPr>
              <p:cNvPr id="418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19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20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21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98" name="그룹 413"/>
            <p:cNvGrpSpPr/>
            <p:nvPr/>
          </p:nvGrpSpPr>
          <p:grpSpPr>
            <a:xfrm>
              <a:off x="3411586" y="1689034"/>
              <a:ext cx="1252842" cy="880058"/>
              <a:chOff x="2503918" y="3068243"/>
              <a:chExt cx="1067259" cy="749695"/>
            </a:xfrm>
          </p:grpSpPr>
          <p:sp>
            <p:nvSpPr>
              <p:cNvPr id="414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15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16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17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99" name="그룹 413"/>
            <p:cNvGrpSpPr/>
            <p:nvPr/>
          </p:nvGrpSpPr>
          <p:grpSpPr>
            <a:xfrm>
              <a:off x="4736184" y="1689034"/>
              <a:ext cx="1252842" cy="880058"/>
              <a:chOff x="2503918" y="3068243"/>
              <a:chExt cx="1067259" cy="749695"/>
            </a:xfrm>
          </p:grpSpPr>
          <p:sp>
            <p:nvSpPr>
              <p:cNvPr id="410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11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12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13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400" name="그룹 413"/>
            <p:cNvGrpSpPr/>
            <p:nvPr/>
          </p:nvGrpSpPr>
          <p:grpSpPr>
            <a:xfrm>
              <a:off x="6052236" y="1689034"/>
              <a:ext cx="1252842" cy="880058"/>
              <a:chOff x="2503918" y="3068243"/>
              <a:chExt cx="1067259" cy="749695"/>
            </a:xfrm>
          </p:grpSpPr>
          <p:sp>
            <p:nvSpPr>
              <p:cNvPr id="406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07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08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09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401" name="그룹 413"/>
            <p:cNvGrpSpPr/>
            <p:nvPr/>
          </p:nvGrpSpPr>
          <p:grpSpPr>
            <a:xfrm>
              <a:off x="7368571" y="1689034"/>
              <a:ext cx="1252842" cy="880058"/>
              <a:chOff x="2503918" y="3068243"/>
              <a:chExt cx="1067259" cy="749695"/>
            </a:xfrm>
          </p:grpSpPr>
          <p:sp>
            <p:nvSpPr>
              <p:cNvPr id="402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03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04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05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</p:grpSp>
      <p:grpSp>
        <p:nvGrpSpPr>
          <p:cNvPr id="423" name="그룹 413"/>
          <p:cNvGrpSpPr/>
          <p:nvPr/>
        </p:nvGrpSpPr>
        <p:grpSpPr>
          <a:xfrm>
            <a:off x="2078442" y="4582491"/>
            <a:ext cx="1252842" cy="880058"/>
            <a:chOff x="2503918" y="3068243"/>
            <a:chExt cx="1067259" cy="749695"/>
          </a:xfrm>
        </p:grpSpPr>
        <p:sp>
          <p:nvSpPr>
            <p:cNvPr id="444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445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446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47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424" name="그룹 413"/>
          <p:cNvGrpSpPr/>
          <p:nvPr/>
        </p:nvGrpSpPr>
        <p:grpSpPr>
          <a:xfrm>
            <a:off x="3411586" y="4582491"/>
            <a:ext cx="1252842" cy="880058"/>
            <a:chOff x="2503918" y="3068243"/>
            <a:chExt cx="1067259" cy="749695"/>
          </a:xfrm>
        </p:grpSpPr>
        <p:sp>
          <p:nvSpPr>
            <p:cNvPr id="440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441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442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43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425" name="그룹 413"/>
          <p:cNvGrpSpPr/>
          <p:nvPr/>
        </p:nvGrpSpPr>
        <p:grpSpPr>
          <a:xfrm>
            <a:off x="4736184" y="4582491"/>
            <a:ext cx="1252842" cy="880058"/>
            <a:chOff x="2503918" y="3068243"/>
            <a:chExt cx="1067259" cy="749695"/>
          </a:xfrm>
        </p:grpSpPr>
        <p:sp>
          <p:nvSpPr>
            <p:cNvPr id="436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437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438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39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426" name="그룹 413"/>
          <p:cNvGrpSpPr/>
          <p:nvPr/>
        </p:nvGrpSpPr>
        <p:grpSpPr>
          <a:xfrm>
            <a:off x="6052236" y="4582491"/>
            <a:ext cx="1252842" cy="880058"/>
            <a:chOff x="2503918" y="3068243"/>
            <a:chExt cx="1067259" cy="749695"/>
          </a:xfrm>
        </p:grpSpPr>
        <p:sp>
          <p:nvSpPr>
            <p:cNvPr id="432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433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434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35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427" name="그룹 413"/>
          <p:cNvGrpSpPr/>
          <p:nvPr/>
        </p:nvGrpSpPr>
        <p:grpSpPr>
          <a:xfrm>
            <a:off x="7368571" y="4582491"/>
            <a:ext cx="1252842" cy="880058"/>
            <a:chOff x="2503918" y="3068243"/>
            <a:chExt cx="1067259" cy="749695"/>
          </a:xfrm>
        </p:grpSpPr>
        <p:sp>
          <p:nvSpPr>
            <p:cNvPr id="428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429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430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31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448" name="위로 굽은 화살표 447"/>
          <p:cNvSpPr/>
          <p:nvPr/>
        </p:nvSpPr>
        <p:spPr>
          <a:xfrm rot="16200000" flipH="1">
            <a:off x="2526744" y="2006019"/>
            <a:ext cx="281985" cy="250119"/>
          </a:xfrm>
          <a:prstGeom prst="bentUpArrow">
            <a:avLst/>
          </a:prstGeom>
          <a:solidFill>
            <a:srgbClr val="FFC000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50" name="모서리가 둥근 직사각형 449"/>
          <p:cNvSpPr/>
          <p:nvPr/>
        </p:nvSpPr>
        <p:spPr>
          <a:xfrm>
            <a:off x="4736185" y="3276601"/>
            <a:ext cx="1252842" cy="252790"/>
          </a:xfrm>
          <a:prstGeom prst="roundRect">
            <a:avLst>
              <a:gd name="adj" fmla="val 4014"/>
            </a:avLst>
          </a:prstGeom>
          <a:solidFill>
            <a:srgbClr val="0D0D0D">
              <a:alpha val="69804"/>
            </a:srgb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indent="266700">
              <a:lnSpc>
                <a:spcPct val="150000"/>
              </a:lnSpc>
              <a:defRPr/>
            </a:pPr>
            <a:r>
              <a:rPr lang="ko-KR" altLang="en-US" sz="600" b="1">
                <a:solidFill>
                  <a:schemeClr val="bg1"/>
                </a:solidFill>
                <a:latin typeface="+mn-ea"/>
              </a:rPr>
              <a:t>홍길동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제품기획팀</a:t>
            </a:r>
            <a:endParaRPr lang="en-US" altLang="ko-KR" sz="600">
              <a:solidFill>
                <a:schemeClr val="bg1"/>
              </a:solidFill>
              <a:latin typeface="+mn-ea"/>
            </a:endParaRPr>
          </a:p>
          <a:p>
            <a:pPr indent="266700">
              <a:lnSpc>
                <a:spcPct val="150000"/>
              </a:lnSpc>
              <a:defRPr/>
            </a:pPr>
            <a:r>
              <a:rPr lang="en-US" altLang="ko-KR" sz="600">
                <a:solidFill>
                  <a:schemeClr val="bg1"/>
                </a:solidFill>
                <a:latin typeface="+mn-ea"/>
              </a:rPr>
              <a:t>03-17 11:24</a:t>
            </a:r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452" name="그룹 413"/>
          <p:cNvGrpSpPr/>
          <p:nvPr/>
        </p:nvGrpSpPr>
        <p:grpSpPr>
          <a:xfrm>
            <a:off x="2078442" y="1689034"/>
            <a:ext cx="1252842" cy="880058"/>
            <a:chOff x="2503918" y="3068243"/>
            <a:chExt cx="1067259" cy="749695"/>
          </a:xfrm>
        </p:grpSpPr>
        <p:sp>
          <p:nvSpPr>
            <p:cNvPr id="453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454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455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56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457" name="TextBox 456"/>
          <p:cNvSpPr txBox="1"/>
          <p:nvPr/>
        </p:nvSpPr>
        <p:spPr>
          <a:xfrm>
            <a:off x="2025681" y="1441892"/>
            <a:ext cx="8899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smtClean="0">
                <a:latin typeface="+mn-ea"/>
                <a:ea typeface="+mn-ea"/>
              </a:rPr>
              <a:t>전체 </a:t>
            </a:r>
            <a:r>
              <a:rPr lang="ko-KR" altLang="en-US" sz="800" b="1" smtClean="0">
                <a:latin typeface="+mn-ea"/>
                <a:ea typeface="+mn-ea"/>
              </a:rPr>
              <a:t>사진 </a:t>
            </a:r>
            <a:r>
              <a:rPr lang="en-US" altLang="ko-KR" sz="800" b="1" smtClean="0">
                <a:solidFill>
                  <a:srgbClr val="E46C0A"/>
                </a:solidFill>
                <a:latin typeface="+mn-ea"/>
                <a:ea typeface="+mn-ea"/>
              </a:rPr>
              <a:t>56</a:t>
            </a:r>
            <a:r>
              <a:rPr lang="ko-KR" altLang="en-US" sz="800" b="1" smtClean="0">
                <a:solidFill>
                  <a:srgbClr val="E46C0A"/>
                </a:solidFill>
                <a:latin typeface="+mn-ea"/>
                <a:ea typeface="+mn-ea"/>
              </a:rPr>
              <a:t>건</a:t>
            </a:r>
            <a:endParaRPr lang="ko-KR" altLang="en-US" sz="800" b="1" dirty="0">
              <a:solidFill>
                <a:srgbClr val="E46C0A"/>
              </a:solidFill>
              <a:latin typeface="+mn-ea"/>
              <a:ea typeface="+mn-ea"/>
            </a:endParaRPr>
          </a:p>
        </p:txBody>
      </p:sp>
      <p:sp>
        <p:nvSpPr>
          <p:cNvPr id="458" name="TextBox 457"/>
          <p:cNvSpPr txBox="1"/>
          <p:nvPr/>
        </p:nvSpPr>
        <p:spPr bwMode="auto">
          <a:xfrm>
            <a:off x="10902258" y="4472590"/>
            <a:ext cx="978153" cy="32316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홍길동 </a:t>
            </a:r>
            <a:r>
              <a:rPr lang="ko-KR" altLang="en-US" sz="700" smtClean="0">
                <a:solidFill>
                  <a:schemeClr val="bg1"/>
                </a:solidFill>
                <a:latin typeface="+mn-ea"/>
                <a:ea typeface="+mn-ea"/>
              </a:rPr>
              <a:t>제품기획팀</a:t>
            </a:r>
            <a:endParaRPr lang="en-US" altLang="ko-KR" sz="700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defRPr/>
            </a:pPr>
            <a:r>
              <a:rPr lang="en-US" altLang="ko-KR" sz="700">
                <a:solidFill>
                  <a:schemeClr val="bg1"/>
                </a:solidFill>
                <a:latin typeface="+mn-ea"/>
              </a:rPr>
              <a:t>03-17 </a:t>
            </a:r>
            <a:r>
              <a:rPr lang="en-US" altLang="ko-KR" sz="700" smtClean="0">
                <a:solidFill>
                  <a:schemeClr val="bg1"/>
                </a:solidFill>
                <a:latin typeface="+mn-ea"/>
              </a:rPr>
              <a:t>11:24</a:t>
            </a:r>
            <a:endParaRPr lang="ko-KR" altLang="en-US" sz="7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9" name="User"/>
          <p:cNvSpPr>
            <a:spLocks noChangeAspect="1" noEditPoints="1"/>
          </p:cNvSpPr>
          <p:nvPr/>
        </p:nvSpPr>
        <p:spPr bwMode="auto">
          <a:xfrm>
            <a:off x="4846894" y="3311549"/>
            <a:ext cx="163686" cy="173668"/>
          </a:xfrm>
          <a:custGeom>
            <a:avLst/>
            <a:gdLst>
              <a:gd name="T0" fmla="*/ 146 w 535"/>
              <a:gd name="T1" fmla="*/ 66 h 568"/>
              <a:gd name="T2" fmla="*/ 136 w 535"/>
              <a:gd name="T3" fmla="*/ 231 h 568"/>
              <a:gd name="T4" fmla="*/ 161 w 535"/>
              <a:gd name="T5" fmla="*/ 274 h 568"/>
              <a:gd name="T6" fmla="*/ 184 w 535"/>
              <a:gd name="T7" fmla="*/ 332 h 568"/>
              <a:gd name="T8" fmla="*/ 189 w 535"/>
              <a:gd name="T9" fmla="*/ 385 h 568"/>
              <a:gd name="T10" fmla="*/ 97 w 535"/>
              <a:gd name="T11" fmla="*/ 437 h 568"/>
              <a:gd name="T12" fmla="*/ 0 w 535"/>
              <a:gd name="T13" fmla="*/ 554 h 568"/>
              <a:gd name="T14" fmla="*/ 535 w 535"/>
              <a:gd name="T15" fmla="*/ 568 h 568"/>
              <a:gd name="T16" fmla="*/ 501 w 535"/>
              <a:gd name="T17" fmla="*/ 477 h 568"/>
              <a:gd name="T18" fmla="*/ 377 w 535"/>
              <a:gd name="T19" fmla="*/ 412 h 568"/>
              <a:gd name="T20" fmla="*/ 345 w 535"/>
              <a:gd name="T21" fmla="*/ 337 h 568"/>
              <a:gd name="T22" fmla="*/ 361 w 535"/>
              <a:gd name="T23" fmla="*/ 314 h 568"/>
              <a:gd name="T24" fmla="*/ 385 w 535"/>
              <a:gd name="T25" fmla="*/ 267 h 568"/>
              <a:gd name="T26" fmla="*/ 389 w 535"/>
              <a:gd name="T27" fmla="*/ 199 h 568"/>
              <a:gd name="T28" fmla="*/ 383 w 535"/>
              <a:gd name="T29" fmla="*/ 54 h 568"/>
              <a:gd name="T30" fmla="*/ 266 w 535"/>
              <a:gd name="T31" fmla="*/ 0 h 568"/>
              <a:gd name="T32" fmla="*/ 266 w 535"/>
              <a:gd name="T33" fmla="*/ 27 h 568"/>
              <a:gd name="T34" fmla="*/ 319 w 535"/>
              <a:gd name="T35" fmla="*/ 49 h 568"/>
              <a:gd name="T36" fmla="*/ 362 w 535"/>
              <a:gd name="T37" fmla="*/ 70 h 568"/>
              <a:gd name="T38" fmla="*/ 362 w 535"/>
              <a:gd name="T39" fmla="*/ 198 h 568"/>
              <a:gd name="T40" fmla="*/ 368 w 535"/>
              <a:gd name="T41" fmla="*/ 213 h 568"/>
              <a:gd name="T42" fmla="*/ 364 w 535"/>
              <a:gd name="T43" fmla="*/ 251 h 568"/>
              <a:gd name="T44" fmla="*/ 350 w 535"/>
              <a:gd name="T45" fmla="*/ 255 h 568"/>
              <a:gd name="T46" fmla="*/ 337 w 535"/>
              <a:gd name="T47" fmla="*/ 302 h 568"/>
              <a:gd name="T48" fmla="*/ 325 w 535"/>
              <a:gd name="T49" fmla="*/ 320 h 568"/>
              <a:gd name="T50" fmla="*/ 318 w 535"/>
              <a:gd name="T51" fmla="*/ 332 h 568"/>
              <a:gd name="T52" fmla="*/ 320 w 535"/>
              <a:gd name="T53" fmla="*/ 391 h 568"/>
              <a:gd name="T54" fmla="*/ 365 w 535"/>
              <a:gd name="T55" fmla="*/ 436 h 568"/>
              <a:gd name="T56" fmla="*/ 482 w 535"/>
              <a:gd name="T57" fmla="*/ 496 h 568"/>
              <a:gd name="T58" fmla="*/ 30 w 535"/>
              <a:gd name="T59" fmla="*/ 541 h 568"/>
              <a:gd name="T60" fmla="*/ 107 w 535"/>
              <a:gd name="T61" fmla="*/ 462 h 568"/>
              <a:gd name="T62" fmla="*/ 214 w 535"/>
              <a:gd name="T63" fmla="*/ 393 h 568"/>
              <a:gd name="T64" fmla="*/ 215 w 535"/>
              <a:gd name="T65" fmla="*/ 390 h 568"/>
              <a:gd name="T66" fmla="*/ 217 w 535"/>
              <a:gd name="T67" fmla="*/ 324 h 568"/>
              <a:gd name="T68" fmla="*/ 205 w 535"/>
              <a:gd name="T69" fmla="*/ 316 h 568"/>
              <a:gd name="T70" fmla="*/ 186 w 535"/>
              <a:gd name="T71" fmla="*/ 266 h 568"/>
              <a:gd name="T72" fmla="*/ 173 w 535"/>
              <a:gd name="T73" fmla="*/ 254 h 568"/>
              <a:gd name="T74" fmla="*/ 162 w 535"/>
              <a:gd name="T75" fmla="*/ 228 h 568"/>
              <a:gd name="T76" fmla="*/ 175 w 535"/>
              <a:gd name="T77" fmla="*/ 208 h 568"/>
              <a:gd name="T78" fmla="*/ 171 w 535"/>
              <a:gd name="T79" fmla="*/ 76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35" h="568">
                <a:moveTo>
                  <a:pt x="266" y="0"/>
                </a:moveTo>
                <a:cubicBezTo>
                  <a:pt x="203" y="1"/>
                  <a:pt x="163" y="27"/>
                  <a:pt x="146" y="66"/>
                </a:cubicBezTo>
                <a:cubicBezTo>
                  <a:pt x="130" y="103"/>
                  <a:pt x="134" y="150"/>
                  <a:pt x="145" y="199"/>
                </a:cubicBezTo>
                <a:cubicBezTo>
                  <a:pt x="139" y="206"/>
                  <a:pt x="134" y="216"/>
                  <a:pt x="136" y="231"/>
                </a:cubicBezTo>
                <a:cubicBezTo>
                  <a:pt x="137" y="245"/>
                  <a:pt x="143" y="257"/>
                  <a:pt x="149" y="267"/>
                </a:cubicBezTo>
                <a:cubicBezTo>
                  <a:pt x="152" y="272"/>
                  <a:pt x="157" y="272"/>
                  <a:pt x="161" y="274"/>
                </a:cubicBezTo>
                <a:cubicBezTo>
                  <a:pt x="163" y="288"/>
                  <a:pt x="167" y="302"/>
                  <a:pt x="173" y="314"/>
                </a:cubicBezTo>
                <a:cubicBezTo>
                  <a:pt x="177" y="321"/>
                  <a:pt x="180" y="327"/>
                  <a:pt x="184" y="332"/>
                </a:cubicBezTo>
                <a:cubicBezTo>
                  <a:pt x="186" y="334"/>
                  <a:pt x="188" y="335"/>
                  <a:pt x="190" y="337"/>
                </a:cubicBezTo>
                <a:cubicBezTo>
                  <a:pt x="190" y="354"/>
                  <a:pt x="190" y="367"/>
                  <a:pt x="189" y="385"/>
                </a:cubicBezTo>
                <a:cubicBezTo>
                  <a:pt x="184" y="395"/>
                  <a:pt x="174" y="404"/>
                  <a:pt x="158" y="412"/>
                </a:cubicBezTo>
                <a:cubicBezTo>
                  <a:pt x="141" y="420"/>
                  <a:pt x="119" y="428"/>
                  <a:pt x="97" y="437"/>
                </a:cubicBezTo>
                <a:cubicBezTo>
                  <a:pt x="74" y="447"/>
                  <a:pt x="52" y="459"/>
                  <a:pt x="33" y="477"/>
                </a:cubicBezTo>
                <a:cubicBezTo>
                  <a:pt x="15" y="495"/>
                  <a:pt x="2" y="521"/>
                  <a:pt x="0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4" y="554"/>
                </a:lnTo>
                <a:cubicBezTo>
                  <a:pt x="532" y="521"/>
                  <a:pt x="519" y="495"/>
                  <a:pt x="501" y="477"/>
                </a:cubicBezTo>
                <a:cubicBezTo>
                  <a:pt x="483" y="459"/>
                  <a:pt x="460" y="447"/>
                  <a:pt x="438" y="437"/>
                </a:cubicBezTo>
                <a:cubicBezTo>
                  <a:pt x="416" y="428"/>
                  <a:pt x="394" y="420"/>
                  <a:pt x="377" y="412"/>
                </a:cubicBezTo>
                <a:cubicBezTo>
                  <a:pt x="361" y="404"/>
                  <a:pt x="350" y="395"/>
                  <a:pt x="346" y="385"/>
                </a:cubicBezTo>
                <a:cubicBezTo>
                  <a:pt x="345" y="367"/>
                  <a:pt x="345" y="354"/>
                  <a:pt x="345" y="337"/>
                </a:cubicBezTo>
                <a:cubicBezTo>
                  <a:pt x="347" y="335"/>
                  <a:pt x="349" y="334"/>
                  <a:pt x="351" y="332"/>
                </a:cubicBezTo>
                <a:cubicBezTo>
                  <a:pt x="354" y="327"/>
                  <a:pt x="358" y="321"/>
                  <a:pt x="361" y="314"/>
                </a:cubicBezTo>
                <a:cubicBezTo>
                  <a:pt x="367" y="302"/>
                  <a:pt x="371" y="288"/>
                  <a:pt x="373" y="274"/>
                </a:cubicBezTo>
                <a:cubicBezTo>
                  <a:pt x="377" y="272"/>
                  <a:pt x="382" y="272"/>
                  <a:pt x="385" y="267"/>
                </a:cubicBezTo>
                <a:cubicBezTo>
                  <a:pt x="392" y="259"/>
                  <a:pt x="396" y="247"/>
                  <a:pt x="398" y="231"/>
                </a:cubicBezTo>
                <a:cubicBezTo>
                  <a:pt x="400" y="216"/>
                  <a:pt x="395" y="207"/>
                  <a:pt x="389" y="199"/>
                </a:cubicBezTo>
                <a:cubicBezTo>
                  <a:pt x="396" y="178"/>
                  <a:pt x="404" y="144"/>
                  <a:pt x="401" y="109"/>
                </a:cubicBezTo>
                <a:cubicBezTo>
                  <a:pt x="400" y="90"/>
                  <a:pt x="395" y="70"/>
                  <a:pt x="383" y="54"/>
                </a:cubicBezTo>
                <a:cubicBezTo>
                  <a:pt x="373" y="40"/>
                  <a:pt x="356" y="30"/>
                  <a:pt x="334" y="25"/>
                </a:cubicBezTo>
                <a:cubicBezTo>
                  <a:pt x="320" y="7"/>
                  <a:pt x="295" y="0"/>
                  <a:pt x="266" y="0"/>
                </a:cubicBezTo>
                <a:lnTo>
                  <a:pt x="266" y="0"/>
                </a:lnTo>
                <a:close/>
                <a:moveTo>
                  <a:pt x="266" y="27"/>
                </a:moveTo>
                <a:cubicBezTo>
                  <a:pt x="293" y="27"/>
                  <a:pt x="310" y="35"/>
                  <a:pt x="315" y="43"/>
                </a:cubicBezTo>
                <a:lnTo>
                  <a:pt x="319" y="49"/>
                </a:lnTo>
                <a:lnTo>
                  <a:pt x="325" y="50"/>
                </a:lnTo>
                <a:cubicBezTo>
                  <a:pt x="344" y="52"/>
                  <a:pt x="354" y="60"/>
                  <a:pt x="362" y="70"/>
                </a:cubicBezTo>
                <a:cubicBezTo>
                  <a:pt x="369" y="80"/>
                  <a:pt x="373" y="95"/>
                  <a:pt x="374" y="111"/>
                </a:cubicBezTo>
                <a:cubicBezTo>
                  <a:pt x="377" y="143"/>
                  <a:pt x="368" y="180"/>
                  <a:pt x="362" y="198"/>
                </a:cubicBezTo>
                <a:lnTo>
                  <a:pt x="359" y="208"/>
                </a:lnTo>
                <a:lnTo>
                  <a:pt x="368" y="213"/>
                </a:lnTo>
                <a:cubicBezTo>
                  <a:pt x="367" y="213"/>
                  <a:pt x="373" y="217"/>
                  <a:pt x="372" y="228"/>
                </a:cubicBezTo>
                <a:cubicBezTo>
                  <a:pt x="370" y="241"/>
                  <a:pt x="367" y="248"/>
                  <a:pt x="364" y="251"/>
                </a:cubicBezTo>
                <a:cubicBezTo>
                  <a:pt x="362" y="254"/>
                  <a:pt x="361" y="254"/>
                  <a:pt x="361" y="254"/>
                </a:cubicBezTo>
                <a:lnTo>
                  <a:pt x="350" y="255"/>
                </a:lnTo>
                <a:lnTo>
                  <a:pt x="348" y="266"/>
                </a:lnTo>
                <a:cubicBezTo>
                  <a:pt x="347" y="277"/>
                  <a:pt x="343" y="291"/>
                  <a:pt x="337" y="302"/>
                </a:cubicBezTo>
                <a:cubicBezTo>
                  <a:pt x="335" y="308"/>
                  <a:pt x="332" y="313"/>
                  <a:pt x="329" y="316"/>
                </a:cubicBezTo>
                <a:cubicBezTo>
                  <a:pt x="327" y="319"/>
                  <a:pt x="324" y="321"/>
                  <a:pt x="325" y="320"/>
                </a:cubicBezTo>
                <a:lnTo>
                  <a:pt x="318" y="324"/>
                </a:lnTo>
                <a:lnTo>
                  <a:pt x="318" y="332"/>
                </a:lnTo>
                <a:cubicBezTo>
                  <a:pt x="318" y="352"/>
                  <a:pt x="318" y="367"/>
                  <a:pt x="320" y="390"/>
                </a:cubicBezTo>
                <a:lnTo>
                  <a:pt x="320" y="391"/>
                </a:lnTo>
                <a:lnTo>
                  <a:pt x="320" y="393"/>
                </a:lnTo>
                <a:cubicBezTo>
                  <a:pt x="328" y="413"/>
                  <a:pt x="346" y="426"/>
                  <a:pt x="365" y="436"/>
                </a:cubicBezTo>
                <a:cubicBezTo>
                  <a:pt x="384" y="445"/>
                  <a:pt x="406" y="453"/>
                  <a:pt x="427" y="462"/>
                </a:cubicBezTo>
                <a:cubicBezTo>
                  <a:pt x="448" y="471"/>
                  <a:pt x="468" y="481"/>
                  <a:pt x="482" y="496"/>
                </a:cubicBezTo>
                <a:cubicBezTo>
                  <a:pt x="493" y="507"/>
                  <a:pt x="500" y="522"/>
                  <a:pt x="504" y="541"/>
                </a:cubicBezTo>
                <a:lnTo>
                  <a:pt x="30" y="541"/>
                </a:lnTo>
                <a:cubicBezTo>
                  <a:pt x="34" y="522"/>
                  <a:pt x="41" y="507"/>
                  <a:pt x="52" y="496"/>
                </a:cubicBezTo>
                <a:cubicBezTo>
                  <a:pt x="67" y="481"/>
                  <a:pt x="86" y="471"/>
                  <a:pt x="107" y="462"/>
                </a:cubicBezTo>
                <a:cubicBezTo>
                  <a:pt x="128" y="453"/>
                  <a:pt x="150" y="445"/>
                  <a:pt x="170" y="436"/>
                </a:cubicBezTo>
                <a:cubicBezTo>
                  <a:pt x="189" y="426"/>
                  <a:pt x="207" y="413"/>
                  <a:pt x="214" y="393"/>
                </a:cubicBezTo>
                <a:lnTo>
                  <a:pt x="215" y="391"/>
                </a:lnTo>
                <a:lnTo>
                  <a:pt x="215" y="390"/>
                </a:lnTo>
                <a:cubicBezTo>
                  <a:pt x="217" y="367"/>
                  <a:pt x="217" y="352"/>
                  <a:pt x="217" y="332"/>
                </a:cubicBezTo>
                <a:lnTo>
                  <a:pt x="217" y="324"/>
                </a:lnTo>
                <a:lnTo>
                  <a:pt x="209" y="320"/>
                </a:lnTo>
                <a:cubicBezTo>
                  <a:pt x="211" y="321"/>
                  <a:pt x="208" y="319"/>
                  <a:pt x="205" y="316"/>
                </a:cubicBezTo>
                <a:cubicBezTo>
                  <a:pt x="203" y="312"/>
                  <a:pt x="200" y="308"/>
                  <a:pt x="197" y="302"/>
                </a:cubicBezTo>
                <a:cubicBezTo>
                  <a:pt x="192" y="291"/>
                  <a:pt x="187" y="277"/>
                  <a:pt x="186" y="266"/>
                </a:cubicBezTo>
                <a:lnTo>
                  <a:pt x="184" y="255"/>
                </a:lnTo>
                <a:lnTo>
                  <a:pt x="173" y="254"/>
                </a:lnTo>
                <a:cubicBezTo>
                  <a:pt x="173" y="254"/>
                  <a:pt x="172" y="254"/>
                  <a:pt x="170" y="251"/>
                </a:cubicBezTo>
                <a:cubicBezTo>
                  <a:pt x="167" y="248"/>
                  <a:pt x="164" y="241"/>
                  <a:pt x="162" y="228"/>
                </a:cubicBezTo>
                <a:cubicBezTo>
                  <a:pt x="160" y="222"/>
                  <a:pt x="165" y="217"/>
                  <a:pt x="166" y="213"/>
                </a:cubicBezTo>
                <a:lnTo>
                  <a:pt x="175" y="208"/>
                </a:lnTo>
                <a:lnTo>
                  <a:pt x="172" y="199"/>
                </a:lnTo>
                <a:cubicBezTo>
                  <a:pt x="160" y="150"/>
                  <a:pt x="158" y="106"/>
                  <a:pt x="171" y="76"/>
                </a:cubicBezTo>
                <a:cubicBezTo>
                  <a:pt x="184" y="47"/>
                  <a:pt x="210" y="28"/>
                  <a:pt x="266" y="2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4" name="Freeform 739"/>
          <p:cNvSpPr>
            <a:spLocks noChangeAspect="1"/>
          </p:cNvSpPr>
          <p:nvPr/>
        </p:nvSpPr>
        <p:spPr>
          <a:xfrm>
            <a:off x="2311939" y="173859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5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2"/>
            </p:custDataLst>
          </p:nvPr>
        </p:nvSpPr>
        <p:spPr>
          <a:xfrm>
            <a:off x="2150141" y="174184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32" name="Freeform 739"/>
          <p:cNvSpPr>
            <a:spLocks noChangeAspect="1"/>
          </p:cNvSpPr>
          <p:nvPr/>
        </p:nvSpPr>
        <p:spPr>
          <a:xfrm>
            <a:off x="2311939" y="2717848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3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3"/>
            </p:custDataLst>
          </p:nvPr>
        </p:nvSpPr>
        <p:spPr>
          <a:xfrm>
            <a:off x="2150141" y="2721099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30" name="Freeform 739"/>
          <p:cNvSpPr>
            <a:spLocks noChangeAspect="1"/>
          </p:cNvSpPr>
          <p:nvPr/>
        </p:nvSpPr>
        <p:spPr>
          <a:xfrm>
            <a:off x="2311939" y="368088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1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4"/>
            </p:custDataLst>
          </p:nvPr>
        </p:nvSpPr>
        <p:spPr>
          <a:xfrm>
            <a:off x="2150141" y="368413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72" name="Freeform 739"/>
          <p:cNvSpPr>
            <a:spLocks noChangeAspect="1"/>
          </p:cNvSpPr>
          <p:nvPr/>
        </p:nvSpPr>
        <p:spPr>
          <a:xfrm>
            <a:off x="2311939" y="4643925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4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5"/>
            </p:custDataLst>
          </p:nvPr>
        </p:nvSpPr>
        <p:spPr>
          <a:xfrm>
            <a:off x="2150141" y="4647176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47" name="Freeform 739"/>
          <p:cNvSpPr>
            <a:spLocks noChangeAspect="1"/>
          </p:cNvSpPr>
          <p:nvPr/>
        </p:nvSpPr>
        <p:spPr>
          <a:xfrm>
            <a:off x="3641386" y="173859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8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6"/>
            </p:custDataLst>
          </p:nvPr>
        </p:nvSpPr>
        <p:spPr>
          <a:xfrm>
            <a:off x="3479588" y="174184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45" name="Freeform 739"/>
          <p:cNvSpPr>
            <a:spLocks noChangeAspect="1"/>
          </p:cNvSpPr>
          <p:nvPr/>
        </p:nvSpPr>
        <p:spPr>
          <a:xfrm>
            <a:off x="3641386" y="2717848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6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7"/>
            </p:custDataLst>
          </p:nvPr>
        </p:nvSpPr>
        <p:spPr>
          <a:xfrm>
            <a:off x="3479588" y="2721099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43" name="Freeform 739"/>
          <p:cNvSpPr>
            <a:spLocks noChangeAspect="1"/>
          </p:cNvSpPr>
          <p:nvPr/>
        </p:nvSpPr>
        <p:spPr>
          <a:xfrm>
            <a:off x="3641386" y="368088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4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8"/>
            </p:custDataLst>
          </p:nvPr>
        </p:nvSpPr>
        <p:spPr>
          <a:xfrm>
            <a:off x="3479588" y="368413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41" name="Freeform 739"/>
          <p:cNvSpPr>
            <a:spLocks noChangeAspect="1"/>
          </p:cNvSpPr>
          <p:nvPr/>
        </p:nvSpPr>
        <p:spPr>
          <a:xfrm>
            <a:off x="3641386" y="4643925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2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9"/>
            </p:custDataLst>
          </p:nvPr>
        </p:nvSpPr>
        <p:spPr>
          <a:xfrm>
            <a:off x="3479588" y="4647176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60" name="Freeform 739"/>
          <p:cNvSpPr>
            <a:spLocks noChangeAspect="1"/>
          </p:cNvSpPr>
          <p:nvPr/>
        </p:nvSpPr>
        <p:spPr>
          <a:xfrm>
            <a:off x="5003258" y="173859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1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0"/>
            </p:custDataLst>
          </p:nvPr>
        </p:nvSpPr>
        <p:spPr>
          <a:xfrm>
            <a:off x="4841460" y="174184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58" name="Freeform 739"/>
          <p:cNvSpPr>
            <a:spLocks noChangeAspect="1"/>
          </p:cNvSpPr>
          <p:nvPr/>
        </p:nvSpPr>
        <p:spPr>
          <a:xfrm>
            <a:off x="5003258" y="2717848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9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1"/>
            </p:custDataLst>
          </p:nvPr>
        </p:nvSpPr>
        <p:spPr>
          <a:xfrm>
            <a:off x="4841460" y="2721099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56" name="Freeform 739"/>
          <p:cNvSpPr>
            <a:spLocks noChangeAspect="1"/>
          </p:cNvSpPr>
          <p:nvPr/>
        </p:nvSpPr>
        <p:spPr>
          <a:xfrm>
            <a:off x="5003258" y="368088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7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2"/>
            </p:custDataLst>
          </p:nvPr>
        </p:nvSpPr>
        <p:spPr>
          <a:xfrm>
            <a:off x="4841460" y="368413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54" name="Freeform 739"/>
          <p:cNvSpPr>
            <a:spLocks noChangeAspect="1"/>
          </p:cNvSpPr>
          <p:nvPr/>
        </p:nvSpPr>
        <p:spPr>
          <a:xfrm>
            <a:off x="5003258" y="4643925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5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3"/>
            </p:custDataLst>
          </p:nvPr>
        </p:nvSpPr>
        <p:spPr>
          <a:xfrm>
            <a:off x="4841460" y="4647176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73" name="Freeform 739"/>
          <p:cNvSpPr>
            <a:spLocks noChangeAspect="1"/>
          </p:cNvSpPr>
          <p:nvPr/>
        </p:nvSpPr>
        <p:spPr>
          <a:xfrm>
            <a:off x="6297036" y="173859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4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4"/>
            </p:custDataLst>
          </p:nvPr>
        </p:nvSpPr>
        <p:spPr>
          <a:xfrm>
            <a:off x="6135238" y="174184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71" name="Freeform 739"/>
          <p:cNvSpPr>
            <a:spLocks noChangeAspect="1"/>
          </p:cNvSpPr>
          <p:nvPr/>
        </p:nvSpPr>
        <p:spPr>
          <a:xfrm>
            <a:off x="6297036" y="2717848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2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5"/>
            </p:custDataLst>
          </p:nvPr>
        </p:nvSpPr>
        <p:spPr>
          <a:xfrm>
            <a:off x="6135238" y="2721099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69" name="Freeform 739"/>
          <p:cNvSpPr>
            <a:spLocks noChangeAspect="1"/>
          </p:cNvSpPr>
          <p:nvPr/>
        </p:nvSpPr>
        <p:spPr>
          <a:xfrm>
            <a:off x="6297036" y="368088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0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6"/>
            </p:custDataLst>
          </p:nvPr>
        </p:nvSpPr>
        <p:spPr>
          <a:xfrm>
            <a:off x="6135238" y="368413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67" name="Freeform 739"/>
          <p:cNvSpPr>
            <a:spLocks noChangeAspect="1"/>
          </p:cNvSpPr>
          <p:nvPr/>
        </p:nvSpPr>
        <p:spPr>
          <a:xfrm>
            <a:off x="6297036" y="4643925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8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7"/>
            </p:custDataLst>
          </p:nvPr>
        </p:nvSpPr>
        <p:spPr>
          <a:xfrm>
            <a:off x="6135238" y="4647176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86" name="Freeform 739"/>
          <p:cNvSpPr>
            <a:spLocks noChangeAspect="1"/>
          </p:cNvSpPr>
          <p:nvPr/>
        </p:nvSpPr>
        <p:spPr>
          <a:xfrm>
            <a:off x="7629726" y="173859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7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8"/>
            </p:custDataLst>
          </p:nvPr>
        </p:nvSpPr>
        <p:spPr>
          <a:xfrm>
            <a:off x="7467928" y="174184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84" name="Freeform 739"/>
          <p:cNvSpPr>
            <a:spLocks noChangeAspect="1"/>
          </p:cNvSpPr>
          <p:nvPr/>
        </p:nvSpPr>
        <p:spPr>
          <a:xfrm>
            <a:off x="7629726" y="2717848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5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9"/>
            </p:custDataLst>
          </p:nvPr>
        </p:nvSpPr>
        <p:spPr>
          <a:xfrm>
            <a:off x="7467928" y="2721099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82" name="Freeform 739"/>
          <p:cNvSpPr>
            <a:spLocks noChangeAspect="1"/>
          </p:cNvSpPr>
          <p:nvPr/>
        </p:nvSpPr>
        <p:spPr>
          <a:xfrm>
            <a:off x="7629726" y="3680887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3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20"/>
            </p:custDataLst>
          </p:nvPr>
        </p:nvSpPr>
        <p:spPr>
          <a:xfrm>
            <a:off x="7467928" y="3684138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80" name="Freeform 739"/>
          <p:cNvSpPr>
            <a:spLocks noChangeAspect="1"/>
          </p:cNvSpPr>
          <p:nvPr/>
        </p:nvSpPr>
        <p:spPr>
          <a:xfrm>
            <a:off x="7629726" y="4643925"/>
            <a:ext cx="107260" cy="1188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1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21"/>
            </p:custDataLst>
          </p:nvPr>
        </p:nvSpPr>
        <p:spPr>
          <a:xfrm>
            <a:off x="7467928" y="4647176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88" name="Rounded Rectangle 939"/>
          <p:cNvSpPr/>
          <p:nvPr/>
        </p:nvSpPr>
        <p:spPr>
          <a:xfrm>
            <a:off x="2305050" y="1114425"/>
            <a:ext cx="659971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12700" dist="38100" dir="2700000" algn="tl" rotWithShape="0">
              <a:schemeClr val="bg1">
                <a:lumMod val="65000"/>
                <a:alpha val="47000"/>
              </a:schemeClr>
            </a:outerShdw>
          </a:effectLst>
        </p:spPr>
        <p:txBody>
          <a:bodyPr lIns="0" tIns="0" rIns="0" bIns="0" anchor="ctr"/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메일로 전송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591" name="직선 연결선[R] 7"/>
          <p:cNvCxnSpPr/>
          <p:nvPr/>
        </p:nvCxnSpPr>
        <p:spPr>
          <a:xfrm>
            <a:off x="1913287" y="1395822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92" name="TextBox 591"/>
          <p:cNvSpPr txBox="1"/>
          <p:nvPr/>
        </p:nvSpPr>
        <p:spPr>
          <a:xfrm>
            <a:off x="9396932" y="5905500"/>
            <a:ext cx="2642667" cy="914400"/>
          </a:xfrm>
          <a:prstGeom prst="rect">
            <a:avLst/>
          </a:prstGeom>
          <a:noFill/>
        </p:spPr>
        <p:txBody>
          <a:bodyPr wrap="none" lIns="72000" rIns="72000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[12/21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내역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SQ5.2.2.1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와 화면 동기화</a:t>
            </a:r>
            <a:endParaRPr lang="ko-KR" altLang="en-US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93" name="직각 삼각형 592"/>
          <p:cNvSpPr/>
          <p:nvPr/>
        </p:nvSpPr>
        <p:spPr>
          <a:xfrm flipH="1">
            <a:off x="11353800" y="5819775"/>
            <a:ext cx="771874" cy="849585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12/21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수정</a:t>
            </a:r>
            <a:endParaRPr lang="en-US" altLang="ko-KR" sz="80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graphicFrame>
        <p:nvGraphicFramePr>
          <p:cNvPr id="59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0300390"/>
              </p:ext>
            </p:extLst>
          </p:nvPr>
        </p:nvGraphicFramePr>
        <p:xfrm>
          <a:off x="9290533" y="786383"/>
          <a:ext cx="2892502" cy="9386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※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각 그룹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&gt;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사진</a:t>
                      </a:r>
                      <a:r>
                        <a:rPr kumimoji="1"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</a:rPr>
                        <a:t>(SQ5.2.2.1)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메뉴에서 플래그 설정된 사진컨텐츠만 출력시키는 화면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기능은 동일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플래그 해제시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현재 목록에서 제외 처리</a:t>
                      </a:r>
                      <a:endParaRPr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95" name="타원 594"/>
          <p:cNvSpPr/>
          <p:nvPr/>
        </p:nvSpPr>
        <p:spPr>
          <a:xfrm>
            <a:off x="4953000" y="1666875"/>
            <a:ext cx="257175" cy="247650"/>
          </a:xfrm>
          <a:prstGeom prst="ellipse">
            <a:avLst/>
          </a:prstGeom>
          <a:noFill/>
          <a:ln>
            <a:solidFill>
              <a:srgbClr val="FF0000"/>
            </a:solidFill>
            <a:prstDash val="sys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96" name="타원 595"/>
          <p:cNvSpPr>
            <a:spLocks noChangeAspect="1"/>
          </p:cNvSpPr>
          <p:nvPr/>
        </p:nvSpPr>
        <p:spPr>
          <a:xfrm>
            <a:off x="5116678" y="158935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23" name="TextBox 222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18" name="모서리가 둥근 직사각형 217"/>
          <p:cNvSpPr/>
          <p:nvPr/>
        </p:nvSpPr>
        <p:spPr>
          <a:xfrm>
            <a:off x="4736185" y="2876735"/>
            <a:ext cx="1252842" cy="152215"/>
          </a:xfrm>
          <a:prstGeom prst="roundRect">
            <a:avLst>
              <a:gd name="adj" fmla="val 4014"/>
            </a:avLst>
          </a:prstGeom>
          <a:solidFill>
            <a:srgbClr val="0D0D0D">
              <a:alpha val="69804"/>
            </a:srgb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600" smtClean="0"/>
              <a:t>EGW UX</a:t>
            </a:r>
            <a:r>
              <a:rPr lang="ko-KR" altLang="en-US" sz="600" smtClean="0"/>
              <a:t>개선 </a:t>
            </a:r>
            <a:r>
              <a:rPr lang="en-US" altLang="ko-KR" sz="600" smtClean="0"/>
              <a:t>TF</a:t>
            </a:r>
            <a:endParaRPr lang="ko-KR" altLang="en-US" sz="600" smtClean="0"/>
          </a:p>
        </p:txBody>
      </p:sp>
      <p:pic>
        <p:nvPicPr>
          <p:cNvPr id="13" name="그림 12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795002" y="3097139"/>
            <a:ext cx="182896" cy="225572"/>
          </a:xfrm>
          <a:prstGeom prst="rect">
            <a:avLst/>
          </a:prstGeom>
        </p:spPr>
      </p:pic>
      <p:sp>
        <p:nvSpPr>
          <p:cNvPr id="14" name="오른쪽 중괄호 13"/>
          <p:cNvSpPr/>
          <p:nvPr/>
        </p:nvSpPr>
        <p:spPr>
          <a:xfrm>
            <a:off x="6010275" y="2895785"/>
            <a:ext cx="95250" cy="647515"/>
          </a:xfrm>
          <a:prstGeom prst="rightBrace">
            <a:avLst>
              <a:gd name="adj1" fmla="val 30224"/>
              <a:gd name="adj2" fmla="val 50000"/>
            </a:avLst>
          </a:prstGeom>
          <a:ln w="3175">
            <a:solidFill>
              <a:srgbClr val="FF0000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/>
          <p:cNvSpPr txBox="1"/>
          <p:nvPr/>
        </p:nvSpPr>
        <p:spPr>
          <a:xfrm>
            <a:off x="6153150" y="3129114"/>
            <a:ext cx="2033176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이미지에 마우스 오버시 그룹명 및 등록자 정보 오버레이</a:t>
            </a:r>
            <a:endParaRPr lang="ko-KR" altLang="en-US" sz="6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25922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플래그 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파일 탭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플래그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 smtClean="0"/>
              <a:t>SQ5.1.2.3</a:t>
            </a:r>
            <a:endParaRPr lang="ko-KR" altLang="en-US" dirty="0"/>
          </a:p>
        </p:txBody>
      </p:sp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4" name="텍스트 상자 31"/>
          <p:cNvSpPr txBox="1"/>
          <p:nvPr/>
        </p:nvSpPr>
        <p:spPr>
          <a:xfrm>
            <a:off x="193161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플래그 글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4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1374265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7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47" name="TextBox 46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grpSp>
        <p:nvGrpSpPr>
          <p:cNvPr id="501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502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503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237" name="TextBox 236"/>
          <p:cNvSpPr txBox="1"/>
          <p:nvPr/>
        </p:nvSpPr>
        <p:spPr>
          <a:xfrm>
            <a:off x="1950985" y="1173746"/>
            <a:ext cx="9126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 파일 타입 </a:t>
            </a:r>
            <a:r>
              <a:rPr lang="ko-KR" altLang="en-US" sz="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▼</a:t>
            </a:r>
            <a:endParaRPr lang="ko-KR" altLang="en-US" sz="6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38" name="그룹 237"/>
          <p:cNvGrpSpPr/>
          <p:nvPr/>
        </p:nvGrpSpPr>
        <p:grpSpPr>
          <a:xfrm>
            <a:off x="3305320" y="1173747"/>
            <a:ext cx="335729" cy="195814"/>
            <a:chOff x="3305320" y="1562367"/>
            <a:chExt cx="335729" cy="195814"/>
          </a:xfrm>
        </p:grpSpPr>
        <p:sp>
          <p:nvSpPr>
            <p:cNvPr id="239" name="TextBox 238"/>
            <p:cNvSpPr txBox="1"/>
            <p:nvPr/>
          </p:nvSpPr>
          <p:spPr>
            <a:xfrm>
              <a:off x="3390412" y="1562367"/>
              <a:ext cx="250637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256</a:t>
              </a:r>
              <a:endPara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pic>
          <p:nvPicPr>
            <p:cNvPr id="240" name="그림 23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305320" y="1596258"/>
              <a:ext cx="85092" cy="109674"/>
            </a:xfrm>
            <a:prstGeom prst="rect">
              <a:avLst/>
            </a:prstGeom>
          </p:spPr>
        </p:pic>
      </p:grpSp>
      <p:grpSp>
        <p:nvGrpSpPr>
          <p:cNvPr id="241" name="그룹 240"/>
          <p:cNvGrpSpPr/>
          <p:nvPr/>
        </p:nvGrpSpPr>
        <p:grpSpPr>
          <a:xfrm>
            <a:off x="1932818" y="1756476"/>
            <a:ext cx="3453828" cy="513721"/>
            <a:chOff x="1932818" y="1822154"/>
            <a:chExt cx="3453828" cy="513721"/>
          </a:xfrm>
        </p:grpSpPr>
        <p:sp>
          <p:nvSpPr>
            <p:cNvPr id="242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243" name="그룹 242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254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60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44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245" name="그룹 244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24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247" name="그룹 246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248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252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30</a:t>
                  </a:r>
                  <a:r>
                    <a:rPr lang="ko-KR" altLang="en-US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분전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261" name="그룹 260"/>
          <p:cNvGrpSpPr/>
          <p:nvPr/>
        </p:nvGrpSpPr>
        <p:grpSpPr>
          <a:xfrm>
            <a:off x="1932818" y="2653633"/>
            <a:ext cx="3453828" cy="513721"/>
            <a:chOff x="1932818" y="2337543"/>
            <a:chExt cx="3453828" cy="513721"/>
          </a:xfrm>
        </p:grpSpPr>
        <p:sp>
          <p:nvSpPr>
            <p:cNvPr id="262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263" name="그룹 262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266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67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64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65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268" name="그룹 267"/>
          <p:cNvGrpSpPr/>
          <p:nvPr/>
        </p:nvGrpSpPr>
        <p:grpSpPr>
          <a:xfrm>
            <a:off x="3336060" y="2794464"/>
            <a:ext cx="1098404" cy="258332"/>
            <a:chOff x="3535531" y="1947415"/>
            <a:chExt cx="1098404" cy="258332"/>
          </a:xfrm>
        </p:grpSpPr>
        <p:sp>
          <p:nvSpPr>
            <p:cNvPr id="269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70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71" name="그룹 270"/>
          <p:cNvGrpSpPr/>
          <p:nvPr/>
        </p:nvGrpSpPr>
        <p:grpSpPr>
          <a:xfrm>
            <a:off x="1932818" y="3552349"/>
            <a:ext cx="3453828" cy="513721"/>
            <a:chOff x="1932818" y="2852928"/>
            <a:chExt cx="3453828" cy="513721"/>
          </a:xfrm>
        </p:grpSpPr>
        <p:sp>
          <p:nvSpPr>
            <p:cNvPr id="272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273" name="그룹 272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28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8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74" name="그룹 273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27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277" name="그룹 276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278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279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275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282" name="그룹 281"/>
          <p:cNvGrpSpPr/>
          <p:nvPr/>
        </p:nvGrpSpPr>
        <p:grpSpPr>
          <a:xfrm>
            <a:off x="1932818" y="5354779"/>
            <a:ext cx="3453828" cy="513721"/>
            <a:chOff x="1932818" y="4399095"/>
            <a:chExt cx="3453828" cy="513721"/>
          </a:xfrm>
        </p:grpSpPr>
        <p:sp>
          <p:nvSpPr>
            <p:cNvPr id="283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284" name="그룹 283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291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92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85" name="그룹 284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287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288" name="그룹 287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289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290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286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293" name="그룹 292"/>
          <p:cNvGrpSpPr/>
          <p:nvPr/>
        </p:nvGrpSpPr>
        <p:grpSpPr>
          <a:xfrm>
            <a:off x="1932818" y="4463182"/>
            <a:ext cx="3453828" cy="513721"/>
            <a:chOff x="1932818" y="3368317"/>
            <a:chExt cx="3453828" cy="513721"/>
          </a:xfrm>
        </p:grpSpPr>
        <p:sp>
          <p:nvSpPr>
            <p:cNvPr id="294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295" name="그룹 294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30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0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96" name="그룹 295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29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299" name="그룹 298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300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301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297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512" name="Rounded Rectangle 392"/>
          <p:cNvSpPr/>
          <p:nvPr/>
        </p:nvSpPr>
        <p:spPr>
          <a:xfrm rot="5400000">
            <a:off x="7730725" y="3238881"/>
            <a:ext cx="2851121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14" name="그룹 513"/>
          <p:cNvGrpSpPr/>
          <p:nvPr/>
        </p:nvGrpSpPr>
        <p:grpSpPr>
          <a:xfrm>
            <a:off x="5515604" y="1756476"/>
            <a:ext cx="3453828" cy="513721"/>
            <a:chOff x="1932818" y="1822154"/>
            <a:chExt cx="3453828" cy="513721"/>
          </a:xfrm>
        </p:grpSpPr>
        <p:sp>
          <p:nvSpPr>
            <p:cNvPr id="515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16" name="그룹 515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52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2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17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518" name="그룹 517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519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20" name="그룹 519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521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522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30</a:t>
                  </a:r>
                  <a:r>
                    <a:rPr lang="ko-KR" altLang="en-US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분전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525" name="그룹 524"/>
          <p:cNvGrpSpPr/>
          <p:nvPr/>
        </p:nvGrpSpPr>
        <p:grpSpPr>
          <a:xfrm>
            <a:off x="5515604" y="2653633"/>
            <a:ext cx="3453828" cy="513721"/>
            <a:chOff x="1932818" y="2337543"/>
            <a:chExt cx="3453828" cy="513721"/>
          </a:xfrm>
        </p:grpSpPr>
        <p:sp>
          <p:nvSpPr>
            <p:cNvPr id="526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27" name="그룹 526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53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3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28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529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532" name="그룹 531"/>
          <p:cNvGrpSpPr/>
          <p:nvPr/>
        </p:nvGrpSpPr>
        <p:grpSpPr>
          <a:xfrm>
            <a:off x="6918846" y="2794464"/>
            <a:ext cx="1098404" cy="258332"/>
            <a:chOff x="3535531" y="1947415"/>
            <a:chExt cx="1098404" cy="258332"/>
          </a:xfrm>
        </p:grpSpPr>
        <p:sp>
          <p:nvSpPr>
            <p:cNvPr id="533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534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35" name="그룹 534"/>
          <p:cNvGrpSpPr/>
          <p:nvPr/>
        </p:nvGrpSpPr>
        <p:grpSpPr>
          <a:xfrm>
            <a:off x="5515604" y="3552349"/>
            <a:ext cx="3453828" cy="513721"/>
            <a:chOff x="1932818" y="2852928"/>
            <a:chExt cx="3453828" cy="513721"/>
          </a:xfrm>
        </p:grpSpPr>
        <p:sp>
          <p:nvSpPr>
            <p:cNvPr id="536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37" name="그룹 536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544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45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538" name="그룹 537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540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41" name="그룹 540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542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543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539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546" name="그룹 545"/>
          <p:cNvGrpSpPr/>
          <p:nvPr/>
        </p:nvGrpSpPr>
        <p:grpSpPr>
          <a:xfrm>
            <a:off x="5515604" y="5354779"/>
            <a:ext cx="3453828" cy="513721"/>
            <a:chOff x="1932818" y="4399095"/>
            <a:chExt cx="3453828" cy="513721"/>
          </a:xfrm>
        </p:grpSpPr>
        <p:sp>
          <p:nvSpPr>
            <p:cNvPr id="547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48" name="그룹 547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55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5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549" name="그룹 548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55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52" name="그룹 551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553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554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550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557" name="그룹 556"/>
          <p:cNvGrpSpPr/>
          <p:nvPr/>
        </p:nvGrpSpPr>
        <p:grpSpPr>
          <a:xfrm>
            <a:off x="5515604" y="4463182"/>
            <a:ext cx="3453828" cy="513721"/>
            <a:chOff x="1932818" y="3368317"/>
            <a:chExt cx="3453828" cy="513721"/>
          </a:xfrm>
        </p:grpSpPr>
        <p:sp>
          <p:nvSpPr>
            <p:cNvPr id="558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59" name="그룹 558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566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67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560" name="그룹 559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562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63" name="그룹 562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564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565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561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1932817" y="1475165"/>
            <a:ext cx="3453829" cy="288202"/>
            <a:chOff x="1932817" y="2084765"/>
            <a:chExt cx="3453829" cy="288202"/>
          </a:xfrm>
        </p:grpSpPr>
        <p:sp>
          <p:nvSpPr>
            <p:cNvPr id="632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33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미래형 자동차 선행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34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35" name="그룹 634"/>
          <p:cNvGrpSpPr/>
          <p:nvPr/>
        </p:nvGrpSpPr>
        <p:grpSpPr>
          <a:xfrm>
            <a:off x="5516031" y="1473024"/>
            <a:ext cx="3453829" cy="288202"/>
            <a:chOff x="1932817" y="2084765"/>
            <a:chExt cx="3453829" cy="288202"/>
          </a:xfrm>
        </p:grpSpPr>
        <p:sp>
          <p:nvSpPr>
            <p:cNvPr id="636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37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EGW UX </a:t>
              </a:r>
              <a:r>
                <a:rPr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개선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38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39" name="그룹 638"/>
          <p:cNvGrpSpPr/>
          <p:nvPr/>
        </p:nvGrpSpPr>
        <p:grpSpPr>
          <a:xfrm>
            <a:off x="1932817" y="2371196"/>
            <a:ext cx="3453829" cy="288202"/>
            <a:chOff x="1932817" y="2084765"/>
            <a:chExt cx="3453829" cy="288202"/>
          </a:xfrm>
        </p:grpSpPr>
        <p:sp>
          <p:nvSpPr>
            <p:cNvPr id="640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41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미래형 자동차 선행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42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43" name="그룹 642"/>
          <p:cNvGrpSpPr/>
          <p:nvPr/>
        </p:nvGrpSpPr>
        <p:grpSpPr>
          <a:xfrm>
            <a:off x="5516031" y="2369055"/>
            <a:ext cx="3453829" cy="288202"/>
            <a:chOff x="1932817" y="2084765"/>
            <a:chExt cx="3453829" cy="288202"/>
          </a:xfrm>
        </p:grpSpPr>
        <p:sp>
          <p:nvSpPr>
            <p:cNvPr id="644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45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EGW UX </a:t>
              </a:r>
              <a:r>
                <a:rPr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개선</a:t>
              </a:r>
            </a:p>
          </p:txBody>
        </p:sp>
        <p:sp>
          <p:nvSpPr>
            <p:cNvPr id="646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47" name="그룹 646"/>
          <p:cNvGrpSpPr/>
          <p:nvPr/>
        </p:nvGrpSpPr>
        <p:grpSpPr>
          <a:xfrm>
            <a:off x="1932817" y="4173853"/>
            <a:ext cx="3453829" cy="288202"/>
            <a:chOff x="1932817" y="2084765"/>
            <a:chExt cx="3453829" cy="288202"/>
          </a:xfrm>
        </p:grpSpPr>
        <p:sp>
          <p:nvSpPr>
            <p:cNvPr id="648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49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미래형 자동차 선행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50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51" name="그룹 650"/>
          <p:cNvGrpSpPr/>
          <p:nvPr/>
        </p:nvGrpSpPr>
        <p:grpSpPr>
          <a:xfrm>
            <a:off x="5516031" y="4171712"/>
            <a:ext cx="3453829" cy="288202"/>
            <a:chOff x="1932817" y="2084765"/>
            <a:chExt cx="3453829" cy="288202"/>
          </a:xfrm>
        </p:grpSpPr>
        <p:sp>
          <p:nvSpPr>
            <p:cNvPr id="652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53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EGW UX </a:t>
              </a:r>
              <a:r>
                <a:rPr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개선</a:t>
              </a:r>
            </a:p>
          </p:txBody>
        </p:sp>
        <p:sp>
          <p:nvSpPr>
            <p:cNvPr id="654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55" name="그룹 654"/>
          <p:cNvGrpSpPr/>
          <p:nvPr/>
        </p:nvGrpSpPr>
        <p:grpSpPr>
          <a:xfrm>
            <a:off x="1932817" y="3264520"/>
            <a:ext cx="3453829" cy="288202"/>
            <a:chOff x="1932817" y="2084765"/>
            <a:chExt cx="3453829" cy="288202"/>
          </a:xfrm>
        </p:grpSpPr>
        <p:sp>
          <p:nvSpPr>
            <p:cNvPr id="656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57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미래형 자동차 선행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58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59" name="그룹 658"/>
          <p:cNvGrpSpPr/>
          <p:nvPr/>
        </p:nvGrpSpPr>
        <p:grpSpPr>
          <a:xfrm>
            <a:off x="5516031" y="3264760"/>
            <a:ext cx="3453829" cy="288202"/>
            <a:chOff x="1932817" y="2084765"/>
            <a:chExt cx="3453829" cy="288202"/>
          </a:xfrm>
        </p:grpSpPr>
        <p:sp>
          <p:nvSpPr>
            <p:cNvPr id="660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61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EGW UX </a:t>
              </a:r>
              <a:r>
                <a:rPr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개선</a:t>
              </a:r>
            </a:p>
          </p:txBody>
        </p:sp>
        <p:sp>
          <p:nvSpPr>
            <p:cNvPr id="662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63" name="그룹 662"/>
          <p:cNvGrpSpPr/>
          <p:nvPr/>
        </p:nvGrpSpPr>
        <p:grpSpPr>
          <a:xfrm>
            <a:off x="1932817" y="5065106"/>
            <a:ext cx="3453829" cy="288202"/>
            <a:chOff x="1932817" y="2084765"/>
            <a:chExt cx="3453829" cy="288202"/>
          </a:xfrm>
        </p:grpSpPr>
        <p:sp>
          <p:nvSpPr>
            <p:cNvPr id="664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65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미래형 자동차 선행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66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667" name="그룹 666"/>
          <p:cNvGrpSpPr/>
          <p:nvPr/>
        </p:nvGrpSpPr>
        <p:grpSpPr>
          <a:xfrm>
            <a:off x="5516031" y="5062965"/>
            <a:ext cx="3453829" cy="288202"/>
            <a:chOff x="1932817" y="2084765"/>
            <a:chExt cx="3453829" cy="288202"/>
          </a:xfrm>
        </p:grpSpPr>
        <p:sp>
          <p:nvSpPr>
            <p:cNvPr id="668" name="Rectangle 439"/>
            <p:cNvSpPr/>
            <p:nvPr/>
          </p:nvSpPr>
          <p:spPr>
            <a:xfrm>
              <a:off x="1932817" y="2084765"/>
              <a:ext cx="3453829" cy="2882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69" name="텍스트 상자 31"/>
            <p:cNvSpPr txBox="1"/>
            <p:nvPr/>
          </p:nvSpPr>
          <p:spPr>
            <a:xfrm>
              <a:off x="1993942" y="2191684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EGW UX </a:t>
              </a:r>
              <a:r>
                <a:rPr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개선</a:t>
              </a:r>
            </a:p>
          </p:txBody>
        </p:sp>
        <p:sp>
          <p:nvSpPr>
            <p:cNvPr id="670" name="Freeform 14"/>
            <p:cNvSpPr>
              <a:spLocks noChangeArrowheads="1"/>
            </p:cNvSpPr>
            <p:nvPr/>
          </p:nvSpPr>
          <p:spPr bwMode="auto">
            <a:xfrm rot="5400000">
              <a:off x="5212624" y="219082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57" name="TextBox 56"/>
          <p:cNvSpPr txBox="1"/>
          <p:nvPr/>
        </p:nvSpPr>
        <p:spPr>
          <a:xfrm>
            <a:off x="5344524" y="5975517"/>
            <a:ext cx="257369" cy="321563"/>
          </a:xfrm>
          <a:prstGeom prst="rect">
            <a:avLst/>
          </a:prstGeom>
          <a:noFill/>
        </p:spPr>
        <p:txBody>
          <a:bodyPr vert="eaVert" wrap="none" lIns="36000" rIns="36000" rtlCol="0" anchor="ctr">
            <a:spAutoFit/>
          </a:bodyPr>
          <a:lstStyle/>
          <a:p>
            <a:r>
              <a:rPr lang="en-US" altLang="ko-KR" sz="1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. .</a:t>
            </a:r>
            <a:endParaRPr lang="ko-KR" altLang="en-US" sz="12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72" name="그룹 671"/>
          <p:cNvGrpSpPr/>
          <p:nvPr/>
        </p:nvGrpSpPr>
        <p:grpSpPr>
          <a:xfrm>
            <a:off x="3834671" y="874786"/>
            <a:ext cx="3164889" cy="176117"/>
            <a:chOff x="4079770" y="874786"/>
            <a:chExt cx="3164889" cy="176117"/>
          </a:xfrm>
        </p:grpSpPr>
        <p:sp>
          <p:nvSpPr>
            <p:cNvPr id="673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74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675" name="직선 연결선[R] 7"/>
            <p:cNvCxnSpPr/>
            <p:nvPr/>
          </p:nvCxnSpPr>
          <p:spPr>
            <a:xfrm>
              <a:off x="5206414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676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77" name="텍스트 상자 31"/>
            <p:cNvSpPr txBox="1"/>
            <p:nvPr/>
          </p:nvSpPr>
          <p:spPr>
            <a:xfrm>
              <a:off x="545094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strike="sngStrike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strike="sngStrike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78" name="텍스트 상자 31"/>
            <p:cNvSpPr txBox="1"/>
            <p:nvPr/>
          </p:nvSpPr>
          <p:spPr>
            <a:xfrm>
              <a:off x="634355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79" name="텍스트 상자 31"/>
            <p:cNvSpPr txBox="1"/>
            <p:nvPr/>
          </p:nvSpPr>
          <p:spPr>
            <a:xfrm>
              <a:off x="590038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08" name="Freeform 739"/>
          <p:cNvSpPr>
            <a:spLocks noChangeAspect="1"/>
          </p:cNvSpPr>
          <p:nvPr/>
        </p:nvSpPr>
        <p:spPr>
          <a:xfrm>
            <a:off x="5059858" y="1955295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Freeform 739"/>
          <p:cNvSpPr>
            <a:spLocks noChangeAspect="1"/>
          </p:cNvSpPr>
          <p:nvPr/>
        </p:nvSpPr>
        <p:spPr>
          <a:xfrm>
            <a:off x="5059858" y="2869941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" name="Freeform 739"/>
          <p:cNvSpPr>
            <a:spLocks noChangeAspect="1"/>
          </p:cNvSpPr>
          <p:nvPr/>
        </p:nvSpPr>
        <p:spPr>
          <a:xfrm>
            <a:off x="5059858" y="3764328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" name="Freeform 739"/>
          <p:cNvSpPr>
            <a:spLocks noChangeAspect="1"/>
          </p:cNvSpPr>
          <p:nvPr/>
        </p:nvSpPr>
        <p:spPr>
          <a:xfrm>
            <a:off x="5059858" y="4700277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2" name="Freeform 739"/>
          <p:cNvSpPr>
            <a:spLocks noChangeAspect="1"/>
          </p:cNvSpPr>
          <p:nvPr/>
        </p:nvSpPr>
        <p:spPr>
          <a:xfrm>
            <a:off x="5059858" y="5575746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3" name="Freeform 739"/>
          <p:cNvSpPr>
            <a:spLocks noChangeAspect="1"/>
          </p:cNvSpPr>
          <p:nvPr/>
        </p:nvSpPr>
        <p:spPr>
          <a:xfrm>
            <a:off x="8643771" y="1955295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Freeform 739"/>
          <p:cNvSpPr>
            <a:spLocks noChangeAspect="1"/>
          </p:cNvSpPr>
          <p:nvPr/>
        </p:nvSpPr>
        <p:spPr>
          <a:xfrm>
            <a:off x="8643771" y="2869941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5" name="Freeform 739"/>
          <p:cNvSpPr>
            <a:spLocks noChangeAspect="1"/>
          </p:cNvSpPr>
          <p:nvPr/>
        </p:nvSpPr>
        <p:spPr>
          <a:xfrm>
            <a:off x="8643771" y="3764328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6" name="Freeform 739"/>
          <p:cNvSpPr>
            <a:spLocks noChangeAspect="1"/>
          </p:cNvSpPr>
          <p:nvPr/>
        </p:nvSpPr>
        <p:spPr>
          <a:xfrm>
            <a:off x="8643771" y="4700277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" name="Freeform 739"/>
          <p:cNvSpPr>
            <a:spLocks noChangeAspect="1"/>
          </p:cNvSpPr>
          <p:nvPr/>
        </p:nvSpPr>
        <p:spPr>
          <a:xfrm>
            <a:off x="8643771" y="5575746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" name="TextBox 30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59" name="직사각형 258"/>
          <p:cNvSpPr/>
          <p:nvPr/>
        </p:nvSpPr>
        <p:spPr>
          <a:xfrm>
            <a:off x="5486400" y="847725"/>
            <a:ext cx="361950" cy="1714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aphicFrame>
        <p:nvGraphicFramePr>
          <p:cNvPr id="306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7017186"/>
              </p:ext>
            </p:extLst>
          </p:nvPr>
        </p:nvGraphicFramePr>
        <p:xfrm>
          <a:off x="9290533" y="786383"/>
          <a:ext cx="2892502" cy="9386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※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각 그룹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&gt;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사진</a:t>
                      </a:r>
                      <a:r>
                        <a:rPr kumimoji="1"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</a:rPr>
                        <a:t>(SQ5.2.3)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메뉴에서 플래그 설정된 파일 컨텐츠만 출력시키는 화면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기능은 동일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플래그 해제시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현재 목록에서 제외 처리</a:t>
                      </a:r>
                      <a:endParaRPr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7" name="타원 306"/>
          <p:cNvSpPr/>
          <p:nvPr/>
        </p:nvSpPr>
        <p:spPr>
          <a:xfrm>
            <a:off x="4962525" y="1885950"/>
            <a:ext cx="257175" cy="247650"/>
          </a:xfrm>
          <a:prstGeom prst="ellipse">
            <a:avLst/>
          </a:prstGeom>
          <a:noFill/>
          <a:ln>
            <a:solidFill>
              <a:srgbClr val="FF0000"/>
            </a:solidFill>
            <a:prstDash val="sys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18" name="타원 317"/>
          <p:cNvSpPr>
            <a:spLocks noChangeAspect="1"/>
          </p:cNvSpPr>
          <p:nvPr/>
        </p:nvSpPr>
        <p:spPr>
          <a:xfrm>
            <a:off x="5126203" y="1808434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9" name="TextBox 328"/>
          <p:cNvSpPr txBox="1"/>
          <p:nvPr/>
        </p:nvSpPr>
        <p:spPr>
          <a:xfrm>
            <a:off x="9396932" y="5905500"/>
            <a:ext cx="2642667" cy="914400"/>
          </a:xfrm>
          <a:prstGeom prst="rect">
            <a:avLst/>
          </a:prstGeom>
          <a:noFill/>
        </p:spPr>
        <p:txBody>
          <a:bodyPr wrap="none" lIns="72000" rIns="72000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[12/21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내역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SQ5.2.3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와 화면 동기화</a:t>
            </a:r>
            <a:endParaRPr lang="ko-KR" altLang="en-US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30" name="직각 삼각형 329"/>
          <p:cNvSpPr/>
          <p:nvPr/>
        </p:nvSpPr>
        <p:spPr>
          <a:xfrm flipH="1">
            <a:off x="11353800" y="5819775"/>
            <a:ext cx="771874" cy="849585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12/21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수정</a:t>
            </a:r>
            <a:endParaRPr lang="en-US" altLang="ko-KR" sz="80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327640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플래그 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보고 탭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플래그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 smtClean="0"/>
              <a:t>SQ5.1.2.5</a:t>
            </a:r>
            <a:endParaRPr lang="ko-KR" altLang="en-US" dirty="0"/>
          </a:p>
        </p:txBody>
      </p:sp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4" name="텍스트 상자 31"/>
          <p:cNvSpPr txBox="1"/>
          <p:nvPr/>
        </p:nvSpPr>
        <p:spPr>
          <a:xfrm>
            <a:off x="193161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플래그 글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24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748721"/>
              </p:ext>
            </p:extLst>
          </p:nvPr>
        </p:nvGraphicFramePr>
        <p:xfrm>
          <a:off x="9290533" y="786383"/>
          <a:ext cx="2835467" cy="1948535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54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플래그한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업무보고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피드를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조회하는 영역</a:t>
                      </a: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4138" marR="0" lvl="0" indent="-73025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lang="en-US" altLang="ko-KR" sz="750" kern="1200" baseline="0" dirty="0" smtClean="0">
                        <a:solidFill>
                          <a:srgbClr val="0000FF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업무보고 </a:t>
                      </a:r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피드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 영역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플래그한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모든 업무보고를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탭 내에서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확인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순으로 표시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업무보고 등록 시 입력한 제목과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등록 시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년월일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정보를 표시  </a:t>
                      </a: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4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1374265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7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47" name="TextBox 46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53" name="타원 252"/>
          <p:cNvSpPr>
            <a:spLocks noChangeAspect="1"/>
          </p:cNvSpPr>
          <p:nvPr/>
        </p:nvSpPr>
        <p:spPr>
          <a:xfrm>
            <a:off x="5861950" y="71082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55" name="그룹 254"/>
          <p:cNvGrpSpPr/>
          <p:nvPr/>
        </p:nvGrpSpPr>
        <p:grpSpPr>
          <a:xfrm>
            <a:off x="7832684" y="6179792"/>
            <a:ext cx="396000" cy="396000"/>
            <a:chOff x="10903135" y="6381622"/>
            <a:chExt cx="396000" cy="396000"/>
          </a:xfrm>
        </p:grpSpPr>
        <p:sp>
          <p:nvSpPr>
            <p:cNvPr id="256" name="Oval 4"/>
            <p:cNvSpPr>
              <a:spLocks noChangeAspect="1"/>
            </p:cNvSpPr>
            <p:nvPr/>
          </p:nvSpPr>
          <p:spPr>
            <a:xfrm>
              <a:off x="10903135" y="6381622"/>
              <a:ext cx="396000" cy="396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0" tIns="108000" rIns="0" bIns="0" rtlCol="0" anchor="ctr"/>
            <a:lstStyle/>
            <a:p>
              <a:pPr marL="0" marR="0" lvl="0" indent="0" algn="ctr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</a:rPr>
                <a:t>TOP</a:t>
              </a:r>
            </a:p>
          </p:txBody>
        </p:sp>
        <p:sp>
          <p:nvSpPr>
            <p:cNvPr id="257" name="Freeform 24"/>
            <p:cNvSpPr>
              <a:spLocks noChangeAspect="1" noChangeArrowheads="1"/>
            </p:cNvSpPr>
            <p:nvPr/>
          </p:nvSpPr>
          <p:spPr bwMode="auto">
            <a:xfrm>
              <a:off x="11045288" y="6464107"/>
              <a:ext cx="111694" cy="69607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258" name="텍스트 상자 31"/>
          <p:cNvSpPr txBox="1"/>
          <p:nvPr/>
        </p:nvSpPr>
        <p:spPr>
          <a:xfrm>
            <a:off x="8296385" y="6332039"/>
            <a:ext cx="921227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88900" indent="-88900" defTabSz="576818" fontAlgn="auto" latinLnBrk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페이지 상단으로 </a:t>
            </a:r>
            <a: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/>
            </a:r>
            <a:b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</a:b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가기 버튼</a:t>
            </a:r>
            <a:endParaRPr lang="ko-KR" altLang="en-US" sz="75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501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502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503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305" name="그룹 304"/>
          <p:cNvGrpSpPr/>
          <p:nvPr/>
        </p:nvGrpSpPr>
        <p:grpSpPr>
          <a:xfrm>
            <a:off x="3834671" y="874786"/>
            <a:ext cx="3164889" cy="176117"/>
            <a:chOff x="4079770" y="874786"/>
            <a:chExt cx="3164889" cy="176117"/>
          </a:xfrm>
        </p:grpSpPr>
        <p:sp>
          <p:nvSpPr>
            <p:cNvPr id="306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7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08" name="직선 연결선[R] 7"/>
            <p:cNvCxnSpPr/>
            <p:nvPr/>
          </p:nvCxnSpPr>
          <p:spPr>
            <a:xfrm>
              <a:off x="6123485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09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0" name="텍스트 상자 31"/>
            <p:cNvSpPr txBox="1"/>
            <p:nvPr/>
          </p:nvSpPr>
          <p:spPr>
            <a:xfrm>
              <a:off x="545094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strike="sngStrike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strike="sngStrike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1" name="텍스트 상자 31"/>
            <p:cNvSpPr txBox="1"/>
            <p:nvPr/>
          </p:nvSpPr>
          <p:spPr>
            <a:xfrm>
              <a:off x="634355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2" name="텍스트 상자 31"/>
            <p:cNvSpPr txBox="1"/>
            <p:nvPr/>
          </p:nvSpPr>
          <p:spPr>
            <a:xfrm>
              <a:off x="590038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13" name="Rectangle 279"/>
          <p:cNvSpPr/>
          <p:nvPr/>
        </p:nvSpPr>
        <p:spPr>
          <a:xfrm>
            <a:off x="1963754" y="1219264"/>
            <a:ext cx="4896000" cy="163709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14" name="텍스트 상자 31"/>
          <p:cNvSpPr txBox="1"/>
          <p:nvPr/>
        </p:nvSpPr>
        <p:spPr>
          <a:xfrm>
            <a:off x="2421414" y="13402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315" name="그룹 400"/>
          <p:cNvGrpSpPr/>
          <p:nvPr/>
        </p:nvGrpSpPr>
        <p:grpSpPr>
          <a:xfrm>
            <a:off x="2078622" y="1329809"/>
            <a:ext cx="229236" cy="229194"/>
            <a:chOff x="2625629" y="3735853"/>
            <a:chExt cx="276891" cy="276839"/>
          </a:xfrm>
        </p:grpSpPr>
        <p:sp>
          <p:nvSpPr>
            <p:cNvPr id="316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317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18" name="텍스트 상자 31"/>
          <p:cNvSpPr txBox="1"/>
          <p:nvPr/>
        </p:nvSpPr>
        <p:spPr>
          <a:xfrm>
            <a:off x="2421414" y="1478135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19" name="텍스트 상자 31"/>
          <p:cNvSpPr txBox="1"/>
          <p:nvPr/>
        </p:nvSpPr>
        <p:spPr>
          <a:xfrm>
            <a:off x="2078622" y="1646715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700" b="1" dirty="0" smtClean="0">
                <a:latin typeface="+mn-ea"/>
                <a:ea typeface="+mn-ea"/>
              </a:rPr>
              <a:t>[EGW </a:t>
            </a:r>
            <a:r>
              <a:rPr lang="ko-KR" altLang="en-US" sz="700" b="1" dirty="0" err="1" smtClean="0">
                <a:latin typeface="+mn-ea"/>
                <a:ea typeface="+mn-ea"/>
              </a:rPr>
              <a:t>화면설계</a:t>
            </a:r>
            <a:r>
              <a:rPr lang="en-US" altLang="ko-KR" sz="700" b="1" dirty="0" smtClean="0">
                <a:latin typeface="+mn-ea"/>
                <a:ea typeface="+mn-ea"/>
              </a:rPr>
              <a:t> </a:t>
            </a:r>
            <a:r>
              <a:rPr lang="ko-KR" altLang="en-US" sz="700" b="1" dirty="0" smtClean="0">
                <a:latin typeface="+mn-ea"/>
                <a:ea typeface="+mn-ea"/>
              </a:rPr>
              <a:t>관련 리뷰</a:t>
            </a:r>
            <a:r>
              <a:rPr lang="en-US" altLang="ko-KR" sz="700" b="1" dirty="0">
                <a:latin typeface="+mn-ea"/>
                <a:ea typeface="+mn-ea"/>
              </a:rPr>
              <a:t> </a:t>
            </a:r>
            <a:r>
              <a:rPr lang="en-US" altLang="ko-KR" sz="700" b="1" dirty="0" smtClean="0">
                <a:latin typeface="+mn-ea"/>
                <a:ea typeface="+mn-ea"/>
              </a:rPr>
              <a:t>2017-09-25]</a:t>
            </a:r>
            <a:endParaRPr kumimoji="1" lang="ko-KR" altLang="en-US" sz="700" dirty="0">
              <a:latin typeface="+mn-ea"/>
              <a:ea typeface="+mn-ea"/>
            </a:endParaRPr>
          </a:p>
        </p:txBody>
      </p:sp>
      <p:sp>
        <p:nvSpPr>
          <p:cNvPr id="320" name="Freeform 26"/>
          <p:cNvSpPr>
            <a:spLocks noChangeAspect="1" noChangeArrowheads="1"/>
          </p:cNvSpPr>
          <p:nvPr/>
        </p:nvSpPr>
        <p:spPr bwMode="auto">
          <a:xfrm flipH="1">
            <a:off x="6726683" y="1344560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322" name="직선 연결선[R] 33"/>
          <p:cNvCxnSpPr/>
          <p:nvPr/>
        </p:nvCxnSpPr>
        <p:spPr>
          <a:xfrm>
            <a:off x="2052416" y="259839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4" name="Freeform 25"/>
          <p:cNvSpPr>
            <a:spLocks noChangeAspect="1" noEditPoints="1"/>
          </p:cNvSpPr>
          <p:nvPr/>
        </p:nvSpPr>
        <p:spPr bwMode="auto">
          <a:xfrm>
            <a:off x="6535161" y="134013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35" name="텍스트 상자 31"/>
          <p:cNvSpPr txBox="1"/>
          <p:nvPr/>
        </p:nvSpPr>
        <p:spPr>
          <a:xfrm>
            <a:off x="2057987" y="1776814"/>
            <a:ext cx="2800791" cy="48546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EGW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공통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component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정의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화면설계 고도화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EGW WBS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업데이트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36" name="그룹 335"/>
          <p:cNvGrpSpPr/>
          <p:nvPr/>
        </p:nvGrpSpPr>
        <p:grpSpPr>
          <a:xfrm>
            <a:off x="1963754" y="3774379"/>
            <a:ext cx="4896000" cy="3534218"/>
            <a:chOff x="1963754" y="3849865"/>
            <a:chExt cx="4896000" cy="3534218"/>
          </a:xfrm>
        </p:grpSpPr>
        <p:sp>
          <p:nvSpPr>
            <p:cNvPr id="337" name="Rectangle 279"/>
            <p:cNvSpPr/>
            <p:nvPr/>
          </p:nvSpPr>
          <p:spPr>
            <a:xfrm>
              <a:off x="1963754" y="3849865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38" name="텍스트 상자 31"/>
            <p:cNvSpPr txBox="1"/>
            <p:nvPr/>
          </p:nvSpPr>
          <p:spPr>
            <a:xfrm>
              <a:off x="2421414" y="3970878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39" name="그룹 400"/>
            <p:cNvGrpSpPr/>
            <p:nvPr/>
          </p:nvGrpSpPr>
          <p:grpSpPr>
            <a:xfrm>
              <a:off x="2078622" y="3960409"/>
              <a:ext cx="229236" cy="229194"/>
              <a:chOff x="2625629" y="3735853"/>
              <a:chExt cx="276891" cy="276839"/>
            </a:xfrm>
          </p:grpSpPr>
          <p:sp>
            <p:nvSpPr>
              <p:cNvPr id="38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390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40" name="텍스트 상자 31"/>
            <p:cNvSpPr txBox="1"/>
            <p:nvPr/>
          </p:nvSpPr>
          <p:spPr>
            <a:xfrm>
              <a:off x="2421414" y="4108735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41" name="직선 연결선[R] 33"/>
            <p:cNvCxnSpPr/>
            <p:nvPr/>
          </p:nvCxnSpPr>
          <p:spPr>
            <a:xfrm>
              <a:off x="2052416" y="4930228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2" name="텍스트 상자 31"/>
            <p:cNvSpPr txBox="1"/>
            <p:nvPr/>
          </p:nvSpPr>
          <p:spPr>
            <a:xfrm>
              <a:off x="2078622" y="4277315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2017-09-25]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343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3975160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45" name="Freeform 25"/>
            <p:cNvSpPr>
              <a:spLocks noChangeAspect="1" noEditPoints="1"/>
            </p:cNvSpPr>
            <p:nvPr/>
          </p:nvSpPr>
          <p:spPr bwMode="auto">
            <a:xfrm>
              <a:off x="6535161" y="3970739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346" name="텍스트 상자 31"/>
            <p:cNvSpPr txBox="1"/>
            <p:nvPr/>
          </p:nvSpPr>
          <p:spPr>
            <a:xfrm>
              <a:off x="2065279" y="4407414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47" name="Rectangle 279"/>
            <p:cNvSpPr/>
            <p:nvPr/>
          </p:nvSpPr>
          <p:spPr>
            <a:xfrm>
              <a:off x="1963754" y="5249918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48" name="텍스트 상자 31"/>
            <p:cNvSpPr txBox="1"/>
            <p:nvPr/>
          </p:nvSpPr>
          <p:spPr>
            <a:xfrm>
              <a:off x="2421414" y="537093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49" name="그룹 400"/>
            <p:cNvGrpSpPr/>
            <p:nvPr/>
          </p:nvGrpSpPr>
          <p:grpSpPr>
            <a:xfrm>
              <a:off x="2078622" y="5360462"/>
              <a:ext cx="229236" cy="229194"/>
              <a:chOff x="2625629" y="3735853"/>
              <a:chExt cx="276891" cy="276839"/>
            </a:xfrm>
          </p:grpSpPr>
          <p:sp>
            <p:nvSpPr>
              <p:cNvPr id="37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37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50" name="텍스트 상자 31"/>
            <p:cNvSpPr txBox="1"/>
            <p:nvPr/>
          </p:nvSpPr>
          <p:spPr>
            <a:xfrm>
              <a:off x="2421414" y="5508788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1" name="직선 연결선[R] 33"/>
            <p:cNvCxnSpPr/>
            <p:nvPr/>
          </p:nvCxnSpPr>
          <p:spPr>
            <a:xfrm>
              <a:off x="2052416" y="6330281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텍스트 상자 31"/>
            <p:cNvSpPr txBox="1"/>
            <p:nvPr/>
          </p:nvSpPr>
          <p:spPr>
            <a:xfrm>
              <a:off x="2078622" y="5677368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>
                  <a:latin typeface="+mn-ea"/>
                  <a:ea typeface="+mn-ea"/>
                </a:rPr>
                <a:t>업무보고 </a:t>
              </a:r>
              <a:r>
                <a:rPr lang="ko-KR" altLang="en-US" sz="700" b="1" dirty="0" smtClean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2017-09-18]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353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5375213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55" name="Freeform 25"/>
            <p:cNvSpPr>
              <a:spLocks noChangeAspect="1" noEditPoints="1"/>
            </p:cNvSpPr>
            <p:nvPr/>
          </p:nvSpPr>
          <p:spPr bwMode="auto">
            <a:xfrm>
              <a:off x="6535161" y="5370792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356" name="텍스트 상자 31"/>
            <p:cNvSpPr txBox="1"/>
            <p:nvPr/>
          </p:nvSpPr>
          <p:spPr>
            <a:xfrm>
              <a:off x="2193239" y="5807467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57" name="Rectangle 279"/>
            <p:cNvSpPr/>
            <p:nvPr/>
          </p:nvSpPr>
          <p:spPr>
            <a:xfrm>
              <a:off x="1963754" y="6646083"/>
              <a:ext cx="4896000" cy="73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58" name="텍스트 상자 31"/>
            <p:cNvSpPr txBox="1"/>
            <p:nvPr/>
          </p:nvSpPr>
          <p:spPr>
            <a:xfrm>
              <a:off x="2421414" y="676709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김마리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59" name="그룹 400"/>
            <p:cNvGrpSpPr/>
            <p:nvPr/>
          </p:nvGrpSpPr>
          <p:grpSpPr>
            <a:xfrm>
              <a:off x="2078622" y="6756628"/>
              <a:ext cx="229236" cy="229194"/>
              <a:chOff x="2625629" y="3735853"/>
              <a:chExt cx="276891" cy="276839"/>
            </a:xfrm>
          </p:grpSpPr>
          <p:sp>
            <p:nvSpPr>
              <p:cNvPr id="365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366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60" name="텍스트 상자 31"/>
            <p:cNvSpPr txBox="1"/>
            <p:nvPr/>
          </p:nvSpPr>
          <p:spPr>
            <a:xfrm>
              <a:off x="2421414" y="6904954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61" name="텍스트 상자 31"/>
            <p:cNvSpPr txBox="1"/>
            <p:nvPr/>
          </p:nvSpPr>
          <p:spPr>
            <a:xfrm>
              <a:off x="2078622" y="7073534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2017-09-18]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362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6771379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63" name="Freeform 25"/>
            <p:cNvSpPr>
              <a:spLocks noChangeAspect="1" noEditPoints="1"/>
            </p:cNvSpPr>
            <p:nvPr/>
          </p:nvSpPr>
          <p:spPr bwMode="auto">
            <a:xfrm>
              <a:off x="6535161" y="6766958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364" name="텍스트 상자 31"/>
            <p:cNvSpPr txBox="1"/>
            <p:nvPr/>
          </p:nvSpPr>
          <p:spPr>
            <a:xfrm>
              <a:off x="2193239" y="7235338"/>
              <a:ext cx="2800791" cy="14874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394" name="그룹 393"/>
          <p:cNvGrpSpPr/>
          <p:nvPr/>
        </p:nvGrpSpPr>
        <p:grpSpPr>
          <a:xfrm>
            <a:off x="2065279" y="2331132"/>
            <a:ext cx="666833" cy="177213"/>
            <a:chOff x="541106" y="4019222"/>
            <a:chExt cx="666833" cy="177213"/>
          </a:xfrm>
        </p:grpSpPr>
        <p:sp>
          <p:nvSpPr>
            <p:cNvPr id="395" name="Rounded Rectangle 133"/>
            <p:cNvSpPr/>
            <p:nvPr/>
          </p:nvSpPr>
          <p:spPr>
            <a:xfrm>
              <a:off x="541106" y="4019222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5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396" name="Group 1"/>
            <p:cNvGrpSpPr/>
            <p:nvPr/>
          </p:nvGrpSpPr>
          <p:grpSpPr>
            <a:xfrm>
              <a:off x="714374" y="4055826"/>
              <a:ext cx="493565" cy="107722"/>
              <a:chOff x="2459064" y="3489248"/>
              <a:chExt cx="493565" cy="107722"/>
            </a:xfrm>
          </p:grpSpPr>
          <p:sp>
            <p:nvSpPr>
              <p:cNvPr id="398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/>
              </a:p>
            </p:txBody>
          </p:sp>
          <p:sp>
            <p:nvSpPr>
              <p:cNvPr id="399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파일 </a:t>
                </a:r>
                <a:r>
                  <a:rPr kumimoji="1" lang="en-US" altLang="ko-KR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5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endParaRPr>
              </a:p>
            </p:txBody>
          </p:sp>
        </p:grpSp>
        <p:sp>
          <p:nvSpPr>
            <p:cNvPr id="397" name="Freeform 24"/>
            <p:cNvSpPr>
              <a:spLocks noChangeAspect="1" noChangeArrowheads="1"/>
            </p:cNvSpPr>
            <p:nvPr/>
          </p:nvSpPr>
          <p:spPr bwMode="auto">
            <a:xfrm flipV="1">
              <a:off x="598696" y="4095936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1963754" y="2862685"/>
            <a:ext cx="4896001" cy="850249"/>
            <a:chOff x="1963754" y="2862685"/>
            <a:chExt cx="4896001" cy="850249"/>
          </a:xfrm>
        </p:grpSpPr>
        <p:sp>
          <p:nvSpPr>
            <p:cNvPr id="401" name="Rectangle 231"/>
            <p:cNvSpPr/>
            <p:nvPr/>
          </p:nvSpPr>
          <p:spPr>
            <a:xfrm>
              <a:off x="1963754" y="2862685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402" name="Group 7"/>
            <p:cNvGrpSpPr/>
            <p:nvPr/>
          </p:nvGrpSpPr>
          <p:grpSpPr>
            <a:xfrm>
              <a:off x="2078622" y="3275940"/>
              <a:ext cx="1612396" cy="227167"/>
              <a:chOff x="2478168" y="4026446"/>
              <a:chExt cx="1612396" cy="229194"/>
            </a:xfrm>
          </p:grpSpPr>
          <p:sp>
            <p:nvSpPr>
              <p:cNvPr id="415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416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418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419" name="Picture 157" descr="man-user (1).png"/>
                <p:cNvPicPr>
                  <a:picLocks noChangeAspect="1"/>
                </p:cNvPicPr>
                <p:nvPr/>
              </p:nvPicPr>
              <p:blipFill>
                <a:blip r:embed="rId3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417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407" name="직선 연결선[R] 33"/>
            <p:cNvCxnSpPr/>
            <p:nvPr/>
          </p:nvCxnSpPr>
          <p:spPr>
            <a:xfrm>
              <a:off x="2052416" y="3189083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Rectangle 313"/>
            <p:cNvSpPr/>
            <p:nvPr/>
          </p:nvSpPr>
          <p:spPr>
            <a:xfrm>
              <a:off x="1963755" y="3580647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409" name="텍스트 상자 31"/>
            <p:cNvSpPr txBox="1"/>
            <p:nvPr/>
          </p:nvSpPr>
          <p:spPr>
            <a:xfrm>
              <a:off x="4141390" y="3594443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개 모두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420" name="Rectangle 321"/>
            <p:cNvSpPr/>
            <p:nvPr/>
          </p:nvSpPr>
          <p:spPr>
            <a:xfrm>
              <a:off x="2064079" y="2937144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421" name="텍스트 상자 31"/>
            <p:cNvSpPr txBox="1"/>
            <p:nvPr/>
          </p:nvSpPr>
          <p:spPr>
            <a:xfrm>
              <a:off x="2132955" y="2990868"/>
              <a:ext cx="7674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의견을 입력하세요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2" name="Rounded Rectangle 616"/>
            <p:cNvSpPr/>
            <p:nvPr/>
          </p:nvSpPr>
          <p:spPr>
            <a:xfrm>
              <a:off x="6379294" y="2945406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423" name="Freeform 17"/>
            <p:cNvSpPr>
              <a:spLocks noChangeArrowheads="1"/>
            </p:cNvSpPr>
            <p:nvPr/>
          </p:nvSpPr>
          <p:spPr bwMode="auto">
            <a:xfrm>
              <a:off x="5951279" y="2979736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424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300" y="2979736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75" name="타원 174"/>
          <p:cNvSpPr>
            <a:spLocks noChangeAspect="1"/>
          </p:cNvSpPr>
          <p:nvPr/>
        </p:nvSpPr>
        <p:spPr>
          <a:xfrm>
            <a:off x="3736439" y="159971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7" name="Freeform 739"/>
          <p:cNvSpPr>
            <a:spLocks noChangeAspect="1"/>
          </p:cNvSpPr>
          <p:nvPr/>
        </p:nvSpPr>
        <p:spPr>
          <a:xfrm>
            <a:off x="2054708" y="4918108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Freeform 739"/>
          <p:cNvSpPr>
            <a:spLocks noChangeAspect="1"/>
          </p:cNvSpPr>
          <p:nvPr/>
        </p:nvSpPr>
        <p:spPr>
          <a:xfrm>
            <a:off x="2054708" y="6309022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2" name="그룹 51"/>
          <p:cNvGrpSpPr/>
          <p:nvPr/>
        </p:nvGrpSpPr>
        <p:grpSpPr>
          <a:xfrm>
            <a:off x="2054708" y="2657360"/>
            <a:ext cx="936609" cy="115755"/>
            <a:chOff x="2054708" y="2657360"/>
            <a:chExt cx="936609" cy="115755"/>
          </a:xfrm>
        </p:grpSpPr>
        <p:sp>
          <p:nvSpPr>
            <p:cNvPr id="176" name="Freeform 739"/>
            <p:cNvSpPr>
              <a:spLocks noChangeAspect="1"/>
            </p:cNvSpPr>
            <p:nvPr/>
          </p:nvSpPr>
          <p:spPr>
            <a:xfrm>
              <a:off x="2054708" y="2665115"/>
              <a:ext cx="97509" cy="1080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rgbClr val="FFC000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>
              <a:off x="2195181" y="2657360"/>
              <a:ext cx="796136" cy="115755"/>
              <a:chOff x="2195181" y="2841183"/>
              <a:chExt cx="796136" cy="115755"/>
            </a:xfrm>
          </p:grpSpPr>
          <p:grpSp>
            <p:nvGrpSpPr>
              <p:cNvPr id="181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83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91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92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84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86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87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88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89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90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82" name="그림 181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</p:grpSp>
      <p:grpSp>
        <p:nvGrpSpPr>
          <p:cNvPr id="193" name="그룹 192"/>
          <p:cNvGrpSpPr/>
          <p:nvPr/>
        </p:nvGrpSpPr>
        <p:grpSpPr>
          <a:xfrm>
            <a:off x="2195181" y="4912419"/>
            <a:ext cx="796136" cy="115755"/>
            <a:chOff x="2195181" y="2841183"/>
            <a:chExt cx="796136" cy="115755"/>
          </a:xfrm>
        </p:grpSpPr>
        <p:grpSp>
          <p:nvGrpSpPr>
            <p:cNvPr id="194" name="Group 10"/>
            <p:cNvGrpSpPr/>
            <p:nvPr/>
          </p:nvGrpSpPr>
          <p:grpSpPr>
            <a:xfrm>
              <a:off x="2195181" y="2847307"/>
              <a:ext cx="796136" cy="107722"/>
              <a:chOff x="2594860" y="3788208"/>
              <a:chExt cx="796136" cy="107722"/>
            </a:xfrm>
          </p:grpSpPr>
          <p:grpSp>
            <p:nvGrpSpPr>
              <p:cNvPr id="196" name="Group 311"/>
              <p:cNvGrpSpPr/>
              <p:nvPr/>
            </p:nvGrpSpPr>
            <p:grpSpPr>
              <a:xfrm>
                <a:off x="3127159" y="3788208"/>
                <a:ext cx="263837" cy="107722"/>
                <a:chOff x="5094041" y="3121801"/>
                <a:chExt cx="263837" cy="107722"/>
              </a:xfrm>
            </p:grpSpPr>
            <p:sp>
              <p:nvSpPr>
                <p:cNvPr id="203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5094041" y="3136639"/>
                  <a:ext cx="90000" cy="89388"/>
                </a:xfrm>
                <a:custGeom>
                  <a:avLst/>
                  <a:gdLst>
                    <a:gd name="T0" fmla="*/ 587 w 650"/>
                    <a:gd name="T1" fmla="*/ 0 h 644"/>
                    <a:gd name="T2" fmla="*/ 68 w 650"/>
                    <a:gd name="T3" fmla="*/ 0 h 644"/>
                    <a:gd name="T4" fmla="*/ 0 w 650"/>
                    <a:gd name="T5" fmla="*/ 62 h 644"/>
                    <a:gd name="T6" fmla="*/ 0 w 650"/>
                    <a:gd name="T7" fmla="*/ 643 h 644"/>
                    <a:gd name="T8" fmla="*/ 130 w 650"/>
                    <a:gd name="T9" fmla="*/ 513 h 644"/>
                    <a:gd name="T10" fmla="*/ 587 w 650"/>
                    <a:gd name="T11" fmla="*/ 513 h 644"/>
                    <a:gd name="T12" fmla="*/ 649 w 650"/>
                    <a:gd name="T13" fmla="*/ 451 h 644"/>
                    <a:gd name="T14" fmla="*/ 649 w 650"/>
                    <a:gd name="T15" fmla="*/ 62 h 644"/>
                    <a:gd name="T16" fmla="*/ 587 w 650"/>
                    <a:gd name="T17" fmla="*/ 0 h 644"/>
                    <a:gd name="T18" fmla="*/ 229 w 650"/>
                    <a:gd name="T19" fmla="*/ 290 h 644"/>
                    <a:gd name="T20" fmla="*/ 167 w 650"/>
                    <a:gd name="T21" fmla="*/ 290 h 644"/>
                    <a:gd name="T22" fmla="*/ 167 w 650"/>
                    <a:gd name="T23" fmla="*/ 222 h 644"/>
                    <a:gd name="T24" fmla="*/ 229 w 650"/>
                    <a:gd name="T25" fmla="*/ 222 h 644"/>
                    <a:gd name="T26" fmla="*/ 229 w 650"/>
                    <a:gd name="T27" fmla="*/ 290 h 644"/>
                    <a:gd name="T28" fmla="*/ 359 w 650"/>
                    <a:gd name="T29" fmla="*/ 290 h 644"/>
                    <a:gd name="T30" fmla="*/ 297 w 650"/>
                    <a:gd name="T31" fmla="*/ 290 h 644"/>
                    <a:gd name="T32" fmla="*/ 297 w 650"/>
                    <a:gd name="T33" fmla="*/ 222 h 644"/>
                    <a:gd name="T34" fmla="*/ 359 w 650"/>
                    <a:gd name="T35" fmla="*/ 222 h 644"/>
                    <a:gd name="T36" fmla="*/ 359 w 650"/>
                    <a:gd name="T37" fmla="*/ 290 h 644"/>
                    <a:gd name="T38" fmla="*/ 488 w 650"/>
                    <a:gd name="T39" fmla="*/ 290 h 644"/>
                    <a:gd name="T40" fmla="*/ 420 w 650"/>
                    <a:gd name="T41" fmla="*/ 290 h 644"/>
                    <a:gd name="T42" fmla="*/ 420 w 650"/>
                    <a:gd name="T43" fmla="*/ 222 h 644"/>
                    <a:gd name="T44" fmla="*/ 488 w 650"/>
                    <a:gd name="T45" fmla="*/ 222 h 644"/>
                    <a:gd name="T46" fmla="*/ 488 w 650"/>
                    <a:gd name="T47" fmla="*/ 290 h 6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50" h="644">
                      <a:moveTo>
                        <a:pt x="587" y="0"/>
                      </a:moveTo>
                      <a:lnTo>
                        <a:pt x="68" y="0"/>
                      </a:lnTo>
                      <a:cubicBezTo>
                        <a:pt x="31" y="0"/>
                        <a:pt x="0" y="24"/>
                        <a:pt x="0" y="62"/>
                      </a:cubicBezTo>
                      <a:lnTo>
                        <a:pt x="0" y="643"/>
                      </a:lnTo>
                      <a:lnTo>
                        <a:pt x="130" y="513"/>
                      </a:lnTo>
                      <a:lnTo>
                        <a:pt x="587" y="513"/>
                      </a:lnTo>
                      <a:cubicBezTo>
                        <a:pt x="618" y="513"/>
                        <a:pt x="649" y="482"/>
                        <a:pt x="649" y="451"/>
                      </a:cubicBezTo>
                      <a:lnTo>
                        <a:pt x="649" y="62"/>
                      </a:lnTo>
                      <a:cubicBezTo>
                        <a:pt x="649" y="24"/>
                        <a:pt x="618" y="0"/>
                        <a:pt x="587" y="0"/>
                      </a:cubicBezTo>
                      <a:close/>
                      <a:moveTo>
                        <a:pt x="229" y="290"/>
                      </a:moveTo>
                      <a:lnTo>
                        <a:pt x="167" y="290"/>
                      </a:lnTo>
                      <a:lnTo>
                        <a:pt x="167" y="222"/>
                      </a:lnTo>
                      <a:lnTo>
                        <a:pt x="229" y="222"/>
                      </a:lnTo>
                      <a:lnTo>
                        <a:pt x="229" y="290"/>
                      </a:lnTo>
                      <a:close/>
                      <a:moveTo>
                        <a:pt x="359" y="290"/>
                      </a:moveTo>
                      <a:lnTo>
                        <a:pt x="297" y="290"/>
                      </a:lnTo>
                      <a:lnTo>
                        <a:pt x="297" y="222"/>
                      </a:lnTo>
                      <a:lnTo>
                        <a:pt x="359" y="222"/>
                      </a:lnTo>
                      <a:lnTo>
                        <a:pt x="359" y="290"/>
                      </a:lnTo>
                      <a:close/>
                      <a:moveTo>
                        <a:pt x="488" y="290"/>
                      </a:moveTo>
                      <a:lnTo>
                        <a:pt x="420" y="290"/>
                      </a:lnTo>
                      <a:lnTo>
                        <a:pt x="420" y="222"/>
                      </a:lnTo>
                      <a:lnTo>
                        <a:pt x="488" y="222"/>
                      </a:lnTo>
                      <a:lnTo>
                        <a:pt x="488" y="2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sp>
              <p:nvSpPr>
                <p:cNvPr id="204" name="텍스트 상자 31"/>
                <p:cNvSpPr txBox="1"/>
                <p:nvPr/>
              </p:nvSpPr>
              <p:spPr>
                <a:xfrm>
                  <a:off x="5240219" y="3121801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4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197" name="Group 312"/>
              <p:cNvGrpSpPr/>
              <p:nvPr/>
            </p:nvGrpSpPr>
            <p:grpSpPr>
              <a:xfrm>
                <a:off x="2594860" y="3788208"/>
                <a:ext cx="534081" cy="107722"/>
                <a:chOff x="4269857" y="3799412"/>
                <a:chExt cx="534081" cy="107722"/>
              </a:xfrm>
            </p:grpSpPr>
            <p:sp>
              <p:nvSpPr>
                <p:cNvPr id="198" name="텍스트 상자 31"/>
                <p:cNvSpPr txBox="1"/>
                <p:nvPr/>
              </p:nvSpPr>
              <p:spPr>
                <a:xfrm>
                  <a:off x="4686279" y="3799412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3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99" name="Group 50"/>
                <p:cNvGrpSpPr>
                  <a:grpSpLocks noChangeAspect="1"/>
                </p:cNvGrpSpPr>
                <p:nvPr/>
              </p:nvGrpSpPr>
              <p:grpSpPr bwMode="auto">
                <a:xfrm>
                  <a:off x="4269857" y="3808273"/>
                  <a:ext cx="89419" cy="90000"/>
                  <a:chOff x="2178" y="1307"/>
                  <a:chExt cx="154" cy="155"/>
                </a:xfrm>
                <a:solidFill>
                  <a:schemeClr val="bg1">
                    <a:lumMod val="50000"/>
                  </a:schemeClr>
                </a:solidFill>
              </p:grpSpPr>
              <p:sp>
                <p:nvSpPr>
                  <p:cNvPr id="200" name="Oval 51"/>
                  <p:cNvSpPr>
                    <a:spLocks noChangeArrowheads="1"/>
                  </p:cNvSpPr>
                  <p:nvPr/>
                </p:nvSpPr>
                <p:spPr bwMode="auto">
                  <a:xfrm>
                    <a:off x="2271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1" name="Oval 52"/>
                  <p:cNvSpPr>
                    <a:spLocks noChangeArrowheads="1"/>
                  </p:cNvSpPr>
                  <p:nvPr/>
                </p:nvSpPr>
                <p:spPr bwMode="auto">
                  <a:xfrm>
                    <a:off x="2217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2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2178" y="1307"/>
                    <a:ext cx="154" cy="155"/>
                  </a:xfrm>
                  <a:custGeom>
                    <a:avLst/>
                    <a:gdLst>
                      <a:gd name="T0" fmla="*/ 250 w 500"/>
                      <a:gd name="T1" fmla="*/ 0 h 500"/>
                      <a:gd name="T2" fmla="*/ 0 w 500"/>
                      <a:gd name="T3" fmla="*/ 250 h 500"/>
                      <a:gd name="T4" fmla="*/ 250 w 500"/>
                      <a:gd name="T5" fmla="*/ 500 h 500"/>
                      <a:gd name="T6" fmla="*/ 500 w 500"/>
                      <a:gd name="T7" fmla="*/ 250 h 500"/>
                      <a:gd name="T8" fmla="*/ 250 w 500"/>
                      <a:gd name="T9" fmla="*/ 0 h 500"/>
                      <a:gd name="T10" fmla="*/ 250 w 500"/>
                      <a:gd name="T11" fmla="*/ 450 h 500"/>
                      <a:gd name="T12" fmla="*/ 50 w 500"/>
                      <a:gd name="T13" fmla="*/ 250 h 500"/>
                      <a:gd name="T14" fmla="*/ 250 w 500"/>
                      <a:gd name="T15" fmla="*/ 50 h 500"/>
                      <a:gd name="T16" fmla="*/ 450 w 500"/>
                      <a:gd name="T17" fmla="*/ 250 h 500"/>
                      <a:gd name="T18" fmla="*/ 250 w 500"/>
                      <a:gd name="T19" fmla="*/ 450 h 500"/>
                      <a:gd name="T20" fmla="*/ 250 w 500"/>
                      <a:gd name="T21" fmla="*/ 350 h 500"/>
                      <a:gd name="T22" fmla="*/ 164 w 500"/>
                      <a:gd name="T23" fmla="*/ 300 h 500"/>
                      <a:gd name="T24" fmla="*/ 122 w 500"/>
                      <a:gd name="T25" fmla="*/ 300 h 500"/>
                      <a:gd name="T26" fmla="*/ 250 w 500"/>
                      <a:gd name="T27" fmla="*/ 388 h 500"/>
                      <a:gd name="T28" fmla="*/ 378 w 500"/>
                      <a:gd name="T29" fmla="*/ 300 h 500"/>
                      <a:gd name="T30" fmla="*/ 336 w 500"/>
                      <a:gd name="T31" fmla="*/ 300 h 500"/>
                      <a:gd name="T32" fmla="*/ 250 w 500"/>
                      <a:gd name="T33" fmla="*/ 350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00" h="500">
                        <a:moveTo>
                          <a:pt x="250" y="0"/>
                        </a:moveTo>
                        <a:cubicBezTo>
                          <a:pt x="112" y="0"/>
                          <a:pt x="0" y="112"/>
                          <a:pt x="0" y="250"/>
                        </a:cubicBezTo>
                        <a:cubicBezTo>
                          <a:pt x="0" y="388"/>
                          <a:pt x="112" y="500"/>
                          <a:pt x="250" y="500"/>
                        </a:cubicBezTo>
                        <a:cubicBezTo>
                          <a:pt x="388" y="500"/>
                          <a:pt x="500" y="388"/>
                          <a:pt x="500" y="250"/>
                        </a:cubicBezTo>
                        <a:cubicBezTo>
                          <a:pt x="500" y="112"/>
                          <a:pt x="388" y="0"/>
                          <a:pt x="250" y="0"/>
                        </a:cubicBezTo>
                        <a:close/>
                        <a:moveTo>
                          <a:pt x="250" y="450"/>
                        </a:moveTo>
                        <a:cubicBezTo>
                          <a:pt x="140" y="450"/>
                          <a:pt x="50" y="361"/>
                          <a:pt x="50" y="250"/>
                        </a:cubicBezTo>
                        <a:cubicBezTo>
                          <a:pt x="50" y="139"/>
                          <a:pt x="140" y="50"/>
                          <a:pt x="250" y="50"/>
                        </a:cubicBezTo>
                        <a:cubicBezTo>
                          <a:pt x="361" y="50"/>
                          <a:pt x="450" y="140"/>
                          <a:pt x="450" y="250"/>
                        </a:cubicBezTo>
                        <a:cubicBezTo>
                          <a:pt x="450" y="361"/>
                          <a:pt x="361" y="450"/>
                          <a:pt x="250" y="450"/>
                        </a:cubicBezTo>
                        <a:close/>
                        <a:moveTo>
                          <a:pt x="250" y="350"/>
                        </a:moveTo>
                        <a:cubicBezTo>
                          <a:pt x="213" y="350"/>
                          <a:pt x="181" y="330"/>
                          <a:pt x="164" y="300"/>
                        </a:cubicBezTo>
                        <a:lnTo>
                          <a:pt x="122" y="300"/>
                        </a:lnTo>
                        <a:cubicBezTo>
                          <a:pt x="142" y="351"/>
                          <a:pt x="192" y="388"/>
                          <a:pt x="250" y="388"/>
                        </a:cubicBezTo>
                        <a:cubicBezTo>
                          <a:pt x="308" y="388"/>
                          <a:pt x="358" y="351"/>
                          <a:pt x="378" y="300"/>
                        </a:cubicBezTo>
                        <a:lnTo>
                          <a:pt x="336" y="300"/>
                        </a:lnTo>
                        <a:cubicBezTo>
                          <a:pt x="319" y="330"/>
                          <a:pt x="287" y="350"/>
                          <a:pt x="250" y="350"/>
                        </a:cubicBezTo>
                        <a:close/>
                      </a:path>
                    </a:pathLst>
                  </a:cu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</p:grpSp>
          </p:grpSp>
        </p:grpSp>
        <p:pic>
          <p:nvPicPr>
            <p:cNvPr id="195" name="그림 194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02915" y="2841183"/>
              <a:ext cx="270094" cy="115755"/>
            </a:xfrm>
            <a:prstGeom prst="rect">
              <a:avLst/>
            </a:prstGeom>
          </p:spPr>
        </p:pic>
      </p:grpSp>
      <p:grpSp>
        <p:nvGrpSpPr>
          <p:cNvPr id="205" name="그룹 204"/>
          <p:cNvGrpSpPr/>
          <p:nvPr/>
        </p:nvGrpSpPr>
        <p:grpSpPr>
          <a:xfrm>
            <a:off x="2195181" y="6307269"/>
            <a:ext cx="796136" cy="115755"/>
            <a:chOff x="2195181" y="2841183"/>
            <a:chExt cx="796136" cy="115755"/>
          </a:xfrm>
        </p:grpSpPr>
        <p:grpSp>
          <p:nvGrpSpPr>
            <p:cNvPr id="206" name="Group 10"/>
            <p:cNvGrpSpPr/>
            <p:nvPr/>
          </p:nvGrpSpPr>
          <p:grpSpPr>
            <a:xfrm>
              <a:off x="2195181" y="2847307"/>
              <a:ext cx="796136" cy="107722"/>
              <a:chOff x="2594860" y="3788208"/>
              <a:chExt cx="796136" cy="107722"/>
            </a:xfrm>
          </p:grpSpPr>
          <p:grpSp>
            <p:nvGrpSpPr>
              <p:cNvPr id="208" name="Group 311"/>
              <p:cNvGrpSpPr/>
              <p:nvPr/>
            </p:nvGrpSpPr>
            <p:grpSpPr>
              <a:xfrm>
                <a:off x="3127159" y="3788208"/>
                <a:ext cx="263837" cy="107722"/>
                <a:chOff x="5094041" y="3121801"/>
                <a:chExt cx="263837" cy="107722"/>
              </a:xfrm>
            </p:grpSpPr>
            <p:sp>
              <p:nvSpPr>
                <p:cNvPr id="215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5094041" y="3136639"/>
                  <a:ext cx="90000" cy="89388"/>
                </a:xfrm>
                <a:custGeom>
                  <a:avLst/>
                  <a:gdLst>
                    <a:gd name="T0" fmla="*/ 587 w 650"/>
                    <a:gd name="T1" fmla="*/ 0 h 644"/>
                    <a:gd name="T2" fmla="*/ 68 w 650"/>
                    <a:gd name="T3" fmla="*/ 0 h 644"/>
                    <a:gd name="T4" fmla="*/ 0 w 650"/>
                    <a:gd name="T5" fmla="*/ 62 h 644"/>
                    <a:gd name="T6" fmla="*/ 0 w 650"/>
                    <a:gd name="T7" fmla="*/ 643 h 644"/>
                    <a:gd name="T8" fmla="*/ 130 w 650"/>
                    <a:gd name="T9" fmla="*/ 513 h 644"/>
                    <a:gd name="T10" fmla="*/ 587 w 650"/>
                    <a:gd name="T11" fmla="*/ 513 h 644"/>
                    <a:gd name="T12" fmla="*/ 649 w 650"/>
                    <a:gd name="T13" fmla="*/ 451 h 644"/>
                    <a:gd name="T14" fmla="*/ 649 w 650"/>
                    <a:gd name="T15" fmla="*/ 62 h 644"/>
                    <a:gd name="T16" fmla="*/ 587 w 650"/>
                    <a:gd name="T17" fmla="*/ 0 h 644"/>
                    <a:gd name="T18" fmla="*/ 229 w 650"/>
                    <a:gd name="T19" fmla="*/ 290 h 644"/>
                    <a:gd name="T20" fmla="*/ 167 w 650"/>
                    <a:gd name="T21" fmla="*/ 290 h 644"/>
                    <a:gd name="T22" fmla="*/ 167 w 650"/>
                    <a:gd name="T23" fmla="*/ 222 h 644"/>
                    <a:gd name="T24" fmla="*/ 229 w 650"/>
                    <a:gd name="T25" fmla="*/ 222 h 644"/>
                    <a:gd name="T26" fmla="*/ 229 w 650"/>
                    <a:gd name="T27" fmla="*/ 290 h 644"/>
                    <a:gd name="T28" fmla="*/ 359 w 650"/>
                    <a:gd name="T29" fmla="*/ 290 h 644"/>
                    <a:gd name="T30" fmla="*/ 297 w 650"/>
                    <a:gd name="T31" fmla="*/ 290 h 644"/>
                    <a:gd name="T32" fmla="*/ 297 w 650"/>
                    <a:gd name="T33" fmla="*/ 222 h 644"/>
                    <a:gd name="T34" fmla="*/ 359 w 650"/>
                    <a:gd name="T35" fmla="*/ 222 h 644"/>
                    <a:gd name="T36" fmla="*/ 359 w 650"/>
                    <a:gd name="T37" fmla="*/ 290 h 644"/>
                    <a:gd name="T38" fmla="*/ 488 w 650"/>
                    <a:gd name="T39" fmla="*/ 290 h 644"/>
                    <a:gd name="T40" fmla="*/ 420 w 650"/>
                    <a:gd name="T41" fmla="*/ 290 h 644"/>
                    <a:gd name="T42" fmla="*/ 420 w 650"/>
                    <a:gd name="T43" fmla="*/ 222 h 644"/>
                    <a:gd name="T44" fmla="*/ 488 w 650"/>
                    <a:gd name="T45" fmla="*/ 222 h 644"/>
                    <a:gd name="T46" fmla="*/ 488 w 650"/>
                    <a:gd name="T47" fmla="*/ 290 h 6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50" h="644">
                      <a:moveTo>
                        <a:pt x="587" y="0"/>
                      </a:moveTo>
                      <a:lnTo>
                        <a:pt x="68" y="0"/>
                      </a:lnTo>
                      <a:cubicBezTo>
                        <a:pt x="31" y="0"/>
                        <a:pt x="0" y="24"/>
                        <a:pt x="0" y="62"/>
                      </a:cubicBezTo>
                      <a:lnTo>
                        <a:pt x="0" y="643"/>
                      </a:lnTo>
                      <a:lnTo>
                        <a:pt x="130" y="513"/>
                      </a:lnTo>
                      <a:lnTo>
                        <a:pt x="587" y="513"/>
                      </a:lnTo>
                      <a:cubicBezTo>
                        <a:pt x="618" y="513"/>
                        <a:pt x="649" y="482"/>
                        <a:pt x="649" y="451"/>
                      </a:cubicBezTo>
                      <a:lnTo>
                        <a:pt x="649" y="62"/>
                      </a:lnTo>
                      <a:cubicBezTo>
                        <a:pt x="649" y="24"/>
                        <a:pt x="618" y="0"/>
                        <a:pt x="587" y="0"/>
                      </a:cubicBezTo>
                      <a:close/>
                      <a:moveTo>
                        <a:pt x="229" y="290"/>
                      </a:moveTo>
                      <a:lnTo>
                        <a:pt x="167" y="290"/>
                      </a:lnTo>
                      <a:lnTo>
                        <a:pt x="167" y="222"/>
                      </a:lnTo>
                      <a:lnTo>
                        <a:pt x="229" y="222"/>
                      </a:lnTo>
                      <a:lnTo>
                        <a:pt x="229" y="290"/>
                      </a:lnTo>
                      <a:close/>
                      <a:moveTo>
                        <a:pt x="359" y="290"/>
                      </a:moveTo>
                      <a:lnTo>
                        <a:pt x="297" y="290"/>
                      </a:lnTo>
                      <a:lnTo>
                        <a:pt x="297" y="222"/>
                      </a:lnTo>
                      <a:lnTo>
                        <a:pt x="359" y="222"/>
                      </a:lnTo>
                      <a:lnTo>
                        <a:pt x="359" y="290"/>
                      </a:lnTo>
                      <a:close/>
                      <a:moveTo>
                        <a:pt x="488" y="290"/>
                      </a:moveTo>
                      <a:lnTo>
                        <a:pt x="420" y="290"/>
                      </a:lnTo>
                      <a:lnTo>
                        <a:pt x="420" y="222"/>
                      </a:lnTo>
                      <a:lnTo>
                        <a:pt x="488" y="222"/>
                      </a:lnTo>
                      <a:lnTo>
                        <a:pt x="488" y="2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sp>
              <p:nvSpPr>
                <p:cNvPr id="216" name="텍스트 상자 31"/>
                <p:cNvSpPr txBox="1"/>
                <p:nvPr/>
              </p:nvSpPr>
              <p:spPr>
                <a:xfrm>
                  <a:off x="5240219" y="3121801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4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209" name="Group 312"/>
              <p:cNvGrpSpPr/>
              <p:nvPr/>
            </p:nvGrpSpPr>
            <p:grpSpPr>
              <a:xfrm>
                <a:off x="2594860" y="3788208"/>
                <a:ext cx="534081" cy="107722"/>
                <a:chOff x="4269857" y="3799412"/>
                <a:chExt cx="534081" cy="107722"/>
              </a:xfrm>
            </p:grpSpPr>
            <p:sp>
              <p:nvSpPr>
                <p:cNvPr id="210" name="텍스트 상자 31"/>
                <p:cNvSpPr txBox="1"/>
                <p:nvPr/>
              </p:nvSpPr>
              <p:spPr>
                <a:xfrm>
                  <a:off x="4686279" y="3799412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3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grpSp>
              <p:nvGrpSpPr>
                <p:cNvPr id="211" name="Group 50"/>
                <p:cNvGrpSpPr>
                  <a:grpSpLocks noChangeAspect="1"/>
                </p:cNvGrpSpPr>
                <p:nvPr/>
              </p:nvGrpSpPr>
              <p:grpSpPr bwMode="auto">
                <a:xfrm>
                  <a:off x="4269857" y="3808273"/>
                  <a:ext cx="89419" cy="90000"/>
                  <a:chOff x="2178" y="1307"/>
                  <a:chExt cx="154" cy="155"/>
                </a:xfrm>
                <a:solidFill>
                  <a:schemeClr val="bg1">
                    <a:lumMod val="50000"/>
                  </a:schemeClr>
                </a:solidFill>
              </p:grpSpPr>
              <p:sp>
                <p:nvSpPr>
                  <p:cNvPr id="212" name="Oval 51"/>
                  <p:cNvSpPr>
                    <a:spLocks noChangeArrowheads="1"/>
                  </p:cNvSpPr>
                  <p:nvPr/>
                </p:nvSpPr>
                <p:spPr bwMode="auto">
                  <a:xfrm>
                    <a:off x="2271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13" name="Oval 52"/>
                  <p:cNvSpPr>
                    <a:spLocks noChangeArrowheads="1"/>
                  </p:cNvSpPr>
                  <p:nvPr/>
                </p:nvSpPr>
                <p:spPr bwMode="auto">
                  <a:xfrm>
                    <a:off x="2217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14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2178" y="1307"/>
                    <a:ext cx="154" cy="155"/>
                  </a:xfrm>
                  <a:custGeom>
                    <a:avLst/>
                    <a:gdLst>
                      <a:gd name="T0" fmla="*/ 250 w 500"/>
                      <a:gd name="T1" fmla="*/ 0 h 500"/>
                      <a:gd name="T2" fmla="*/ 0 w 500"/>
                      <a:gd name="T3" fmla="*/ 250 h 500"/>
                      <a:gd name="T4" fmla="*/ 250 w 500"/>
                      <a:gd name="T5" fmla="*/ 500 h 500"/>
                      <a:gd name="T6" fmla="*/ 500 w 500"/>
                      <a:gd name="T7" fmla="*/ 250 h 500"/>
                      <a:gd name="T8" fmla="*/ 250 w 500"/>
                      <a:gd name="T9" fmla="*/ 0 h 500"/>
                      <a:gd name="T10" fmla="*/ 250 w 500"/>
                      <a:gd name="T11" fmla="*/ 450 h 500"/>
                      <a:gd name="T12" fmla="*/ 50 w 500"/>
                      <a:gd name="T13" fmla="*/ 250 h 500"/>
                      <a:gd name="T14" fmla="*/ 250 w 500"/>
                      <a:gd name="T15" fmla="*/ 50 h 500"/>
                      <a:gd name="T16" fmla="*/ 450 w 500"/>
                      <a:gd name="T17" fmla="*/ 250 h 500"/>
                      <a:gd name="T18" fmla="*/ 250 w 500"/>
                      <a:gd name="T19" fmla="*/ 450 h 500"/>
                      <a:gd name="T20" fmla="*/ 250 w 500"/>
                      <a:gd name="T21" fmla="*/ 350 h 500"/>
                      <a:gd name="T22" fmla="*/ 164 w 500"/>
                      <a:gd name="T23" fmla="*/ 300 h 500"/>
                      <a:gd name="T24" fmla="*/ 122 w 500"/>
                      <a:gd name="T25" fmla="*/ 300 h 500"/>
                      <a:gd name="T26" fmla="*/ 250 w 500"/>
                      <a:gd name="T27" fmla="*/ 388 h 500"/>
                      <a:gd name="T28" fmla="*/ 378 w 500"/>
                      <a:gd name="T29" fmla="*/ 300 h 500"/>
                      <a:gd name="T30" fmla="*/ 336 w 500"/>
                      <a:gd name="T31" fmla="*/ 300 h 500"/>
                      <a:gd name="T32" fmla="*/ 250 w 500"/>
                      <a:gd name="T33" fmla="*/ 350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00" h="500">
                        <a:moveTo>
                          <a:pt x="250" y="0"/>
                        </a:moveTo>
                        <a:cubicBezTo>
                          <a:pt x="112" y="0"/>
                          <a:pt x="0" y="112"/>
                          <a:pt x="0" y="250"/>
                        </a:cubicBezTo>
                        <a:cubicBezTo>
                          <a:pt x="0" y="388"/>
                          <a:pt x="112" y="500"/>
                          <a:pt x="250" y="500"/>
                        </a:cubicBezTo>
                        <a:cubicBezTo>
                          <a:pt x="388" y="500"/>
                          <a:pt x="500" y="388"/>
                          <a:pt x="500" y="250"/>
                        </a:cubicBezTo>
                        <a:cubicBezTo>
                          <a:pt x="500" y="112"/>
                          <a:pt x="388" y="0"/>
                          <a:pt x="250" y="0"/>
                        </a:cubicBezTo>
                        <a:close/>
                        <a:moveTo>
                          <a:pt x="250" y="450"/>
                        </a:moveTo>
                        <a:cubicBezTo>
                          <a:pt x="140" y="450"/>
                          <a:pt x="50" y="361"/>
                          <a:pt x="50" y="250"/>
                        </a:cubicBezTo>
                        <a:cubicBezTo>
                          <a:pt x="50" y="139"/>
                          <a:pt x="140" y="50"/>
                          <a:pt x="250" y="50"/>
                        </a:cubicBezTo>
                        <a:cubicBezTo>
                          <a:pt x="361" y="50"/>
                          <a:pt x="450" y="140"/>
                          <a:pt x="450" y="250"/>
                        </a:cubicBezTo>
                        <a:cubicBezTo>
                          <a:pt x="450" y="361"/>
                          <a:pt x="361" y="450"/>
                          <a:pt x="250" y="450"/>
                        </a:cubicBezTo>
                        <a:close/>
                        <a:moveTo>
                          <a:pt x="250" y="350"/>
                        </a:moveTo>
                        <a:cubicBezTo>
                          <a:pt x="213" y="350"/>
                          <a:pt x="181" y="330"/>
                          <a:pt x="164" y="300"/>
                        </a:cubicBezTo>
                        <a:lnTo>
                          <a:pt x="122" y="300"/>
                        </a:lnTo>
                        <a:cubicBezTo>
                          <a:pt x="142" y="351"/>
                          <a:pt x="192" y="388"/>
                          <a:pt x="250" y="388"/>
                        </a:cubicBezTo>
                        <a:cubicBezTo>
                          <a:pt x="308" y="388"/>
                          <a:pt x="358" y="351"/>
                          <a:pt x="378" y="300"/>
                        </a:cubicBezTo>
                        <a:lnTo>
                          <a:pt x="336" y="300"/>
                        </a:lnTo>
                        <a:cubicBezTo>
                          <a:pt x="319" y="330"/>
                          <a:pt x="287" y="350"/>
                          <a:pt x="250" y="350"/>
                        </a:cubicBezTo>
                        <a:close/>
                      </a:path>
                    </a:pathLst>
                  </a:cu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</p:grpSp>
          </p:grpSp>
        </p:grpSp>
        <p:pic>
          <p:nvPicPr>
            <p:cNvPr id="207" name="그림 20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02915" y="2841183"/>
              <a:ext cx="270094" cy="115755"/>
            </a:xfrm>
            <a:prstGeom prst="rect">
              <a:avLst/>
            </a:prstGeom>
          </p:spPr>
        </p:pic>
      </p:grpSp>
      <p:sp>
        <p:nvSpPr>
          <p:cNvPr id="217" name="TextBox 216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5486400" y="847725"/>
            <a:ext cx="361950" cy="1714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55642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플래그 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공지 탭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플래그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 smtClean="0"/>
              <a:t>SQ5.1.2.6</a:t>
            </a:r>
            <a:endParaRPr lang="ko-KR" altLang="en-US" dirty="0"/>
          </a:p>
        </p:txBody>
      </p:sp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4" name="텍스트 상자 31"/>
          <p:cNvSpPr txBox="1"/>
          <p:nvPr/>
        </p:nvSpPr>
        <p:spPr>
          <a:xfrm>
            <a:off x="193161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플래그 글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24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570310"/>
              </p:ext>
            </p:extLst>
          </p:nvPr>
        </p:nvGraphicFramePr>
        <p:xfrm>
          <a:off x="9290533" y="786383"/>
          <a:ext cx="2835467" cy="2192375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54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marL="96838" marR="0" lvl="1" indent="-88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플래그한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공지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피드를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조회하는 영역</a:t>
                      </a: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4138" marR="0" lvl="0" indent="-73025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lang="en-US" altLang="ko-KR" sz="750" kern="1200" baseline="0" dirty="0" smtClean="0">
                        <a:solidFill>
                          <a:srgbClr val="0000FF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공지사항 </a:t>
                      </a:r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피드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 영역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플래그한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모든 공지를 모아서 제공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최근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등록순으로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표시 정보는 등록자 프로필 사진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시간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ㅣ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게재 기간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콘텐츠 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게재 기간이 종료된 콘텐츠는 공지 탭에서 표시하지 않고 일반 </a:t>
                      </a:r>
                      <a:r>
                        <a:rPr kumimoji="1" lang="ko-KR" altLang="en-US" sz="800" dirty="0" err="1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피드로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표시 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표준 사항 아님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다산만 적용 검토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8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4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1374265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7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47" name="TextBox 46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grpSp>
        <p:nvGrpSpPr>
          <p:cNvPr id="501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502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503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305" name="그룹 304"/>
          <p:cNvGrpSpPr/>
          <p:nvPr/>
        </p:nvGrpSpPr>
        <p:grpSpPr>
          <a:xfrm>
            <a:off x="3834671" y="874786"/>
            <a:ext cx="3164889" cy="176117"/>
            <a:chOff x="4079770" y="874786"/>
            <a:chExt cx="3164889" cy="176117"/>
          </a:xfrm>
        </p:grpSpPr>
        <p:sp>
          <p:nvSpPr>
            <p:cNvPr id="306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7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08" name="직선 연결선[R] 7"/>
            <p:cNvCxnSpPr/>
            <p:nvPr/>
          </p:nvCxnSpPr>
          <p:spPr>
            <a:xfrm>
              <a:off x="657293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09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0" name="텍스트 상자 31"/>
            <p:cNvSpPr txBox="1"/>
            <p:nvPr/>
          </p:nvSpPr>
          <p:spPr>
            <a:xfrm>
              <a:off x="545094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strike="sngStrike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strike="sngStrike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1" name="텍스트 상자 31"/>
            <p:cNvSpPr txBox="1"/>
            <p:nvPr/>
          </p:nvSpPr>
          <p:spPr>
            <a:xfrm>
              <a:off x="634355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2" name="텍스트 상자 31"/>
            <p:cNvSpPr txBox="1"/>
            <p:nvPr/>
          </p:nvSpPr>
          <p:spPr>
            <a:xfrm>
              <a:off x="590038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79" name="Rectangle 202"/>
          <p:cNvSpPr/>
          <p:nvPr/>
        </p:nvSpPr>
        <p:spPr>
          <a:xfrm>
            <a:off x="1963754" y="1394115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80" name="텍스트 상자 31"/>
          <p:cNvSpPr txBox="1"/>
          <p:nvPr/>
        </p:nvSpPr>
        <p:spPr>
          <a:xfrm>
            <a:off x="2421414" y="1524294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81" name="그룹 400"/>
          <p:cNvGrpSpPr/>
          <p:nvPr/>
        </p:nvGrpSpPr>
        <p:grpSpPr>
          <a:xfrm>
            <a:off x="2078622" y="1513918"/>
            <a:ext cx="229236" cy="227167"/>
            <a:chOff x="2625629" y="3735853"/>
            <a:chExt cx="276891" cy="276839"/>
          </a:xfrm>
        </p:grpSpPr>
        <p:sp>
          <p:nvSpPr>
            <p:cNvPr id="182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83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84" name="텍스트 상자 31"/>
          <p:cNvSpPr txBox="1"/>
          <p:nvPr/>
        </p:nvSpPr>
        <p:spPr>
          <a:xfrm>
            <a:off x="2421414" y="1660932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 </a:t>
            </a:r>
            <a:r>
              <a:rPr kumimoji="1" lang="ko-KR" altLang="en-US" sz="550" dirty="0" err="1" smtClean="0">
                <a:solidFill>
                  <a:schemeClr val="bg1">
                    <a:lumMod val="85000"/>
                  </a:schemeClr>
                </a:solidFill>
                <a:latin typeface="+mn-ea"/>
                <a:ea typeface="+mn-ea"/>
              </a:rPr>
              <a:t>ㅣ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</a:t>
            </a:r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2017.09.30 ~ 2017.10.31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5" name="텍스트 상자 31"/>
          <p:cNvSpPr txBox="1"/>
          <p:nvPr/>
        </p:nvSpPr>
        <p:spPr>
          <a:xfrm>
            <a:off x="2078622" y="1864191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6" name="Rounded Rectangle 245"/>
          <p:cNvSpPr/>
          <p:nvPr/>
        </p:nvSpPr>
        <p:spPr>
          <a:xfrm>
            <a:off x="2078622" y="2069367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7" name="Rounded Rectangle 246"/>
          <p:cNvSpPr/>
          <p:nvPr/>
        </p:nvSpPr>
        <p:spPr>
          <a:xfrm>
            <a:off x="2564063" y="2069367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88" name="Rounded Rectangle 247"/>
          <p:cNvSpPr/>
          <p:nvPr/>
        </p:nvSpPr>
        <p:spPr>
          <a:xfrm>
            <a:off x="2923619" y="2069367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189" name="직선 연결선[R] 33"/>
          <p:cNvCxnSpPr/>
          <p:nvPr/>
        </p:nvCxnSpPr>
        <p:spPr>
          <a:xfrm>
            <a:off x="2052416" y="2299426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텍스트 상자 31"/>
          <p:cNvSpPr txBox="1"/>
          <p:nvPr/>
        </p:nvSpPr>
        <p:spPr>
          <a:xfrm>
            <a:off x="2151793" y="1224280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212" name="Picture 280"/>
          <p:cNvPicPr>
            <a:picLocks noChangeAspect="1"/>
          </p:cNvPicPr>
          <p:nvPr/>
        </p:nvPicPr>
        <p:blipFill rotWithShape="1">
          <a:blip r:embed="rId3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211634"/>
            <a:ext cx="181897" cy="153335"/>
          </a:xfrm>
          <a:prstGeom prst="rect">
            <a:avLst/>
          </a:prstGeom>
          <a:effectLst/>
        </p:spPr>
      </p:pic>
      <p:sp>
        <p:nvSpPr>
          <p:cNvPr id="213" name="Freeform 26"/>
          <p:cNvSpPr>
            <a:spLocks noChangeAspect="1" noChangeArrowheads="1"/>
          </p:cNvSpPr>
          <p:nvPr/>
        </p:nvSpPr>
        <p:spPr bwMode="auto">
          <a:xfrm flipH="1">
            <a:off x="6726683" y="1522757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25" name="Freeform 25"/>
          <p:cNvSpPr>
            <a:spLocks noChangeAspect="1" noEditPoints="1"/>
          </p:cNvSpPr>
          <p:nvPr/>
        </p:nvSpPr>
        <p:spPr bwMode="auto">
          <a:xfrm>
            <a:off x="6535161" y="1515746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26" name="Rectangle 202"/>
          <p:cNvSpPr/>
          <p:nvPr/>
        </p:nvSpPr>
        <p:spPr>
          <a:xfrm>
            <a:off x="1963754" y="3392893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27" name="텍스트 상자 31"/>
          <p:cNvSpPr txBox="1"/>
          <p:nvPr/>
        </p:nvSpPr>
        <p:spPr>
          <a:xfrm>
            <a:off x="2421414" y="3523072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홍나리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28" name="그룹 400"/>
          <p:cNvGrpSpPr/>
          <p:nvPr/>
        </p:nvGrpSpPr>
        <p:grpSpPr>
          <a:xfrm>
            <a:off x="2078622" y="3512696"/>
            <a:ext cx="229236" cy="227167"/>
            <a:chOff x="2625629" y="3735853"/>
            <a:chExt cx="276891" cy="276839"/>
          </a:xfrm>
        </p:grpSpPr>
        <p:sp>
          <p:nvSpPr>
            <p:cNvPr id="22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31" name="텍스트 상자 31"/>
          <p:cNvSpPr txBox="1"/>
          <p:nvPr/>
        </p:nvSpPr>
        <p:spPr>
          <a:xfrm>
            <a:off x="2421414" y="3662949"/>
            <a:ext cx="1634486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2017.09.30  10:32 </a:t>
            </a:r>
            <a:r>
              <a:rPr lang="ko-KR" altLang="en-US" sz="550" dirty="0" err="1">
                <a:solidFill>
                  <a:schemeClr val="bg1">
                    <a:lumMod val="85000"/>
                  </a:schemeClr>
                </a:solidFill>
                <a:latin typeface="+mn-ea"/>
              </a:rPr>
              <a:t>ㅣ</a:t>
            </a:r>
            <a:r>
              <a:rPr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r>
              <a:rPr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2017.09.30 ~ 2017.10.31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2" name="텍스트 상자 31"/>
          <p:cNvSpPr txBox="1"/>
          <p:nvPr/>
        </p:nvSpPr>
        <p:spPr>
          <a:xfrm>
            <a:off x="2078622" y="3862969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3" name="Rounded Rectangle 245"/>
          <p:cNvSpPr/>
          <p:nvPr/>
        </p:nvSpPr>
        <p:spPr>
          <a:xfrm>
            <a:off x="2078622" y="4068145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4" name="Rounded Rectangle 246"/>
          <p:cNvSpPr/>
          <p:nvPr/>
        </p:nvSpPr>
        <p:spPr>
          <a:xfrm>
            <a:off x="2564063" y="4068145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35" name="Rounded Rectangle 247"/>
          <p:cNvSpPr/>
          <p:nvPr/>
        </p:nvSpPr>
        <p:spPr>
          <a:xfrm>
            <a:off x="2923619" y="4068145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36" name="직선 연결선[R] 33"/>
          <p:cNvCxnSpPr/>
          <p:nvPr/>
        </p:nvCxnSpPr>
        <p:spPr>
          <a:xfrm>
            <a:off x="2052416" y="429820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8" name="Freeform 26"/>
          <p:cNvSpPr>
            <a:spLocks noChangeAspect="1" noChangeArrowheads="1"/>
          </p:cNvSpPr>
          <p:nvPr/>
        </p:nvSpPr>
        <p:spPr bwMode="auto">
          <a:xfrm flipH="1">
            <a:off x="6726683" y="3521535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4" name="Freeform 25"/>
          <p:cNvSpPr>
            <a:spLocks noChangeAspect="1" noEditPoints="1"/>
          </p:cNvSpPr>
          <p:nvPr/>
        </p:nvSpPr>
        <p:spPr bwMode="auto">
          <a:xfrm>
            <a:off x="6535161" y="3514524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60" name="Rectangle 202"/>
          <p:cNvSpPr/>
          <p:nvPr/>
        </p:nvSpPr>
        <p:spPr>
          <a:xfrm>
            <a:off x="1963754" y="456797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61" name="텍스트 상자 31"/>
          <p:cNvSpPr txBox="1"/>
          <p:nvPr/>
        </p:nvSpPr>
        <p:spPr>
          <a:xfrm>
            <a:off x="2421414" y="469815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홍나리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62" name="그룹 400"/>
          <p:cNvGrpSpPr/>
          <p:nvPr/>
        </p:nvGrpSpPr>
        <p:grpSpPr>
          <a:xfrm>
            <a:off x="2078622" y="4687774"/>
            <a:ext cx="229236" cy="227167"/>
            <a:chOff x="2625629" y="3735853"/>
            <a:chExt cx="276891" cy="276839"/>
          </a:xfrm>
        </p:grpSpPr>
        <p:sp>
          <p:nvSpPr>
            <p:cNvPr id="263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64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65" name="텍스트 상자 31"/>
          <p:cNvSpPr txBox="1"/>
          <p:nvPr/>
        </p:nvSpPr>
        <p:spPr>
          <a:xfrm>
            <a:off x="2421414" y="483478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2017.09.25  17:52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66" name="텍스트 상자 31"/>
          <p:cNvSpPr txBox="1"/>
          <p:nvPr/>
        </p:nvSpPr>
        <p:spPr>
          <a:xfrm>
            <a:off x="2078622" y="503804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67" name="Rounded Rectangle 245"/>
          <p:cNvSpPr/>
          <p:nvPr/>
        </p:nvSpPr>
        <p:spPr>
          <a:xfrm>
            <a:off x="2078622" y="524322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8" name="Rounded Rectangle 246"/>
          <p:cNvSpPr/>
          <p:nvPr/>
        </p:nvSpPr>
        <p:spPr>
          <a:xfrm>
            <a:off x="2564063" y="524322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69" name="Rounded Rectangle 247"/>
          <p:cNvSpPr/>
          <p:nvPr/>
        </p:nvSpPr>
        <p:spPr>
          <a:xfrm>
            <a:off x="2923619" y="524322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70" name="직선 연결선[R] 33"/>
          <p:cNvCxnSpPr/>
          <p:nvPr/>
        </p:nvCxnSpPr>
        <p:spPr>
          <a:xfrm>
            <a:off x="2052416" y="547328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2" name="Freeform 26"/>
          <p:cNvSpPr>
            <a:spLocks noChangeAspect="1" noChangeArrowheads="1"/>
          </p:cNvSpPr>
          <p:nvPr/>
        </p:nvSpPr>
        <p:spPr bwMode="auto">
          <a:xfrm flipH="1">
            <a:off x="6726683" y="469661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4" name="Freeform 25"/>
          <p:cNvSpPr>
            <a:spLocks noChangeAspect="1" noEditPoints="1"/>
          </p:cNvSpPr>
          <p:nvPr/>
        </p:nvSpPr>
        <p:spPr bwMode="auto">
          <a:xfrm>
            <a:off x="6535161" y="468960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5" name="Rectangle 202"/>
          <p:cNvSpPr/>
          <p:nvPr/>
        </p:nvSpPr>
        <p:spPr>
          <a:xfrm>
            <a:off x="1963754" y="5724511"/>
            <a:ext cx="4896000" cy="59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86" name="텍스트 상자 31"/>
          <p:cNvSpPr txBox="1"/>
          <p:nvPr/>
        </p:nvSpPr>
        <p:spPr>
          <a:xfrm>
            <a:off x="2421414" y="585469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박미리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87" name="그룹 400"/>
          <p:cNvGrpSpPr/>
          <p:nvPr/>
        </p:nvGrpSpPr>
        <p:grpSpPr>
          <a:xfrm>
            <a:off x="2078622" y="5844314"/>
            <a:ext cx="229236" cy="227167"/>
            <a:chOff x="2625629" y="3735853"/>
            <a:chExt cx="276891" cy="276839"/>
          </a:xfrm>
        </p:grpSpPr>
        <p:sp>
          <p:nvSpPr>
            <p:cNvPr id="288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89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90" name="텍스트 상자 31"/>
          <p:cNvSpPr txBox="1"/>
          <p:nvPr/>
        </p:nvSpPr>
        <p:spPr>
          <a:xfrm>
            <a:off x="2421414" y="599132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2017.09.11  14:05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1" name="텍스트 상자 31"/>
          <p:cNvSpPr txBox="1"/>
          <p:nvPr/>
        </p:nvSpPr>
        <p:spPr>
          <a:xfrm>
            <a:off x="2078622" y="619458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2" name="Freeform 26"/>
          <p:cNvSpPr>
            <a:spLocks noChangeAspect="1" noChangeArrowheads="1"/>
          </p:cNvSpPr>
          <p:nvPr/>
        </p:nvSpPr>
        <p:spPr bwMode="auto">
          <a:xfrm flipH="1">
            <a:off x="6726683" y="585315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93" name="Freeform 25"/>
          <p:cNvSpPr>
            <a:spLocks noChangeAspect="1" noEditPoints="1"/>
          </p:cNvSpPr>
          <p:nvPr/>
        </p:nvSpPr>
        <p:spPr bwMode="auto">
          <a:xfrm>
            <a:off x="6535161" y="584614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1963754" y="2504967"/>
            <a:ext cx="4896001" cy="850249"/>
            <a:chOff x="1963754" y="2862685"/>
            <a:chExt cx="4896001" cy="850249"/>
          </a:xfrm>
        </p:grpSpPr>
        <p:sp>
          <p:nvSpPr>
            <p:cNvPr id="296" name="Rectangle 231"/>
            <p:cNvSpPr/>
            <p:nvPr/>
          </p:nvSpPr>
          <p:spPr>
            <a:xfrm>
              <a:off x="1963754" y="2862685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297" name="Group 7"/>
            <p:cNvGrpSpPr/>
            <p:nvPr/>
          </p:nvGrpSpPr>
          <p:grpSpPr>
            <a:xfrm>
              <a:off x="2078622" y="3275940"/>
              <a:ext cx="1612396" cy="227167"/>
              <a:chOff x="2478168" y="4026446"/>
              <a:chExt cx="1612396" cy="229194"/>
            </a:xfrm>
          </p:grpSpPr>
          <p:sp>
            <p:nvSpPr>
              <p:cNvPr id="392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393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421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422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420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98" name="직선 연결선[R] 33"/>
            <p:cNvCxnSpPr/>
            <p:nvPr/>
          </p:nvCxnSpPr>
          <p:spPr>
            <a:xfrm>
              <a:off x="2052416" y="3189083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99" name="Rectangle 313"/>
            <p:cNvSpPr/>
            <p:nvPr/>
          </p:nvSpPr>
          <p:spPr>
            <a:xfrm>
              <a:off x="1963755" y="3580647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300" name="텍스트 상자 31"/>
            <p:cNvSpPr txBox="1"/>
            <p:nvPr/>
          </p:nvSpPr>
          <p:spPr>
            <a:xfrm>
              <a:off x="4141390" y="3594443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개 모두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301" name="Rectangle 321"/>
            <p:cNvSpPr/>
            <p:nvPr/>
          </p:nvSpPr>
          <p:spPr>
            <a:xfrm>
              <a:off x="2064079" y="2937144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02" name="텍스트 상자 31"/>
            <p:cNvSpPr txBox="1"/>
            <p:nvPr/>
          </p:nvSpPr>
          <p:spPr>
            <a:xfrm>
              <a:off x="2132955" y="2990868"/>
              <a:ext cx="7674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의견을 입력하세요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3" name="Rounded Rectangle 616"/>
            <p:cNvSpPr/>
            <p:nvPr/>
          </p:nvSpPr>
          <p:spPr>
            <a:xfrm>
              <a:off x="6379294" y="2945406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304" name="Freeform 17"/>
            <p:cNvSpPr>
              <a:spLocks noChangeArrowheads="1"/>
            </p:cNvSpPr>
            <p:nvPr/>
          </p:nvSpPr>
          <p:spPr bwMode="auto">
            <a:xfrm>
              <a:off x="5951279" y="2979736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391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300" y="2979736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77" name="그룹 176"/>
          <p:cNvGrpSpPr/>
          <p:nvPr/>
        </p:nvGrpSpPr>
        <p:grpSpPr>
          <a:xfrm>
            <a:off x="7832684" y="6179792"/>
            <a:ext cx="396000" cy="396000"/>
            <a:chOff x="10903135" y="6381622"/>
            <a:chExt cx="396000" cy="396000"/>
          </a:xfrm>
        </p:grpSpPr>
        <p:sp>
          <p:nvSpPr>
            <p:cNvPr id="178" name="Oval 4"/>
            <p:cNvSpPr>
              <a:spLocks noChangeAspect="1"/>
            </p:cNvSpPr>
            <p:nvPr/>
          </p:nvSpPr>
          <p:spPr>
            <a:xfrm>
              <a:off x="10903135" y="6381622"/>
              <a:ext cx="396000" cy="396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0" tIns="108000" rIns="0" bIns="0" rtlCol="0" anchor="ctr"/>
            <a:lstStyle/>
            <a:p>
              <a:pPr marL="0" marR="0" lvl="0" indent="0" algn="ctr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</a:rPr>
                <a:t>TOP</a:t>
              </a:r>
            </a:p>
          </p:txBody>
        </p:sp>
        <p:sp>
          <p:nvSpPr>
            <p:cNvPr id="192" name="Freeform 24"/>
            <p:cNvSpPr>
              <a:spLocks noChangeAspect="1" noChangeArrowheads="1"/>
            </p:cNvSpPr>
            <p:nvPr/>
          </p:nvSpPr>
          <p:spPr bwMode="auto">
            <a:xfrm>
              <a:off x="11045288" y="6464107"/>
              <a:ext cx="111694" cy="69607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193" name="텍스트 상자 31"/>
          <p:cNvSpPr txBox="1"/>
          <p:nvPr/>
        </p:nvSpPr>
        <p:spPr>
          <a:xfrm>
            <a:off x="8296385" y="6332039"/>
            <a:ext cx="921227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88900" indent="-88900" defTabSz="576818" fontAlgn="auto" latinLnBrk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페이지 상단으로 </a:t>
            </a:r>
            <a: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/>
            </a:r>
            <a:b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</a:b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가기 버튼</a:t>
            </a:r>
            <a:endParaRPr lang="ko-KR" altLang="en-US" sz="75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95" name="Freeform 739"/>
          <p:cNvSpPr>
            <a:spLocks noChangeAspect="1"/>
          </p:cNvSpPr>
          <p:nvPr/>
        </p:nvSpPr>
        <p:spPr>
          <a:xfrm>
            <a:off x="2054708" y="2356055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" name="Freeform 739"/>
          <p:cNvSpPr>
            <a:spLocks noChangeAspect="1"/>
          </p:cNvSpPr>
          <p:nvPr/>
        </p:nvSpPr>
        <p:spPr>
          <a:xfrm>
            <a:off x="2054708" y="4346578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7" name="Freeform 739"/>
          <p:cNvSpPr>
            <a:spLocks noChangeAspect="1"/>
          </p:cNvSpPr>
          <p:nvPr/>
        </p:nvSpPr>
        <p:spPr>
          <a:xfrm>
            <a:off x="2054708" y="5525270"/>
            <a:ext cx="97509" cy="108000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C000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8" name="그룹 197"/>
          <p:cNvGrpSpPr/>
          <p:nvPr/>
        </p:nvGrpSpPr>
        <p:grpSpPr>
          <a:xfrm>
            <a:off x="2195181" y="2350378"/>
            <a:ext cx="796136" cy="115755"/>
            <a:chOff x="2195181" y="2841183"/>
            <a:chExt cx="796136" cy="115755"/>
          </a:xfrm>
        </p:grpSpPr>
        <p:grpSp>
          <p:nvGrpSpPr>
            <p:cNvPr id="199" name="Group 10"/>
            <p:cNvGrpSpPr/>
            <p:nvPr/>
          </p:nvGrpSpPr>
          <p:grpSpPr>
            <a:xfrm>
              <a:off x="2195181" y="2847307"/>
              <a:ext cx="796136" cy="107722"/>
              <a:chOff x="2594860" y="3788208"/>
              <a:chExt cx="796136" cy="107722"/>
            </a:xfrm>
          </p:grpSpPr>
          <p:grpSp>
            <p:nvGrpSpPr>
              <p:cNvPr id="201" name="Group 311"/>
              <p:cNvGrpSpPr/>
              <p:nvPr/>
            </p:nvGrpSpPr>
            <p:grpSpPr>
              <a:xfrm>
                <a:off x="3127159" y="3788208"/>
                <a:ext cx="263837" cy="107722"/>
                <a:chOff x="5094041" y="3121801"/>
                <a:chExt cx="263837" cy="107722"/>
              </a:xfrm>
            </p:grpSpPr>
            <p:sp>
              <p:nvSpPr>
                <p:cNvPr id="209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5094041" y="3136639"/>
                  <a:ext cx="90000" cy="89388"/>
                </a:xfrm>
                <a:custGeom>
                  <a:avLst/>
                  <a:gdLst>
                    <a:gd name="T0" fmla="*/ 587 w 650"/>
                    <a:gd name="T1" fmla="*/ 0 h 644"/>
                    <a:gd name="T2" fmla="*/ 68 w 650"/>
                    <a:gd name="T3" fmla="*/ 0 h 644"/>
                    <a:gd name="T4" fmla="*/ 0 w 650"/>
                    <a:gd name="T5" fmla="*/ 62 h 644"/>
                    <a:gd name="T6" fmla="*/ 0 w 650"/>
                    <a:gd name="T7" fmla="*/ 643 h 644"/>
                    <a:gd name="T8" fmla="*/ 130 w 650"/>
                    <a:gd name="T9" fmla="*/ 513 h 644"/>
                    <a:gd name="T10" fmla="*/ 587 w 650"/>
                    <a:gd name="T11" fmla="*/ 513 h 644"/>
                    <a:gd name="T12" fmla="*/ 649 w 650"/>
                    <a:gd name="T13" fmla="*/ 451 h 644"/>
                    <a:gd name="T14" fmla="*/ 649 w 650"/>
                    <a:gd name="T15" fmla="*/ 62 h 644"/>
                    <a:gd name="T16" fmla="*/ 587 w 650"/>
                    <a:gd name="T17" fmla="*/ 0 h 644"/>
                    <a:gd name="T18" fmla="*/ 229 w 650"/>
                    <a:gd name="T19" fmla="*/ 290 h 644"/>
                    <a:gd name="T20" fmla="*/ 167 w 650"/>
                    <a:gd name="T21" fmla="*/ 290 h 644"/>
                    <a:gd name="T22" fmla="*/ 167 w 650"/>
                    <a:gd name="T23" fmla="*/ 222 h 644"/>
                    <a:gd name="T24" fmla="*/ 229 w 650"/>
                    <a:gd name="T25" fmla="*/ 222 h 644"/>
                    <a:gd name="T26" fmla="*/ 229 w 650"/>
                    <a:gd name="T27" fmla="*/ 290 h 644"/>
                    <a:gd name="T28" fmla="*/ 359 w 650"/>
                    <a:gd name="T29" fmla="*/ 290 h 644"/>
                    <a:gd name="T30" fmla="*/ 297 w 650"/>
                    <a:gd name="T31" fmla="*/ 290 h 644"/>
                    <a:gd name="T32" fmla="*/ 297 w 650"/>
                    <a:gd name="T33" fmla="*/ 222 h 644"/>
                    <a:gd name="T34" fmla="*/ 359 w 650"/>
                    <a:gd name="T35" fmla="*/ 222 h 644"/>
                    <a:gd name="T36" fmla="*/ 359 w 650"/>
                    <a:gd name="T37" fmla="*/ 290 h 644"/>
                    <a:gd name="T38" fmla="*/ 488 w 650"/>
                    <a:gd name="T39" fmla="*/ 290 h 644"/>
                    <a:gd name="T40" fmla="*/ 420 w 650"/>
                    <a:gd name="T41" fmla="*/ 290 h 644"/>
                    <a:gd name="T42" fmla="*/ 420 w 650"/>
                    <a:gd name="T43" fmla="*/ 222 h 644"/>
                    <a:gd name="T44" fmla="*/ 488 w 650"/>
                    <a:gd name="T45" fmla="*/ 222 h 644"/>
                    <a:gd name="T46" fmla="*/ 488 w 650"/>
                    <a:gd name="T47" fmla="*/ 290 h 6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50" h="644">
                      <a:moveTo>
                        <a:pt x="587" y="0"/>
                      </a:moveTo>
                      <a:lnTo>
                        <a:pt x="68" y="0"/>
                      </a:lnTo>
                      <a:cubicBezTo>
                        <a:pt x="31" y="0"/>
                        <a:pt x="0" y="24"/>
                        <a:pt x="0" y="62"/>
                      </a:cubicBezTo>
                      <a:lnTo>
                        <a:pt x="0" y="643"/>
                      </a:lnTo>
                      <a:lnTo>
                        <a:pt x="130" y="513"/>
                      </a:lnTo>
                      <a:lnTo>
                        <a:pt x="587" y="513"/>
                      </a:lnTo>
                      <a:cubicBezTo>
                        <a:pt x="618" y="513"/>
                        <a:pt x="649" y="482"/>
                        <a:pt x="649" y="451"/>
                      </a:cubicBezTo>
                      <a:lnTo>
                        <a:pt x="649" y="62"/>
                      </a:lnTo>
                      <a:cubicBezTo>
                        <a:pt x="649" y="24"/>
                        <a:pt x="618" y="0"/>
                        <a:pt x="587" y="0"/>
                      </a:cubicBezTo>
                      <a:close/>
                      <a:moveTo>
                        <a:pt x="229" y="290"/>
                      </a:moveTo>
                      <a:lnTo>
                        <a:pt x="167" y="290"/>
                      </a:lnTo>
                      <a:lnTo>
                        <a:pt x="167" y="222"/>
                      </a:lnTo>
                      <a:lnTo>
                        <a:pt x="229" y="222"/>
                      </a:lnTo>
                      <a:lnTo>
                        <a:pt x="229" y="290"/>
                      </a:lnTo>
                      <a:close/>
                      <a:moveTo>
                        <a:pt x="359" y="290"/>
                      </a:moveTo>
                      <a:lnTo>
                        <a:pt x="297" y="290"/>
                      </a:lnTo>
                      <a:lnTo>
                        <a:pt x="297" y="222"/>
                      </a:lnTo>
                      <a:lnTo>
                        <a:pt x="359" y="222"/>
                      </a:lnTo>
                      <a:lnTo>
                        <a:pt x="359" y="290"/>
                      </a:lnTo>
                      <a:close/>
                      <a:moveTo>
                        <a:pt x="488" y="290"/>
                      </a:moveTo>
                      <a:lnTo>
                        <a:pt x="420" y="290"/>
                      </a:lnTo>
                      <a:lnTo>
                        <a:pt x="420" y="222"/>
                      </a:lnTo>
                      <a:lnTo>
                        <a:pt x="488" y="222"/>
                      </a:lnTo>
                      <a:lnTo>
                        <a:pt x="488" y="2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sp>
              <p:nvSpPr>
                <p:cNvPr id="210" name="텍스트 상자 31"/>
                <p:cNvSpPr txBox="1"/>
                <p:nvPr/>
              </p:nvSpPr>
              <p:spPr>
                <a:xfrm>
                  <a:off x="5240219" y="3121801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4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202" name="Group 312"/>
              <p:cNvGrpSpPr/>
              <p:nvPr/>
            </p:nvGrpSpPr>
            <p:grpSpPr>
              <a:xfrm>
                <a:off x="2594860" y="3788208"/>
                <a:ext cx="534081" cy="107722"/>
                <a:chOff x="4269857" y="3799412"/>
                <a:chExt cx="534081" cy="107722"/>
              </a:xfrm>
            </p:grpSpPr>
            <p:sp>
              <p:nvSpPr>
                <p:cNvPr id="204" name="텍스트 상자 31"/>
                <p:cNvSpPr txBox="1"/>
                <p:nvPr/>
              </p:nvSpPr>
              <p:spPr>
                <a:xfrm>
                  <a:off x="4686279" y="3799412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3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grpSp>
              <p:nvGrpSpPr>
                <p:cNvPr id="205" name="Group 50"/>
                <p:cNvGrpSpPr>
                  <a:grpSpLocks noChangeAspect="1"/>
                </p:cNvGrpSpPr>
                <p:nvPr/>
              </p:nvGrpSpPr>
              <p:grpSpPr bwMode="auto">
                <a:xfrm>
                  <a:off x="4269857" y="3808273"/>
                  <a:ext cx="89419" cy="90000"/>
                  <a:chOff x="2178" y="1307"/>
                  <a:chExt cx="154" cy="155"/>
                </a:xfrm>
                <a:solidFill>
                  <a:schemeClr val="bg1">
                    <a:lumMod val="50000"/>
                  </a:schemeClr>
                </a:solidFill>
              </p:grpSpPr>
              <p:sp>
                <p:nvSpPr>
                  <p:cNvPr id="206" name="Oval 51"/>
                  <p:cNvSpPr>
                    <a:spLocks noChangeArrowheads="1"/>
                  </p:cNvSpPr>
                  <p:nvPr/>
                </p:nvSpPr>
                <p:spPr bwMode="auto">
                  <a:xfrm>
                    <a:off x="2271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7" name="Oval 52"/>
                  <p:cNvSpPr>
                    <a:spLocks noChangeArrowheads="1"/>
                  </p:cNvSpPr>
                  <p:nvPr/>
                </p:nvSpPr>
                <p:spPr bwMode="auto">
                  <a:xfrm>
                    <a:off x="2217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8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2178" y="1307"/>
                    <a:ext cx="154" cy="155"/>
                  </a:xfrm>
                  <a:custGeom>
                    <a:avLst/>
                    <a:gdLst>
                      <a:gd name="T0" fmla="*/ 250 w 500"/>
                      <a:gd name="T1" fmla="*/ 0 h 500"/>
                      <a:gd name="T2" fmla="*/ 0 w 500"/>
                      <a:gd name="T3" fmla="*/ 250 h 500"/>
                      <a:gd name="T4" fmla="*/ 250 w 500"/>
                      <a:gd name="T5" fmla="*/ 500 h 500"/>
                      <a:gd name="T6" fmla="*/ 500 w 500"/>
                      <a:gd name="T7" fmla="*/ 250 h 500"/>
                      <a:gd name="T8" fmla="*/ 250 w 500"/>
                      <a:gd name="T9" fmla="*/ 0 h 500"/>
                      <a:gd name="T10" fmla="*/ 250 w 500"/>
                      <a:gd name="T11" fmla="*/ 450 h 500"/>
                      <a:gd name="T12" fmla="*/ 50 w 500"/>
                      <a:gd name="T13" fmla="*/ 250 h 500"/>
                      <a:gd name="T14" fmla="*/ 250 w 500"/>
                      <a:gd name="T15" fmla="*/ 50 h 500"/>
                      <a:gd name="T16" fmla="*/ 450 w 500"/>
                      <a:gd name="T17" fmla="*/ 250 h 500"/>
                      <a:gd name="T18" fmla="*/ 250 w 500"/>
                      <a:gd name="T19" fmla="*/ 450 h 500"/>
                      <a:gd name="T20" fmla="*/ 250 w 500"/>
                      <a:gd name="T21" fmla="*/ 350 h 500"/>
                      <a:gd name="T22" fmla="*/ 164 w 500"/>
                      <a:gd name="T23" fmla="*/ 300 h 500"/>
                      <a:gd name="T24" fmla="*/ 122 w 500"/>
                      <a:gd name="T25" fmla="*/ 300 h 500"/>
                      <a:gd name="T26" fmla="*/ 250 w 500"/>
                      <a:gd name="T27" fmla="*/ 388 h 500"/>
                      <a:gd name="T28" fmla="*/ 378 w 500"/>
                      <a:gd name="T29" fmla="*/ 300 h 500"/>
                      <a:gd name="T30" fmla="*/ 336 w 500"/>
                      <a:gd name="T31" fmla="*/ 300 h 500"/>
                      <a:gd name="T32" fmla="*/ 250 w 500"/>
                      <a:gd name="T33" fmla="*/ 350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00" h="500">
                        <a:moveTo>
                          <a:pt x="250" y="0"/>
                        </a:moveTo>
                        <a:cubicBezTo>
                          <a:pt x="112" y="0"/>
                          <a:pt x="0" y="112"/>
                          <a:pt x="0" y="250"/>
                        </a:cubicBezTo>
                        <a:cubicBezTo>
                          <a:pt x="0" y="388"/>
                          <a:pt x="112" y="500"/>
                          <a:pt x="250" y="500"/>
                        </a:cubicBezTo>
                        <a:cubicBezTo>
                          <a:pt x="388" y="500"/>
                          <a:pt x="500" y="388"/>
                          <a:pt x="500" y="250"/>
                        </a:cubicBezTo>
                        <a:cubicBezTo>
                          <a:pt x="500" y="112"/>
                          <a:pt x="388" y="0"/>
                          <a:pt x="250" y="0"/>
                        </a:cubicBezTo>
                        <a:close/>
                        <a:moveTo>
                          <a:pt x="250" y="450"/>
                        </a:moveTo>
                        <a:cubicBezTo>
                          <a:pt x="140" y="450"/>
                          <a:pt x="50" y="361"/>
                          <a:pt x="50" y="250"/>
                        </a:cubicBezTo>
                        <a:cubicBezTo>
                          <a:pt x="50" y="139"/>
                          <a:pt x="140" y="50"/>
                          <a:pt x="250" y="50"/>
                        </a:cubicBezTo>
                        <a:cubicBezTo>
                          <a:pt x="361" y="50"/>
                          <a:pt x="450" y="140"/>
                          <a:pt x="450" y="250"/>
                        </a:cubicBezTo>
                        <a:cubicBezTo>
                          <a:pt x="450" y="361"/>
                          <a:pt x="361" y="450"/>
                          <a:pt x="250" y="450"/>
                        </a:cubicBezTo>
                        <a:close/>
                        <a:moveTo>
                          <a:pt x="250" y="350"/>
                        </a:moveTo>
                        <a:cubicBezTo>
                          <a:pt x="213" y="350"/>
                          <a:pt x="181" y="330"/>
                          <a:pt x="164" y="300"/>
                        </a:cubicBezTo>
                        <a:lnTo>
                          <a:pt x="122" y="300"/>
                        </a:lnTo>
                        <a:cubicBezTo>
                          <a:pt x="142" y="351"/>
                          <a:pt x="192" y="388"/>
                          <a:pt x="250" y="388"/>
                        </a:cubicBezTo>
                        <a:cubicBezTo>
                          <a:pt x="308" y="388"/>
                          <a:pt x="358" y="351"/>
                          <a:pt x="378" y="300"/>
                        </a:cubicBezTo>
                        <a:lnTo>
                          <a:pt x="336" y="300"/>
                        </a:lnTo>
                        <a:cubicBezTo>
                          <a:pt x="319" y="330"/>
                          <a:pt x="287" y="350"/>
                          <a:pt x="250" y="350"/>
                        </a:cubicBezTo>
                        <a:close/>
                      </a:path>
                    </a:pathLst>
                  </a:cu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</p:grpSp>
          </p:grpSp>
        </p:grpSp>
        <p:pic>
          <p:nvPicPr>
            <p:cNvPr id="200" name="그림 199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02915" y="2841183"/>
              <a:ext cx="270094" cy="115755"/>
            </a:xfrm>
            <a:prstGeom prst="rect">
              <a:avLst/>
            </a:prstGeom>
          </p:spPr>
        </p:pic>
      </p:grpSp>
      <p:grpSp>
        <p:nvGrpSpPr>
          <p:cNvPr id="211" name="그룹 210"/>
          <p:cNvGrpSpPr/>
          <p:nvPr/>
        </p:nvGrpSpPr>
        <p:grpSpPr>
          <a:xfrm>
            <a:off x="2195181" y="4344376"/>
            <a:ext cx="796136" cy="115755"/>
            <a:chOff x="2195181" y="2841183"/>
            <a:chExt cx="796136" cy="115755"/>
          </a:xfrm>
        </p:grpSpPr>
        <p:grpSp>
          <p:nvGrpSpPr>
            <p:cNvPr id="294" name="Group 10"/>
            <p:cNvGrpSpPr/>
            <p:nvPr/>
          </p:nvGrpSpPr>
          <p:grpSpPr>
            <a:xfrm>
              <a:off x="2195181" y="2847307"/>
              <a:ext cx="796136" cy="107722"/>
              <a:chOff x="2594860" y="3788208"/>
              <a:chExt cx="796136" cy="107722"/>
            </a:xfrm>
          </p:grpSpPr>
          <p:grpSp>
            <p:nvGrpSpPr>
              <p:cNvPr id="314" name="Group 311"/>
              <p:cNvGrpSpPr/>
              <p:nvPr/>
            </p:nvGrpSpPr>
            <p:grpSpPr>
              <a:xfrm>
                <a:off x="3127159" y="3788208"/>
                <a:ext cx="263837" cy="107722"/>
                <a:chOff x="5094041" y="3121801"/>
                <a:chExt cx="263837" cy="107722"/>
              </a:xfrm>
            </p:grpSpPr>
            <p:sp>
              <p:nvSpPr>
                <p:cNvPr id="321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5094041" y="3136639"/>
                  <a:ext cx="90000" cy="89388"/>
                </a:xfrm>
                <a:custGeom>
                  <a:avLst/>
                  <a:gdLst>
                    <a:gd name="T0" fmla="*/ 587 w 650"/>
                    <a:gd name="T1" fmla="*/ 0 h 644"/>
                    <a:gd name="T2" fmla="*/ 68 w 650"/>
                    <a:gd name="T3" fmla="*/ 0 h 644"/>
                    <a:gd name="T4" fmla="*/ 0 w 650"/>
                    <a:gd name="T5" fmla="*/ 62 h 644"/>
                    <a:gd name="T6" fmla="*/ 0 w 650"/>
                    <a:gd name="T7" fmla="*/ 643 h 644"/>
                    <a:gd name="T8" fmla="*/ 130 w 650"/>
                    <a:gd name="T9" fmla="*/ 513 h 644"/>
                    <a:gd name="T10" fmla="*/ 587 w 650"/>
                    <a:gd name="T11" fmla="*/ 513 h 644"/>
                    <a:gd name="T12" fmla="*/ 649 w 650"/>
                    <a:gd name="T13" fmla="*/ 451 h 644"/>
                    <a:gd name="T14" fmla="*/ 649 w 650"/>
                    <a:gd name="T15" fmla="*/ 62 h 644"/>
                    <a:gd name="T16" fmla="*/ 587 w 650"/>
                    <a:gd name="T17" fmla="*/ 0 h 644"/>
                    <a:gd name="T18" fmla="*/ 229 w 650"/>
                    <a:gd name="T19" fmla="*/ 290 h 644"/>
                    <a:gd name="T20" fmla="*/ 167 w 650"/>
                    <a:gd name="T21" fmla="*/ 290 h 644"/>
                    <a:gd name="T22" fmla="*/ 167 w 650"/>
                    <a:gd name="T23" fmla="*/ 222 h 644"/>
                    <a:gd name="T24" fmla="*/ 229 w 650"/>
                    <a:gd name="T25" fmla="*/ 222 h 644"/>
                    <a:gd name="T26" fmla="*/ 229 w 650"/>
                    <a:gd name="T27" fmla="*/ 290 h 644"/>
                    <a:gd name="T28" fmla="*/ 359 w 650"/>
                    <a:gd name="T29" fmla="*/ 290 h 644"/>
                    <a:gd name="T30" fmla="*/ 297 w 650"/>
                    <a:gd name="T31" fmla="*/ 290 h 644"/>
                    <a:gd name="T32" fmla="*/ 297 w 650"/>
                    <a:gd name="T33" fmla="*/ 222 h 644"/>
                    <a:gd name="T34" fmla="*/ 359 w 650"/>
                    <a:gd name="T35" fmla="*/ 222 h 644"/>
                    <a:gd name="T36" fmla="*/ 359 w 650"/>
                    <a:gd name="T37" fmla="*/ 290 h 644"/>
                    <a:gd name="T38" fmla="*/ 488 w 650"/>
                    <a:gd name="T39" fmla="*/ 290 h 644"/>
                    <a:gd name="T40" fmla="*/ 420 w 650"/>
                    <a:gd name="T41" fmla="*/ 290 h 644"/>
                    <a:gd name="T42" fmla="*/ 420 w 650"/>
                    <a:gd name="T43" fmla="*/ 222 h 644"/>
                    <a:gd name="T44" fmla="*/ 488 w 650"/>
                    <a:gd name="T45" fmla="*/ 222 h 644"/>
                    <a:gd name="T46" fmla="*/ 488 w 650"/>
                    <a:gd name="T47" fmla="*/ 290 h 6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50" h="644">
                      <a:moveTo>
                        <a:pt x="587" y="0"/>
                      </a:moveTo>
                      <a:lnTo>
                        <a:pt x="68" y="0"/>
                      </a:lnTo>
                      <a:cubicBezTo>
                        <a:pt x="31" y="0"/>
                        <a:pt x="0" y="24"/>
                        <a:pt x="0" y="62"/>
                      </a:cubicBezTo>
                      <a:lnTo>
                        <a:pt x="0" y="643"/>
                      </a:lnTo>
                      <a:lnTo>
                        <a:pt x="130" y="513"/>
                      </a:lnTo>
                      <a:lnTo>
                        <a:pt x="587" y="513"/>
                      </a:lnTo>
                      <a:cubicBezTo>
                        <a:pt x="618" y="513"/>
                        <a:pt x="649" y="482"/>
                        <a:pt x="649" y="451"/>
                      </a:cubicBezTo>
                      <a:lnTo>
                        <a:pt x="649" y="62"/>
                      </a:lnTo>
                      <a:cubicBezTo>
                        <a:pt x="649" y="24"/>
                        <a:pt x="618" y="0"/>
                        <a:pt x="587" y="0"/>
                      </a:cubicBezTo>
                      <a:close/>
                      <a:moveTo>
                        <a:pt x="229" y="290"/>
                      </a:moveTo>
                      <a:lnTo>
                        <a:pt x="167" y="290"/>
                      </a:lnTo>
                      <a:lnTo>
                        <a:pt x="167" y="222"/>
                      </a:lnTo>
                      <a:lnTo>
                        <a:pt x="229" y="222"/>
                      </a:lnTo>
                      <a:lnTo>
                        <a:pt x="229" y="290"/>
                      </a:lnTo>
                      <a:close/>
                      <a:moveTo>
                        <a:pt x="359" y="290"/>
                      </a:moveTo>
                      <a:lnTo>
                        <a:pt x="297" y="290"/>
                      </a:lnTo>
                      <a:lnTo>
                        <a:pt x="297" y="222"/>
                      </a:lnTo>
                      <a:lnTo>
                        <a:pt x="359" y="222"/>
                      </a:lnTo>
                      <a:lnTo>
                        <a:pt x="359" y="290"/>
                      </a:lnTo>
                      <a:close/>
                      <a:moveTo>
                        <a:pt x="488" y="290"/>
                      </a:moveTo>
                      <a:lnTo>
                        <a:pt x="420" y="290"/>
                      </a:lnTo>
                      <a:lnTo>
                        <a:pt x="420" y="222"/>
                      </a:lnTo>
                      <a:lnTo>
                        <a:pt x="488" y="222"/>
                      </a:lnTo>
                      <a:lnTo>
                        <a:pt x="488" y="2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sp>
              <p:nvSpPr>
                <p:cNvPr id="322" name="텍스트 상자 31"/>
                <p:cNvSpPr txBox="1"/>
                <p:nvPr/>
              </p:nvSpPr>
              <p:spPr>
                <a:xfrm>
                  <a:off x="5240219" y="3121801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4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315" name="Group 312"/>
              <p:cNvGrpSpPr/>
              <p:nvPr/>
            </p:nvGrpSpPr>
            <p:grpSpPr>
              <a:xfrm>
                <a:off x="2594860" y="3788208"/>
                <a:ext cx="534081" cy="107722"/>
                <a:chOff x="4269857" y="3799412"/>
                <a:chExt cx="534081" cy="107722"/>
              </a:xfrm>
            </p:grpSpPr>
            <p:sp>
              <p:nvSpPr>
                <p:cNvPr id="316" name="텍스트 상자 31"/>
                <p:cNvSpPr txBox="1"/>
                <p:nvPr/>
              </p:nvSpPr>
              <p:spPr>
                <a:xfrm>
                  <a:off x="4686279" y="3799412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3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grpSp>
              <p:nvGrpSpPr>
                <p:cNvPr id="317" name="Group 50"/>
                <p:cNvGrpSpPr>
                  <a:grpSpLocks noChangeAspect="1"/>
                </p:cNvGrpSpPr>
                <p:nvPr/>
              </p:nvGrpSpPr>
              <p:grpSpPr bwMode="auto">
                <a:xfrm>
                  <a:off x="4269857" y="3808273"/>
                  <a:ext cx="89419" cy="90000"/>
                  <a:chOff x="2178" y="1307"/>
                  <a:chExt cx="154" cy="155"/>
                </a:xfrm>
                <a:solidFill>
                  <a:schemeClr val="bg1">
                    <a:lumMod val="50000"/>
                  </a:schemeClr>
                </a:solidFill>
              </p:grpSpPr>
              <p:sp>
                <p:nvSpPr>
                  <p:cNvPr id="318" name="Oval 51"/>
                  <p:cNvSpPr>
                    <a:spLocks noChangeArrowheads="1"/>
                  </p:cNvSpPr>
                  <p:nvPr/>
                </p:nvSpPr>
                <p:spPr bwMode="auto">
                  <a:xfrm>
                    <a:off x="2271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19" name="Oval 52"/>
                  <p:cNvSpPr>
                    <a:spLocks noChangeArrowheads="1"/>
                  </p:cNvSpPr>
                  <p:nvPr/>
                </p:nvSpPr>
                <p:spPr bwMode="auto">
                  <a:xfrm>
                    <a:off x="2217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20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2178" y="1307"/>
                    <a:ext cx="154" cy="155"/>
                  </a:xfrm>
                  <a:custGeom>
                    <a:avLst/>
                    <a:gdLst>
                      <a:gd name="T0" fmla="*/ 250 w 500"/>
                      <a:gd name="T1" fmla="*/ 0 h 500"/>
                      <a:gd name="T2" fmla="*/ 0 w 500"/>
                      <a:gd name="T3" fmla="*/ 250 h 500"/>
                      <a:gd name="T4" fmla="*/ 250 w 500"/>
                      <a:gd name="T5" fmla="*/ 500 h 500"/>
                      <a:gd name="T6" fmla="*/ 500 w 500"/>
                      <a:gd name="T7" fmla="*/ 250 h 500"/>
                      <a:gd name="T8" fmla="*/ 250 w 500"/>
                      <a:gd name="T9" fmla="*/ 0 h 500"/>
                      <a:gd name="T10" fmla="*/ 250 w 500"/>
                      <a:gd name="T11" fmla="*/ 450 h 500"/>
                      <a:gd name="T12" fmla="*/ 50 w 500"/>
                      <a:gd name="T13" fmla="*/ 250 h 500"/>
                      <a:gd name="T14" fmla="*/ 250 w 500"/>
                      <a:gd name="T15" fmla="*/ 50 h 500"/>
                      <a:gd name="T16" fmla="*/ 450 w 500"/>
                      <a:gd name="T17" fmla="*/ 250 h 500"/>
                      <a:gd name="T18" fmla="*/ 250 w 500"/>
                      <a:gd name="T19" fmla="*/ 450 h 500"/>
                      <a:gd name="T20" fmla="*/ 250 w 500"/>
                      <a:gd name="T21" fmla="*/ 350 h 500"/>
                      <a:gd name="T22" fmla="*/ 164 w 500"/>
                      <a:gd name="T23" fmla="*/ 300 h 500"/>
                      <a:gd name="T24" fmla="*/ 122 w 500"/>
                      <a:gd name="T25" fmla="*/ 300 h 500"/>
                      <a:gd name="T26" fmla="*/ 250 w 500"/>
                      <a:gd name="T27" fmla="*/ 388 h 500"/>
                      <a:gd name="T28" fmla="*/ 378 w 500"/>
                      <a:gd name="T29" fmla="*/ 300 h 500"/>
                      <a:gd name="T30" fmla="*/ 336 w 500"/>
                      <a:gd name="T31" fmla="*/ 300 h 500"/>
                      <a:gd name="T32" fmla="*/ 250 w 500"/>
                      <a:gd name="T33" fmla="*/ 350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00" h="500">
                        <a:moveTo>
                          <a:pt x="250" y="0"/>
                        </a:moveTo>
                        <a:cubicBezTo>
                          <a:pt x="112" y="0"/>
                          <a:pt x="0" y="112"/>
                          <a:pt x="0" y="250"/>
                        </a:cubicBezTo>
                        <a:cubicBezTo>
                          <a:pt x="0" y="388"/>
                          <a:pt x="112" y="500"/>
                          <a:pt x="250" y="500"/>
                        </a:cubicBezTo>
                        <a:cubicBezTo>
                          <a:pt x="388" y="500"/>
                          <a:pt x="500" y="388"/>
                          <a:pt x="500" y="250"/>
                        </a:cubicBezTo>
                        <a:cubicBezTo>
                          <a:pt x="500" y="112"/>
                          <a:pt x="388" y="0"/>
                          <a:pt x="250" y="0"/>
                        </a:cubicBezTo>
                        <a:close/>
                        <a:moveTo>
                          <a:pt x="250" y="450"/>
                        </a:moveTo>
                        <a:cubicBezTo>
                          <a:pt x="140" y="450"/>
                          <a:pt x="50" y="361"/>
                          <a:pt x="50" y="250"/>
                        </a:cubicBezTo>
                        <a:cubicBezTo>
                          <a:pt x="50" y="139"/>
                          <a:pt x="140" y="50"/>
                          <a:pt x="250" y="50"/>
                        </a:cubicBezTo>
                        <a:cubicBezTo>
                          <a:pt x="361" y="50"/>
                          <a:pt x="450" y="140"/>
                          <a:pt x="450" y="250"/>
                        </a:cubicBezTo>
                        <a:cubicBezTo>
                          <a:pt x="450" y="361"/>
                          <a:pt x="361" y="450"/>
                          <a:pt x="250" y="450"/>
                        </a:cubicBezTo>
                        <a:close/>
                        <a:moveTo>
                          <a:pt x="250" y="350"/>
                        </a:moveTo>
                        <a:cubicBezTo>
                          <a:pt x="213" y="350"/>
                          <a:pt x="181" y="330"/>
                          <a:pt x="164" y="300"/>
                        </a:cubicBezTo>
                        <a:lnTo>
                          <a:pt x="122" y="300"/>
                        </a:lnTo>
                        <a:cubicBezTo>
                          <a:pt x="142" y="351"/>
                          <a:pt x="192" y="388"/>
                          <a:pt x="250" y="388"/>
                        </a:cubicBezTo>
                        <a:cubicBezTo>
                          <a:pt x="308" y="388"/>
                          <a:pt x="358" y="351"/>
                          <a:pt x="378" y="300"/>
                        </a:cubicBezTo>
                        <a:lnTo>
                          <a:pt x="336" y="300"/>
                        </a:lnTo>
                        <a:cubicBezTo>
                          <a:pt x="319" y="330"/>
                          <a:pt x="287" y="350"/>
                          <a:pt x="250" y="350"/>
                        </a:cubicBezTo>
                        <a:close/>
                      </a:path>
                    </a:pathLst>
                  </a:cu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</p:grpSp>
          </p:grpSp>
        </p:grpSp>
        <p:pic>
          <p:nvPicPr>
            <p:cNvPr id="313" name="그림 312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02915" y="2841183"/>
              <a:ext cx="270094" cy="115755"/>
            </a:xfrm>
            <a:prstGeom prst="rect">
              <a:avLst/>
            </a:prstGeom>
          </p:spPr>
        </p:pic>
      </p:grpSp>
      <p:grpSp>
        <p:nvGrpSpPr>
          <p:cNvPr id="323" name="그룹 322"/>
          <p:cNvGrpSpPr/>
          <p:nvPr/>
        </p:nvGrpSpPr>
        <p:grpSpPr>
          <a:xfrm>
            <a:off x="2195181" y="5519088"/>
            <a:ext cx="796136" cy="115755"/>
            <a:chOff x="2195181" y="2841183"/>
            <a:chExt cx="796136" cy="115755"/>
          </a:xfrm>
        </p:grpSpPr>
        <p:grpSp>
          <p:nvGrpSpPr>
            <p:cNvPr id="324" name="Group 10"/>
            <p:cNvGrpSpPr/>
            <p:nvPr/>
          </p:nvGrpSpPr>
          <p:grpSpPr>
            <a:xfrm>
              <a:off x="2195181" y="2847307"/>
              <a:ext cx="796136" cy="107722"/>
              <a:chOff x="2594860" y="3788208"/>
              <a:chExt cx="796136" cy="107722"/>
            </a:xfrm>
          </p:grpSpPr>
          <p:grpSp>
            <p:nvGrpSpPr>
              <p:cNvPr id="326" name="Group 311"/>
              <p:cNvGrpSpPr/>
              <p:nvPr/>
            </p:nvGrpSpPr>
            <p:grpSpPr>
              <a:xfrm>
                <a:off x="3127159" y="3788208"/>
                <a:ext cx="263837" cy="107722"/>
                <a:chOff x="5094041" y="3121801"/>
                <a:chExt cx="263837" cy="107722"/>
              </a:xfrm>
            </p:grpSpPr>
            <p:sp>
              <p:nvSpPr>
                <p:cNvPr id="333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5094041" y="3136639"/>
                  <a:ext cx="90000" cy="89388"/>
                </a:xfrm>
                <a:custGeom>
                  <a:avLst/>
                  <a:gdLst>
                    <a:gd name="T0" fmla="*/ 587 w 650"/>
                    <a:gd name="T1" fmla="*/ 0 h 644"/>
                    <a:gd name="T2" fmla="*/ 68 w 650"/>
                    <a:gd name="T3" fmla="*/ 0 h 644"/>
                    <a:gd name="T4" fmla="*/ 0 w 650"/>
                    <a:gd name="T5" fmla="*/ 62 h 644"/>
                    <a:gd name="T6" fmla="*/ 0 w 650"/>
                    <a:gd name="T7" fmla="*/ 643 h 644"/>
                    <a:gd name="T8" fmla="*/ 130 w 650"/>
                    <a:gd name="T9" fmla="*/ 513 h 644"/>
                    <a:gd name="T10" fmla="*/ 587 w 650"/>
                    <a:gd name="T11" fmla="*/ 513 h 644"/>
                    <a:gd name="T12" fmla="*/ 649 w 650"/>
                    <a:gd name="T13" fmla="*/ 451 h 644"/>
                    <a:gd name="T14" fmla="*/ 649 w 650"/>
                    <a:gd name="T15" fmla="*/ 62 h 644"/>
                    <a:gd name="T16" fmla="*/ 587 w 650"/>
                    <a:gd name="T17" fmla="*/ 0 h 644"/>
                    <a:gd name="T18" fmla="*/ 229 w 650"/>
                    <a:gd name="T19" fmla="*/ 290 h 644"/>
                    <a:gd name="T20" fmla="*/ 167 w 650"/>
                    <a:gd name="T21" fmla="*/ 290 h 644"/>
                    <a:gd name="T22" fmla="*/ 167 w 650"/>
                    <a:gd name="T23" fmla="*/ 222 h 644"/>
                    <a:gd name="T24" fmla="*/ 229 w 650"/>
                    <a:gd name="T25" fmla="*/ 222 h 644"/>
                    <a:gd name="T26" fmla="*/ 229 w 650"/>
                    <a:gd name="T27" fmla="*/ 290 h 644"/>
                    <a:gd name="T28" fmla="*/ 359 w 650"/>
                    <a:gd name="T29" fmla="*/ 290 h 644"/>
                    <a:gd name="T30" fmla="*/ 297 w 650"/>
                    <a:gd name="T31" fmla="*/ 290 h 644"/>
                    <a:gd name="T32" fmla="*/ 297 w 650"/>
                    <a:gd name="T33" fmla="*/ 222 h 644"/>
                    <a:gd name="T34" fmla="*/ 359 w 650"/>
                    <a:gd name="T35" fmla="*/ 222 h 644"/>
                    <a:gd name="T36" fmla="*/ 359 w 650"/>
                    <a:gd name="T37" fmla="*/ 290 h 644"/>
                    <a:gd name="T38" fmla="*/ 488 w 650"/>
                    <a:gd name="T39" fmla="*/ 290 h 644"/>
                    <a:gd name="T40" fmla="*/ 420 w 650"/>
                    <a:gd name="T41" fmla="*/ 290 h 644"/>
                    <a:gd name="T42" fmla="*/ 420 w 650"/>
                    <a:gd name="T43" fmla="*/ 222 h 644"/>
                    <a:gd name="T44" fmla="*/ 488 w 650"/>
                    <a:gd name="T45" fmla="*/ 222 h 644"/>
                    <a:gd name="T46" fmla="*/ 488 w 650"/>
                    <a:gd name="T47" fmla="*/ 290 h 6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50" h="644">
                      <a:moveTo>
                        <a:pt x="587" y="0"/>
                      </a:moveTo>
                      <a:lnTo>
                        <a:pt x="68" y="0"/>
                      </a:lnTo>
                      <a:cubicBezTo>
                        <a:pt x="31" y="0"/>
                        <a:pt x="0" y="24"/>
                        <a:pt x="0" y="62"/>
                      </a:cubicBezTo>
                      <a:lnTo>
                        <a:pt x="0" y="643"/>
                      </a:lnTo>
                      <a:lnTo>
                        <a:pt x="130" y="513"/>
                      </a:lnTo>
                      <a:lnTo>
                        <a:pt x="587" y="513"/>
                      </a:lnTo>
                      <a:cubicBezTo>
                        <a:pt x="618" y="513"/>
                        <a:pt x="649" y="482"/>
                        <a:pt x="649" y="451"/>
                      </a:cubicBezTo>
                      <a:lnTo>
                        <a:pt x="649" y="62"/>
                      </a:lnTo>
                      <a:cubicBezTo>
                        <a:pt x="649" y="24"/>
                        <a:pt x="618" y="0"/>
                        <a:pt x="587" y="0"/>
                      </a:cubicBezTo>
                      <a:close/>
                      <a:moveTo>
                        <a:pt x="229" y="290"/>
                      </a:moveTo>
                      <a:lnTo>
                        <a:pt x="167" y="290"/>
                      </a:lnTo>
                      <a:lnTo>
                        <a:pt x="167" y="222"/>
                      </a:lnTo>
                      <a:lnTo>
                        <a:pt x="229" y="222"/>
                      </a:lnTo>
                      <a:lnTo>
                        <a:pt x="229" y="290"/>
                      </a:lnTo>
                      <a:close/>
                      <a:moveTo>
                        <a:pt x="359" y="290"/>
                      </a:moveTo>
                      <a:lnTo>
                        <a:pt x="297" y="290"/>
                      </a:lnTo>
                      <a:lnTo>
                        <a:pt x="297" y="222"/>
                      </a:lnTo>
                      <a:lnTo>
                        <a:pt x="359" y="222"/>
                      </a:lnTo>
                      <a:lnTo>
                        <a:pt x="359" y="290"/>
                      </a:lnTo>
                      <a:close/>
                      <a:moveTo>
                        <a:pt x="488" y="290"/>
                      </a:moveTo>
                      <a:lnTo>
                        <a:pt x="420" y="290"/>
                      </a:lnTo>
                      <a:lnTo>
                        <a:pt x="420" y="222"/>
                      </a:lnTo>
                      <a:lnTo>
                        <a:pt x="488" y="222"/>
                      </a:lnTo>
                      <a:lnTo>
                        <a:pt x="488" y="2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sp>
              <p:nvSpPr>
                <p:cNvPr id="334" name="텍스트 상자 31"/>
                <p:cNvSpPr txBox="1"/>
                <p:nvPr/>
              </p:nvSpPr>
              <p:spPr>
                <a:xfrm>
                  <a:off x="5240219" y="3121801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4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327" name="Group 312"/>
              <p:cNvGrpSpPr/>
              <p:nvPr/>
            </p:nvGrpSpPr>
            <p:grpSpPr>
              <a:xfrm>
                <a:off x="2594860" y="3788208"/>
                <a:ext cx="534081" cy="107722"/>
                <a:chOff x="4269857" y="3799412"/>
                <a:chExt cx="534081" cy="107722"/>
              </a:xfrm>
            </p:grpSpPr>
            <p:sp>
              <p:nvSpPr>
                <p:cNvPr id="328" name="텍스트 상자 31"/>
                <p:cNvSpPr txBox="1"/>
                <p:nvPr/>
              </p:nvSpPr>
              <p:spPr>
                <a:xfrm>
                  <a:off x="4686279" y="3799412"/>
                  <a:ext cx="117659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3</a:t>
                  </a:r>
                  <a:endParaRPr kumimoji="1" lang="ko-KR" altLang="en-US" sz="7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endParaRPr>
                </a:p>
              </p:txBody>
            </p:sp>
            <p:grpSp>
              <p:nvGrpSpPr>
                <p:cNvPr id="329" name="Group 50"/>
                <p:cNvGrpSpPr>
                  <a:grpSpLocks noChangeAspect="1"/>
                </p:cNvGrpSpPr>
                <p:nvPr/>
              </p:nvGrpSpPr>
              <p:grpSpPr bwMode="auto">
                <a:xfrm>
                  <a:off x="4269857" y="3808273"/>
                  <a:ext cx="89419" cy="90000"/>
                  <a:chOff x="2178" y="1307"/>
                  <a:chExt cx="154" cy="155"/>
                </a:xfrm>
                <a:solidFill>
                  <a:schemeClr val="bg1">
                    <a:lumMod val="50000"/>
                  </a:schemeClr>
                </a:solidFill>
              </p:grpSpPr>
              <p:sp>
                <p:nvSpPr>
                  <p:cNvPr id="330" name="Oval 51"/>
                  <p:cNvSpPr>
                    <a:spLocks noChangeArrowheads="1"/>
                  </p:cNvSpPr>
                  <p:nvPr/>
                </p:nvSpPr>
                <p:spPr bwMode="auto">
                  <a:xfrm>
                    <a:off x="2271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31" name="Oval 52"/>
                  <p:cNvSpPr>
                    <a:spLocks noChangeArrowheads="1"/>
                  </p:cNvSpPr>
                  <p:nvPr/>
                </p:nvSpPr>
                <p:spPr bwMode="auto">
                  <a:xfrm>
                    <a:off x="2217" y="1354"/>
                    <a:ext cx="23" cy="23"/>
                  </a:xfrm>
                  <a:prstGeom prst="ellipse">
                    <a:avLst/>
                  </a:pr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32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2178" y="1307"/>
                    <a:ext cx="154" cy="155"/>
                  </a:xfrm>
                  <a:custGeom>
                    <a:avLst/>
                    <a:gdLst>
                      <a:gd name="T0" fmla="*/ 250 w 500"/>
                      <a:gd name="T1" fmla="*/ 0 h 500"/>
                      <a:gd name="T2" fmla="*/ 0 w 500"/>
                      <a:gd name="T3" fmla="*/ 250 h 500"/>
                      <a:gd name="T4" fmla="*/ 250 w 500"/>
                      <a:gd name="T5" fmla="*/ 500 h 500"/>
                      <a:gd name="T6" fmla="*/ 500 w 500"/>
                      <a:gd name="T7" fmla="*/ 250 h 500"/>
                      <a:gd name="T8" fmla="*/ 250 w 500"/>
                      <a:gd name="T9" fmla="*/ 0 h 500"/>
                      <a:gd name="T10" fmla="*/ 250 w 500"/>
                      <a:gd name="T11" fmla="*/ 450 h 500"/>
                      <a:gd name="T12" fmla="*/ 50 w 500"/>
                      <a:gd name="T13" fmla="*/ 250 h 500"/>
                      <a:gd name="T14" fmla="*/ 250 w 500"/>
                      <a:gd name="T15" fmla="*/ 50 h 500"/>
                      <a:gd name="T16" fmla="*/ 450 w 500"/>
                      <a:gd name="T17" fmla="*/ 250 h 500"/>
                      <a:gd name="T18" fmla="*/ 250 w 500"/>
                      <a:gd name="T19" fmla="*/ 450 h 500"/>
                      <a:gd name="T20" fmla="*/ 250 w 500"/>
                      <a:gd name="T21" fmla="*/ 350 h 500"/>
                      <a:gd name="T22" fmla="*/ 164 w 500"/>
                      <a:gd name="T23" fmla="*/ 300 h 500"/>
                      <a:gd name="T24" fmla="*/ 122 w 500"/>
                      <a:gd name="T25" fmla="*/ 300 h 500"/>
                      <a:gd name="T26" fmla="*/ 250 w 500"/>
                      <a:gd name="T27" fmla="*/ 388 h 500"/>
                      <a:gd name="T28" fmla="*/ 378 w 500"/>
                      <a:gd name="T29" fmla="*/ 300 h 500"/>
                      <a:gd name="T30" fmla="*/ 336 w 500"/>
                      <a:gd name="T31" fmla="*/ 300 h 500"/>
                      <a:gd name="T32" fmla="*/ 250 w 500"/>
                      <a:gd name="T33" fmla="*/ 350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00" h="500">
                        <a:moveTo>
                          <a:pt x="250" y="0"/>
                        </a:moveTo>
                        <a:cubicBezTo>
                          <a:pt x="112" y="0"/>
                          <a:pt x="0" y="112"/>
                          <a:pt x="0" y="250"/>
                        </a:cubicBezTo>
                        <a:cubicBezTo>
                          <a:pt x="0" y="388"/>
                          <a:pt x="112" y="500"/>
                          <a:pt x="250" y="500"/>
                        </a:cubicBezTo>
                        <a:cubicBezTo>
                          <a:pt x="388" y="500"/>
                          <a:pt x="500" y="388"/>
                          <a:pt x="500" y="250"/>
                        </a:cubicBezTo>
                        <a:cubicBezTo>
                          <a:pt x="500" y="112"/>
                          <a:pt x="388" y="0"/>
                          <a:pt x="250" y="0"/>
                        </a:cubicBezTo>
                        <a:close/>
                        <a:moveTo>
                          <a:pt x="250" y="450"/>
                        </a:moveTo>
                        <a:cubicBezTo>
                          <a:pt x="140" y="450"/>
                          <a:pt x="50" y="361"/>
                          <a:pt x="50" y="250"/>
                        </a:cubicBezTo>
                        <a:cubicBezTo>
                          <a:pt x="50" y="139"/>
                          <a:pt x="140" y="50"/>
                          <a:pt x="250" y="50"/>
                        </a:cubicBezTo>
                        <a:cubicBezTo>
                          <a:pt x="361" y="50"/>
                          <a:pt x="450" y="140"/>
                          <a:pt x="450" y="250"/>
                        </a:cubicBezTo>
                        <a:cubicBezTo>
                          <a:pt x="450" y="361"/>
                          <a:pt x="361" y="450"/>
                          <a:pt x="250" y="450"/>
                        </a:cubicBezTo>
                        <a:close/>
                        <a:moveTo>
                          <a:pt x="250" y="350"/>
                        </a:moveTo>
                        <a:cubicBezTo>
                          <a:pt x="213" y="350"/>
                          <a:pt x="181" y="330"/>
                          <a:pt x="164" y="300"/>
                        </a:cubicBezTo>
                        <a:lnTo>
                          <a:pt x="122" y="300"/>
                        </a:lnTo>
                        <a:cubicBezTo>
                          <a:pt x="142" y="351"/>
                          <a:pt x="192" y="388"/>
                          <a:pt x="250" y="388"/>
                        </a:cubicBezTo>
                        <a:cubicBezTo>
                          <a:pt x="308" y="388"/>
                          <a:pt x="358" y="351"/>
                          <a:pt x="378" y="300"/>
                        </a:cubicBezTo>
                        <a:lnTo>
                          <a:pt x="336" y="300"/>
                        </a:lnTo>
                        <a:cubicBezTo>
                          <a:pt x="319" y="330"/>
                          <a:pt x="287" y="350"/>
                          <a:pt x="250" y="350"/>
                        </a:cubicBezTo>
                        <a:close/>
                      </a:path>
                    </a:pathLst>
                  </a:custGeom>
                  <a:grpFill/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>
                      <a:latin typeface="+mn-ea"/>
                      <a:ea typeface="+mn-ea"/>
                    </a:endParaRPr>
                  </a:p>
                </p:txBody>
              </p:sp>
            </p:grpSp>
          </p:grpSp>
        </p:grpSp>
        <p:pic>
          <p:nvPicPr>
            <p:cNvPr id="325" name="그림 324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02915" y="2841183"/>
              <a:ext cx="270094" cy="115755"/>
            </a:xfrm>
            <a:prstGeom prst="rect">
              <a:avLst/>
            </a:prstGeom>
          </p:spPr>
        </p:pic>
      </p:grpSp>
      <p:sp>
        <p:nvSpPr>
          <p:cNvPr id="194" name="TextBox 19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90" name="직사각형 189"/>
          <p:cNvSpPr/>
          <p:nvPr/>
        </p:nvSpPr>
        <p:spPr>
          <a:xfrm>
            <a:off x="5486400" y="847725"/>
            <a:ext cx="361950" cy="1714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5741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77069" y="1426493"/>
            <a:ext cx="27959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스퀘어 메인 </a:t>
            </a:r>
            <a:r>
              <a:rPr kumimoji="1" lang="en-US" altLang="ko-KR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HY견고딕" panose="02030600000101010101" pitchFamily="18" charset="-127"/>
                <a:ea typeface="HY견고딕" panose="02030600000101010101" pitchFamily="18" charset="-127"/>
                <a:cs typeface="+mn-cs"/>
              </a:rPr>
              <a:t>&gt;</a:t>
            </a:r>
            <a:r>
              <a:rPr kumimoji="1" lang="en-US" altLang="ko-KR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ko-KR" altLang="en-US" sz="28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멘션글</a:t>
            </a:r>
            <a:endParaRPr kumimoji="1" lang="ko-KR" altLang="en-US" sz="2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6763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err="1" smtClean="0"/>
              <a:t>멘션</a:t>
            </a:r>
            <a:r>
              <a:rPr lang="ko-KR" altLang="en-US" dirty="0" smtClean="0"/>
              <a:t> 글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 smtClean="0"/>
              <a:t>스퀘어 홈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나를 </a:t>
            </a:r>
            <a:r>
              <a:rPr lang="ko-KR" altLang="en-US" dirty="0" err="1" smtClean="0"/>
              <a:t>멘션</a:t>
            </a:r>
            <a:r>
              <a:rPr lang="ko-KR" altLang="en-US" dirty="0" smtClean="0"/>
              <a:t> 글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SQ5.1.3</a:t>
            </a:r>
            <a:endParaRPr lang="ko-KR" altLang="en-US" dirty="0"/>
          </a:p>
        </p:txBody>
      </p:sp>
      <p:cxnSp>
        <p:nvCxnSpPr>
          <p:cNvPr id="55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6" name="텍스트 상자 31"/>
          <p:cNvSpPr txBox="1"/>
          <p:nvPr/>
        </p:nvSpPr>
        <p:spPr>
          <a:xfrm>
            <a:off x="196701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err="1" smtClean="0">
                <a:latin typeface="+mn-ea"/>
                <a:ea typeface="+mn-ea"/>
              </a:rPr>
              <a:t>멘션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6" name="Rectangle 202"/>
          <p:cNvSpPr/>
          <p:nvPr/>
        </p:nvSpPr>
        <p:spPr>
          <a:xfrm>
            <a:off x="1962357" y="1451963"/>
            <a:ext cx="4889293" cy="15427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7" name="텍스트 상자 31"/>
          <p:cNvSpPr txBox="1"/>
          <p:nvPr/>
        </p:nvSpPr>
        <p:spPr>
          <a:xfrm>
            <a:off x="2420016" y="1572976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김이나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68" name="그룹 400"/>
          <p:cNvGrpSpPr/>
          <p:nvPr/>
        </p:nvGrpSpPr>
        <p:grpSpPr>
          <a:xfrm>
            <a:off x="2077224" y="1562507"/>
            <a:ext cx="229236" cy="229194"/>
            <a:chOff x="2625629" y="3735853"/>
            <a:chExt cx="276891" cy="276839"/>
          </a:xfrm>
        </p:grpSpPr>
        <p:sp>
          <p:nvSpPr>
            <p:cNvPr id="6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7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71" name="텍스트 상자 31"/>
          <p:cNvSpPr txBox="1"/>
          <p:nvPr/>
        </p:nvSpPr>
        <p:spPr>
          <a:xfrm>
            <a:off x="2420016" y="1710833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72" name="직선 연결선[R] 33"/>
          <p:cNvCxnSpPr/>
          <p:nvPr/>
        </p:nvCxnSpPr>
        <p:spPr>
          <a:xfrm>
            <a:off x="2051019" y="2745073"/>
            <a:ext cx="4694687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Freeform 26"/>
          <p:cNvSpPr>
            <a:spLocks noChangeAspect="1" noChangeArrowheads="1"/>
          </p:cNvSpPr>
          <p:nvPr/>
        </p:nvSpPr>
        <p:spPr bwMode="auto">
          <a:xfrm flipH="1">
            <a:off x="6623686" y="1577258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4" name="Freeform 25"/>
          <p:cNvSpPr>
            <a:spLocks noChangeAspect="1" noEditPoints="1"/>
          </p:cNvSpPr>
          <p:nvPr/>
        </p:nvSpPr>
        <p:spPr bwMode="auto">
          <a:xfrm>
            <a:off x="6432164" y="1572837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92" name="Group 5"/>
          <p:cNvGrpSpPr/>
          <p:nvPr/>
        </p:nvGrpSpPr>
        <p:grpSpPr>
          <a:xfrm>
            <a:off x="1962357" y="1163604"/>
            <a:ext cx="4889293" cy="288202"/>
            <a:chOff x="444761" y="1400721"/>
            <a:chExt cx="4889293" cy="288202"/>
          </a:xfrm>
        </p:grpSpPr>
        <p:sp>
          <p:nvSpPr>
            <p:cNvPr id="93" name="Rectangle 251"/>
            <p:cNvSpPr/>
            <p:nvPr/>
          </p:nvSpPr>
          <p:spPr>
            <a:xfrm>
              <a:off x="444761" y="1400721"/>
              <a:ext cx="4889293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94" name="텍스트 상자 31"/>
            <p:cNvSpPr txBox="1"/>
            <p:nvPr/>
          </p:nvSpPr>
          <p:spPr>
            <a:xfrm>
              <a:off x="562816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UX</a:t>
              </a:r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개선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95" name="Freeform 14"/>
            <p:cNvSpPr>
              <a:spLocks noChangeArrowheads="1"/>
            </p:cNvSpPr>
            <p:nvPr/>
          </p:nvSpPr>
          <p:spPr bwMode="auto">
            <a:xfrm rot="5400000">
              <a:off x="5080459" y="1517331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96" name="텍스트 상자 31"/>
          <p:cNvSpPr txBox="1"/>
          <p:nvPr/>
        </p:nvSpPr>
        <p:spPr>
          <a:xfrm>
            <a:off x="2078489" y="1857354"/>
            <a:ext cx="3198684" cy="83099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@</a:t>
            </a:r>
            <a:r>
              <a:rPr kumimoji="1"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이영미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</a:br>
            <a:endParaRPr kumimoji="1" lang="en-US" altLang="ko-KR" sz="3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</a:p>
          <a:p>
            <a:pPr>
              <a:lnSpc>
                <a:spcPct val="120000"/>
              </a:lnSpc>
            </a:pPr>
            <a:r>
              <a:rPr kumimoji="1" lang="mr-IN" altLang="ko-KR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더보기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7" name="Rectangle 202"/>
          <p:cNvSpPr/>
          <p:nvPr/>
        </p:nvSpPr>
        <p:spPr>
          <a:xfrm>
            <a:off x="1962357" y="3064962"/>
            <a:ext cx="4889293" cy="235258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98" name="텍스트 상자 31"/>
          <p:cNvSpPr txBox="1"/>
          <p:nvPr/>
        </p:nvSpPr>
        <p:spPr>
          <a:xfrm>
            <a:off x="2420016" y="318597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노미영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9" name="그룹 400"/>
          <p:cNvGrpSpPr/>
          <p:nvPr/>
        </p:nvGrpSpPr>
        <p:grpSpPr>
          <a:xfrm>
            <a:off x="2077224" y="3175506"/>
            <a:ext cx="229236" cy="229194"/>
            <a:chOff x="2625629" y="3735853"/>
            <a:chExt cx="276891" cy="276839"/>
          </a:xfrm>
        </p:grpSpPr>
        <p:sp>
          <p:nvSpPr>
            <p:cNvPr id="100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01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02" name="텍스트 상자 31"/>
          <p:cNvSpPr txBox="1"/>
          <p:nvPr/>
        </p:nvSpPr>
        <p:spPr>
          <a:xfrm>
            <a:off x="2420016" y="332383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03" name="직선 연결선[R] 33"/>
          <p:cNvCxnSpPr/>
          <p:nvPr/>
        </p:nvCxnSpPr>
        <p:spPr>
          <a:xfrm>
            <a:off x="2051019" y="5216660"/>
            <a:ext cx="4694687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Freeform 26"/>
          <p:cNvSpPr>
            <a:spLocks noChangeAspect="1" noChangeArrowheads="1"/>
          </p:cNvSpPr>
          <p:nvPr/>
        </p:nvSpPr>
        <p:spPr bwMode="auto">
          <a:xfrm flipH="1">
            <a:off x="6623686" y="3190257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15" name="Freeform 25"/>
          <p:cNvSpPr>
            <a:spLocks noChangeAspect="1" noEditPoints="1"/>
          </p:cNvSpPr>
          <p:nvPr/>
        </p:nvSpPr>
        <p:spPr bwMode="auto">
          <a:xfrm>
            <a:off x="6432164" y="3185836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17" name="텍스트 상자 31"/>
          <p:cNvSpPr txBox="1"/>
          <p:nvPr/>
        </p:nvSpPr>
        <p:spPr>
          <a:xfrm>
            <a:off x="2078489" y="3470353"/>
            <a:ext cx="3198684" cy="83099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@</a:t>
            </a:r>
            <a:r>
              <a:rPr kumimoji="1"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이영미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</a:br>
            <a:endParaRPr kumimoji="1" lang="en-US" altLang="ko-KR" sz="3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</a:p>
          <a:p>
            <a:pPr>
              <a:lnSpc>
                <a:spcPct val="120000"/>
              </a:lnSpc>
            </a:pPr>
            <a:r>
              <a:rPr kumimoji="1" lang="mr-IN" altLang="ko-KR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더보기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8" name="Rectangle 354"/>
          <p:cNvSpPr/>
          <p:nvPr/>
        </p:nvSpPr>
        <p:spPr>
          <a:xfrm>
            <a:off x="4221312" y="4381011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grpSp>
        <p:nvGrpSpPr>
          <p:cNvPr id="119" name="그룹 118"/>
          <p:cNvGrpSpPr/>
          <p:nvPr/>
        </p:nvGrpSpPr>
        <p:grpSpPr>
          <a:xfrm>
            <a:off x="6390604" y="4381011"/>
            <a:ext cx="238503" cy="694220"/>
            <a:chOff x="5090982" y="5625623"/>
            <a:chExt cx="238503" cy="694220"/>
          </a:xfrm>
        </p:grpSpPr>
        <p:sp>
          <p:nvSpPr>
            <p:cNvPr id="120" name="Rectangle 355"/>
            <p:cNvSpPr/>
            <p:nvPr/>
          </p:nvSpPr>
          <p:spPr>
            <a:xfrm>
              <a:off x="5090982" y="5625623"/>
              <a:ext cx="238503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>
                <a:latin typeface="+mn-ea"/>
              </a:endParaRPr>
            </a:p>
          </p:txBody>
        </p:sp>
        <p:sp>
          <p:nvSpPr>
            <p:cNvPr id="121" name="Freeform 14"/>
            <p:cNvSpPr>
              <a:spLocks noChangeArrowheads="1"/>
            </p:cNvSpPr>
            <p:nvPr/>
          </p:nvSpPr>
          <p:spPr bwMode="auto">
            <a:xfrm rot="5400000">
              <a:off x="5147763" y="5926693"/>
              <a:ext cx="150676" cy="92080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122" name="Rectangle 354"/>
          <p:cNvSpPr/>
          <p:nvPr/>
        </p:nvSpPr>
        <p:spPr>
          <a:xfrm>
            <a:off x="2052210" y="4381011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sp>
        <p:nvSpPr>
          <p:cNvPr id="123" name="Rectangle 354"/>
          <p:cNvSpPr/>
          <p:nvPr/>
        </p:nvSpPr>
        <p:spPr>
          <a:xfrm>
            <a:off x="3135474" y="4381011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sp>
        <p:nvSpPr>
          <p:cNvPr id="124" name="Rectangle 354"/>
          <p:cNvSpPr/>
          <p:nvPr/>
        </p:nvSpPr>
        <p:spPr>
          <a:xfrm>
            <a:off x="5313398" y="4381011"/>
            <a:ext cx="1029097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smtClean="0">
                <a:latin typeface="+mn-ea"/>
              </a:rPr>
              <a:t>file</a:t>
            </a:r>
            <a:endParaRPr lang="en-US" sz="1000" dirty="0">
              <a:latin typeface="+mn-ea"/>
            </a:endParaRPr>
          </a:p>
        </p:txBody>
      </p:sp>
      <p:sp>
        <p:nvSpPr>
          <p:cNvPr id="125" name="Rectangle 279"/>
          <p:cNvSpPr/>
          <p:nvPr/>
        </p:nvSpPr>
        <p:spPr>
          <a:xfrm>
            <a:off x="1963754" y="5779117"/>
            <a:ext cx="4896000" cy="10309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26" name="텍스트 상자 31"/>
          <p:cNvSpPr txBox="1"/>
          <p:nvPr/>
        </p:nvSpPr>
        <p:spPr>
          <a:xfrm>
            <a:off x="2421414" y="590013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27" name="그룹 400"/>
          <p:cNvGrpSpPr/>
          <p:nvPr/>
        </p:nvGrpSpPr>
        <p:grpSpPr>
          <a:xfrm>
            <a:off x="2078622" y="5889661"/>
            <a:ext cx="229236" cy="229194"/>
            <a:chOff x="2625629" y="3735853"/>
            <a:chExt cx="276891" cy="276839"/>
          </a:xfrm>
        </p:grpSpPr>
        <p:sp>
          <p:nvSpPr>
            <p:cNvPr id="128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29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30" name="텍스트 상자 31"/>
          <p:cNvSpPr txBox="1"/>
          <p:nvPr/>
        </p:nvSpPr>
        <p:spPr>
          <a:xfrm>
            <a:off x="2421414" y="6037987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6" name="텍스트 상자 31"/>
          <p:cNvSpPr txBox="1"/>
          <p:nvPr/>
        </p:nvSpPr>
        <p:spPr>
          <a:xfrm>
            <a:off x="2078622" y="6397485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서비스 </a:t>
            </a: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팀 중간회식</a:t>
            </a:r>
            <a:r>
              <a: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일정을 등록했습니다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0" name="Freeform 26"/>
          <p:cNvSpPr>
            <a:spLocks noChangeAspect="1" noChangeArrowheads="1"/>
          </p:cNvSpPr>
          <p:nvPr/>
        </p:nvSpPr>
        <p:spPr bwMode="auto">
          <a:xfrm flipH="1">
            <a:off x="6726683" y="5904412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52" name="Freeform 25"/>
          <p:cNvSpPr>
            <a:spLocks noChangeAspect="1" noEditPoints="1"/>
          </p:cNvSpPr>
          <p:nvPr/>
        </p:nvSpPr>
        <p:spPr bwMode="auto">
          <a:xfrm>
            <a:off x="6535161" y="5899991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153" name="Group 5"/>
          <p:cNvGrpSpPr/>
          <p:nvPr/>
        </p:nvGrpSpPr>
        <p:grpSpPr>
          <a:xfrm>
            <a:off x="1963754" y="5503442"/>
            <a:ext cx="4889293" cy="288202"/>
            <a:chOff x="444761" y="1400721"/>
            <a:chExt cx="4889293" cy="288202"/>
          </a:xfrm>
        </p:grpSpPr>
        <p:sp>
          <p:nvSpPr>
            <p:cNvPr id="154" name="Rectangle 251"/>
            <p:cNvSpPr/>
            <p:nvPr/>
          </p:nvSpPr>
          <p:spPr>
            <a:xfrm>
              <a:off x="444761" y="1400721"/>
              <a:ext cx="4889293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55" name="텍스트 상자 31"/>
            <p:cNvSpPr txBox="1"/>
            <p:nvPr/>
          </p:nvSpPr>
          <p:spPr>
            <a:xfrm>
              <a:off x="562816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A </a:t>
              </a:r>
              <a:r>
                <a:rPr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서비스 개선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6" name="Freeform 14"/>
            <p:cNvSpPr>
              <a:spLocks noChangeArrowheads="1"/>
            </p:cNvSpPr>
            <p:nvPr/>
          </p:nvSpPr>
          <p:spPr bwMode="auto">
            <a:xfrm rot="5400000">
              <a:off x="5080459" y="1517331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157" name="TextBox 156"/>
          <p:cNvSpPr txBox="1"/>
          <p:nvPr/>
        </p:nvSpPr>
        <p:spPr>
          <a:xfrm>
            <a:off x="2052416" y="6175383"/>
            <a:ext cx="430173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@</a:t>
            </a:r>
            <a:r>
              <a:rPr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이영미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158" name="그림 157"/>
          <p:cNvPicPr>
            <a:picLocks noChangeAspect="1"/>
          </p:cNvPicPr>
          <p:nvPr/>
        </p:nvPicPr>
        <p:blipFill rotWithShape="1">
          <a:blip r:embed="rId3"/>
          <a:srcRect b="49525"/>
          <a:stretch/>
        </p:blipFill>
        <p:spPr>
          <a:xfrm>
            <a:off x="2033090" y="6550717"/>
            <a:ext cx="4712616" cy="236945"/>
          </a:xfrm>
          <a:prstGeom prst="rect">
            <a:avLst/>
          </a:prstGeom>
        </p:spPr>
      </p:pic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" name="Group 660"/>
          <p:cNvGrpSpPr/>
          <p:nvPr/>
        </p:nvGrpSpPr>
        <p:grpSpPr>
          <a:xfrm>
            <a:off x="442136" y="6342556"/>
            <a:ext cx="1404000" cy="246628"/>
            <a:chOff x="785281" y="6952264"/>
            <a:chExt cx="1404000" cy="246628"/>
          </a:xfrm>
        </p:grpSpPr>
        <p:sp>
          <p:nvSpPr>
            <p:cNvPr id="49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0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1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[R] 33"/>
          <p:cNvCxnSpPr/>
          <p:nvPr/>
        </p:nvCxnSpPr>
        <p:spPr>
          <a:xfrm>
            <a:off x="441599" y="5616087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텍스트 상자 31"/>
          <p:cNvSpPr txBox="1"/>
          <p:nvPr/>
        </p:nvSpPr>
        <p:spPr>
          <a:xfrm>
            <a:off x="616688" y="541754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21666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1564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08570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18100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32560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텍스트 상자 31"/>
          <p:cNvSpPr txBox="1"/>
          <p:nvPr/>
        </p:nvSpPr>
        <p:spPr>
          <a:xfrm>
            <a:off x="724338" y="2745073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" name="텍스트 상자 31"/>
          <p:cNvSpPr txBox="1"/>
          <p:nvPr/>
        </p:nvSpPr>
        <p:spPr>
          <a:xfrm>
            <a:off x="723297" y="240647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2573046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10866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1600562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</a:t>
            </a:r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 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735244" y="346430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63087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25721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28821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29946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292394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01924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16384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7" name="Group 404"/>
          <p:cNvGrpSpPr/>
          <p:nvPr/>
        </p:nvGrpSpPr>
        <p:grpSpPr>
          <a:xfrm>
            <a:off x="1536238" y="2955281"/>
            <a:ext cx="221965" cy="169277"/>
            <a:chOff x="1879383" y="5177290"/>
            <a:chExt cx="221965" cy="169277"/>
          </a:xfrm>
        </p:grpSpPr>
        <p:sp>
          <p:nvSpPr>
            <p:cNvPr id="47" name="TextBox 46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" name="텍스트 상자 31"/>
          <p:cNvSpPr txBox="1"/>
          <p:nvPr/>
        </p:nvSpPr>
        <p:spPr>
          <a:xfrm>
            <a:off x="735244" y="401690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18347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380981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384081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35061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74486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91143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453777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456877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graphicFrame>
        <p:nvGraphicFramePr>
          <p:cNvPr id="162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840742"/>
              </p:ext>
            </p:extLst>
          </p:nvPr>
        </p:nvGraphicFramePr>
        <p:xfrm>
          <a:off x="9290533" y="786383"/>
          <a:ext cx="2835467" cy="814664"/>
        </p:xfrm>
        <a:graphic>
          <a:graphicData uri="http://schemas.openxmlformats.org/drawingml/2006/table">
            <a:tbl>
              <a:tblPr/>
              <a:tblGrid>
                <a:gridCol w="28354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84138" marR="0" lvl="0" indent="-73025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나를 멘션한 글만 조회하는 화면</a:t>
                      </a:r>
                      <a:endParaRPr lang="en-US" altLang="ko-KR" sz="8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84138" marR="0" lvl="0" indent="-73025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내가 가입된 그룹 기준 조회</a:t>
                      </a:r>
                      <a:endParaRPr lang="en-US" altLang="ko-KR" sz="8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84138" marR="0" lvl="0" indent="-73025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 알림 </a:t>
                      </a:r>
                      <a:r>
                        <a:rPr lang="en-US" altLang="ko-KR" sz="8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OFF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가 된 그룹이라도 출력</a:t>
                      </a:r>
                      <a:endParaRPr lang="en-US" altLang="ko-KR" sz="8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grpSp>
        <p:nvGrpSpPr>
          <p:cNvPr id="133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134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135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7832684" y="6179792"/>
            <a:ext cx="396000" cy="396000"/>
            <a:chOff x="10903135" y="6381622"/>
            <a:chExt cx="396000" cy="396000"/>
          </a:xfrm>
        </p:grpSpPr>
        <p:sp>
          <p:nvSpPr>
            <p:cNvPr id="138" name="Oval 4"/>
            <p:cNvSpPr>
              <a:spLocks noChangeAspect="1"/>
            </p:cNvSpPr>
            <p:nvPr/>
          </p:nvSpPr>
          <p:spPr>
            <a:xfrm>
              <a:off x="10903135" y="6381622"/>
              <a:ext cx="396000" cy="396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0" tIns="108000" rIns="0" bIns="0" rtlCol="0" anchor="ctr"/>
            <a:lstStyle/>
            <a:p>
              <a:pPr marL="0" marR="0" lvl="0" indent="0" algn="ctr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</a:rPr>
                <a:t>TOP</a:t>
              </a:r>
            </a:p>
          </p:txBody>
        </p:sp>
        <p:sp>
          <p:nvSpPr>
            <p:cNvPr id="139" name="Freeform 24"/>
            <p:cNvSpPr>
              <a:spLocks noChangeAspect="1" noChangeArrowheads="1"/>
            </p:cNvSpPr>
            <p:nvPr/>
          </p:nvSpPr>
          <p:spPr bwMode="auto">
            <a:xfrm>
              <a:off x="11045288" y="6464107"/>
              <a:ext cx="111694" cy="69607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141" name="텍스트 상자 31"/>
          <p:cNvSpPr txBox="1"/>
          <p:nvPr/>
        </p:nvSpPr>
        <p:spPr>
          <a:xfrm>
            <a:off x="8296385" y="6332039"/>
            <a:ext cx="921227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88900" indent="-88900" defTabSz="576818" fontAlgn="auto" latinLnBrk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페이지 상단으로 </a:t>
            </a:r>
            <a: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/>
            </a:r>
            <a:b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</a:b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가기 버튼</a:t>
            </a:r>
            <a:endParaRPr lang="ko-KR" altLang="en-US" sz="75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185" name="그룹 184"/>
          <p:cNvGrpSpPr/>
          <p:nvPr/>
        </p:nvGrpSpPr>
        <p:grpSpPr>
          <a:xfrm>
            <a:off x="2063871" y="2809647"/>
            <a:ext cx="927446" cy="115755"/>
            <a:chOff x="2063871" y="2807721"/>
            <a:chExt cx="927446" cy="115755"/>
          </a:xfrm>
        </p:grpSpPr>
        <p:grpSp>
          <p:nvGrpSpPr>
            <p:cNvPr id="186" name="그룹 185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188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90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97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98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91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92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93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94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95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96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89" name="그림 188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87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9" name="그룹 198"/>
          <p:cNvGrpSpPr/>
          <p:nvPr/>
        </p:nvGrpSpPr>
        <p:grpSpPr>
          <a:xfrm>
            <a:off x="2063871" y="5254939"/>
            <a:ext cx="927446" cy="115755"/>
            <a:chOff x="2063871" y="2807721"/>
            <a:chExt cx="927446" cy="115755"/>
          </a:xfrm>
        </p:grpSpPr>
        <p:grpSp>
          <p:nvGrpSpPr>
            <p:cNvPr id="200" name="그룹 199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202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04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11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12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05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06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07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08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09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10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03" name="그림 202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01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42" name="TextBox 141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482252" y="1812115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1701164" y="1848815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482252" y="5158652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482252" y="5359068"/>
            <a:ext cx="13201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endParaRPr lang="ko-KR" altLang="en-US" sz="800" dirty="0" smtClean="0">
              <a:solidFill>
                <a:schemeClr val="tx1">
                  <a:lumMod val="50000"/>
                  <a:lumOff val="50000"/>
                </a:schemeClr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295140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77069" y="1426493"/>
            <a:ext cx="277672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스퀘어 메인 </a:t>
            </a:r>
            <a:r>
              <a:rPr kumimoji="1" lang="en-US" altLang="ko-KR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HY견고딕" panose="02030600000101010101" pitchFamily="18" charset="-127"/>
                <a:ea typeface="HY견고딕" panose="02030600000101010101" pitchFamily="18" charset="-127"/>
                <a:cs typeface="+mn-cs"/>
              </a:rPr>
              <a:t>&gt;</a:t>
            </a:r>
            <a:r>
              <a:rPr kumimoji="1" lang="en-US" altLang="ko-KR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28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VIP </a:t>
            </a:r>
            <a:r>
              <a:rPr kumimoji="1" lang="ko-KR" altLang="en-US" sz="28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글</a:t>
            </a:r>
            <a:endParaRPr kumimoji="1" lang="ko-KR" altLang="en-US" sz="2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78695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7650" y="171450"/>
            <a:ext cx="427096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 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지정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등록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)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가이드 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: LNB/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컨텐츠내 사용자 정보 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38608" y="906599"/>
            <a:ext cx="1463244" cy="1903276"/>
            <a:chOff x="429108" y="677999"/>
            <a:chExt cx="1463244" cy="1903276"/>
          </a:xfrm>
        </p:grpSpPr>
        <p:sp>
          <p:nvSpPr>
            <p:cNvPr id="30" name="직사각형 98"/>
            <p:cNvSpPr/>
            <p:nvPr/>
          </p:nvSpPr>
          <p:spPr>
            <a:xfrm>
              <a:off x="429108" y="677999"/>
              <a:ext cx="1422685" cy="19032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1" name="Rectangle 14"/>
            <p:cNvSpPr>
              <a:spLocks/>
            </p:cNvSpPr>
            <p:nvPr/>
          </p:nvSpPr>
          <p:spPr bwMode="auto">
            <a:xfrm>
              <a:off x="540257" y="801061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32" name="Rectangle 647"/>
            <p:cNvSpPr/>
            <p:nvPr/>
          </p:nvSpPr>
          <p:spPr>
            <a:xfrm>
              <a:off x="728031" y="809474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7" name="텍스트 상자 31"/>
            <p:cNvSpPr txBox="1"/>
            <p:nvPr/>
          </p:nvSpPr>
          <p:spPr>
            <a:xfrm>
              <a:off x="622748" y="120208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" name="텍스트 상자 31"/>
            <p:cNvSpPr txBox="1"/>
            <p:nvPr/>
          </p:nvSpPr>
          <p:spPr>
            <a:xfrm>
              <a:off x="622748" y="1426016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</a:t>
              </a:r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글 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9" name="텍스트 상자 31"/>
            <p:cNvSpPr txBox="1"/>
            <p:nvPr/>
          </p:nvSpPr>
          <p:spPr>
            <a:xfrm>
              <a:off x="622748" y="164995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622748" y="1873888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9" name="Add"/>
            <p:cNvSpPr>
              <a:spLocks noChangeAspect="1"/>
            </p:cNvSpPr>
            <p:nvPr/>
          </p:nvSpPr>
          <p:spPr bwMode="auto">
            <a:xfrm>
              <a:off x="1540963" y="1888385"/>
              <a:ext cx="71563" cy="71563"/>
            </a:xfrm>
            <a:custGeom>
              <a:avLst/>
              <a:gdLst>
                <a:gd name="T0" fmla="*/ 29 w 66"/>
                <a:gd name="T1" fmla="*/ 0 h 66"/>
                <a:gd name="T2" fmla="*/ 29 w 66"/>
                <a:gd name="T3" fmla="*/ 29 h 66"/>
                <a:gd name="T4" fmla="*/ 0 w 66"/>
                <a:gd name="T5" fmla="*/ 29 h 66"/>
                <a:gd name="T6" fmla="*/ 0 w 66"/>
                <a:gd name="T7" fmla="*/ 37 h 66"/>
                <a:gd name="T8" fmla="*/ 29 w 66"/>
                <a:gd name="T9" fmla="*/ 37 h 66"/>
                <a:gd name="T10" fmla="*/ 29 w 66"/>
                <a:gd name="T11" fmla="*/ 66 h 66"/>
                <a:gd name="T12" fmla="*/ 37 w 66"/>
                <a:gd name="T13" fmla="*/ 66 h 66"/>
                <a:gd name="T14" fmla="*/ 37 w 66"/>
                <a:gd name="T15" fmla="*/ 37 h 66"/>
                <a:gd name="T16" fmla="*/ 66 w 66"/>
                <a:gd name="T17" fmla="*/ 37 h 66"/>
                <a:gd name="T18" fmla="*/ 66 w 66"/>
                <a:gd name="T19" fmla="*/ 29 h 66"/>
                <a:gd name="T20" fmla="*/ 37 w 66"/>
                <a:gd name="T21" fmla="*/ 29 h 66"/>
                <a:gd name="T22" fmla="*/ 37 w 66"/>
                <a:gd name="T23" fmla="*/ 0 h 66"/>
                <a:gd name="T24" fmla="*/ 29 w 66"/>
                <a:gd name="T2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66">
                  <a:moveTo>
                    <a:pt x="29" y="0"/>
                  </a:moveTo>
                  <a:lnTo>
                    <a:pt x="29" y="29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29" y="37"/>
                  </a:lnTo>
                  <a:lnTo>
                    <a:pt x="29" y="66"/>
                  </a:lnTo>
                  <a:lnTo>
                    <a:pt x="37" y="66"/>
                  </a:lnTo>
                  <a:lnTo>
                    <a:pt x="37" y="37"/>
                  </a:lnTo>
                  <a:lnTo>
                    <a:pt x="66" y="37"/>
                  </a:lnTo>
                  <a:lnTo>
                    <a:pt x="66" y="29"/>
                  </a:lnTo>
                  <a:lnTo>
                    <a:pt x="37" y="29"/>
                  </a:lnTo>
                  <a:lnTo>
                    <a:pt x="37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TextBox 4"/>
            <p:cNvSpPr txBox="1"/>
            <p:nvPr/>
          </p:nvSpPr>
          <p:spPr>
            <a:xfrm>
              <a:off x="481780" y="1848803"/>
              <a:ext cx="117587" cy="165036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6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&gt;</a:t>
              </a:r>
              <a:endPara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endParaRPr>
            </a:p>
          </p:txBody>
        </p:sp>
      </p:grpSp>
      <p:grpSp>
        <p:nvGrpSpPr>
          <p:cNvPr id="156" name="그룹 155"/>
          <p:cNvGrpSpPr/>
          <p:nvPr/>
        </p:nvGrpSpPr>
        <p:grpSpPr>
          <a:xfrm>
            <a:off x="5763563" y="906599"/>
            <a:ext cx="1463244" cy="1903276"/>
            <a:chOff x="429108" y="677999"/>
            <a:chExt cx="1463244" cy="1903276"/>
          </a:xfrm>
        </p:grpSpPr>
        <p:sp>
          <p:nvSpPr>
            <p:cNvPr id="157" name="직사각형 98"/>
            <p:cNvSpPr/>
            <p:nvPr/>
          </p:nvSpPr>
          <p:spPr>
            <a:xfrm>
              <a:off x="429108" y="677999"/>
              <a:ext cx="1422685" cy="19032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58" name="Rectangle 14"/>
            <p:cNvSpPr>
              <a:spLocks/>
            </p:cNvSpPr>
            <p:nvPr/>
          </p:nvSpPr>
          <p:spPr bwMode="auto">
            <a:xfrm>
              <a:off x="540257" y="801061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59" name="Rectangle 647"/>
            <p:cNvSpPr/>
            <p:nvPr/>
          </p:nvSpPr>
          <p:spPr>
            <a:xfrm>
              <a:off x="728031" y="809474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60" name="텍스트 상자 31"/>
            <p:cNvSpPr txBox="1"/>
            <p:nvPr/>
          </p:nvSpPr>
          <p:spPr>
            <a:xfrm>
              <a:off x="622748" y="120208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61" name="텍스트 상자 31"/>
            <p:cNvSpPr txBox="1"/>
            <p:nvPr/>
          </p:nvSpPr>
          <p:spPr>
            <a:xfrm>
              <a:off x="622748" y="1426016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</a:t>
              </a:r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글 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62" name="텍스트 상자 31"/>
            <p:cNvSpPr txBox="1"/>
            <p:nvPr/>
          </p:nvSpPr>
          <p:spPr>
            <a:xfrm>
              <a:off x="622748" y="164995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63" name="텍스트 상자 31"/>
            <p:cNvSpPr txBox="1"/>
            <p:nvPr/>
          </p:nvSpPr>
          <p:spPr>
            <a:xfrm>
              <a:off x="622748" y="1873888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 </a:t>
              </a:r>
              <a:r>
                <a:rPr kumimoji="1" lang="en-US" altLang="ko-KR" sz="700" b="1" smtClean="0">
                  <a:solidFill>
                    <a:srgbClr val="FF0000"/>
                  </a:solidFill>
                  <a:latin typeface="+mn-ea"/>
                  <a:ea typeface="+mn-ea"/>
                </a:rPr>
                <a:t>2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65" name="Add"/>
            <p:cNvSpPr>
              <a:spLocks noChangeAspect="1"/>
            </p:cNvSpPr>
            <p:nvPr/>
          </p:nvSpPr>
          <p:spPr bwMode="auto">
            <a:xfrm>
              <a:off x="1540963" y="1888385"/>
              <a:ext cx="71563" cy="71563"/>
            </a:xfrm>
            <a:custGeom>
              <a:avLst/>
              <a:gdLst>
                <a:gd name="T0" fmla="*/ 29 w 66"/>
                <a:gd name="T1" fmla="*/ 0 h 66"/>
                <a:gd name="T2" fmla="*/ 29 w 66"/>
                <a:gd name="T3" fmla="*/ 29 h 66"/>
                <a:gd name="T4" fmla="*/ 0 w 66"/>
                <a:gd name="T5" fmla="*/ 29 h 66"/>
                <a:gd name="T6" fmla="*/ 0 w 66"/>
                <a:gd name="T7" fmla="*/ 37 h 66"/>
                <a:gd name="T8" fmla="*/ 29 w 66"/>
                <a:gd name="T9" fmla="*/ 37 h 66"/>
                <a:gd name="T10" fmla="*/ 29 w 66"/>
                <a:gd name="T11" fmla="*/ 66 h 66"/>
                <a:gd name="T12" fmla="*/ 37 w 66"/>
                <a:gd name="T13" fmla="*/ 66 h 66"/>
                <a:gd name="T14" fmla="*/ 37 w 66"/>
                <a:gd name="T15" fmla="*/ 37 h 66"/>
                <a:gd name="T16" fmla="*/ 66 w 66"/>
                <a:gd name="T17" fmla="*/ 37 h 66"/>
                <a:gd name="T18" fmla="*/ 66 w 66"/>
                <a:gd name="T19" fmla="*/ 29 h 66"/>
                <a:gd name="T20" fmla="*/ 37 w 66"/>
                <a:gd name="T21" fmla="*/ 29 h 66"/>
                <a:gd name="T22" fmla="*/ 37 w 66"/>
                <a:gd name="T23" fmla="*/ 0 h 66"/>
                <a:gd name="T24" fmla="*/ 29 w 66"/>
                <a:gd name="T2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66">
                  <a:moveTo>
                    <a:pt x="29" y="0"/>
                  </a:moveTo>
                  <a:lnTo>
                    <a:pt x="29" y="29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29" y="37"/>
                  </a:lnTo>
                  <a:lnTo>
                    <a:pt x="29" y="66"/>
                  </a:lnTo>
                  <a:lnTo>
                    <a:pt x="37" y="66"/>
                  </a:lnTo>
                  <a:lnTo>
                    <a:pt x="37" y="37"/>
                  </a:lnTo>
                  <a:lnTo>
                    <a:pt x="66" y="37"/>
                  </a:lnTo>
                  <a:lnTo>
                    <a:pt x="66" y="29"/>
                  </a:lnTo>
                  <a:lnTo>
                    <a:pt x="37" y="29"/>
                  </a:lnTo>
                  <a:lnTo>
                    <a:pt x="37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TextBox 165"/>
            <p:cNvSpPr txBox="1"/>
            <p:nvPr/>
          </p:nvSpPr>
          <p:spPr>
            <a:xfrm rot="16200000">
              <a:off x="481780" y="1848803"/>
              <a:ext cx="117587" cy="165036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6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&gt;</a:t>
              </a:r>
              <a:endPara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endParaRPr>
            </a:p>
          </p:txBody>
        </p:sp>
      </p:grpSp>
      <p:grpSp>
        <p:nvGrpSpPr>
          <p:cNvPr id="10" name="그룹 9"/>
          <p:cNvGrpSpPr/>
          <p:nvPr/>
        </p:nvGrpSpPr>
        <p:grpSpPr>
          <a:xfrm>
            <a:off x="5914007" y="2336131"/>
            <a:ext cx="1129054" cy="162000"/>
            <a:chOff x="6485052" y="3421981"/>
            <a:chExt cx="1129054" cy="162000"/>
          </a:xfrm>
        </p:grpSpPr>
        <p:sp>
          <p:nvSpPr>
            <p:cNvPr id="167" name="텍스트 상자 31"/>
            <p:cNvSpPr txBox="1"/>
            <p:nvPr/>
          </p:nvSpPr>
          <p:spPr>
            <a:xfrm>
              <a:off x="6685263" y="344360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김민수 대리 </a:t>
              </a:r>
              <a:r>
                <a:rPr kumimoji="1"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2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68" name="Oval 121"/>
            <p:cNvSpPr>
              <a:spLocks noChangeAspect="1"/>
            </p:cNvSpPr>
            <p:nvPr/>
          </p:nvSpPr>
          <p:spPr bwMode="auto">
            <a:xfrm>
              <a:off x="6485052" y="3421981"/>
              <a:ext cx="162029" cy="162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69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3621" y="3450545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sp>
          <p:nvSpPr>
            <p:cNvPr id="170" name="Delete"/>
            <p:cNvSpPr>
              <a:spLocks noChangeAspect="1"/>
            </p:cNvSpPr>
            <p:nvPr/>
          </p:nvSpPr>
          <p:spPr bwMode="auto">
            <a:xfrm>
              <a:off x="7551379" y="3469740"/>
              <a:ext cx="62727" cy="62727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3"/>
          <a:srcRect r="39431"/>
          <a:stretch/>
        </p:blipFill>
        <p:spPr>
          <a:xfrm>
            <a:off x="1724913" y="882095"/>
            <a:ext cx="3031645" cy="2969009"/>
          </a:xfrm>
          <a:prstGeom prst="rect">
            <a:avLst/>
          </a:prstGeom>
        </p:spPr>
      </p:pic>
      <p:pic>
        <p:nvPicPr>
          <p:cNvPr id="235" name="그림 234"/>
          <p:cNvPicPr>
            <a:picLocks noChangeAspect="1"/>
          </p:cNvPicPr>
          <p:nvPr/>
        </p:nvPicPr>
        <p:blipFill rotWithShape="1">
          <a:blip r:embed="rId3"/>
          <a:srcRect r="39431"/>
          <a:stretch/>
        </p:blipFill>
        <p:spPr>
          <a:xfrm>
            <a:off x="7392082" y="882095"/>
            <a:ext cx="3031645" cy="2969009"/>
          </a:xfrm>
          <a:prstGeom prst="rect">
            <a:avLst/>
          </a:prstGeom>
        </p:spPr>
      </p:pic>
      <p:sp>
        <p:nvSpPr>
          <p:cNvPr id="17" name="직사각형 16"/>
          <p:cNvSpPr/>
          <p:nvPr/>
        </p:nvSpPr>
        <p:spPr>
          <a:xfrm>
            <a:off x="7877175" y="1952625"/>
            <a:ext cx="1276350" cy="2095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" name="그룹 18"/>
          <p:cNvGrpSpPr/>
          <p:nvPr/>
        </p:nvGrpSpPr>
        <p:grpSpPr>
          <a:xfrm>
            <a:off x="7937533" y="1990725"/>
            <a:ext cx="1140366" cy="195814"/>
            <a:chOff x="3870358" y="4695825"/>
            <a:chExt cx="1140366" cy="195814"/>
          </a:xfrm>
        </p:grpSpPr>
        <p:sp>
          <p:nvSpPr>
            <p:cNvPr id="18" name="TextBox 17"/>
            <p:cNvSpPr txBox="1"/>
            <p:nvPr/>
          </p:nvSpPr>
          <p:spPr>
            <a:xfrm>
              <a:off x="4078811" y="4695825"/>
              <a:ext cx="93191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ㅣ </a:t>
              </a:r>
              <a:r>
                <a:rPr lang="en-US" altLang="ko-KR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UX/UI</a:t>
              </a:r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팀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38" name="Rounded Rectangle 699"/>
            <p:cNvSpPr/>
            <p:nvPr/>
          </p:nvSpPr>
          <p:spPr>
            <a:xfrm>
              <a:off x="3870358" y="4741342"/>
              <a:ext cx="209298" cy="108000"/>
            </a:xfrm>
            <a:prstGeom prst="roundRect">
              <a:avLst>
                <a:gd name="adj" fmla="val 22251"/>
              </a:avLst>
            </a:prstGeom>
            <a:solidFill>
              <a:schemeClr val="bg1">
                <a:lumMod val="7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kumimoji="1" lang="en-US" altLang="ko-KR" sz="700" dirty="0" smtClean="0">
                  <a:solidFill>
                    <a:schemeClr val="bg1"/>
                  </a:solidFill>
                  <a:latin typeface="+mn-ea"/>
                  <a:ea typeface="+mn-ea"/>
                </a:rPr>
                <a:t>VIP</a:t>
              </a:r>
              <a:endParaRPr kumimoji="1" lang="en-US" sz="700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53" name="Rectangle 14"/>
          <p:cNvSpPr>
            <a:spLocks/>
          </p:cNvSpPr>
          <p:nvPr/>
        </p:nvSpPr>
        <p:spPr bwMode="auto">
          <a:xfrm>
            <a:off x="2646970" y="2193468"/>
            <a:ext cx="1071590" cy="416382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sx="99000" sy="99000" algn="tl" rotWithShape="0">
              <a:prstClr val="black">
                <a:alpha val="40000"/>
              </a:prstClr>
            </a:outerShdw>
          </a:effectLst>
          <a:extLst/>
        </p:spPr>
        <p:txBody>
          <a:bodyPr lIns="50800" tIns="18000" rIns="50800" bIns="50800" anchor="t"/>
          <a:lstStyle/>
          <a:p>
            <a:pPr>
              <a:lnSpc>
                <a:spcPct val="150000"/>
              </a:lnSpc>
            </a:pPr>
            <a:r>
              <a:rPr lang="en-US" altLang="ko-KR" sz="800" u="sng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</a:t>
            </a:r>
            <a:r>
              <a:rPr lang="ko-KR" altLang="en-US" sz="800" u="sng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로</a:t>
            </a:r>
            <a:r>
              <a:rPr lang="en-US" altLang="ko-KR" sz="800" u="sng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800" u="sng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지정하기</a:t>
            </a:r>
            <a:endParaRPr lang="en-US" altLang="ko-KR" sz="800" u="sng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버디카드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4" name="타원 153"/>
          <p:cNvSpPr/>
          <p:nvPr/>
        </p:nvSpPr>
        <p:spPr>
          <a:xfrm>
            <a:off x="2516711" y="2047875"/>
            <a:ext cx="152400" cy="15533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40" name="그룹 239"/>
          <p:cNvGrpSpPr/>
          <p:nvPr/>
        </p:nvGrpSpPr>
        <p:grpSpPr>
          <a:xfrm>
            <a:off x="8165071" y="2115712"/>
            <a:ext cx="375088" cy="60389"/>
            <a:chOff x="3037914" y="4842215"/>
            <a:chExt cx="375088" cy="60389"/>
          </a:xfrm>
        </p:grpSpPr>
        <p:cxnSp>
          <p:nvCxnSpPr>
            <p:cNvPr id="241" name="직선 연결선[R] 7"/>
            <p:cNvCxnSpPr/>
            <p:nvPr/>
          </p:nvCxnSpPr>
          <p:spPr>
            <a:xfrm>
              <a:off x="3037914" y="4897522"/>
              <a:ext cx="288000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miter lim="400000"/>
            </a:ln>
          </p:spPr>
        </p:cxnSp>
        <p:sp>
          <p:nvSpPr>
            <p:cNvPr id="242" name="직각 삼각형 241"/>
            <p:cNvSpPr>
              <a:spLocks noChangeAspect="1"/>
            </p:cNvSpPr>
            <p:nvPr/>
          </p:nvSpPr>
          <p:spPr>
            <a:xfrm rot="16200000">
              <a:off x="3352613" y="4842215"/>
              <a:ext cx="60389" cy="60389"/>
            </a:xfrm>
            <a:prstGeom prst="rtTriangle">
              <a:avLst/>
            </a:prstGeom>
            <a:solidFill>
              <a:schemeClr val="bg1">
                <a:lumMod val="65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sp>
        <p:nvSpPr>
          <p:cNvPr id="244" name="Rectangle 14"/>
          <p:cNvSpPr>
            <a:spLocks/>
          </p:cNvSpPr>
          <p:nvPr/>
        </p:nvSpPr>
        <p:spPr bwMode="auto">
          <a:xfrm>
            <a:off x="8571520" y="2193468"/>
            <a:ext cx="1071590" cy="416382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sx="99000" sy="99000" algn="tl" rotWithShape="0">
              <a:prstClr val="black">
                <a:alpha val="40000"/>
              </a:prstClr>
            </a:outerShdw>
          </a:effectLst>
          <a:extLst/>
        </p:spPr>
        <p:txBody>
          <a:bodyPr lIns="50800" tIns="18000" rIns="50800" bIns="50800" anchor="t"/>
          <a:lstStyle/>
          <a:p>
            <a:pPr>
              <a:lnSpc>
                <a:spcPct val="150000"/>
              </a:lnSpc>
            </a:pPr>
            <a:r>
              <a:rPr lang="en-US" altLang="ko-KR" sz="800" u="sng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 </a:t>
            </a:r>
            <a:r>
              <a:rPr lang="ko-KR" altLang="en-US" sz="800" u="sng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해제</a:t>
            </a:r>
            <a:endParaRPr lang="en-US" altLang="ko-KR" sz="800" u="sng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버디카드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5" name="타원 244"/>
          <p:cNvSpPr/>
          <p:nvPr/>
        </p:nvSpPr>
        <p:spPr>
          <a:xfrm>
            <a:off x="8441261" y="2047875"/>
            <a:ext cx="152400" cy="15533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1307036" y="2066925"/>
            <a:ext cx="152400" cy="15533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" name="직선 화살표 연결선 21"/>
          <p:cNvCxnSpPr/>
          <p:nvPr/>
        </p:nvCxnSpPr>
        <p:spPr>
          <a:xfrm>
            <a:off x="1381125" y="2238139"/>
            <a:ext cx="0" cy="1086323"/>
          </a:xfrm>
          <a:prstGeom prst="straightConnector1">
            <a:avLst/>
          </a:prstGeom>
          <a:ln>
            <a:solidFill>
              <a:schemeClr val="bg1">
                <a:lumMod val="8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/>
          <p:nvPr/>
        </p:nvCxnSpPr>
        <p:spPr>
          <a:xfrm>
            <a:off x="3772272" y="2294844"/>
            <a:ext cx="1915463" cy="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꺾인 연결선 28"/>
          <p:cNvCxnSpPr/>
          <p:nvPr/>
        </p:nvCxnSpPr>
        <p:spPr>
          <a:xfrm flipV="1">
            <a:off x="4811688" y="2305049"/>
            <a:ext cx="438492" cy="2558611"/>
          </a:xfrm>
          <a:prstGeom prst="bentConnector2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타원 259"/>
          <p:cNvSpPr/>
          <p:nvPr/>
        </p:nvSpPr>
        <p:spPr>
          <a:xfrm>
            <a:off x="2523069" y="1953275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61" name="타원 260"/>
          <p:cNvSpPr/>
          <p:nvPr/>
        </p:nvSpPr>
        <p:spPr>
          <a:xfrm>
            <a:off x="1307036" y="2646205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2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62" name="타원 261"/>
          <p:cNvSpPr/>
          <p:nvPr/>
        </p:nvSpPr>
        <p:spPr>
          <a:xfrm>
            <a:off x="5732994" y="2343800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3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63" name="타원 262"/>
          <p:cNvSpPr/>
          <p:nvPr/>
        </p:nvSpPr>
        <p:spPr>
          <a:xfrm>
            <a:off x="9571569" y="2115200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4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26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4946239"/>
              </p:ext>
            </p:extLst>
          </p:nvPr>
        </p:nvGraphicFramePr>
        <p:xfrm>
          <a:off x="5763563" y="4189893"/>
          <a:ext cx="6218887" cy="2192375"/>
        </p:xfrm>
        <a:graphic>
          <a:graphicData uri="http://schemas.openxmlformats.org/drawingml/2006/table">
            <a:tbl>
              <a:tblPr/>
              <a:tblGrid>
                <a:gridCol w="4811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377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등록된 컨텐츠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피드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파일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보고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공지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의 작성자명에 마우스 오버시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          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출력되며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클릭시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지정 레이어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1-1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클릭시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“</a:t>
                      </a:r>
                      <a:r>
                        <a:rPr kumimoji="1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로 지정되었습니다</a:t>
                      </a:r>
                      <a:r>
                        <a:rPr kumimoji="1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” msg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출력 후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LNB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에 해당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는 지정은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N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개로 제한이 있으므로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제한 개수 초과됐을 경우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en-US" altLang="ko-KR" sz="8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VIP</a:t>
                      </a:r>
                      <a:r>
                        <a:rPr kumimoji="1" lang="ko-KR" altLang="en-US" sz="8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1" lang="en-US" altLang="ko-KR" sz="8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r>
                        <a:rPr kumimoji="1" lang="ko-KR" altLang="en-US" sz="8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개까지만 등록이 가능합니다</a:t>
                      </a:r>
                      <a:r>
                        <a:rPr kumimoji="1" lang="en-US" altLang="ko-KR" sz="8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b="1" smtClean="0">
                          <a:solidFill>
                            <a:schemeClr val="accent5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Msg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출력</a:t>
                      </a:r>
                      <a:endParaRPr lang="ko-KR" altLang="en-US" sz="800" b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241743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LNB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의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추가 버튼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클릭시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를 지정할 수 있는 팝업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843430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LNB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에 출력되는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정보구성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프로필사진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성명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새글 카운터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삭제 버튼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[X]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삭제 버튼은 마우스 오버시에만 출력되며 클릭시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제외 처리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제외 처리시 다음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글로 랜딩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마지막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를 제외 처리할 경우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워크피드로 랜딩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최신 등록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지정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순으로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663707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로 기등록된 사용자일 경우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지정 대신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‘VIP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해제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‘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경로가 출력되며 클릭시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제외 처리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4770497"/>
                  </a:ext>
                </a:extLst>
              </a:tr>
            </a:tbl>
          </a:graphicData>
        </a:graphic>
      </p:graphicFrame>
      <p:grpSp>
        <p:nvGrpSpPr>
          <p:cNvPr id="269" name="그룹 268"/>
          <p:cNvGrpSpPr/>
          <p:nvPr/>
        </p:nvGrpSpPr>
        <p:grpSpPr>
          <a:xfrm>
            <a:off x="9348702" y="4534566"/>
            <a:ext cx="375088" cy="60389"/>
            <a:chOff x="3037914" y="4842215"/>
            <a:chExt cx="375088" cy="60389"/>
          </a:xfrm>
        </p:grpSpPr>
        <p:cxnSp>
          <p:nvCxnSpPr>
            <p:cNvPr id="270" name="직선 연결선[R] 7"/>
            <p:cNvCxnSpPr/>
            <p:nvPr/>
          </p:nvCxnSpPr>
          <p:spPr>
            <a:xfrm>
              <a:off x="3037914" y="4897522"/>
              <a:ext cx="288000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miter lim="400000"/>
            </a:ln>
          </p:spPr>
        </p:cxnSp>
        <p:sp>
          <p:nvSpPr>
            <p:cNvPr id="271" name="직각 삼각형 270"/>
            <p:cNvSpPr>
              <a:spLocks noChangeAspect="1"/>
            </p:cNvSpPr>
            <p:nvPr/>
          </p:nvSpPr>
          <p:spPr>
            <a:xfrm rot="16200000">
              <a:off x="3352613" y="4842215"/>
              <a:ext cx="60389" cy="60389"/>
            </a:xfrm>
            <a:prstGeom prst="rtTriangle">
              <a:avLst/>
            </a:prstGeom>
            <a:solidFill>
              <a:schemeClr val="bg1">
                <a:lumMod val="65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sp>
        <p:nvSpPr>
          <p:cNvPr id="272" name="타원 271"/>
          <p:cNvSpPr/>
          <p:nvPr/>
        </p:nvSpPr>
        <p:spPr>
          <a:xfrm>
            <a:off x="3627969" y="2077100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1-1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pic>
        <p:nvPicPr>
          <p:cNvPr id="57" name="그림 5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8206" y="3388827"/>
            <a:ext cx="4205719" cy="2931539"/>
          </a:xfrm>
          <a:prstGeom prst="rect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43483" y="3408118"/>
            <a:ext cx="776396" cy="126390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22169" y="3363225"/>
            <a:ext cx="870139" cy="159010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8765931" y="3351252"/>
            <a:ext cx="309948" cy="16503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60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30</a:t>
            </a:r>
            <a:r>
              <a:rPr lang="ko-KR" altLang="en-US" sz="60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분전</a:t>
            </a:r>
            <a:endParaRPr lang="ko-KR" altLang="en-US" sz="6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43671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직사각형 98"/>
          <p:cNvSpPr/>
          <p:nvPr/>
        </p:nvSpPr>
        <p:spPr>
          <a:xfrm>
            <a:off x="639868" y="953664"/>
            <a:ext cx="1332000" cy="276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41" name="텍스트 상자 31"/>
          <p:cNvSpPr txBox="1"/>
          <p:nvPr/>
        </p:nvSpPr>
        <p:spPr>
          <a:xfrm>
            <a:off x="799239" y="110346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50000"/>
                    <a:lumOff val="50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50000"/>
                    <a:lumOff val="50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dirty="0">
              <a:solidFill>
                <a:prstClr val="black">
                  <a:lumMod val="50000"/>
                  <a:lumOff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2" name="Freeform 24"/>
          <p:cNvSpPr>
            <a:spLocks noChangeArrowheads="1"/>
          </p:cNvSpPr>
          <p:nvPr/>
        </p:nvSpPr>
        <p:spPr bwMode="auto">
          <a:xfrm>
            <a:off x="686237" y="113446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8" name="텍스트 상자 31"/>
          <p:cNvSpPr txBox="1"/>
          <p:nvPr/>
        </p:nvSpPr>
        <p:spPr>
          <a:xfrm>
            <a:off x="1017806" y="1204874"/>
            <a:ext cx="1001412" cy="215443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ct val="200000"/>
              </a:lnSpc>
            </a:pPr>
            <a:r>
              <a:rPr kumimoji="1"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김민수</a:t>
            </a:r>
            <a:endParaRPr kumimoji="1"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박종철 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대리</a:t>
            </a:r>
            <a:endParaRPr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kumimoji="1"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이길수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kumimoji="1"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kumimoji="0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박명수 대리</a:t>
            </a:r>
            <a:endParaRPr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김민수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박종철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이길수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김민수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박종철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이길수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grpSp>
        <p:nvGrpSpPr>
          <p:cNvPr id="81" name="그룹 80"/>
          <p:cNvGrpSpPr/>
          <p:nvPr/>
        </p:nvGrpSpPr>
        <p:grpSpPr>
          <a:xfrm>
            <a:off x="779495" y="1280020"/>
            <a:ext cx="162029" cy="2063645"/>
            <a:chOff x="893877" y="1717006"/>
            <a:chExt cx="162029" cy="2063645"/>
          </a:xfrm>
        </p:grpSpPr>
        <p:sp>
          <p:nvSpPr>
            <p:cNvPr id="43" name="Oval 121"/>
            <p:cNvSpPr>
              <a:spLocks noChangeAspect="1"/>
            </p:cNvSpPr>
            <p:nvPr/>
          </p:nvSpPr>
          <p:spPr bwMode="auto">
            <a:xfrm>
              <a:off x="893877" y="1717006"/>
              <a:ext cx="162029" cy="162000"/>
            </a:xfrm>
            <a:prstGeom prst="ellipse">
              <a:avLst/>
            </a:prstGeom>
            <a:solidFill>
              <a:schemeClr val="bg1"/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44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2446" y="1745570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grpSp>
          <p:nvGrpSpPr>
            <p:cNvPr id="45" name="그룹 44"/>
            <p:cNvGrpSpPr/>
            <p:nvPr/>
          </p:nvGrpSpPr>
          <p:grpSpPr>
            <a:xfrm>
              <a:off x="893877" y="1928804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46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4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pic>
          <p:nvPicPr>
            <p:cNvPr id="49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2446" y="2145627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5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2446" y="2374227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grpSp>
          <p:nvGrpSpPr>
            <p:cNvPr id="51" name="그룹 50"/>
            <p:cNvGrpSpPr/>
            <p:nvPr/>
          </p:nvGrpSpPr>
          <p:grpSpPr>
            <a:xfrm>
              <a:off x="893877" y="2556333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52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53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54" name="그룹 53"/>
            <p:cNvGrpSpPr/>
            <p:nvPr/>
          </p:nvGrpSpPr>
          <p:grpSpPr>
            <a:xfrm>
              <a:off x="893877" y="2775968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55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56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57" name="그룹 56"/>
            <p:cNvGrpSpPr/>
            <p:nvPr/>
          </p:nvGrpSpPr>
          <p:grpSpPr>
            <a:xfrm>
              <a:off x="893877" y="2982157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58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59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60" name="그룹 59"/>
            <p:cNvGrpSpPr/>
            <p:nvPr/>
          </p:nvGrpSpPr>
          <p:grpSpPr>
            <a:xfrm>
              <a:off x="893877" y="3197310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61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62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63" name="그룹 62"/>
            <p:cNvGrpSpPr/>
            <p:nvPr/>
          </p:nvGrpSpPr>
          <p:grpSpPr>
            <a:xfrm>
              <a:off x="893877" y="3412463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64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65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66" name="그룹 65"/>
            <p:cNvGrpSpPr/>
            <p:nvPr/>
          </p:nvGrpSpPr>
          <p:grpSpPr>
            <a:xfrm>
              <a:off x="893877" y="3618651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67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6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9" name="Oval 121"/>
            <p:cNvSpPr>
              <a:spLocks noChangeAspect="1"/>
            </p:cNvSpPr>
            <p:nvPr/>
          </p:nvSpPr>
          <p:spPr bwMode="auto">
            <a:xfrm>
              <a:off x="893877" y="2117063"/>
              <a:ext cx="162029" cy="162000"/>
            </a:xfrm>
            <a:prstGeom prst="ellipse">
              <a:avLst/>
            </a:prstGeom>
            <a:solidFill>
              <a:schemeClr val="bg1">
                <a:lumMod val="65000"/>
                <a:alpha val="51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sp>
          <p:nvSpPr>
            <p:cNvPr id="70" name="Oval 121"/>
            <p:cNvSpPr>
              <a:spLocks noChangeAspect="1"/>
            </p:cNvSpPr>
            <p:nvPr/>
          </p:nvSpPr>
          <p:spPr bwMode="auto">
            <a:xfrm>
              <a:off x="893877" y="2345663"/>
              <a:ext cx="162029" cy="162000"/>
            </a:xfrm>
            <a:prstGeom prst="ellipse">
              <a:avLst/>
            </a:prstGeom>
            <a:solidFill>
              <a:schemeClr val="bg1">
                <a:lumMod val="65000"/>
                <a:alpha val="51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1" name="Add"/>
          <p:cNvSpPr>
            <a:spLocks noChangeAspect="1"/>
          </p:cNvSpPr>
          <p:nvPr/>
        </p:nvSpPr>
        <p:spPr bwMode="auto">
          <a:xfrm>
            <a:off x="1701577" y="1116180"/>
            <a:ext cx="71563" cy="71563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" name="모서리가 둥근 직사각형 7"/>
          <p:cNvSpPr/>
          <p:nvPr/>
        </p:nvSpPr>
        <p:spPr>
          <a:xfrm>
            <a:off x="672026" y="2522635"/>
            <a:ext cx="1242417" cy="200025"/>
          </a:xfrm>
          <a:prstGeom prst="roundRect">
            <a:avLst/>
          </a:prstGeom>
          <a:solidFill>
            <a:srgbClr val="2E6FFD">
              <a:alpha val="18000"/>
            </a:srgbClr>
          </a:solidFill>
          <a:ln>
            <a:solidFill>
              <a:srgbClr val="0070C0"/>
            </a:solidFill>
            <a:prstDash val="sys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80" name="그룹 79"/>
          <p:cNvGrpSpPr/>
          <p:nvPr/>
        </p:nvGrpSpPr>
        <p:grpSpPr>
          <a:xfrm>
            <a:off x="1266094" y="1313517"/>
            <a:ext cx="1162050" cy="190500"/>
            <a:chOff x="3066401" y="3226878"/>
            <a:chExt cx="1162050" cy="190500"/>
          </a:xfrm>
        </p:grpSpPr>
        <p:sp>
          <p:nvSpPr>
            <p:cNvPr id="10" name="순서도: 처리 9"/>
            <p:cNvSpPr/>
            <p:nvPr/>
          </p:nvSpPr>
          <p:spPr>
            <a:xfrm>
              <a:off x="3066401" y="3226878"/>
              <a:ext cx="1162050" cy="190500"/>
            </a:xfrm>
            <a:prstGeom prst="flowChartProcess">
              <a:avLst/>
            </a:prstGeom>
            <a:solidFill>
              <a:schemeClr val="bg1">
                <a:alpha val="80000"/>
              </a:schemeClr>
            </a:solidFill>
            <a:ln>
              <a:solidFill>
                <a:schemeClr val="tx1">
                  <a:lumMod val="95000"/>
                  <a:lumOff val="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lIns="36000" tIns="36000" rIns="36000" bIns="36000" rtlCol="0" anchor="ctr">
              <a:noAutofit/>
            </a:bodyPr>
            <a:lstStyle/>
            <a:p>
              <a:pPr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76" name="그룹 75"/>
            <p:cNvGrpSpPr/>
            <p:nvPr/>
          </p:nvGrpSpPr>
          <p:grpSpPr>
            <a:xfrm>
              <a:off x="3151302" y="3247176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77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7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9" name="TextBox 78"/>
            <p:cNvSpPr txBox="1"/>
            <p:nvPr/>
          </p:nvSpPr>
          <p:spPr>
            <a:xfrm>
              <a:off x="3333750" y="3249190"/>
              <a:ext cx="303536" cy="165036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ko-KR" altLang="en-US" sz="6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이길수</a:t>
              </a:r>
              <a:endPara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pic>
        <p:nvPicPr>
          <p:cNvPr id="15" name="Picture 160" descr="1442995944_cursor.png"/>
          <p:cNvPicPr>
            <a:picLocks noChangeAspect="1"/>
          </p:cNvPicPr>
          <p:nvPr/>
        </p:nvPicPr>
        <p:blipFill>
          <a:blip r:embed="rId3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0400" y="1387454"/>
            <a:ext cx="171202" cy="171202"/>
          </a:xfrm>
          <a:prstGeom prst="rect">
            <a:avLst/>
          </a:prstGeom>
        </p:spPr>
      </p:pic>
      <p:sp>
        <p:nvSpPr>
          <p:cNvPr id="73" name="AutoShape 133"/>
          <p:cNvSpPr>
            <a:spLocks/>
          </p:cNvSpPr>
          <p:nvPr/>
        </p:nvSpPr>
        <p:spPr bwMode="auto">
          <a:xfrm>
            <a:off x="1712112" y="1350605"/>
            <a:ext cx="96581" cy="96663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9" y="6724"/>
                  <a:pt x="20639" y="12953"/>
                  <a:pt x="16796" y="16796"/>
                </a:cubicBezTo>
                <a:cubicBezTo>
                  <a:pt x="12953" y="20638"/>
                  <a:pt x="6724" y="20638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4" y="-961"/>
                  <a:pt x="12953" y="-961"/>
                  <a:pt x="16796" y="2881"/>
                </a:cubicBezTo>
                <a:close/>
              </a:path>
            </a:pathLst>
          </a:custGeom>
          <a:solidFill>
            <a:srgbClr val="0000FF">
              <a:alpha val="49000"/>
            </a:srgbClr>
          </a:solidFill>
          <a:ln w="9525" cap="flat" cmpd="sng">
            <a:noFill/>
            <a:prstDash val="dash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endParaRPr lang="en-US" sz="1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AutoShape 133"/>
          <p:cNvSpPr>
            <a:spLocks/>
          </p:cNvSpPr>
          <p:nvPr/>
        </p:nvSpPr>
        <p:spPr bwMode="auto">
          <a:xfrm>
            <a:off x="1712112" y="2574423"/>
            <a:ext cx="96581" cy="96663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9" y="6724"/>
                  <a:pt x="20639" y="12953"/>
                  <a:pt x="16796" y="16796"/>
                </a:cubicBezTo>
                <a:cubicBezTo>
                  <a:pt x="12953" y="20638"/>
                  <a:pt x="6724" y="20638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4" y="-961"/>
                  <a:pt x="12953" y="-961"/>
                  <a:pt x="16796" y="2881"/>
                </a:cubicBezTo>
                <a:close/>
              </a:path>
            </a:pathLst>
          </a:custGeom>
          <a:solidFill>
            <a:srgbClr val="0000FF">
              <a:alpha val="49000"/>
            </a:srgbClr>
          </a:solidFill>
          <a:ln w="9525" cap="flat" cmpd="sng">
            <a:noFill/>
            <a:prstDash val="dash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endParaRPr lang="en-US" sz="1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5" name="직선 화살표 연결선 74"/>
          <p:cNvCxnSpPr>
            <a:stCxn id="11" idx="0"/>
            <a:endCxn id="73" idx="0"/>
          </p:cNvCxnSpPr>
          <p:nvPr/>
        </p:nvCxnSpPr>
        <p:spPr>
          <a:xfrm flipV="1">
            <a:off x="1760400" y="1403654"/>
            <a:ext cx="0" cy="1223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그룹 81"/>
          <p:cNvGrpSpPr/>
          <p:nvPr/>
        </p:nvGrpSpPr>
        <p:grpSpPr>
          <a:xfrm>
            <a:off x="3465545" y="1280020"/>
            <a:ext cx="162029" cy="2063645"/>
            <a:chOff x="893877" y="1717006"/>
            <a:chExt cx="162029" cy="2063645"/>
          </a:xfrm>
        </p:grpSpPr>
        <p:sp>
          <p:nvSpPr>
            <p:cNvPr id="83" name="Oval 121"/>
            <p:cNvSpPr>
              <a:spLocks noChangeAspect="1"/>
            </p:cNvSpPr>
            <p:nvPr/>
          </p:nvSpPr>
          <p:spPr bwMode="auto">
            <a:xfrm>
              <a:off x="893877" y="1717006"/>
              <a:ext cx="162029" cy="162000"/>
            </a:xfrm>
            <a:prstGeom prst="ellipse">
              <a:avLst/>
            </a:prstGeom>
            <a:solidFill>
              <a:schemeClr val="bg1"/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84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2446" y="1745570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grpSp>
          <p:nvGrpSpPr>
            <p:cNvPr id="85" name="그룹 84"/>
            <p:cNvGrpSpPr/>
            <p:nvPr/>
          </p:nvGrpSpPr>
          <p:grpSpPr>
            <a:xfrm>
              <a:off x="893877" y="1928804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108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09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pic>
          <p:nvPicPr>
            <p:cNvPr id="8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2446" y="2145627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87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2446" y="2374227"/>
              <a:ext cx="104891" cy="104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grpSp>
          <p:nvGrpSpPr>
            <p:cNvPr id="88" name="그룹 87"/>
            <p:cNvGrpSpPr/>
            <p:nvPr/>
          </p:nvGrpSpPr>
          <p:grpSpPr>
            <a:xfrm>
              <a:off x="893877" y="2556333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106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0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89" name="그룹 88"/>
            <p:cNvGrpSpPr/>
            <p:nvPr/>
          </p:nvGrpSpPr>
          <p:grpSpPr>
            <a:xfrm>
              <a:off x="893877" y="2775968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104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05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90" name="그룹 89"/>
            <p:cNvGrpSpPr/>
            <p:nvPr/>
          </p:nvGrpSpPr>
          <p:grpSpPr>
            <a:xfrm>
              <a:off x="893877" y="2982157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102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03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91" name="그룹 90"/>
            <p:cNvGrpSpPr/>
            <p:nvPr/>
          </p:nvGrpSpPr>
          <p:grpSpPr>
            <a:xfrm>
              <a:off x="893877" y="3197310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100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01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92" name="그룹 91"/>
            <p:cNvGrpSpPr/>
            <p:nvPr/>
          </p:nvGrpSpPr>
          <p:grpSpPr>
            <a:xfrm>
              <a:off x="893877" y="3412463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98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99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93" name="그룹 92"/>
            <p:cNvGrpSpPr/>
            <p:nvPr/>
          </p:nvGrpSpPr>
          <p:grpSpPr>
            <a:xfrm>
              <a:off x="893877" y="3618651"/>
              <a:ext cx="162029" cy="162000"/>
              <a:chOff x="579552" y="3424229"/>
              <a:chExt cx="162029" cy="162000"/>
            </a:xfrm>
            <a:solidFill>
              <a:schemeClr val="bg1"/>
            </a:solidFill>
          </p:grpSpPr>
          <p:sp>
            <p:nvSpPr>
              <p:cNvPr id="96" name="Oval 121"/>
              <p:cNvSpPr>
                <a:spLocks noChangeAspect="1"/>
              </p:cNvSpPr>
              <p:nvPr/>
            </p:nvSpPr>
            <p:spPr bwMode="auto">
              <a:xfrm>
                <a:off x="579552" y="3424229"/>
                <a:ext cx="162029" cy="162000"/>
              </a:xfrm>
              <a:prstGeom prst="ellipse">
                <a:avLst/>
              </a:prstGeom>
              <a:grpFill/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9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121" y="3452793"/>
                <a:ext cx="104891" cy="104872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94" name="Oval 121"/>
            <p:cNvSpPr>
              <a:spLocks noChangeAspect="1"/>
            </p:cNvSpPr>
            <p:nvPr/>
          </p:nvSpPr>
          <p:spPr bwMode="auto">
            <a:xfrm>
              <a:off x="893877" y="2117063"/>
              <a:ext cx="162029" cy="162000"/>
            </a:xfrm>
            <a:prstGeom prst="ellipse">
              <a:avLst/>
            </a:prstGeom>
            <a:solidFill>
              <a:schemeClr val="bg1">
                <a:lumMod val="65000"/>
                <a:alpha val="51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sp>
          <p:nvSpPr>
            <p:cNvPr id="95" name="Oval 121"/>
            <p:cNvSpPr>
              <a:spLocks noChangeAspect="1"/>
            </p:cNvSpPr>
            <p:nvPr/>
          </p:nvSpPr>
          <p:spPr bwMode="auto">
            <a:xfrm>
              <a:off x="893877" y="2345663"/>
              <a:ext cx="162029" cy="162000"/>
            </a:xfrm>
            <a:prstGeom prst="ellipse">
              <a:avLst/>
            </a:prstGeom>
            <a:solidFill>
              <a:schemeClr val="bg1">
                <a:lumMod val="65000"/>
                <a:alpha val="51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11" name="텍스트 상자 31"/>
          <p:cNvSpPr txBox="1"/>
          <p:nvPr/>
        </p:nvSpPr>
        <p:spPr>
          <a:xfrm>
            <a:off x="3741956" y="1204874"/>
            <a:ext cx="1001412" cy="215443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ct val="200000"/>
              </a:lnSpc>
            </a:pPr>
            <a:r>
              <a:rPr kumimoji="1"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김민수 대리</a:t>
            </a:r>
            <a:endParaRPr kumimoji="1"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이길수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kumimoji="1"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박종철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kumimoji="1"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kumimoji="1"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이길수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kumimoji="1"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00000"/>
              </a:lnSpc>
            </a:pPr>
            <a:r>
              <a:rPr kumimoji="0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박명수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kumimoji="0" lang="en-US" altLang="ko-KR" sz="700" smtClean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김민수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박종철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이길수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김민수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박종철</a:t>
            </a:r>
            <a:r>
              <a:rPr lang="ko-KR" altLang="en-US" sz="7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대리</a:t>
            </a:r>
            <a:endParaRPr lang="en-US" altLang="ko-KR" sz="70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114" name="오른쪽 화살표 113"/>
          <p:cNvSpPr/>
          <p:nvPr/>
        </p:nvSpPr>
        <p:spPr>
          <a:xfrm>
            <a:off x="2732949" y="1961113"/>
            <a:ext cx="295275" cy="239234"/>
          </a:xfrm>
          <a:prstGeom prst="rightArrow">
            <a:avLst/>
          </a:prstGeom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1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9049659"/>
              </p:ext>
            </p:extLst>
          </p:nvPr>
        </p:nvGraphicFramePr>
        <p:xfrm>
          <a:off x="9214333" y="786383"/>
          <a:ext cx="2835141" cy="4692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등록된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는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drag&amp;drop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으로 순서 변경 가능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116" name="TextBox 115"/>
          <p:cNvSpPr txBox="1"/>
          <p:nvPr/>
        </p:nvSpPr>
        <p:spPr>
          <a:xfrm>
            <a:off x="247650" y="171450"/>
            <a:ext cx="2146989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 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순서변경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)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: LNB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43832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4" name="표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9198317"/>
              </p:ext>
            </p:extLst>
          </p:nvPr>
        </p:nvGraphicFramePr>
        <p:xfrm>
          <a:off x="298451" y="757766"/>
          <a:ext cx="6157381" cy="40705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5566">
                  <a:extLst>
                    <a:ext uri="{9D8B030D-6E8A-4147-A177-3AD203B41FA5}">
                      <a16:colId xmlns:a16="http://schemas.microsoft.com/office/drawing/2014/main" val="2057676825"/>
                    </a:ext>
                  </a:extLst>
                </a:gridCol>
                <a:gridCol w="935566">
                  <a:extLst>
                    <a:ext uri="{9D8B030D-6E8A-4147-A177-3AD203B41FA5}">
                      <a16:colId xmlns:a16="http://schemas.microsoft.com/office/drawing/2014/main" val="3302999828"/>
                    </a:ext>
                  </a:extLst>
                </a:gridCol>
                <a:gridCol w="4286249">
                  <a:extLst>
                    <a:ext uri="{9D8B030D-6E8A-4147-A177-3AD203B41FA5}">
                      <a16:colId xmlns:a16="http://schemas.microsoft.com/office/drawing/2014/main" val="1884988724"/>
                    </a:ext>
                  </a:extLst>
                </a:gridCol>
              </a:tblGrid>
              <a:tr h="329142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MENU1</a:t>
                      </a:r>
                      <a:endParaRPr lang="ko-KR" altLang="en-US" sz="800" b="1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MENU2</a:t>
                      </a:r>
                      <a:endParaRPr lang="ko-KR" altLang="en-US" sz="800" b="1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적용화면</a:t>
                      </a:r>
                      <a:endParaRPr lang="ko-KR" altLang="en-US" sz="800" b="1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953257"/>
                  </a:ext>
                </a:extLst>
              </a:tr>
              <a:tr h="32914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워크피드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&lt;VIP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지정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가이드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 LNB/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컨텐츠내 사용자 정보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lt"/>
                          <a:ea typeface="+mn-ea"/>
                        </a:rPr>
                        <a:t>참고</a:t>
                      </a:r>
                      <a:endParaRPr lang="ko-KR" altLang="en-US" sz="800" b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450316"/>
                  </a:ext>
                </a:extLst>
              </a:tr>
              <a:tr h="329142">
                <a:tc row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플래그글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피드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보고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공지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&lt;VIP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지정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가이드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 LNB/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컨텐츠내 사용자 정보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lt"/>
                          <a:ea typeface="+mn-ea"/>
                        </a:rPr>
                        <a:t>참고</a:t>
                      </a:r>
                      <a:endParaRPr lang="ko-KR" altLang="en-US" sz="800" b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79403"/>
                  </a:ext>
                </a:extLst>
              </a:tr>
              <a:tr h="860425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사진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8195372"/>
                  </a:ext>
                </a:extLst>
              </a:tr>
              <a:tr h="76200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파일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802004"/>
                  </a:ext>
                </a:extLst>
              </a:tr>
              <a:tr h="329142">
                <a:tc rowSpan="4"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그룹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피드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보고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공지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&lt;VIP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지정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가이드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 LNB/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컨텐츠내 사용자 정보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lt"/>
                          <a:ea typeface="+mn-ea"/>
                        </a:rPr>
                        <a:t>참고</a:t>
                      </a:r>
                      <a:endParaRPr lang="ko-KR" altLang="en-US" sz="800" b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97040"/>
                  </a:ext>
                </a:extLst>
              </a:tr>
              <a:tr h="329142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사진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상동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291236"/>
                  </a:ext>
                </a:extLst>
              </a:tr>
              <a:tr h="329142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파일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상동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7803736"/>
                  </a:ext>
                </a:extLst>
              </a:tr>
              <a:tr h="473286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멤버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332742"/>
                  </a:ext>
                </a:extLst>
              </a:tr>
            </a:tbl>
          </a:graphicData>
        </a:graphic>
      </p:graphicFrame>
      <p:sp>
        <p:nvSpPr>
          <p:cNvPr id="116" name="TextBox 115"/>
          <p:cNvSpPr txBox="1"/>
          <p:nvPr/>
        </p:nvSpPr>
        <p:spPr>
          <a:xfrm>
            <a:off x="247650" y="171450"/>
            <a:ext cx="150008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 Tag </a:t>
            </a:r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적용범위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112" name="그림 1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38316" y="1823804"/>
            <a:ext cx="1066860" cy="763397"/>
          </a:xfrm>
          <a:prstGeom prst="rect">
            <a:avLst/>
          </a:prstGeom>
        </p:spPr>
      </p:pic>
      <p:pic>
        <p:nvPicPr>
          <p:cNvPr id="113" name="그림 1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85088" y="2687158"/>
            <a:ext cx="2582188" cy="608108"/>
          </a:xfrm>
          <a:prstGeom prst="rect">
            <a:avLst/>
          </a:prstGeom>
        </p:spPr>
      </p:pic>
      <p:pic>
        <p:nvPicPr>
          <p:cNvPr id="3" name="그림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85088" y="4432652"/>
            <a:ext cx="2569615" cy="312154"/>
          </a:xfrm>
          <a:prstGeom prst="rect">
            <a:avLst/>
          </a:prstGeom>
        </p:spPr>
      </p:pic>
      <p:sp>
        <p:nvSpPr>
          <p:cNvPr id="4" name="직사각형 3"/>
          <p:cNvSpPr/>
          <p:nvPr/>
        </p:nvSpPr>
        <p:spPr>
          <a:xfrm>
            <a:off x="2571750" y="2266950"/>
            <a:ext cx="161925" cy="9525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695761"/>
              </p:ext>
            </p:extLst>
          </p:nvPr>
        </p:nvGraphicFramePr>
        <p:xfrm>
          <a:off x="9214333" y="786383"/>
          <a:ext cx="2835141" cy="4692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명시된 메뉴들은 작성자 이름 앞에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VIP tag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출력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8406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98"/>
          <p:cNvSpPr/>
          <p:nvPr/>
        </p:nvSpPr>
        <p:spPr>
          <a:xfrm>
            <a:off x="429108" y="677999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cxnSp>
        <p:nvCxnSpPr>
          <p:cNvPr id="57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188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189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190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8" name="Rectangle 185"/>
          <p:cNvSpPr/>
          <p:nvPr/>
        </p:nvSpPr>
        <p:spPr>
          <a:xfrm>
            <a:off x="1963755" y="1451252"/>
            <a:ext cx="4896000" cy="218884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9" name="텍스트 상자 31"/>
          <p:cNvSpPr txBox="1"/>
          <p:nvPr/>
        </p:nvSpPr>
        <p:spPr>
          <a:xfrm>
            <a:off x="2613994" y="1582594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홍길동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70" name="그룹 400"/>
          <p:cNvGrpSpPr/>
          <p:nvPr/>
        </p:nvGrpSpPr>
        <p:grpSpPr>
          <a:xfrm>
            <a:off x="2078622" y="1572125"/>
            <a:ext cx="229236" cy="229194"/>
            <a:chOff x="2625629" y="3735853"/>
            <a:chExt cx="276891" cy="276839"/>
          </a:xfrm>
        </p:grpSpPr>
        <p:sp>
          <p:nvSpPr>
            <p:cNvPr id="7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72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73" name="텍스트 상자 31"/>
          <p:cNvSpPr txBox="1"/>
          <p:nvPr/>
        </p:nvSpPr>
        <p:spPr>
          <a:xfrm>
            <a:off x="2421414" y="1701216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8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4" name="텍스트 상자 31"/>
          <p:cNvSpPr txBox="1"/>
          <p:nvPr/>
        </p:nvSpPr>
        <p:spPr>
          <a:xfrm>
            <a:off x="2078622" y="1905205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en-US" altLang="ko-KR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lvl="0">
              <a:lnSpc>
                <a:spcPct val="120000"/>
              </a:lnSpc>
            </a:pPr>
            <a:r>
              <a:rPr lang="mr-IN" altLang="ko-KR" sz="7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r>
              <a:rPr lang="ko-KR" altLang="en-US" sz="7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더보기</a:t>
            </a:r>
            <a:endParaRPr lang="ko-KR" altLang="en-US" sz="700" dirty="0">
              <a:solidFill>
                <a:prstClr val="black">
                  <a:lumMod val="50000"/>
                  <a:lumOff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Freeform 26"/>
          <p:cNvSpPr>
            <a:spLocks noChangeAspect="1" noChangeArrowheads="1"/>
          </p:cNvSpPr>
          <p:nvPr/>
        </p:nvSpPr>
        <p:spPr bwMode="auto">
          <a:xfrm flipH="1">
            <a:off x="6726683" y="158516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76" name="Freeform 25"/>
          <p:cNvSpPr>
            <a:spLocks noChangeAspect="1" noEditPoints="1"/>
          </p:cNvSpPr>
          <p:nvPr/>
        </p:nvSpPr>
        <p:spPr bwMode="auto">
          <a:xfrm>
            <a:off x="6535161" y="1585921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79" name="Rectangle 177"/>
          <p:cNvSpPr/>
          <p:nvPr/>
        </p:nvSpPr>
        <p:spPr>
          <a:xfrm>
            <a:off x="2059951" y="2664917"/>
            <a:ext cx="4666731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80" name="Rectangle 177"/>
          <p:cNvSpPr/>
          <p:nvPr/>
        </p:nvSpPr>
        <p:spPr>
          <a:xfrm>
            <a:off x="2059952" y="2664917"/>
            <a:ext cx="457200" cy="45887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700" dirty="0">
                <a:latin typeface="+mn-ea"/>
                <a:cs typeface="Malgun Gothic" charset="0"/>
              </a:rPr>
              <a:t>image</a:t>
            </a:r>
          </a:p>
        </p:txBody>
      </p:sp>
      <p:sp>
        <p:nvSpPr>
          <p:cNvPr id="81" name="텍스트 상자 31"/>
          <p:cNvSpPr txBox="1"/>
          <p:nvPr/>
        </p:nvSpPr>
        <p:spPr>
          <a:xfrm>
            <a:off x="2591837" y="2745358"/>
            <a:ext cx="252000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en-US" altLang="ko-KR" sz="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Google </a:t>
            </a:r>
            <a:r>
              <a:rPr kumimoji="1" lang="en-US" altLang="ko-KR" sz="6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calender</a:t>
            </a:r>
            <a:endParaRPr kumimoji="1" lang="ko-KR" altLang="en-US" sz="6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구글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인터넷 캘린더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,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약속 및 행사일정 </a:t>
            </a:r>
            <a:r>
              <a:rPr lang="ko-KR" altLang="en-US" sz="6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등을 관리할 수 있습니다</a:t>
            </a:r>
            <a:r>
              <a:rPr lang="en-US" altLang="ko-KR" sz="6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. </a:t>
            </a:r>
            <a:endParaRPr kumimoji="1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2" name="텍스트 상자 31"/>
          <p:cNvSpPr txBox="1"/>
          <p:nvPr/>
        </p:nvSpPr>
        <p:spPr>
          <a:xfrm>
            <a:off x="4255226" y="2960329"/>
            <a:ext cx="999971" cy="9233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Malgun Gothic" charset="0"/>
              </a:rPr>
              <a:t>www.google.com/calendar </a:t>
            </a:r>
            <a:endParaRPr kumimoji="1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  <a:cs typeface="Malgun Gothic" charset="0"/>
            </a:endParaRPr>
          </a:p>
        </p:txBody>
      </p:sp>
      <p:sp>
        <p:nvSpPr>
          <p:cNvPr id="84" name="Rounded Rectangle 245"/>
          <p:cNvSpPr/>
          <p:nvPr/>
        </p:nvSpPr>
        <p:spPr>
          <a:xfrm>
            <a:off x="2078622" y="3204128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5" name="Rounded Rectangle 247"/>
          <p:cNvSpPr/>
          <p:nvPr/>
        </p:nvSpPr>
        <p:spPr>
          <a:xfrm>
            <a:off x="2556707" y="3204130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86" name="직선 연결선[R] 33"/>
          <p:cNvCxnSpPr/>
          <p:nvPr/>
        </p:nvCxnSpPr>
        <p:spPr>
          <a:xfrm>
            <a:off x="2052416" y="3370957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[R] 33"/>
          <p:cNvCxnSpPr/>
          <p:nvPr/>
        </p:nvCxnSpPr>
        <p:spPr>
          <a:xfrm>
            <a:off x="2052678" y="3171218"/>
            <a:ext cx="4701876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4" name="직사각형 561"/>
          <p:cNvSpPr/>
          <p:nvPr/>
        </p:nvSpPr>
        <p:spPr>
          <a:xfrm>
            <a:off x="2437360" y="1595362"/>
            <a:ext cx="151466" cy="92333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 lIns="0" tIns="0" rIns="0" bIns="0">
            <a:spAutoFit/>
          </a:bodyPr>
          <a:lstStyle/>
          <a:p>
            <a:pPr algn="ctr"/>
            <a:r>
              <a:rPr kumimoji="1" lang="en-US" altLang="ko-KR" sz="600" b="1" dirty="0" smtClean="0">
                <a:solidFill>
                  <a:schemeClr val="bg1"/>
                </a:solidFill>
                <a:latin typeface="+mj-ea"/>
              </a:rPr>
              <a:t>VIP</a:t>
            </a:r>
            <a:endParaRPr kumimoji="1" lang="en-US" altLang="ko-KR" sz="600" b="1" dirty="0">
              <a:solidFill>
                <a:schemeClr val="bg1"/>
              </a:solidFill>
              <a:latin typeface="+mj-ea"/>
            </a:endParaRPr>
          </a:p>
        </p:txBody>
      </p:sp>
      <p:grpSp>
        <p:nvGrpSpPr>
          <p:cNvPr id="181" name="Group 5"/>
          <p:cNvGrpSpPr/>
          <p:nvPr/>
        </p:nvGrpSpPr>
        <p:grpSpPr>
          <a:xfrm>
            <a:off x="1962357" y="1163604"/>
            <a:ext cx="4897398" cy="288202"/>
            <a:chOff x="444761" y="1400721"/>
            <a:chExt cx="4889293" cy="288202"/>
          </a:xfrm>
        </p:grpSpPr>
        <p:sp>
          <p:nvSpPr>
            <p:cNvPr id="182" name="Rectangle 251"/>
            <p:cNvSpPr/>
            <p:nvPr/>
          </p:nvSpPr>
          <p:spPr>
            <a:xfrm>
              <a:off x="444761" y="1400721"/>
              <a:ext cx="4889293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83" name="텍스트 상자 31"/>
            <p:cNvSpPr txBox="1"/>
            <p:nvPr/>
          </p:nvSpPr>
          <p:spPr>
            <a:xfrm>
              <a:off x="562816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UX</a:t>
              </a:r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개선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84" name="Freeform 14"/>
            <p:cNvSpPr>
              <a:spLocks noChangeArrowheads="1"/>
            </p:cNvSpPr>
            <p:nvPr/>
          </p:nvSpPr>
          <p:spPr bwMode="auto">
            <a:xfrm rot="5400000">
              <a:off x="5080459" y="1517331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063871" y="3407534"/>
            <a:ext cx="927446" cy="115755"/>
            <a:chOff x="2063871" y="2807721"/>
            <a:chExt cx="927446" cy="115755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249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51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58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59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52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53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54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55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56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57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50" name="그림 249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48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" name="Rectangle 14"/>
          <p:cNvSpPr>
            <a:spLocks/>
          </p:cNvSpPr>
          <p:nvPr/>
        </p:nvSpPr>
        <p:spPr bwMode="auto">
          <a:xfrm>
            <a:off x="540257" y="801061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8" name="Rectangle 647"/>
          <p:cNvSpPr/>
          <p:nvPr/>
        </p:nvSpPr>
        <p:spPr>
          <a:xfrm>
            <a:off x="728031" y="809474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9" name="텍스트 상자 31"/>
          <p:cNvSpPr txBox="1"/>
          <p:nvPr/>
        </p:nvSpPr>
        <p:spPr>
          <a:xfrm>
            <a:off x="622748" y="6404518"/>
            <a:ext cx="1171015" cy="184666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kumimoji="1" lang="ko-KR" altLang="en-US" sz="6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설정  </a:t>
            </a:r>
            <a:endParaRPr kumimoji="1" lang="ko-KR" altLang="en-US" sz="600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50" name="Freeform 13"/>
          <p:cNvSpPr>
            <a:spLocks noChangeAspect="1" noChangeArrowheads="1"/>
          </p:cNvSpPr>
          <p:nvPr/>
        </p:nvSpPr>
        <p:spPr bwMode="auto">
          <a:xfrm>
            <a:off x="494067" y="6447455"/>
            <a:ext cx="89257" cy="90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51" name="직선 연결선[R] 33"/>
          <p:cNvCxnSpPr/>
          <p:nvPr/>
        </p:nvCxnSpPr>
        <p:spPr>
          <a:xfrm>
            <a:off x="442136" y="6342556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 374"/>
          <p:cNvSpPr/>
          <p:nvPr/>
        </p:nvSpPr>
        <p:spPr>
          <a:xfrm>
            <a:off x="434472" y="2066266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5" name="텍스트 상자 31"/>
          <p:cNvSpPr txBox="1"/>
          <p:nvPr/>
        </p:nvSpPr>
        <p:spPr>
          <a:xfrm>
            <a:off x="622748" y="120208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6" name="텍스트 상자 31"/>
          <p:cNvSpPr txBox="1"/>
          <p:nvPr/>
        </p:nvSpPr>
        <p:spPr>
          <a:xfrm>
            <a:off x="622748" y="1426016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</a:t>
            </a:r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 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64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87388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 </a:t>
            </a:r>
            <a:r>
              <a:rPr kumimoji="1" lang="en-US" altLang="ko-KR" sz="700" b="1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9" name="텍스트 상자 31"/>
          <p:cNvSpPr txBox="1"/>
          <p:nvPr/>
        </p:nvSpPr>
        <p:spPr>
          <a:xfrm>
            <a:off x="724338" y="3230848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4338" y="3058821"/>
            <a:ext cx="1269604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1" name="텍스트 상자 31"/>
          <p:cNvSpPr txBox="1"/>
          <p:nvPr/>
        </p:nvSpPr>
        <p:spPr>
          <a:xfrm>
            <a:off x="616688" y="5893798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2" name="텍스트 상자 31"/>
          <p:cNvSpPr txBox="1"/>
          <p:nvPr/>
        </p:nvSpPr>
        <p:spPr>
          <a:xfrm>
            <a:off x="616688" y="5692910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5" name="텍스트 상자 31"/>
          <p:cNvSpPr txBox="1"/>
          <p:nvPr/>
        </p:nvSpPr>
        <p:spPr>
          <a:xfrm>
            <a:off x="616688" y="263269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" name="직선 연결선[R] 33"/>
          <p:cNvCxnSpPr/>
          <p:nvPr/>
        </p:nvCxnSpPr>
        <p:spPr>
          <a:xfrm>
            <a:off x="436076" y="2561954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24"/>
          <p:cNvSpPr>
            <a:spLocks noChangeArrowheads="1"/>
          </p:cNvSpPr>
          <p:nvPr/>
        </p:nvSpPr>
        <p:spPr bwMode="auto">
          <a:xfrm>
            <a:off x="503575" y="265725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8" name="직선 연결선[R] 33"/>
          <p:cNvCxnSpPr/>
          <p:nvPr/>
        </p:nvCxnSpPr>
        <p:spPr>
          <a:xfrm>
            <a:off x="436076" y="2801856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텍스트 상자 31"/>
          <p:cNvSpPr txBox="1"/>
          <p:nvPr/>
        </p:nvSpPr>
        <p:spPr>
          <a:xfrm>
            <a:off x="723297" y="2882725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22" name="직선 연결선[R] 33"/>
          <p:cNvCxnSpPr/>
          <p:nvPr/>
        </p:nvCxnSpPr>
        <p:spPr>
          <a:xfrm>
            <a:off x="436076" y="5584912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텍스트 상자 31"/>
          <p:cNvSpPr txBox="1"/>
          <p:nvPr/>
        </p:nvSpPr>
        <p:spPr>
          <a:xfrm>
            <a:off x="735244" y="394055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410712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6967" y="3733464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2" name="Freeform 24"/>
          <p:cNvSpPr>
            <a:spLocks noChangeArrowheads="1"/>
          </p:cNvSpPr>
          <p:nvPr/>
        </p:nvSpPr>
        <p:spPr bwMode="auto">
          <a:xfrm>
            <a:off x="618002" y="3764466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텍스트 상자 31"/>
          <p:cNvSpPr txBox="1"/>
          <p:nvPr/>
        </p:nvSpPr>
        <p:spPr>
          <a:xfrm>
            <a:off x="616688" y="347092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4" name="직선 연결선[R] 33"/>
          <p:cNvCxnSpPr/>
          <p:nvPr/>
        </p:nvCxnSpPr>
        <p:spPr>
          <a:xfrm>
            <a:off x="436076" y="340019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reeform 24"/>
          <p:cNvSpPr>
            <a:spLocks noChangeArrowheads="1"/>
          </p:cNvSpPr>
          <p:nvPr/>
        </p:nvSpPr>
        <p:spPr bwMode="auto">
          <a:xfrm>
            <a:off x="503575" y="349549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33"/>
          <p:cNvCxnSpPr/>
          <p:nvPr/>
        </p:nvCxnSpPr>
        <p:spPr>
          <a:xfrm>
            <a:off x="436076" y="3640093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TextBox 46"/>
          <p:cNvSpPr txBox="1"/>
          <p:nvPr/>
        </p:nvSpPr>
        <p:spPr>
          <a:xfrm>
            <a:off x="1536238" y="3431531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1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1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8" name="Freeform 13"/>
          <p:cNvSpPr>
            <a:spLocks noChangeAspect="1" noChangeArrowheads="1"/>
          </p:cNvSpPr>
          <p:nvPr/>
        </p:nvSpPr>
        <p:spPr bwMode="auto">
          <a:xfrm>
            <a:off x="1686798" y="3484875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8" name="텍스트 상자 31"/>
          <p:cNvSpPr txBox="1"/>
          <p:nvPr/>
        </p:nvSpPr>
        <p:spPr>
          <a:xfrm>
            <a:off x="735244" y="449315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9" name="텍스트 상자 31"/>
          <p:cNvSpPr txBox="1"/>
          <p:nvPr/>
        </p:nvSpPr>
        <p:spPr>
          <a:xfrm>
            <a:off x="735244" y="465972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6967" y="428606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1" name="Freeform 24"/>
          <p:cNvSpPr>
            <a:spLocks noChangeArrowheads="1"/>
          </p:cNvSpPr>
          <p:nvPr/>
        </p:nvSpPr>
        <p:spPr bwMode="auto">
          <a:xfrm>
            <a:off x="618002" y="431706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텍스트 상자 31"/>
          <p:cNvSpPr txBox="1"/>
          <p:nvPr/>
        </p:nvSpPr>
        <p:spPr>
          <a:xfrm>
            <a:off x="735244" y="4826864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522111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538768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6967" y="5014021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6" name="Freeform 24"/>
          <p:cNvSpPr>
            <a:spLocks noChangeArrowheads="1"/>
          </p:cNvSpPr>
          <p:nvPr/>
        </p:nvSpPr>
        <p:spPr bwMode="auto">
          <a:xfrm>
            <a:off x="618002" y="5045023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63" name="직사각형 162"/>
          <p:cNvSpPr/>
          <p:nvPr/>
        </p:nvSpPr>
        <p:spPr>
          <a:xfrm>
            <a:off x="1895475" y="361950"/>
            <a:ext cx="3371850" cy="2857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75" name="Freeform 24"/>
          <p:cNvSpPr>
            <a:spLocks noChangeArrowheads="1"/>
          </p:cNvSpPr>
          <p:nvPr/>
        </p:nvSpPr>
        <p:spPr bwMode="auto">
          <a:xfrm>
            <a:off x="503575" y="1906590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725580" y="1999546"/>
            <a:ext cx="635358" cy="52322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홍길동 대리 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이길수 과장 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pic>
        <p:nvPicPr>
          <p:cNvPr id="60" name="그림 5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906" y="2104605"/>
            <a:ext cx="134212" cy="130771"/>
          </a:xfrm>
          <a:prstGeom prst="rect">
            <a:avLst/>
          </a:prstGeom>
        </p:spPr>
      </p:pic>
      <p:pic>
        <p:nvPicPr>
          <p:cNvPr id="180" name="그림 17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906" y="2326453"/>
            <a:ext cx="134212" cy="130771"/>
          </a:xfrm>
          <a:prstGeom prst="rect">
            <a:avLst/>
          </a:prstGeom>
        </p:spPr>
      </p:pic>
      <p:grpSp>
        <p:nvGrpSpPr>
          <p:cNvPr id="185" name="그룹 184"/>
          <p:cNvGrpSpPr/>
          <p:nvPr/>
        </p:nvGrpSpPr>
        <p:grpSpPr>
          <a:xfrm>
            <a:off x="1962357" y="3687519"/>
            <a:ext cx="4897398" cy="2476490"/>
            <a:chOff x="1962357" y="1163604"/>
            <a:chExt cx="4897398" cy="2476490"/>
          </a:xfrm>
        </p:grpSpPr>
        <p:sp>
          <p:nvSpPr>
            <p:cNvPr id="186" name="Rectangle 185"/>
            <p:cNvSpPr/>
            <p:nvPr/>
          </p:nvSpPr>
          <p:spPr>
            <a:xfrm>
              <a:off x="1963755" y="1451252"/>
              <a:ext cx="4896000" cy="21888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87" name="텍스트 상자 31"/>
            <p:cNvSpPr txBox="1"/>
            <p:nvPr/>
          </p:nvSpPr>
          <p:spPr>
            <a:xfrm>
              <a:off x="2613994" y="1582594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개발본부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95" name="그룹 400"/>
            <p:cNvGrpSpPr/>
            <p:nvPr/>
          </p:nvGrpSpPr>
          <p:grpSpPr>
            <a:xfrm>
              <a:off x="2078622" y="1572125"/>
              <a:ext cx="229236" cy="229194"/>
              <a:chOff x="2625629" y="3735853"/>
              <a:chExt cx="276891" cy="276839"/>
            </a:xfrm>
          </p:grpSpPr>
          <p:sp>
            <p:nvSpPr>
              <p:cNvPr id="22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2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96" name="텍스트 상자 31"/>
            <p:cNvSpPr txBox="1"/>
            <p:nvPr/>
          </p:nvSpPr>
          <p:spPr>
            <a:xfrm>
              <a:off x="2421414" y="1701215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8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12.19</a:t>
              </a:r>
              <a:endParaRPr kumimoji="1"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97" name="텍스트 상자 31"/>
            <p:cNvSpPr txBox="1"/>
            <p:nvPr/>
          </p:nvSpPr>
          <p:spPr>
            <a:xfrm>
              <a:off x="2078622" y="1905205"/>
              <a:ext cx="3198684" cy="646331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개발 일정 공유드립니다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아래 링크타고 들어가서 확인해주세요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!</a:t>
              </a:r>
              <a:endPara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2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더불어 몇가지 이슈가 있어 공유드립니다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 marL="228600" indent="-228600">
                <a:lnSpc>
                  <a:spcPct val="120000"/>
                </a:lnSpc>
                <a:buFontTx/>
                <a:buAutoNum type="arabicPeriod"/>
              </a:pPr>
              <a:r>
                <a:rPr kumimoji="1" lang="ko-KR" altLang="en-US" sz="7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블라블라</a:t>
              </a:r>
              <a:r>
                <a:rPr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블라블라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 marL="228600" indent="-228600">
                <a:lnSpc>
                  <a:spcPct val="120000"/>
                </a:lnSpc>
                <a:buFontTx/>
                <a:buAutoNum type="arabicPeriod"/>
              </a:pPr>
              <a:r>
                <a:rPr lang="ko-KR" altLang="en-US" sz="7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블라블라</a:t>
              </a:r>
              <a:endPara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 lvl="0">
                <a:lnSpc>
                  <a:spcPct val="120000"/>
                </a:lnSpc>
              </a:pPr>
              <a:r>
                <a:rPr lang="mr-IN" altLang="ko-KR" sz="7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  <a:r>
                <a:rPr lang="ko-KR" altLang="en-US" sz="7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dirty="0" err="1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더보기</a:t>
              </a:r>
              <a:endParaRPr lang="ko-KR" altLang="en-US" sz="7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8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1585164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199" name="Freeform 25"/>
            <p:cNvSpPr>
              <a:spLocks noChangeAspect="1" noEditPoints="1"/>
            </p:cNvSpPr>
            <p:nvPr/>
          </p:nvSpPr>
          <p:spPr bwMode="auto">
            <a:xfrm>
              <a:off x="6535161" y="1585921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200" name="Rectangle 177"/>
            <p:cNvSpPr/>
            <p:nvPr/>
          </p:nvSpPr>
          <p:spPr>
            <a:xfrm>
              <a:off x="2059951" y="2664917"/>
              <a:ext cx="4666731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01" name="Rectangle 177"/>
            <p:cNvSpPr/>
            <p:nvPr/>
          </p:nvSpPr>
          <p:spPr>
            <a:xfrm>
              <a:off x="2059952" y="2664917"/>
              <a:ext cx="457200" cy="45887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700" dirty="0">
                  <a:latin typeface="+mn-ea"/>
                  <a:cs typeface="Malgun Gothic" charset="0"/>
                </a:rPr>
                <a:t>image</a:t>
              </a:r>
            </a:p>
          </p:txBody>
        </p:sp>
        <p:sp>
          <p:nvSpPr>
            <p:cNvPr id="202" name="텍스트 상자 31"/>
            <p:cNvSpPr txBox="1"/>
            <p:nvPr/>
          </p:nvSpPr>
          <p:spPr>
            <a:xfrm>
              <a:off x="2591837" y="2745358"/>
              <a:ext cx="2520005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en-US" altLang="ko-KR" sz="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Google </a:t>
              </a:r>
              <a:r>
                <a:rPr kumimoji="1" lang="en-US" altLang="ko-KR" sz="600" b="1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calender</a:t>
              </a:r>
              <a:endParaRPr kumimoji="1" lang="ko-KR" altLang="en-US" sz="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r>
                <a:rPr lang="ko-KR" altLang="en-US" sz="6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구글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인터넷 캘린더</a:t>
              </a:r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, 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약속 및 행사일정 </a:t>
              </a:r>
              <a:r>
                <a:rPr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등을 관리할 수 있습니다</a:t>
              </a:r>
              <a:r>
                <a:rPr lang="en-US" altLang="ko-KR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. 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03" name="텍스트 상자 31"/>
            <p:cNvSpPr txBox="1"/>
            <p:nvPr/>
          </p:nvSpPr>
          <p:spPr>
            <a:xfrm>
              <a:off x="4255226" y="2960329"/>
              <a:ext cx="999971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algn="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  <a:cs typeface="Malgun Gothic" charset="0"/>
                </a:rPr>
                <a:t>www.google.com/calendar 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Malgun Gothic" charset="0"/>
              </a:endParaRPr>
            </a:p>
          </p:txBody>
        </p:sp>
        <p:sp>
          <p:nvSpPr>
            <p:cNvPr id="204" name="Rounded Rectangle 245"/>
            <p:cNvSpPr/>
            <p:nvPr/>
          </p:nvSpPr>
          <p:spPr>
            <a:xfrm>
              <a:off x="2078622" y="3204128"/>
              <a:ext cx="420172" cy="126376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r>
                <a:rPr lang="ko-KR" altLang="en-US" sz="550" dirty="0" smtClean="0">
                  <a:solidFill>
                    <a:schemeClr val="bg1"/>
                  </a:solidFill>
                  <a:latin typeface="+mn-ea"/>
                </a:rPr>
                <a:t>공지사항</a:t>
              </a:r>
              <a:endParaRPr lang="en-US" sz="5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5" name="Rounded Rectangle 247"/>
            <p:cNvSpPr/>
            <p:nvPr/>
          </p:nvSpPr>
          <p:spPr>
            <a:xfrm>
              <a:off x="2556707" y="3204130"/>
              <a:ext cx="292746" cy="126376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r>
                <a:rPr lang="ko-KR" altLang="en-US" sz="55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일정</a:t>
              </a:r>
              <a:endParaRPr lang="en-US" sz="5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cxnSp>
          <p:nvCxnSpPr>
            <p:cNvPr id="206" name="직선 연결선[R] 33"/>
            <p:cNvCxnSpPr/>
            <p:nvPr/>
          </p:nvCxnSpPr>
          <p:spPr>
            <a:xfrm>
              <a:off x="2052416" y="3370957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직선 연결선[R] 33"/>
            <p:cNvCxnSpPr/>
            <p:nvPr/>
          </p:nvCxnSpPr>
          <p:spPr>
            <a:xfrm>
              <a:off x="2052678" y="3171218"/>
              <a:ext cx="470187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직사각형 561"/>
            <p:cNvSpPr/>
            <p:nvPr/>
          </p:nvSpPr>
          <p:spPr>
            <a:xfrm>
              <a:off x="2437360" y="1595362"/>
              <a:ext cx="151466" cy="92333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kumimoji="1" lang="en-US" altLang="ko-KR" sz="600" b="1" dirty="0" smtClean="0">
                  <a:solidFill>
                    <a:schemeClr val="bg1"/>
                  </a:solidFill>
                  <a:latin typeface="+mj-ea"/>
                </a:rPr>
                <a:t>VIP</a:t>
              </a:r>
              <a:endParaRPr kumimoji="1" lang="en-US" altLang="ko-KR" sz="600" b="1" dirty="0">
                <a:solidFill>
                  <a:schemeClr val="bg1"/>
                </a:solidFill>
                <a:latin typeface="+mj-ea"/>
              </a:endParaRPr>
            </a:p>
          </p:txBody>
        </p:sp>
        <p:grpSp>
          <p:nvGrpSpPr>
            <p:cNvPr id="209" name="Group 5"/>
            <p:cNvGrpSpPr/>
            <p:nvPr/>
          </p:nvGrpSpPr>
          <p:grpSpPr>
            <a:xfrm>
              <a:off x="1962357" y="1163604"/>
              <a:ext cx="4897398" cy="288202"/>
              <a:chOff x="444761" y="1400721"/>
              <a:chExt cx="4889293" cy="288202"/>
            </a:xfrm>
          </p:grpSpPr>
          <p:sp>
            <p:nvSpPr>
              <p:cNvPr id="224" name="Rectangle 251"/>
              <p:cNvSpPr/>
              <p:nvPr/>
            </p:nvSpPr>
            <p:spPr>
              <a:xfrm>
                <a:off x="444761" y="1400721"/>
                <a:ext cx="4889293" cy="28820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+mn-ea"/>
                </a:endParaRPr>
              </a:p>
            </p:txBody>
          </p:sp>
          <p:sp>
            <p:nvSpPr>
              <p:cNvPr id="225" name="텍스트 상자 31"/>
              <p:cNvSpPr txBox="1"/>
              <p:nvPr/>
            </p:nvSpPr>
            <p:spPr>
              <a:xfrm>
                <a:off x="562816" y="1490961"/>
                <a:ext cx="190410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자동차 </a:t>
                </a:r>
                <a:r>
                  <a:rPr kumimoji="1" lang="en-US" altLang="ko-KR" sz="700" b="1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UX</a:t>
                </a:r>
                <a:r>
                  <a:rPr kumimoji="1" lang="ko-KR" altLang="en-US" sz="700" b="1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개선</a:t>
                </a:r>
                <a:endParaRPr kumimoji="1" lang="ko-KR" altLang="en-US" sz="7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26" name="Freeform 14"/>
              <p:cNvSpPr>
                <a:spLocks noChangeArrowheads="1"/>
              </p:cNvSpPr>
              <p:nvPr/>
            </p:nvSpPr>
            <p:spPr bwMode="auto">
              <a:xfrm rot="5400000">
                <a:off x="5080459" y="1517331"/>
                <a:ext cx="91044" cy="55638"/>
              </a:xfrm>
              <a:custGeom>
                <a:avLst/>
                <a:gdLst>
                  <a:gd name="T0" fmla="*/ 36 w 316"/>
                  <a:gd name="T1" fmla="*/ 193 h 194"/>
                  <a:gd name="T2" fmla="*/ 158 w 316"/>
                  <a:gd name="T3" fmla="*/ 72 h 194"/>
                  <a:gd name="T4" fmla="*/ 280 w 316"/>
                  <a:gd name="T5" fmla="*/ 193 h 194"/>
                  <a:gd name="T6" fmla="*/ 315 w 316"/>
                  <a:gd name="T7" fmla="*/ 158 h 194"/>
                  <a:gd name="T8" fmla="*/ 158 w 316"/>
                  <a:gd name="T9" fmla="*/ 0 h 194"/>
                  <a:gd name="T10" fmla="*/ 0 w 316"/>
                  <a:gd name="T11" fmla="*/ 158 h 194"/>
                  <a:gd name="T12" fmla="*/ 36 w 316"/>
                  <a:gd name="T13" fmla="*/ 19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6" h="194">
                    <a:moveTo>
                      <a:pt x="36" y="193"/>
                    </a:moveTo>
                    <a:lnTo>
                      <a:pt x="158" y="72"/>
                    </a:lnTo>
                    <a:lnTo>
                      <a:pt x="280" y="193"/>
                    </a:lnTo>
                    <a:lnTo>
                      <a:pt x="315" y="158"/>
                    </a:lnTo>
                    <a:lnTo>
                      <a:pt x="158" y="0"/>
                    </a:lnTo>
                    <a:lnTo>
                      <a:pt x="0" y="158"/>
                    </a:lnTo>
                    <a:lnTo>
                      <a:pt x="36" y="193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210" name="그룹 209"/>
            <p:cNvGrpSpPr/>
            <p:nvPr/>
          </p:nvGrpSpPr>
          <p:grpSpPr>
            <a:xfrm>
              <a:off x="2063871" y="3407534"/>
              <a:ext cx="927446" cy="115755"/>
              <a:chOff x="2063871" y="2807721"/>
              <a:chExt cx="927446" cy="115755"/>
            </a:xfrm>
          </p:grpSpPr>
          <p:grpSp>
            <p:nvGrpSpPr>
              <p:cNvPr id="211" name="그룹 210"/>
              <p:cNvGrpSpPr/>
              <p:nvPr/>
            </p:nvGrpSpPr>
            <p:grpSpPr>
              <a:xfrm>
                <a:off x="2195181" y="2807721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213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215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222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23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216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217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218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219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20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21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214" name="그림 213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212" name="Freeform 739"/>
              <p:cNvSpPr>
                <a:spLocks noChangeAspect="1"/>
              </p:cNvSpPr>
              <p:nvPr/>
            </p:nvSpPr>
            <p:spPr>
              <a:xfrm>
                <a:off x="2063871" y="2822987"/>
                <a:ext cx="76920" cy="85196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40" name="Add"/>
          <p:cNvSpPr>
            <a:spLocks noChangeAspect="1"/>
          </p:cNvSpPr>
          <p:nvPr/>
        </p:nvSpPr>
        <p:spPr bwMode="auto">
          <a:xfrm>
            <a:off x="1518713" y="1893871"/>
            <a:ext cx="71563" cy="71563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1" name="텍스트 상자 31"/>
          <p:cNvSpPr txBox="1"/>
          <p:nvPr/>
        </p:nvSpPr>
        <p:spPr>
          <a:xfrm>
            <a:off x="1967017" y="844942"/>
            <a:ext cx="151526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smtClean="0">
                <a:latin typeface="+mn-ea"/>
                <a:ea typeface="+mn-ea"/>
              </a:rPr>
              <a:t>홍길동</a:t>
            </a:r>
            <a:r>
              <a:rPr kumimoji="1" lang="ko-KR" altLang="en-US" sz="80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님이 작성한 글</a:t>
            </a:r>
            <a:endParaRPr kumimoji="1" lang="ko-KR" altLang="en-US" sz="6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2" name="타원 141"/>
          <p:cNvSpPr/>
          <p:nvPr/>
        </p:nvSpPr>
        <p:spPr>
          <a:xfrm>
            <a:off x="7114119" y="3601100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2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cxnSp>
        <p:nvCxnSpPr>
          <p:cNvPr id="9" name="직선 화살표 연결선 8"/>
          <p:cNvCxnSpPr/>
          <p:nvPr/>
        </p:nvCxnSpPr>
        <p:spPr>
          <a:xfrm>
            <a:off x="7524750" y="1163604"/>
            <a:ext cx="0" cy="5425580"/>
          </a:xfrm>
          <a:prstGeom prst="straightConnector1">
            <a:avLst/>
          </a:prstGeom>
          <a:ln w="3175">
            <a:solidFill>
              <a:srgbClr val="FF33CC"/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 rot="5400000">
            <a:off x="7353300" y="3861204"/>
            <a:ext cx="560016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rgbClr val="FF33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Scroll</a:t>
            </a:r>
            <a:r>
              <a:rPr lang="ko-KR" altLang="en-US" sz="800" smtClean="0">
                <a:solidFill>
                  <a:srgbClr val="FF33CC"/>
                </a:solidFill>
                <a:latin typeface="Tahoma" panose="020B0604030504040204" pitchFamily="34" charset="0"/>
                <a:ea typeface="+mn-ea"/>
                <a:cs typeface="Tahoma" panose="020B0604030504040204" pitchFamily="34" charset="0"/>
              </a:rPr>
              <a:t> </a:t>
            </a:r>
            <a:r>
              <a:rPr lang="en-US" altLang="ko-KR" sz="800" smtClean="0">
                <a:solidFill>
                  <a:srgbClr val="FF33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area</a:t>
            </a:r>
            <a:endParaRPr lang="ko-KR" altLang="en-US" sz="800" dirty="0" smtClean="0">
              <a:solidFill>
                <a:srgbClr val="FF33CC"/>
              </a:solidFill>
              <a:latin typeface="Tahoma" panose="020B0604030504040204" pitchFamily="34" charset="0"/>
              <a:ea typeface="+mn-ea"/>
              <a:cs typeface="Tahoma" panose="020B0604030504040204" pitchFamily="34" charset="0"/>
            </a:endParaRPr>
          </a:p>
        </p:txBody>
      </p:sp>
      <p:sp>
        <p:nvSpPr>
          <p:cNvPr id="37" name="오른쪽 중괄호 36"/>
          <p:cNvSpPr/>
          <p:nvPr/>
        </p:nvSpPr>
        <p:spPr>
          <a:xfrm>
            <a:off x="6934199" y="1201704"/>
            <a:ext cx="123825" cy="4941921"/>
          </a:xfrm>
          <a:prstGeom prst="rightBrace">
            <a:avLst>
              <a:gd name="adj1" fmla="val 161111"/>
              <a:gd name="adj2" fmla="val 50000"/>
            </a:avLst>
          </a:prstGeom>
          <a:ln w="3175">
            <a:solidFill>
              <a:srgbClr val="FF0000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TextBox 146"/>
          <p:cNvSpPr txBox="1"/>
          <p:nvPr/>
        </p:nvSpPr>
        <p:spPr>
          <a:xfrm>
            <a:off x="1228825" y="80066"/>
            <a:ext cx="914400" cy="2056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VIP</a:t>
            </a:r>
            <a:r>
              <a:rPr lang="ko-KR" altLang="en-US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글</a:t>
            </a:r>
            <a:r>
              <a:rPr lang="en-US" altLang="ko-KR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ko-KR" altLang="en-US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피드</a:t>
            </a:r>
            <a:endParaRPr kumimoji="1" lang="ko-KR" altLang="en-US" sz="800" b="1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441750" y="73521"/>
            <a:ext cx="2526458" cy="216024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&gt;VIP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0" name="텍스트 상자 31"/>
          <p:cNvSpPr txBox="1"/>
          <p:nvPr/>
        </p:nvSpPr>
        <p:spPr>
          <a:xfrm>
            <a:off x="4290490" y="874786"/>
            <a:ext cx="90110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사진</a:t>
            </a:r>
            <a:endParaRPr kumimoji="1"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1" name="텍스트 상자 31"/>
          <p:cNvSpPr txBox="1"/>
          <p:nvPr/>
        </p:nvSpPr>
        <p:spPr>
          <a:xfrm>
            <a:off x="3834671" y="879488"/>
            <a:ext cx="895711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</a:t>
            </a:r>
            <a:endParaRPr kumimoji="1"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52" name="직선 연결선[R] 7"/>
          <p:cNvCxnSpPr/>
          <p:nvPr/>
        </p:nvCxnSpPr>
        <p:spPr>
          <a:xfrm>
            <a:off x="4059111" y="1050903"/>
            <a:ext cx="457127" cy="0"/>
          </a:xfrm>
          <a:prstGeom prst="line">
            <a:avLst/>
          </a:prstGeom>
          <a:ln w="38100">
            <a:solidFill>
              <a:schemeClr val="tx1">
                <a:lumMod val="65000"/>
                <a:lumOff val="35000"/>
              </a:schemeClr>
            </a:solidFill>
            <a:miter lim="400000"/>
          </a:ln>
        </p:spPr>
      </p:cxnSp>
      <p:sp>
        <p:nvSpPr>
          <p:cNvPr id="153" name="텍스트 상자 31"/>
          <p:cNvSpPr txBox="1"/>
          <p:nvPr/>
        </p:nvSpPr>
        <p:spPr>
          <a:xfrm>
            <a:off x="4741657" y="874786"/>
            <a:ext cx="90110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</a:t>
            </a:r>
            <a:endParaRPr kumimoji="1"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5" name="텍스트 상자 31"/>
          <p:cNvSpPr txBox="1"/>
          <p:nvPr/>
        </p:nvSpPr>
        <p:spPr>
          <a:xfrm>
            <a:off x="5669827" y="874786"/>
            <a:ext cx="90110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공지</a:t>
            </a:r>
            <a:endParaRPr kumimoji="1"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6" name="텍스트 상자 31"/>
          <p:cNvSpPr txBox="1"/>
          <p:nvPr/>
        </p:nvSpPr>
        <p:spPr>
          <a:xfrm>
            <a:off x="5217139" y="874786"/>
            <a:ext cx="90110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kumimoji="1" lang="ko-KR" altLang="en-US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보고</a:t>
            </a:r>
            <a:endParaRPr kumimoji="1"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2" name="직사각형 51"/>
          <p:cNvSpPr/>
          <p:nvPr/>
        </p:nvSpPr>
        <p:spPr>
          <a:xfrm>
            <a:off x="1877939" y="822103"/>
            <a:ext cx="419100" cy="1905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62" name="Rectangle 251"/>
          <p:cNvSpPr/>
          <p:nvPr/>
        </p:nvSpPr>
        <p:spPr>
          <a:xfrm>
            <a:off x="1962357" y="1163604"/>
            <a:ext cx="4897398" cy="288202"/>
          </a:xfrm>
          <a:prstGeom prst="rect">
            <a:avLst/>
          </a:prstGeom>
          <a:solidFill>
            <a:schemeClr val="tx1">
              <a:lumMod val="95000"/>
              <a:lumOff val="5000"/>
              <a:alpha val="39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smtClean="0">
                <a:latin typeface="+mn-ea"/>
              </a:rPr>
              <a:t>스퀘어 그룹명</a:t>
            </a:r>
            <a:endParaRPr lang="en-US" sz="800">
              <a:latin typeface="+mn-ea"/>
            </a:endParaRPr>
          </a:p>
        </p:txBody>
      </p:sp>
      <p:sp>
        <p:nvSpPr>
          <p:cNvPr id="164" name="Rectangle 251"/>
          <p:cNvSpPr/>
          <p:nvPr/>
        </p:nvSpPr>
        <p:spPr>
          <a:xfrm>
            <a:off x="1963755" y="1473874"/>
            <a:ext cx="4897398" cy="2156107"/>
          </a:xfrm>
          <a:prstGeom prst="rect">
            <a:avLst/>
          </a:prstGeom>
          <a:solidFill>
            <a:schemeClr val="tx1">
              <a:lumMod val="95000"/>
              <a:lumOff val="5000"/>
              <a:alpha val="39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smtClean="0">
                <a:latin typeface="+mn-ea"/>
              </a:rPr>
              <a:t>컨텐츠</a:t>
            </a:r>
            <a:endParaRPr lang="en-US" sz="800">
              <a:latin typeface="+mn-ea"/>
            </a:endParaRPr>
          </a:p>
        </p:txBody>
      </p:sp>
      <p:graphicFrame>
        <p:nvGraphicFramePr>
          <p:cNvPr id="14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0714981"/>
              </p:ext>
            </p:extLst>
          </p:nvPr>
        </p:nvGraphicFramePr>
        <p:xfrm>
          <a:off x="9290533" y="786383"/>
          <a:ext cx="2835141" cy="1072733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VIP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등록된 사용자명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해당 사용자가 등록된 피드를 최신 등록순으로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사진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파일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보고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공지도 해당 사용자가 등록한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컨텐츠만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2417430"/>
                  </a:ext>
                </a:extLst>
              </a:tr>
            </a:tbl>
          </a:graphicData>
        </a:graphic>
      </p:graphicFrame>
      <p:sp>
        <p:nvSpPr>
          <p:cNvPr id="160" name="타원 159"/>
          <p:cNvSpPr/>
          <p:nvPr/>
        </p:nvSpPr>
        <p:spPr>
          <a:xfrm>
            <a:off x="1799169" y="745505"/>
            <a:ext cx="139263" cy="141817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482252" y="5634902"/>
            <a:ext cx="132015" cy="415860"/>
            <a:chOff x="482252" y="5158652"/>
            <a:chExt cx="132015" cy="415860"/>
          </a:xfrm>
        </p:grpSpPr>
        <p:sp>
          <p:nvSpPr>
            <p:cNvPr id="146" name="TextBox 145"/>
            <p:cNvSpPr txBox="1"/>
            <p:nvPr/>
          </p:nvSpPr>
          <p:spPr>
            <a:xfrm>
              <a:off x="482252" y="5158652"/>
              <a:ext cx="132015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8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&gt;</a:t>
              </a:r>
              <a:endParaRPr lang="ko-KR" altLang="en-US" sz="8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482252" y="5359068"/>
              <a:ext cx="132015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8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&gt;</a:t>
              </a:r>
              <a:endParaRPr lang="ko-KR" altLang="en-US" sz="8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38779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303"/>
          <p:cNvSpPr/>
          <p:nvPr/>
        </p:nvSpPr>
        <p:spPr>
          <a:xfrm>
            <a:off x="371018" y="654216"/>
            <a:ext cx="5547144" cy="3862179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1971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3" name="Rectangle 303"/>
          <p:cNvSpPr/>
          <p:nvPr/>
        </p:nvSpPr>
        <p:spPr>
          <a:xfrm>
            <a:off x="371018" y="654216"/>
            <a:ext cx="5547144" cy="3862179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1971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4" name="Rectangle 304"/>
          <p:cNvSpPr/>
          <p:nvPr/>
        </p:nvSpPr>
        <p:spPr>
          <a:xfrm>
            <a:off x="391788" y="671188"/>
            <a:ext cx="5526375" cy="2533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1971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5" name="텍스트 상자 31"/>
          <p:cNvSpPr txBox="1"/>
          <p:nvPr/>
        </p:nvSpPr>
        <p:spPr>
          <a:xfrm>
            <a:off x="470443" y="738503"/>
            <a:ext cx="262858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en-US" altLang="ko-KR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VIP </a:t>
            </a:r>
            <a:r>
              <a:rPr lang="ko-KR" altLang="en-US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지정</a:t>
            </a:r>
            <a:endParaRPr lang="ko-KR" altLang="en-US" sz="800" b="1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06" name="Rounded Rectangle 658"/>
          <p:cNvSpPr/>
          <p:nvPr/>
        </p:nvSpPr>
        <p:spPr>
          <a:xfrm>
            <a:off x="2732948" y="4253693"/>
            <a:ext cx="408869" cy="162410"/>
          </a:xfrm>
          <a:prstGeom prst="roundRect">
            <a:avLst>
              <a:gd name="adj" fmla="val 8420"/>
            </a:avLst>
          </a:prstGeom>
          <a:solidFill>
            <a:schemeClr val="bg1">
              <a:lumMod val="85000"/>
            </a:schemeClr>
          </a:solidFill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완료</a:t>
            </a:r>
            <a:endParaRPr kumimoji="0" lang="en-US" sz="686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+mn-ea"/>
            </a:endParaRPr>
          </a:p>
        </p:txBody>
      </p:sp>
      <p:sp>
        <p:nvSpPr>
          <p:cNvPr id="107" name="Rounded Rectangle 659"/>
          <p:cNvSpPr/>
          <p:nvPr/>
        </p:nvSpPr>
        <p:spPr>
          <a:xfrm>
            <a:off x="3193487" y="4253551"/>
            <a:ext cx="408869" cy="1624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86" dirty="0">
                <a:solidFill>
                  <a:prstClr val="white">
                    <a:lumMod val="50000"/>
                  </a:prstClr>
                </a:solidFill>
                <a:latin typeface="Calibri"/>
                <a:ea typeface="맑은 고딕" panose="020B0503020000020004" pitchFamily="50" charset="-127"/>
              </a:rPr>
              <a:t>취소</a:t>
            </a:r>
            <a:endParaRPr kumimoji="0" lang="en-US" sz="686" dirty="0">
              <a:solidFill>
                <a:prstClr val="white">
                  <a:lumMod val="50000"/>
                </a:prstClr>
              </a:solidFill>
              <a:latin typeface="Calibri"/>
              <a:ea typeface="+mn-ea"/>
            </a:endParaRPr>
          </a:p>
        </p:txBody>
      </p:sp>
      <p:sp>
        <p:nvSpPr>
          <p:cNvPr id="108" name="Rounded Rectangle 658"/>
          <p:cNvSpPr/>
          <p:nvPr/>
        </p:nvSpPr>
        <p:spPr>
          <a:xfrm>
            <a:off x="4271835" y="3857224"/>
            <a:ext cx="966518" cy="162410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686" u="sng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+mn-ea"/>
            </a:endParaRPr>
          </a:p>
        </p:txBody>
      </p:sp>
      <p:grpSp>
        <p:nvGrpSpPr>
          <p:cNvPr id="109" name="Group 17"/>
          <p:cNvGrpSpPr/>
          <p:nvPr/>
        </p:nvGrpSpPr>
        <p:grpSpPr>
          <a:xfrm>
            <a:off x="497014" y="1236322"/>
            <a:ext cx="1420017" cy="138932"/>
            <a:chOff x="1664662" y="5746474"/>
            <a:chExt cx="2016000" cy="197242"/>
          </a:xfrm>
        </p:grpSpPr>
        <p:sp>
          <p:nvSpPr>
            <p:cNvPr id="110" name="Rectangle 14"/>
            <p:cNvSpPr>
              <a:spLocks/>
            </p:cNvSpPr>
            <p:nvPr/>
          </p:nvSpPr>
          <p:spPr bwMode="auto">
            <a:xfrm>
              <a:off x="1664662" y="5746474"/>
              <a:ext cx="2016000" cy="197242"/>
            </a:xfrm>
            <a:prstGeom prst="rect">
              <a:avLst/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43543" tIns="43543" rIns="43543" bIns="43543" anchor="ctr"/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x-none" altLang="x-none" sz="2057">
                <a:solidFill>
                  <a:srgbClr val="FFFFFF"/>
                </a:solidFill>
                <a:latin typeface="Calibri"/>
                <a:ea typeface="+mn-ea"/>
              </a:endParaRPr>
            </a:p>
          </p:txBody>
        </p:sp>
        <p:sp>
          <p:nvSpPr>
            <p:cNvPr id="115" name="Freeform 10"/>
            <p:cNvSpPr>
              <a:spLocks noChangeAspect="1" noChangeArrowheads="1"/>
            </p:cNvSpPr>
            <p:nvPr/>
          </p:nvSpPr>
          <p:spPr bwMode="auto">
            <a:xfrm>
              <a:off x="3530512" y="5795965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sp>
          <p:nvSpPr>
            <p:cNvPr id="116" name="텍스트 상자 31"/>
            <p:cNvSpPr txBox="1"/>
            <p:nvPr/>
          </p:nvSpPr>
          <p:spPr>
            <a:xfrm>
              <a:off x="1753060" y="5786326"/>
              <a:ext cx="1614919" cy="112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514" dirty="0">
                  <a:solidFill>
                    <a:prstClr val="white">
                      <a:lumMod val="7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부서명</a:t>
              </a:r>
              <a:r>
                <a:rPr lang="en-US" altLang="ko-KR" sz="514" dirty="0">
                  <a:solidFill>
                    <a:prstClr val="white">
                      <a:lumMod val="7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,</a:t>
              </a:r>
              <a:r>
                <a:rPr lang="ko-KR" altLang="en-US" sz="514" dirty="0">
                  <a:solidFill>
                    <a:prstClr val="white">
                      <a:lumMod val="7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 이름</a:t>
              </a:r>
              <a:r>
                <a:rPr lang="en-US" altLang="ko-KR" sz="514" dirty="0">
                  <a:solidFill>
                    <a:prstClr val="white">
                      <a:lumMod val="7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,</a:t>
              </a:r>
              <a:r>
                <a:rPr lang="ko-KR" altLang="en-US" sz="514" dirty="0">
                  <a:solidFill>
                    <a:prstClr val="white">
                      <a:lumMod val="7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 직위 검색</a:t>
              </a:r>
            </a:p>
          </p:txBody>
        </p:sp>
      </p:grpSp>
      <p:sp>
        <p:nvSpPr>
          <p:cNvPr id="117" name="Rounded Rectangle 185"/>
          <p:cNvSpPr/>
          <p:nvPr/>
        </p:nvSpPr>
        <p:spPr>
          <a:xfrm>
            <a:off x="5781873" y="1403868"/>
            <a:ext cx="61714" cy="729573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  <a:alpha val="5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1971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1" name="Rectangle 622"/>
          <p:cNvSpPr/>
          <p:nvPr/>
        </p:nvSpPr>
        <p:spPr>
          <a:xfrm>
            <a:off x="2419535" y="1218159"/>
            <a:ext cx="3435566" cy="259043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686" dirty="0">
              <a:solidFill>
                <a:prstClr val="white">
                  <a:lumMod val="75000"/>
                </a:prstClr>
              </a:solidFill>
              <a:latin typeface="Calibri"/>
            </a:endParaRPr>
          </a:p>
        </p:txBody>
      </p:sp>
      <p:sp>
        <p:nvSpPr>
          <p:cNvPr id="122" name="Rectangle 342"/>
          <p:cNvSpPr/>
          <p:nvPr/>
        </p:nvSpPr>
        <p:spPr>
          <a:xfrm>
            <a:off x="496941" y="996736"/>
            <a:ext cx="1423370" cy="2834673"/>
          </a:xfrm>
          <a:prstGeom prst="rect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686" dirty="0">
              <a:solidFill>
                <a:prstClr val="white">
                  <a:lumMod val="75000"/>
                </a:prstClr>
              </a:solidFill>
              <a:latin typeface="Calibri"/>
            </a:endParaRPr>
          </a:p>
        </p:txBody>
      </p:sp>
      <p:cxnSp>
        <p:nvCxnSpPr>
          <p:cNvPr id="124" name="직선 연결선[R] 33"/>
          <p:cNvCxnSpPr/>
          <p:nvPr/>
        </p:nvCxnSpPr>
        <p:spPr>
          <a:xfrm>
            <a:off x="371018" y="924127"/>
            <a:ext cx="5547144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텍스트 상자 31"/>
          <p:cNvSpPr txBox="1"/>
          <p:nvPr/>
        </p:nvSpPr>
        <p:spPr>
          <a:xfrm>
            <a:off x="536159" y="1071167"/>
            <a:ext cx="322204" cy="10554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86" b="1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조직도   </a:t>
            </a:r>
            <a:endParaRPr lang="en-US" altLang="ko-KR" sz="686" dirty="0">
              <a:solidFill>
                <a:prstClr val="black">
                  <a:lumMod val="50000"/>
                  <a:lumOff val="50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26" name="텍스트 상자 31"/>
          <p:cNvSpPr txBox="1"/>
          <p:nvPr/>
        </p:nvSpPr>
        <p:spPr>
          <a:xfrm>
            <a:off x="2456153" y="1025632"/>
            <a:ext cx="1748362" cy="10554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86" b="1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받는 사람  </a:t>
            </a:r>
            <a:r>
              <a:rPr lang="en-US" altLang="ko-KR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|</a:t>
            </a:r>
            <a:r>
              <a:rPr lang="ko-KR" altLang="en-US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 </a:t>
            </a:r>
            <a:r>
              <a:rPr lang="en-US" altLang="ko-KR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 </a:t>
            </a:r>
            <a:r>
              <a:rPr lang="ko-KR" altLang="en-US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참조  </a:t>
            </a:r>
            <a:r>
              <a:rPr lang="en-US" altLang="ko-KR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| </a:t>
            </a:r>
            <a:r>
              <a:rPr lang="ko-KR" altLang="en-US" sz="686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 숨은참조</a:t>
            </a:r>
          </a:p>
        </p:txBody>
      </p:sp>
      <p:grpSp>
        <p:nvGrpSpPr>
          <p:cNvPr id="127" name="그룹 126"/>
          <p:cNvGrpSpPr/>
          <p:nvPr/>
        </p:nvGrpSpPr>
        <p:grpSpPr>
          <a:xfrm>
            <a:off x="501644" y="3909153"/>
            <a:ext cx="1323217" cy="122179"/>
            <a:chOff x="1454943" y="5149426"/>
            <a:chExt cx="1543754" cy="142542"/>
          </a:xfrm>
        </p:grpSpPr>
        <p:sp>
          <p:nvSpPr>
            <p:cNvPr id="128" name="텍스트 상자 31"/>
            <p:cNvSpPr txBox="1"/>
            <p:nvPr/>
          </p:nvSpPr>
          <p:spPr>
            <a:xfrm>
              <a:off x="1610902" y="5166836"/>
              <a:ext cx="469413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선택된 부서</a:t>
              </a:r>
              <a:endParaRPr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1454943" y="5149426"/>
              <a:ext cx="137010" cy="142542"/>
              <a:chOff x="1454942" y="5198707"/>
              <a:chExt cx="257895" cy="268308"/>
            </a:xfrm>
          </p:grpSpPr>
          <p:sp>
            <p:nvSpPr>
              <p:cNvPr id="132" name="타원형"/>
              <p:cNvSpPr>
                <a:spLocks noChangeAspect="1"/>
              </p:cNvSpPr>
              <p:nvPr/>
            </p:nvSpPr>
            <p:spPr>
              <a:xfrm>
                <a:off x="1454942" y="5198707"/>
                <a:ext cx="257895" cy="268308"/>
              </a:xfrm>
              <a:prstGeom prst="ellipse">
                <a:avLst/>
              </a:prstGeom>
              <a:solidFill>
                <a:schemeClr val="bg1"/>
              </a:solidFill>
              <a:ln w="6350" cap="flat">
                <a:solidFill>
                  <a:schemeClr val="tx1">
                    <a:lumMod val="50000"/>
                    <a:lumOff val="50000"/>
                  </a:schemeClr>
                </a:solidFill>
                <a:miter lim="400000"/>
              </a:ln>
              <a:effectLst/>
            </p:spPr>
            <p:txBody>
              <a:bodyPr wrap="square" lIns="39188" tIns="39188" rIns="39188" bIns="39188" numCol="1" anchor="ctr">
                <a:noAutofit/>
              </a:bodyPr>
              <a:lstStyle/>
              <a:p>
                <a:pPr algn="ctr" defTabSz="494390" fontAlgn="auto" latinLnBrk="0">
                  <a:spcBef>
                    <a:spcPts val="0"/>
                  </a:spcBef>
                  <a:spcAft>
                    <a:spcPts val="0"/>
                  </a:spcAft>
                  <a:defRPr sz="700" b="1">
                    <a:solidFill>
                      <a:srgbClr val="FFFFFF"/>
                    </a:solidFill>
                    <a:latin typeface="Helvetica"/>
                    <a:ea typeface="Helvetica"/>
                    <a:cs typeface="Helvetica"/>
                    <a:sym typeface="Helvetica"/>
                  </a:defRPr>
                </a:pPr>
                <a:endParaRPr kumimoji="0" sz="514" b="1">
                  <a:solidFill>
                    <a:srgbClr val="FFFFFF"/>
                  </a:solidFill>
                  <a:latin typeface="Helvetica"/>
                  <a:cs typeface="Helvetica"/>
                  <a:sym typeface="Helvetica"/>
                </a:endParaRPr>
              </a:p>
            </p:txBody>
          </p:sp>
          <p:sp>
            <p:nvSpPr>
              <p:cNvPr id="133" name="타원형"/>
              <p:cNvSpPr>
                <a:spLocks noChangeAspect="1"/>
              </p:cNvSpPr>
              <p:nvPr/>
            </p:nvSpPr>
            <p:spPr>
              <a:xfrm>
                <a:off x="1509222" y="5241492"/>
                <a:ext cx="162974" cy="16955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>
                <a:noFill/>
                <a:miter lim="400000"/>
              </a:ln>
              <a:effectLst/>
            </p:spPr>
            <p:txBody>
              <a:bodyPr wrap="square" lIns="39188" tIns="39188" rIns="39188" bIns="39188" numCol="1" anchor="ctr">
                <a:noAutofit/>
              </a:bodyPr>
              <a:lstStyle/>
              <a:p>
                <a:pPr algn="ctr" defTabSz="494390" fontAlgn="auto" latinLnBrk="0">
                  <a:spcBef>
                    <a:spcPts val="0"/>
                  </a:spcBef>
                  <a:spcAft>
                    <a:spcPts val="0"/>
                  </a:spcAft>
                  <a:defRPr sz="700" b="1">
                    <a:solidFill>
                      <a:srgbClr val="FFFFFF"/>
                    </a:solidFill>
                    <a:latin typeface="Helvetica"/>
                    <a:ea typeface="Helvetica"/>
                    <a:cs typeface="Helvetica"/>
                    <a:sym typeface="Helvetica"/>
                  </a:defRPr>
                </a:pPr>
                <a:endParaRPr kumimoji="0" sz="514" b="1">
                  <a:solidFill>
                    <a:srgbClr val="FFFFFF"/>
                  </a:solidFill>
                  <a:latin typeface="Helvetica"/>
                  <a:cs typeface="Helvetica"/>
                  <a:sym typeface="Helvetica"/>
                </a:endParaRPr>
              </a:p>
            </p:txBody>
          </p:sp>
        </p:grpSp>
        <p:sp>
          <p:nvSpPr>
            <p:cNvPr id="130" name="텍스트 상자 31"/>
            <p:cNvSpPr txBox="1"/>
            <p:nvPr/>
          </p:nvSpPr>
          <p:spPr>
            <a:xfrm>
              <a:off x="2418944" y="5166836"/>
              <a:ext cx="579753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하위부서 포함 </a:t>
              </a:r>
            </a:p>
          </p:txBody>
        </p:sp>
        <p:sp>
          <p:nvSpPr>
            <p:cNvPr id="131" name="타원형"/>
            <p:cNvSpPr>
              <a:spLocks noChangeAspect="1"/>
            </p:cNvSpPr>
            <p:nvPr/>
          </p:nvSpPr>
          <p:spPr>
            <a:xfrm>
              <a:off x="2248171" y="5149426"/>
              <a:ext cx="137010" cy="142542"/>
            </a:xfrm>
            <a:prstGeom prst="ellipse">
              <a:avLst/>
            </a:prstGeom>
            <a:solidFill>
              <a:schemeClr val="bg1"/>
            </a:solidFill>
            <a:ln w="6350" cap="flat">
              <a:solidFill>
                <a:schemeClr val="tx1">
                  <a:lumMod val="50000"/>
                  <a:lumOff val="50000"/>
                </a:schemeClr>
              </a:solidFill>
              <a:miter lim="400000"/>
            </a:ln>
            <a:effectLst/>
          </p:spPr>
          <p:txBody>
            <a:bodyPr wrap="square" lIns="39188" tIns="39188" rIns="39188" bIns="39188" numCol="1" anchor="ctr">
              <a:noAutofit/>
            </a:bodyPr>
            <a:lstStyle/>
            <a:p>
              <a:pPr algn="ctr" defTabSz="494390" fontAlgn="auto" latinLnBrk="0">
                <a:spcBef>
                  <a:spcPts val="0"/>
                </a:spcBef>
                <a:spcAft>
                  <a:spcPts val="0"/>
                </a:spcAft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0" sz="514" b="1">
                <a:solidFill>
                  <a:srgbClr val="FFFFFF"/>
                </a:solidFill>
                <a:latin typeface="Helvetica"/>
                <a:cs typeface="Helvetica"/>
                <a:sym typeface="Helvetica"/>
              </a:endParaRPr>
            </a:p>
          </p:txBody>
        </p:sp>
      </p:grpSp>
      <p:cxnSp>
        <p:nvCxnSpPr>
          <p:cNvPr id="134" name="직선 연결선[R] 7"/>
          <p:cNvCxnSpPr/>
          <p:nvPr/>
        </p:nvCxnSpPr>
        <p:spPr>
          <a:xfrm>
            <a:off x="504454" y="1209804"/>
            <a:ext cx="321988" cy="0"/>
          </a:xfrm>
          <a:prstGeom prst="line">
            <a:avLst/>
          </a:prstGeom>
          <a:ln w="38100">
            <a:solidFill>
              <a:schemeClr val="tx1">
                <a:lumMod val="65000"/>
                <a:lumOff val="35000"/>
              </a:schemeClr>
            </a:solidFill>
            <a:miter lim="400000"/>
          </a:ln>
        </p:spPr>
      </p:cxnSp>
      <p:grpSp>
        <p:nvGrpSpPr>
          <p:cNvPr id="135" name="그룹 134"/>
          <p:cNvGrpSpPr/>
          <p:nvPr/>
        </p:nvGrpSpPr>
        <p:grpSpPr>
          <a:xfrm>
            <a:off x="2512565" y="1409593"/>
            <a:ext cx="3226269" cy="1479153"/>
            <a:chOff x="2699214" y="1759460"/>
            <a:chExt cx="3763980" cy="1725678"/>
          </a:xfrm>
        </p:grpSpPr>
        <p:grpSp>
          <p:nvGrpSpPr>
            <p:cNvPr id="136" name="그룹 400"/>
            <p:cNvGrpSpPr/>
            <p:nvPr/>
          </p:nvGrpSpPr>
          <p:grpSpPr>
            <a:xfrm>
              <a:off x="2798104" y="1820284"/>
              <a:ext cx="229236" cy="229194"/>
              <a:chOff x="2625629" y="3735853"/>
              <a:chExt cx="276891" cy="276839"/>
            </a:xfrm>
          </p:grpSpPr>
          <p:sp>
            <p:nvSpPr>
              <p:cNvPr id="18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3543" tIns="43543" rIns="43543" bIns="43543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endParaRPr kumimoji="0" lang="x-none" altLang="x-none" sz="2057">
                  <a:solidFill>
                    <a:srgbClr val="FFFFFF"/>
                  </a:solidFill>
                  <a:latin typeface="Calibri"/>
                  <a:ea typeface="+mn-ea"/>
                </a:endParaRPr>
              </a:p>
            </p:txBody>
          </p:sp>
          <p:pic>
            <p:nvPicPr>
              <p:cNvPr id="190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37" name="텍스트 상자 31"/>
            <p:cNvSpPr txBox="1"/>
            <p:nvPr/>
          </p:nvSpPr>
          <p:spPr>
            <a:xfrm>
              <a:off x="3596371" y="187753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제품기획팀</a:t>
              </a:r>
            </a:p>
          </p:txBody>
        </p:sp>
        <p:sp>
          <p:nvSpPr>
            <p:cNvPr id="138" name="Freeform 11"/>
            <p:cNvSpPr>
              <a:spLocks noChangeAspect="1" noChangeArrowheads="1"/>
            </p:cNvSpPr>
            <p:nvPr/>
          </p:nvSpPr>
          <p:spPr bwMode="auto">
            <a:xfrm>
              <a:off x="6322197" y="1886400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grpSp>
          <p:nvGrpSpPr>
            <p:cNvPr id="139" name="그룹 400"/>
            <p:cNvGrpSpPr/>
            <p:nvPr/>
          </p:nvGrpSpPr>
          <p:grpSpPr>
            <a:xfrm>
              <a:off x="2798104" y="2170028"/>
              <a:ext cx="229236" cy="229194"/>
              <a:chOff x="2625629" y="3735853"/>
              <a:chExt cx="276891" cy="276839"/>
            </a:xfrm>
          </p:grpSpPr>
          <p:sp>
            <p:nvSpPr>
              <p:cNvPr id="18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3543" tIns="43543" rIns="43543" bIns="43543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endParaRPr kumimoji="0" lang="x-none" altLang="x-none" sz="2057">
                  <a:solidFill>
                    <a:srgbClr val="FFFFFF"/>
                  </a:solidFill>
                  <a:latin typeface="Calibri"/>
                  <a:ea typeface="+mn-ea"/>
                </a:endParaRPr>
              </a:p>
            </p:txBody>
          </p:sp>
          <p:pic>
            <p:nvPicPr>
              <p:cNvPr id="18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40" name="Freeform 11"/>
            <p:cNvSpPr>
              <a:spLocks noChangeAspect="1" noChangeArrowheads="1"/>
            </p:cNvSpPr>
            <p:nvPr/>
          </p:nvSpPr>
          <p:spPr bwMode="auto">
            <a:xfrm>
              <a:off x="6322197" y="2236144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grpSp>
          <p:nvGrpSpPr>
            <p:cNvPr id="141" name="그룹 400"/>
            <p:cNvGrpSpPr/>
            <p:nvPr/>
          </p:nvGrpSpPr>
          <p:grpSpPr>
            <a:xfrm>
              <a:off x="2798104" y="2509645"/>
              <a:ext cx="229236" cy="229194"/>
              <a:chOff x="2625629" y="3735853"/>
              <a:chExt cx="276891" cy="276839"/>
            </a:xfrm>
          </p:grpSpPr>
          <p:sp>
            <p:nvSpPr>
              <p:cNvPr id="17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3543" tIns="43543" rIns="43543" bIns="43543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endParaRPr kumimoji="0" lang="x-none" altLang="x-none" sz="2057">
                  <a:solidFill>
                    <a:srgbClr val="FFFFFF"/>
                  </a:solidFill>
                  <a:latin typeface="Calibri"/>
                  <a:ea typeface="+mn-ea"/>
                </a:endParaRPr>
              </a:p>
            </p:txBody>
          </p:sp>
          <p:pic>
            <p:nvPicPr>
              <p:cNvPr id="180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42" name="텍스트 상자 31"/>
            <p:cNvSpPr txBox="1"/>
            <p:nvPr/>
          </p:nvSpPr>
          <p:spPr>
            <a:xfrm>
              <a:off x="3596371" y="256690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제품기획팀</a:t>
              </a:r>
            </a:p>
          </p:txBody>
        </p:sp>
        <p:sp>
          <p:nvSpPr>
            <p:cNvPr id="143" name="Freeform 11"/>
            <p:cNvSpPr>
              <a:spLocks noChangeAspect="1" noChangeArrowheads="1"/>
            </p:cNvSpPr>
            <p:nvPr/>
          </p:nvSpPr>
          <p:spPr bwMode="auto">
            <a:xfrm>
              <a:off x="6322197" y="2575761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grpSp>
          <p:nvGrpSpPr>
            <p:cNvPr id="144" name="그룹 400"/>
            <p:cNvGrpSpPr/>
            <p:nvPr/>
          </p:nvGrpSpPr>
          <p:grpSpPr>
            <a:xfrm>
              <a:off x="2798104" y="2861740"/>
              <a:ext cx="229236" cy="229194"/>
              <a:chOff x="2625629" y="3735853"/>
              <a:chExt cx="276891" cy="276839"/>
            </a:xfrm>
          </p:grpSpPr>
          <p:sp>
            <p:nvSpPr>
              <p:cNvPr id="17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3543" tIns="43543" rIns="43543" bIns="43543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endParaRPr kumimoji="0" lang="x-none" altLang="x-none" sz="2057">
                  <a:solidFill>
                    <a:srgbClr val="FFFFFF"/>
                  </a:solidFill>
                  <a:latin typeface="Calibri"/>
                  <a:ea typeface="+mn-ea"/>
                </a:endParaRPr>
              </a:p>
            </p:txBody>
          </p:sp>
          <p:pic>
            <p:nvPicPr>
              <p:cNvPr id="17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45" name="텍스트 상자 31"/>
            <p:cNvSpPr txBox="1"/>
            <p:nvPr/>
          </p:nvSpPr>
          <p:spPr>
            <a:xfrm>
              <a:off x="3596371" y="2918996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제품기획팀</a:t>
              </a:r>
            </a:p>
          </p:txBody>
        </p:sp>
        <p:sp>
          <p:nvSpPr>
            <p:cNvPr id="146" name="Freeform 11"/>
            <p:cNvSpPr>
              <a:spLocks noChangeAspect="1" noChangeArrowheads="1"/>
            </p:cNvSpPr>
            <p:nvPr/>
          </p:nvSpPr>
          <p:spPr bwMode="auto">
            <a:xfrm>
              <a:off x="6322197" y="2927856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sp>
          <p:nvSpPr>
            <p:cNvPr id="147" name="텍스트 상자 31"/>
            <p:cNvSpPr txBox="1"/>
            <p:nvPr/>
          </p:nvSpPr>
          <p:spPr>
            <a:xfrm>
              <a:off x="3072730" y="1877539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박명수</a:t>
              </a:r>
            </a:p>
          </p:txBody>
        </p:sp>
        <p:sp>
          <p:nvSpPr>
            <p:cNvPr id="148" name="텍스트 상자 31"/>
            <p:cNvSpPr txBox="1"/>
            <p:nvPr/>
          </p:nvSpPr>
          <p:spPr>
            <a:xfrm>
              <a:off x="3072730" y="222728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조명수</a:t>
              </a:r>
            </a:p>
          </p:txBody>
        </p:sp>
        <p:sp>
          <p:nvSpPr>
            <p:cNvPr id="149" name="텍스트 상자 31"/>
            <p:cNvSpPr txBox="1"/>
            <p:nvPr/>
          </p:nvSpPr>
          <p:spPr>
            <a:xfrm>
              <a:off x="3072730" y="2566900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이명수</a:t>
              </a:r>
            </a:p>
          </p:txBody>
        </p:sp>
        <p:sp>
          <p:nvSpPr>
            <p:cNvPr id="150" name="텍스트 상자 31"/>
            <p:cNvSpPr txBox="1"/>
            <p:nvPr/>
          </p:nvSpPr>
          <p:spPr>
            <a:xfrm>
              <a:off x="3072730" y="2918996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김명수</a:t>
              </a:r>
            </a:p>
          </p:txBody>
        </p:sp>
        <p:grpSp>
          <p:nvGrpSpPr>
            <p:cNvPr id="151" name="그룹 150"/>
            <p:cNvGrpSpPr/>
            <p:nvPr/>
          </p:nvGrpSpPr>
          <p:grpSpPr>
            <a:xfrm>
              <a:off x="2699214" y="1759460"/>
              <a:ext cx="3763980" cy="1725678"/>
              <a:chOff x="3915634" y="2251369"/>
              <a:chExt cx="3056293" cy="1725678"/>
            </a:xfrm>
          </p:grpSpPr>
          <p:sp>
            <p:nvSpPr>
              <p:cNvPr id="169" name="Rectangle 566"/>
              <p:cNvSpPr/>
              <p:nvPr/>
            </p:nvSpPr>
            <p:spPr>
              <a:xfrm>
                <a:off x="3915634" y="3287718"/>
                <a:ext cx="3056293" cy="343880"/>
              </a:xfrm>
              <a:prstGeom prst="rect">
                <a:avLst/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686" dirty="0">
                    <a:solidFill>
                      <a:prstClr val="white">
                        <a:lumMod val="75000"/>
                      </a:prstClr>
                    </a:solidFill>
                    <a:latin typeface="Calibri"/>
                    <a:ea typeface="맑은 고딕" panose="020B0503020000020004" pitchFamily="50" charset="-127"/>
                  </a:rPr>
                  <a:t> </a:t>
                </a:r>
                <a:endParaRPr kumimoji="0" lang="en-US" sz="686" dirty="0">
                  <a:solidFill>
                    <a:prstClr val="white">
                      <a:lumMod val="75000"/>
                    </a:prstClr>
                  </a:solidFill>
                  <a:latin typeface="Calibri"/>
                </a:endParaRPr>
              </a:p>
            </p:txBody>
          </p:sp>
          <p:sp>
            <p:nvSpPr>
              <p:cNvPr id="170" name="Rectangle 543"/>
              <p:cNvSpPr/>
              <p:nvPr/>
            </p:nvSpPr>
            <p:spPr>
              <a:xfrm>
                <a:off x="3915634" y="2251369"/>
                <a:ext cx="3056293" cy="343880"/>
              </a:xfrm>
              <a:prstGeom prst="rect">
                <a:avLst/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686" dirty="0">
                    <a:solidFill>
                      <a:prstClr val="white">
                        <a:lumMod val="75000"/>
                      </a:prstClr>
                    </a:solidFill>
                    <a:latin typeface="Calibri"/>
                    <a:ea typeface="맑은 고딕" panose="020B0503020000020004" pitchFamily="50" charset="-127"/>
                  </a:rPr>
                  <a:t> </a:t>
                </a:r>
                <a:endParaRPr kumimoji="0" lang="en-US" sz="686" dirty="0">
                  <a:solidFill>
                    <a:prstClr val="white">
                      <a:lumMod val="75000"/>
                    </a:prstClr>
                  </a:solidFill>
                  <a:latin typeface="Calibri"/>
                </a:endParaRPr>
              </a:p>
            </p:txBody>
          </p:sp>
          <p:sp>
            <p:nvSpPr>
              <p:cNvPr id="171" name="Rectangle 555"/>
              <p:cNvSpPr/>
              <p:nvPr/>
            </p:nvSpPr>
            <p:spPr>
              <a:xfrm>
                <a:off x="3915634" y="2596818"/>
                <a:ext cx="3056293" cy="343880"/>
              </a:xfrm>
              <a:prstGeom prst="rect">
                <a:avLst/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686" dirty="0">
                    <a:solidFill>
                      <a:prstClr val="white">
                        <a:lumMod val="75000"/>
                      </a:prstClr>
                    </a:solidFill>
                    <a:latin typeface="Calibri"/>
                    <a:ea typeface="맑은 고딕" panose="020B0503020000020004" pitchFamily="50" charset="-127"/>
                  </a:rPr>
                  <a:t> </a:t>
                </a:r>
                <a:endParaRPr kumimoji="0" lang="en-US" sz="686" dirty="0">
                  <a:solidFill>
                    <a:prstClr val="white">
                      <a:lumMod val="75000"/>
                    </a:prstClr>
                  </a:solidFill>
                  <a:latin typeface="Calibri"/>
                </a:endParaRPr>
              </a:p>
            </p:txBody>
          </p:sp>
          <p:sp>
            <p:nvSpPr>
              <p:cNvPr id="173" name="Rectangle 566"/>
              <p:cNvSpPr/>
              <p:nvPr/>
            </p:nvSpPr>
            <p:spPr>
              <a:xfrm>
                <a:off x="3915634" y="2942268"/>
                <a:ext cx="3056293" cy="343880"/>
              </a:xfrm>
              <a:prstGeom prst="rect">
                <a:avLst/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686" dirty="0">
                    <a:solidFill>
                      <a:prstClr val="white">
                        <a:lumMod val="75000"/>
                      </a:prstClr>
                    </a:solidFill>
                    <a:latin typeface="Calibri"/>
                    <a:ea typeface="맑은 고딕" panose="020B0503020000020004" pitchFamily="50" charset="-127"/>
                  </a:rPr>
                  <a:t> </a:t>
                </a:r>
                <a:endParaRPr kumimoji="0" lang="en-US" sz="686" dirty="0">
                  <a:solidFill>
                    <a:prstClr val="white">
                      <a:lumMod val="75000"/>
                    </a:prstClr>
                  </a:solidFill>
                  <a:latin typeface="Calibri"/>
                </a:endParaRPr>
              </a:p>
            </p:txBody>
          </p:sp>
          <p:sp>
            <p:nvSpPr>
              <p:cNvPr id="176" name="Rectangle 566"/>
              <p:cNvSpPr/>
              <p:nvPr/>
            </p:nvSpPr>
            <p:spPr>
              <a:xfrm>
                <a:off x="3915634" y="3633167"/>
                <a:ext cx="3056293" cy="343880"/>
              </a:xfrm>
              <a:prstGeom prst="rect">
                <a:avLst/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686" dirty="0">
                    <a:solidFill>
                      <a:prstClr val="white">
                        <a:lumMod val="75000"/>
                      </a:prstClr>
                    </a:solidFill>
                    <a:latin typeface="Calibri"/>
                    <a:ea typeface="맑은 고딕" panose="020B0503020000020004" pitchFamily="50" charset="-127"/>
                  </a:rPr>
                  <a:t> </a:t>
                </a:r>
                <a:endParaRPr kumimoji="0" lang="en-US" sz="686" dirty="0">
                  <a:solidFill>
                    <a:prstClr val="white">
                      <a:lumMod val="75000"/>
                    </a:prstClr>
                  </a:solidFill>
                  <a:latin typeface="Calibri"/>
                </a:endParaRPr>
              </a:p>
            </p:txBody>
          </p:sp>
        </p:grpSp>
        <p:grpSp>
          <p:nvGrpSpPr>
            <p:cNvPr id="152" name="그룹 400"/>
            <p:cNvGrpSpPr/>
            <p:nvPr/>
          </p:nvGrpSpPr>
          <p:grpSpPr>
            <a:xfrm>
              <a:off x="2798104" y="3208860"/>
              <a:ext cx="229236" cy="229194"/>
              <a:chOff x="2625629" y="3735853"/>
              <a:chExt cx="276891" cy="276839"/>
            </a:xfrm>
          </p:grpSpPr>
          <p:sp>
            <p:nvSpPr>
              <p:cNvPr id="16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3543" tIns="43543" rIns="43543" bIns="43543" anchor="ctr"/>
              <a:lstStyle/>
              <a:p>
                <a:pPr defTabSz="494391" fontAlgn="auto" latinLnBrk="0">
                  <a:spcBef>
                    <a:spcPts val="0"/>
                  </a:spcBef>
                  <a:spcAft>
                    <a:spcPts val="0"/>
                  </a:spcAft>
                </a:pPr>
                <a:endParaRPr kumimoji="0" lang="x-none" altLang="x-none" sz="2057">
                  <a:solidFill>
                    <a:srgbClr val="FFFFFF"/>
                  </a:solidFill>
                  <a:latin typeface="Calibri"/>
                  <a:ea typeface="+mn-ea"/>
                </a:endParaRPr>
              </a:p>
            </p:txBody>
          </p:sp>
          <p:pic>
            <p:nvPicPr>
              <p:cNvPr id="16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53" name="Freeform 11"/>
            <p:cNvSpPr>
              <a:spLocks noChangeAspect="1" noChangeArrowheads="1"/>
            </p:cNvSpPr>
            <p:nvPr/>
          </p:nvSpPr>
          <p:spPr bwMode="auto">
            <a:xfrm>
              <a:off x="6322197" y="3274976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sp>
          <p:nvSpPr>
            <p:cNvPr id="154" name="텍스트 상자 31"/>
            <p:cNvSpPr txBox="1"/>
            <p:nvPr/>
          </p:nvSpPr>
          <p:spPr>
            <a:xfrm>
              <a:off x="3072730" y="3266116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조병수</a:t>
              </a:r>
            </a:p>
          </p:txBody>
        </p:sp>
        <p:sp>
          <p:nvSpPr>
            <p:cNvPr id="155" name="텍스트 상자 31"/>
            <p:cNvSpPr txBox="1"/>
            <p:nvPr/>
          </p:nvSpPr>
          <p:spPr>
            <a:xfrm>
              <a:off x="4846965" y="187753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</a:t>
              </a: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전자</a:t>
              </a:r>
            </a:p>
          </p:txBody>
        </p:sp>
        <p:sp>
          <p:nvSpPr>
            <p:cNvPr id="156" name="텍스트 상자 31"/>
            <p:cNvSpPr txBox="1"/>
            <p:nvPr/>
          </p:nvSpPr>
          <p:spPr>
            <a:xfrm>
              <a:off x="4846965" y="2227284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</a:t>
              </a: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통신사</a:t>
              </a:r>
            </a:p>
          </p:txBody>
        </p:sp>
        <p:sp>
          <p:nvSpPr>
            <p:cNvPr id="162" name="텍스트 상자 31"/>
            <p:cNvSpPr txBox="1"/>
            <p:nvPr/>
          </p:nvSpPr>
          <p:spPr>
            <a:xfrm>
              <a:off x="4846965" y="3266116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</a:t>
              </a:r>
              <a:r>
                <a:rPr lang="ko-KR" altLang="en-US" sz="60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전자</a:t>
              </a:r>
            </a:p>
          </p:txBody>
        </p:sp>
        <p:sp>
          <p:nvSpPr>
            <p:cNvPr id="165" name="텍스트 상자 31"/>
            <p:cNvSpPr txBox="1"/>
            <p:nvPr/>
          </p:nvSpPr>
          <p:spPr>
            <a:xfrm>
              <a:off x="4846965" y="257576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핸디소프트</a:t>
              </a:r>
              <a:endParaRPr lang="ko-KR" altLang="en-US" sz="6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6" name="텍스트 상자 31"/>
            <p:cNvSpPr txBox="1"/>
            <p:nvPr/>
          </p:nvSpPr>
          <p:spPr>
            <a:xfrm>
              <a:off x="4846965" y="2911923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60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핸디소프트</a:t>
              </a:r>
              <a:endParaRPr lang="ko-KR" altLang="en-US" sz="6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1" name="그룹 190"/>
          <p:cNvGrpSpPr/>
          <p:nvPr/>
        </p:nvGrpSpPr>
        <p:grpSpPr>
          <a:xfrm>
            <a:off x="1966991" y="2356278"/>
            <a:ext cx="407796" cy="210827"/>
            <a:chOff x="2014436" y="3015710"/>
            <a:chExt cx="475762" cy="245965"/>
          </a:xfrm>
        </p:grpSpPr>
        <p:sp>
          <p:nvSpPr>
            <p:cNvPr id="192" name="Rounded Rectangle 422"/>
            <p:cNvSpPr/>
            <p:nvPr/>
          </p:nvSpPr>
          <p:spPr>
            <a:xfrm>
              <a:off x="2014436" y="3015710"/>
              <a:ext cx="475762" cy="245965"/>
            </a:xfrm>
            <a:prstGeom prst="roundRect">
              <a:avLst>
                <a:gd name="adj" fmla="val 1005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94391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en-US" sz="1971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193" name="Freeform 10"/>
            <p:cNvSpPr>
              <a:spLocks noChangeArrowheads="1"/>
            </p:cNvSpPr>
            <p:nvPr/>
          </p:nvSpPr>
          <p:spPr bwMode="auto">
            <a:xfrm>
              <a:off x="2363774" y="3084040"/>
              <a:ext cx="92349" cy="109304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defTabSz="494391" latinLnBrk="0"/>
              <a:endParaRPr kumimoji="0" lang="en-US" sz="1400">
                <a:solidFill>
                  <a:prstClr val="black"/>
                </a:solidFill>
              </a:endParaRPr>
            </a:p>
          </p:txBody>
        </p:sp>
        <p:sp>
          <p:nvSpPr>
            <p:cNvPr id="194" name="텍스트 상자 31"/>
            <p:cNvSpPr txBox="1"/>
            <p:nvPr/>
          </p:nvSpPr>
          <p:spPr>
            <a:xfrm>
              <a:off x="2052561" y="3069443"/>
              <a:ext cx="292826" cy="1383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defTabSz="494391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77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선택</a:t>
              </a:r>
              <a:endParaRPr lang="ko-KR" altLang="de-DE" sz="771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endParaRPr>
            </a:p>
          </p:txBody>
        </p:sp>
      </p:grpSp>
      <p:sp>
        <p:nvSpPr>
          <p:cNvPr id="195" name="텍스트 상자 31"/>
          <p:cNvSpPr txBox="1"/>
          <p:nvPr/>
        </p:nvSpPr>
        <p:spPr>
          <a:xfrm>
            <a:off x="2512565" y="1257445"/>
            <a:ext cx="301095" cy="10554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86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</a:t>
            </a:r>
            <a:r>
              <a:rPr lang="en-US" altLang="ko-KR" sz="686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686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686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6" name="Rectangle 343"/>
          <p:cNvSpPr/>
          <p:nvPr/>
        </p:nvSpPr>
        <p:spPr>
          <a:xfrm>
            <a:off x="498125" y="1386503"/>
            <a:ext cx="1425826" cy="24374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endParaRPr kumimoji="0" lang="en-US" sz="686" dirty="0">
              <a:solidFill>
                <a:prstClr val="white">
                  <a:lumMod val="75000"/>
                </a:prstClr>
              </a:solidFill>
              <a:latin typeface="Calibri"/>
            </a:endParaRPr>
          </a:p>
        </p:txBody>
      </p:sp>
      <p:sp>
        <p:nvSpPr>
          <p:cNvPr id="197" name="텍스트 상자 31"/>
          <p:cNvSpPr txBox="1"/>
          <p:nvPr/>
        </p:nvSpPr>
        <p:spPr>
          <a:xfrm>
            <a:off x="752300" y="1495112"/>
            <a:ext cx="8219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00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맑은 고딕" panose="020B0503020000020004" pitchFamily="50" charset="-127"/>
              </a:rPr>
              <a:t>영업본부</a:t>
            </a:r>
          </a:p>
        </p:txBody>
      </p:sp>
      <p:sp>
        <p:nvSpPr>
          <p:cNvPr id="198" name="Freeform 24"/>
          <p:cNvSpPr>
            <a:spLocks noChangeArrowheads="1"/>
          </p:cNvSpPr>
          <p:nvPr/>
        </p:nvSpPr>
        <p:spPr bwMode="auto">
          <a:xfrm rot="10800000" flipV="1">
            <a:off x="569564" y="1518509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600">
              <a:solidFill>
                <a:prstClr val="black"/>
              </a:solidFill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883736" y="1607208"/>
            <a:ext cx="990920" cy="156651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영업 </a:t>
            </a:r>
            <a:r>
              <a:rPr lang="en-US" altLang="ko-KR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1</a:t>
            </a:r>
            <a:r>
              <a:rPr lang="ko-KR" altLang="en-US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팀 </a:t>
            </a:r>
            <a:r>
              <a:rPr lang="en-US" altLang="ko-KR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(9)</a:t>
            </a: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김경호  부장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박명수  본부장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김은호  대리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이민수  대리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고진수  사원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박명수  사원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김은호  사원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이민수  사원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고진수  사원</a:t>
            </a: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  <a:p>
            <a:pPr marL="115655" lvl="1"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endParaRPr lang="en-US" altLang="ko-KR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200" name="Rounded Rectangle 256"/>
          <p:cNvSpPr/>
          <p:nvPr/>
        </p:nvSpPr>
        <p:spPr>
          <a:xfrm rot="5400000">
            <a:off x="1628381" y="1696696"/>
            <a:ext cx="481791" cy="38037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  <a:alpha val="48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spcBef>
                <a:spcPts val="0"/>
              </a:spcBef>
              <a:spcAft>
                <a:spcPts val="0"/>
              </a:spcAft>
            </a:pPr>
            <a:endParaRPr lang="en-US" sz="514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+mn-ea"/>
            </a:endParaRPr>
          </a:p>
        </p:txBody>
      </p:sp>
      <p:sp>
        <p:nvSpPr>
          <p:cNvPr id="201" name="Freeform 24"/>
          <p:cNvSpPr>
            <a:spLocks noChangeArrowheads="1"/>
          </p:cNvSpPr>
          <p:nvPr/>
        </p:nvSpPr>
        <p:spPr bwMode="auto">
          <a:xfrm rot="10800000" flipV="1">
            <a:off x="696194" y="1666875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1400">
              <a:solidFill>
                <a:prstClr val="black"/>
              </a:solidFill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883736" y="3044965"/>
            <a:ext cx="990920" cy="28482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영업 </a:t>
            </a:r>
            <a:r>
              <a:rPr lang="en-US" altLang="ko-KR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2</a:t>
            </a:r>
            <a:r>
              <a:rPr lang="ko-KR" altLang="en-US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팀 </a:t>
            </a:r>
            <a:r>
              <a:rPr lang="en-US" altLang="ko-KR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(12)</a:t>
            </a:r>
          </a:p>
          <a:p>
            <a:pPr defTabSz="494391" fontAlgn="auto" latinLnBrk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영업 </a:t>
            </a:r>
            <a:r>
              <a:rPr lang="en-US" altLang="ko-KR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3</a:t>
            </a:r>
            <a:r>
              <a:rPr lang="ko-KR" altLang="en-US" sz="514" b="1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팀 </a:t>
            </a:r>
            <a:r>
              <a:rPr lang="en-US" altLang="ko-KR" sz="514" dirty="0">
                <a:solidFill>
                  <a:prstClr val="black">
                    <a:lumMod val="65000"/>
                    <a:lumOff val="35000"/>
                  </a:prstClr>
                </a:solidFill>
                <a:latin typeface="Calibri"/>
                <a:ea typeface="맑은 고딕" panose="020B0503020000020004" pitchFamily="50" charset="-127"/>
              </a:rPr>
              <a:t>(18)</a:t>
            </a:r>
            <a:endParaRPr lang="ko-KR" altLang="en-US" sz="514" dirty="0">
              <a:solidFill>
                <a:prstClr val="black">
                  <a:lumMod val="65000"/>
                  <a:lumOff val="3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203" name="Freeform 24"/>
          <p:cNvSpPr>
            <a:spLocks noChangeArrowheads="1"/>
          </p:cNvSpPr>
          <p:nvPr/>
        </p:nvSpPr>
        <p:spPr bwMode="auto">
          <a:xfrm rot="16200000" flipV="1">
            <a:off x="696194" y="3104632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1400">
              <a:solidFill>
                <a:prstClr val="black"/>
              </a:solidFill>
            </a:endParaRPr>
          </a:p>
        </p:txBody>
      </p:sp>
      <p:sp>
        <p:nvSpPr>
          <p:cNvPr id="204" name="Freeform 24"/>
          <p:cNvSpPr>
            <a:spLocks noChangeArrowheads="1"/>
          </p:cNvSpPr>
          <p:nvPr/>
        </p:nvSpPr>
        <p:spPr bwMode="auto">
          <a:xfrm rot="16200000" flipV="1">
            <a:off x="696194" y="3247035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1400">
              <a:solidFill>
                <a:prstClr val="black"/>
              </a:solidFill>
            </a:endParaRPr>
          </a:p>
        </p:txBody>
      </p:sp>
      <p:sp>
        <p:nvSpPr>
          <p:cNvPr id="205" name="Rounded Rectangle 939"/>
          <p:cNvSpPr>
            <a:spLocks/>
          </p:cNvSpPr>
          <p:nvPr/>
        </p:nvSpPr>
        <p:spPr>
          <a:xfrm>
            <a:off x="877429" y="1786518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06" name="Rounded Rectangle 939"/>
          <p:cNvSpPr>
            <a:spLocks/>
          </p:cNvSpPr>
          <p:nvPr/>
        </p:nvSpPr>
        <p:spPr>
          <a:xfrm>
            <a:off x="877429" y="1929273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07" name="Rounded Rectangle 939"/>
          <p:cNvSpPr>
            <a:spLocks/>
          </p:cNvSpPr>
          <p:nvPr/>
        </p:nvSpPr>
        <p:spPr>
          <a:xfrm>
            <a:off x="877429" y="2072028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08" name="Rounded Rectangle 939"/>
          <p:cNvSpPr>
            <a:spLocks/>
          </p:cNvSpPr>
          <p:nvPr/>
        </p:nvSpPr>
        <p:spPr>
          <a:xfrm>
            <a:off x="877429" y="2214782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09" name="Rounded Rectangle 939"/>
          <p:cNvSpPr>
            <a:spLocks/>
          </p:cNvSpPr>
          <p:nvPr/>
        </p:nvSpPr>
        <p:spPr>
          <a:xfrm>
            <a:off x="877429" y="2357537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10" name="텍스트 상자 31"/>
          <p:cNvSpPr txBox="1"/>
          <p:nvPr/>
        </p:nvSpPr>
        <p:spPr>
          <a:xfrm>
            <a:off x="650890" y="3553450"/>
            <a:ext cx="8219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00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맑은 고딕" panose="020B0503020000020004" pitchFamily="50" charset="-127"/>
              </a:rPr>
              <a:t>마케팅본부</a:t>
            </a:r>
          </a:p>
        </p:txBody>
      </p:sp>
      <p:sp>
        <p:nvSpPr>
          <p:cNvPr id="211" name="Freeform 24"/>
          <p:cNvSpPr>
            <a:spLocks noChangeArrowheads="1"/>
          </p:cNvSpPr>
          <p:nvPr/>
        </p:nvSpPr>
        <p:spPr bwMode="auto">
          <a:xfrm rot="16200000" flipV="1">
            <a:off x="576039" y="3576709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600">
              <a:solidFill>
                <a:prstClr val="black"/>
              </a:solidFill>
            </a:endParaRPr>
          </a:p>
        </p:txBody>
      </p:sp>
      <p:cxnSp>
        <p:nvCxnSpPr>
          <p:cNvPr id="212" name="직선 연결선[R] 33"/>
          <p:cNvCxnSpPr/>
          <p:nvPr/>
        </p:nvCxnSpPr>
        <p:spPr>
          <a:xfrm>
            <a:off x="496725" y="3359248"/>
            <a:ext cx="141432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텍스트 상자 31"/>
          <p:cNvSpPr txBox="1"/>
          <p:nvPr/>
        </p:nvSpPr>
        <p:spPr>
          <a:xfrm>
            <a:off x="650890" y="3392571"/>
            <a:ext cx="8219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00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맑은 고딕" panose="020B0503020000020004" pitchFamily="50" charset="-127"/>
              </a:rPr>
              <a:t>디자인본부</a:t>
            </a:r>
          </a:p>
        </p:txBody>
      </p:sp>
      <p:sp>
        <p:nvSpPr>
          <p:cNvPr id="214" name="Freeform 24"/>
          <p:cNvSpPr>
            <a:spLocks noChangeArrowheads="1"/>
          </p:cNvSpPr>
          <p:nvPr/>
        </p:nvSpPr>
        <p:spPr bwMode="auto">
          <a:xfrm rot="16200000" flipV="1">
            <a:off x="576039" y="3415830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600">
              <a:solidFill>
                <a:prstClr val="black"/>
              </a:solidFill>
            </a:endParaRPr>
          </a:p>
        </p:txBody>
      </p:sp>
      <p:cxnSp>
        <p:nvCxnSpPr>
          <p:cNvPr id="215" name="직선 연결선[R] 33"/>
          <p:cNvCxnSpPr/>
          <p:nvPr/>
        </p:nvCxnSpPr>
        <p:spPr>
          <a:xfrm>
            <a:off x="495805" y="3518935"/>
            <a:ext cx="141432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텍스트 상자 31"/>
          <p:cNvSpPr txBox="1"/>
          <p:nvPr/>
        </p:nvSpPr>
        <p:spPr>
          <a:xfrm>
            <a:off x="650890" y="3703032"/>
            <a:ext cx="8219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defTabSz="494391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600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맑은 고딕" panose="020B0503020000020004" pitchFamily="50" charset="-127"/>
              </a:rPr>
              <a:t>인사본부</a:t>
            </a:r>
          </a:p>
        </p:txBody>
      </p:sp>
      <p:sp>
        <p:nvSpPr>
          <p:cNvPr id="217" name="Freeform 24"/>
          <p:cNvSpPr>
            <a:spLocks noChangeArrowheads="1"/>
          </p:cNvSpPr>
          <p:nvPr/>
        </p:nvSpPr>
        <p:spPr bwMode="auto">
          <a:xfrm rot="16200000" flipV="1">
            <a:off x="576039" y="3726291"/>
            <a:ext cx="50379" cy="45813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defTabSz="494391" latinLnBrk="0"/>
            <a:endParaRPr kumimoji="0" lang="en-US" sz="600">
              <a:solidFill>
                <a:prstClr val="black"/>
              </a:solidFill>
            </a:endParaRPr>
          </a:p>
        </p:txBody>
      </p:sp>
      <p:cxnSp>
        <p:nvCxnSpPr>
          <p:cNvPr id="218" name="직선 연결선[R] 33"/>
          <p:cNvCxnSpPr/>
          <p:nvPr/>
        </p:nvCxnSpPr>
        <p:spPr>
          <a:xfrm>
            <a:off x="495805" y="3668517"/>
            <a:ext cx="141432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Rounded Rectangle 939"/>
          <p:cNvSpPr>
            <a:spLocks/>
          </p:cNvSpPr>
          <p:nvPr/>
        </p:nvSpPr>
        <p:spPr>
          <a:xfrm>
            <a:off x="877429" y="2500291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20" name="Rounded Rectangle 939"/>
          <p:cNvSpPr>
            <a:spLocks/>
          </p:cNvSpPr>
          <p:nvPr/>
        </p:nvSpPr>
        <p:spPr>
          <a:xfrm>
            <a:off x="877429" y="2643046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21" name="Rounded Rectangle 939"/>
          <p:cNvSpPr>
            <a:spLocks/>
          </p:cNvSpPr>
          <p:nvPr/>
        </p:nvSpPr>
        <p:spPr>
          <a:xfrm>
            <a:off x="877429" y="2785800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22" name="Rounded Rectangle 939"/>
          <p:cNvSpPr>
            <a:spLocks/>
          </p:cNvSpPr>
          <p:nvPr/>
        </p:nvSpPr>
        <p:spPr>
          <a:xfrm>
            <a:off x="877429" y="2928553"/>
            <a:ext cx="92571" cy="9301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 defTabSz="494391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kumimoji="0" lang="en-US" sz="429" dirty="0">
              <a:solidFill>
                <a:prstClr val="black">
                  <a:lumMod val="50000"/>
                  <a:lumOff val="50000"/>
                </a:prstClr>
              </a:solidFill>
              <a:latin typeface="+mn-lt"/>
              <a:ea typeface="+mn-ea"/>
            </a:endParaRPr>
          </a:p>
        </p:txBody>
      </p:sp>
      <p:sp>
        <p:nvSpPr>
          <p:cNvPr id="223" name="직사각형 222"/>
          <p:cNvSpPr/>
          <p:nvPr/>
        </p:nvSpPr>
        <p:spPr>
          <a:xfrm>
            <a:off x="2419350" y="981075"/>
            <a:ext cx="1238250" cy="180975"/>
          </a:xfrm>
          <a:prstGeom prst="rect">
            <a:avLst/>
          </a:prstGeom>
          <a:solidFill>
            <a:schemeClr val="tx1">
              <a:lumMod val="95000"/>
              <a:lumOff val="5000"/>
              <a:alpha val="49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24" name="직사각형 223"/>
          <p:cNvSpPr/>
          <p:nvPr/>
        </p:nvSpPr>
        <p:spPr>
          <a:xfrm>
            <a:off x="495804" y="3885238"/>
            <a:ext cx="1447295" cy="162887"/>
          </a:xfrm>
          <a:prstGeom prst="rect">
            <a:avLst/>
          </a:prstGeom>
          <a:solidFill>
            <a:schemeClr val="tx1">
              <a:lumMod val="95000"/>
              <a:lumOff val="5000"/>
              <a:alpha val="49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1228825" y="80066"/>
            <a:ext cx="914400" cy="2056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#VIP </a:t>
            </a:r>
            <a:r>
              <a:rPr lang="ko-KR" altLang="en-US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지정</a:t>
            </a:r>
            <a:r>
              <a:rPr lang="en-US" altLang="ko-KR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r>
              <a:rPr lang="en-US" altLang="ko-KR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팝업</a:t>
            </a:r>
            <a:endParaRPr kumimoji="1" lang="ko-KR" altLang="en-US" sz="800" b="1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2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4479332"/>
              </p:ext>
            </p:extLst>
          </p:nvPr>
        </p:nvGraphicFramePr>
        <p:xfrm>
          <a:off x="9290533" y="786383"/>
          <a:ext cx="2835141" cy="1875383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※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기본 조직도 팝업을 사용하되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팝업 타이틀 변경 및 관련 페이지에 해당되는 기능만 사용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등록 이후 프로세스는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VIP</a:t>
                      </a:r>
                      <a:r>
                        <a:rPr lang="ko-KR" altLang="en-US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지정</a:t>
                      </a:r>
                      <a:r>
                        <a:rPr lang="en-US" altLang="ko-KR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가이드</a:t>
                      </a:r>
                      <a:r>
                        <a:rPr lang="en-US" altLang="ko-KR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참고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팝업 타이틀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250221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조직도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주소록 탭만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843430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부서원 및 주소록 멀티 선택 가능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부서는 선택 불가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267467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해당 항목 비노출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7041813"/>
                  </a:ext>
                </a:extLst>
              </a:tr>
            </a:tbl>
          </a:graphicData>
        </a:graphic>
      </p:graphicFrame>
      <p:sp>
        <p:nvSpPr>
          <p:cNvPr id="228" name="모서리가 둥근 직사각형 227"/>
          <p:cNvSpPr/>
          <p:nvPr/>
        </p:nvSpPr>
        <p:spPr>
          <a:xfrm>
            <a:off x="438149" y="695325"/>
            <a:ext cx="790575" cy="190500"/>
          </a:xfrm>
          <a:prstGeom prst="roundRect">
            <a:avLst/>
          </a:prstGeom>
          <a:noFill/>
          <a:ln w="3175">
            <a:solidFill>
              <a:srgbClr val="FF0000"/>
            </a:solidFill>
            <a:prstDash val="sys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29" name="타원 228"/>
          <p:cNvSpPr/>
          <p:nvPr/>
        </p:nvSpPr>
        <p:spPr>
          <a:xfrm>
            <a:off x="346271" y="576309"/>
            <a:ext cx="168508" cy="171599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30" name="타원 229"/>
          <p:cNvSpPr/>
          <p:nvPr/>
        </p:nvSpPr>
        <p:spPr>
          <a:xfrm>
            <a:off x="301935" y="1005110"/>
            <a:ext cx="168508" cy="171599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2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31" name="타원 230"/>
          <p:cNvSpPr/>
          <p:nvPr/>
        </p:nvSpPr>
        <p:spPr>
          <a:xfrm>
            <a:off x="1597335" y="1433735"/>
            <a:ext cx="168508" cy="171599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3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32" name="타원 231"/>
          <p:cNvSpPr/>
          <p:nvPr/>
        </p:nvSpPr>
        <p:spPr>
          <a:xfrm>
            <a:off x="1854510" y="3805460"/>
            <a:ext cx="168508" cy="171599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4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33" name="타원 232"/>
          <p:cNvSpPr/>
          <p:nvPr/>
        </p:nvSpPr>
        <p:spPr>
          <a:xfrm>
            <a:off x="3578535" y="881285"/>
            <a:ext cx="168508" cy="171599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Arial" panose="020B0604020202020204" pitchFamily="34" charset="0"/>
                <a:ea typeface="나눔고딕" pitchFamily="50" charset="-127"/>
                <a:cs typeface="Arial" panose="020B0604020202020204" pitchFamily="34" charset="0"/>
              </a:rPr>
              <a:t>4</a:t>
            </a:r>
            <a:endParaRPr lang="ko-KR" altLang="en-US" sz="800" dirty="0" smtClean="0">
              <a:solidFill>
                <a:schemeClr val="bg1"/>
              </a:solidFill>
              <a:latin typeface="Arial" panose="020B0604020202020204" pitchFamily="34" charset="0"/>
              <a:ea typeface="나눔고딕" pitchFamily="50" charset="-127"/>
              <a:cs typeface="Arial" panose="020B0604020202020204" pitchFamily="34" charset="0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10232825" y="302121"/>
            <a:ext cx="1734370" cy="216024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lvl="0"/>
            <a:r>
              <a:rPr lang="en-US" altLang="ko-KR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5441750" y="73521"/>
            <a:ext cx="2526458" cy="216024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&gt;VIP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8656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77069" y="1426493"/>
            <a:ext cx="27959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스퀘어 메인 </a:t>
            </a:r>
            <a:r>
              <a:rPr kumimoji="1" lang="en-US" altLang="ko-KR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HY견고딕" panose="02030600000101010101" pitchFamily="18" charset="-127"/>
                <a:ea typeface="HY견고딕" panose="02030600000101010101" pitchFamily="18" charset="-127"/>
                <a:cs typeface="+mn-cs"/>
              </a:rPr>
              <a:t>&gt;</a:t>
            </a:r>
            <a:r>
              <a:rPr kumimoji="1" lang="en-US" altLang="ko-KR" sz="18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ko-KR" altLang="en-US" sz="28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글쓰기</a:t>
            </a:r>
            <a:endParaRPr kumimoji="1" lang="ko-KR" altLang="en-US" sz="2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9792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ko-KR" dirty="0"/>
              <a:t>5. </a:t>
            </a:r>
            <a:r>
              <a:rPr kumimoji="1" lang="ko-KR" altLang="en-US" dirty="0"/>
              <a:t>스퀘어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11"/>
          </p:nvPr>
        </p:nvSpPr>
        <p:spPr/>
        <p:txBody>
          <a:bodyPr/>
          <a:lstStyle/>
          <a:p>
            <a:r>
              <a:rPr lang="en-US" altLang="ko-KR" dirty="0" smtClean="0"/>
              <a:t>5.6. </a:t>
            </a:r>
            <a:r>
              <a:rPr lang="ko-KR" altLang="en-US" dirty="0"/>
              <a:t>스퀘어 글쓰기 </a:t>
            </a:r>
            <a:r>
              <a:rPr lang="en-US" altLang="ko-KR" dirty="0"/>
              <a:t>(</a:t>
            </a:r>
            <a:r>
              <a:rPr lang="ko-KR" altLang="en-US" dirty="0" err="1"/>
              <a:t>모달</a:t>
            </a:r>
            <a:r>
              <a:rPr lang="ko-KR" altLang="en-US" dirty="0"/>
              <a:t> </a:t>
            </a:r>
            <a:r>
              <a:rPr lang="ko-KR" altLang="en-US" dirty="0" err="1"/>
              <a:t>레이어</a:t>
            </a:r>
            <a:r>
              <a:rPr lang="ko-KR" altLang="en-US" dirty="0"/>
              <a:t> 팝업</a:t>
            </a:r>
            <a:r>
              <a:rPr lang="en-US" altLang="ko-KR" dirty="0" smtClean="0"/>
              <a:t>)</a:t>
            </a:r>
            <a:endParaRPr lang="en-US" altLang="ko-KR" dirty="0"/>
          </a:p>
        </p:txBody>
      </p:sp>
      <p:sp>
        <p:nvSpPr>
          <p:cNvPr id="271" name="Rectangle 424"/>
          <p:cNvSpPr/>
          <p:nvPr/>
        </p:nvSpPr>
        <p:spPr>
          <a:xfrm>
            <a:off x="388107" y="1209631"/>
            <a:ext cx="3442010" cy="310633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76200" dir="2700000" sx="99000" sy="99000" algn="tl" rotWithShape="0">
              <a:prstClr val="black">
                <a:alpha val="2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72" name="그룹 400"/>
          <p:cNvGrpSpPr/>
          <p:nvPr/>
        </p:nvGrpSpPr>
        <p:grpSpPr>
          <a:xfrm>
            <a:off x="463209" y="1285181"/>
            <a:ext cx="169305" cy="169043"/>
            <a:chOff x="2625629" y="3735853"/>
            <a:chExt cx="276891" cy="276839"/>
          </a:xfrm>
        </p:grpSpPr>
        <p:sp>
          <p:nvSpPr>
            <p:cNvPr id="30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310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pic>
        <p:nvPicPr>
          <p:cNvPr id="273" name="Picture 430"/>
          <p:cNvPicPr>
            <a:picLocks noChangeAspect="1"/>
          </p:cNvPicPr>
          <p:nvPr/>
        </p:nvPicPr>
        <p:blipFill rotWithShape="1">
          <a:blip r:embed="rId4" cstate="print">
            <a:alphaModFix am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3481159" y="1270041"/>
            <a:ext cx="234355" cy="199319"/>
          </a:xfrm>
          <a:prstGeom prst="rect">
            <a:avLst/>
          </a:prstGeom>
          <a:effectLst/>
        </p:spPr>
      </p:pic>
      <p:sp>
        <p:nvSpPr>
          <p:cNvPr id="274" name="텍스트 상자 31"/>
          <p:cNvSpPr txBox="1"/>
          <p:nvPr/>
        </p:nvSpPr>
        <p:spPr>
          <a:xfrm>
            <a:off x="384214" y="1014754"/>
            <a:ext cx="3626844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Full</a:t>
            </a: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기능 선택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=View page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275" name="직선 연결선[R] 33"/>
          <p:cNvCxnSpPr/>
          <p:nvPr/>
        </p:nvCxnSpPr>
        <p:spPr>
          <a:xfrm>
            <a:off x="472744" y="4033679"/>
            <a:ext cx="32727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Freeform 17"/>
          <p:cNvSpPr>
            <a:spLocks noChangeArrowheads="1"/>
          </p:cNvSpPr>
          <p:nvPr/>
        </p:nvSpPr>
        <p:spPr bwMode="auto">
          <a:xfrm>
            <a:off x="493060" y="4090900"/>
            <a:ext cx="139453" cy="139263"/>
          </a:xfrm>
          <a:custGeom>
            <a:avLst/>
            <a:gdLst>
              <a:gd name="T0" fmla="*/ 403 w 404"/>
              <a:gd name="T1" fmla="*/ 360 h 404"/>
              <a:gd name="T2" fmla="*/ 403 w 404"/>
              <a:gd name="T3" fmla="*/ 43 h 404"/>
              <a:gd name="T4" fmla="*/ 360 w 404"/>
              <a:gd name="T5" fmla="*/ 0 h 404"/>
              <a:gd name="T6" fmla="*/ 47 w 404"/>
              <a:gd name="T7" fmla="*/ 0 h 404"/>
              <a:gd name="T8" fmla="*/ 0 w 404"/>
              <a:gd name="T9" fmla="*/ 43 h 404"/>
              <a:gd name="T10" fmla="*/ 0 w 404"/>
              <a:gd name="T11" fmla="*/ 360 h 404"/>
              <a:gd name="T12" fmla="*/ 47 w 404"/>
              <a:gd name="T13" fmla="*/ 403 h 404"/>
              <a:gd name="T14" fmla="*/ 360 w 404"/>
              <a:gd name="T15" fmla="*/ 403 h 404"/>
              <a:gd name="T16" fmla="*/ 403 w 404"/>
              <a:gd name="T17" fmla="*/ 360 h 404"/>
              <a:gd name="T18" fmla="*/ 124 w 404"/>
              <a:gd name="T19" fmla="*/ 236 h 404"/>
              <a:gd name="T20" fmla="*/ 180 w 404"/>
              <a:gd name="T21" fmla="*/ 304 h 404"/>
              <a:gd name="T22" fmla="*/ 257 w 404"/>
              <a:gd name="T23" fmla="*/ 201 h 404"/>
              <a:gd name="T24" fmla="*/ 360 w 404"/>
              <a:gd name="T25" fmla="*/ 334 h 404"/>
              <a:gd name="T26" fmla="*/ 47 w 404"/>
              <a:gd name="T27" fmla="*/ 334 h 404"/>
              <a:gd name="T28" fmla="*/ 124 w 404"/>
              <a:gd name="T29" fmla="*/ 23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4" h="404">
                <a:moveTo>
                  <a:pt x="403" y="360"/>
                </a:moveTo>
                <a:lnTo>
                  <a:pt x="403" y="43"/>
                </a:lnTo>
                <a:cubicBezTo>
                  <a:pt x="403" y="21"/>
                  <a:pt x="386" y="0"/>
                  <a:pt x="360" y="0"/>
                </a:cubicBezTo>
                <a:lnTo>
                  <a:pt x="47" y="0"/>
                </a:lnTo>
                <a:cubicBezTo>
                  <a:pt x="22" y="0"/>
                  <a:pt x="0" y="21"/>
                  <a:pt x="0" y="43"/>
                </a:cubicBezTo>
                <a:lnTo>
                  <a:pt x="0" y="360"/>
                </a:lnTo>
                <a:cubicBezTo>
                  <a:pt x="0" y="381"/>
                  <a:pt x="22" y="403"/>
                  <a:pt x="47" y="403"/>
                </a:cubicBezTo>
                <a:lnTo>
                  <a:pt x="360" y="403"/>
                </a:lnTo>
                <a:cubicBezTo>
                  <a:pt x="386" y="403"/>
                  <a:pt x="403" y="381"/>
                  <a:pt x="403" y="360"/>
                </a:cubicBezTo>
                <a:close/>
                <a:moveTo>
                  <a:pt x="124" y="236"/>
                </a:moveTo>
                <a:lnTo>
                  <a:pt x="180" y="304"/>
                </a:lnTo>
                <a:lnTo>
                  <a:pt x="257" y="201"/>
                </a:lnTo>
                <a:lnTo>
                  <a:pt x="360" y="334"/>
                </a:lnTo>
                <a:lnTo>
                  <a:pt x="47" y="334"/>
                </a:lnTo>
                <a:lnTo>
                  <a:pt x="124" y="2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77" name="Freeform 440"/>
          <p:cNvSpPr>
            <a:spLocks noChangeArrowheads="1"/>
          </p:cNvSpPr>
          <p:nvPr/>
        </p:nvSpPr>
        <p:spPr bwMode="auto">
          <a:xfrm>
            <a:off x="707615" y="4110998"/>
            <a:ext cx="174710" cy="96157"/>
          </a:xfrm>
          <a:custGeom>
            <a:avLst/>
            <a:gdLst>
              <a:gd name="T0" fmla="*/ 214 w 774"/>
              <a:gd name="T1" fmla="*/ 426 h 427"/>
              <a:gd name="T2" fmla="*/ 0 w 774"/>
              <a:gd name="T3" fmla="*/ 213 h 427"/>
              <a:gd name="T4" fmla="*/ 214 w 774"/>
              <a:gd name="T5" fmla="*/ 0 h 427"/>
              <a:gd name="T6" fmla="*/ 618 w 774"/>
              <a:gd name="T7" fmla="*/ 0 h 427"/>
              <a:gd name="T8" fmla="*/ 773 w 774"/>
              <a:gd name="T9" fmla="*/ 154 h 427"/>
              <a:gd name="T10" fmla="*/ 618 w 774"/>
              <a:gd name="T11" fmla="*/ 309 h 427"/>
              <a:gd name="T12" fmla="*/ 287 w 774"/>
              <a:gd name="T13" fmla="*/ 309 h 427"/>
              <a:gd name="T14" fmla="*/ 192 w 774"/>
              <a:gd name="T15" fmla="*/ 213 h 427"/>
              <a:gd name="T16" fmla="*/ 287 w 774"/>
              <a:gd name="T17" fmla="*/ 117 h 427"/>
              <a:gd name="T18" fmla="*/ 581 w 774"/>
              <a:gd name="T19" fmla="*/ 117 h 427"/>
              <a:gd name="T20" fmla="*/ 581 w 774"/>
              <a:gd name="T21" fmla="*/ 176 h 427"/>
              <a:gd name="T22" fmla="*/ 287 w 774"/>
              <a:gd name="T23" fmla="*/ 176 h 427"/>
              <a:gd name="T24" fmla="*/ 250 w 774"/>
              <a:gd name="T25" fmla="*/ 213 h 427"/>
              <a:gd name="T26" fmla="*/ 287 w 774"/>
              <a:gd name="T27" fmla="*/ 250 h 427"/>
              <a:gd name="T28" fmla="*/ 618 w 774"/>
              <a:gd name="T29" fmla="*/ 250 h 427"/>
              <a:gd name="T30" fmla="*/ 714 w 774"/>
              <a:gd name="T31" fmla="*/ 154 h 427"/>
              <a:gd name="T32" fmla="*/ 618 w 774"/>
              <a:gd name="T33" fmla="*/ 58 h 427"/>
              <a:gd name="T34" fmla="*/ 214 w 774"/>
              <a:gd name="T35" fmla="*/ 58 h 427"/>
              <a:gd name="T36" fmla="*/ 59 w 774"/>
              <a:gd name="T37" fmla="*/ 213 h 427"/>
              <a:gd name="T38" fmla="*/ 214 w 774"/>
              <a:gd name="T39" fmla="*/ 367 h 427"/>
              <a:gd name="T40" fmla="*/ 581 w 774"/>
              <a:gd name="T41" fmla="*/ 367 h 427"/>
              <a:gd name="T42" fmla="*/ 581 w 774"/>
              <a:gd name="T43" fmla="*/ 426 h 427"/>
              <a:gd name="T44" fmla="*/ 214 w 774"/>
              <a:gd name="T45" fmla="*/ 426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4" h="427">
                <a:moveTo>
                  <a:pt x="214" y="426"/>
                </a:moveTo>
                <a:cubicBezTo>
                  <a:pt x="96" y="426"/>
                  <a:pt x="0" y="331"/>
                  <a:pt x="0" y="213"/>
                </a:cubicBezTo>
                <a:cubicBezTo>
                  <a:pt x="0" y="95"/>
                  <a:pt x="96" y="0"/>
                  <a:pt x="214" y="0"/>
                </a:cubicBezTo>
                <a:lnTo>
                  <a:pt x="618" y="0"/>
                </a:lnTo>
                <a:cubicBezTo>
                  <a:pt x="699" y="0"/>
                  <a:pt x="773" y="69"/>
                  <a:pt x="773" y="154"/>
                </a:cubicBezTo>
                <a:cubicBezTo>
                  <a:pt x="773" y="239"/>
                  <a:pt x="699" y="309"/>
                  <a:pt x="618" y="309"/>
                </a:cubicBezTo>
                <a:lnTo>
                  <a:pt x="287" y="309"/>
                </a:lnTo>
                <a:cubicBezTo>
                  <a:pt x="236" y="309"/>
                  <a:pt x="192" y="264"/>
                  <a:pt x="192" y="213"/>
                </a:cubicBezTo>
                <a:cubicBezTo>
                  <a:pt x="192" y="161"/>
                  <a:pt x="236" y="117"/>
                  <a:pt x="287" y="117"/>
                </a:cubicBezTo>
                <a:lnTo>
                  <a:pt x="581" y="117"/>
                </a:lnTo>
                <a:lnTo>
                  <a:pt x="581" y="176"/>
                </a:lnTo>
                <a:lnTo>
                  <a:pt x="287" y="176"/>
                </a:lnTo>
                <a:cubicBezTo>
                  <a:pt x="265" y="176"/>
                  <a:pt x="250" y="191"/>
                  <a:pt x="250" y="213"/>
                </a:cubicBezTo>
                <a:cubicBezTo>
                  <a:pt x="250" y="235"/>
                  <a:pt x="265" y="250"/>
                  <a:pt x="287" y="250"/>
                </a:cubicBezTo>
                <a:lnTo>
                  <a:pt x="618" y="250"/>
                </a:lnTo>
                <a:cubicBezTo>
                  <a:pt x="670" y="250"/>
                  <a:pt x="714" y="209"/>
                  <a:pt x="714" y="154"/>
                </a:cubicBezTo>
                <a:cubicBezTo>
                  <a:pt x="714" y="99"/>
                  <a:pt x="670" y="58"/>
                  <a:pt x="618" y="58"/>
                </a:cubicBezTo>
                <a:lnTo>
                  <a:pt x="214" y="58"/>
                </a:lnTo>
                <a:cubicBezTo>
                  <a:pt x="125" y="58"/>
                  <a:pt x="59" y="128"/>
                  <a:pt x="59" y="213"/>
                </a:cubicBezTo>
                <a:cubicBezTo>
                  <a:pt x="59" y="297"/>
                  <a:pt x="125" y="367"/>
                  <a:pt x="214" y="367"/>
                </a:cubicBezTo>
                <a:lnTo>
                  <a:pt x="581" y="367"/>
                </a:lnTo>
                <a:lnTo>
                  <a:pt x="581" y="426"/>
                </a:lnTo>
                <a:lnTo>
                  <a:pt x="214" y="426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78" name="Rounded Rectangle 441"/>
          <p:cNvSpPr/>
          <p:nvPr/>
        </p:nvSpPr>
        <p:spPr>
          <a:xfrm>
            <a:off x="3023568" y="4095861"/>
            <a:ext cx="281526" cy="144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취소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79" name="텍스트 상자 31"/>
          <p:cNvSpPr txBox="1"/>
          <p:nvPr/>
        </p:nvSpPr>
        <p:spPr>
          <a:xfrm>
            <a:off x="707615" y="1293738"/>
            <a:ext cx="2811345" cy="55399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이번 배포문서 개발미팅은 전사 워크샵 일정을 고려해 한주 미루기로 했습니다</a:t>
            </a: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따라서  </a:t>
            </a:r>
            <a:r>
              <a:rPr kumimoji="1" lang="ko-KR" altLang="en-US" sz="600" b="1" i="0" u="sng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다음주 수요일 오후 </a:t>
            </a:r>
            <a:r>
              <a:rPr kumimoji="1" lang="en-US" altLang="ko-KR" sz="600" b="1" i="0" u="sng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3</a:t>
            </a:r>
            <a:r>
              <a:rPr kumimoji="1" lang="ko-KR" altLang="en-US" sz="600" b="1" i="0" u="sng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시</a:t>
            </a: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에 강남 본사에서 미팅입니다</a:t>
            </a: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착오 없으시길 바랍니다</a:t>
            </a: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6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개발미팅</a:t>
            </a:r>
            <a:endParaRPr kumimoji="1" lang="ko-KR" altLang="en-US" sz="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280" name="직선 연결선[R] 33"/>
          <p:cNvCxnSpPr/>
          <p:nvPr/>
        </p:nvCxnSpPr>
        <p:spPr>
          <a:xfrm>
            <a:off x="472744" y="3768208"/>
            <a:ext cx="32727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1" name="Rounded Rectangle 452"/>
          <p:cNvSpPr/>
          <p:nvPr/>
        </p:nvSpPr>
        <p:spPr>
          <a:xfrm>
            <a:off x="472744" y="3836241"/>
            <a:ext cx="1296000" cy="144000"/>
          </a:xfrm>
          <a:prstGeom prst="roundRect">
            <a:avLst/>
          </a:prstGeom>
          <a:solidFill>
            <a:schemeClr val="bg1">
              <a:lumMod val="85000"/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2017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년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9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월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6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(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수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)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오후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3:00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82" name="Freeform 11"/>
          <p:cNvSpPr>
            <a:spLocks noChangeAspect="1" noChangeArrowheads="1"/>
          </p:cNvSpPr>
          <p:nvPr/>
        </p:nvSpPr>
        <p:spPr bwMode="auto">
          <a:xfrm>
            <a:off x="1664180" y="3872241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83" name="Rounded Rectangle 454"/>
          <p:cNvSpPr/>
          <p:nvPr/>
        </p:nvSpPr>
        <p:spPr>
          <a:xfrm>
            <a:off x="1810284" y="3836241"/>
            <a:ext cx="540000" cy="144000"/>
          </a:xfrm>
          <a:prstGeom prst="roundRect">
            <a:avLst/>
          </a:prstGeom>
          <a:solidFill>
            <a:schemeClr val="bg1">
              <a:lumMod val="85000"/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개발미팅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84" name="Freeform 11"/>
          <p:cNvSpPr>
            <a:spLocks noChangeAspect="1" noChangeArrowheads="1"/>
          </p:cNvSpPr>
          <p:nvPr/>
        </p:nvSpPr>
        <p:spPr bwMode="auto">
          <a:xfrm>
            <a:off x="2244717" y="3872241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85" name="Freeform 15"/>
          <p:cNvSpPr>
            <a:spLocks noChangeArrowheads="1"/>
          </p:cNvSpPr>
          <p:nvPr/>
        </p:nvSpPr>
        <p:spPr bwMode="auto">
          <a:xfrm>
            <a:off x="500421" y="3600390"/>
            <a:ext cx="102241" cy="102241"/>
          </a:xfrm>
          <a:custGeom>
            <a:avLst/>
            <a:gdLst>
              <a:gd name="T0" fmla="*/ 208 w 456"/>
              <a:gd name="T1" fmla="*/ 141 h 456"/>
              <a:gd name="T2" fmla="*/ 213 w 456"/>
              <a:gd name="T3" fmla="*/ 117 h 456"/>
              <a:gd name="T4" fmla="*/ 213 w 456"/>
              <a:gd name="T5" fmla="*/ 88 h 456"/>
              <a:gd name="T6" fmla="*/ 213 w 456"/>
              <a:gd name="T7" fmla="*/ 83 h 456"/>
              <a:gd name="T8" fmla="*/ 208 w 456"/>
              <a:gd name="T9" fmla="*/ 88 h 456"/>
              <a:gd name="T10" fmla="*/ 136 w 456"/>
              <a:gd name="T11" fmla="*/ 315 h 456"/>
              <a:gd name="T12" fmla="*/ 87 w 456"/>
              <a:gd name="T13" fmla="*/ 363 h 456"/>
              <a:gd name="T14" fmla="*/ 136 w 456"/>
              <a:gd name="T15" fmla="*/ 315 h 456"/>
              <a:gd name="T16" fmla="*/ 319 w 456"/>
              <a:gd name="T17" fmla="*/ 266 h 456"/>
              <a:gd name="T18" fmla="*/ 315 w 456"/>
              <a:gd name="T19" fmla="*/ 266 h 456"/>
              <a:gd name="T20" fmla="*/ 363 w 456"/>
              <a:gd name="T21" fmla="*/ 281 h 456"/>
              <a:gd name="T22" fmla="*/ 368 w 456"/>
              <a:gd name="T23" fmla="*/ 281 h 456"/>
              <a:gd name="T24" fmla="*/ 368 w 456"/>
              <a:gd name="T25" fmla="*/ 281 h 456"/>
              <a:gd name="T26" fmla="*/ 368 w 456"/>
              <a:gd name="T27" fmla="*/ 276 h 456"/>
              <a:gd name="T28" fmla="*/ 54 w 456"/>
              <a:gd name="T29" fmla="*/ 0 h 456"/>
              <a:gd name="T30" fmla="*/ 0 w 456"/>
              <a:gd name="T31" fmla="*/ 402 h 456"/>
              <a:gd name="T32" fmla="*/ 406 w 456"/>
              <a:gd name="T33" fmla="*/ 455 h 456"/>
              <a:gd name="T34" fmla="*/ 455 w 456"/>
              <a:gd name="T35" fmla="*/ 49 h 456"/>
              <a:gd name="T36" fmla="*/ 377 w 456"/>
              <a:gd name="T37" fmla="*/ 295 h 456"/>
              <a:gd name="T38" fmla="*/ 281 w 456"/>
              <a:gd name="T39" fmla="*/ 286 h 456"/>
              <a:gd name="T40" fmla="*/ 174 w 456"/>
              <a:gd name="T41" fmla="*/ 310 h 456"/>
              <a:gd name="T42" fmla="*/ 87 w 456"/>
              <a:gd name="T43" fmla="*/ 382 h 456"/>
              <a:gd name="T44" fmla="*/ 73 w 456"/>
              <a:gd name="T45" fmla="*/ 373 h 456"/>
              <a:gd name="T46" fmla="*/ 121 w 456"/>
              <a:gd name="T47" fmla="*/ 310 h 456"/>
              <a:gd name="T48" fmla="*/ 170 w 456"/>
              <a:gd name="T49" fmla="*/ 252 h 456"/>
              <a:gd name="T50" fmla="*/ 194 w 456"/>
              <a:gd name="T51" fmla="*/ 175 h 456"/>
              <a:gd name="T52" fmla="*/ 208 w 456"/>
              <a:gd name="T53" fmla="*/ 73 h 456"/>
              <a:gd name="T54" fmla="*/ 232 w 456"/>
              <a:gd name="T55" fmla="*/ 78 h 456"/>
              <a:gd name="T56" fmla="*/ 232 w 456"/>
              <a:gd name="T57" fmla="*/ 170 h 456"/>
              <a:gd name="T58" fmla="*/ 295 w 456"/>
              <a:gd name="T59" fmla="*/ 252 h 456"/>
              <a:gd name="T60" fmla="*/ 387 w 456"/>
              <a:gd name="T61" fmla="*/ 266 h 456"/>
              <a:gd name="T62" fmla="*/ 377 w 456"/>
              <a:gd name="T63" fmla="*/ 295 h 456"/>
              <a:gd name="T64" fmla="*/ 189 w 456"/>
              <a:gd name="T65" fmla="*/ 262 h 456"/>
              <a:gd name="T66" fmla="*/ 174 w 456"/>
              <a:gd name="T67" fmla="*/ 286 h 456"/>
              <a:gd name="T68" fmla="*/ 261 w 456"/>
              <a:gd name="T69" fmla="*/ 266 h 456"/>
              <a:gd name="T70" fmla="*/ 213 w 456"/>
              <a:gd name="T71" fmla="*/ 199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56" h="456">
                <a:moveTo>
                  <a:pt x="208" y="141"/>
                </a:moveTo>
                <a:lnTo>
                  <a:pt x="208" y="141"/>
                </a:lnTo>
                <a:lnTo>
                  <a:pt x="208" y="141"/>
                </a:lnTo>
                <a:cubicBezTo>
                  <a:pt x="213" y="131"/>
                  <a:pt x="213" y="126"/>
                  <a:pt x="213" y="117"/>
                </a:cubicBezTo>
                <a:lnTo>
                  <a:pt x="213" y="112"/>
                </a:lnTo>
                <a:cubicBezTo>
                  <a:pt x="218" y="102"/>
                  <a:pt x="218" y="92"/>
                  <a:pt x="213" y="88"/>
                </a:cubicBezTo>
                <a:lnTo>
                  <a:pt x="213" y="88"/>
                </a:lnTo>
                <a:lnTo>
                  <a:pt x="213" y="83"/>
                </a:lnTo>
                <a:lnTo>
                  <a:pt x="213" y="83"/>
                </a:lnTo>
                <a:cubicBezTo>
                  <a:pt x="213" y="83"/>
                  <a:pt x="213" y="88"/>
                  <a:pt x="208" y="88"/>
                </a:cubicBezTo>
                <a:cubicBezTo>
                  <a:pt x="203" y="102"/>
                  <a:pt x="203" y="117"/>
                  <a:pt x="208" y="141"/>
                </a:cubicBezTo>
                <a:close/>
                <a:moveTo>
                  <a:pt x="136" y="315"/>
                </a:moveTo>
                <a:cubicBezTo>
                  <a:pt x="131" y="320"/>
                  <a:pt x="126" y="320"/>
                  <a:pt x="121" y="324"/>
                </a:cubicBezTo>
                <a:cubicBezTo>
                  <a:pt x="102" y="339"/>
                  <a:pt x="92" y="353"/>
                  <a:pt x="87" y="363"/>
                </a:cubicBezTo>
                <a:lnTo>
                  <a:pt x="87" y="363"/>
                </a:lnTo>
                <a:cubicBezTo>
                  <a:pt x="102" y="363"/>
                  <a:pt x="121" y="344"/>
                  <a:pt x="136" y="315"/>
                </a:cubicBezTo>
                <a:close/>
                <a:moveTo>
                  <a:pt x="368" y="276"/>
                </a:moveTo>
                <a:cubicBezTo>
                  <a:pt x="363" y="276"/>
                  <a:pt x="353" y="266"/>
                  <a:pt x="319" y="266"/>
                </a:cubicBezTo>
                <a:lnTo>
                  <a:pt x="315" y="266"/>
                </a:lnTo>
                <a:lnTo>
                  <a:pt x="315" y="266"/>
                </a:lnTo>
                <a:cubicBezTo>
                  <a:pt x="315" y="266"/>
                  <a:pt x="315" y="266"/>
                  <a:pt x="315" y="271"/>
                </a:cubicBezTo>
                <a:cubicBezTo>
                  <a:pt x="334" y="276"/>
                  <a:pt x="348" y="281"/>
                  <a:pt x="363" y="281"/>
                </a:cubicBezTo>
                <a:lnTo>
                  <a:pt x="368" y="281"/>
                </a:lnTo>
                <a:lnTo>
                  <a:pt x="368" y="281"/>
                </a:lnTo>
                <a:lnTo>
                  <a:pt x="368" y="281"/>
                </a:lnTo>
                <a:lnTo>
                  <a:pt x="368" y="281"/>
                </a:lnTo>
                <a:lnTo>
                  <a:pt x="368" y="281"/>
                </a:lnTo>
                <a:cubicBezTo>
                  <a:pt x="368" y="281"/>
                  <a:pt x="368" y="281"/>
                  <a:pt x="368" y="276"/>
                </a:cubicBezTo>
                <a:close/>
                <a:moveTo>
                  <a:pt x="406" y="0"/>
                </a:moveTo>
                <a:lnTo>
                  <a:pt x="54" y="0"/>
                </a:lnTo>
                <a:cubicBezTo>
                  <a:pt x="25" y="0"/>
                  <a:pt x="0" y="20"/>
                  <a:pt x="0" y="49"/>
                </a:cubicBezTo>
                <a:lnTo>
                  <a:pt x="0" y="402"/>
                </a:lnTo>
                <a:cubicBezTo>
                  <a:pt x="0" y="431"/>
                  <a:pt x="25" y="455"/>
                  <a:pt x="54" y="455"/>
                </a:cubicBezTo>
                <a:lnTo>
                  <a:pt x="406" y="455"/>
                </a:lnTo>
                <a:cubicBezTo>
                  <a:pt x="431" y="455"/>
                  <a:pt x="455" y="431"/>
                  <a:pt x="455" y="402"/>
                </a:cubicBezTo>
                <a:lnTo>
                  <a:pt x="455" y="49"/>
                </a:lnTo>
                <a:cubicBezTo>
                  <a:pt x="455" y="20"/>
                  <a:pt x="431" y="0"/>
                  <a:pt x="406" y="0"/>
                </a:cubicBezTo>
                <a:close/>
                <a:moveTo>
                  <a:pt x="377" y="295"/>
                </a:moveTo>
                <a:cubicBezTo>
                  <a:pt x="373" y="300"/>
                  <a:pt x="363" y="305"/>
                  <a:pt x="353" y="305"/>
                </a:cubicBezTo>
                <a:cubicBezTo>
                  <a:pt x="334" y="305"/>
                  <a:pt x="305" y="295"/>
                  <a:pt x="281" y="286"/>
                </a:cubicBezTo>
                <a:cubicBezTo>
                  <a:pt x="237" y="291"/>
                  <a:pt x="203" y="295"/>
                  <a:pt x="179" y="305"/>
                </a:cubicBezTo>
                <a:cubicBezTo>
                  <a:pt x="174" y="305"/>
                  <a:pt x="174" y="305"/>
                  <a:pt x="174" y="310"/>
                </a:cubicBezTo>
                <a:cubicBezTo>
                  <a:pt x="141" y="363"/>
                  <a:pt x="116" y="387"/>
                  <a:pt x="97" y="387"/>
                </a:cubicBezTo>
                <a:cubicBezTo>
                  <a:pt x="92" y="387"/>
                  <a:pt x="87" y="387"/>
                  <a:pt x="87" y="382"/>
                </a:cubicBezTo>
                <a:lnTo>
                  <a:pt x="73" y="378"/>
                </a:lnTo>
                <a:lnTo>
                  <a:pt x="73" y="373"/>
                </a:lnTo>
                <a:cubicBezTo>
                  <a:pt x="73" y="368"/>
                  <a:pt x="73" y="368"/>
                  <a:pt x="73" y="363"/>
                </a:cubicBezTo>
                <a:cubicBezTo>
                  <a:pt x="73" y="349"/>
                  <a:pt x="87" y="324"/>
                  <a:pt x="121" y="310"/>
                </a:cubicBezTo>
                <a:cubicBezTo>
                  <a:pt x="126" y="305"/>
                  <a:pt x="131" y="300"/>
                  <a:pt x="141" y="295"/>
                </a:cubicBezTo>
                <a:cubicBezTo>
                  <a:pt x="150" y="281"/>
                  <a:pt x="155" y="266"/>
                  <a:pt x="170" y="252"/>
                </a:cubicBezTo>
                <a:cubicBezTo>
                  <a:pt x="179" y="223"/>
                  <a:pt x="189" y="199"/>
                  <a:pt x="194" y="175"/>
                </a:cubicBezTo>
                <a:lnTo>
                  <a:pt x="194" y="175"/>
                </a:lnTo>
                <a:cubicBezTo>
                  <a:pt x="184" y="146"/>
                  <a:pt x="179" y="126"/>
                  <a:pt x="189" y="92"/>
                </a:cubicBezTo>
                <a:cubicBezTo>
                  <a:pt x="194" y="83"/>
                  <a:pt x="199" y="73"/>
                  <a:pt x="208" y="73"/>
                </a:cubicBezTo>
                <a:lnTo>
                  <a:pt x="213" y="73"/>
                </a:lnTo>
                <a:cubicBezTo>
                  <a:pt x="223" y="73"/>
                  <a:pt x="228" y="73"/>
                  <a:pt x="232" y="78"/>
                </a:cubicBezTo>
                <a:cubicBezTo>
                  <a:pt x="247" y="97"/>
                  <a:pt x="242" y="136"/>
                  <a:pt x="232" y="170"/>
                </a:cubicBezTo>
                <a:lnTo>
                  <a:pt x="232" y="170"/>
                </a:lnTo>
                <a:cubicBezTo>
                  <a:pt x="242" y="199"/>
                  <a:pt x="257" y="223"/>
                  <a:pt x="271" y="237"/>
                </a:cubicBezTo>
                <a:cubicBezTo>
                  <a:pt x="281" y="242"/>
                  <a:pt x="286" y="247"/>
                  <a:pt x="295" y="252"/>
                </a:cubicBezTo>
                <a:cubicBezTo>
                  <a:pt x="305" y="252"/>
                  <a:pt x="315" y="252"/>
                  <a:pt x="329" y="252"/>
                </a:cubicBezTo>
                <a:cubicBezTo>
                  <a:pt x="358" y="252"/>
                  <a:pt x="377" y="257"/>
                  <a:pt x="387" y="266"/>
                </a:cubicBezTo>
                <a:cubicBezTo>
                  <a:pt x="387" y="271"/>
                  <a:pt x="387" y="276"/>
                  <a:pt x="387" y="281"/>
                </a:cubicBezTo>
                <a:cubicBezTo>
                  <a:pt x="387" y="286"/>
                  <a:pt x="382" y="291"/>
                  <a:pt x="377" y="295"/>
                </a:cubicBezTo>
                <a:close/>
                <a:moveTo>
                  <a:pt x="213" y="199"/>
                </a:moveTo>
                <a:cubicBezTo>
                  <a:pt x="208" y="218"/>
                  <a:pt x="199" y="237"/>
                  <a:pt x="189" y="262"/>
                </a:cubicBezTo>
                <a:cubicBezTo>
                  <a:pt x="184" y="271"/>
                  <a:pt x="179" y="276"/>
                  <a:pt x="174" y="286"/>
                </a:cubicBezTo>
                <a:lnTo>
                  <a:pt x="174" y="286"/>
                </a:lnTo>
                <a:lnTo>
                  <a:pt x="179" y="286"/>
                </a:lnTo>
                <a:cubicBezTo>
                  <a:pt x="208" y="276"/>
                  <a:pt x="242" y="266"/>
                  <a:pt x="261" y="266"/>
                </a:cubicBezTo>
                <a:cubicBezTo>
                  <a:pt x="257" y="262"/>
                  <a:pt x="252" y="262"/>
                  <a:pt x="252" y="257"/>
                </a:cubicBezTo>
                <a:cubicBezTo>
                  <a:pt x="237" y="242"/>
                  <a:pt x="223" y="223"/>
                  <a:pt x="213" y="199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86" name="Rectangle 21"/>
          <p:cNvSpPr/>
          <p:nvPr/>
        </p:nvSpPr>
        <p:spPr>
          <a:xfrm>
            <a:off x="547861" y="3547367"/>
            <a:ext cx="121860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최종보고문서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.pdf  </a:t>
            </a:r>
            <a:r>
              <a: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590.2KB</a:t>
            </a:r>
            <a:endParaRPr kumimoji="1" lang="en-US" sz="6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88" name="Rounded Rectangle 112"/>
          <p:cNvSpPr/>
          <p:nvPr/>
        </p:nvSpPr>
        <p:spPr>
          <a:xfrm>
            <a:off x="3349482" y="4101686"/>
            <a:ext cx="271770" cy="138175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89" name="그룹 143"/>
          <p:cNvGrpSpPr/>
          <p:nvPr/>
        </p:nvGrpSpPr>
        <p:grpSpPr>
          <a:xfrm>
            <a:off x="269192" y="1078746"/>
            <a:ext cx="216000" cy="252000"/>
            <a:chOff x="2704212" y="2825113"/>
            <a:chExt cx="216000" cy="252000"/>
          </a:xfrm>
        </p:grpSpPr>
        <p:sp>
          <p:nvSpPr>
            <p:cNvPr id="307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08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90" name="Rectangle 119"/>
          <p:cNvSpPr/>
          <p:nvPr/>
        </p:nvSpPr>
        <p:spPr>
          <a:xfrm>
            <a:off x="462209" y="1278881"/>
            <a:ext cx="3302156" cy="270136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91" name="그룹 143"/>
          <p:cNvGrpSpPr/>
          <p:nvPr/>
        </p:nvGrpSpPr>
        <p:grpSpPr>
          <a:xfrm>
            <a:off x="269192" y="3902070"/>
            <a:ext cx="216000" cy="252000"/>
            <a:chOff x="2704212" y="2825113"/>
            <a:chExt cx="216000" cy="252000"/>
          </a:xfrm>
        </p:grpSpPr>
        <p:sp>
          <p:nvSpPr>
            <p:cNvPr id="305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06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2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92" name="Rectangle 124"/>
          <p:cNvSpPr/>
          <p:nvPr/>
        </p:nvSpPr>
        <p:spPr>
          <a:xfrm>
            <a:off x="462209" y="4073474"/>
            <a:ext cx="2507364" cy="18935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93" name="그룹 143"/>
          <p:cNvGrpSpPr/>
          <p:nvPr/>
        </p:nvGrpSpPr>
        <p:grpSpPr>
          <a:xfrm>
            <a:off x="2877883" y="3888028"/>
            <a:ext cx="216000" cy="252000"/>
            <a:chOff x="2704212" y="2825113"/>
            <a:chExt cx="216000" cy="252000"/>
          </a:xfrm>
        </p:grpSpPr>
        <p:sp>
          <p:nvSpPr>
            <p:cNvPr id="303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04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3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94" name="Rectangle 129"/>
          <p:cNvSpPr/>
          <p:nvPr/>
        </p:nvSpPr>
        <p:spPr>
          <a:xfrm>
            <a:off x="3000423" y="4059432"/>
            <a:ext cx="772399" cy="20339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95" name="Freeform 11"/>
          <p:cNvSpPr>
            <a:spLocks noChangeAspect="1" noChangeArrowheads="1"/>
          </p:cNvSpPr>
          <p:nvPr/>
        </p:nvSpPr>
        <p:spPr bwMode="auto">
          <a:xfrm>
            <a:off x="3628224" y="3621203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cxnSp>
        <p:nvCxnSpPr>
          <p:cNvPr id="296" name="직선 연결선[R] 33"/>
          <p:cNvCxnSpPr/>
          <p:nvPr/>
        </p:nvCxnSpPr>
        <p:spPr>
          <a:xfrm>
            <a:off x="472744" y="3511477"/>
            <a:ext cx="32727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7" name="Freeform 33"/>
          <p:cNvSpPr>
            <a:spLocks noChangeAspect="1" noEditPoints="1"/>
          </p:cNvSpPr>
          <p:nvPr/>
        </p:nvSpPr>
        <p:spPr bwMode="auto">
          <a:xfrm>
            <a:off x="955590" y="4074979"/>
            <a:ext cx="129405" cy="14400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530893" y="1883625"/>
            <a:ext cx="645629" cy="443917"/>
            <a:chOff x="703722" y="1883625"/>
            <a:chExt cx="1032458" cy="649397"/>
          </a:xfrm>
        </p:grpSpPr>
        <p:sp>
          <p:nvSpPr>
            <p:cNvPr id="298" name="Rectangle 178"/>
            <p:cNvSpPr/>
            <p:nvPr/>
          </p:nvSpPr>
          <p:spPr>
            <a:xfrm>
              <a:off x="703722" y="1887122"/>
              <a:ext cx="1032458" cy="6458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299" name="Group 179"/>
            <p:cNvGrpSpPr/>
            <p:nvPr/>
          </p:nvGrpSpPr>
          <p:grpSpPr>
            <a:xfrm>
              <a:off x="703722" y="1883625"/>
              <a:ext cx="1032089" cy="649397"/>
              <a:chOff x="1873093" y="1662082"/>
              <a:chExt cx="502639" cy="300527"/>
            </a:xfrm>
          </p:grpSpPr>
          <p:cxnSp>
            <p:nvCxnSpPr>
              <p:cNvPr id="301" name="Straight Connector 180"/>
              <p:cNvCxnSpPr/>
              <p:nvPr/>
            </p:nvCxnSpPr>
            <p:spPr>
              <a:xfrm flipH="1">
                <a:off x="1873093" y="1662082"/>
                <a:ext cx="502639" cy="300527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Straight Connector 181"/>
              <p:cNvCxnSpPr/>
              <p:nvPr/>
            </p:nvCxnSpPr>
            <p:spPr>
              <a:xfrm>
                <a:off x="1874989" y="1668970"/>
                <a:ext cx="500742" cy="293639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0" name="Freeform 448"/>
            <p:cNvSpPr>
              <a:spLocks noChangeArrowheads="1"/>
            </p:cNvSpPr>
            <p:nvPr/>
          </p:nvSpPr>
          <p:spPr bwMode="auto">
            <a:xfrm>
              <a:off x="1614964" y="1924654"/>
              <a:ext cx="73951" cy="75858"/>
            </a:xfrm>
            <a:custGeom>
              <a:avLst/>
              <a:gdLst>
                <a:gd name="T0" fmla="*/ 382 w 766"/>
                <a:gd name="T1" fmla="*/ 0 h 773"/>
                <a:gd name="T2" fmla="*/ 0 w 766"/>
                <a:gd name="T3" fmla="*/ 382 h 773"/>
                <a:gd name="T4" fmla="*/ 382 w 766"/>
                <a:gd name="T5" fmla="*/ 772 h 773"/>
                <a:gd name="T6" fmla="*/ 765 w 766"/>
                <a:gd name="T7" fmla="*/ 382 h 773"/>
                <a:gd name="T8" fmla="*/ 382 w 766"/>
                <a:gd name="T9" fmla="*/ 0 h 773"/>
                <a:gd name="T10" fmla="*/ 573 w 766"/>
                <a:gd name="T11" fmla="*/ 522 h 773"/>
                <a:gd name="T12" fmla="*/ 522 w 766"/>
                <a:gd name="T13" fmla="*/ 573 h 773"/>
                <a:gd name="T14" fmla="*/ 382 w 766"/>
                <a:gd name="T15" fmla="*/ 441 h 773"/>
                <a:gd name="T16" fmla="*/ 243 w 766"/>
                <a:gd name="T17" fmla="*/ 573 h 773"/>
                <a:gd name="T18" fmla="*/ 191 w 766"/>
                <a:gd name="T19" fmla="*/ 522 h 773"/>
                <a:gd name="T20" fmla="*/ 331 w 766"/>
                <a:gd name="T21" fmla="*/ 382 h 773"/>
                <a:gd name="T22" fmla="*/ 191 w 766"/>
                <a:gd name="T23" fmla="*/ 242 h 773"/>
                <a:gd name="T24" fmla="*/ 243 w 766"/>
                <a:gd name="T25" fmla="*/ 191 h 773"/>
                <a:gd name="T26" fmla="*/ 382 w 766"/>
                <a:gd name="T27" fmla="*/ 331 h 773"/>
                <a:gd name="T28" fmla="*/ 522 w 766"/>
                <a:gd name="T29" fmla="*/ 191 h 773"/>
                <a:gd name="T30" fmla="*/ 573 w 766"/>
                <a:gd name="T31" fmla="*/ 242 h 773"/>
                <a:gd name="T32" fmla="*/ 434 w 766"/>
                <a:gd name="T33" fmla="*/ 382 h 773"/>
                <a:gd name="T34" fmla="*/ 573 w 766"/>
                <a:gd name="T35" fmla="*/ 52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773">
                  <a:moveTo>
                    <a:pt x="382" y="0"/>
                  </a:moveTo>
                  <a:cubicBezTo>
                    <a:pt x="169" y="0"/>
                    <a:pt x="0" y="169"/>
                    <a:pt x="0" y="382"/>
                  </a:cubicBezTo>
                  <a:cubicBezTo>
                    <a:pt x="0" y="595"/>
                    <a:pt x="169" y="772"/>
                    <a:pt x="382" y="772"/>
                  </a:cubicBezTo>
                  <a:cubicBezTo>
                    <a:pt x="596" y="772"/>
                    <a:pt x="765" y="595"/>
                    <a:pt x="765" y="382"/>
                  </a:cubicBezTo>
                  <a:cubicBezTo>
                    <a:pt x="765" y="169"/>
                    <a:pt x="596" y="0"/>
                    <a:pt x="382" y="0"/>
                  </a:cubicBezTo>
                  <a:close/>
                  <a:moveTo>
                    <a:pt x="573" y="522"/>
                  </a:moveTo>
                  <a:lnTo>
                    <a:pt x="522" y="573"/>
                  </a:lnTo>
                  <a:lnTo>
                    <a:pt x="382" y="441"/>
                  </a:lnTo>
                  <a:lnTo>
                    <a:pt x="243" y="573"/>
                  </a:lnTo>
                  <a:lnTo>
                    <a:pt x="191" y="522"/>
                  </a:lnTo>
                  <a:lnTo>
                    <a:pt x="331" y="382"/>
                  </a:lnTo>
                  <a:lnTo>
                    <a:pt x="191" y="242"/>
                  </a:lnTo>
                  <a:lnTo>
                    <a:pt x="243" y="191"/>
                  </a:lnTo>
                  <a:lnTo>
                    <a:pt x="382" y="331"/>
                  </a:lnTo>
                  <a:lnTo>
                    <a:pt x="522" y="191"/>
                  </a:lnTo>
                  <a:lnTo>
                    <a:pt x="573" y="242"/>
                  </a:lnTo>
                  <a:lnTo>
                    <a:pt x="434" y="382"/>
                  </a:lnTo>
                  <a:lnTo>
                    <a:pt x="573" y="5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311" name="Rectangle 380"/>
          <p:cNvSpPr/>
          <p:nvPr/>
        </p:nvSpPr>
        <p:spPr>
          <a:xfrm>
            <a:off x="430806" y="4799725"/>
            <a:ext cx="3442010" cy="1410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76200" dir="2700000" sx="99000" sy="99000" algn="tl" rotWithShape="0">
              <a:prstClr val="black">
                <a:alpha val="2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16" name="Rounded Rectangle 386"/>
          <p:cNvSpPr/>
          <p:nvPr/>
        </p:nvSpPr>
        <p:spPr>
          <a:xfrm>
            <a:off x="3065689" y="6016613"/>
            <a:ext cx="281526" cy="144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취소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317" name="직선 연결선[R] 33"/>
          <p:cNvCxnSpPr/>
          <p:nvPr/>
        </p:nvCxnSpPr>
        <p:spPr>
          <a:xfrm>
            <a:off x="515443" y="5964796"/>
            <a:ext cx="32727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320" name="Picture 390"/>
          <p:cNvPicPr>
            <a:picLocks noChangeAspect="1"/>
          </p:cNvPicPr>
          <p:nvPr/>
        </p:nvPicPr>
        <p:blipFill rotWithShape="1">
          <a:blip r:embed="rId4" cstate="print">
            <a:alphaModFix amt="21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3600060" y="5160729"/>
            <a:ext cx="234355" cy="199319"/>
          </a:xfrm>
          <a:prstGeom prst="rect">
            <a:avLst/>
          </a:prstGeom>
          <a:effectLst/>
        </p:spPr>
      </p:pic>
      <p:grpSp>
        <p:nvGrpSpPr>
          <p:cNvPr id="321" name="Group 10"/>
          <p:cNvGrpSpPr/>
          <p:nvPr/>
        </p:nvGrpSpPr>
        <p:grpSpPr>
          <a:xfrm>
            <a:off x="515443" y="4880569"/>
            <a:ext cx="3272738" cy="233616"/>
            <a:chOff x="8397957" y="4811613"/>
            <a:chExt cx="3272738" cy="233616"/>
          </a:xfrm>
        </p:grpSpPr>
        <p:sp>
          <p:nvSpPr>
            <p:cNvPr id="322" name="Rounded Rectangle 939"/>
            <p:cNvSpPr/>
            <p:nvPr/>
          </p:nvSpPr>
          <p:spPr>
            <a:xfrm>
              <a:off x="8397957" y="4811613"/>
              <a:ext cx="3272738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23" name="Triangle 942"/>
            <p:cNvSpPr>
              <a:spLocks noChangeAspect="1"/>
            </p:cNvSpPr>
            <p:nvPr/>
          </p:nvSpPr>
          <p:spPr>
            <a:xfrm flipV="1">
              <a:off x="11518929" y="4906821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ＭＳ Ｐゴシック" charset="0"/>
              </a:endParaRPr>
            </a:p>
          </p:txBody>
        </p:sp>
        <p:sp>
          <p:nvSpPr>
            <p:cNvPr id="324" name="텍스트 상자 31"/>
            <p:cNvSpPr txBox="1"/>
            <p:nvPr/>
          </p:nvSpPr>
          <p:spPr>
            <a:xfrm>
              <a:off x="8454156" y="4866863"/>
              <a:ext cx="128523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그룹을 선택해 주세요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325" name="텍스트 상자 31"/>
          <p:cNvSpPr txBox="1"/>
          <p:nvPr/>
        </p:nvSpPr>
        <p:spPr>
          <a:xfrm>
            <a:off x="430806" y="4604848"/>
            <a:ext cx="3626844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메인 화면에서 글쓰기 영역 선택 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: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34" name="텍스트 상자 31"/>
          <p:cNvSpPr txBox="1"/>
          <p:nvPr/>
        </p:nvSpPr>
        <p:spPr>
          <a:xfrm>
            <a:off x="4161151" y="2945473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그룹 선택 드롭다운 메뉴 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: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35" name="그룹 423"/>
          <p:cNvGrpSpPr/>
          <p:nvPr/>
        </p:nvGrpSpPr>
        <p:grpSpPr>
          <a:xfrm rot="16200000">
            <a:off x="3005709" y="3890104"/>
            <a:ext cx="1808778" cy="547294"/>
            <a:chOff x="8726395" y="3335297"/>
            <a:chExt cx="1808778" cy="547294"/>
          </a:xfrm>
        </p:grpSpPr>
        <p:sp>
          <p:nvSpPr>
            <p:cNvPr id="336" name="AutoShape 133"/>
            <p:cNvSpPr>
              <a:spLocks/>
            </p:cNvSpPr>
            <p:nvPr/>
          </p:nvSpPr>
          <p:spPr bwMode="auto">
            <a:xfrm>
              <a:off x="8726395" y="3335297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337" name="직선 화살표 연결선 425"/>
            <p:cNvCxnSpPr>
              <a:stCxn id="336" idx="0"/>
              <a:endCxn id="127" idx="1"/>
            </p:cNvCxnSpPr>
            <p:nvPr/>
          </p:nvCxnSpPr>
          <p:spPr>
            <a:xfrm rot="5400000" flipV="1">
              <a:off x="9418446" y="2765864"/>
              <a:ext cx="483088" cy="1750366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8" name="텍스트 상자 31"/>
          <p:cNvSpPr txBox="1"/>
          <p:nvPr/>
        </p:nvSpPr>
        <p:spPr>
          <a:xfrm>
            <a:off x="430806" y="6287280"/>
            <a:ext cx="21125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그룹 미선택 시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: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입력 영역 및 버튼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Dimmed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처리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39" name="그룹 143"/>
          <p:cNvGrpSpPr/>
          <p:nvPr/>
        </p:nvGrpSpPr>
        <p:grpSpPr>
          <a:xfrm>
            <a:off x="319877" y="4718680"/>
            <a:ext cx="216000" cy="252000"/>
            <a:chOff x="2704212" y="2825113"/>
            <a:chExt cx="216000" cy="252000"/>
          </a:xfrm>
        </p:grpSpPr>
        <p:sp>
          <p:nvSpPr>
            <p:cNvPr id="340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41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1-1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343" name="Rounded Rectangle 132"/>
          <p:cNvSpPr/>
          <p:nvPr/>
        </p:nvSpPr>
        <p:spPr>
          <a:xfrm>
            <a:off x="3396074" y="6015568"/>
            <a:ext cx="271770" cy="138175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45" name="Rectangle 187"/>
          <p:cNvSpPr/>
          <p:nvPr/>
        </p:nvSpPr>
        <p:spPr>
          <a:xfrm>
            <a:off x="4153133" y="6034860"/>
            <a:ext cx="3442010" cy="69255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76200" dir="2700000" sx="99000" sy="99000" algn="tl" rotWithShape="0">
              <a:prstClr val="black">
                <a:alpha val="2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pic>
        <p:nvPicPr>
          <p:cNvPr id="346" name="Picture 196"/>
          <p:cNvPicPr>
            <a:picLocks noChangeAspect="1"/>
          </p:cNvPicPr>
          <p:nvPr/>
        </p:nvPicPr>
        <p:blipFill rotWithShape="1">
          <a:blip r:embed="rId4" cstate="print">
            <a:alphaModFix amt="21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7322387" y="6395864"/>
            <a:ext cx="234355" cy="199319"/>
          </a:xfrm>
          <a:prstGeom prst="rect">
            <a:avLst/>
          </a:prstGeom>
          <a:effectLst/>
        </p:spPr>
      </p:pic>
      <p:grpSp>
        <p:nvGrpSpPr>
          <p:cNvPr id="347" name="Group 197"/>
          <p:cNvGrpSpPr/>
          <p:nvPr/>
        </p:nvGrpSpPr>
        <p:grpSpPr>
          <a:xfrm>
            <a:off x="4237770" y="6115704"/>
            <a:ext cx="3272738" cy="233616"/>
            <a:chOff x="8397957" y="4811613"/>
            <a:chExt cx="3272738" cy="233616"/>
          </a:xfrm>
        </p:grpSpPr>
        <p:sp>
          <p:nvSpPr>
            <p:cNvPr id="348" name="Rounded Rectangle 939"/>
            <p:cNvSpPr/>
            <p:nvPr/>
          </p:nvSpPr>
          <p:spPr>
            <a:xfrm>
              <a:off x="8397957" y="4811613"/>
              <a:ext cx="3272738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49" name="Triangle 942"/>
            <p:cNvSpPr>
              <a:spLocks noChangeAspect="1"/>
            </p:cNvSpPr>
            <p:nvPr/>
          </p:nvSpPr>
          <p:spPr>
            <a:xfrm flipV="1">
              <a:off x="11518929" y="4906821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ＭＳ Ｐゴシック" charset="0"/>
              </a:endParaRPr>
            </a:p>
          </p:txBody>
        </p:sp>
        <p:sp>
          <p:nvSpPr>
            <p:cNvPr id="350" name="텍스트 상자 31"/>
            <p:cNvSpPr txBox="1"/>
            <p:nvPr/>
          </p:nvSpPr>
          <p:spPr>
            <a:xfrm>
              <a:off x="8454156" y="4866863"/>
              <a:ext cx="128523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그룹을 선택해 주세요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351" name="텍스트 상자 31"/>
          <p:cNvSpPr txBox="1"/>
          <p:nvPr/>
        </p:nvSpPr>
        <p:spPr>
          <a:xfrm>
            <a:off x="4242162" y="6412245"/>
            <a:ext cx="21125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그룹 선택 후 글쓰기가 가능합니다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52" name="Group 205"/>
          <p:cNvGrpSpPr/>
          <p:nvPr/>
        </p:nvGrpSpPr>
        <p:grpSpPr>
          <a:xfrm>
            <a:off x="4062331" y="6576536"/>
            <a:ext cx="3619125" cy="281875"/>
            <a:chOff x="278478" y="6627607"/>
            <a:chExt cx="5264545" cy="281875"/>
          </a:xfrm>
        </p:grpSpPr>
        <p:sp>
          <p:nvSpPr>
            <p:cNvPr id="353" name="Shape 164"/>
            <p:cNvSpPr/>
            <p:nvPr/>
          </p:nvSpPr>
          <p:spPr>
            <a:xfrm>
              <a:off x="278478" y="6627961"/>
              <a:ext cx="5245391" cy="2797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19" extrusionOk="0">
                  <a:moveTo>
                    <a:pt x="21600" y="17027"/>
                  </a:moveTo>
                  <a:lnTo>
                    <a:pt x="21600" y="5324"/>
                  </a:lnTo>
                  <a:cubicBezTo>
                    <a:pt x="19983" y="1823"/>
                    <a:pt x="18313" y="33"/>
                    <a:pt x="16635" y="0"/>
                  </a:cubicBezTo>
                  <a:cubicBezTo>
                    <a:pt x="13681" y="-56"/>
                    <a:pt x="10782" y="5313"/>
                    <a:pt x="7848" y="7424"/>
                  </a:cubicBezTo>
                  <a:cubicBezTo>
                    <a:pt x="5234" y="9305"/>
                    <a:pt x="2597" y="8604"/>
                    <a:pt x="0" y="5324"/>
                  </a:cubicBezTo>
                  <a:lnTo>
                    <a:pt x="0" y="17701"/>
                  </a:lnTo>
                  <a:cubicBezTo>
                    <a:pt x="2589" y="20870"/>
                    <a:pt x="5215" y="21544"/>
                    <a:pt x="7821" y="19720"/>
                  </a:cubicBezTo>
                  <a:cubicBezTo>
                    <a:pt x="10753" y="17669"/>
                    <a:pt x="13648" y="12452"/>
                    <a:pt x="16598" y="12310"/>
                  </a:cubicBezTo>
                  <a:cubicBezTo>
                    <a:pt x="18284" y="12229"/>
                    <a:pt x="19965" y="13814"/>
                    <a:pt x="21600" y="17027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noFill/>
              <a:miter lim="400000"/>
            </a:ln>
            <a:effectLst/>
          </p:spPr>
          <p:txBody>
            <a:bodyPr wrap="square" lIns="20858" tIns="20858" rIns="20858" bIns="20858" numCol="1" anchor="ctr">
              <a:noAutofit/>
            </a:bodyPr>
            <a:lstStyle/>
            <a:p>
              <a:pPr marL="0" marR="0" lvl="0" indent="0" algn="l" defTabSz="4572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54" name="Shape 165"/>
            <p:cNvSpPr/>
            <p:nvPr/>
          </p:nvSpPr>
          <p:spPr>
            <a:xfrm>
              <a:off x="291584" y="6794712"/>
              <a:ext cx="5251439" cy="114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985" extrusionOk="0">
                  <a:moveTo>
                    <a:pt x="0" y="13843"/>
                  </a:moveTo>
                  <a:cubicBezTo>
                    <a:pt x="2066" y="19723"/>
                    <a:pt x="4161" y="21389"/>
                    <a:pt x="6247" y="18810"/>
                  </a:cubicBezTo>
                  <a:cubicBezTo>
                    <a:pt x="9577" y="14691"/>
                    <a:pt x="12855" y="-211"/>
                    <a:pt x="16195" y="3"/>
                  </a:cubicBezTo>
                  <a:cubicBezTo>
                    <a:pt x="18022" y="120"/>
                    <a:pt x="19841" y="4775"/>
                    <a:pt x="21600" y="13843"/>
                  </a:cubicBezTo>
                </a:path>
              </a:pathLst>
            </a:custGeom>
            <a:noFill/>
            <a:ln w="3175" cap="flat">
              <a:solidFill>
                <a:schemeClr val="bg1">
                  <a:lumMod val="50000"/>
                </a:schemeClr>
              </a:solidFill>
              <a:prstDash val="sysDash"/>
              <a:miter lim="400000"/>
            </a:ln>
            <a:effectLst/>
          </p:spPr>
          <p:txBody>
            <a:bodyPr wrap="square" lIns="20858" tIns="20858" rIns="20858" bIns="20858" numCol="1" anchor="ctr">
              <a:noAutofit/>
            </a:bodyPr>
            <a:lstStyle/>
            <a:p>
              <a:pPr marL="0" marR="0" lvl="0" indent="0" algn="l" defTabSz="4572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55" name="Shape 166"/>
            <p:cNvSpPr/>
            <p:nvPr/>
          </p:nvSpPr>
          <p:spPr>
            <a:xfrm>
              <a:off x="291584" y="6627607"/>
              <a:ext cx="5251439" cy="114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985" extrusionOk="0">
                  <a:moveTo>
                    <a:pt x="0" y="13843"/>
                  </a:moveTo>
                  <a:cubicBezTo>
                    <a:pt x="2066" y="19723"/>
                    <a:pt x="4161" y="21389"/>
                    <a:pt x="6247" y="18810"/>
                  </a:cubicBezTo>
                  <a:cubicBezTo>
                    <a:pt x="9577" y="14691"/>
                    <a:pt x="12855" y="-211"/>
                    <a:pt x="16195" y="3"/>
                  </a:cubicBezTo>
                  <a:cubicBezTo>
                    <a:pt x="18022" y="120"/>
                    <a:pt x="19841" y="4775"/>
                    <a:pt x="21600" y="13843"/>
                  </a:cubicBezTo>
                </a:path>
              </a:pathLst>
            </a:custGeom>
            <a:noFill/>
            <a:ln w="3175" cap="flat">
              <a:solidFill>
                <a:schemeClr val="bg1">
                  <a:lumMod val="50000"/>
                </a:schemeClr>
              </a:solidFill>
              <a:prstDash val="sysDash"/>
              <a:miter lim="400000"/>
            </a:ln>
            <a:effectLst/>
          </p:spPr>
          <p:txBody>
            <a:bodyPr wrap="square" lIns="20858" tIns="20858" rIns="20858" bIns="20858" numCol="1" anchor="ctr">
              <a:noAutofit/>
            </a:bodyPr>
            <a:lstStyle/>
            <a:p>
              <a:pPr marL="0" marR="0" lvl="0" indent="0" algn="l" defTabSz="4572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356" name="텍스트 상자 31"/>
          <p:cNvSpPr txBox="1"/>
          <p:nvPr/>
        </p:nvSpPr>
        <p:spPr>
          <a:xfrm>
            <a:off x="4161144" y="5905623"/>
            <a:ext cx="3384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그룹 선택하지 않고 글쓰기 영역 선택 시 가이드 문구 제공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(Validation)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10" name="그룹 9"/>
          <p:cNvGrpSpPr/>
          <p:nvPr/>
        </p:nvGrpSpPr>
        <p:grpSpPr>
          <a:xfrm>
            <a:off x="4149576" y="632624"/>
            <a:ext cx="3626844" cy="1304962"/>
            <a:chOff x="4219026" y="2105514"/>
            <a:chExt cx="3626844" cy="1304962"/>
          </a:xfrm>
        </p:grpSpPr>
        <p:sp>
          <p:nvSpPr>
            <p:cNvPr id="370" name="Rectangle 315"/>
            <p:cNvSpPr/>
            <p:nvPr/>
          </p:nvSpPr>
          <p:spPr>
            <a:xfrm>
              <a:off x="4222919" y="2300391"/>
              <a:ext cx="3442010" cy="111008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>
              <a:outerShdw blurRad="50800" dist="76200" dir="2700000" sx="99000" sy="99000" algn="tl" rotWithShape="0">
                <a:prstClr val="black">
                  <a:alpha val="2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375" name="직선 연결선[R] 33"/>
            <p:cNvCxnSpPr/>
            <p:nvPr/>
          </p:nvCxnSpPr>
          <p:spPr>
            <a:xfrm>
              <a:off x="4307556" y="3164868"/>
              <a:ext cx="327273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76" name="Freeform 17"/>
            <p:cNvSpPr>
              <a:spLocks noChangeArrowheads="1"/>
            </p:cNvSpPr>
            <p:nvPr/>
          </p:nvSpPr>
          <p:spPr bwMode="auto">
            <a:xfrm>
              <a:off x="4327872" y="3222089"/>
              <a:ext cx="139453" cy="139263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77" name="Freeform 355"/>
            <p:cNvSpPr>
              <a:spLocks noChangeArrowheads="1"/>
            </p:cNvSpPr>
            <p:nvPr/>
          </p:nvSpPr>
          <p:spPr bwMode="auto">
            <a:xfrm>
              <a:off x="4542427" y="3242187"/>
              <a:ext cx="174710" cy="96157"/>
            </a:xfrm>
            <a:custGeom>
              <a:avLst/>
              <a:gdLst>
                <a:gd name="T0" fmla="*/ 214 w 774"/>
                <a:gd name="T1" fmla="*/ 426 h 427"/>
                <a:gd name="T2" fmla="*/ 0 w 774"/>
                <a:gd name="T3" fmla="*/ 213 h 427"/>
                <a:gd name="T4" fmla="*/ 214 w 774"/>
                <a:gd name="T5" fmla="*/ 0 h 427"/>
                <a:gd name="T6" fmla="*/ 618 w 774"/>
                <a:gd name="T7" fmla="*/ 0 h 427"/>
                <a:gd name="T8" fmla="*/ 773 w 774"/>
                <a:gd name="T9" fmla="*/ 154 h 427"/>
                <a:gd name="T10" fmla="*/ 618 w 774"/>
                <a:gd name="T11" fmla="*/ 309 h 427"/>
                <a:gd name="T12" fmla="*/ 287 w 774"/>
                <a:gd name="T13" fmla="*/ 309 h 427"/>
                <a:gd name="T14" fmla="*/ 192 w 774"/>
                <a:gd name="T15" fmla="*/ 213 h 427"/>
                <a:gd name="T16" fmla="*/ 287 w 774"/>
                <a:gd name="T17" fmla="*/ 117 h 427"/>
                <a:gd name="T18" fmla="*/ 581 w 774"/>
                <a:gd name="T19" fmla="*/ 117 h 427"/>
                <a:gd name="T20" fmla="*/ 581 w 774"/>
                <a:gd name="T21" fmla="*/ 176 h 427"/>
                <a:gd name="T22" fmla="*/ 287 w 774"/>
                <a:gd name="T23" fmla="*/ 176 h 427"/>
                <a:gd name="T24" fmla="*/ 250 w 774"/>
                <a:gd name="T25" fmla="*/ 213 h 427"/>
                <a:gd name="T26" fmla="*/ 287 w 774"/>
                <a:gd name="T27" fmla="*/ 250 h 427"/>
                <a:gd name="T28" fmla="*/ 618 w 774"/>
                <a:gd name="T29" fmla="*/ 250 h 427"/>
                <a:gd name="T30" fmla="*/ 714 w 774"/>
                <a:gd name="T31" fmla="*/ 154 h 427"/>
                <a:gd name="T32" fmla="*/ 618 w 774"/>
                <a:gd name="T33" fmla="*/ 58 h 427"/>
                <a:gd name="T34" fmla="*/ 214 w 774"/>
                <a:gd name="T35" fmla="*/ 58 h 427"/>
                <a:gd name="T36" fmla="*/ 59 w 774"/>
                <a:gd name="T37" fmla="*/ 213 h 427"/>
                <a:gd name="T38" fmla="*/ 214 w 774"/>
                <a:gd name="T39" fmla="*/ 367 h 427"/>
                <a:gd name="T40" fmla="*/ 581 w 774"/>
                <a:gd name="T41" fmla="*/ 367 h 427"/>
                <a:gd name="T42" fmla="*/ 581 w 774"/>
                <a:gd name="T43" fmla="*/ 426 h 427"/>
                <a:gd name="T44" fmla="*/ 214 w 774"/>
                <a:gd name="T45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4" h="427">
                  <a:moveTo>
                    <a:pt x="214" y="426"/>
                  </a:moveTo>
                  <a:cubicBezTo>
                    <a:pt x="96" y="426"/>
                    <a:pt x="0" y="331"/>
                    <a:pt x="0" y="213"/>
                  </a:cubicBezTo>
                  <a:cubicBezTo>
                    <a:pt x="0" y="95"/>
                    <a:pt x="96" y="0"/>
                    <a:pt x="214" y="0"/>
                  </a:cubicBezTo>
                  <a:lnTo>
                    <a:pt x="618" y="0"/>
                  </a:lnTo>
                  <a:cubicBezTo>
                    <a:pt x="699" y="0"/>
                    <a:pt x="773" y="69"/>
                    <a:pt x="773" y="154"/>
                  </a:cubicBezTo>
                  <a:cubicBezTo>
                    <a:pt x="773" y="239"/>
                    <a:pt x="699" y="309"/>
                    <a:pt x="618" y="309"/>
                  </a:cubicBezTo>
                  <a:lnTo>
                    <a:pt x="287" y="309"/>
                  </a:lnTo>
                  <a:cubicBezTo>
                    <a:pt x="236" y="309"/>
                    <a:pt x="192" y="264"/>
                    <a:pt x="192" y="213"/>
                  </a:cubicBezTo>
                  <a:cubicBezTo>
                    <a:pt x="192" y="161"/>
                    <a:pt x="236" y="117"/>
                    <a:pt x="287" y="117"/>
                  </a:cubicBezTo>
                  <a:lnTo>
                    <a:pt x="581" y="117"/>
                  </a:lnTo>
                  <a:lnTo>
                    <a:pt x="581" y="176"/>
                  </a:lnTo>
                  <a:lnTo>
                    <a:pt x="287" y="176"/>
                  </a:lnTo>
                  <a:cubicBezTo>
                    <a:pt x="265" y="176"/>
                    <a:pt x="250" y="191"/>
                    <a:pt x="250" y="213"/>
                  </a:cubicBezTo>
                  <a:cubicBezTo>
                    <a:pt x="250" y="235"/>
                    <a:pt x="265" y="250"/>
                    <a:pt x="287" y="250"/>
                  </a:cubicBezTo>
                  <a:lnTo>
                    <a:pt x="618" y="250"/>
                  </a:lnTo>
                  <a:cubicBezTo>
                    <a:pt x="670" y="250"/>
                    <a:pt x="714" y="209"/>
                    <a:pt x="714" y="154"/>
                  </a:cubicBezTo>
                  <a:cubicBezTo>
                    <a:pt x="714" y="99"/>
                    <a:pt x="670" y="58"/>
                    <a:pt x="618" y="58"/>
                  </a:cubicBezTo>
                  <a:lnTo>
                    <a:pt x="214" y="58"/>
                  </a:lnTo>
                  <a:cubicBezTo>
                    <a:pt x="125" y="58"/>
                    <a:pt x="59" y="128"/>
                    <a:pt x="59" y="213"/>
                  </a:cubicBezTo>
                  <a:cubicBezTo>
                    <a:pt x="59" y="297"/>
                    <a:pt x="125" y="367"/>
                    <a:pt x="214" y="367"/>
                  </a:cubicBezTo>
                  <a:lnTo>
                    <a:pt x="581" y="367"/>
                  </a:lnTo>
                  <a:lnTo>
                    <a:pt x="581" y="426"/>
                  </a:lnTo>
                  <a:lnTo>
                    <a:pt x="214" y="426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pic>
          <p:nvPicPr>
            <p:cNvPr id="378" name="Picture 15"/>
            <p:cNvPicPr>
              <a:picLocks noChangeAspect="1"/>
            </p:cNvPicPr>
            <p:nvPr/>
          </p:nvPicPr>
          <p:blipFill rotWithShape="1">
            <a:blip r:embed="rId4" cstate="print">
              <a:alphaModFix amt="2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833"/>
            <a:stretch/>
          </p:blipFill>
          <p:spPr>
            <a:xfrm>
              <a:off x="5178195" y="3184601"/>
              <a:ext cx="226986" cy="193052"/>
            </a:xfrm>
            <a:prstGeom prst="rect">
              <a:avLst/>
            </a:prstGeom>
            <a:effectLst/>
          </p:spPr>
        </p:pic>
        <p:sp>
          <p:nvSpPr>
            <p:cNvPr id="379" name="Rounded Rectangle 364"/>
            <p:cNvSpPr/>
            <p:nvPr/>
          </p:nvSpPr>
          <p:spPr>
            <a:xfrm>
              <a:off x="6858380" y="3227050"/>
              <a:ext cx="281526" cy="144000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취소</a:t>
              </a: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80" name="Rounded Rectangle 358"/>
            <p:cNvSpPr/>
            <p:nvPr/>
          </p:nvSpPr>
          <p:spPr>
            <a:xfrm>
              <a:off x="7184294" y="3228345"/>
              <a:ext cx="271770" cy="138175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등록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81" name="텍스트 상자 31"/>
            <p:cNvSpPr txBox="1"/>
            <p:nvPr/>
          </p:nvSpPr>
          <p:spPr>
            <a:xfrm>
              <a:off x="4219026" y="2105514"/>
              <a:ext cx="3626844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* 그룹 상세에서 글쓰기 영역 선택 </a:t>
              </a:r>
              <a:r>
                <a:rPr kumimoji="1" lang="en-US" altLang="ko-KR" sz="10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:</a:t>
              </a:r>
              <a:endPara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82" name="Freeform 25"/>
            <p:cNvSpPr>
              <a:spLocks noChangeAspect="1" noEditPoints="1"/>
            </p:cNvSpPr>
            <p:nvPr/>
          </p:nvSpPr>
          <p:spPr bwMode="auto">
            <a:xfrm>
              <a:off x="7493749" y="3236149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83" name="Freeform 33"/>
            <p:cNvSpPr>
              <a:spLocks noChangeAspect="1" noEditPoints="1"/>
            </p:cNvSpPr>
            <p:nvPr/>
          </p:nvSpPr>
          <p:spPr bwMode="auto">
            <a:xfrm>
              <a:off x="4790402" y="3217352"/>
              <a:ext cx="129405" cy="144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384" name="Rounded Rectangle 397"/>
          <p:cNvSpPr/>
          <p:nvPr/>
        </p:nvSpPr>
        <p:spPr>
          <a:xfrm>
            <a:off x="4172850" y="2419862"/>
            <a:ext cx="918179" cy="396000"/>
          </a:xfrm>
          <a:prstGeom prst="roundRect">
            <a:avLst>
              <a:gd name="adj" fmla="val 0"/>
            </a:avLst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 및 메일로 전송</a:t>
            </a: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 및 업무 요청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85" name="텍스트 상자 31"/>
          <p:cNvSpPr txBox="1"/>
          <p:nvPr/>
        </p:nvSpPr>
        <p:spPr>
          <a:xfrm>
            <a:off x="4172849" y="2047304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보내기 버튼에 마우스 오버 시 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: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386" name="Straight Connector 488"/>
          <p:cNvCxnSpPr/>
          <p:nvPr/>
        </p:nvCxnSpPr>
        <p:spPr>
          <a:xfrm>
            <a:off x="4938264" y="2254122"/>
            <a:ext cx="0" cy="146056"/>
          </a:xfrm>
          <a:prstGeom prst="line">
            <a:avLst/>
          </a:prstGeom>
          <a:ln w="6350"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7" name="Rectangle 14"/>
          <p:cNvSpPr>
            <a:spLocks/>
          </p:cNvSpPr>
          <p:nvPr/>
        </p:nvSpPr>
        <p:spPr bwMode="auto">
          <a:xfrm>
            <a:off x="5801539" y="2253069"/>
            <a:ext cx="1818045" cy="619811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50800" tIns="50800" rIns="50800" bIns="50800" anchor="ctr"/>
          <a:lstStyle/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메일 쓰기</a:t>
            </a:r>
            <a:r>
              <a:rPr kumimoji="1" lang="en-US" altLang="ko-KR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/</a:t>
            </a:r>
            <a:r>
              <a:rPr kumimoji="1" lang="ko-KR" altLang="en-US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업무 요청</a:t>
            </a:r>
            <a:r>
              <a:rPr kumimoji="1" lang="en-US" altLang="ko-KR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(</a:t>
            </a:r>
            <a:r>
              <a:rPr kumimoji="1" lang="ko-KR" altLang="en-US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새창</a:t>
            </a:r>
            <a:r>
              <a:rPr kumimoji="1" lang="en-US" altLang="ko-KR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)</a:t>
            </a:r>
            <a:r>
              <a:rPr kumimoji="1" lang="ko-KR" altLang="en-US" sz="9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제공</a:t>
            </a:r>
          </a:p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(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작성한 스퀘어 글 및 파일이 해당 새창에 입력된 상태로 제공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)</a:t>
            </a:r>
            <a:endParaRPr kumimoji="1" lang="ko-KR" altLang="en-US" sz="800" b="0" i="0" u="none" strike="noStrike" kern="1200" cap="none" spc="0" normalizeH="0" baseline="0" noProof="0" dirty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88" name="그룹 423"/>
          <p:cNvGrpSpPr/>
          <p:nvPr/>
        </p:nvGrpSpPr>
        <p:grpSpPr>
          <a:xfrm rot="16200000">
            <a:off x="5359810" y="2233343"/>
            <a:ext cx="116864" cy="743201"/>
            <a:chOff x="8726378" y="3335313"/>
            <a:chExt cx="116864" cy="743201"/>
          </a:xfrm>
        </p:grpSpPr>
        <p:sp>
          <p:nvSpPr>
            <p:cNvPr id="389" name="AutoShape 133"/>
            <p:cNvSpPr>
              <a:spLocks/>
            </p:cNvSpPr>
            <p:nvPr/>
          </p:nvSpPr>
          <p:spPr bwMode="auto">
            <a:xfrm>
              <a:off x="8726378" y="3335313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390" name="직선 화살표 연결선 425"/>
            <p:cNvCxnSpPr/>
            <p:nvPr/>
          </p:nvCxnSpPr>
          <p:spPr>
            <a:xfrm rot="5400000" flipV="1">
              <a:off x="8462397" y="3756104"/>
              <a:ext cx="644818" cy="1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1" name="Freeform 25"/>
          <p:cNvSpPr>
            <a:spLocks noChangeAspect="1" noEditPoints="1"/>
          </p:cNvSpPr>
          <p:nvPr/>
        </p:nvSpPr>
        <p:spPr bwMode="auto">
          <a:xfrm>
            <a:off x="4995926" y="2258325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aphicFrame>
        <p:nvGraphicFramePr>
          <p:cNvPr id="392" name="표"/>
          <p:cNvGraphicFramePr/>
          <p:nvPr>
            <p:extLst>
              <p:ext uri="{D42A27DB-BD31-4B8C-83A1-F6EECF244321}">
                <p14:modId xmlns:p14="http://schemas.microsoft.com/office/powerpoint/2010/main" val="1968500237"/>
              </p:ext>
            </p:extLst>
          </p:nvPr>
        </p:nvGraphicFramePr>
        <p:xfrm>
          <a:off x="8137520" y="727110"/>
          <a:ext cx="3999728" cy="4420658"/>
        </p:xfrm>
        <a:graphic>
          <a:graphicData uri="http://schemas.openxmlformats.org/drawingml/2006/table">
            <a:tbl>
              <a:tblPr/>
              <a:tblGrid>
                <a:gridCol w="323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14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443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4689">
                <a:tc gridSpan="3">
                  <a:txBody>
                    <a:bodyPr/>
                    <a:lstStyle/>
                    <a:p>
                      <a:pPr algn="l" defTabSz="914400">
                        <a:defRPr sz="1800"/>
                      </a:pPr>
                      <a:r>
                        <a:rPr sz="1000" b="1" dirty="0" smtClean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  <a:endParaRPr sz="1000" b="1" dirty="0">
                        <a:latin typeface="+mj-ea"/>
                        <a:ea typeface="+mj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4689">
                <a:tc gridSpan="3">
                  <a:txBody>
                    <a:bodyPr/>
                    <a:lstStyle/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ko-KR" altLang="en-US" sz="600" dirty="0" smtClean="0">
                          <a:latin typeface="+mj-ea"/>
                          <a:ea typeface="+mj-ea"/>
                          <a:cs typeface="Nanum Gothic" charset="-127"/>
                        </a:rPr>
                        <a:t>스퀘어 그룹에 피드를 올리기 위한 글쓰기 화면</a:t>
                      </a:r>
                    </a:p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ko-KR" altLang="en-US" sz="600" dirty="0" smtClean="0">
                          <a:latin typeface="+mj-ea"/>
                          <a:ea typeface="+mj-ea"/>
                          <a:cs typeface="Nanum Gothic" charset="-127"/>
                        </a:rPr>
                        <a:t>스퀘어 메인</a:t>
                      </a:r>
                      <a:r>
                        <a:rPr lang="en-US" altLang="ko-KR" sz="600" dirty="0" smtClean="0">
                          <a:latin typeface="+mj-ea"/>
                          <a:ea typeface="+mj-ea"/>
                          <a:cs typeface="Nanum Gothic" charset="-127"/>
                        </a:rPr>
                        <a:t>/</a:t>
                      </a:r>
                      <a:r>
                        <a:rPr lang="ko-KR" altLang="en-US" sz="600" dirty="0" smtClean="0">
                          <a:latin typeface="+mj-ea"/>
                          <a:ea typeface="+mj-ea"/>
                          <a:cs typeface="Nanum Gothic" charset="-127"/>
                        </a:rPr>
                        <a:t>그룹 상세 상단 글쓰기 영역 선택 시 제공</a:t>
                      </a:r>
                    </a:p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ko-KR" altLang="en-US" sz="600" dirty="0" smtClean="0">
                          <a:latin typeface="+mj-ea"/>
                          <a:ea typeface="+mj-ea"/>
                          <a:cs typeface="Nanum Gothic" charset="-127"/>
                        </a:rPr>
                        <a:t>글쓰기 영역에 입력 컨텐츠 초과 시 글쓰기 창 높이가 늘어나며 바디 스크롤</a:t>
                      </a:r>
                      <a:r>
                        <a:rPr lang="en-US" altLang="ko-KR" sz="600" dirty="0" smtClean="0">
                          <a:latin typeface="+mj-ea"/>
                          <a:ea typeface="+mj-ea"/>
                          <a:cs typeface="Nanum Gothic" charset="-127"/>
                        </a:rPr>
                        <a:t>(</a:t>
                      </a:r>
                      <a:r>
                        <a:rPr lang="ko-KR" altLang="en-US" sz="600" dirty="0" smtClean="0">
                          <a:latin typeface="+mj-ea"/>
                          <a:ea typeface="+mj-ea"/>
                          <a:cs typeface="Nanum Gothic" charset="-127"/>
                        </a:rPr>
                        <a:t>전체 창 스크롤</a:t>
                      </a:r>
                      <a:r>
                        <a:rPr lang="en-US" altLang="ko-KR" sz="600" dirty="0" smtClean="0">
                          <a:latin typeface="+mj-ea"/>
                          <a:ea typeface="+mj-ea"/>
                          <a:cs typeface="Nanum Gothic" charset="-127"/>
                        </a:rPr>
                        <a:t>)</a:t>
                      </a:r>
                      <a:r>
                        <a:rPr lang="ko-KR" altLang="en-US" sz="600" dirty="0" smtClean="0">
                          <a:latin typeface="+mj-ea"/>
                          <a:ea typeface="+mj-ea"/>
                          <a:cs typeface="Nanum Gothic" charset="-127"/>
                        </a:rPr>
                        <a:t> 제공</a:t>
                      </a:r>
                      <a:endParaRPr lang="en-US" altLang="ko-KR" sz="600" dirty="0" smtClean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0">
                      <a:miter lim="400000"/>
                    </a:lnL>
                    <a:lnR w="0">
                      <a:miter lim="400000"/>
                    </a:lnR>
                    <a:lnT>
                      <a:solidFill>
                        <a:srgbClr val="A6AAA9"/>
                      </a:solidFill>
                      <a:miter lim="400000"/>
                    </a:lnT>
                    <a:lnB w="12700" cap="flat" cmpd="sng" algn="ctr">
                      <a:solidFill>
                        <a:srgbClr val="53585F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689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sz="60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No.</a:t>
                      </a: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60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Name</a:t>
                      </a:r>
                    </a:p>
                  </a:txBody>
                  <a:tcPr marL="50800" marR="508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60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</a:p>
                  </a:txBody>
                  <a:tcPr marL="50800" marR="508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 w="0"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6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6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600" dirty="0" smtClean="0">
                          <a:latin typeface="+mn-ea"/>
                          <a:ea typeface="+mn-ea"/>
                          <a:cs typeface="Malgun Gothic" charset="0"/>
                        </a:rPr>
                        <a:t>컨텐츠 작성 영역</a:t>
                      </a:r>
                      <a:endParaRPr lang="en-US" sz="6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텍스트 입력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이미지 첨부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첨부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해시태그하여 입력하는 컨텐츠 영역 및 공지 버튼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토글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텍스트 입력 후 이미지 첨부 시 이미지가 해당 텍스트 하단에 배치됨 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해시태그 입력 시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‘#’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입력 후 입력한 단어를 해시태그로 인식하여 등록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 정보 텍스트 입력 후 피드 등록 시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그룹 새 일정 작성</a:t>
                      </a:r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새창</a:t>
                      </a:r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입력한 일정 정보가 입력된 상태로 제공</a:t>
                      </a:r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6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(TBD)</a:t>
                      </a:r>
                      <a:endParaRPr lang="ko-KR" altLang="en-US" sz="600" kern="1200" baseline="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등록 최대 갯수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10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태그는 등록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첨부 후 삭제 가능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 설정 시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피드가 공지로 등록되어 그룹 상단의 공지 영역에서 제공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600" dirty="0" smtClean="0">
                          <a:latin typeface="+mn-ea"/>
                          <a:ea typeface="+mn-ea"/>
                          <a:cs typeface="Nanum Gothic" charset="-127"/>
                        </a:rPr>
                        <a:t>1-1</a:t>
                      </a:r>
                      <a:endParaRPr sz="6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600" dirty="0" smtClean="0">
                          <a:latin typeface="+mn-ea"/>
                          <a:ea typeface="+mn-ea"/>
                          <a:cs typeface="Malgun Gothic" charset="0"/>
                        </a:rPr>
                        <a:t>그룹 선택 드롭다운 버튼</a:t>
                      </a:r>
                      <a:endParaRPr lang="en-US" sz="6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메인 화면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에서 글쓰기 영역 선택 시 글쓰기 팝업 상단에 해당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 시 사용자의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내 모든 그룹 제공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  <a:r>
                        <a:rPr lang="en-US" altLang="ko-KR" sz="600" kern="1200" baseline="0" dirty="0" smtClean="0">
                          <a:solidFill>
                            <a:srgbClr val="FF0066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폴더와 </a:t>
                      </a:r>
                      <a:r>
                        <a:rPr lang="ko-KR" altLang="en-US" sz="600" strike="sngStrike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그룹명을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표시하고 현재 그룹을 표시</a:t>
                      </a:r>
                      <a:r>
                        <a:rPr lang="en-US" altLang="ko-KR" sz="600" kern="1200" baseline="0" dirty="0" smtClean="0">
                          <a:solidFill>
                            <a:srgbClr val="FF0066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600" kern="1200" baseline="0" dirty="0" smtClean="0">
                          <a:solidFill>
                            <a:srgbClr val="FF0066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하나의 그룹만 선택 가능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선택 후 글쓰기 입력 창에 선택한 그룹 정보 표시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선택하지 않은 상태의 가이드 문구 제공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그룹을 선택해 주세요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미선택 시 하단 영역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Dimmed 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처리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미선택하고 하단 영역 선택 시 가이드 문구 제공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선택 후 글쓰기가 </a:t>
                      </a:r>
                      <a:r>
                        <a:rPr lang="ko-KR" altLang="en-US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가능합니다</a:t>
                      </a:r>
                      <a:r>
                        <a:rPr lang="en-US" altLang="ko-KR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.’</a:t>
                      </a:r>
                      <a:endParaRPr lang="en-US" altLang="ko-KR" sz="6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글 작성중에 그룹 변경 시도시</a:t>
                      </a:r>
                      <a:r>
                        <a:rPr lang="en-US" altLang="ko-KR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alert </a:t>
                      </a:r>
                      <a:r>
                        <a:rPr lang="ko-KR" altLang="en-US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출력</a:t>
                      </a:r>
                      <a:endParaRPr lang="en-US" altLang="ko-KR" sz="600" kern="12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82563" indent="-171450" algn="l" defTabSz="914400">
                        <a:buSzPct val="75000"/>
                        <a:buFont typeface="Wingdings" panose="05000000000000000000" pitchFamily="2" charset="2"/>
                        <a:buChar char="Ø"/>
                        <a:tabLst/>
                        <a:defRPr sz="2000"/>
                      </a:pPr>
                      <a:r>
                        <a:rPr lang="ko-KR" altLang="en-US" sz="600" kern="1200" baseline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변경시 작성된 글이 삭제됩니다</a:t>
                      </a:r>
                      <a:r>
                        <a:rPr lang="en-US" altLang="ko-KR" sz="600" kern="1200" baseline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. </a:t>
                      </a:r>
                      <a:r>
                        <a:rPr lang="ko-KR" altLang="en-US" sz="600" kern="1200" baseline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그룹을 변경하겠습니까</a:t>
                      </a:r>
                      <a:r>
                        <a:rPr lang="en-US" altLang="ko-KR" sz="600" kern="1200" baseline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?</a:t>
                      </a:r>
                      <a:r>
                        <a:rPr lang="en-US" altLang="ko-KR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6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확인 클릭시 작성된 글 리셋처리후 선택 그룹으로 변경 처리</a:t>
                      </a:r>
                      <a:endParaRPr lang="en-US" altLang="ko-KR" sz="600" kern="12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6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6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600" dirty="0" smtClean="0">
                          <a:latin typeface="+mn-ea"/>
                          <a:ea typeface="+mn-ea"/>
                          <a:cs typeface="Malgun Gothic" charset="0"/>
                        </a:rPr>
                        <a:t>컨텐츠 추가 영역</a:t>
                      </a:r>
                      <a:endParaRPr lang="en-US" sz="6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 첨부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첨부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일정 등록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파일첨부 버튼 선택 시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사용자 로컬 파일 탐색기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 등록 버튼 선택 시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일정 간편등록 레이어 팝업 제공 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스퀘어 그룹 달력 선택됨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kumimoji="1" lang="en-US" altLang="ko-KR" sz="600" dirty="0" smtClean="0">
                          <a:solidFill>
                            <a:srgbClr val="0432FF"/>
                          </a:solidFill>
                          <a:latin typeface="+mn-ea"/>
                          <a:ea typeface="+mn-ea"/>
                        </a:rPr>
                        <a:t>(6.4.</a:t>
                      </a:r>
                      <a:r>
                        <a:rPr kumimoji="1" lang="ko-KR" altLang="en-US" sz="600" dirty="0" smtClean="0">
                          <a:solidFill>
                            <a:srgbClr val="0432FF"/>
                          </a:solidFill>
                          <a:latin typeface="+mn-ea"/>
                          <a:ea typeface="+mn-ea"/>
                        </a:rPr>
                        <a:t> 일정 </a:t>
                      </a:r>
                      <a:r>
                        <a:rPr kumimoji="1" lang="en-US" altLang="ko-KR" sz="600" dirty="0" smtClean="0">
                          <a:solidFill>
                            <a:srgbClr val="0432FF"/>
                          </a:solidFill>
                          <a:latin typeface="+mn-ea"/>
                          <a:ea typeface="+mn-ea"/>
                        </a:rPr>
                        <a:t>Main</a:t>
                      </a:r>
                      <a:r>
                        <a:rPr kumimoji="1" lang="ko-KR" altLang="en-US" sz="600" dirty="0" smtClean="0">
                          <a:solidFill>
                            <a:srgbClr val="0432FF"/>
                          </a:solidFill>
                          <a:latin typeface="+mn-ea"/>
                          <a:ea typeface="+mn-ea"/>
                        </a:rPr>
                        <a:t> 참조</a:t>
                      </a:r>
                      <a:r>
                        <a:rPr kumimoji="1" lang="en-US" altLang="ko-KR" sz="600" dirty="0" smtClean="0">
                          <a:solidFill>
                            <a:srgbClr val="0432FF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6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6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600" dirty="0" smtClean="0">
                          <a:latin typeface="+mn-ea"/>
                          <a:ea typeface="+mn-ea"/>
                          <a:cs typeface="Malgun Gothic" charset="0"/>
                        </a:rPr>
                        <a:t>액션 버튼 영역</a:t>
                      </a:r>
                      <a:endParaRPr lang="en-US" sz="6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취소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등록</a:t>
                      </a:r>
                      <a:r>
                        <a:rPr lang="en-US" altLang="ko-KR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보내기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취소 선택 시 취소 확인 팝업 제공 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등록 선택 시 작성한 피드를 해당 그룹에 업로드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보내기 버튼에 마우스 오버 시 기능 제공 </a:t>
                      </a:r>
                      <a:r>
                        <a:rPr lang="en-US" altLang="ko-KR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등록 및 메일로 전송 </a:t>
                      </a:r>
                      <a:r>
                        <a:rPr lang="en-US" altLang="ko-KR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등록 및 업무 요청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메일</a:t>
                      </a:r>
                      <a:r>
                        <a:rPr lang="en-US" altLang="ko-KR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업무로 보내기 실행 시 </a:t>
                      </a:r>
                      <a:r>
                        <a:rPr lang="en-US" altLang="ko-KR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메일 쓰기</a:t>
                      </a:r>
                      <a:r>
                        <a:rPr lang="en-US" altLang="ko-KR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6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업무 요청 새창 제공 </a:t>
                      </a:r>
                      <a:r>
                        <a:rPr lang="en-US" altLang="ko-KR" sz="6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작성한 스퀘어 글 및 파일이 해당 새창에 입력된 상태로 제공</a:t>
                      </a:r>
                      <a:r>
                        <a:rPr lang="en-US" altLang="ko-KR" sz="6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strike="sngStrike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28" name="Group 3"/>
          <p:cNvGraphicFramePr>
            <a:graphicFrameLocks noGrp="1"/>
          </p:cNvGraphicFramePr>
          <p:nvPr>
            <p:extLst/>
          </p:nvPr>
        </p:nvGraphicFramePr>
        <p:xfrm>
          <a:off x="9290533" y="114662"/>
          <a:ext cx="2835141" cy="648072"/>
        </p:xfrm>
        <a:graphic>
          <a:graphicData uri="http://schemas.openxmlformats.org/drawingml/2006/table">
            <a:tbl>
              <a:tblPr/>
              <a:tblGrid>
                <a:gridCol w="824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0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PROJECT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EGW UI/UX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이수진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29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"/>
            </p:custDataLst>
          </p:nvPr>
        </p:nvSpPr>
        <p:spPr>
          <a:xfrm>
            <a:off x="9273877" y="106242"/>
            <a:ext cx="2851448" cy="65871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pic>
        <p:nvPicPr>
          <p:cNvPr id="117" name="Picture 3" descr="C:\Users\Administrator\Downloads\briefcase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938" y="1738778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3" descr="C:\Users\Administrator\Downloads\briefcase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1037" y="40734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그룹 3"/>
          <p:cNvGrpSpPr/>
          <p:nvPr/>
        </p:nvGrpSpPr>
        <p:grpSpPr>
          <a:xfrm>
            <a:off x="4183728" y="3151346"/>
            <a:ext cx="3261560" cy="2347954"/>
            <a:chOff x="9468221" y="3265047"/>
            <a:chExt cx="3261560" cy="2347954"/>
          </a:xfrm>
        </p:grpSpPr>
        <p:grpSp>
          <p:nvGrpSpPr>
            <p:cNvPr id="121" name="그룹 120"/>
            <p:cNvGrpSpPr/>
            <p:nvPr/>
          </p:nvGrpSpPr>
          <p:grpSpPr>
            <a:xfrm>
              <a:off x="9468221" y="3265047"/>
              <a:ext cx="3261560" cy="2347954"/>
              <a:chOff x="9468221" y="3265047"/>
              <a:chExt cx="3261560" cy="2347954"/>
            </a:xfrm>
          </p:grpSpPr>
          <p:sp>
            <p:nvSpPr>
              <p:cNvPr id="122" name="직사각형 121"/>
              <p:cNvSpPr/>
              <p:nvPr/>
            </p:nvSpPr>
            <p:spPr>
              <a:xfrm>
                <a:off x="9471743" y="3441678"/>
                <a:ext cx="3258038" cy="217132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homa"/>
                  <a:ea typeface="맑은 고딕"/>
                  <a:cs typeface="+mn-cs"/>
                </a:endParaRPr>
              </a:p>
            </p:txBody>
          </p:sp>
          <p:grpSp>
            <p:nvGrpSpPr>
              <p:cNvPr id="123" name="그룹 122"/>
              <p:cNvGrpSpPr/>
              <p:nvPr/>
            </p:nvGrpSpPr>
            <p:grpSpPr>
              <a:xfrm>
                <a:off x="9471743" y="3859810"/>
                <a:ext cx="3219620" cy="1669926"/>
                <a:chOff x="9471743" y="3585490"/>
                <a:chExt cx="3219620" cy="1669926"/>
              </a:xfrm>
            </p:grpSpPr>
            <p:sp>
              <p:nvSpPr>
                <p:cNvPr id="133" name="직사각형 132"/>
                <p:cNvSpPr/>
                <p:nvPr/>
              </p:nvSpPr>
              <p:spPr>
                <a:xfrm>
                  <a:off x="9471743" y="4315866"/>
                  <a:ext cx="3219620" cy="2062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ahoma"/>
                    <a:ea typeface="맑은 고딕"/>
                    <a:cs typeface="+mn-cs"/>
                  </a:endParaRPr>
                </a:p>
              </p:txBody>
            </p:sp>
            <p:grpSp>
              <p:nvGrpSpPr>
                <p:cNvPr id="134" name="그룹 133"/>
                <p:cNvGrpSpPr/>
                <p:nvPr/>
              </p:nvGrpSpPr>
              <p:grpSpPr>
                <a:xfrm>
                  <a:off x="9547525" y="3585490"/>
                  <a:ext cx="521852" cy="1669926"/>
                  <a:chOff x="9547525" y="3585490"/>
                  <a:chExt cx="521852" cy="1669926"/>
                </a:xfrm>
              </p:grpSpPr>
              <p:sp>
                <p:nvSpPr>
                  <p:cNvPr id="142" name="TextBox 141"/>
                  <p:cNvSpPr txBox="1"/>
                  <p:nvPr/>
                </p:nvSpPr>
                <p:spPr>
                  <a:xfrm>
                    <a:off x="9547525" y="3585490"/>
                    <a:ext cx="380480" cy="195814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36000" rIns="36000" bIns="36000" rtlCol="0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 err="1" smtClean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내그룹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endParaRPr>
                  </a:p>
                </p:txBody>
              </p:sp>
              <p:sp>
                <p:nvSpPr>
                  <p:cNvPr id="137" name="TextBox 136"/>
                  <p:cNvSpPr txBox="1"/>
                  <p:nvPr/>
                </p:nvSpPr>
                <p:spPr>
                  <a:xfrm>
                    <a:off x="9623563" y="3744562"/>
                    <a:ext cx="337199" cy="1510854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36000" rIns="36000" bIns="36000" rtlCol="0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2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</a:t>
                    </a:r>
                    <a:r>
                      <a: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1</a:t>
                    </a:r>
                  </a:p>
                  <a:p>
                    <a:pPr marL="0" marR="0" lvl="0" indent="0" algn="l" defTabSz="914400" rtl="0" eaLnBrk="1" fontAlgn="base" latinLnBrk="1" hangingPunct="1">
                      <a:lnSpc>
                        <a:spcPct val="2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</a:t>
                    </a:r>
                    <a:r>
                      <a: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2</a:t>
                    </a:r>
                  </a:p>
                  <a:p>
                    <a:pPr marL="0" marR="0" lvl="0" indent="0" algn="l" defTabSz="914400" rtl="0" eaLnBrk="1" fontAlgn="base" latinLnBrk="1" hangingPunct="1">
                      <a:lnSpc>
                        <a:spcPct val="2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5B9BD5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</a:t>
                    </a:r>
                    <a:r>
                      <a:rPr kumimoji="1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5B9BD5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3</a:t>
                    </a:r>
                  </a:p>
                  <a:p>
                    <a:pPr marL="0" marR="0" lvl="0" indent="0" algn="l" defTabSz="914400" rtl="0" eaLnBrk="1" fontAlgn="base" latinLnBrk="1" hangingPunct="1">
                      <a:lnSpc>
                        <a:spcPct val="2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</a:t>
                    </a:r>
                    <a:r>
                      <a: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4</a:t>
                    </a:r>
                  </a:p>
                  <a:p>
                    <a:pPr marL="0" marR="0" lvl="0" indent="0" algn="l" defTabSz="914400" rtl="0" eaLnBrk="1" fontAlgn="base" latinLnBrk="1" hangingPunct="1">
                      <a:lnSpc>
                        <a:spcPct val="2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</a:t>
                    </a:r>
                    <a:r>
                      <a: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5</a:t>
                    </a:r>
                  </a:p>
                  <a:p>
                    <a:pPr marL="0" marR="0" lvl="0" indent="0" algn="l" defTabSz="914400" rtl="0" eaLnBrk="1" fontAlgn="base" latinLnBrk="1" hangingPunct="1">
                      <a:lnSpc>
                        <a:spcPct val="2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</a:t>
                    </a:r>
                    <a:r>
                      <a: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6</a:t>
                    </a:r>
                    <a:endPara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endParaRPr>
                  </a:p>
                </p:txBody>
              </p:sp>
              <p:sp>
                <p:nvSpPr>
                  <p:cNvPr id="139" name="Freeform 429"/>
                  <p:cNvSpPr>
                    <a:spLocks noChangeArrowheads="1"/>
                  </p:cNvSpPr>
                  <p:nvPr/>
                </p:nvSpPr>
                <p:spPr bwMode="auto">
                  <a:xfrm>
                    <a:off x="9959263" y="4344493"/>
                    <a:ext cx="110114" cy="83948"/>
                  </a:xfrm>
                  <a:custGeom>
                    <a:avLst/>
                    <a:gdLst>
                      <a:gd name="T0" fmla="*/ 145 w 446"/>
                      <a:gd name="T1" fmla="*/ 266 h 340"/>
                      <a:gd name="T2" fmla="*/ 39 w 446"/>
                      <a:gd name="T3" fmla="*/ 160 h 340"/>
                      <a:gd name="T4" fmla="*/ 0 w 446"/>
                      <a:gd name="T5" fmla="*/ 194 h 340"/>
                      <a:gd name="T6" fmla="*/ 145 w 446"/>
                      <a:gd name="T7" fmla="*/ 339 h 340"/>
                      <a:gd name="T8" fmla="*/ 445 w 446"/>
                      <a:gd name="T9" fmla="*/ 34 h 340"/>
                      <a:gd name="T10" fmla="*/ 411 w 446"/>
                      <a:gd name="T11" fmla="*/ 0 h 340"/>
                      <a:gd name="T12" fmla="*/ 145 w 446"/>
                      <a:gd name="T13" fmla="*/ 266 h 3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46" h="340">
                        <a:moveTo>
                          <a:pt x="145" y="266"/>
                        </a:moveTo>
                        <a:lnTo>
                          <a:pt x="39" y="160"/>
                        </a:lnTo>
                        <a:lnTo>
                          <a:pt x="0" y="194"/>
                        </a:lnTo>
                        <a:lnTo>
                          <a:pt x="145" y="339"/>
                        </a:lnTo>
                        <a:lnTo>
                          <a:pt x="445" y="34"/>
                        </a:lnTo>
                        <a:lnTo>
                          <a:pt x="411" y="0"/>
                        </a:lnTo>
                        <a:lnTo>
                          <a:pt x="145" y="266"/>
                        </a:lnTo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>
                    <a:solidFill>
                      <a:schemeClr val="accent5"/>
                    </a:solidFill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en-US" sz="1633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B9BD5">
                          <a:lumMod val="75000"/>
                        </a:srgbClr>
                      </a:solidFill>
                      <a:effectLst/>
                      <a:uLnTx/>
                      <a:uFillTx/>
                      <a:latin typeface="Roboto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24" name="직사각형 123"/>
              <p:cNvSpPr/>
              <p:nvPr/>
            </p:nvSpPr>
            <p:spPr>
              <a:xfrm>
                <a:off x="9483473" y="3509506"/>
                <a:ext cx="3246308" cy="33097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homa"/>
                  <a:ea typeface="맑은 고딕"/>
                  <a:cs typeface="+mn-cs"/>
                </a:endParaRPr>
              </a:p>
            </p:txBody>
          </p:sp>
          <p:grpSp>
            <p:nvGrpSpPr>
              <p:cNvPr id="125" name="그룹 124"/>
              <p:cNvGrpSpPr/>
              <p:nvPr/>
            </p:nvGrpSpPr>
            <p:grpSpPr>
              <a:xfrm>
                <a:off x="9531342" y="3559119"/>
                <a:ext cx="3146275" cy="216000"/>
                <a:chOff x="9531342" y="3525867"/>
                <a:chExt cx="3146275" cy="216000"/>
              </a:xfrm>
            </p:grpSpPr>
            <p:sp>
              <p:nvSpPr>
                <p:cNvPr id="129" name="모서리가 둥근 직사각형 128"/>
                <p:cNvSpPr/>
                <p:nvPr/>
              </p:nvSpPr>
              <p:spPr>
                <a:xfrm>
                  <a:off x="9531342" y="3525867"/>
                  <a:ext cx="3146275" cy="216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grpSp>
              <p:nvGrpSpPr>
                <p:cNvPr id="130" name="그룹 129"/>
                <p:cNvGrpSpPr/>
                <p:nvPr/>
              </p:nvGrpSpPr>
              <p:grpSpPr>
                <a:xfrm>
                  <a:off x="9675401" y="3525867"/>
                  <a:ext cx="2936188" cy="216000"/>
                  <a:chOff x="2431066" y="4910563"/>
                  <a:chExt cx="2936188" cy="216000"/>
                </a:xfrm>
              </p:grpSpPr>
              <p:sp>
                <p:nvSpPr>
                  <p:cNvPr id="131" name="Freeform 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59057" y="4969558"/>
                    <a:ext cx="108197" cy="108000"/>
                  </a:xfrm>
                  <a:custGeom>
                    <a:avLst/>
                    <a:gdLst>
                      <a:gd name="T0" fmla="*/ 332 w 471"/>
                      <a:gd name="T1" fmla="*/ 296 h 471"/>
                      <a:gd name="T2" fmla="*/ 312 w 471"/>
                      <a:gd name="T3" fmla="*/ 296 h 471"/>
                      <a:gd name="T4" fmla="*/ 307 w 471"/>
                      <a:gd name="T5" fmla="*/ 286 h 471"/>
                      <a:gd name="T6" fmla="*/ 348 w 471"/>
                      <a:gd name="T7" fmla="*/ 173 h 471"/>
                      <a:gd name="T8" fmla="*/ 174 w 471"/>
                      <a:gd name="T9" fmla="*/ 0 h 471"/>
                      <a:gd name="T10" fmla="*/ 0 w 471"/>
                      <a:gd name="T11" fmla="*/ 173 h 471"/>
                      <a:gd name="T12" fmla="*/ 174 w 471"/>
                      <a:gd name="T13" fmla="*/ 347 h 471"/>
                      <a:gd name="T14" fmla="*/ 286 w 471"/>
                      <a:gd name="T15" fmla="*/ 306 h 471"/>
                      <a:gd name="T16" fmla="*/ 296 w 471"/>
                      <a:gd name="T17" fmla="*/ 311 h 471"/>
                      <a:gd name="T18" fmla="*/ 296 w 471"/>
                      <a:gd name="T19" fmla="*/ 337 h 471"/>
                      <a:gd name="T20" fmla="*/ 429 w 471"/>
                      <a:gd name="T21" fmla="*/ 470 h 471"/>
                      <a:gd name="T22" fmla="*/ 470 w 471"/>
                      <a:gd name="T23" fmla="*/ 429 h 471"/>
                      <a:gd name="T24" fmla="*/ 332 w 471"/>
                      <a:gd name="T25" fmla="*/ 296 h 471"/>
                      <a:gd name="T26" fmla="*/ 174 w 471"/>
                      <a:gd name="T27" fmla="*/ 296 h 471"/>
                      <a:gd name="T28" fmla="*/ 56 w 471"/>
                      <a:gd name="T29" fmla="*/ 173 h 471"/>
                      <a:gd name="T30" fmla="*/ 174 w 471"/>
                      <a:gd name="T31" fmla="*/ 56 h 471"/>
                      <a:gd name="T32" fmla="*/ 296 w 471"/>
                      <a:gd name="T33" fmla="*/ 173 h 471"/>
                      <a:gd name="T34" fmla="*/ 174 w 471"/>
                      <a:gd name="T35" fmla="*/ 296 h 4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471" h="471">
                        <a:moveTo>
                          <a:pt x="332" y="296"/>
                        </a:moveTo>
                        <a:lnTo>
                          <a:pt x="312" y="296"/>
                        </a:lnTo>
                        <a:lnTo>
                          <a:pt x="307" y="286"/>
                        </a:lnTo>
                        <a:cubicBezTo>
                          <a:pt x="332" y="255"/>
                          <a:pt x="348" y="219"/>
                          <a:pt x="348" y="173"/>
                        </a:cubicBezTo>
                        <a:cubicBezTo>
                          <a:pt x="348" y="76"/>
                          <a:pt x="271" y="0"/>
                          <a:pt x="174" y="0"/>
                        </a:cubicBezTo>
                        <a:cubicBezTo>
                          <a:pt x="77" y="0"/>
                          <a:pt x="0" y="76"/>
                          <a:pt x="0" y="173"/>
                        </a:cubicBezTo>
                        <a:cubicBezTo>
                          <a:pt x="0" y="270"/>
                          <a:pt x="77" y="347"/>
                          <a:pt x="174" y="347"/>
                        </a:cubicBezTo>
                        <a:cubicBezTo>
                          <a:pt x="215" y="347"/>
                          <a:pt x="256" y="332"/>
                          <a:pt x="286" y="306"/>
                        </a:cubicBezTo>
                        <a:lnTo>
                          <a:pt x="296" y="311"/>
                        </a:lnTo>
                        <a:lnTo>
                          <a:pt x="296" y="337"/>
                        </a:lnTo>
                        <a:lnTo>
                          <a:pt x="429" y="470"/>
                        </a:lnTo>
                        <a:lnTo>
                          <a:pt x="470" y="429"/>
                        </a:lnTo>
                        <a:lnTo>
                          <a:pt x="332" y="296"/>
                        </a:lnTo>
                        <a:close/>
                        <a:moveTo>
                          <a:pt x="174" y="296"/>
                        </a:moveTo>
                        <a:cubicBezTo>
                          <a:pt x="107" y="296"/>
                          <a:pt x="56" y="240"/>
                          <a:pt x="56" y="173"/>
                        </a:cubicBezTo>
                        <a:cubicBezTo>
                          <a:pt x="56" y="107"/>
                          <a:pt x="107" y="56"/>
                          <a:pt x="174" y="56"/>
                        </a:cubicBezTo>
                        <a:cubicBezTo>
                          <a:pt x="240" y="56"/>
                          <a:pt x="296" y="107"/>
                          <a:pt x="296" y="173"/>
                        </a:cubicBezTo>
                        <a:cubicBezTo>
                          <a:pt x="296" y="240"/>
                          <a:pt x="240" y="296"/>
                          <a:pt x="174" y="29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en-US" sz="1633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/>
                    </a:endParaRPr>
                  </a:p>
                </p:txBody>
              </p:sp>
              <p:sp>
                <p:nvSpPr>
                  <p:cNvPr id="132" name="텍스트 상자 31"/>
                  <p:cNvSpPr txBox="1"/>
                  <p:nvPr/>
                </p:nvSpPr>
                <p:spPr>
                  <a:xfrm>
                    <a:off x="2431066" y="4910563"/>
                    <a:ext cx="937423" cy="216000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no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600" b="0" i="0" u="none" strike="noStrike" kern="1200" cap="none" spc="0" normalizeH="0" baseline="0" noProof="0" dirty="0" err="1" smtClean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그룹명</a:t>
                    </a:r>
                    <a:r>
                      <a:rPr kumimoji="1" lang="ko-KR" altLang="en-US" sz="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rPr>
                      <a:t> 검색</a:t>
                    </a:r>
                    <a:endParaRPr kumimoji="1" lang="ko-KR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6" name="그룹 125"/>
              <p:cNvGrpSpPr/>
              <p:nvPr/>
            </p:nvGrpSpPr>
            <p:grpSpPr>
              <a:xfrm>
                <a:off x="9468221" y="3265047"/>
                <a:ext cx="3261560" cy="216000"/>
                <a:chOff x="9468221" y="3265047"/>
                <a:chExt cx="3261560" cy="216000"/>
              </a:xfrm>
            </p:grpSpPr>
            <p:sp>
              <p:nvSpPr>
                <p:cNvPr id="127" name="Rectangle 304"/>
                <p:cNvSpPr>
                  <a:spLocks noChangeArrowheads="1"/>
                </p:cNvSpPr>
                <p:nvPr/>
              </p:nvSpPr>
              <p:spPr bwMode="auto">
                <a:xfrm>
                  <a:off x="9468221" y="3265047"/>
                  <a:ext cx="3261560" cy="216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algn="ctr">
                  <a:solidFill>
                    <a:schemeClr val="bg1">
                      <a:lumMod val="75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나눔고딕" pitchFamily="50" charset="-127"/>
                      <a:ea typeface="나눔고딕" pitchFamily="50" charset="-127"/>
                      <a:cs typeface="+mn-cs"/>
                    </a:rPr>
                    <a:t>그룹을 선택해 </a:t>
                  </a: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나눔고딕" pitchFamily="50" charset="-127"/>
                      <a:ea typeface="나눔고딕" pitchFamily="50" charset="-127"/>
                      <a:cs typeface="+mn-cs"/>
                    </a:rPr>
                    <a:t>주세요</a:t>
                  </a:r>
                  <a:endPara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나눔고딕" pitchFamily="50" charset="-127"/>
                    <a:ea typeface="나눔고딕" pitchFamily="50" charset="-127"/>
                    <a:cs typeface="+mn-cs"/>
                  </a:endParaRPr>
                </a:p>
              </p:txBody>
            </p:sp>
            <p:sp>
              <p:nvSpPr>
                <p:cNvPr id="128" name="Triangle 942"/>
                <p:cNvSpPr>
                  <a:spLocks noChangeAspect="1"/>
                </p:cNvSpPr>
                <p:nvPr/>
              </p:nvSpPr>
              <p:spPr>
                <a:xfrm>
                  <a:off x="12568400" y="3359753"/>
                  <a:ext cx="75371" cy="43200"/>
                </a:xfrm>
                <a:prstGeom prst="triangle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ＭＳ Ｐゴシック" charset="0"/>
                  </a:endParaRPr>
                </a:p>
              </p:txBody>
            </p:sp>
          </p:grpSp>
        </p:grpSp>
        <p:sp>
          <p:nvSpPr>
            <p:cNvPr id="144" name="Rounded Rectangle 22"/>
            <p:cNvSpPr/>
            <p:nvPr/>
          </p:nvSpPr>
          <p:spPr>
            <a:xfrm>
              <a:off x="12640987" y="3888028"/>
              <a:ext cx="50376" cy="6235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145" name="그룹 144"/>
          <p:cNvGrpSpPr/>
          <p:nvPr/>
        </p:nvGrpSpPr>
        <p:grpSpPr>
          <a:xfrm>
            <a:off x="1202957" y="1886015"/>
            <a:ext cx="645629" cy="443917"/>
            <a:chOff x="703722" y="1883625"/>
            <a:chExt cx="1032458" cy="649397"/>
          </a:xfrm>
        </p:grpSpPr>
        <p:sp>
          <p:nvSpPr>
            <p:cNvPr id="146" name="Rectangle 178"/>
            <p:cNvSpPr/>
            <p:nvPr/>
          </p:nvSpPr>
          <p:spPr>
            <a:xfrm>
              <a:off x="703722" y="1887122"/>
              <a:ext cx="1032458" cy="6458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147" name="Group 179"/>
            <p:cNvGrpSpPr/>
            <p:nvPr/>
          </p:nvGrpSpPr>
          <p:grpSpPr>
            <a:xfrm>
              <a:off x="703722" y="1883625"/>
              <a:ext cx="1032089" cy="649397"/>
              <a:chOff x="1873093" y="1662082"/>
              <a:chExt cx="502639" cy="300527"/>
            </a:xfrm>
          </p:grpSpPr>
          <p:cxnSp>
            <p:nvCxnSpPr>
              <p:cNvPr id="149" name="Straight Connector 180"/>
              <p:cNvCxnSpPr/>
              <p:nvPr/>
            </p:nvCxnSpPr>
            <p:spPr>
              <a:xfrm flipH="1">
                <a:off x="1873093" y="1662082"/>
                <a:ext cx="502639" cy="300527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Connector 181"/>
              <p:cNvCxnSpPr/>
              <p:nvPr/>
            </p:nvCxnSpPr>
            <p:spPr>
              <a:xfrm>
                <a:off x="1874989" y="1668970"/>
                <a:ext cx="500742" cy="293639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8" name="Freeform 448"/>
            <p:cNvSpPr>
              <a:spLocks noChangeArrowheads="1"/>
            </p:cNvSpPr>
            <p:nvPr/>
          </p:nvSpPr>
          <p:spPr bwMode="auto">
            <a:xfrm>
              <a:off x="1614964" y="1924654"/>
              <a:ext cx="73951" cy="75858"/>
            </a:xfrm>
            <a:custGeom>
              <a:avLst/>
              <a:gdLst>
                <a:gd name="T0" fmla="*/ 382 w 766"/>
                <a:gd name="T1" fmla="*/ 0 h 773"/>
                <a:gd name="T2" fmla="*/ 0 w 766"/>
                <a:gd name="T3" fmla="*/ 382 h 773"/>
                <a:gd name="T4" fmla="*/ 382 w 766"/>
                <a:gd name="T5" fmla="*/ 772 h 773"/>
                <a:gd name="T6" fmla="*/ 765 w 766"/>
                <a:gd name="T7" fmla="*/ 382 h 773"/>
                <a:gd name="T8" fmla="*/ 382 w 766"/>
                <a:gd name="T9" fmla="*/ 0 h 773"/>
                <a:gd name="T10" fmla="*/ 573 w 766"/>
                <a:gd name="T11" fmla="*/ 522 h 773"/>
                <a:gd name="T12" fmla="*/ 522 w 766"/>
                <a:gd name="T13" fmla="*/ 573 h 773"/>
                <a:gd name="T14" fmla="*/ 382 w 766"/>
                <a:gd name="T15" fmla="*/ 441 h 773"/>
                <a:gd name="T16" fmla="*/ 243 w 766"/>
                <a:gd name="T17" fmla="*/ 573 h 773"/>
                <a:gd name="T18" fmla="*/ 191 w 766"/>
                <a:gd name="T19" fmla="*/ 522 h 773"/>
                <a:gd name="T20" fmla="*/ 331 w 766"/>
                <a:gd name="T21" fmla="*/ 382 h 773"/>
                <a:gd name="T22" fmla="*/ 191 w 766"/>
                <a:gd name="T23" fmla="*/ 242 h 773"/>
                <a:gd name="T24" fmla="*/ 243 w 766"/>
                <a:gd name="T25" fmla="*/ 191 h 773"/>
                <a:gd name="T26" fmla="*/ 382 w 766"/>
                <a:gd name="T27" fmla="*/ 331 h 773"/>
                <a:gd name="T28" fmla="*/ 522 w 766"/>
                <a:gd name="T29" fmla="*/ 191 h 773"/>
                <a:gd name="T30" fmla="*/ 573 w 766"/>
                <a:gd name="T31" fmla="*/ 242 h 773"/>
                <a:gd name="T32" fmla="*/ 434 w 766"/>
                <a:gd name="T33" fmla="*/ 382 h 773"/>
                <a:gd name="T34" fmla="*/ 573 w 766"/>
                <a:gd name="T35" fmla="*/ 52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773">
                  <a:moveTo>
                    <a:pt x="382" y="0"/>
                  </a:moveTo>
                  <a:cubicBezTo>
                    <a:pt x="169" y="0"/>
                    <a:pt x="0" y="169"/>
                    <a:pt x="0" y="382"/>
                  </a:cubicBezTo>
                  <a:cubicBezTo>
                    <a:pt x="0" y="595"/>
                    <a:pt x="169" y="772"/>
                    <a:pt x="382" y="772"/>
                  </a:cubicBezTo>
                  <a:cubicBezTo>
                    <a:pt x="596" y="772"/>
                    <a:pt x="765" y="595"/>
                    <a:pt x="765" y="382"/>
                  </a:cubicBezTo>
                  <a:cubicBezTo>
                    <a:pt x="765" y="169"/>
                    <a:pt x="596" y="0"/>
                    <a:pt x="382" y="0"/>
                  </a:cubicBezTo>
                  <a:close/>
                  <a:moveTo>
                    <a:pt x="573" y="522"/>
                  </a:moveTo>
                  <a:lnTo>
                    <a:pt x="522" y="573"/>
                  </a:lnTo>
                  <a:lnTo>
                    <a:pt x="382" y="441"/>
                  </a:lnTo>
                  <a:lnTo>
                    <a:pt x="243" y="573"/>
                  </a:lnTo>
                  <a:lnTo>
                    <a:pt x="191" y="522"/>
                  </a:lnTo>
                  <a:lnTo>
                    <a:pt x="331" y="382"/>
                  </a:lnTo>
                  <a:lnTo>
                    <a:pt x="191" y="242"/>
                  </a:lnTo>
                  <a:lnTo>
                    <a:pt x="243" y="191"/>
                  </a:lnTo>
                  <a:lnTo>
                    <a:pt x="382" y="331"/>
                  </a:lnTo>
                  <a:lnTo>
                    <a:pt x="522" y="191"/>
                  </a:lnTo>
                  <a:lnTo>
                    <a:pt x="573" y="242"/>
                  </a:lnTo>
                  <a:lnTo>
                    <a:pt x="434" y="382"/>
                  </a:lnTo>
                  <a:lnTo>
                    <a:pt x="573" y="5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151" name="그룹 150"/>
          <p:cNvGrpSpPr/>
          <p:nvPr/>
        </p:nvGrpSpPr>
        <p:grpSpPr>
          <a:xfrm>
            <a:off x="1876970" y="1886015"/>
            <a:ext cx="645629" cy="443917"/>
            <a:chOff x="703722" y="1883625"/>
            <a:chExt cx="1032458" cy="649397"/>
          </a:xfrm>
        </p:grpSpPr>
        <p:sp>
          <p:nvSpPr>
            <p:cNvPr id="152" name="Rectangle 178"/>
            <p:cNvSpPr/>
            <p:nvPr/>
          </p:nvSpPr>
          <p:spPr>
            <a:xfrm>
              <a:off x="703722" y="1887122"/>
              <a:ext cx="1032458" cy="6458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153" name="Group 179"/>
            <p:cNvGrpSpPr/>
            <p:nvPr/>
          </p:nvGrpSpPr>
          <p:grpSpPr>
            <a:xfrm>
              <a:off x="703722" y="1883625"/>
              <a:ext cx="1032089" cy="649397"/>
              <a:chOff x="1873093" y="1662082"/>
              <a:chExt cx="502639" cy="300527"/>
            </a:xfrm>
          </p:grpSpPr>
          <p:cxnSp>
            <p:nvCxnSpPr>
              <p:cNvPr id="155" name="Straight Connector 180"/>
              <p:cNvCxnSpPr/>
              <p:nvPr/>
            </p:nvCxnSpPr>
            <p:spPr>
              <a:xfrm flipH="1">
                <a:off x="1873093" y="1662082"/>
                <a:ext cx="502639" cy="300527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Straight Connector 181"/>
              <p:cNvCxnSpPr/>
              <p:nvPr/>
            </p:nvCxnSpPr>
            <p:spPr>
              <a:xfrm>
                <a:off x="1874989" y="1668970"/>
                <a:ext cx="500742" cy="293639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Freeform 448"/>
            <p:cNvSpPr>
              <a:spLocks noChangeArrowheads="1"/>
            </p:cNvSpPr>
            <p:nvPr/>
          </p:nvSpPr>
          <p:spPr bwMode="auto">
            <a:xfrm>
              <a:off x="1614964" y="1924654"/>
              <a:ext cx="73951" cy="75858"/>
            </a:xfrm>
            <a:custGeom>
              <a:avLst/>
              <a:gdLst>
                <a:gd name="T0" fmla="*/ 382 w 766"/>
                <a:gd name="T1" fmla="*/ 0 h 773"/>
                <a:gd name="T2" fmla="*/ 0 w 766"/>
                <a:gd name="T3" fmla="*/ 382 h 773"/>
                <a:gd name="T4" fmla="*/ 382 w 766"/>
                <a:gd name="T5" fmla="*/ 772 h 773"/>
                <a:gd name="T6" fmla="*/ 765 w 766"/>
                <a:gd name="T7" fmla="*/ 382 h 773"/>
                <a:gd name="T8" fmla="*/ 382 w 766"/>
                <a:gd name="T9" fmla="*/ 0 h 773"/>
                <a:gd name="T10" fmla="*/ 573 w 766"/>
                <a:gd name="T11" fmla="*/ 522 h 773"/>
                <a:gd name="T12" fmla="*/ 522 w 766"/>
                <a:gd name="T13" fmla="*/ 573 h 773"/>
                <a:gd name="T14" fmla="*/ 382 w 766"/>
                <a:gd name="T15" fmla="*/ 441 h 773"/>
                <a:gd name="T16" fmla="*/ 243 w 766"/>
                <a:gd name="T17" fmla="*/ 573 h 773"/>
                <a:gd name="T18" fmla="*/ 191 w 766"/>
                <a:gd name="T19" fmla="*/ 522 h 773"/>
                <a:gd name="T20" fmla="*/ 331 w 766"/>
                <a:gd name="T21" fmla="*/ 382 h 773"/>
                <a:gd name="T22" fmla="*/ 191 w 766"/>
                <a:gd name="T23" fmla="*/ 242 h 773"/>
                <a:gd name="T24" fmla="*/ 243 w 766"/>
                <a:gd name="T25" fmla="*/ 191 h 773"/>
                <a:gd name="T26" fmla="*/ 382 w 766"/>
                <a:gd name="T27" fmla="*/ 331 h 773"/>
                <a:gd name="T28" fmla="*/ 522 w 766"/>
                <a:gd name="T29" fmla="*/ 191 h 773"/>
                <a:gd name="T30" fmla="*/ 573 w 766"/>
                <a:gd name="T31" fmla="*/ 242 h 773"/>
                <a:gd name="T32" fmla="*/ 434 w 766"/>
                <a:gd name="T33" fmla="*/ 382 h 773"/>
                <a:gd name="T34" fmla="*/ 573 w 766"/>
                <a:gd name="T35" fmla="*/ 52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773">
                  <a:moveTo>
                    <a:pt x="382" y="0"/>
                  </a:moveTo>
                  <a:cubicBezTo>
                    <a:pt x="169" y="0"/>
                    <a:pt x="0" y="169"/>
                    <a:pt x="0" y="382"/>
                  </a:cubicBezTo>
                  <a:cubicBezTo>
                    <a:pt x="0" y="595"/>
                    <a:pt x="169" y="772"/>
                    <a:pt x="382" y="772"/>
                  </a:cubicBezTo>
                  <a:cubicBezTo>
                    <a:pt x="596" y="772"/>
                    <a:pt x="765" y="595"/>
                    <a:pt x="765" y="382"/>
                  </a:cubicBezTo>
                  <a:cubicBezTo>
                    <a:pt x="765" y="169"/>
                    <a:pt x="596" y="0"/>
                    <a:pt x="382" y="0"/>
                  </a:cubicBezTo>
                  <a:close/>
                  <a:moveTo>
                    <a:pt x="573" y="522"/>
                  </a:moveTo>
                  <a:lnTo>
                    <a:pt x="522" y="573"/>
                  </a:lnTo>
                  <a:lnTo>
                    <a:pt x="382" y="441"/>
                  </a:lnTo>
                  <a:lnTo>
                    <a:pt x="243" y="573"/>
                  </a:lnTo>
                  <a:lnTo>
                    <a:pt x="191" y="522"/>
                  </a:lnTo>
                  <a:lnTo>
                    <a:pt x="331" y="382"/>
                  </a:lnTo>
                  <a:lnTo>
                    <a:pt x="191" y="242"/>
                  </a:lnTo>
                  <a:lnTo>
                    <a:pt x="243" y="191"/>
                  </a:lnTo>
                  <a:lnTo>
                    <a:pt x="382" y="331"/>
                  </a:lnTo>
                  <a:lnTo>
                    <a:pt x="522" y="191"/>
                  </a:lnTo>
                  <a:lnTo>
                    <a:pt x="573" y="242"/>
                  </a:lnTo>
                  <a:lnTo>
                    <a:pt x="434" y="382"/>
                  </a:lnTo>
                  <a:lnTo>
                    <a:pt x="573" y="5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157" name="그룹 156"/>
          <p:cNvGrpSpPr/>
          <p:nvPr/>
        </p:nvGrpSpPr>
        <p:grpSpPr>
          <a:xfrm>
            <a:off x="530893" y="2544038"/>
            <a:ext cx="645629" cy="443917"/>
            <a:chOff x="703722" y="1883625"/>
            <a:chExt cx="1032458" cy="649397"/>
          </a:xfrm>
        </p:grpSpPr>
        <p:sp>
          <p:nvSpPr>
            <p:cNvPr id="158" name="Rectangle 178"/>
            <p:cNvSpPr/>
            <p:nvPr/>
          </p:nvSpPr>
          <p:spPr>
            <a:xfrm>
              <a:off x="703722" y="1887122"/>
              <a:ext cx="1032458" cy="6458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159" name="Group 179"/>
            <p:cNvGrpSpPr/>
            <p:nvPr/>
          </p:nvGrpSpPr>
          <p:grpSpPr>
            <a:xfrm>
              <a:off x="703722" y="1883625"/>
              <a:ext cx="1032089" cy="649397"/>
              <a:chOff x="1873093" y="1662082"/>
              <a:chExt cx="502639" cy="300527"/>
            </a:xfrm>
          </p:grpSpPr>
          <p:cxnSp>
            <p:nvCxnSpPr>
              <p:cNvPr id="161" name="Straight Connector 180"/>
              <p:cNvCxnSpPr/>
              <p:nvPr/>
            </p:nvCxnSpPr>
            <p:spPr>
              <a:xfrm flipH="1">
                <a:off x="1873093" y="1662082"/>
                <a:ext cx="502639" cy="300527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Connector 181"/>
              <p:cNvCxnSpPr/>
              <p:nvPr/>
            </p:nvCxnSpPr>
            <p:spPr>
              <a:xfrm>
                <a:off x="1874989" y="1668970"/>
                <a:ext cx="500742" cy="293639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0" name="Freeform 448"/>
            <p:cNvSpPr>
              <a:spLocks noChangeArrowheads="1"/>
            </p:cNvSpPr>
            <p:nvPr/>
          </p:nvSpPr>
          <p:spPr bwMode="auto">
            <a:xfrm>
              <a:off x="1614964" y="1924654"/>
              <a:ext cx="73951" cy="75858"/>
            </a:xfrm>
            <a:custGeom>
              <a:avLst/>
              <a:gdLst>
                <a:gd name="T0" fmla="*/ 382 w 766"/>
                <a:gd name="T1" fmla="*/ 0 h 773"/>
                <a:gd name="T2" fmla="*/ 0 w 766"/>
                <a:gd name="T3" fmla="*/ 382 h 773"/>
                <a:gd name="T4" fmla="*/ 382 w 766"/>
                <a:gd name="T5" fmla="*/ 772 h 773"/>
                <a:gd name="T6" fmla="*/ 765 w 766"/>
                <a:gd name="T7" fmla="*/ 382 h 773"/>
                <a:gd name="T8" fmla="*/ 382 w 766"/>
                <a:gd name="T9" fmla="*/ 0 h 773"/>
                <a:gd name="T10" fmla="*/ 573 w 766"/>
                <a:gd name="T11" fmla="*/ 522 h 773"/>
                <a:gd name="T12" fmla="*/ 522 w 766"/>
                <a:gd name="T13" fmla="*/ 573 h 773"/>
                <a:gd name="T14" fmla="*/ 382 w 766"/>
                <a:gd name="T15" fmla="*/ 441 h 773"/>
                <a:gd name="T16" fmla="*/ 243 w 766"/>
                <a:gd name="T17" fmla="*/ 573 h 773"/>
                <a:gd name="T18" fmla="*/ 191 w 766"/>
                <a:gd name="T19" fmla="*/ 522 h 773"/>
                <a:gd name="T20" fmla="*/ 331 w 766"/>
                <a:gd name="T21" fmla="*/ 382 h 773"/>
                <a:gd name="T22" fmla="*/ 191 w 766"/>
                <a:gd name="T23" fmla="*/ 242 h 773"/>
                <a:gd name="T24" fmla="*/ 243 w 766"/>
                <a:gd name="T25" fmla="*/ 191 h 773"/>
                <a:gd name="T26" fmla="*/ 382 w 766"/>
                <a:gd name="T27" fmla="*/ 331 h 773"/>
                <a:gd name="T28" fmla="*/ 522 w 766"/>
                <a:gd name="T29" fmla="*/ 191 h 773"/>
                <a:gd name="T30" fmla="*/ 573 w 766"/>
                <a:gd name="T31" fmla="*/ 242 h 773"/>
                <a:gd name="T32" fmla="*/ 434 w 766"/>
                <a:gd name="T33" fmla="*/ 382 h 773"/>
                <a:gd name="T34" fmla="*/ 573 w 766"/>
                <a:gd name="T35" fmla="*/ 52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773">
                  <a:moveTo>
                    <a:pt x="382" y="0"/>
                  </a:moveTo>
                  <a:cubicBezTo>
                    <a:pt x="169" y="0"/>
                    <a:pt x="0" y="169"/>
                    <a:pt x="0" y="382"/>
                  </a:cubicBezTo>
                  <a:cubicBezTo>
                    <a:pt x="0" y="595"/>
                    <a:pt x="169" y="772"/>
                    <a:pt x="382" y="772"/>
                  </a:cubicBezTo>
                  <a:cubicBezTo>
                    <a:pt x="596" y="772"/>
                    <a:pt x="765" y="595"/>
                    <a:pt x="765" y="382"/>
                  </a:cubicBezTo>
                  <a:cubicBezTo>
                    <a:pt x="765" y="169"/>
                    <a:pt x="596" y="0"/>
                    <a:pt x="382" y="0"/>
                  </a:cubicBezTo>
                  <a:close/>
                  <a:moveTo>
                    <a:pt x="573" y="522"/>
                  </a:moveTo>
                  <a:lnTo>
                    <a:pt x="522" y="573"/>
                  </a:lnTo>
                  <a:lnTo>
                    <a:pt x="382" y="441"/>
                  </a:lnTo>
                  <a:lnTo>
                    <a:pt x="243" y="573"/>
                  </a:lnTo>
                  <a:lnTo>
                    <a:pt x="191" y="522"/>
                  </a:lnTo>
                  <a:lnTo>
                    <a:pt x="331" y="382"/>
                  </a:lnTo>
                  <a:lnTo>
                    <a:pt x="191" y="242"/>
                  </a:lnTo>
                  <a:lnTo>
                    <a:pt x="243" y="191"/>
                  </a:lnTo>
                  <a:lnTo>
                    <a:pt x="382" y="331"/>
                  </a:lnTo>
                  <a:lnTo>
                    <a:pt x="522" y="191"/>
                  </a:lnTo>
                  <a:lnTo>
                    <a:pt x="573" y="242"/>
                  </a:lnTo>
                  <a:lnTo>
                    <a:pt x="434" y="382"/>
                  </a:lnTo>
                  <a:lnTo>
                    <a:pt x="573" y="5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163" name="그룹 162"/>
          <p:cNvGrpSpPr/>
          <p:nvPr/>
        </p:nvGrpSpPr>
        <p:grpSpPr>
          <a:xfrm>
            <a:off x="1202957" y="2546428"/>
            <a:ext cx="645629" cy="443917"/>
            <a:chOff x="703722" y="1883625"/>
            <a:chExt cx="1032458" cy="649397"/>
          </a:xfrm>
        </p:grpSpPr>
        <p:sp>
          <p:nvSpPr>
            <p:cNvPr id="164" name="Rectangle 178"/>
            <p:cNvSpPr/>
            <p:nvPr/>
          </p:nvSpPr>
          <p:spPr>
            <a:xfrm>
              <a:off x="703722" y="1887122"/>
              <a:ext cx="1032458" cy="6458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165" name="Group 179"/>
            <p:cNvGrpSpPr/>
            <p:nvPr/>
          </p:nvGrpSpPr>
          <p:grpSpPr>
            <a:xfrm>
              <a:off x="703722" y="1883625"/>
              <a:ext cx="1032089" cy="649397"/>
              <a:chOff x="1873093" y="1662082"/>
              <a:chExt cx="502639" cy="300527"/>
            </a:xfrm>
          </p:grpSpPr>
          <p:cxnSp>
            <p:nvCxnSpPr>
              <p:cNvPr id="167" name="Straight Connector 180"/>
              <p:cNvCxnSpPr/>
              <p:nvPr/>
            </p:nvCxnSpPr>
            <p:spPr>
              <a:xfrm flipH="1">
                <a:off x="1873093" y="1662082"/>
                <a:ext cx="502639" cy="300527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81"/>
              <p:cNvCxnSpPr/>
              <p:nvPr/>
            </p:nvCxnSpPr>
            <p:spPr>
              <a:xfrm>
                <a:off x="1874989" y="1668970"/>
                <a:ext cx="500742" cy="293639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6" name="Freeform 448"/>
            <p:cNvSpPr>
              <a:spLocks noChangeArrowheads="1"/>
            </p:cNvSpPr>
            <p:nvPr/>
          </p:nvSpPr>
          <p:spPr bwMode="auto">
            <a:xfrm>
              <a:off x="1614964" y="1924654"/>
              <a:ext cx="73951" cy="75858"/>
            </a:xfrm>
            <a:custGeom>
              <a:avLst/>
              <a:gdLst>
                <a:gd name="T0" fmla="*/ 382 w 766"/>
                <a:gd name="T1" fmla="*/ 0 h 773"/>
                <a:gd name="T2" fmla="*/ 0 w 766"/>
                <a:gd name="T3" fmla="*/ 382 h 773"/>
                <a:gd name="T4" fmla="*/ 382 w 766"/>
                <a:gd name="T5" fmla="*/ 772 h 773"/>
                <a:gd name="T6" fmla="*/ 765 w 766"/>
                <a:gd name="T7" fmla="*/ 382 h 773"/>
                <a:gd name="T8" fmla="*/ 382 w 766"/>
                <a:gd name="T9" fmla="*/ 0 h 773"/>
                <a:gd name="T10" fmla="*/ 573 w 766"/>
                <a:gd name="T11" fmla="*/ 522 h 773"/>
                <a:gd name="T12" fmla="*/ 522 w 766"/>
                <a:gd name="T13" fmla="*/ 573 h 773"/>
                <a:gd name="T14" fmla="*/ 382 w 766"/>
                <a:gd name="T15" fmla="*/ 441 h 773"/>
                <a:gd name="T16" fmla="*/ 243 w 766"/>
                <a:gd name="T17" fmla="*/ 573 h 773"/>
                <a:gd name="T18" fmla="*/ 191 w 766"/>
                <a:gd name="T19" fmla="*/ 522 h 773"/>
                <a:gd name="T20" fmla="*/ 331 w 766"/>
                <a:gd name="T21" fmla="*/ 382 h 773"/>
                <a:gd name="T22" fmla="*/ 191 w 766"/>
                <a:gd name="T23" fmla="*/ 242 h 773"/>
                <a:gd name="T24" fmla="*/ 243 w 766"/>
                <a:gd name="T25" fmla="*/ 191 h 773"/>
                <a:gd name="T26" fmla="*/ 382 w 766"/>
                <a:gd name="T27" fmla="*/ 331 h 773"/>
                <a:gd name="T28" fmla="*/ 522 w 766"/>
                <a:gd name="T29" fmla="*/ 191 h 773"/>
                <a:gd name="T30" fmla="*/ 573 w 766"/>
                <a:gd name="T31" fmla="*/ 242 h 773"/>
                <a:gd name="T32" fmla="*/ 434 w 766"/>
                <a:gd name="T33" fmla="*/ 382 h 773"/>
                <a:gd name="T34" fmla="*/ 573 w 766"/>
                <a:gd name="T35" fmla="*/ 52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773">
                  <a:moveTo>
                    <a:pt x="382" y="0"/>
                  </a:moveTo>
                  <a:cubicBezTo>
                    <a:pt x="169" y="0"/>
                    <a:pt x="0" y="169"/>
                    <a:pt x="0" y="382"/>
                  </a:cubicBezTo>
                  <a:cubicBezTo>
                    <a:pt x="0" y="595"/>
                    <a:pt x="169" y="772"/>
                    <a:pt x="382" y="772"/>
                  </a:cubicBezTo>
                  <a:cubicBezTo>
                    <a:pt x="596" y="772"/>
                    <a:pt x="765" y="595"/>
                    <a:pt x="765" y="382"/>
                  </a:cubicBezTo>
                  <a:cubicBezTo>
                    <a:pt x="765" y="169"/>
                    <a:pt x="596" y="0"/>
                    <a:pt x="382" y="0"/>
                  </a:cubicBezTo>
                  <a:close/>
                  <a:moveTo>
                    <a:pt x="573" y="522"/>
                  </a:moveTo>
                  <a:lnTo>
                    <a:pt x="522" y="573"/>
                  </a:lnTo>
                  <a:lnTo>
                    <a:pt x="382" y="441"/>
                  </a:lnTo>
                  <a:lnTo>
                    <a:pt x="243" y="573"/>
                  </a:lnTo>
                  <a:lnTo>
                    <a:pt x="191" y="522"/>
                  </a:lnTo>
                  <a:lnTo>
                    <a:pt x="331" y="382"/>
                  </a:lnTo>
                  <a:lnTo>
                    <a:pt x="191" y="242"/>
                  </a:lnTo>
                  <a:lnTo>
                    <a:pt x="243" y="191"/>
                  </a:lnTo>
                  <a:lnTo>
                    <a:pt x="382" y="331"/>
                  </a:lnTo>
                  <a:lnTo>
                    <a:pt x="522" y="191"/>
                  </a:lnTo>
                  <a:lnTo>
                    <a:pt x="573" y="242"/>
                  </a:lnTo>
                  <a:lnTo>
                    <a:pt x="434" y="382"/>
                  </a:lnTo>
                  <a:lnTo>
                    <a:pt x="573" y="5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1876970" y="2546428"/>
            <a:ext cx="645629" cy="443917"/>
            <a:chOff x="703722" y="1883625"/>
            <a:chExt cx="1032458" cy="649397"/>
          </a:xfrm>
        </p:grpSpPr>
        <p:sp>
          <p:nvSpPr>
            <p:cNvPr id="170" name="Rectangle 178"/>
            <p:cNvSpPr/>
            <p:nvPr/>
          </p:nvSpPr>
          <p:spPr>
            <a:xfrm>
              <a:off x="703722" y="1887122"/>
              <a:ext cx="1032458" cy="6458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171" name="Group 179"/>
            <p:cNvGrpSpPr/>
            <p:nvPr/>
          </p:nvGrpSpPr>
          <p:grpSpPr>
            <a:xfrm>
              <a:off x="703722" y="1883625"/>
              <a:ext cx="1032089" cy="649397"/>
              <a:chOff x="1873093" y="1662082"/>
              <a:chExt cx="502639" cy="300527"/>
            </a:xfrm>
          </p:grpSpPr>
          <p:cxnSp>
            <p:nvCxnSpPr>
              <p:cNvPr id="173" name="Straight Connector 180"/>
              <p:cNvCxnSpPr/>
              <p:nvPr/>
            </p:nvCxnSpPr>
            <p:spPr>
              <a:xfrm flipH="1">
                <a:off x="1873093" y="1662082"/>
                <a:ext cx="502639" cy="300527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81"/>
              <p:cNvCxnSpPr/>
              <p:nvPr/>
            </p:nvCxnSpPr>
            <p:spPr>
              <a:xfrm>
                <a:off x="1874989" y="1668970"/>
                <a:ext cx="500742" cy="293639"/>
              </a:xfrm>
              <a:prstGeom prst="line">
                <a:avLst/>
              </a:prstGeom>
              <a:ln w="9525">
                <a:solidFill>
                  <a:schemeClr val="bg1"/>
                </a:solidFill>
                <a:prstDash val="sysDot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2" name="Freeform 448"/>
            <p:cNvSpPr>
              <a:spLocks noChangeArrowheads="1"/>
            </p:cNvSpPr>
            <p:nvPr/>
          </p:nvSpPr>
          <p:spPr bwMode="auto">
            <a:xfrm>
              <a:off x="1614964" y="1924654"/>
              <a:ext cx="73951" cy="75858"/>
            </a:xfrm>
            <a:custGeom>
              <a:avLst/>
              <a:gdLst>
                <a:gd name="T0" fmla="*/ 382 w 766"/>
                <a:gd name="T1" fmla="*/ 0 h 773"/>
                <a:gd name="T2" fmla="*/ 0 w 766"/>
                <a:gd name="T3" fmla="*/ 382 h 773"/>
                <a:gd name="T4" fmla="*/ 382 w 766"/>
                <a:gd name="T5" fmla="*/ 772 h 773"/>
                <a:gd name="T6" fmla="*/ 765 w 766"/>
                <a:gd name="T7" fmla="*/ 382 h 773"/>
                <a:gd name="T8" fmla="*/ 382 w 766"/>
                <a:gd name="T9" fmla="*/ 0 h 773"/>
                <a:gd name="T10" fmla="*/ 573 w 766"/>
                <a:gd name="T11" fmla="*/ 522 h 773"/>
                <a:gd name="T12" fmla="*/ 522 w 766"/>
                <a:gd name="T13" fmla="*/ 573 h 773"/>
                <a:gd name="T14" fmla="*/ 382 w 766"/>
                <a:gd name="T15" fmla="*/ 441 h 773"/>
                <a:gd name="T16" fmla="*/ 243 w 766"/>
                <a:gd name="T17" fmla="*/ 573 h 773"/>
                <a:gd name="T18" fmla="*/ 191 w 766"/>
                <a:gd name="T19" fmla="*/ 522 h 773"/>
                <a:gd name="T20" fmla="*/ 331 w 766"/>
                <a:gd name="T21" fmla="*/ 382 h 773"/>
                <a:gd name="T22" fmla="*/ 191 w 766"/>
                <a:gd name="T23" fmla="*/ 242 h 773"/>
                <a:gd name="T24" fmla="*/ 243 w 766"/>
                <a:gd name="T25" fmla="*/ 191 h 773"/>
                <a:gd name="T26" fmla="*/ 382 w 766"/>
                <a:gd name="T27" fmla="*/ 331 h 773"/>
                <a:gd name="T28" fmla="*/ 522 w 766"/>
                <a:gd name="T29" fmla="*/ 191 h 773"/>
                <a:gd name="T30" fmla="*/ 573 w 766"/>
                <a:gd name="T31" fmla="*/ 242 h 773"/>
                <a:gd name="T32" fmla="*/ 434 w 766"/>
                <a:gd name="T33" fmla="*/ 382 h 773"/>
                <a:gd name="T34" fmla="*/ 573 w 766"/>
                <a:gd name="T35" fmla="*/ 52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773">
                  <a:moveTo>
                    <a:pt x="382" y="0"/>
                  </a:moveTo>
                  <a:cubicBezTo>
                    <a:pt x="169" y="0"/>
                    <a:pt x="0" y="169"/>
                    <a:pt x="0" y="382"/>
                  </a:cubicBezTo>
                  <a:cubicBezTo>
                    <a:pt x="0" y="595"/>
                    <a:pt x="169" y="772"/>
                    <a:pt x="382" y="772"/>
                  </a:cubicBezTo>
                  <a:cubicBezTo>
                    <a:pt x="596" y="772"/>
                    <a:pt x="765" y="595"/>
                    <a:pt x="765" y="382"/>
                  </a:cubicBezTo>
                  <a:cubicBezTo>
                    <a:pt x="765" y="169"/>
                    <a:pt x="596" y="0"/>
                    <a:pt x="382" y="0"/>
                  </a:cubicBezTo>
                  <a:close/>
                  <a:moveTo>
                    <a:pt x="573" y="522"/>
                  </a:moveTo>
                  <a:lnTo>
                    <a:pt x="522" y="573"/>
                  </a:lnTo>
                  <a:lnTo>
                    <a:pt x="382" y="441"/>
                  </a:lnTo>
                  <a:lnTo>
                    <a:pt x="243" y="573"/>
                  </a:lnTo>
                  <a:lnTo>
                    <a:pt x="191" y="522"/>
                  </a:lnTo>
                  <a:lnTo>
                    <a:pt x="331" y="382"/>
                  </a:lnTo>
                  <a:lnTo>
                    <a:pt x="191" y="242"/>
                  </a:lnTo>
                  <a:lnTo>
                    <a:pt x="243" y="191"/>
                  </a:lnTo>
                  <a:lnTo>
                    <a:pt x="382" y="331"/>
                  </a:lnTo>
                  <a:lnTo>
                    <a:pt x="522" y="191"/>
                  </a:lnTo>
                  <a:lnTo>
                    <a:pt x="573" y="242"/>
                  </a:lnTo>
                  <a:lnTo>
                    <a:pt x="434" y="382"/>
                  </a:lnTo>
                  <a:lnTo>
                    <a:pt x="573" y="5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pic>
        <p:nvPicPr>
          <p:cNvPr id="175" name="Picture 15"/>
          <p:cNvPicPr>
            <a:picLocks noChangeAspect="1"/>
          </p:cNvPicPr>
          <p:nvPr/>
        </p:nvPicPr>
        <p:blipFill rotWithShape="1">
          <a:blip r:embed="rId4" cstate="print">
            <a:alphaModFix amt="21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314810" y="4051005"/>
            <a:ext cx="226986" cy="193052"/>
          </a:xfrm>
          <a:prstGeom prst="rect">
            <a:avLst/>
          </a:prstGeom>
          <a:effectLst/>
        </p:spPr>
      </p:pic>
      <p:sp>
        <p:nvSpPr>
          <p:cNvPr id="177" name="Freeform 17"/>
          <p:cNvSpPr>
            <a:spLocks noChangeArrowheads="1"/>
          </p:cNvSpPr>
          <p:nvPr/>
        </p:nvSpPr>
        <p:spPr bwMode="auto">
          <a:xfrm>
            <a:off x="493060" y="6031163"/>
            <a:ext cx="139453" cy="139263"/>
          </a:xfrm>
          <a:custGeom>
            <a:avLst/>
            <a:gdLst>
              <a:gd name="T0" fmla="*/ 403 w 404"/>
              <a:gd name="T1" fmla="*/ 360 h 404"/>
              <a:gd name="T2" fmla="*/ 403 w 404"/>
              <a:gd name="T3" fmla="*/ 43 h 404"/>
              <a:gd name="T4" fmla="*/ 360 w 404"/>
              <a:gd name="T5" fmla="*/ 0 h 404"/>
              <a:gd name="T6" fmla="*/ 47 w 404"/>
              <a:gd name="T7" fmla="*/ 0 h 404"/>
              <a:gd name="T8" fmla="*/ 0 w 404"/>
              <a:gd name="T9" fmla="*/ 43 h 404"/>
              <a:gd name="T10" fmla="*/ 0 w 404"/>
              <a:gd name="T11" fmla="*/ 360 h 404"/>
              <a:gd name="T12" fmla="*/ 47 w 404"/>
              <a:gd name="T13" fmla="*/ 403 h 404"/>
              <a:gd name="T14" fmla="*/ 360 w 404"/>
              <a:gd name="T15" fmla="*/ 403 h 404"/>
              <a:gd name="T16" fmla="*/ 403 w 404"/>
              <a:gd name="T17" fmla="*/ 360 h 404"/>
              <a:gd name="T18" fmla="*/ 124 w 404"/>
              <a:gd name="T19" fmla="*/ 236 h 404"/>
              <a:gd name="T20" fmla="*/ 180 w 404"/>
              <a:gd name="T21" fmla="*/ 304 h 404"/>
              <a:gd name="T22" fmla="*/ 257 w 404"/>
              <a:gd name="T23" fmla="*/ 201 h 404"/>
              <a:gd name="T24" fmla="*/ 360 w 404"/>
              <a:gd name="T25" fmla="*/ 334 h 404"/>
              <a:gd name="T26" fmla="*/ 47 w 404"/>
              <a:gd name="T27" fmla="*/ 334 h 404"/>
              <a:gd name="T28" fmla="*/ 124 w 404"/>
              <a:gd name="T29" fmla="*/ 23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4" h="404">
                <a:moveTo>
                  <a:pt x="403" y="360"/>
                </a:moveTo>
                <a:lnTo>
                  <a:pt x="403" y="43"/>
                </a:lnTo>
                <a:cubicBezTo>
                  <a:pt x="403" y="21"/>
                  <a:pt x="386" y="0"/>
                  <a:pt x="360" y="0"/>
                </a:cubicBezTo>
                <a:lnTo>
                  <a:pt x="47" y="0"/>
                </a:lnTo>
                <a:cubicBezTo>
                  <a:pt x="22" y="0"/>
                  <a:pt x="0" y="21"/>
                  <a:pt x="0" y="43"/>
                </a:cubicBezTo>
                <a:lnTo>
                  <a:pt x="0" y="360"/>
                </a:lnTo>
                <a:cubicBezTo>
                  <a:pt x="0" y="381"/>
                  <a:pt x="22" y="403"/>
                  <a:pt x="47" y="403"/>
                </a:cubicBezTo>
                <a:lnTo>
                  <a:pt x="360" y="403"/>
                </a:lnTo>
                <a:cubicBezTo>
                  <a:pt x="386" y="403"/>
                  <a:pt x="403" y="381"/>
                  <a:pt x="403" y="360"/>
                </a:cubicBezTo>
                <a:close/>
                <a:moveTo>
                  <a:pt x="124" y="236"/>
                </a:moveTo>
                <a:lnTo>
                  <a:pt x="180" y="304"/>
                </a:lnTo>
                <a:lnTo>
                  <a:pt x="257" y="201"/>
                </a:lnTo>
                <a:lnTo>
                  <a:pt x="360" y="334"/>
                </a:lnTo>
                <a:lnTo>
                  <a:pt x="47" y="334"/>
                </a:lnTo>
                <a:lnTo>
                  <a:pt x="124" y="2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78" name="Freeform 440"/>
          <p:cNvSpPr>
            <a:spLocks noChangeArrowheads="1"/>
          </p:cNvSpPr>
          <p:nvPr/>
        </p:nvSpPr>
        <p:spPr bwMode="auto">
          <a:xfrm>
            <a:off x="707615" y="6051261"/>
            <a:ext cx="174710" cy="96157"/>
          </a:xfrm>
          <a:custGeom>
            <a:avLst/>
            <a:gdLst>
              <a:gd name="T0" fmla="*/ 214 w 774"/>
              <a:gd name="T1" fmla="*/ 426 h 427"/>
              <a:gd name="T2" fmla="*/ 0 w 774"/>
              <a:gd name="T3" fmla="*/ 213 h 427"/>
              <a:gd name="T4" fmla="*/ 214 w 774"/>
              <a:gd name="T5" fmla="*/ 0 h 427"/>
              <a:gd name="T6" fmla="*/ 618 w 774"/>
              <a:gd name="T7" fmla="*/ 0 h 427"/>
              <a:gd name="T8" fmla="*/ 773 w 774"/>
              <a:gd name="T9" fmla="*/ 154 h 427"/>
              <a:gd name="T10" fmla="*/ 618 w 774"/>
              <a:gd name="T11" fmla="*/ 309 h 427"/>
              <a:gd name="T12" fmla="*/ 287 w 774"/>
              <a:gd name="T13" fmla="*/ 309 h 427"/>
              <a:gd name="T14" fmla="*/ 192 w 774"/>
              <a:gd name="T15" fmla="*/ 213 h 427"/>
              <a:gd name="T16" fmla="*/ 287 w 774"/>
              <a:gd name="T17" fmla="*/ 117 h 427"/>
              <a:gd name="T18" fmla="*/ 581 w 774"/>
              <a:gd name="T19" fmla="*/ 117 h 427"/>
              <a:gd name="T20" fmla="*/ 581 w 774"/>
              <a:gd name="T21" fmla="*/ 176 h 427"/>
              <a:gd name="T22" fmla="*/ 287 w 774"/>
              <a:gd name="T23" fmla="*/ 176 h 427"/>
              <a:gd name="T24" fmla="*/ 250 w 774"/>
              <a:gd name="T25" fmla="*/ 213 h 427"/>
              <a:gd name="T26" fmla="*/ 287 w 774"/>
              <a:gd name="T27" fmla="*/ 250 h 427"/>
              <a:gd name="T28" fmla="*/ 618 w 774"/>
              <a:gd name="T29" fmla="*/ 250 h 427"/>
              <a:gd name="T30" fmla="*/ 714 w 774"/>
              <a:gd name="T31" fmla="*/ 154 h 427"/>
              <a:gd name="T32" fmla="*/ 618 w 774"/>
              <a:gd name="T33" fmla="*/ 58 h 427"/>
              <a:gd name="T34" fmla="*/ 214 w 774"/>
              <a:gd name="T35" fmla="*/ 58 h 427"/>
              <a:gd name="T36" fmla="*/ 59 w 774"/>
              <a:gd name="T37" fmla="*/ 213 h 427"/>
              <a:gd name="T38" fmla="*/ 214 w 774"/>
              <a:gd name="T39" fmla="*/ 367 h 427"/>
              <a:gd name="T40" fmla="*/ 581 w 774"/>
              <a:gd name="T41" fmla="*/ 367 h 427"/>
              <a:gd name="T42" fmla="*/ 581 w 774"/>
              <a:gd name="T43" fmla="*/ 426 h 427"/>
              <a:gd name="T44" fmla="*/ 214 w 774"/>
              <a:gd name="T45" fmla="*/ 426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4" h="427">
                <a:moveTo>
                  <a:pt x="214" y="426"/>
                </a:moveTo>
                <a:cubicBezTo>
                  <a:pt x="96" y="426"/>
                  <a:pt x="0" y="331"/>
                  <a:pt x="0" y="213"/>
                </a:cubicBezTo>
                <a:cubicBezTo>
                  <a:pt x="0" y="95"/>
                  <a:pt x="96" y="0"/>
                  <a:pt x="214" y="0"/>
                </a:cubicBezTo>
                <a:lnTo>
                  <a:pt x="618" y="0"/>
                </a:lnTo>
                <a:cubicBezTo>
                  <a:pt x="699" y="0"/>
                  <a:pt x="773" y="69"/>
                  <a:pt x="773" y="154"/>
                </a:cubicBezTo>
                <a:cubicBezTo>
                  <a:pt x="773" y="239"/>
                  <a:pt x="699" y="309"/>
                  <a:pt x="618" y="309"/>
                </a:cubicBezTo>
                <a:lnTo>
                  <a:pt x="287" y="309"/>
                </a:lnTo>
                <a:cubicBezTo>
                  <a:pt x="236" y="309"/>
                  <a:pt x="192" y="264"/>
                  <a:pt x="192" y="213"/>
                </a:cubicBezTo>
                <a:cubicBezTo>
                  <a:pt x="192" y="161"/>
                  <a:pt x="236" y="117"/>
                  <a:pt x="287" y="117"/>
                </a:cubicBezTo>
                <a:lnTo>
                  <a:pt x="581" y="117"/>
                </a:lnTo>
                <a:lnTo>
                  <a:pt x="581" y="176"/>
                </a:lnTo>
                <a:lnTo>
                  <a:pt x="287" y="176"/>
                </a:lnTo>
                <a:cubicBezTo>
                  <a:pt x="265" y="176"/>
                  <a:pt x="250" y="191"/>
                  <a:pt x="250" y="213"/>
                </a:cubicBezTo>
                <a:cubicBezTo>
                  <a:pt x="250" y="235"/>
                  <a:pt x="265" y="250"/>
                  <a:pt x="287" y="250"/>
                </a:cubicBezTo>
                <a:lnTo>
                  <a:pt x="618" y="250"/>
                </a:lnTo>
                <a:cubicBezTo>
                  <a:pt x="670" y="250"/>
                  <a:pt x="714" y="209"/>
                  <a:pt x="714" y="154"/>
                </a:cubicBezTo>
                <a:cubicBezTo>
                  <a:pt x="714" y="99"/>
                  <a:pt x="670" y="58"/>
                  <a:pt x="618" y="58"/>
                </a:cubicBezTo>
                <a:lnTo>
                  <a:pt x="214" y="58"/>
                </a:lnTo>
                <a:cubicBezTo>
                  <a:pt x="125" y="58"/>
                  <a:pt x="59" y="128"/>
                  <a:pt x="59" y="213"/>
                </a:cubicBezTo>
                <a:cubicBezTo>
                  <a:pt x="59" y="297"/>
                  <a:pt x="125" y="367"/>
                  <a:pt x="214" y="367"/>
                </a:cubicBezTo>
                <a:lnTo>
                  <a:pt x="581" y="367"/>
                </a:lnTo>
                <a:lnTo>
                  <a:pt x="581" y="426"/>
                </a:lnTo>
                <a:lnTo>
                  <a:pt x="214" y="426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79" name="Freeform 33"/>
          <p:cNvSpPr>
            <a:spLocks noChangeAspect="1" noEditPoints="1"/>
          </p:cNvSpPr>
          <p:nvPr/>
        </p:nvSpPr>
        <p:spPr bwMode="auto">
          <a:xfrm>
            <a:off x="955590" y="6015242"/>
            <a:ext cx="129405" cy="14400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pic>
        <p:nvPicPr>
          <p:cNvPr id="180" name="Picture 3" descr="C:\Users\Administrator\Downloads\briefcase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1037" y="601373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1" name="Picture 15"/>
          <p:cNvPicPr>
            <a:picLocks noChangeAspect="1"/>
          </p:cNvPicPr>
          <p:nvPr/>
        </p:nvPicPr>
        <p:blipFill rotWithShape="1">
          <a:blip r:embed="rId4" cstate="print">
            <a:alphaModFix amt="21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314810" y="5991268"/>
            <a:ext cx="226986" cy="193052"/>
          </a:xfrm>
          <a:prstGeom prst="rect">
            <a:avLst/>
          </a:prstGeom>
          <a:effectLst/>
        </p:spPr>
      </p:pic>
      <p:sp>
        <p:nvSpPr>
          <p:cNvPr id="176" name="Rounded Rectangle 861"/>
          <p:cNvSpPr/>
          <p:nvPr/>
        </p:nvSpPr>
        <p:spPr>
          <a:xfrm>
            <a:off x="505908" y="5751185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태그를 입력하세요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X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82" name="Rounded Rectangle 861"/>
          <p:cNvSpPr/>
          <p:nvPr/>
        </p:nvSpPr>
        <p:spPr>
          <a:xfrm>
            <a:off x="4216294" y="1485875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태그를 입력하세요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X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4187250" y="848551"/>
            <a:ext cx="1605174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굴림" pitchFamily="50" charset="-127"/>
                <a:cs typeface="+mn-cs"/>
              </a:rPr>
              <a:t>멤버들에게 새로운 소식을 전해보세요</a:t>
            </a:r>
            <a:endParaRPr kumimoji="0" lang="en-US" altLang="ko-KR" sz="7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굴림" pitchFamily="50" charset="-127"/>
              <a:cs typeface="+mn-cs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506916" y="5147340"/>
            <a:ext cx="1605174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굴림" pitchFamily="50" charset="-127"/>
                <a:cs typeface="+mn-cs"/>
              </a:rPr>
              <a:t>멤버들에게 새로운 소식을 전해보세요</a:t>
            </a:r>
            <a:endParaRPr kumimoji="0" lang="en-US" altLang="ko-KR" sz="7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굴림" pitchFamily="50" charset="-127"/>
              <a:cs typeface="+mn-cs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4152900" y="2000251"/>
            <a:ext cx="3543300" cy="933450"/>
          </a:xfrm>
          <a:prstGeom prst="rect">
            <a:avLst/>
          </a:prstGeom>
          <a:solidFill>
            <a:srgbClr val="0000FF">
              <a:alpha val="54000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smtClean="0"/>
              <a:t>해당 기능 삭제</a:t>
            </a:r>
            <a:r>
              <a:rPr lang="en-US" altLang="ko-KR" sz="1000" smtClean="0"/>
              <a:t>_180319</a:t>
            </a:r>
            <a:endParaRPr lang="ko-KR" altLang="en-US" sz="1000"/>
          </a:p>
        </p:txBody>
      </p:sp>
      <p:sp>
        <p:nvSpPr>
          <p:cNvPr id="186" name="직사각형 185"/>
          <p:cNvSpPr/>
          <p:nvPr/>
        </p:nvSpPr>
        <p:spPr>
          <a:xfrm>
            <a:off x="7410450" y="1685925"/>
            <a:ext cx="161925" cy="318565"/>
          </a:xfrm>
          <a:prstGeom prst="rect">
            <a:avLst/>
          </a:prstGeom>
          <a:solidFill>
            <a:srgbClr val="0000FF">
              <a:alpha val="54000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/>
          </a:p>
        </p:txBody>
      </p:sp>
    </p:spTree>
    <p:extLst>
      <p:ext uri="{BB962C8B-B14F-4D97-AF65-F5344CB8AC3E}">
        <p14:creationId xmlns:p14="http://schemas.microsoft.com/office/powerpoint/2010/main" val="11274321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그룹 37"/>
          <p:cNvGrpSpPr/>
          <p:nvPr/>
        </p:nvGrpSpPr>
        <p:grpSpPr>
          <a:xfrm>
            <a:off x="516531" y="713500"/>
            <a:ext cx="3442010" cy="1734425"/>
            <a:chOff x="516531" y="713500"/>
            <a:chExt cx="3442010" cy="1734425"/>
          </a:xfrm>
        </p:grpSpPr>
        <p:sp>
          <p:nvSpPr>
            <p:cNvPr id="11" name="Rectangle 380"/>
            <p:cNvSpPr/>
            <p:nvPr/>
          </p:nvSpPr>
          <p:spPr>
            <a:xfrm>
              <a:off x="516531" y="713500"/>
              <a:ext cx="3442010" cy="17344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>
              <a:outerShdw blurRad="50800" dist="76200" dir="2700000" sx="99000" sy="99000" algn="tl" rotWithShape="0">
                <a:prstClr val="black">
                  <a:alpha val="2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14" name="Picture 390"/>
            <p:cNvPicPr>
              <a:picLocks noChangeAspect="1"/>
            </p:cNvPicPr>
            <p:nvPr/>
          </p:nvPicPr>
          <p:blipFill rotWithShape="1">
            <a:blip r:embed="rId4" cstate="print">
              <a:alphaModFix amt="2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833"/>
            <a:stretch/>
          </p:blipFill>
          <p:spPr>
            <a:xfrm>
              <a:off x="3685785" y="1074504"/>
              <a:ext cx="234355" cy="199319"/>
            </a:xfrm>
            <a:prstGeom prst="rect">
              <a:avLst/>
            </a:prstGeom>
            <a:effectLst/>
          </p:spPr>
        </p:pic>
        <p:grpSp>
          <p:nvGrpSpPr>
            <p:cNvPr id="15" name="Group 10"/>
            <p:cNvGrpSpPr/>
            <p:nvPr/>
          </p:nvGrpSpPr>
          <p:grpSpPr>
            <a:xfrm>
              <a:off x="601168" y="794344"/>
              <a:ext cx="3272738" cy="233616"/>
              <a:chOff x="8397957" y="4811613"/>
              <a:chExt cx="3272738" cy="233616"/>
            </a:xfrm>
          </p:grpSpPr>
          <p:sp>
            <p:nvSpPr>
              <p:cNvPr id="16" name="Rounded Rectangle 939"/>
              <p:cNvSpPr/>
              <p:nvPr/>
            </p:nvSpPr>
            <p:spPr>
              <a:xfrm>
                <a:off x="8397957" y="4811613"/>
                <a:ext cx="3272738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17" name="Triangle 942"/>
              <p:cNvSpPr>
                <a:spLocks noChangeAspect="1"/>
              </p:cNvSpPr>
              <p:nvPr/>
            </p:nvSpPr>
            <p:spPr>
              <a:xfrm flipV="1">
                <a:off x="11518929" y="4906821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ＭＳ Ｐゴシック" charset="0"/>
                </a:endParaRPr>
              </a:p>
            </p:txBody>
          </p:sp>
          <p:sp>
            <p:nvSpPr>
              <p:cNvPr id="18" name="텍스트 상자 31"/>
              <p:cNvSpPr txBox="1"/>
              <p:nvPr/>
            </p:nvSpPr>
            <p:spPr>
              <a:xfrm>
                <a:off x="8454156" y="4859169"/>
                <a:ext cx="128523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ko-KR" sz="80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EGW TF </a:t>
                </a:r>
                <a:r>
                  <a:rPr lang="ko-KR" altLang="en-US" sz="80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프로젝트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32" name="그룹 31"/>
            <p:cNvGrpSpPr/>
            <p:nvPr/>
          </p:nvGrpSpPr>
          <p:grpSpPr>
            <a:xfrm>
              <a:off x="597835" y="1798310"/>
              <a:ext cx="3295121" cy="433135"/>
              <a:chOff x="578785" y="3246110"/>
              <a:chExt cx="3295121" cy="433135"/>
            </a:xfrm>
          </p:grpSpPr>
          <p:sp>
            <p:nvSpPr>
              <p:cNvPr id="12" name="Rounded Rectangle 386"/>
              <p:cNvSpPr/>
              <p:nvPr/>
            </p:nvSpPr>
            <p:spPr>
              <a:xfrm>
                <a:off x="3151414" y="3511538"/>
                <a:ext cx="281526" cy="144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취소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13" name="직선 연결선[R] 33"/>
              <p:cNvCxnSpPr/>
              <p:nvPr/>
            </p:nvCxnSpPr>
            <p:spPr>
              <a:xfrm>
                <a:off x="601168" y="3459721"/>
                <a:ext cx="32727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ounded Rectangle 132"/>
              <p:cNvSpPr/>
              <p:nvPr/>
            </p:nvSpPr>
            <p:spPr>
              <a:xfrm>
                <a:off x="3481799" y="3510493"/>
                <a:ext cx="271770" cy="13817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25" name="Freeform 17"/>
              <p:cNvSpPr>
                <a:spLocks noChangeArrowheads="1"/>
              </p:cNvSpPr>
              <p:nvPr/>
            </p:nvSpPr>
            <p:spPr bwMode="auto">
              <a:xfrm>
                <a:off x="578785" y="3526088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6" name="Freeform 440"/>
              <p:cNvSpPr>
                <a:spLocks noChangeArrowheads="1"/>
              </p:cNvSpPr>
              <p:nvPr/>
            </p:nvSpPr>
            <p:spPr bwMode="auto">
              <a:xfrm>
                <a:off x="793340" y="3546186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7" name="Freeform 33"/>
              <p:cNvSpPr>
                <a:spLocks noChangeAspect="1" noEditPoints="1"/>
              </p:cNvSpPr>
              <p:nvPr/>
            </p:nvSpPr>
            <p:spPr bwMode="auto">
              <a:xfrm>
                <a:off x="1041315" y="3510167"/>
                <a:ext cx="129405" cy="14400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28" name="Picture 3" descr="C:\Users\Administrator\Downloads\briefcase (1).png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36762" y="3508662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9" name="Picture 15"/>
              <p:cNvPicPr>
                <a:picLocks noChangeAspect="1"/>
              </p:cNvPicPr>
              <p:nvPr/>
            </p:nvPicPr>
            <p:blipFill rotWithShape="1">
              <a:blip r:embed="rId4" cstate="print">
                <a:alphaModFix amt="2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4833"/>
              <a:stretch/>
            </p:blipFill>
            <p:spPr>
              <a:xfrm>
                <a:off x="1400535" y="3486193"/>
                <a:ext cx="226986" cy="193052"/>
              </a:xfrm>
              <a:prstGeom prst="rect">
                <a:avLst/>
              </a:prstGeom>
              <a:effectLst/>
            </p:spPr>
          </p:pic>
          <p:sp>
            <p:nvSpPr>
              <p:cNvPr id="30" name="Rounded Rectangle 861"/>
              <p:cNvSpPr/>
              <p:nvPr/>
            </p:nvSpPr>
            <p:spPr>
              <a:xfrm>
                <a:off x="591633" y="3246110"/>
                <a:ext cx="1005944" cy="162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#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태그를 입력하세요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X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592641" y="1053421"/>
              <a:ext cx="1539451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9057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noProof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이번주 워크샵 일정 공지합니다</a:t>
              </a:r>
              <a:r>
                <a:rPr kumimoji="0" lang="en-US" altLang="ko-KR" sz="800" noProof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</p:grpSp>
      <p:cxnSp>
        <p:nvCxnSpPr>
          <p:cNvPr id="36" name="직선 화살표 연결선 35"/>
          <p:cNvCxnSpPr/>
          <p:nvPr/>
        </p:nvCxnSpPr>
        <p:spPr>
          <a:xfrm>
            <a:off x="4181475" y="1514475"/>
            <a:ext cx="333375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019550" y="1173748"/>
            <a:ext cx="1069771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글이 작성된 상태에서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 변경시도시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5088531" y="713500"/>
            <a:ext cx="3442010" cy="1734425"/>
            <a:chOff x="516531" y="713500"/>
            <a:chExt cx="3442010" cy="1734425"/>
          </a:xfrm>
        </p:grpSpPr>
        <p:sp>
          <p:nvSpPr>
            <p:cNvPr id="40" name="Rectangle 380"/>
            <p:cNvSpPr/>
            <p:nvPr/>
          </p:nvSpPr>
          <p:spPr>
            <a:xfrm>
              <a:off x="516531" y="713500"/>
              <a:ext cx="3442010" cy="17344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>
              <a:outerShdw blurRad="50800" dist="76200" dir="2700000" sx="99000" sy="99000" algn="tl" rotWithShape="0">
                <a:prstClr val="black">
                  <a:alpha val="2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41" name="Picture 390"/>
            <p:cNvPicPr>
              <a:picLocks noChangeAspect="1"/>
            </p:cNvPicPr>
            <p:nvPr/>
          </p:nvPicPr>
          <p:blipFill rotWithShape="1">
            <a:blip r:embed="rId4" cstate="print">
              <a:alphaModFix amt="2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833"/>
            <a:stretch/>
          </p:blipFill>
          <p:spPr>
            <a:xfrm>
              <a:off x="3685785" y="1074504"/>
              <a:ext cx="234355" cy="199319"/>
            </a:xfrm>
            <a:prstGeom prst="rect">
              <a:avLst/>
            </a:prstGeom>
            <a:effectLst/>
          </p:spPr>
        </p:pic>
        <p:grpSp>
          <p:nvGrpSpPr>
            <p:cNvPr id="42" name="Group 10"/>
            <p:cNvGrpSpPr/>
            <p:nvPr/>
          </p:nvGrpSpPr>
          <p:grpSpPr>
            <a:xfrm>
              <a:off x="601168" y="794344"/>
              <a:ext cx="3272738" cy="233616"/>
              <a:chOff x="8397957" y="4811613"/>
              <a:chExt cx="3272738" cy="233616"/>
            </a:xfrm>
          </p:grpSpPr>
          <p:sp>
            <p:nvSpPr>
              <p:cNvPr id="55" name="Rounded Rectangle 939"/>
              <p:cNvSpPr/>
              <p:nvPr/>
            </p:nvSpPr>
            <p:spPr>
              <a:xfrm>
                <a:off x="8397957" y="4811613"/>
                <a:ext cx="3272738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56" name="Triangle 942"/>
              <p:cNvSpPr>
                <a:spLocks noChangeAspect="1"/>
              </p:cNvSpPr>
              <p:nvPr/>
            </p:nvSpPr>
            <p:spPr>
              <a:xfrm flipV="1">
                <a:off x="11518929" y="4906821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ＭＳ Ｐゴシック" charset="0"/>
                </a:endParaRPr>
              </a:p>
            </p:txBody>
          </p:sp>
          <p:sp>
            <p:nvSpPr>
              <p:cNvPr id="57" name="텍스트 상자 31"/>
              <p:cNvSpPr txBox="1"/>
              <p:nvPr/>
            </p:nvSpPr>
            <p:spPr>
              <a:xfrm>
                <a:off x="8454156" y="4859169"/>
                <a:ext cx="128523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ko-KR" sz="800" noProof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UX </a:t>
                </a:r>
                <a:r>
                  <a:rPr lang="ko-KR" altLang="en-US" sz="800" noProof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디자인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43" name="그룹 42"/>
            <p:cNvGrpSpPr/>
            <p:nvPr/>
          </p:nvGrpSpPr>
          <p:grpSpPr>
            <a:xfrm>
              <a:off x="597835" y="1798310"/>
              <a:ext cx="3307652" cy="433135"/>
              <a:chOff x="578785" y="3246110"/>
              <a:chExt cx="3307652" cy="433135"/>
            </a:xfrm>
          </p:grpSpPr>
          <p:sp>
            <p:nvSpPr>
              <p:cNvPr id="45" name="Rounded Rectangle 386"/>
              <p:cNvSpPr/>
              <p:nvPr/>
            </p:nvSpPr>
            <p:spPr>
              <a:xfrm>
                <a:off x="3151414" y="3511538"/>
                <a:ext cx="281526" cy="144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취소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46" name="직선 연결선[R] 33"/>
              <p:cNvCxnSpPr/>
              <p:nvPr/>
            </p:nvCxnSpPr>
            <p:spPr>
              <a:xfrm>
                <a:off x="601168" y="3459721"/>
                <a:ext cx="32727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Freeform 25"/>
              <p:cNvSpPr>
                <a:spLocks noChangeAspect="1" noEditPoints="1"/>
              </p:cNvSpPr>
              <p:nvPr/>
            </p:nvSpPr>
            <p:spPr bwMode="auto">
              <a:xfrm>
                <a:off x="3798309" y="3519805"/>
                <a:ext cx="88128" cy="108000"/>
              </a:xfrm>
              <a:custGeom>
                <a:avLst/>
                <a:gdLst>
                  <a:gd name="T0" fmla="*/ 100 w 350"/>
                  <a:gd name="T1" fmla="*/ 325 h 425"/>
                  <a:gd name="T2" fmla="*/ 250 w 350"/>
                  <a:gd name="T3" fmla="*/ 325 h 425"/>
                  <a:gd name="T4" fmla="*/ 250 w 350"/>
                  <a:gd name="T5" fmla="*/ 175 h 425"/>
                  <a:gd name="T6" fmla="*/ 350 w 350"/>
                  <a:gd name="T7" fmla="*/ 175 h 425"/>
                  <a:gd name="T8" fmla="*/ 175 w 350"/>
                  <a:gd name="T9" fmla="*/ 0 h 425"/>
                  <a:gd name="T10" fmla="*/ 0 w 350"/>
                  <a:gd name="T11" fmla="*/ 175 h 425"/>
                  <a:gd name="T12" fmla="*/ 100 w 350"/>
                  <a:gd name="T13" fmla="*/ 175 h 425"/>
                  <a:gd name="T14" fmla="*/ 100 w 350"/>
                  <a:gd name="T15" fmla="*/ 325 h 425"/>
                  <a:gd name="T16" fmla="*/ 0 w 350"/>
                  <a:gd name="T17" fmla="*/ 375 h 425"/>
                  <a:gd name="T18" fmla="*/ 350 w 350"/>
                  <a:gd name="T19" fmla="*/ 375 h 425"/>
                  <a:gd name="T20" fmla="*/ 350 w 350"/>
                  <a:gd name="T21" fmla="*/ 425 h 425"/>
                  <a:gd name="T22" fmla="*/ 0 w 350"/>
                  <a:gd name="T23" fmla="*/ 425 h 425"/>
                  <a:gd name="T24" fmla="*/ 0 w 350"/>
                  <a:gd name="T25" fmla="*/ 37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0" h="425">
                    <a:moveTo>
                      <a:pt x="100" y="325"/>
                    </a:moveTo>
                    <a:lnTo>
                      <a:pt x="250" y="325"/>
                    </a:lnTo>
                    <a:lnTo>
                      <a:pt x="250" y="175"/>
                    </a:lnTo>
                    <a:lnTo>
                      <a:pt x="350" y="175"/>
                    </a:lnTo>
                    <a:lnTo>
                      <a:pt x="175" y="0"/>
                    </a:lnTo>
                    <a:lnTo>
                      <a:pt x="0" y="175"/>
                    </a:lnTo>
                    <a:lnTo>
                      <a:pt x="100" y="175"/>
                    </a:lnTo>
                    <a:lnTo>
                      <a:pt x="100" y="325"/>
                    </a:lnTo>
                    <a:close/>
                    <a:moveTo>
                      <a:pt x="0" y="375"/>
                    </a:moveTo>
                    <a:lnTo>
                      <a:pt x="350" y="375"/>
                    </a:lnTo>
                    <a:lnTo>
                      <a:pt x="350" y="425"/>
                    </a:lnTo>
                    <a:lnTo>
                      <a:pt x="0" y="425"/>
                    </a:lnTo>
                    <a:lnTo>
                      <a:pt x="0" y="375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48" name="Rounded Rectangle 132"/>
              <p:cNvSpPr/>
              <p:nvPr/>
            </p:nvSpPr>
            <p:spPr>
              <a:xfrm>
                <a:off x="3481799" y="3510493"/>
                <a:ext cx="271770" cy="13817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49" name="Freeform 17"/>
              <p:cNvSpPr>
                <a:spLocks noChangeArrowheads="1"/>
              </p:cNvSpPr>
              <p:nvPr/>
            </p:nvSpPr>
            <p:spPr bwMode="auto">
              <a:xfrm>
                <a:off x="578785" y="3526088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50" name="Freeform 440"/>
              <p:cNvSpPr>
                <a:spLocks noChangeArrowheads="1"/>
              </p:cNvSpPr>
              <p:nvPr/>
            </p:nvSpPr>
            <p:spPr bwMode="auto">
              <a:xfrm>
                <a:off x="793340" y="3546186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51" name="Freeform 33"/>
              <p:cNvSpPr>
                <a:spLocks noChangeAspect="1" noEditPoints="1"/>
              </p:cNvSpPr>
              <p:nvPr/>
            </p:nvSpPr>
            <p:spPr bwMode="auto">
              <a:xfrm>
                <a:off x="1041315" y="3510167"/>
                <a:ext cx="129405" cy="14400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52" name="Picture 3" descr="C:\Users\Administrator\Downloads\briefcase (1).png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36762" y="3508662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3" name="Picture 15"/>
              <p:cNvPicPr>
                <a:picLocks noChangeAspect="1"/>
              </p:cNvPicPr>
              <p:nvPr/>
            </p:nvPicPr>
            <p:blipFill rotWithShape="1">
              <a:blip r:embed="rId4" cstate="print">
                <a:alphaModFix amt="2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4833"/>
              <a:stretch/>
            </p:blipFill>
            <p:spPr>
              <a:xfrm>
                <a:off x="1400535" y="3486193"/>
                <a:ext cx="226986" cy="193052"/>
              </a:xfrm>
              <a:prstGeom prst="rect">
                <a:avLst/>
              </a:prstGeom>
              <a:effectLst/>
            </p:spPr>
          </p:pic>
          <p:sp>
            <p:nvSpPr>
              <p:cNvPr id="54" name="Rounded Rectangle 861"/>
              <p:cNvSpPr/>
              <p:nvPr/>
            </p:nvSpPr>
            <p:spPr>
              <a:xfrm>
                <a:off x="591633" y="3246110"/>
                <a:ext cx="1005944" cy="162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#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태그를 입력하세요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X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44" name="TextBox 43"/>
            <p:cNvSpPr txBox="1"/>
            <p:nvPr/>
          </p:nvSpPr>
          <p:spPr>
            <a:xfrm>
              <a:off x="592641" y="1053421"/>
              <a:ext cx="1539451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9057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noProof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이번주 워크샵 일정 공지합니다</a:t>
              </a:r>
              <a:r>
                <a:rPr kumimoji="0" lang="en-US" altLang="ko-KR" sz="800" noProof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</p:grpSp>
      <p:sp>
        <p:nvSpPr>
          <p:cNvPr id="59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"/>
            </p:custDataLst>
          </p:nvPr>
        </p:nvSpPr>
        <p:spPr>
          <a:xfrm>
            <a:off x="5218869" y="1707214"/>
            <a:ext cx="3222246" cy="1007411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0" name="Text" descr="&lt;Tags&gt;&lt;SMARTRESIZEANCHORS&gt;Absolute,Absolute,Absolute,Absolute&lt;/SMARTRESIZEANCHORS&gt;&lt;/Tags&gt;"/>
          <p:cNvSpPr txBox="1"/>
          <p:nvPr/>
        </p:nvSpPr>
        <p:spPr>
          <a:xfrm>
            <a:off x="5958740" y="1844047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그룹변경시 작성된 글은 삭제됩니다</a:t>
            </a:r>
            <a:r>
              <a:rPr lang="en-US" altLang="ko-KR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  <a:p>
            <a:r>
              <a:rPr lang="ko-KR" altLang="en-US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그룹을 변경하겠습니까</a:t>
            </a:r>
            <a:r>
              <a:rPr lang="en-US" altLang="ko-KR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  <a:endParaRPr lang="en-US" sz="800" noProof="1" smtClean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1" name="Title Bar" descr="&lt;Tags&gt;&lt;SMARTRESIZEANCHORS&gt;Absolute,None,Absolute,Absolute&lt;/SMARTRESIZEANCHORS&gt;&lt;/Tags&gt;"/>
          <p:cNvSpPr/>
          <p:nvPr/>
        </p:nvSpPr>
        <p:spPr>
          <a:xfrm>
            <a:off x="5218869" y="1469470"/>
            <a:ext cx="3222246" cy="237744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2286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Alert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2" name="Close Button" descr="&lt;Tags&gt;&lt;SMARTRESIZEANCHORS&gt;Absolute,None,None,Absolute&lt;/SMARTRESIZEANCHORS&gt;&lt;/Tags&gt;"/>
          <p:cNvSpPr>
            <a:spLocks noEditPoints="1"/>
          </p:cNvSpPr>
          <p:nvPr/>
        </p:nvSpPr>
        <p:spPr bwMode="auto">
          <a:xfrm>
            <a:off x="8230231" y="1540717"/>
            <a:ext cx="98425" cy="95250"/>
          </a:xfrm>
          <a:custGeom>
            <a:avLst/>
            <a:gdLst>
              <a:gd name="T0" fmla="*/ 254 w 254"/>
              <a:gd name="T1" fmla="*/ 0 h 254"/>
              <a:gd name="T2" fmla="*/ 0 w 254"/>
              <a:gd name="T3" fmla="*/ 254 h 254"/>
              <a:gd name="T4" fmla="*/ 0 w 254"/>
              <a:gd name="T5" fmla="*/ 0 h 254"/>
              <a:gd name="T6" fmla="*/ 254 w 254"/>
              <a:gd name="T7" fmla="*/ 25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" h="254">
                <a:moveTo>
                  <a:pt x="254" y="0"/>
                </a:moveTo>
                <a:lnTo>
                  <a:pt x="0" y="254"/>
                </a:lnTo>
                <a:moveTo>
                  <a:pt x="0" y="0"/>
                </a:moveTo>
                <a:lnTo>
                  <a:pt x="254" y="254"/>
                </a:lnTo>
              </a:path>
            </a:pathLst>
          </a:custGeom>
          <a:noFill/>
          <a:ln w="9525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" name="Icons"/>
          <p:cNvGrpSpPr/>
          <p:nvPr/>
        </p:nvGrpSpPr>
        <p:grpSpPr>
          <a:xfrm>
            <a:off x="5396717" y="1877941"/>
            <a:ext cx="457200" cy="396875"/>
            <a:chOff x="773534" y="1669713"/>
            <a:chExt cx="457200" cy="396875"/>
          </a:xfrm>
        </p:grpSpPr>
        <p:sp>
          <p:nvSpPr>
            <p:cNvPr id="68" name="Info Icon" descr="&lt;Tags&gt;&lt;SMARTRESIZEANCHORS&gt;Absolute,None,Absolute,None&lt;/SMARTRESIZEANCHORS&gt;&lt;/Tags&gt;" hidden="1"/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" name="Warning Icon" descr="&lt;Tags&gt;&lt;SMARTRESIZEANCHORS&gt;Absolute,None,Absolute,None&lt;/SMARTRESIZEANCHORS&gt;&lt;/Tags&gt;"/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Error Icon" descr="&lt;Tags&gt;&lt;SMARTRESIZEANCHORS&gt;Absolute,None,Absolute,None&lt;/SMARTRESIZEANCHORS&gt;&lt;/Tags&gt;" hidden="1"/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Question Icon" descr="&lt;Tags&gt;&lt;SMARTRESIZEANCHORS&gt;Absolute,None,Absolute,None&lt;/SMARTRESIZEANCHORS&gt;&lt;/Tags&gt;" hidden="1"/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Buttons"/>
          <p:cNvGrpSpPr/>
          <p:nvPr/>
        </p:nvGrpSpPr>
        <p:grpSpPr>
          <a:xfrm>
            <a:off x="6161470" y="2337524"/>
            <a:ext cx="2091779" cy="240384"/>
            <a:chOff x="1538287" y="2386471"/>
            <a:chExt cx="2091779" cy="240384"/>
          </a:xfrm>
        </p:grpSpPr>
        <p:sp>
          <p:nvSpPr>
            <p:cNvPr id="65" name="Button 1" descr="&lt;SmartSettings&gt;&lt;SmartResize anchorLeft=&quot;None&quot; anchorTop=&quot;None&quot; anchorRight=&quot;Absolute&quot; anchorBottom=&quot;Absolute&quot; /&gt;&lt;/SmartSettings&gt;"/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967037" y="2386471"/>
              <a:ext cx="663029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sz="800" dirty="0">
                <a:solidFill>
                  <a:srgbClr val="5F5F5F"/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Button 2" descr="&lt;Tags&gt;&lt;SMARTRESIZEANCHORS&gt;None,Absolute,None,Absolute&lt;/SMARTRESIZEANCHORS&gt;&lt;/Tags&gt;"/>
            <p:cNvSpPr>
              <a:spLocks/>
            </p:cNvSpPr>
            <p:nvPr/>
          </p:nvSpPr>
          <p:spPr bwMode="auto">
            <a:xfrm>
              <a:off x="2252662" y="2386471"/>
              <a:ext cx="663029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sz="800" dirty="0">
                <a:solidFill>
                  <a:srgbClr val="5F5F5F"/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Button 3" descr="&lt;Tags&gt;&lt;SMARTRESIZEANCHORS&gt;None,Absolute,None,Absolute&lt;/SMARTRESIZEANCHORS&gt;&lt;/Tags&gt;" hidden="1"/>
            <p:cNvSpPr>
              <a:spLocks/>
            </p:cNvSpPr>
            <p:nvPr/>
          </p:nvSpPr>
          <p:spPr bwMode="auto">
            <a:xfrm>
              <a:off x="1538287" y="2386471"/>
              <a:ext cx="663029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800" dirty="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Abort</a:t>
              </a:r>
              <a:endParaRPr lang="en-US" sz="800" dirty="0">
                <a:solidFill>
                  <a:srgbClr val="5F5F5F"/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" name="그룹 71"/>
          <p:cNvGrpSpPr/>
          <p:nvPr/>
        </p:nvGrpSpPr>
        <p:grpSpPr>
          <a:xfrm>
            <a:off x="2001135" y="4056775"/>
            <a:ext cx="3442010" cy="1734425"/>
            <a:chOff x="516531" y="713500"/>
            <a:chExt cx="3442010" cy="1734425"/>
          </a:xfrm>
        </p:grpSpPr>
        <p:sp>
          <p:nvSpPr>
            <p:cNvPr id="73" name="Rectangle 380"/>
            <p:cNvSpPr/>
            <p:nvPr/>
          </p:nvSpPr>
          <p:spPr>
            <a:xfrm>
              <a:off x="516531" y="713500"/>
              <a:ext cx="3442010" cy="17344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>
              <a:outerShdw blurRad="50800" dist="76200" dir="2700000" sx="99000" sy="99000" algn="tl" rotWithShape="0">
                <a:prstClr val="black">
                  <a:alpha val="2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74" name="Picture 390"/>
            <p:cNvPicPr>
              <a:picLocks noChangeAspect="1"/>
            </p:cNvPicPr>
            <p:nvPr/>
          </p:nvPicPr>
          <p:blipFill rotWithShape="1">
            <a:blip r:embed="rId4" cstate="print">
              <a:alphaModFix amt="2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833"/>
            <a:stretch/>
          </p:blipFill>
          <p:spPr>
            <a:xfrm>
              <a:off x="3685785" y="1074504"/>
              <a:ext cx="234355" cy="199319"/>
            </a:xfrm>
            <a:prstGeom prst="rect">
              <a:avLst/>
            </a:prstGeom>
            <a:effectLst/>
          </p:spPr>
        </p:pic>
        <p:grpSp>
          <p:nvGrpSpPr>
            <p:cNvPr id="75" name="Group 10"/>
            <p:cNvGrpSpPr/>
            <p:nvPr/>
          </p:nvGrpSpPr>
          <p:grpSpPr>
            <a:xfrm>
              <a:off x="601168" y="794344"/>
              <a:ext cx="3272738" cy="233616"/>
              <a:chOff x="8397957" y="4811613"/>
              <a:chExt cx="3272738" cy="233616"/>
            </a:xfrm>
          </p:grpSpPr>
          <p:sp>
            <p:nvSpPr>
              <p:cNvPr id="88" name="Rounded Rectangle 939"/>
              <p:cNvSpPr/>
              <p:nvPr/>
            </p:nvSpPr>
            <p:spPr>
              <a:xfrm>
                <a:off x="8397957" y="4811613"/>
                <a:ext cx="3272738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89" name="Triangle 942"/>
              <p:cNvSpPr>
                <a:spLocks noChangeAspect="1"/>
              </p:cNvSpPr>
              <p:nvPr/>
            </p:nvSpPr>
            <p:spPr>
              <a:xfrm flipV="1">
                <a:off x="11518929" y="4906821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ＭＳ Ｐゴシック" charset="0"/>
                </a:endParaRPr>
              </a:p>
            </p:txBody>
          </p:sp>
          <p:sp>
            <p:nvSpPr>
              <p:cNvPr id="90" name="텍스트 상자 31"/>
              <p:cNvSpPr txBox="1"/>
              <p:nvPr/>
            </p:nvSpPr>
            <p:spPr>
              <a:xfrm>
                <a:off x="8454156" y="4859169"/>
                <a:ext cx="128523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ko-KR" sz="80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UX </a:t>
                </a:r>
                <a:r>
                  <a:rPr lang="ko-KR" altLang="en-US" sz="80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디자인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76" name="그룹 75"/>
            <p:cNvGrpSpPr/>
            <p:nvPr/>
          </p:nvGrpSpPr>
          <p:grpSpPr>
            <a:xfrm>
              <a:off x="597835" y="1798310"/>
              <a:ext cx="3295121" cy="433135"/>
              <a:chOff x="578785" y="3246110"/>
              <a:chExt cx="3295121" cy="433135"/>
            </a:xfrm>
          </p:grpSpPr>
          <p:sp>
            <p:nvSpPr>
              <p:cNvPr id="78" name="Rounded Rectangle 386"/>
              <p:cNvSpPr/>
              <p:nvPr/>
            </p:nvSpPr>
            <p:spPr>
              <a:xfrm>
                <a:off x="3151414" y="3511538"/>
                <a:ext cx="281526" cy="144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취소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79" name="직선 연결선[R] 33"/>
              <p:cNvCxnSpPr/>
              <p:nvPr/>
            </p:nvCxnSpPr>
            <p:spPr>
              <a:xfrm>
                <a:off x="601168" y="3459721"/>
                <a:ext cx="32727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Rounded Rectangle 132"/>
              <p:cNvSpPr/>
              <p:nvPr/>
            </p:nvSpPr>
            <p:spPr>
              <a:xfrm>
                <a:off x="3481799" y="3510493"/>
                <a:ext cx="271770" cy="13817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82" name="Freeform 17"/>
              <p:cNvSpPr>
                <a:spLocks noChangeArrowheads="1"/>
              </p:cNvSpPr>
              <p:nvPr/>
            </p:nvSpPr>
            <p:spPr bwMode="auto">
              <a:xfrm>
                <a:off x="578785" y="3526088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83" name="Freeform 440"/>
              <p:cNvSpPr>
                <a:spLocks noChangeArrowheads="1"/>
              </p:cNvSpPr>
              <p:nvPr/>
            </p:nvSpPr>
            <p:spPr bwMode="auto">
              <a:xfrm>
                <a:off x="793340" y="3546186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84" name="Freeform 33"/>
              <p:cNvSpPr>
                <a:spLocks noChangeAspect="1" noEditPoints="1"/>
              </p:cNvSpPr>
              <p:nvPr/>
            </p:nvSpPr>
            <p:spPr bwMode="auto">
              <a:xfrm>
                <a:off x="1041315" y="3510167"/>
                <a:ext cx="129405" cy="14400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85" name="Picture 3" descr="C:\Users\Administrator\Downloads\briefcase (1).png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36762" y="3508662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86" name="Picture 15"/>
              <p:cNvPicPr>
                <a:picLocks noChangeAspect="1"/>
              </p:cNvPicPr>
              <p:nvPr/>
            </p:nvPicPr>
            <p:blipFill rotWithShape="1">
              <a:blip r:embed="rId4" cstate="print">
                <a:alphaModFix amt="2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4833"/>
              <a:stretch/>
            </p:blipFill>
            <p:spPr>
              <a:xfrm>
                <a:off x="1400535" y="3486193"/>
                <a:ext cx="226986" cy="193052"/>
              </a:xfrm>
              <a:prstGeom prst="rect">
                <a:avLst/>
              </a:prstGeom>
              <a:effectLst/>
            </p:spPr>
          </p:pic>
          <p:sp>
            <p:nvSpPr>
              <p:cNvPr id="87" name="Rounded Rectangle 861"/>
              <p:cNvSpPr/>
              <p:nvPr/>
            </p:nvSpPr>
            <p:spPr>
              <a:xfrm>
                <a:off x="591633" y="3246110"/>
                <a:ext cx="1005944" cy="162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#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태그를 입력하세요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X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77" name="TextBox 76"/>
            <p:cNvSpPr txBox="1"/>
            <p:nvPr/>
          </p:nvSpPr>
          <p:spPr>
            <a:xfrm>
              <a:off x="592641" y="1053421"/>
              <a:ext cx="72768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9057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</p:grpSp>
      <p:cxnSp>
        <p:nvCxnSpPr>
          <p:cNvPr id="92" name="직선 화살표 연결선 91"/>
          <p:cNvCxnSpPr/>
          <p:nvPr/>
        </p:nvCxnSpPr>
        <p:spPr>
          <a:xfrm flipH="1">
            <a:off x="5410200" y="2577908"/>
            <a:ext cx="1399336" cy="1413067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" name="그룹 93"/>
          <p:cNvGrpSpPr/>
          <p:nvPr/>
        </p:nvGrpSpPr>
        <p:grpSpPr>
          <a:xfrm>
            <a:off x="5761770" y="4056775"/>
            <a:ext cx="3442010" cy="1734425"/>
            <a:chOff x="516531" y="713500"/>
            <a:chExt cx="3442010" cy="1734425"/>
          </a:xfrm>
        </p:grpSpPr>
        <p:sp>
          <p:nvSpPr>
            <p:cNvPr id="95" name="Rectangle 380"/>
            <p:cNvSpPr/>
            <p:nvPr/>
          </p:nvSpPr>
          <p:spPr>
            <a:xfrm>
              <a:off x="516531" y="713500"/>
              <a:ext cx="3442010" cy="17344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  <a:effectLst>
              <a:outerShdw blurRad="50800" dist="76200" dir="2700000" sx="99000" sy="99000" algn="tl" rotWithShape="0">
                <a:prstClr val="black">
                  <a:alpha val="2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96" name="Picture 390"/>
            <p:cNvPicPr>
              <a:picLocks noChangeAspect="1"/>
            </p:cNvPicPr>
            <p:nvPr/>
          </p:nvPicPr>
          <p:blipFill rotWithShape="1">
            <a:blip r:embed="rId4" cstate="print">
              <a:alphaModFix amt="2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833"/>
            <a:stretch/>
          </p:blipFill>
          <p:spPr>
            <a:xfrm>
              <a:off x="3685785" y="1074504"/>
              <a:ext cx="234355" cy="199319"/>
            </a:xfrm>
            <a:prstGeom prst="rect">
              <a:avLst/>
            </a:prstGeom>
            <a:effectLst/>
          </p:spPr>
        </p:pic>
        <p:grpSp>
          <p:nvGrpSpPr>
            <p:cNvPr id="97" name="Group 10"/>
            <p:cNvGrpSpPr/>
            <p:nvPr/>
          </p:nvGrpSpPr>
          <p:grpSpPr>
            <a:xfrm>
              <a:off x="601168" y="794344"/>
              <a:ext cx="3272738" cy="233616"/>
              <a:chOff x="8397957" y="4811613"/>
              <a:chExt cx="3272738" cy="233616"/>
            </a:xfrm>
          </p:grpSpPr>
          <p:sp>
            <p:nvSpPr>
              <p:cNvPr id="110" name="Rounded Rectangle 939"/>
              <p:cNvSpPr/>
              <p:nvPr/>
            </p:nvSpPr>
            <p:spPr>
              <a:xfrm>
                <a:off x="8397957" y="4811613"/>
                <a:ext cx="3272738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111" name="Triangle 942"/>
              <p:cNvSpPr>
                <a:spLocks noChangeAspect="1"/>
              </p:cNvSpPr>
              <p:nvPr/>
            </p:nvSpPr>
            <p:spPr>
              <a:xfrm flipV="1">
                <a:off x="11518929" y="4906821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ＭＳ Ｐゴシック" charset="0"/>
                </a:endParaRPr>
              </a:p>
            </p:txBody>
          </p:sp>
          <p:sp>
            <p:nvSpPr>
              <p:cNvPr id="112" name="텍스트 상자 31"/>
              <p:cNvSpPr txBox="1"/>
              <p:nvPr/>
            </p:nvSpPr>
            <p:spPr>
              <a:xfrm>
                <a:off x="8454156" y="4859169"/>
                <a:ext cx="128523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ko-KR" sz="80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EGW TF </a:t>
                </a:r>
                <a:r>
                  <a:rPr lang="ko-KR" altLang="en-US" sz="80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/>
                    <a:ea typeface="맑은 고딕"/>
                  </a:rPr>
                  <a:t>프로젝트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98" name="그룹 97"/>
            <p:cNvGrpSpPr/>
            <p:nvPr/>
          </p:nvGrpSpPr>
          <p:grpSpPr>
            <a:xfrm>
              <a:off x="597835" y="1798310"/>
              <a:ext cx="3295121" cy="433135"/>
              <a:chOff x="578785" y="3246110"/>
              <a:chExt cx="3295121" cy="433135"/>
            </a:xfrm>
          </p:grpSpPr>
          <p:sp>
            <p:nvSpPr>
              <p:cNvPr id="100" name="Rounded Rectangle 386"/>
              <p:cNvSpPr/>
              <p:nvPr/>
            </p:nvSpPr>
            <p:spPr>
              <a:xfrm>
                <a:off x="3151414" y="3511538"/>
                <a:ext cx="281526" cy="144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취소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101" name="직선 연결선[R] 33"/>
              <p:cNvCxnSpPr/>
              <p:nvPr/>
            </p:nvCxnSpPr>
            <p:spPr>
              <a:xfrm>
                <a:off x="601168" y="3459721"/>
                <a:ext cx="32727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ounded Rectangle 132"/>
              <p:cNvSpPr/>
              <p:nvPr/>
            </p:nvSpPr>
            <p:spPr>
              <a:xfrm>
                <a:off x="3481799" y="3510493"/>
                <a:ext cx="271770" cy="13817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104" name="Freeform 17"/>
              <p:cNvSpPr>
                <a:spLocks noChangeArrowheads="1"/>
              </p:cNvSpPr>
              <p:nvPr/>
            </p:nvSpPr>
            <p:spPr bwMode="auto">
              <a:xfrm>
                <a:off x="578785" y="3526088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105" name="Freeform 440"/>
              <p:cNvSpPr>
                <a:spLocks noChangeArrowheads="1"/>
              </p:cNvSpPr>
              <p:nvPr/>
            </p:nvSpPr>
            <p:spPr bwMode="auto">
              <a:xfrm>
                <a:off x="793340" y="3546186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106" name="Freeform 33"/>
              <p:cNvSpPr>
                <a:spLocks noChangeAspect="1" noEditPoints="1"/>
              </p:cNvSpPr>
              <p:nvPr/>
            </p:nvSpPr>
            <p:spPr bwMode="auto">
              <a:xfrm>
                <a:off x="1041315" y="3510167"/>
                <a:ext cx="129405" cy="14400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107" name="Picture 3" descr="C:\Users\Administrator\Downloads\briefcase (1).png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36762" y="3508662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8" name="Picture 15"/>
              <p:cNvPicPr>
                <a:picLocks noChangeAspect="1"/>
              </p:cNvPicPr>
              <p:nvPr/>
            </p:nvPicPr>
            <p:blipFill rotWithShape="1">
              <a:blip r:embed="rId4" cstate="print">
                <a:alphaModFix amt="2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4833"/>
              <a:stretch/>
            </p:blipFill>
            <p:spPr>
              <a:xfrm>
                <a:off x="1400535" y="3486193"/>
                <a:ext cx="226986" cy="193052"/>
              </a:xfrm>
              <a:prstGeom prst="rect">
                <a:avLst/>
              </a:prstGeom>
              <a:effectLst/>
            </p:spPr>
          </p:pic>
          <p:sp>
            <p:nvSpPr>
              <p:cNvPr id="109" name="Rounded Rectangle 861"/>
              <p:cNvSpPr/>
              <p:nvPr/>
            </p:nvSpPr>
            <p:spPr>
              <a:xfrm>
                <a:off x="591633" y="3246110"/>
                <a:ext cx="1005944" cy="162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#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태그를 입력하세요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X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99" name="TextBox 98"/>
            <p:cNvSpPr txBox="1"/>
            <p:nvPr/>
          </p:nvSpPr>
          <p:spPr>
            <a:xfrm>
              <a:off x="592641" y="1053421"/>
              <a:ext cx="1539451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marL="0" marR="0" lvl="0" indent="0" algn="l" defTabSz="99057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noProof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이번주 워크샵 일정 공지합니다</a:t>
              </a:r>
              <a:r>
                <a:rPr kumimoji="0" lang="en-US" altLang="ko-KR" sz="800" noProof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</p:grpSp>
      <p:cxnSp>
        <p:nvCxnSpPr>
          <p:cNvPr id="114" name="직선 화살표 연결선 113"/>
          <p:cNvCxnSpPr/>
          <p:nvPr/>
        </p:nvCxnSpPr>
        <p:spPr>
          <a:xfrm>
            <a:off x="7921734" y="2577908"/>
            <a:ext cx="0" cy="1413067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extBox 114"/>
          <p:cNvSpPr txBox="1"/>
          <p:nvPr/>
        </p:nvSpPr>
        <p:spPr>
          <a:xfrm>
            <a:off x="4953000" y="3221623"/>
            <a:ext cx="1106641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그룹변경시 작성된 글 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리셋처리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6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en-US" altLang="ko-KR" sz="800" b="1" smtClean="0">
                <a:latin typeface="+mn-ea"/>
                <a:ea typeface="+mn-ea"/>
              </a:rPr>
              <a:t>FLOW : </a:t>
            </a:r>
            <a:r>
              <a:rPr lang="ko-KR" altLang="en-US" sz="800" b="1" smtClean="0">
                <a:latin typeface="+mn-ea"/>
                <a:ea typeface="+mn-ea"/>
              </a:rPr>
              <a:t>컨텐츠 등록 후 그룹 변경시도시</a:t>
            </a:r>
            <a:endParaRPr lang="ko-KR" altLang="en-US" sz="8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29667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8405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워크피드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88750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smtClean="0"/>
              <a:t>워크피드</a:t>
            </a:r>
            <a:r>
              <a:rPr kumimoji="1" lang="en-US" altLang="ko-KR" smtClean="0"/>
              <a:t>(1/3)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스퀘어 홈</a:t>
            </a:r>
            <a:r>
              <a:rPr lang="en-US" altLang="ko-KR" dirty="0"/>
              <a:t>&gt; </a:t>
            </a:r>
            <a:r>
              <a:rPr lang="ko-KR" altLang="en-US" dirty="0"/>
              <a:t>그룹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smtClean="0"/>
              <a:t>SQ5.2.1</a:t>
            </a:r>
            <a:endParaRPr lang="ko-KR" altLang="en-US" dirty="0"/>
          </a:p>
        </p:txBody>
      </p:sp>
      <p:graphicFrame>
        <p:nvGraphicFramePr>
          <p:cNvPr id="5" name="내용 개체 틀 18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72017742"/>
              </p:ext>
            </p:extLst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7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" name="Rectangle 477"/>
          <p:cNvSpPr/>
          <p:nvPr/>
        </p:nvSpPr>
        <p:spPr>
          <a:xfrm>
            <a:off x="6925831" y="5484435"/>
            <a:ext cx="2169137" cy="8520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4" name="Rectangle 382"/>
          <p:cNvSpPr/>
          <p:nvPr/>
        </p:nvSpPr>
        <p:spPr>
          <a:xfrm>
            <a:off x="6905666" y="1124314"/>
            <a:ext cx="2223679" cy="550800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42127" y="86576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6" name="타원 65"/>
          <p:cNvSpPr>
            <a:spLocks noChangeAspect="1"/>
          </p:cNvSpPr>
          <p:nvPr/>
        </p:nvSpPr>
        <p:spPr>
          <a:xfrm>
            <a:off x="6887667" y="96907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557327"/>
            <a:chOff x="5995939" y="5903574"/>
            <a:chExt cx="2088322" cy="55732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3455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06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8" name="Rectangle 381"/>
          <p:cNvSpPr/>
          <p:nvPr/>
        </p:nvSpPr>
        <p:spPr>
          <a:xfrm>
            <a:off x="1919667" y="775925"/>
            <a:ext cx="1619180" cy="25987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타원 179"/>
          <p:cNvSpPr>
            <a:spLocks noChangeAspect="1"/>
          </p:cNvSpPr>
          <p:nvPr/>
        </p:nvSpPr>
        <p:spPr>
          <a:xfrm>
            <a:off x="1826484" y="70084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9280562"/>
              </p:ext>
            </p:extLst>
          </p:nvPr>
        </p:nvGraphicFramePr>
        <p:xfrm>
          <a:off x="9290533" y="786383"/>
          <a:ext cx="2892502" cy="260485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그룹명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 영역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스퀘어 그룹 제목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즐겨찾기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즐겨찾기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버튼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토글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즐겨찾기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설정 시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즐겨찾는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메뉴에 해당 그룹 추가됨</a:t>
                      </a: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즐겨찾기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해제 시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그룹이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즐겨찾는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메뉴에서 제거</a:t>
                      </a: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그룹 </a:t>
                      </a:r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피드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그룹 피드를 최신 등록순서로 제공하는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무한 스크롤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스크롤 시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하단에 페이지 상단으로 가기 버튼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공지사항 </a:t>
                      </a:r>
                      <a:r>
                        <a:rPr lang="ko-KR" altLang="en-US" sz="800" b="1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피드</a:t>
                      </a:r>
                      <a:r>
                        <a:rPr lang="ko-KR" altLang="en-US" sz="8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 영역</a:t>
                      </a:r>
                      <a:endParaRPr lang="en-US" altLang="ko-KR" sz="8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그룹내 등록내 공지사항이 있을 경우 최대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개까지 노출되며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제목 클릭시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2-2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영역에 해당 공지내용 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2-2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171450" algn="l" defTabSz="914400"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2-1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공지영역에서 선택한 피드가 출력되는 영역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선택된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개의 피드만 노출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687417"/>
                  </a:ext>
                </a:extLst>
              </a:tr>
            </a:tbl>
          </a:graphicData>
        </a:graphic>
      </p:graphicFrame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Rectangle 185"/>
          <p:cNvSpPr/>
          <p:nvPr/>
        </p:nvSpPr>
        <p:spPr>
          <a:xfrm>
            <a:off x="1925655" y="5967903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0" name="텍스트 상자 31"/>
          <p:cNvSpPr txBox="1"/>
          <p:nvPr/>
        </p:nvSpPr>
        <p:spPr>
          <a:xfrm>
            <a:off x="2383314" y="609924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91" name="그룹 400"/>
          <p:cNvGrpSpPr/>
          <p:nvPr/>
        </p:nvGrpSpPr>
        <p:grpSpPr>
          <a:xfrm>
            <a:off x="2040522" y="6088776"/>
            <a:ext cx="229236" cy="229194"/>
            <a:chOff x="2625629" y="3735853"/>
            <a:chExt cx="276891" cy="276839"/>
          </a:xfrm>
        </p:grpSpPr>
        <p:sp>
          <p:nvSpPr>
            <p:cNvPr id="19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9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92" name="텍스트 상자 31"/>
          <p:cNvSpPr txBox="1"/>
          <p:nvPr/>
        </p:nvSpPr>
        <p:spPr>
          <a:xfrm>
            <a:off x="2383314" y="623710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3" name="텍스트 상자 31"/>
          <p:cNvSpPr txBox="1"/>
          <p:nvPr/>
        </p:nvSpPr>
        <p:spPr>
          <a:xfrm>
            <a:off x="2040522" y="6421856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6" name="Rectangle 279"/>
          <p:cNvSpPr/>
          <p:nvPr/>
        </p:nvSpPr>
        <p:spPr>
          <a:xfrm>
            <a:off x="1904114" y="4350848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1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 </a:t>
            </a:r>
            <a:r>
              <a:rPr kumimoji="1" lang="en-US" altLang="ko-KR" sz="700" b="1" dirty="0" smtClean="0">
                <a:latin typeface="+mn-ea"/>
                <a:ea typeface="+mn-ea"/>
              </a:rPr>
              <a:t>4</a:t>
            </a:r>
            <a:r>
              <a:rPr kumimoji="1" lang="ko-KR" altLang="en-US" sz="700" b="1" dirty="0" smtClean="0">
                <a:latin typeface="+mn-ea"/>
                <a:ea typeface="+mn-ea"/>
              </a:rPr>
              <a:t> </a:t>
            </a:r>
            <a:endParaRPr kumimoji="1" lang="ko-KR" altLang="en-US" sz="700" b="1" dirty="0">
              <a:latin typeface="+mn-ea"/>
              <a:ea typeface="+mn-ea"/>
            </a:endParaRPr>
          </a:p>
        </p:txBody>
      </p:sp>
      <p:sp>
        <p:nvSpPr>
          <p:cNvPr id="212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216" name="Picture 280"/>
          <p:cNvPicPr>
            <a:picLocks noChangeAspect="1"/>
          </p:cNvPicPr>
          <p:nvPr/>
        </p:nvPicPr>
        <p:blipFill rotWithShape="1">
          <a:blip r:embed="rId3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233" name="텍스트 상자 31"/>
          <p:cNvSpPr txBox="1"/>
          <p:nvPr/>
        </p:nvSpPr>
        <p:spPr>
          <a:xfrm>
            <a:off x="2421414" y="446287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34" name="그룹 400"/>
          <p:cNvGrpSpPr/>
          <p:nvPr/>
        </p:nvGrpSpPr>
        <p:grpSpPr>
          <a:xfrm>
            <a:off x="2078622" y="4452402"/>
            <a:ext cx="229236" cy="229194"/>
            <a:chOff x="2625629" y="3735853"/>
            <a:chExt cx="276891" cy="276839"/>
          </a:xfrm>
        </p:grpSpPr>
        <p:sp>
          <p:nvSpPr>
            <p:cNvPr id="23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37" name="텍스트 상자 31"/>
          <p:cNvSpPr txBox="1"/>
          <p:nvPr/>
        </p:nvSpPr>
        <p:spPr>
          <a:xfrm>
            <a:off x="2421414" y="460072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43" name="직선 연결선[R] 33"/>
          <p:cNvCxnSpPr/>
          <p:nvPr/>
        </p:nvCxnSpPr>
        <p:spPr>
          <a:xfrm>
            <a:off x="2052416" y="551265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그룹 24"/>
          <p:cNvGrpSpPr/>
          <p:nvPr/>
        </p:nvGrpSpPr>
        <p:grpSpPr>
          <a:xfrm>
            <a:off x="2067486" y="4779356"/>
            <a:ext cx="4700930" cy="644971"/>
            <a:chOff x="2067486" y="4286437"/>
            <a:chExt cx="4700930" cy="644971"/>
          </a:xfrm>
        </p:grpSpPr>
        <p:sp>
          <p:nvSpPr>
            <p:cNvPr id="238" name="Rectangle 177"/>
            <p:cNvSpPr/>
            <p:nvPr/>
          </p:nvSpPr>
          <p:spPr>
            <a:xfrm>
              <a:off x="2067486" y="4472532"/>
              <a:ext cx="4700930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grpSp>
          <p:nvGrpSpPr>
            <p:cNvPr id="239" name="Group 11"/>
            <p:cNvGrpSpPr/>
            <p:nvPr/>
          </p:nvGrpSpPr>
          <p:grpSpPr>
            <a:xfrm>
              <a:off x="2484729" y="4565835"/>
              <a:ext cx="1791250" cy="272271"/>
              <a:chOff x="2887384" y="5664055"/>
              <a:chExt cx="1791250" cy="272271"/>
            </a:xfrm>
          </p:grpSpPr>
          <p:sp>
            <p:nvSpPr>
              <p:cNvPr id="240" name="텍스트 상자 31"/>
              <p:cNvSpPr txBox="1"/>
              <p:nvPr/>
            </p:nvSpPr>
            <p:spPr>
              <a:xfrm>
                <a:off x="2892510" y="5664055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A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서비스 </a:t>
                </a:r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TF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팀 중간회식</a:t>
                </a:r>
                <a:endParaRPr kumimoji="1" lang="ko-KR" altLang="en-US" sz="7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1" name="텍스트 상자 31"/>
              <p:cNvSpPr txBox="1"/>
              <p:nvPr/>
            </p:nvSpPr>
            <p:spPr>
              <a:xfrm>
                <a:off x="2887384" y="5807060"/>
                <a:ext cx="1621213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2017.09.30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(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금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)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오후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7:00-8:00</a:t>
                </a:r>
                <a:endParaRPr kumimoji="1"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42" name="Freeform 33"/>
            <p:cNvSpPr>
              <a:spLocks noEditPoints="1"/>
            </p:cNvSpPr>
            <p:nvPr/>
          </p:nvSpPr>
          <p:spPr bwMode="auto">
            <a:xfrm>
              <a:off x="2194138" y="4599136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44" name="텍스트 상자 31"/>
            <p:cNvSpPr txBox="1"/>
            <p:nvPr/>
          </p:nvSpPr>
          <p:spPr>
            <a:xfrm>
              <a:off x="2078622" y="4286437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팀 중간회식</a:t>
              </a:r>
              <a:r>
                <a: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일정을 등록했습니다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45" name="Freeform 14"/>
            <p:cNvSpPr>
              <a:spLocks noChangeArrowheads="1"/>
            </p:cNvSpPr>
            <p:nvPr/>
          </p:nvSpPr>
          <p:spPr bwMode="auto">
            <a:xfrm rot="5400000">
              <a:off x="6529129" y="4666775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253" name="Freeform 26"/>
          <p:cNvSpPr>
            <a:spLocks noChangeAspect="1" noChangeArrowheads="1"/>
          </p:cNvSpPr>
          <p:nvPr/>
        </p:nvSpPr>
        <p:spPr bwMode="auto">
          <a:xfrm flipH="1">
            <a:off x="6726683" y="446715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4" name="Freeform 26"/>
          <p:cNvSpPr>
            <a:spLocks noChangeAspect="1" noChangeArrowheads="1"/>
          </p:cNvSpPr>
          <p:nvPr/>
        </p:nvSpPr>
        <p:spPr bwMode="auto">
          <a:xfrm flipH="1">
            <a:off x="6688583" y="6101815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2" name="Freeform 25"/>
          <p:cNvSpPr>
            <a:spLocks noChangeAspect="1" noEditPoints="1"/>
          </p:cNvSpPr>
          <p:nvPr/>
        </p:nvSpPr>
        <p:spPr bwMode="auto">
          <a:xfrm>
            <a:off x="6535161" y="446273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3" name="Freeform 25"/>
          <p:cNvSpPr>
            <a:spLocks noChangeAspect="1" noEditPoints="1"/>
          </p:cNvSpPr>
          <p:nvPr/>
        </p:nvSpPr>
        <p:spPr bwMode="auto">
          <a:xfrm>
            <a:off x="6497061" y="610257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292" name="그룹 291"/>
          <p:cNvGrpSpPr/>
          <p:nvPr/>
        </p:nvGrpSpPr>
        <p:grpSpPr>
          <a:xfrm>
            <a:off x="9608024" y="6381622"/>
            <a:ext cx="396000" cy="396000"/>
            <a:chOff x="10903135" y="6381622"/>
            <a:chExt cx="396000" cy="396000"/>
          </a:xfrm>
        </p:grpSpPr>
        <p:sp>
          <p:nvSpPr>
            <p:cNvPr id="293" name="Oval 4"/>
            <p:cNvSpPr>
              <a:spLocks noChangeAspect="1"/>
            </p:cNvSpPr>
            <p:nvPr/>
          </p:nvSpPr>
          <p:spPr>
            <a:xfrm>
              <a:off x="10903135" y="6381622"/>
              <a:ext cx="396000" cy="396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0" tIns="108000" rIns="0" bIns="0" rtlCol="0" anchor="ctr"/>
            <a:lstStyle/>
            <a:p>
              <a:pPr marL="0" marR="0" lvl="0" indent="0" algn="ctr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</a:rPr>
                <a:t>TOP</a:t>
              </a:r>
            </a:p>
          </p:txBody>
        </p:sp>
        <p:sp>
          <p:nvSpPr>
            <p:cNvPr id="294" name="Freeform 24"/>
            <p:cNvSpPr>
              <a:spLocks noChangeAspect="1" noChangeArrowheads="1"/>
            </p:cNvSpPr>
            <p:nvPr/>
          </p:nvSpPr>
          <p:spPr bwMode="auto">
            <a:xfrm>
              <a:off x="11045288" y="6464107"/>
              <a:ext cx="111694" cy="69607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295" name="텍스트 상자 31"/>
          <p:cNvSpPr txBox="1"/>
          <p:nvPr/>
        </p:nvSpPr>
        <p:spPr>
          <a:xfrm>
            <a:off x="10071725" y="6533869"/>
            <a:ext cx="921227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88900" indent="-88900" defTabSz="576818" fontAlgn="auto" latinLnBrk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페이지 상단으로 </a:t>
            </a:r>
            <a: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/>
            </a:r>
            <a:b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</a:b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가기 버튼</a:t>
            </a:r>
            <a:endParaRPr lang="ko-KR" altLang="en-US" sz="75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296" name="타원 295"/>
          <p:cNvSpPr>
            <a:spLocks noChangeAspect="1"/>
          </p:cNvSpPr>
          <p:nvPr/>
        </p:nvSpPr>
        <p:spPr>
          <a:xfrm>
            <a:off x="10052297" y="634015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97" name="그룹 217"/>
          <p:cNvGrpSpPr/>
          <p:nvPr/>
        </p:nvGrpSpPr>
        <p:grpSpPr>
          <a:xfrm>
            <a:off x="8945967" y="1092639"/>
            <a:ext cx="434524" cy="5615971"/>
            <a:chOff x="7748271" y="3713164"/>
            <a:chExt cx="434524" cy="3395084"/>
          </a:xfrm>
        </p:grpSpPr>
        <p:grpSp>
          <p:nvGrpSpPr>
            <p:cNvPr id="298" name="그룹 7"/>
            <p:cNvGrpSpPr/>
            <p:nvPr/>
          </p:nvGrpSpPr>
          <p:grpSpPr>
            <a:xfrm>
              <a:off x="7748271" y="3713164"/>
              <a:ext cx="293725" cy="3395084"/>
              <a:chOff x="6151409" y="4328779"/>
              <a:chExt cx="948871" cy="3203495"/>
            </a:xfrm>
          </p:grpSpPr>
          <p:cxnSp>
            <p:nvCxnSpPr>
              <p:cNvPr id="300" name="직선 연결선[R] 222"/>
              <p:cNvCxnSpPr/>
              <p:nvPr/>
            </p:nvCxnSpPr>
            <p:spPr>
              <a:xfrm>
                <a:off x="6952525" y="4328779"/>
                <a:ext cx="0" cy="3203495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[R] 85"/>
              <p:cNvCxnSpPr/>
              <p:nvPr/>
            </p:nvCxnSpPr>
            <p:spPr>
              <a:xfrm>
                <a:off x="6151409" y="4328779"/>
                <a:ext cx="948871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[R] 86"/>
              <p:cNvCxnSpPr/>
              <p:nvPr/>
            </p:nvCxnSpPr>
            <p:spPr>
              <a:xfrm>
                <a:off x="6215663" y="7532274"/>
                <a:ext cx="884617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9" name="TextBox 1173"/>
            <p:cNvSpPr txBox="1"/>
            <p:nvPr/>
          </p:nvSpPr>
          <p:spPr>
            <a:xfrm rot="5400000">
              <a:off x="7731870" y="5262347"/>
              <a:ext cx="68640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i="1" dirty="0" smtClean="0">
                  <a:solidFill>
                    <a:srgbClr val="FF2F92"/>
                  </a:solidFill>
                  <a:latin typeface="Malgun Gothic" charset="0"/>
                  <a:ea typeface="Malgun Gothic" charset="0"/>
                  <a:cs typeface="Malgun Gothic" charset="0"/>
                </a:rPr>
                <a:t>Scroll Area</a:t>
              </a:r>
              <a:endParaRPr lang="en-US" sz="800" i="1" dirty="0">
                <a:solidFill>
                  <a:srgbClr val="FF2F92"/>
                </a:solidFill>
                <a:latin typeface="Malgun Gothic" charset="0"/>
                <a:ea typeface="Malgun Gothic" charset="0"/>
                <a:cs typeface="Malgun Gothic" charset="0"/>
              </a:endParaRPr>
            </a:p>
          </p:txBody>
        </p:sp>
      </p:grp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307" name="그룹 30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0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10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11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9688348" y="5293679"/>
            <a:ext cx="1547466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공개는 구성원인 사람만 글쓰기 가능</a:t>
            </a:r>
            <a:endParaRPr lang="en-US" altLang="ko-KR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8" name="Rectangle 202"/>
          <p:cNvSpPr/>
          <p:nvPr/>
        </p:nvSpPr>
        <p:spPr>
          <a:xfrm>
            <a:off x="1939939" y="227668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2397599" y="240686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00" name="그룹 400"/>
          <p:cNvGrpSpPr/>
          <p:nvPr/>
        </p:nvGrpSpPr>
        <p:grpSpPr>
          <a:xfrm>
            <a:off x="2054807" y="2396484"/>
            <a:ext cx="229236" cy="227167"/>
            <a:chOff x="2625629" y="3735853"/>
            <a:chExt cx="276891" cy="276839"/>
          </a:xfrm>
        </p:grpSpPr>
        <p:sp>
          <p:nvSpPr>
            <p:cNvPr id="23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2" name="Picture 157" descr="man-user (1).png"/>
            <p:cNvPicPr>
              <a:picLocks noChangeAspect="1"/>
            </p:cNvPicPr>
            <p:nvPr/>
          </p:nvPicPr>
          <p:blipFill>
            <a:blip r:embed="rId4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01" name="텍스트 상자 31"/>
          <p:cNvSpPr txBox="1"/>
          <p:nvPr/>
        </p:nvSpPr>
        <p:spPr>
          <a:xfrm>
            <a:off x="2397599" y="254349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2054807" y="274675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lvl="0"/>
            <a:r>
              <a:rPr lang="en-US" altLang="ko-KR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r>
              <a:rPr lang="ko-KR" altLang="en-US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통신사 프로젝트팀 회식 있습니다</a:t>
            </a:r>
            <a:r>
              <a:rPr lang="en-US" altLang="ko-KR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Rounded Rectangle 245"/>
          <p:cNvSpPr/>
          <p:nvPr/>
        </p:nvSpPr>
        <p:spPr>
          <a:xfrm>
            <a:off x="2054807" y="295193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5" name="Rounded Rectangle 246"/>
          <p:cNvSpPr/>
          <p:nvPr/>
        </p:nvSpPr>
        <p:spPr>
          <a:xfrm>
            <a:off x="2540248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06" name="Rounded Rectangle 247"/>
          <p:cNvSpPr/>
          <p:nvPr/>
        </p:nvSpPr>
        <p:spPr>
          <a:xfrm>
            <a:off x="2899804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07" name="직선 연결선[R] 33"/>
          <p:cNvCxnSpPr/>
          <p:nvPr/>
        </p:nvCxnSpPr>
        <p:spPr>
          <a:xfrm>
            <a:off x="2028601" y="318199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" name="Freeform 26"/>
          <p:cNvSpPr>
            <a:spLocks noChangeAspect="1" noChangeArrowheads="1"/>
          </p:cNvSpPr>
          <p:nvPr/>
        </p:nvSpPr>
        <p:spPr bwMode="auto">
          <a:xfrm flipH="1">
            <a:off x="6702868" y="240532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1" name="Freeform 25"/>
          <p:cNvSpPr>
            <a:spLocks noChangeAspect="1" noEditPoints="1"/>
          </p:cNvSpPr>
          <p:nvPr/>
        </p:nvSpPr>
        <p:spPr bwMode="auto">
          <a:xfrm>
            <a:off x="6511346" y="239831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2040056" y="3219147"/>
            <a:ext cx="927446" cy="115755"/>
            <a:chOff x="2063871" y="2807721"/>
            <a:chExt cx="927446" cy="115755"/>
          </a:xfrm>
        </p:grpSpPr>
        <p:grpSp>
          <p:nvGrpSpPr>
            <p:cNvPr id="336" name="그룹 335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38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40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47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48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41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42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43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44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5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6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39" name="그림 338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37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9" name="그룹 348"/>
          <p:cNvGrpSpPr/>
          <p:nvPr/>
        </p:nvGrpSpPr>
        <p:grpSpPr>
          <a:xfrm>
            <a:off x="2063871" y="5570697"/>
            <a:ext cx="927446" cy="115755"/>
            <a:chOff x="2063871" y="2807721"/>
            <a:chExt cx="927446" cy="115755"/>
          </a:xfrm>
        </p:grpSpPr>
        <p:grpSp>
          <p:nvGrpSpPr>
            <p:cNvPr id="350" name="그룹 349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52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54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61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62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55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56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57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58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59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60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53" name="그림 352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51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9" name="그룹 368"/>
          <p:cNvGrpSpPr/>
          <p:nvPr/>
        </p:nvGrpSpPr>
        <p:grpSpPr>
          <a:xfrm>
            <a:off x="5841650" y="1256584"/>
            <a:ext cx="889785" cy="145888"/>
            <a:chOff x="5763766" y="-232900"/>
            <a:chExt cx="1144429" cy="187639"/>
          </a:xfrm>
        </p:grpSpPr>
        <p:sp>
          <p:nvSpPr>
            <p:cNvPr id="370" name="Freeform 17"/>
            <p:cNvSpPr>
              <a:spLocks noChangeArrowheads="1"/>
            </p:cNvSpPr>
            <p:nvPr/>
          </p:nvSpPr>
          <p:spPr bwMode="auto">
            <a:xfrm>
              <a:off x="5763766" y="-214900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71" name="Freeform 33"/>
            <p:cNvSpPr>
              <a:spLocks noEditPoints="1"/>
            </p:cNvSpPr>
            <p:nvPr/>
          </p:nvSpPr>
          <p:spPr bwMode="auto">
            <a:xfrm>
              <a:off x="6236907" y="-214900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72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3023" y="-214900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3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3551" y="-232900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4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8195" y="-22526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375" name="Straight Connector 422"/>
          <p:cNvCxnSpPr/>
          <p:nvPr/>
        </p:nvCxnSpPr>
        <p:spPr>
          <a:xfrm>
            <a:off x="1933588" y="219167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모서리가 둥근 직사각형 57"/>
          <p:cNvSpPr/>
          <p:nvPr/>
        </p:nvSpPr>
        <p:spPr>
          <a:xfrm>
            <a:off x="1996708" y="1739169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76" name="모서리가 둥근 직사각형 375"/>
          <p:cNvSpPr/>
          <p:nvPr/>
        </p:nvSpPr>
        <p:spPr>
          <a:xfrm>
            <a:off x="1996708" y="1890895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77" name="모서리가 둥근 직사각형 376"/>
          <p:cNvSpPr/>
          <p:nvPr/>
        </p:nvSpPr>
        <p:spPr>
          <a:xfrm>
            <a:off x="1996708" y="2038266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231181" y="1696878"/>
            <a:ext cx="166608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11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월 통신사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회식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78" name="TextBox 377"/>
          <p:cNvSpPr txBox="1"/>
          <p:nvPr/>
        </p:nvSpPr>
        <p:spPr>
          <a:xfrm>
            <a:off x="2231181" y="1846963"/>
            <a:ext cx="4598407" cy="200055"/>
          </a:xfrm>
          <a:prstGeom prst="rect">
            <a:avLst/>
          </a:prstGeom>
          <a:noFill/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워크샵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남겨주세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79" name="TextBox 378"/>
          <p:cNvSpPr txBox="1"/>
          <p:nvPr/>
        </p:nvSpPr>
        <p:spPr>
          <a:xfrm>
            <a:off x="2231181" y="1993619"/>
            <a:ext cx="1406402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TFT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1939939" y="3379587"/>
            <a:ext cx="4896001" cy="850249"/>
            <a:chOff x="1939939" y="3379587"/>
            <a:chExt cx="4896001" cy="850249"/>
          </a:xfrm>
        </p:grpSpPr>
        <p:sp>
          <p:nvSpPr>
            <p:cNvPr id="203" name="Rectangle 231"/>
            <p:cNvSpPr/>
            <p:nvPr/>
          </p:nvSpPr>
          <p:spPr>
            <a:xfrm>
              <a:off x="1939939" y="3379587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209" name="Group 7"/>
            <p:cNvGrpSpPr/>
            <p:nvPr/>
          </p:nvGrpSpPr>
          <p:grpSpPr>
            <a:xfrm>
              <a:off x="2054807" y="3792842"/>
              <a:ext cx="1612396" cy="227167"/>
              <a:chOff x="2478168" y="4026446"/>
              <a:chExt cx="1612396" cy="229194"/>
            </a:xfrm>
          </p:grpSpPr>
          <p:sp>
            <p:nvSpPr>
              <p:cNvPr id="226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27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229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230" name="Picture 157" descr="man-user (1).png"/>
                <p:cNvPicPr>
                  <a:picLocks noChangeAspect="1"/>
                </p:cNvPicPr>
                <p:nvPr/>
              </p:nvPicPr>
              <p:blipFill>
                <a:blip r:embed="rId4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228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13" name="직선 연결선[R] 33"/>
            <p:cNvCxnSpPr/>
            <p:nvPr/>
          </p:nvCxnSpPr>
          <p:spPr>
            <a:xfrm>
              <a:off x="2028601" y="3705985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Rectangle 313"/>
            <p:cNvSpPr/>
            <p:nvPr/>
          </p:nvSpPr>
          <p:spPr>
            <a:xfrm>
              <a:off x="1939940" y="4097549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215" name="텍스트 상자 31"/>
            <p:cNvSpPr txBox="1"/>
            <p:nvPr/>
          </p:nvSpPr>
          <p:spPr>
            <a:xfrm>
              <a:off x="4117575" y="4111345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전체 댓글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380" name="그룹 379"/>
            <p:cNvGrpSpPr/>
            <p:nvPr/>
          </p:nvGrpSpPr>
          <p:grpSpPr>
            <a:xfrm>
              <a:off x="2025177" y="3446799"/>
              <a:ext cx="4675215" cy="198000"/>
              <a:chOff x="7341238" y="3747588"/>
              <a:chExt cx="4675215" cy="198000"/>
            </a:xfrm>
          </p:grpSpPr>
          <p:sp>
            <p:nvSpPr>
              <p:cNvPr id="381" name="Rectangle 321"/>
              <p:cNvSpPr/>
              <p:nvPr/>
            </p:nvSpPr>
            <p:spPr>
              <a:xfrm>
                <a:off x="7341238" y="3747588"/>
                <a:ext cx="4262914" cy="1980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의견을 입력하세요</a:t>
                </a:r>
                <a:endParaRPr 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82" name="Rounded Rectangle 616"/>
              <p:cNvSpPr/>
              <p:nvPr/>
            </p:nvSpPr>
            <p:spPr>
              <a:xfrm>
                <a:off x="11656453" y="3755850"/>
                <a:ext cx="360000" cy="180000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b="1" dirty="0" smtClean="0"/>
                  <a:t>등록</a:t>
                </a:r>
                <a:endParaRPr lang="en-US" sz="700" b="1" dirty="0"/>
              </a:p>
            </p:txBody>
          </p:sp>
          <p:sp>
            <p:nvSpPr>
              <p:cNvPr id="383" name="Freeform 17"/>
              <p:cNvSpPr>
                <a:spLocks noChangeArrowheads="1"/>
              </p:cNvSpPr>
              <p:nvPr/>
            </p:nvSpPr>
            <p:spPr bwMode="auto">
              <a:xfrm>
                <a:off x="11228438" y="3790180"/>
                <a:ext cx="125954" cy="125954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pic>
            <p:nvPicPr>
              <p:cNvPr id="384" name="Picture 2" descr="C:\Users\Administrator\Downloads\paperclip.png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4459" y="3790180"/>
                <a:ext cx="125954" cy="12595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386" name="Rectangle 315"/>
          <p:cNvSpPr/>
          <p:nvPr/>
        </p:nvSpPr>
        <p:spPr>
          <a:xfrm>
            <a:off x="1878354" y="1522945"/>
            <a:ext cx="5009313" cy="2769859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57" name="직선 연결선 56"/>
          <p:cNvCxnSpPr/>
          <p:nvPr/>
        </p:nvCxnSpPr>
        <p:spPr>
          <a:xfrm>
            <a:off x="2277898" y="2182368"/>
            <a:ext cx="1304604" cy="0"/>
          </a:xfrm>
          <a:prstGeom prst="line">
            <a:avLst/>
          </a:prstGeom>
          <a:ln w="3175">
            <a:solidFill>
              <a:srgbClr val="0070C0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화살표 연결선 61"/>
          <p:cNvCxnSpPr/>
          <p:nvPr/>
        </p:nvCxnSpPr>
        <p:spPr>
          <a:xfrm>
            <a:off x="3467100" y="2187426"/>
            <a:ext cx="0" cy="219587"/>
          </a:xfrm>
          <a:prstGeom prst="straightConnector1">
            <a:avLst/>
          </a:prstGeom>
          <a:ln w="3175">
            <a:solidFill>
              <a:srgbClr val="0070C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Rectangle 315"/>
          <p:cNvSpPr/>
          <p:nvPr/>
        </p:nvSpPr>
        <p:spPr>
          <a:xfrm>
            <a:off x="1945029" y="2275421"/>
            <a:ext cx="4890911" cy="1953680"/>
          </a:xfrm>
          <a:prstGeom prst="rect">
            <a:avLst/>
          </a:prstGeom>
          <a:noFill/>
          <a:ln w="3175">
            <a:solidFill>
              <a:srgbClr val="FF0000"/>
            </a:solidFill>
            <a:prstDash val="soli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46" name="타원 245"/>
          <p:cNvSpPr>
            <a:spLocks noChangeAspect="1"/>
          </p:cNvSpPr>
          <p:nvPr/>
        </p:nvSpPr>
        <p:spPr>
          <a:xfrm>
            <a:off x="5705605" y="219206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7" name="타원 286"/>
          <p:cNvSpPr>
            <a:spLocks noChangeAspect="1"/>
          </p:cNvSpPr>
          <p:nvPr/>
        </p:nvSpPr>
        <p:spPr>
          <a:xfrm>
            <a:off x="1781305" y="143958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9168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내용 개체 틀 18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06558863"/>
              </p:ext>
            </p:extLst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글 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" name="Rectangle 477"/>
          <p:cNvSpPr/>
          <p:nvPr/>
        </p:nvSpPr>
        <p:spPr>
          <a:xfrm>
            <a:off x="6925831" y="5484435"/>
            <a:ext cx="2169137" cy="111484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4" name="Rectangle 382"/>
          <p:cNvSpPr/>
          <p:nvPr/>
        </p:nvSpPr>
        <p:spPr>
          <a:xfrm>
            <a:off x="6905666" y="1124314"/>
            <a:ext cx="2223679" cy="550800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5" name="타원 54"/>
          <p:cNvSpPr>
            <a:spLocks noChangeAspect="1"/>
          </p:cNvSpPr>
          <p:nvPr/>
        </p:nvSpPr>
        <p:spPr>
          <a:xfrm>
            <a:off x="6922498" y="124552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6" name="타원 65"/>
          <p:cNvSpPr>
            <a:spLocks noChangeAspect="1"/>
          </p:cNvSpPr>
          <p:nvPr/>
        </p:nvSpPr>
        <p:spPr>
          <a:xfrm>
            <a:off x="6887667" y="96907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950447"/>
            <a:chOff x="5995939" y="5903574"/>
            <a:chExt cx="2088322" cy="95044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  <a:endParaRPr lang="en-US" altLang="ko-KR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96" name="타원 95"/>
          <p:cNvSpPr>
            <a:spLocks noChangeAspect="1"/>
          </p:cNvSpPr>
          <p:nvPr/>
        </p:nvSpPr>
        <p:spPr>
          <a:xfrm>
            <a:off x="6933699" y="326791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7" name="타원 96"/>
          <p:cNvSpPr>
            <a:spLocks noChangeAspect="1"/>
          </p:cNvSpPr>
          <p:nvPr/>
        </p:nvSpPr>
        <p:spPr>
          <a:xfrm>
            <a:off x="6931195" y="4215422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8" name="타원 97"/>
          <p:cNvSpPr>
            <a:spLocks noChangeAspect="1"/>
          </p:cNvSpPr>
          <p:nvPr/>
        </p:nvSpPr>
        <p:spPr>
          <a:xfrm>
            <a:off x="6931195" y="5420097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5469127"/>
              </p:ext>
            </p:extLst>
          </p:nvPr>
        </p:nvGraphicFramePr>
        <p:xfrm>
          <a:off x="9290533" y="786383"/>
          <a:ext cx="2892502" cy="441333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그룹 정보 영역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해당 그룹의 기본정보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업데이트 내용 등을 제공하는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그룹 기본정보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그룹 멤버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그룹 일정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그룹 인기태그 제공</a:t>
                      </a:r>
                      <a:endParaRPr lang="en-US" sz="800" dirty="0" smtClean="0"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3-1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그룹 기본정보</a:t>
                      </a:r>
                      <a:endParaRPr lang="en-US" altLang="ko-KR" sz="800" b="1" dirty="0" smtClean="0"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해당 그룹 대표이미지 및 그룹명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개설일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소개글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설정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공개 그룹인 경우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공개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뱃지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설정 버튼 선택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관리자일 경우 그룹 관리 기능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멤버일 경우 알림 설정 가능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3-2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그룹 멤버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참여하는 멤버 정보 서머리 및 그룹 멤버 진입점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멤버 페이지 진입점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참여 멤버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생성자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관리자 정보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전체 멤버 보기 버튼 선택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멤버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탭 화면으로 전환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3-3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그룹 일정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해당 그룹의 공유 일정 서머리 및 그룹 일정 진입점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일정 진입점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현재 기준 가장 가까운 일정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개별 일정 선택 시 일정 상세 새창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전체 일정 보기 버튼 선택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일정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탭 화면으로 전환정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3-4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그룹 인기 태그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해당 그룹 내 피드에서 사용된 태그 목록을 빈도 높은 순으로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제공 갯수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(GUI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협의 필요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 시 선택한 태그의 해당 그룹 내 검색 결과 제공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2" name="그룹 291"/>
          <p:cNvGrpSpPr/>
          <p:nvPr/>
        </p:nvGrpSpPr>
        <p:grpSpPr>
          <a:xfrm>
            <a:off x="10296470" y="5242223"/>
            <a:ext cx="396000" cy="396000"/>
            <a:chOff x="10903135" y="6381622"/>
            <a:chExt cx="396000" cy="396000"/>
          </a:xfrm>
        </p:grpSpPr>
        <p:sp>
          <p:nvSpPr>
            <p:cNvPr id="293" name="Oval 4"/>
            <p:cNvSpPr>
              <a:spLocks noChangeAspect="1"/>
            </p:cNvSpPr>
            <p:nvPr/>
          </p:nvSpPr>
          <p:spPr>
            <a:xfrm>
              <a:off x="10903135" y="6381622"/>
              <a:ext cx="396000" cy="396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0" tIns="108000" rIns="0" bIns="0" rtlCol="0" anchor="ctr"/>
            <a:lstStyle/>
            <a:p>
              <a:pPr marL="0" marR="0" lvl="0" indent="0" algn="ctr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</a:rPr>
                <a:t>TOP</a:t>
              </a:r>
            </a:p>
          </p:txBody>
        </p:sp>
        <p:sp>
          <p:nvSpPr>
            <p:cNvPr id="294" name="Freeform 24"/>
            <p:cNvSpPr>
              <a:spLocks noChangeAspect="1" noChangeArrowheads="1"/>
            </p:cNvSpPr>
            <p:nvPr/>
          </p:nvSpPr>
          <p:spPr bwMode="auto">
            <a:xfrm>
              <a:off x="11045288" y="6464107"/>
              <a:ext cx="111694" cy="69607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295" name="텍스트 상자 31"/>
          <p:cNvSpPr txBox="1"/>
          <p:nvPr/>
        </p:nvSpPr>
        <p:spPr>
          <a:xfrm>
            <a:off x="9375243" y="5421188"/>
            <a:ext cx="921227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88900" indent="-88900" defTabSz="576818" fontAlgn="auto" latinLnBrk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페이지 상단으로 </a:t>
            </a:r>
            <a: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/>
            </a:r>
            <a:br>
              <a:rPr lang="en-US" altLang="ko-KR" sz="75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</a:br>
            <a:r>
              <a:rPr lang="ko-KR" altLang="en-US" sz="75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가기 버튼</a:t>
            </a:r>
            <a:endParaRPr lang="ko-KR" altLang="en-US" sz="75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296" name="타원 295"/>
          <p:cNvSpPr>
            <a:spLocks noChangeAspect="1"/>
          </p:cNvSpPr>
          <p:nvPr/>
        </p:nvSpPr>
        <p:spPr>
          <a:xfrm>
            <a:off x="9355815" y="522747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97" name="그룹 217"/>
          <p:cNvGrpSpPr/>
          <p:nvPr/>
        </p:nvGrpSpPr>
        <p:grpSpPr>
          <a:xfrm>
            <a:off x="8945967" y="1092639"/>
            <a:ext cx="434524" cy="5615971"/>
            <a:chOff x="7748271" y="3713164"/>
            <a:chExt cx="434524" cy="3395084"/>
          </a:xfrm>
        </p:grpSpPr>
        <p:grpSp>
          <p:nvGrpSpPr>
            <p:cNvPr id="298" name="그룹 7"/>
            <p:cNvGrpSpPr/>
            <p:nvPr/>
          </p:nvGrpSpPr>
          <p:grpSpPr>
            <a:xfrm>
              <a:off x="7748271" y="3713164"/>
              <a:ext cx="293725" cy="3395084"/>
              <a:chOff x="6151409" y="4328779"/>
              <a:chExt cx="948871" cy="3203495"/>
            </a:xfrm>
          </p:grpSpPr>
          <p:cxnSp>
            <p:nvCxnSpPr>
              <p:cNvPr id="300" name="직선 연결선[R] 222"/>
              <p:cNvCxnSpPr/>
              <p:nvPr/>
            </p:nvCxnSpPr>
            <p:spPr>
              <a:xfrm>
                <a:off x="6952525" y="4328779"/>
                <a:ext cx="0" cy="3203495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[R] 85"/>
              <p:cNvCxnSpPr/>
              <p:nvPr/>
            </p:nvCxnSpPr>
            <p:spPr>
              <a:xfrm>
                <a:off x="6151409" y="4328779"/>
                <a:ext cx="948871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[R] 86"/>
              <p:cNvCxnSpPr/>
              <p:nvPr/>
            </p:nvCxnSpPr>
            <p:spPr>
              <a:xfrm>
                <a:off x="6215663" y="7532274"/>
                <a:ext cx="884617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9" name="TextBox 1173"/>
            <p:cNvSpPr txBox="1"/>
            <p:nvPr/>
          </p:nvSpPr>
          <p:spPr>
            <a:xfrm rot="5400000">
              <a:off x="7731870" y="5262347"/>
              <a:ext cx="68640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i="1" dirty="0" smtClean="0">
                  <a:solidFill>
                    <a:srgbClr val="FF2F92"/>
                  </a:solidFill>
                  <a:latin typeface="Malgun Gothic" charset="0"/>
                  <a:ea typeface="Malgun Gothic" charset="0"/>
                  <a:cs typeface="Malgun Gothic" charset="0"/>
                </a:rPr>
                <a:t>Scroll Area</a:t>
              </a:r>
              <a:endParaRPr lang="en-US" sz="800" i="1" dirty="0">
                <a:solidFill>
                  <a:srgbClr val="FF2F92"/>
                </a:solidFill>
                <a:latin typeface="Malgun Gothic" charset="0"/>
                <a:ea typeface="Malgun Gothic" charset="0"/>
                <a:cs typeface="Malgun Gothic" charset="0"/>
              </a:endParaRPr>
            </a:p>
          </p:txBody>
        </p:sp>
      </p:grp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351733" y="5956812"/>
            <a:ext cx="944737" cy="307777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스퀘어 글쓰기 버튼 </a:t>
            </a:r>
            <a:endParaRPr lang="en-US" altLang="ko-KR" sz="700" smtClean="0">
              <a:solidFill>
                <a:srgbClr val="FF0000"/>
              </a:solidFill>
              <a:latin typeface="+mn-ea"/>
              <a:ea typeface="+mn-ea"/>
            </a:endParaRPr>
          </a:p>
          <a:p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상단으로 띄우는 방식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9373658" y="6334623"/>
            <a:ext cx="1845624" cy="415498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구성원 추가 권한</a:t>
            </a:r>
            <a:endParaRPr lang="en-US" altLang="ko-KR" sz="700" smtClean="0">
              <a:solidFill>
                <a:srgbClr val="FF0000"/>
              </a:solidFill>
              <a:latin typeface="+mn-ea"/>
              <a:ea typeface="+mn-ea"/>
            </a:endParaRPr>
          </a:p>
          <a:p>
            <a:endParaRPr lang="en-US" altLang="ko-KR" sz="700">
              <a:solidFill>
                <a:srgbClr val="FF0000"/>
              </a:solidFill>
              <a:latin typeface="+mn-ea"/>
              <a:ea typeface="+mn-ea"/>
            </a:endParaRPr>
          </a:p>
          <a:p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사용자도 구성원 추가가 가능하도록 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UI 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수정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grpSp>
        <p:nvGrpSpPr>
          <p:cNvPr id="247" name="그룹 24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250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51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56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257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58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85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86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87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06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smtClean="0"/>
              <a:t>워크피드</a:t>
            </a:r>
            <a:r>
              <a:rPr kumimoji="1" lang="en-US" altLang="ko-KR" smtClean="0"/>
              <a:t>(2/3)</a:t>
            </a:r>
            <a:endParaRPr lang="ko-KR" altLang="en-US" dirty="0"/>
          </a:p>
        </p:txBody>
      </p:sp>
      <p:sp>
        <p:nvSpPr>
          <p:cNvPr id="307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스퀘어 홈</a:t>
            </a:r>
            <a:r>
              <a:rPr lang="en-US" altLang="ko-KR" dirty="0"/>
              <a:t>&gt; </a:t>
            </a:r>
            <a:r>
              <a:rPr lang="ko-KR" altLang="en-US" dirty="0"/>
              <a:t>그룹</a:t>
            </a:r>
          </a:p>
        </p:txBody>
      </p:sp>
      <p:sp>
        <p:nvSpPr>
          <p:cNvPr id="308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smtClean="0"/>
              <a:t>SQ5.2.1</a:t>
            </a:r>
            <a:endParaRPr lang="ko-KR" altLang="en-US" dirty="0"/>
          </a:p>
        </p:txBody>
      </p:sp>
      <p:sp>
        <p:nvSpPr>
          <p:cNvPr id="217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8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9" name="Rectangle 185"/>
          <p:cNvSpPr/>
          <p:nvPr/>
        </p:nvSpPr>
        <p:spPr>
          <a:xfrm>
            <a:off x="1963755" y="5975523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20" name="텍스트 상자 31"/>
          <p:cNvSpPr txBox="1"/>
          <p:nvPr/>
        </p:nvSpPr>
        <p:spPr>
          <a:xfrm>
            <a:off x="2421414" y="610686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21" name="그룹 400"/>
          <p:cNvGrpSpPr/>
          <p:nvPr/>
        </p:nvGrpSpPr>
        <p:grpSpPr>
          <a:xfrm>
            <a:off x="2078622" y="6096396"/>
            <a:ext cx="229236" cy="229194"/>
            <a:chOff x="2625629" y="3735853"/>
            <a:chExt cx="276891" cy="276839"/>
          </a:xfrm>
        </p:grpSpPr>
        <p:sp>
          <p:nvSpPr>
            <p:cNvPr id="222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23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24" name="텍스트 상자 31"/>
          <p:cNvSpPr txBox="1"/>
          <p:nvPr/>
        </p:nvSpPr>
        <p:spPr>
          <a:xfrm>
            <a:off x="2421414" y="624472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5" name="텍스트 상자 31"/>
          <p:cNvSpPr txBox="1"/>
          <p:nvPr/>
        </p:nvSpPr>
        <p:spPr>
          <a:xfrm>
            <a:off x="2078622" y="6429476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59" name="Rectangle 279"/>
          <p:cNvSpPr/>
          <p:nvPr/>
        </p:nvSpPr>
        <p:spPr>
          <a:xfrm>
            <a:off x="1904114" y="4350848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60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 </a:t>
            </a:r>
            <a:r>
              <a:rPr kumimoji="1" lang="en-US" altLang="ko-KR" sz="700" b="1" dirty="0" smtClean="0">
                <a:latin typeface="+mn-ea"/>
                <a:ea typeface="+mn-ea"/>
              </a:rPr>
              <a:t>4</a:t>
            </a:r>
            <a:r>
              <a:rPr kumimoji="1" lang="ko-KR" altLang="en-US" sz="700" b="1" dirty="0" smtClean="0">
                <a:latin typeface="+mn-ea"/>
                <a:ea typeface="+mn-ea"/>
              </a:rPr>
              <a:t> </a:t>
            </a:r>
            <a:endParaRPr kumimoji="1" lang="ko-KR" altLang="en-US" sz="700" b="1" dirty="0">
              <a:latin typeface="+mn-ea"/>
              <a:ea typeface="+mn-ea"/>
            </a:endParaRPr>
          </a:p>
        </p:txBody>
      </p:sp>
      <p:sp>
        <p:nvSpPr>
          <p:cNvPr id="261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262" name="Picture 280"/>
          <p:cNvPicPr>
            <a:picLocks noChangeAspect="1"/>
          </p:cNvPicPr>
          <p:nvPr/>
        </p:nvPicPr>
        <p:blipFill rotWithShape="1">
          <a:blip r:embed="rId3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263" name="텍스트 상자 31"/>
          <p:cNvSpPr txBox="1"/>
          <p:nvPr/>
        </p:nvSpPr>
        <p:spPr>
          <a:xfrm>
            <a:off x="2421414" y="446287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64" name="그룹 400"/>
          <p:cNvGrpSpPr/>
          <p:nvPr/>
        </p:nvGrpSpPr>
        <p:grpSpPr>
          <a:xfrm>
            <a:off x="2078622" y="4452402"/>
            <a:ext cx="229236" cy="229194"/>
            <a:chOff x="2625629" y="3735853"/>
            <a:chExt cx="276891" cy="276839"/>
          </a:xfrm>
        </p:grpSpPr>
        <p:sp>
          <p:nvSpPr>
            <p:cNvPr id="26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6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67" name="텍스트 상자 31"/>
          <p:cNvSpPr txBox="1"/>
          <p:nvPr/>
        </p:nvSpPr>
        <p:spPr>
          <a:xfrm>
            <a:off x="2421414" y="460072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68" name="직선 연결선[R] 33"/>
          <p:cNvCxnSpPr/>
          <p:nvPr/>
        </p:nvCxnSpPr>
        <p:spPr>
          <a:xfrm>
            <a:off x="2052416" y="551265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69" name="그룹 268"/>
          <p:cNvGrpSpPr/>
          <p:nvPr/>
        </p:nvGrpSpPr>
        <p:grpSpPr>
          <a:xfrm>
            <a:off x="2067486" y="4779356"/>
            <a:ext cx="4700930" cy="644971"/>
            <a:chOff x="2067486" y="4286437"/>
            <a:chExt cx="4700930" cy="644971"/>
          </a:xfrm>
        </p:grpSpPr>
        <p:sp>
          <p:nvSpPr>
            <p:cNvPr id="270" name="Rectangle 177"/>
            <p:cNvSpPr/>
            <p:nvPr/>
          </p:nvSpPr>
          <p:spPr>
            <a:xfrm>
              <a:off x="2067486" y="4472532"/>
              <a:ext cx="4700930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grpSp>
          <p:nvGrpSpPr>
            <p:cNvPr id="271" name="Group 11"/>
            <p:cNvGrpSpPr/>
            <p:nvPr/>
          </p:nvGrpSpPr>
          <p:grpSpPr>
            <a:xfrm>
              <a:off x="2484729" y="4565835"/>
              <a:ext cx="1791250" cy="272271"/>
              <a:chOff x="2887384" y="5664055"/>
              <a:chExt cx="1791250" cy="272271"/>
            </a:xfrm>
          </p:grpSpPr>
          <p:sp>
            <p:nvSpPr>
              <p:cNvPr id="275" name="텍스트 상자 31"/>
              <p:cNvSpPr txBox="1"/>
              <p:nvPr/>
            </p:nvSpPr>
            <p:spPr>
              <a:xfrm>
                <a:off x="2892510" y="5664055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A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서비스 </a:t>
                </a:r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TF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팀 중간회식</a:t>
                </a:r>
                <a:endParaRPr kumimoji="1" lang="ko-KR" altLang="en-US" sz="7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76" name="텍스트 상자 31"/>
              <p:cNvSpPr txBox="1"/>
              <p:nvPr/>
            </p:nvSpPr>
            <p:spPr>
              <a:xfrm>
                <a:off x="2887384" y="5807060"/>
                <a:ext cx="1621213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2017.09.30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(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금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)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오후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7:00-8:00</a:t>
                </a:r>
                <a:endParaRPr kumimoji="1"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72" name="Freeform 33"/>
            <p:cNvSpPr>
              <a:spLocks noEditPoints="1"/>
            </p:cNvSpPr>
            <p:nvPr/>
          </p:nvSpPr>
          <p:spPr bwMode="auto">
            <a:xfrm>
              <a:off x="2194138" y="4599136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73" name="텍스트 상자 31"/>
            <p:cNvSpPr txBox="1"/>
            <p:nvPr/>
          </p:nvSpPr>
          <p:spPr>
            <a:xfrm>
              <a:off x="2078622" y="4286437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팀 중간회식</a:t>
              </a:r>
              <a:r>
                <a: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일정을 등록했습니다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74" name="Freeform 14"/>
            <p:cNvSpPr>
              <a:spLocks noChangeArrowheads="1"/>
            </p:cNvSpPr>
            <p:nvPr/>
          </p:nvSpPr>
          <p:spPr bwMode="auto">
            <a:xfrm rot="5400000">
              <a:off x="6529129" y="4666775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279" name="Freeform 26"/>
          <p:cNvSpPr>
            <a:spLocks noChangeAspect="1" noChangeArrowheads="1"/>
          </p:cNvSpPr>
          <p:nvPr/>
        </p:nvSpPr>
        <p:spPr bwMode="auto">
          <a:xfrm flipH="1">
            <a:off x="6726683" y="446715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0" name="Freeform 26"/>
          <p:cNvSpPr>
            <a:spLocks noChangeAspect="1" noChangeArrowheads="1"/>
          </p:cNvSpPr>
          <p:nvPr/>
        </p:nvSpPr>
        <p:spPr bwMode="auto">
          <a:xfrm flipH="1">
            <a:off x="6726683" y="6109435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16" name="Freeform 25"/>
          <p:cNvSpPr>
            <a:spLocks noChangeAspect="1" noEditPoints="1"/>
          </p:cNvSpPr>
          <p:nvPr/>
        </p:nvSpPr>
        <p:spPr bwMode="auto">
          <a:xfrm>
            <a:off x="6535161" y="446273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17" name="Freeform 25"/>
          <p:cNvSpPr>
            <a:spLocks noChangeAspect="1" noEditPoints="1"/>
          </p:cNvSpPr>
          <p:nvPr/>
        </p:nvSpPr>
        <p:spPr bwMode="auto">
          <a:xfrm>
            <a:off x="6535161" y="611019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21" name="Rectangle 202"/>
          <p:cNvSpPr/>
          <p:nvPr/>
        </p:nvSpPr>
        <p:spPr>
          <a:xfrm>
            <a:off x="1939939" y="227668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322" name="텍스트 상자 31"/>
          <p:cNvSpPr txBox="1"/>
          <p:nvPr/>
        </p:nvSpPr>
        <p:spPr>
          <a:xfrm>
            <a:off x="2397599" y="240686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323" name="그룹 400"/>
          <p:cNvGrpSpPr/>
          <p:nvPr/>
        </p:nvGrpSpPr>
        <p:grpSpPr>
          <a:xfrm>
            <a:off x="2054807" y="2396484"/>
            <a:ext cx="229236" cy="227167"/>
            <a:chOff x="2625629" y="3735853"/>
            <a:chExt cx="276891" cy="276839"/>
          </a:xfrm>
        </p:grpSpPr>
        <p:sp>
          <p:nvSpPr>
            <p:cNvPr id="32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325" name="Picture 157" descr="man-user (1).png"/>
            <p:cNvPicPr>
              <a:picLocks noChangeAspect="1"/>
            </p:cNvPicPr>
            <p:nvPr/>
          </p:nvPicPr>
          <p:blipFill>
            <a:blip r:embed="rId4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26" name="텍스트 상자 31"/>
          <p:cNvSpPr txBox="1"/>
          <p:nvPr/>
        </p:nvSpPr>
        <p:spPr>
          <a:xfrm>
            <a:off x="2397599" y="254349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7" name="텍스트 상자 31"/>
          <p:cNvSpPr txBox="1"/>
          <p:nvPr/>
        </p:nvSpPr>
        <p:spPr>
          <a:xfrm>
            <a:off x="2054807" y="274675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8" name="Rounded Rectangle 245"/>
          <p:cNvSpPr/>
          <p:nvPr/>
        </p:nvSpPr>
        <p:spPr>
          <a:xfrm>
            <a:off x="2054807" y="295193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9" name="Rounded Rectangle 246"/>
          <p:cNvSpPr/>
          <p:nvPr/>
        </p:nvSpPr>
        <p:spPr>
          <a:xfrm>
            <a:off x="2540248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50" name="Rounded Rectangle 247"/>
          <p:cNvSpPr/>
          <p:nvPr/>
        </p:nvSpPr>
        <p:spPr>
          <a:xfrm>
            <a:off x="2899804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351" name="직선 연결선[R] 33"/>
          <p:cNvCxnSpPr/>
          <p:nvPr/>
        </p:nvCxnSpPr>
        <p:spPr>
          <a:xfrm>
            <a:off x="2028601" y="318199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2" name="Freeform 26"/>
          <p:cNvSpPr>
            <a:spLocks noChangeAspect="1" noChangeArrowheads="1"/>
          </p:cNvSpPr>
          <p:nvPr/>
        </p:nvSpPr>
        <p:spPr bwMode="auto">
          <a:xfrm flipH="1">
            <a:off x="6702868" y="240532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53" name="Freeform 25"/>
          <p:cNvSpPr>
            <a:spLocks noChangeAspect="1" noEditPoints="1"/>
          </p:cNvSpPr>
          <p:nvPr/>
        </p:nvSpPr>
        <p:spPr bwMode="auto">
          <a:xfrm>
            <a:off x="6511346" y="239831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354" name="그룹 353"/>
          <p:cNvGrpSpPr/>
          <p:nvPr/>
        </p:nvGrpSpPr>
        <p:grpSpPr>
          <a:xfrm>
            <a:off x="2040056" y="3219147"/>
            <a:ext cx="927446" cy="115755"/>
            <a:chOff x="2063871" y="2807721"/>
            <a:chExt cx="927446" cy="115755"/>
          </a:xfrm>
        </p:grpSpPr>
        <p:grpSp>
          <p:nvGrpSpPr>
            <p:cNvPr id="355" name="그룹 354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57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59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66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67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60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61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62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63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64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65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58" name="그림 357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56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8" name="그룹 367"/>
          <p:cNvGrpSpPr/>
          <p:nvPr/>
        </p:nvGrpSpPr>
        <p:grpSpPr>
          <a:xfrm>
            <a:off x="2063871" y="5570697"/>
            <a:ext cx="927446" cy="115755"/>
            <a:chOff x="2063871" y="2807721"/>
            <a:chExt cx="927446" cy="115755"/>
          </a:xfrm>
        </p:grpSpPr>
        <p:grpSp>
          <p:nvGrpSpPr>
            <p:cNvPr id="369" name="그룹 368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71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73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80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81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74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75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76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77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78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79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72" name="그림 371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70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2" name="그룹 381"/>
          <p:cNvGrpSpPr/>
          <p:nvPr/>
        </p:nvGrpSpPr>
        <p:grpSpPr>
          <a:xfrm>
            <a:off x="5841650" y="1256584"/>
            <a:ext cx="889785" cy="145888"/>
            <a:chOff x="5763766" y="-232900"/>
            <a:chExt cx="1144429" cy="187639"/>
          </a:xfrm>
        </p:grpSpPr>
        <p:sp>
          <p:nvSpPr>
            <p:cNvPr id="383" name="Freeform 17"/>
            <p:cNvSpPr>
              <a:spLocks noChangeArrowheads="1"/>
            </p:cNvSpPr>
            <p:nvPr/>
          </p:nvSpPr>
          <p:spPr bwMode="auto">
            <a:xfrm>
              <a:off x="5763766" y="-214900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84" name="Freeform 33"/>
            <p:cNvSpPr>
              <a:spLocks noEditPoints="1"/>
            </p:cNvSpPr>
            <p:nvPr/>
          </p:nvSpPr>
          <p:spPr bwMode="auto">
            <a:xfrm>
              <a:off x="6236907" y="-214900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85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3023" y="-214900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6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3551" y="-232900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7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8195" y="-22526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9" name="모서리가 둥근 직사각형 388"/>
          <p:cNvSpPr/>
          <p:nvPr/>
        </p:nvSpPr>
        <p:spPr>
          <a:xfrm>
            <a:off x="1996708" y="1739169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90" name="모서리가 둥근 직사각형 389"/>
          <p:cNvSpPr/>
          <p:nvPr/>
        </p:nvSpPr>
        <p:spPr>
          <a:xfrm>
            <a:off x="1996708" y="1890895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91" name="모서리가 둥근 직사각형 390"/>
          <p:cNvSpPr/>
          <p:nvPr/>
        </p:nvSpPr>
        <p:spPr>
          <a:xfrm>
            <a:off x="1996708" y="2038266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92" name="TextBox 391"/>
          <p:cNvSpPr txBox="1"/>
          <p:nvPr/>
        </p:nvSpPr>
        <p:spPr>
          <a:xfrm>
            <a:off x="2231181" y="1696878"/>
            <a:ext cx="166608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11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월 통신사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회식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93" name="TextBox 392"/>
          <p:cNvSpPr txBox="1"/>
          <p:nvPr/>
        </p:nvSpPr>
        <p:spPr>
          <a:xfrm>
            <a:off x="2231181" y="1846963"/>
            <a:ext cx="4598407" cy="200055"/>
          </a:xfrm>
          <a:prstGeom prst="rect">
            <a:avLst/>
          </a:prstGeom>
          <a:noFill/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워크샵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남겨주세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94" name="TextBox 393"/>
          <p:cNvSpPr txBox="1"/>
          <p:nvPr/>
        </p:nvSpPr>
        <p:spPr>
          <a:xfrm>
            <a:off x="2231181" y="1993619"/>
            <a:ext cx="1406402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TFT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95" name="그룹 394"/>
          <p:cNvGrpSpPr/>
          <p:nvPr/>
        </p:nvGrpSpPr>
        <p:grpSpPr>
          <a:xfrm>
            <a:off x="1939939" y="3379587"/>
            <a:ext cx="4896001" cy="850249"/>
            <a:chOff x="1939939" y="3379587"/>
            <a:chExt cx="4896001" cy="850249"/>
          </a:xfrm>
        </p:grpSpPr>
        <p:sp>
          <p:nvSpPr>
            <p:cNvPr id="396" name="Rectangle 231"/>
            <p:cNvSpPr/>
            <p:nvPr/>
          </p:nvSpPr>
          <p:spPr>
            <a:xfrm>
              <a:off x="1939939" y="3379587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397" name="Group 7"/>
            <p:cNvGrpSpPr/>
            <p:nvPr/>
          </p:nvGrpSpPr>
          <p:grpSpPr>
            <a:xfrm>
              <a:off x="2054807" y="3792842"/>
              <a:ext cx="1612396" cy="227167"/>
              <a:chOff x="2478168" y="4026446"/>
              <a:chExt cx="1612396" cy="229194"/>
            </a:xfrm>
          </p:grpSpPr>
          <p:sp>
            <p:nvSpPr>
              <p:cNvPr id="406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407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409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410" name="Picture 157" descr="man-user (1).png"/>
                <p:cNvPicPr>
                  <a:picLocks noChangeAspect="1"/>
                </p:cNvPicPr>
                <p:nvPr/>
              </p:nvPicPr>
              <p:blipFill>
                <a:blip r:embed="rId4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408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398" name="직선 연결선[R] 33"/>
            <p:cNvCxnSpPr/>
            <p:nvPr/>
          </p:nvCxnSpPr>
          <p:spPr>
            <a:xfrm>
              <a:off x="2028601" y="3705985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Rectangle 313"/>
            <p:cNvSpPr/>
            <p:nvPr/>
          </p:nvSpPr>
          <p:spPr>
            <a:xfrm>
              <a:off x="1939940" y="4097549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400" name="텍스트 상자 31"/>
            <p:cNvSpPr txBox="1"/>
            <p:nvPr/>
          </p:nvSpPr>
          <p:spPr>
            <a:xfrm>
              <a:off x="4117575" y="4111345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전체 댓글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401" name="그룹 400"/>
            <p:cNvGrpSpPr/>
            <p:nvPr/>
          </p:nvGrpSpPr>
          <p:grpSpPr>
            <a:xfrm>
              <a:off x="2025177" y="3446799"/>
              <a:ext cx="4675215" cy="198000"/>
              <a:chOff x="7341238" y="3747588"/>
              <a:chExt cx="4675215" cy="198000"/>
            </a:xfrm>
          </p:grpSpPr>
          <p:sp>
            <p:nvSpPr>
              <p:cNvPr id="402" name="Rectangle 321"/>
              <p:cNvSpPr/>
              <p:nvPr/>
            </p:nvSpPr>
            <p:spPr>
              <a:xfrm>
                <a:off x="7341238" y="3747588"/>
                <a:ext cx="4262914" cy="1980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의견을 입력하세요</a:t>
                </a:r>
                <a:endParaRPr 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3" name="Rounded Rectangle 616"/>
              <p:cNvSpPr/>
              <p:nvPr/>
            </p:nvSpPr>
            <p:spPr>
              <a:xfrm>
                <a:off x="11656453" y="3755850"/>
                <a:ext cx="360000" cy="180000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b="1" dirty="0" smtClean="0"/>
                  <a:t>등록</a:t>
                </a:r>
                <a:endParaRPr lang="en-US" sz="700" b="1" dirty="0"/>
              </a:p>
            </p:txBody>
          </p:sp>
          <p:sp>
            <p:nvSpPr>
              <p:cNvPr id="404" name="Freeform 17"/>
              <p:cNvSpPr>
                <a:spLocks noChangeArrowheads="1"/>
              </p:cNvSpPr>
              <p:nvPr/>
            </p:nvSpPr>
            <p:spPr bwMode="auto">
              <a:xfrm>
                <a:off x="11228438" y="3790180"/>
                <a:ext cx="125954" cy="125954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pic>
            <p:nvPicPr>
              <p:cNvPr id="405" name="Picture 2" descr="C:\Users\Administrator\Downloads\paperclip.png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4459" y="3790180"/>
                <a:ext cx="125954" cy="12595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226" name="TextBox 225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47070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내용 개체 틀 187"/>
          <p:cNvGraphicFramePr>
            <a:graphicFrameLocks/>
          </p:cNvGraphicFramePr>
          <p:nvPr>
            <p:extLst/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694887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802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" name="Rectangle 477"/>
          <p:cNvSpPr/>
          <p:nvPr/>
        </p:nvSpPr>
        <p:spPr>
          <a:xfrm>
            <a:off x="6925831" y="5484435"/>
            <a:ext cx="2169137" cy="111484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4" name="Rectangle 382"/>
          <p:cNvSpPr/>
          <p:nvPr/>
        </p:nvSpPr>
        <p:spPr>
          <a:xfrm>
            <a:off x="8818370" y="2237394"/>
            <a:ext cx="310975" cy="25307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950447"/>
            <a:chOff x="5995939" y="5903574"/>
            <a:chExt cx="2088322" cy="95044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  <a:endParaRPr lang="en-US" altLang="ko-KR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463898"/>
              </p:ext>
            </p:extLst>
          </p:nvPr>
        </p:nvGraphicFramePr>
        <p:xfrm>
          <a:off x="9290533" y="786383"/>
          <a:ext cx="2892502" cy="30722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설정 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설정 버튼 클릭 시 멤버 추가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정보 수정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알림 설정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그룹을 종료할 수 있는 팝업 메뉴 표시 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관리자가 아닌 경우 알림 설정 메뉴만 표시</a:t>
                      </a:r>
                      <a:endParaRPr kumimoji="1" lang="en-US" altLang="ko-KR" sz="8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사용자 그룹 탈퇴 기능 추가 검토</a:t>
                      </a:r>
                      <a:endParaRPr kumimoji="1" lang="en-US" altLang="ko-KR" sz="8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lang="en-US" sz="800" dirty="0" smtClean="0"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b="0" dirty="0" smtClean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1.1</a:t>
                      </a:r>
                      <a:endParaRPr sz="800" b="0" dirty="0">
                        <a:solidFill>
                          <a:srgbClr val="0000FF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0" smtClean="0">
                          <a:solidFill>
                            <a:srgbClr val="0000FF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클릭시 멤버 추가 팝업</a:t>
                      </a:r>
                      <a:r>
                        <a:rPr lang="en-US" altLang="ko-KR" sz="800" b="0" smtClean="0">
                          <a:solidFill>
                            <a:srgbClr val="0000FF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(</a:t>
                      </a:r>
                      <a:r>
                        <a:rPr lang="en-US" altLang="ko-KR" sz="800" b="0" smtClean="0">
                          <a:solidFill>
                            <a:srgbClr val="0000FF"/>
                          </a:solidFill>
                        </a:rPr>
                        <a:t>SQ5.2.1.1</a:t>
                      </a:r>
                      <a:r>
                        <a:rPr kumimoji="1" lang="en-US" altLang="ko-KR" sz="800" b="0" smtClean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en-US" altLang="ko-KR" sz="800" b="0" baseline="0" smtClean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baseline="0" smtClean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출력</a:t>
                      </a:r>
                      <a:endParaRPr lang="ko-KR" altLang="en-US" sz="800" b="0" smtClean="0">
                        <a:solidFill>
                          <a:srgbClr val="0000FF"/>
                        </a:solidFill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1-2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0"/>
                          <a:ea typeface="Malgun Gothic" charset="0"/>
                        </a:rPr>
                        <a:t>그룹정보</a:t>
                      </a:r>
                      <a:r>
                        <a:rPr kumimoji="0" lang="ko-KR" altLang="en-US" sz="8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0"/>
                          <a:ea typeface="Malgun Gothic" charset="0"/>
                        </a:rPr>
                        <a:t> 수정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 만들기 레이어 팝업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노출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화명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id 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SQ5.6 (65p)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기존의 레이어 팝업 타이틀이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‘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 만들기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에서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그룹정보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수정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으로 변경되어 노출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(20171103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1-3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알림 설정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알림 설정 메뉴 클릭 시 해당 그룹의 알림을 설정을 설정할 수 있는 팝업 오픈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1-4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그룹 종료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종료 메뉴 클릭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그룹을 종료하시겠습니까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라는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안내메시지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창을 오픈하고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버튼 클릭 시 해당 그룹은 종료된 그룹으로 최상위로 이동하며 화면은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내그룹의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최상위 그룹 화면을 표시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7" name="그룹 217"/>
          <p:cNvGrpSpPr/>
          <p:nvPr/>
        </p:nvGrpSpPr>
        <p:grpSpPr>
          <a:xfrm>
            <a:off x="8945967" y="1092639"/>
            <a:ext cx="434524" cy="5615971"/>
            <a:chOff x="7748271" y="3713164"/>
            <a:chExt cx="434524" cy="3395084"/>
          </a:xfrm>
        </p:grpSpPr>
        <p:grpSp>
          <p:nvGrpSpPr>
            <p:cNvPr id="298" name="그룹 7"/>
            <p:cNvGrpSpPr/>
            <p:nvPr/>
          </p:nvGrpSpPr>
          <p:grpSpPr>
            <a:xfrm>
              <a:off x="7748271" y="3713164"/>
              <a:ext cx="293725" cy="3395084"/>
              <a:chOff x="6151409" y="4328779"/>
              <a:chExt cx="948871" cy="3203495"/>
            </a:xfrm>
          </p:grpSpPr>
          <p:cxnSp>
            <p:nvCxnSpPr>
              <p:cNvPr id="300" name="직선 연결선[R] 222"/>
              <p:cNvCxnSpPr/>
              <p:nvPr/>
            </p:nvCxnSpPr>
            <p:spPr>
              <a:xfrm>
                <a:off x="6952525" y="4328779"/>
                <a:ext cx="0" cy="3203495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[R] 85"/>
              <p:cNvCxnSpPr/>
              <p:nvPr/>
            </p:nvCxnSpPr>
            <p:spPr>
              <a:xfrm>
                <a:off x="6151409" y="4328779"/>
                <a:ext cx="948871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[R] 86"/>
              <p:cNvCxnSpPr/>
              <p:nvPr/>
            </p:nvCxnSpPr>
            <p:spPr>
              <a:xfrm>
                <a:off x="6215663" y="7532274"/>
                <a:ext cx="884617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9" name="TextBox 1173"/>
            <p:cNvSpPr txBox="1"/>
            <p:nvPr/>
          </p:nvSpPr>
          <p:spPr>
            <a:xfrm rot="5400000">
              <a:off x="7731870" y="5262347"/>
              <a:ext cx="68640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i="1" dirty="0" smtClean="0">
                  <a:solidFill>
                    <a:srgbClr val="FF2F92"/>
                  </a:solidFill>
                  <a:latin typeface="Malgun Gothic" charset="0"/>
                  <a:ea typeface="Malgun Gothic" charset="0"/>
                  <a:cs typeface="Malgun Gothic" charset="0"/>
                </a:rPr>
                <a:t>Scroll Area</a:t>
              </a:r>
              <a:endParaRPr lang="en-US" sz="800" i="1" dirty="0">
                <a:solidFill>
                  <a:srgbClr val="FF2F92"/>
                </a:solidFill>
                <a:latin typeface="Malgun Gothic" charset="0"/>
                <a:ea typeface="Malgun Gothic" charset="0"/>
                <a:cs typeface="Malgun Gothic" charset="0"/>
              </a:endParaRPr>
            </a:p>
          </p:txBody>
        </p:sp>
      </p:grp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sp>
        <p:nvSpPr>
          <p:cNvPr id="285" name="타원 284"/>
          <p:cNvSpPr>
            <a:spLocks noChangeAspect="1"/>
          </p:cNvSpPr>
          <p:nvPr/>
        </p:nvSpPr>
        <p:spPr>
          <a:xfrm>
            <a:off x="8721792" y="2084564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7802923" y="2463516"/>
            <a:ext cx="992144" cy="901646"/>
            <a:chOff x="10590256" y="3875179"/>
            <a:chExt cx="992144" cy="901646"/>
          </a:xfrm>
        </p:grpSpPr>
        <p:sp>
          <p:nvSpPr>
            <p:cNvPr id="25" name="직사각형 24"/>
            <p:cNvSpPr/>
            <p:nvPr/>
          </p:nvSpPr>
          <p:spPr>
            <a:xfrm>
              <a:off x="10716957" y="3875179"/>
              <a:ext cx="865443" cy="90164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none" lIns="108000" tIns="36000" rIns="36000" bIns="36000" rtlCol="0" anchor="ctr">
              <a:noAutofit/>
            </a:bodyPr>
            <a:lstStyle/>
            <a:p>
              <a:pPr>
                <a:lnSpc>
                  <a:spcPts val="8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 추가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ts val="8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그룹 정보 수정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ts val="8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알림 설정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ts val="8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그룹 종료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86" name="타원 285"/>
            <p:cNvSpPr>
              <a:spLocks noChangeAspect="1"/>
            </p:cNvSpPr>
            <p:nvPr/>
          </p:nvSpPr>
          <p:spPr>
            <a:xfrm>
              <a:off x="10590256" y="3879525"/>
              <a:ext cx="178657" cy="180000"/>
            </a:xfrm>
            <a:prstGeom prst="ellipse">
              <a:avLst/>
            </a:prstGeom>
            <a:solidFill>
              <a:srgbClr val="2E6FFD"/>
            </a:solidFill>
            <a:ln w="3175">
              <a:solidFill>
                <a:schemeClr val="tx2"/>
              </a:solidFill>
            </a:ln>
            <a:effectLst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1-1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7" name="타원 286"/>
            <p:cNvSpPr>
              <a:spLocks noChangeAspect="1"/>
            </p:cNvSpPr>
            <p:nvPr/>
          </p:nvSpPr>
          <p:spPr>
            <a:xfrm>
              <a:off x="10590256" y="4113637"/>
              <a:ext cx="178657" cy="180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rgbClr val="C00000"/>
              </a:solidFill>
            </a:ln>
            <a:effectLst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1-2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9" name="타원 288"/>
            <p:cNvSpPr>
              <a:spLocks noChangeAspect="1"/>
            </p:cNvSpPr>
            <p:nvPr/>
          </p:nvSpPr>
          <p:spPr>
            <a:xfrm>
              <a:off x="10590256" y="4339203"/>
              <a:ext cx="178657" cy="180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rgbClr val="C00000"/>
              </a:solidFill>
            </a:ln>
            <a:effectLst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1-3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5" name="타원 254"/>
            <p:cNvSpPr>
              <a:spLocks noChangeAspect="1"/>
            </p:cNvSpPr>
            <p:nvPr/>
          </p:nvSpPr>
          <p:spPr>
            <a:xfrm>
              <a:off x="10590256" y="4566695"/>
              <a:ext cx="178657" cy="180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rgbClr val="C00000"/>
              </a:solidFill>
            </a:ln>
            <a:effectLst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1-4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56" name="그룹 255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257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58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84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05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6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7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8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90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smtClean="0"/>
              <a:t>워크피드</a:t>
            </a:r>
            <a:r>
              <a:rPr kumimoji="1" lang="en-US" altLang="ko-KR" smtClean="0"/>
              <a:t>(3/3)</a:t>
            </a:r>
            <a:endParaRPr lang="ko-KR" altLang="en-US" dirty="0"/>
          </a:p>
        </p:txBody>
      </p:sp>
      <p:sp>
        <p:nvSpPr>
          <p:cNvPr id="291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스퀘어 홈</a:t>
            </a:r>
            <a:r>
              <a:rPr lang="en-US" altLang="ko-KR" dirty="0"/>
              <a:t>&gt; </a:t>
            </a:r>
            <a:r>
              <a:rPr lang="ko-KR" altLang="en-US" dirty="0"/>
              <a:t>그룹</a:t>
            </a:r>
          </a:p>
        </p:txBody>
      </p:sp>
      <p:sp>
        <p:nvSpPr>
          <p:cNvPr id="292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 smtClean="0"/>
              <a:t>SQ5.2.1</a:t>
            </a:r>
            <a:endParaRPr lang="ko-KR" altLang="en-US" dirty="0"/>
          </a:p>
        </p:txBody>
      </p:sp>
      <p:pic>
        <p:nvPicPr>
          <p:cNvPr id="295" name="그림 29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25383" y="4267161"/>
            <a:ext cx="1850417" cy="2315727"/>
          </a:xfrm>
          <a:prstGeom prst="rect">
            <a:avLst/>
          </a:prstGeom>
        </p:spPr>
      </p:pic>
      <p:cxnSp>
        <p:nvCxnSpPr>
          <p:cNvPr id="296" name="꺾인 연결선 295"/>
          <p:cNvCxnSpPr>
            <a:stCxn id="303" idx="3"/>
            <a:endCxn id="295" idx="1"/>
          </p:cNvCxnSpPr>
          <p:nvPr/>
        </p:nvCxnSpPr>
        <p:spPr>
          <a:xfrm>
            <a:off x="8749953" y="2790942"/>
            <a:ext cx="1175430" cy="2634083"/>
          </a:xfrm>
          <a:prstGeom prst="bentConnector3">
            <a:avLst>
              <a:gd name="adj1" fmla="val 22988"/>
            </a:avLst>
          </a:prstGeom>
          <a:ln w="3175">
            <a:solidFill>
              <a:srgbClr val="2E6FFD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Rectangle 382"/>
          <p:cNvSpPr/>
          <p:nvPr/>
        </p:nvSpPr>
        <p:spPr>
          <a:xfrm>
            <a:off x="8002438" y="2685080"/>
            <a:ext cx="747515" cy="211723"/>
          </a:xfrm>
          <a:prstGeom prst="rect">
            <a:avLst/>
          </a:prstGeom>
          <a:noFill/>
          <a:ln w="3175">
            <a:solidFill>
              <a:srgbClr val="2E6FFD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7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8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9" name="Rectangle 185"/>
          <p:cNvSpPr/>
          <p:nvPr/>
        </p:nvSpPr>
        <p:spPr>
          <a:xfrm>
            <a:off x="1963755" y="5975523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20" name="텍스트 상자 31"/>
          <p:cNvSpPr txBox="1"/>
          <p:nvPr/>
        </p:nvSpPr>
        <p:spPr>
          <a:xfrm>
            <a:off x="2421414" y="610686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21" name="그룹 400"/>
          <p:cNvGrpSpPr/>
          <p:nvPr/>
        </p:nvGrpSpPr>
        <p:grpSpPr>
          <a:xfrm>
            <a:off x="2078622" y="6096396"/>
            <a:ext cx="229236" cy="229194"/>
            <a:chOff x="2625629" y="3735853"/>
            <a:chExt cx="276891" cy="276839"/>
          </a:xfrm>
        </p:grpSpPr>
        <p:sp>
          <p:nvSpPr>
            <p:cNvPr id="222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23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24" name="텍스트 상자 31"/>
          <p:cNvSpPr txBox="1"/>
          <p:nvPr/>
        </p:nvSpPr>
        <p:spPr>
          <a:xfrm>
            <a:off x="2421414" y="624472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5" name="텍스트 상자 31"/>
          <p:cNvSpPr txBox="1"/>
          <p:nvPr/>
        </p:nvSpPr>
        <p:spPr>
          <a:xfrm>
            <a:off x="2078622" y="6429476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59" name="Rectangle 279"/>
          <p:cNvSpPr/>
          <p:nvPr/>
        </p:nvSpPr>
        <p:spPr>
          <a:xfrm>
            <a:off x="1904114" y="4350848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60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 </a:t>
            </a:r>
            <a:r>
              <a:rPr kumimoji="1" lang="en-US" altLang="ko-KR" sz="700" b="1" dirty="0" smtClean="0">
                <a:latin typeface="+mn-ea"/>
                <a:ea typeface="+mn-ea"/>
              </a:rPr>
              <a:t>4</a:t>
            </a:r>
            <a:r>
              <a:rPr kumimoji="1" lang="ko-KR" altLang="en-US" sz="700" b="1" dirty="0" smtClean="0">
                <a:latin typeface="+mn-ea"/>
                <a:ea typeface="+mn-ea"/>
              </a:rPr>
              <a:t> </a:t>
            </a:r>
            <a:endParaRPr kumimoji="1" lang="ko-KR" altLang="en-US" sz="700" b="1" dirty="0">
              <a:latin typeface="+mn-ea"/>
              <a:ea typeface="+mn-ea"/>
            </a:endParaRPr>
          </a:p>
        </p:txBody>
      </p:sp>
      <p:sp>
        <p:nvSpPr>
          <p:cNvPr id="261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262" name="Picture 280"/>
          <p:cNvPicPr>
            <a:picLocks noChangeAspect="1"/>
          </p:cNvPicPr>
          <p:nvPr/>
        </p:nvPicPr>
        <p:blipFill rotWithShape="1">
          <a:blip r:embed="rId4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263" name="텍스트 상자 31"/>
          <p:cNvSpPr txBox="1"/>
          <p:nvPr/>
        </p:nvSpPr>
        <p:spPr>
          <a:xfrm>
            <a:off x="2421414" y="446287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64" name="그룹 400"/>
          <p:cNvGrpSpPr/>
          <p:nvPr/>
        </p:nvGrpSpPr>
        <p:grpSpPr>
          <a:xfrm>
            <a:off x="2078622" y="4452402"/>
            <a:ext cx="229236" cy="229194"/>
            <a:chOff x="2625629" y="3735853"/>
            <a:chExt cx="276891" cy="276839"/>
          </a:xfrm>
        </p:grpSpPr>
        <p:sp>
          <p:nvSpPr>
            <p:cNvPr id="26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66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67" name="텍스트 상자 31"/>
          <p:cNvSpPr txBox="1"/>
          <p:nvPr/>
        </p:nvSpPr>
        <p:spPr>
          <a:xfrm>
            <a:off x="2421414" y="460072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68" name="직선 연결선[R] 33"/>
          <p:cNvCxnSpPr/>
          <p:nvPr/>
        </p:nvCxnSpPr>
        <p:spPr>
          <a:xfrm>
            <a:off x="2052416" y="551265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69" name="그룹 268"/>
          <p:cNvGrpSpPr/>
          <p:nvPr/>
        </p:nvGrpSpPr>
        <p:grpSpPr>
          <a:xfrm>
            <a:off x="2067486" y="4779356"/>
            <a:ext cx="4700930" cy="644971"/>
            <a:chOff x="2067486" y="4286437"/>
            <a:chExt cx="4700930" cy="644971"/>
          </a:xfrm>
        </p:grpSpPr>
        <p:sp>
          <p:nvSpPr>
            <p:cNvPr id="270" name="Rectangle 177"/>
            <p:cNvSpPr/>
            <p:nvPr/>
          </p:nvSpPr>
          <p:spPr>
            <a:xfrm>
              <a:off x="2067486" y="4472532"/>
              <a:ext cx="4700930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grpSp>
          <p:nvGrpSpPr>
            <p:cNvPr id="271" name="Group 11"/>
            <p:cNvGrpSpPr/>
            <p:nvPr/>
          </p:nvGrpSpPr>
          <p:grpSpPr>
            <a:xfrm>
              <a:off x="2484729" y="4565835"/>
              <a:ext cx="1791250" cy="272271"/>
              <a:chOff x="2887384" y="5664055"/>
              <a:chExt cx="1791250" cy="272271"/>
            </a:xfrm>
          </p:grpSpPr>
          <p:sp>
            <p:nvSpPr>
              <p:cNvPr id="275" name="텍스트 상자 31"/>
              <p:cNvSpPr txBox="1"/>
              <p:nvPr/>
            </p:nvSpPr>
            <p:spPr>
              <a:xfrm>
                <a:off x="2892510" y="5664055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A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서비스 </a:t>
                </a:r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TF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팀 중간회식</a:t>
                </a:r>
                <a:endParaRPr kumimoji="1" lang="ko-KR" altLang="en-US" sz="7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76" name="텍스트 상자 31"/>
              <p:cNvSpPr txBox="1"/>
              <p:nvPr/>
            </p:nvSpPr>
            <p:spPr>
              <a:xfrm>
                <a:off x="2887384" y="5807060"/>
                <a:ext cx="1621213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2017.09.30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(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금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)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오후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7:00-8:00</a:t>
                </a:r>
                <a:endParaRPr kumimoji="1"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72" name="Freeform 33"/>
            <p:cNvSpPr>
              <a:spLocks noEditPoints="1"/>
            </p:cNvSpPr>
            <p:nvPr/>
          </p:nvSpPr>
          <p:spPr bwMode="auto">
            <a:xfrm>
              <a:off x="2194138" y="4599136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73" name="텍스트 상자 31"/>
            <p:cNvSpPr txBox="1"/>
            <p:nvPr/>
          </p:nvSpPr>
          <p:spPr>
            <a:xfrm>
              <a:off x="2078622" y="4286437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팀 중간회식</a:t>
              </a:r>
              <a:r>
                <a: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일정을 등록했습니다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74" name="Freeform 14"/>
            <p:cNvSpPr>
              <a:spLocks noChangeArrowheads="1"/>
            </p:cNvSpPr>
            <p:nvPr/>
          </p:nvSpPr>
          <p:spPr bwMode="auto">
            <a:xfrm rot="5400000">
              <a:off x="6529129" y="4666775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279" name="Freeform 26"/>
          <p:cNvSpPr>
            <a:spLocks noChangeAspect="1" noChangeArrowheads="1"/>
          </p:cNvSpPr>
          <p:nvPr/>
        </p:nvSpPr>
        <p:spPr bwMode="auto">
          <a:xfrm flipH="1">
            <a:off x="6726683" y="446715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0" name="Freeform 26"/>
          <p:cNvSpPr>
            <a:spLocks noChangeAspect="1" noChangeArrowheads="1"/>
          </p:cNvSpPr>
          <p:nvPr/>
        </p:nvSpPr>
        <p:spPr bwMode="auto">
          <a:xfrm flipH="1">
            <a:off x="6726683" y="6109435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94" name="Rectangle 315"/>
          <p:cNvSpPr/>
          <p:nvPr/>
        </p:nvSpPr>
        <p:spPr>
          <a:xfrm>
            <a:off x="1878354" y="2226144"/>
            <a:ext cx="5009313" cy="492903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04" name="Freeform 25"/>
          <p:cNvSpPr>
            <a:spLocks noChangeAspect="1" noEditPoints="1"/>
          </p:cNvSpPr>
          <p:nvPr/>
        </p:nvSpPr>
        <p:spPr bwMode="auto">
          <a:xfrm>
            <a:off x="6535161" y="446273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10" name="Freeform 25"/>
          <p:cNvSpPr>
            <a:spLocks noChangeAspect="1" noEditPoints="1"/>
          </p:cNvSpPr>
          <p:nvPr/>
        </p:nvSpPr>
        <p:spPr bwMode="auto">
          <a:xfrm>
            <a:off x="6535161" y="611019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14" name="Rectangle 202"/>
          <p:cNvSpPr/>
          <p:nvPr/>
        </p:nvSpPr>
        <p:spPr>
          <a:xfrm>
            <a:off x="1939939" y="227668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315" name="텍스트 상자 31"/>
          <p:cNvSpPr txBox="1"/>
          <p:nvPr/>
        </p:nvSpPr>
        <p:spPr>
          <a:xfrm>
            <a:off x="2397599" y="240686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316" name="그룹 400"/>
          <p:cNvGrpSpPr/>
          <p:nvPr/>
        </p:nvGrpSpPr>
        <p:grpSpPr>
          <a:xfrm>
            <a:off x="2054807" y="2396484"/>
            <a:ext cx="229236" cy="227167"/>
            <a:chOff x="2625629" y="3735853"/>
            <a:chExt cx="276891" cy="276839"/>
          </a:xfrm>
        </p:grpSpPr>
        <p:sp>
          <p:nvSpPr>
            <p:cNvPr id="317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318" name="Picture 157" descr="man-user (1).png"/>
            <p:cNvPicPr>
              <a:picLocks noChangeAspect="1"/>
            </p:cNvPicPr>
            <p:nvPr/>
          </p:nvPicPr>
          <p:blipFill>
            <a:blip r:embed="rId5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19" name="텍스트 상자 31"/>
          <p:cNvSpPr txBox="1"/>
          <p:nvPr/>
        </p:nvSpPr>
        <p:spPr>
          <a:xfrm>
            <a:off x="2397599" y="254349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0" name="텍스트 상자 31"/>
          <p:cNvSpPr txBox="1"/>
          <p:nvPr/>
        </p:nvSpPr>
        <p:spPr>
          <a:xfrm>
            <a:off x="2054807" y="274675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54" name="Rounded Rectangle 245"/>
          <p:cNvSpPr/>
          <p:nvPr/>
        </p:nvSpPr>
        <p:spPr>
          <a:xfrm>
            <a:off x="2054807" y="295193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5" name="Rounded Rectangle 246"/>
          <p:cNvSpPr/>
          <p:nvPr/>
        </p:nvSpPr>
        <p:spPr>
          <a:xfrm>
            <a:off x="2540248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56" name="Rounded Rectangle 247"/>
          <p:cNvSpPr/>
          <p:nvPr/>
        </p:nvSpPr>
        <p:spPr>
          <a:xfrm>
            <a:off x="2899804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357" name="직선 연결선[R] 33"/>
          <p:cNvCxnSpPr/>
          <p:nvPr/>
        </p:nvCxnSpPr>
        <p:spPr>
          <a:xfrm>
            <a:off x="2028601" y="318199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8" name="Freeform 26"/>
          <p:cNvSpPr>
            <a:spLocks noChangeAspect="1" noChangeArrowheads="1"/>
          </p:cNvSpPr>
          <p:nvPr/>
        </p:nvSpPr>
        <p:spPr bwMode="auto">
          <a:xfrm flipH="1">
            <a:off x="6702868" y="240532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59" name="Freeform 25"/>
          <p:cNvSpPr>
            <a:spLocks noChangeAspect="1" noEditPoints="1"/>
          </p:cNvSpPr>
          <p:nvPr/>
        </p:nvSpPr>
        <p:spPr bwMode="auto">
          <a:xfrm>
            <a:off x="6511346" y="239831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360" name="그룹 359"/>
          <p:cNvGrpSpPr/>
          <p:nvPr/>
        </p:nvGrpSpPr>
        <p:grpSpPr>
          <a:xfrm>
            <a:off x="2040056" y="3219147"/>
            <a:ext cx="927446" cy="115755"/>
            <a:chOff x="2063871" y="2807721"/>
            <a:chExt cx="927446" cy="115755"/>
          </a:xfrm>
        </p:grpSpPr>
        <p:grpSp>
          <p:nvGrpSpPr>
            <p:cNvPr id="361" name="그룹 360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63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65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72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73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66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67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68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69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70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71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64" name="그림 363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62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4" name="그룹 373"/>
          <p:cNvGrpSpPr/>
          <p:nvPr/>
        </p:nvGrpSpPr>
        <p:grpSpPr>
          <a:xfrm>
            <a:off x="2063871" y="5570697"/>
            <a:ext cx="927446" cy="115755"/>
            <a:chOff x="2063871" y="2807721"/>
            <a:chExt cx="927446" cy="115755"/>
          </a:xfrm>
        </p:grpSpPr>
        <p:grpSp>
          <p:nvGrpSpPr>
            <p:cNvPr id="375" name="그룹 374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77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79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86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87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80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81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82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83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84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85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78" name="그림 377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76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8" name="그룹 387"/>
          <p:cNvGrpSpPr/>
          <p:nvPr/>
        </p:nvGrpSpPr>
        <p:grpSpPr>
          <a:xfrm>
            <a:off x="5841650" y="1256584"/>
            <a:ext cx="889785" cy="145888"/>
            <a:chOff x="5763766" y="-232900"/>
            <a:chExt cx="1144429" cy="187639"/>
          </a:xfrm>
        </p:grpSpPr>
        <p:sp>
          <p:nvSpPr>
            <p:cNvPr id="389" name="Freeform 17"/>
            <p:cNvSpPr>
              <a:spLocks noChangeArrowheads="1"/>
            </p:cNvSpPr>
            <p:nvPr/>
          </p:nvSpPr>
          <p:spPr bwMode="auto">
            <a:xfrm>
              <a:off x="5763766" y="-214900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90" name="Freeform 33"/>
            <p:cNvSpPr>
              <a:spLocks noEditPoints="1"/>
            </p:cNvSpPr>
            <p:nvPr/>
          </p:nvSpPr>
          <p:spPr bwMode="auto">
            <a:xfrm>
              <a:off x="6236907" y="-214900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91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3023" y="-214900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92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3551" y="-232900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93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8195" y="-22526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394" name="Straight Connector 422"/>
          <p:cNvCxnSpPr/>
          <p:nvPr/>
        </p:nvCxnSpPr>
        <p:spPr>
          <a:xfrm>
            <a:off x="1933588" y="219167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394"/>
          <p:cNvSpPr/>
          <p:nvPr/>
        </p:nvSpPr>
        <p:spPr>
          <a:xfrm>
            <a:off x="1996708" y="1739169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96" name="모서리가 둥근 직사각형 395"/>
          <p:cNvSpPr/>
          <p:nvPr/>
        </p:nvSpPr>
        <p:spPr>
          <a:xfrm>
            <a:off x="1996708" y="1890895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97" name="모서리가 둥근 직사각형 396"/>
          <p:cNvSpPr/>
          <p:nvPr/>
        </p:nvSpPr>
        <p:spPr>
          <a:xfrm>
            <a:off x="1996708" y="2038266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98" name="TextBox 397"/>
          <p:cNvSpPr txBox="1"/>
          <p:nvPr/>
        </p:nvSpPr>
        <p:spPr>
          <a:xfrm>
            <a:off x="2231181" y="1696878"/>
            <a:ext cx="166608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11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월 통신사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회식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99" name="TextBox 398"/>
          <p:cNvSpPr txBox="1"/>
          <p:nvPr/>
        </p:nvSpPr>
        <p:spPr>
          <a:xfrm>
            <a:off x="2231181" y="1846963"/>
            <a:ext cx="4598407" cy="200055"/>
          </a:xfrm>
          <a:prstGeom prst="rect">
            <a:avLst/>
          </a:prstGeom>
          <a:noFill/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워크샵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남겨주세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401" name="그룹 400"/>
          <p:cNvGrpSpPr/>
          <p:nvPr/>
        </p:nvGrpSpPr>
        <p:grpSpPr>
          <a:xfrm>
            <a:off x="1939939" y="3379587"/>
            <a:ext cx="4896001" cy="850249"/>
            <a:chOff x="1939939" y="3379587"/>
            <a:chExt cx="4896001" cy="850249"/>
          </a:xfrm>
        </p:grpSpPr>
        <p:sp>
          <p:nvSpPr>
            <p:cNvPr id="402" name="Rectangle 231"/>
            <p:cNvSpPr/>
            <p:nvPr/>
          </p:nvSpPr>
          <p:spPr>
            <a:xfrm>
              <a:off x="1939939" y="3379587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403" name="Group 7"/>
            <p:cNvGrpSpPr/>
            <p:nvPr/>
          </p:nvGrpSpPr>
          <p:grpSpPr>
            <a:xfrm>
              <a:off x="2054807" y="3792842"/>
              <a:ext cx="1612396" cy="227167"/>
              <a:chOff x="2478168" y="4026446"/>
              <a:chExt cx="1612396" cy="229194"/>
            </a:xfrm>
          </p:grpSpPr>
          <p:sp>
            <p:nvSpPr>
              <p:cNvPr id="412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413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415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416" name="Picture 157" descr="man-user (1).png"/>
                <p:cNvPicPr>
                  <a:picLocks noChangeAspect="1"/>
                </p:cNvPicPr>
                <p:nvPr/>
              </p:nvPicPr>
              <p:blipFill>
                <a:blip r:embed="rId5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414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404" name="직선 연결선[R] 33"/>
            <p:cNvCxnSpPr/>
            <p:nvPr/>
          </p:nvCxnSpPr>
          <p:spPr>
            <a:xfrm>
              <a:off x="2028601" y="3705985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Rectangle 313"/>
            <p:cNvSpPr/>
            <p:nvPr/>
          </p:nvSpPr>
          <p:spPr>
            <a:xfrm>
              <a:off x="1939940" y="4097549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406" name="텍스트 상자 31"/>
            <p:cNvSpPr txBox="1"/>
            <p:nvPr/>
          </p:nvSpPr>
          <p:spPr>
            <a:xfrm>
              <a:off x="4117575" y="4111345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전체 댓글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407" name="그룹 406"/>
            <p:cNvGrpSpPr/>
            <p:nvPr/>
          </p:nvGrpSpPr>
          <p:grpSpPr>
            <a:xfrm>
              <a:off x="2025177" y="3446799"/>
              <a:ext cx="4675215" cy="198000"/>
              <a:chOff x="7341238" y="3747588"/>
              <a:chExt cx="4675215" cy="198000"/>
            </a:xfrm>
          </p:grpSpPr>
          <p:sp>
            <p:nvSpPr>
              <p:cNvPr id="408" name="Rectangle 321"/>
              <p:cNvSpPr/>
              <p:nvPr/>
            </p:nvSpPr>
            <p:spPr>
              <a:xfrm>
                <a:off x="7341238" y="3747588"/>
                <a:ext cx="4262914" cy="1980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의견을 입력하세요</a:t>
                </a:r>
                <a:endParaRPr 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9" name="Rounded Rectangle 616"/>
              <p:cNvSpPr/>
              <p:nvPr/>
            </p:nvSpPr>
            <p:spPr>
              <a:xfrm>
                <a:off x="11656453" y="3755850"/>
                <a:ext cx="360000" cy="180000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b="1" dirty="0" smtClean="0"/>
                  <a:t>등록</a:t>
                </a:r>
                <a:endParaRPr lang="en-US" sz="700" b="1" dirty="0"/>
              </a:p>
            </p:txBody>
          </p:sp>
          <p:sp>
            <p:nvSpPr>
              <p:cNvPr id="410" name="Freeform 17"/>
              <p:cNvSpPr>
                <a:spLocks noChangeArrowheads="1"/>
              </p:cNvSpPr>
              <p:nvPr/>
            </p:nvSpPr>
            <p:spPr bwMode="auto">
              <a:xfrm>
                <a:off x="11228438" y="3790180"/>
                <a:ext cx="125954" cy="125954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pic>
            <p:nvPicPr>
              <p:cNvPr id="411" name="Picture 2" descr="C:\Users\Administrator\Downloads\paperclip.png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4459" y="3790180"/>
                <a:ext cx="125954" cy="12595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226" name="TextBox 225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7773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ko-KR" altLang="en-US" dirty="0" smtClean="0"/>
              <a:t>멤버 추가</a:t>
            </a:r>
            <a:endParaRPr lang="ko-KR" altLang="en-US" dirty="0"/>
          </a:p>
        </p:txBody>
      </p:sp>
      <p:sp>
        <p:nvSpPr>
          <p:cNvPr id="325" name="직사각형 324"/>
          <p:cNvSpPr/>
          <p:nvPr/>
        </p:nvSpPr>
        <p:spPr>
          <a:xfrm>
            <a:off x="319521" y="673779"/>
            <a:ext cx="804160" cy="90164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txBody>
          <a:bodyPr wrap="none" lIns="108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멤버 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알림 설정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그룹 종료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8" name="직사각형 327"/>
          <p:cNvSpPr/>
          <p:nvPr/>
        </p:nvSpPr>
        <p:spPr>
          <a:xfrm>
            <a:off x="1753659" y="1022314"/>
            <a:ext cx="1821187" cy="204244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txBody>
          <a:bodyPr wrap="none" lIns="108000" tIns="36000" rIns="36000" bIns="36000" rtlCol="0" anchor="ctr">
            <a:noAutofit/>
          </a:bodyPr>
          <a:lstStyle/>
          <a:p>
            <a:pPr marL="21600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070329" y="2697749"/>
            <a:ext cx="1222037" cy="230573"/>
            <a:chOff x="2708504" y="2707274"/>
            <a:chExt cx="1222037" cy="230573"/>
          </a:xfrm>
        </p:grpSpPr>
        <p:sp>
          <p:nvSpPr>
            <p:cNvPr id="330" name="Rounded Rectangle 447"/>
            <p:cNvSpPr/>
            <p:nvPr/>
          </p:nvSpPr>
          <p:spPr>
            <a:xfrm>
              <a:off x="2708504" y="2707274"/>
              <a:ext cx="580471" cy="230573"/>
            </a:xfrm>
            <a:prstGeom prst="roundRect">
              <a:avLst>
                <a:gd name="adj" fmla="val 842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확인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331" name="Rounded Rectangle 448"/>
            <p:cNvSpPr/>
            <p:nvPr/>
          </p:nvSpPr>
          <p:spPr>
            <a:xfrm>
              <a:off x="3350070" y="2707274"/>
              <a:ext cx="580471" cy="230573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취소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</p:grpSp>
      <p:cxnSp>
        <p:nvCxnSpPr>
          <p:cNvPr id="332" name="직선 연결선[R] 33"/>
          <p:cNvCxnSpPr/>
          <p:nvPr/>
        </p:nvCxnSpPr>
        <p:spPr>
          <a:xfrm>
            <a:off x="1890429" y="1350695"/>
            <a:ext cx="1590414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3" name="직사각형 332"/>
          <p:cNvSpPr/>
          <p:nvPr/>
        </p:nvSpPr>
        <p:spPr>
          <a:xfrm>
            <a:off x="1753659" y="1321575"/>
            <a:ext cx="1821187" cy="1426992"/>
          </a:xfrm>
          <a:prstGeom prst="rect">
            <a:avLst/>
          </a:prstGeom>
          <a:noFill/>
          <a:ln>
            <a:noFill/>
          </a:ln>
        </p:spPr>
        <p:txBody>
          <a:bodyPr wrap="none" lIns="108000" tIns="36000" rIns="36000" bIns="36000" rtlCol="0" anchor="ctr">
            <a:noAutofit/>
          </a:bodyPr>
          <a:lstStyle/>
          <a:p>
            <a:pPr marL="21600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21600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새 공지 등록 시 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21600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새 글 등록 시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21600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내가 </a:t>
            </a:r>
            <a:r>
              <a:rPr kumimoji="1" lang="ko-KR" altLang="en-US" sz="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멘션된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새 글 등록 시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216000" marR="0" lvl="0" indent="0" algn="l" defTabSz="914400" rtl="0" eaLnBrk="1" fontAlgn="base" latinLnBrk="1" hangingPunct="1">
              <a:lnSpc>
                <a:spcPts val="8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새 의견 등록 시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4" name="텍스트 상자 31"/>
          <p:cNvSpPr txBox="1"/>
          <p:nvPr/>
        </p:nvSpPr>
        <p:spPr>
          <a:xfrm>
            <a:off x="1890429" y="1129282"/>
            <a:ext cx="869265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알림 설정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38" name="그룹 337"/>
          <p:cNvGrpSpPr/>
          <p:nvPr/>
        </p:nvGrpSpPr>
        <p:grpSpPr>
          <a:xfrm>
            <a:off x="1890429" y="1731798"/>
            <a:ext cx="110114" cy="116828"/>
            <a:chOff x="3878895" y="1872991"/>
            <a:chExt cx="110114" cy="116828"/>
          </a:xfrm>
        </p:grpSpPr>
        <p:sp>
          <p:nvSpPr>
            <p:cNvPr id="339" name="Rounded Rectangle 293"/>
            <p:cNvSpPr>
              <a:spLocks noChangeAspect="1"/>
            </p:cNvSpPr>
            <p:nvPr/>
          </p:nvSpPr>
          <p:spPr>
            <a:xfrm>
              <a:off x="3878895" y="1872991"/>
              <a:ext cx="108000" cy="116828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340" name="Freeform 429"/>
            <p:cNvSpPr>
              <a:spLocks noChangeArrowheads="1"/>
            </p:cNvSpPr>
            <p:nvPr/>
          </p:nvSpPr>
          <p:spPr bwMode="auto">
            <a:xfrm>
              <a:off x="3878895" y="1889431"/>
              <a:ext cx="110114" cy="83948"/>
            </a:xfrm>
            <a:custGeom>
              <a:avLst/>
              <a:gdLst>
                <a:gd name="T0" fmla="*/ 145 w 446"/>
                <a:gd name="T1" fmla="*/ 266 h 340"/>
                <a:gd name="T2" fmla="*/ 39 w 446"/>
                <a:gd name="T3" fmla="*/ 160 h 340"/>
                <a:gd name="T4" fmla="*/ 0 w 446"/>
                <a:gd name="T5" fmla="*/ 194 h 340"/>
                <a:gd name="T6" fmla="*/ 145 w 446"/>
                <a:gd name="T7" fmla="*/ 339 h 340"/>
                <a:gd name="T8" fmla="*/ 445 w 446"/>
                <a:gd name="T9" fmla="*/ 34 h 340"/>
                <a:gd name="T10" fmla="*/ 411 w 446"/>
                <a:gd name="T11" fmla="*/ 0 h 340"/>
                <a:gd name="T12" fmla="*/ 145 w 446"/>
                <a:gd name="T13" fmla="*/ 266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340">
                  <a:moveTo>
                    <a:pt x="145" y="266"/>
                  </a:moveTo>
                  <a:lnTo>
                    <a:pt x="39" y="160"/>
                  </a:lnTo>
                  <a:lnTo>
                    <a:pt x="0" y="194"/>
                  </a:lnTo>
                  <a:lnTo>
                    <a:pt x="145" y="339"/>
                  </a:lnTo>
                  <a:lnTo>
                    <a:pt x="445" y="34"/>
                  </a:lnTo>
                  <a:lnTo>
                    <a:pt x="411" y="0"/>
                  </a:lnTo>
                  <a:lnTo>
                    <a:pt x="145" y="266"/>
                  </a:ln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grpSp>
        <p:nvGrpSpPr>
          <p:cNvPr id="341" name="그룹 340"/>
          <p:cNvGrpSpPr/>
          <p:nvPr/>
        </p:nvGrpSpPr>
        <p:grpSpPr>
          <a:xfrm>
            <a:off x="1890429" y="1962535"/>
            <a:ext cx="110114" cy="116828"/>
            <a:chOff x="3878895" y="1872991"/>
            <a:chExt cx="110114" cy="116828"/>
          </a:xfrm>
        </p:grpSpPr>
        <p:sp>
          <p:nvSpPr>
            <p:cNvPr id="342" name="Rounded Rectangle 293"/>
            <p:cNvSpPr>
              <a:spLocks noChangeAspect="1"/>
            </p:cNvSpPr>
            <p:nvPr/>
          </p:nvSpPr>
          <p:spPr>
            <a:xfrm>
              <a:off x="3878895" y="1872991"/>
              <a:ext cx="108000" cy="116828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343" name="Freeform 429"/>
            <p:cNvSpPr>
              <a:spLocks noChangeArrowheads="1"/>
            </p:cNvSpPr>
            <p:nvPr/>
          </p:nvSpPr>
          <p:spPr bwMode="auto">
            <a:xfrm>
              <a:off x="3878895" y="1889431"/>
              <a:ext cx="110114" cy="83948"/>
            </a:xfrm>
            <a:custGeom>
              <a:avLst/>
              <a:gdLst>
                <a:gd name="T0" fmla="*/ 145 w 446"/>
                <a:gd name="T1" fmla="*/ 266 h 340"/>
                <a:gd name="T2" fmla="*/ 39 w 446"/>
                <a:gd name="T3" fmla="*/ 160 h 340"/>
                <a:gd name="T4" fmla="*/ 0 w 446"/>
                <a:gd name="T5" fmla="*/ 194 h 340"/>
                <a:gd name="T6" fmla="*/ 145 w 446"/>
                <a:gd name="T7" fmla="*/ 339 h 340"/>
                <a:gd name="T8" fmla="*/ 445 w 446"/>
                <a:gd name="T9" fmla="*/ 34 h 340"/>
                <a:gd name="T10" fmla="*/ 411 w 446"/>
                <a:gd name="T11" fmla="*/ 0 h 340"/>
                <a:gd name="T12" fmla="*/ 145 w 446"/>
                <a:gd name="T13" fmla="*/ 266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340">
                  <a:moveTo>
                    <a:pt x="145" y="266"/>
                  </a:moveTo>
                  <a:lnTo>
                    <a:pt x="39" y="160"/>
                  </a:lnTo>
                  <a:lnTo>
                    <a:pt x="0" y="194"/>
                  </a:lnTo>
                  <a:lnTo>
                    <a:pt x="145" y="339"/>
                  </a:lnTo>
                  <a:lnTo>
                    <a:pt x="445" y="34"/>
                  </a:lnTo>
                  <a:lnTo>
                    <a:pt x="411" y="0"/>
                  </a:lnTo>
                  <a:lnTo>
                    <a:pt x="145" y="266"/>
                  </a:ln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grpSp>
        <p:nvGrpSpPr>
          <p:cNvPr id="344" name="그룹 343"/>
          <p:cNvGrpSpPr/>
          <p:nvPr/>
        </p:nvGrpSpPr>
        <p:grpSpPr>
          <a:xfrm>
            <a:off x="1890429" y="2193272"/>
            <a:ext cx="110114" cy="116828"/>
            <a:chOff x="3878895" y="1872991"/>
            <a:chExt cx="110114" cy="116828"/>
          </a:xfrm>
        </p:grpSpPr>
        <p:sp>
          <p:nvSpPr>
            <p:cNvPr id="345" name="Rounded Rectangle 293"/>
            <p:cNvSpPr>
              <a:spLocks noChangeAspect="1"/>
            </p:cNvSpPr>
            <p:nvPr/>
          </p:nvSpPr>
          <p:spPr>
            <a:xfrm>
              <a:off x="3878895" y="1872991"/>
              <a:ext cx="108000" cy="116828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346" name="Freeform 429"/>
            <p:cNvSpPr>
              <a:spLocks noChangeArrowheads="1"/>
            </p:cNvSpPr>
            <p:nvPr/>
          </p:nvSpPr>
          <p:spPr bwMode="auto">
            <a:xfrm>
              <a:off x="3878895" y="1889431"/>
              <a:ext cx="110114" cy="83948"/>
            </a:xfrm>
            <a:custGeom>
              <a:avLst/>
              <a:gdLst>
                <a:gd name="T0" fmla="*/ 145 w 446"/>
                <a:gd name="T1" fmla="*/ 266 h 340"/>
                <a:gd name="T2" fmla="*/ 39 w 446"/>
                <a:gd name="T3" fmla="*/ 160 h 340"/>
                <a:gd name="T4" fmla="*/ 0 w 446"/>
                <a:gd name="T5" fmla="*/ 194 h 340"/>
                <a:gd name="T6" fmla="*/ 145 w 446"/>
                <a:gd name="T7" fmla="*/ 339 h 340"/>
                <a:gd name="T8" fmla="*/ 445 w 446"/>
                <a:gd name="T9" fmla="*/ 34 h 340"/>
                <a:gd name="T10" fmla="*/ 411 w 446"/>
                <a:gd name="T11" fmla="*/ 0 h 340"/>
                <a:gd name="T12" fmla="*/ 145 w 446"/>
                <a:gd name="T13" fmla="*/ 266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340">
                  <a:moveTo>
                    <a:pt x="145" y="266"/>
                  </a:moveTo>
                  <a:lnTo>
                    <a:pt x="39" y="160"/>
                  </a:lnTo>
                  <a:lnTo>
                    <a:pt x="0" y="194"/>
                  </a:lnTo>
                  <a:lnTo>
                    <a:pt x="145" y="339"/>
                  </a:lnTo>
                  <a:lnTo>
                    <a:pt x="445" y="34"/>
                  </a:lnTo>
                  <a:lnTo>
                    <a:pt x="411" y="0"/>
                  </a:lnTo>
                  <a:lnTo>
                    <a:pt x="145" y="266"/>
                  </a:ln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grpSp>
        <p:nvGrpSpPr>
          <p:cNvPr id="347" name="그룹 346"/>
          <p:cNvGrpSpPr/>
          <p:nvPr/>
        </p:nvGrpSpPr>
        <p:grpSpPr>
          <a:xfrm>
            <a:off x="1890429" y="2424008"/>
            <a:ext cx="110114" cy="116828"/>
            <a:chOff x="3878895" y="1872991"/>
            <a:chExt cx="110114" cy="116828"/>
          </a:xfrm>
        </p:grpSpPr>
        <p:sp>
          <p:nvSpPr>
            <p:cNvPr id="348" name="Rounded Rectangle 293"/>
            <p:cNvSpPr>
              <a:spLocks noChangeAspect="1"/>
            </p:cNvSpPr>
            <p:nvPr/>
          </p:nvSpPr>
          <p:spPr>
            <a:xfrm>
              <a:off x="3878895" y="1872991"/>
              <a:ext cx="108000" cy="116828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349" name="Freeform 429"/>
            <p:cNvSpPr>
              <a:spLocks noChangeArrowheads="1"/>
            </p:cNvSpPr>
            <p:nvPr/>
          </p:nvSpPr>
          <p:spPr bwMode="auto">
            <a:xfrm>
              <a:off x="3878895" y="1889431"/>
              <a:ext cx="110114" cy="83948"/>
            </a:xfrm>
            <a:custGeom>
              <a:avLst/>
              <a:gdLst>
                <a:gd name="T0" fmla="*/ 145 w 446"/>
                <a:gd name="T1" fmla="*/ 266 h 340"/>
                <a:gd name="T2" fmla="*/ 39 w 446"/>
                <a:gd name="T3" fmla="*/ 160 h 340"/>
                <a:gd name="T4" fmla="*/ 0 w 446"/>
                <a:gd name="T5" fmla="*/ 194 h 340"/>
                <a:gd name="T6" fmla="*/ 145 w 446"/>
                <a:gd name="T7" fmla="*/ 339 h 340"/>
                <a:gd name="T8" fmla="*/ 445 w 446"/>
                <a:gd name="T9" fmla="*/ 34 h 340"/>
                <a:gd name="T10" fmla="*/ 411 w 446"/>
                <a:gd name="T11" fmla="*/ 0 h 340"/>
                <a:gd name="T12" fmla="*/ 145 w 446"/>
                <a:gd name="T13" fmla="*/ 266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340">
                  <a:moveTo>
                    <a:pt x="145" y="266"/>
                  </a:moveTo>
                  <a:lnTo>
                    <a:pt x="39" y="160"/>
                  </a:lnTo>
                  <a:lnTo>
                    <a:pt x="0" y="194"/>
                  </a:lnTo>
                  <a:lnTo>
                    <a:pt x="145" y="339"/>
                  </a:lnTo>
                  <a:lnTo>
                    <a:pt x="445" y="34"/>
                  </a:lnTo>
                  <a:lnTo>
                    <a:pt x="411" y="0"/>
                  </a:lnTo>
                  <a:lnTo>
                    <a:pt x="145" y="266"/>
                  </a:ln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sp>
        <p:nvSpPr>
          <p:cNvPr id="350" name="직사각형 349"/>
          <p:cNvSpPr/>
          <p:nvPr/>
        </p:nvSpPr>
        <p:spPr>
          <a:xfrm>
            <a:off x="331287" y="1010007"/>
            <a:ext cx="794267" cy="247828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353" name="타원 352"/>
          <p:cNvSpPr/>
          <p:nvPr/>
        </p:nvSpPr>
        <p:spPr>
          <a:xfrm>
            <a:off x="224012" y="733363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7" name="Rectangle 566"/>
          <p:cNvSpPr/>
          <p:nvPr/>
        </p:nvSpPr>
        <p:spPr>
          <a:xfrm>
            <a:off x="1819399" y="1679690"/>
            <a:ext cx="1732375" cy="913494"/>
          </a:xfrm>
          <a:prstGeom prst="rect">
            <a:avLst/>
          </a:prstGeom>
          <a:ln w="9525">
            <a:solidFill>
              <a:srgbClr val="FF0000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358" name="타원 357"/>
          <p:cNvSpPr/>
          <p:nvPr/>
        </p:nvSpPr>
        <p:spPr>
          <a:xfrm>
            <a:off x="1688199" y="1627638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361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435938"/>
              </p:ext>
            </p:extLst>
          </p:nvPr>
        </p:nvGraphicFramePr>
        <p:xfrm>
          <a:off x="9270437" y="766288"/>
          <a:ext cx="2923841" cy="2877240"/>
        </p:xfrm>
        <a:graphic>
          <a:graphicData uri="http://schemas.openxmlformats.org/drawingml/2006/table">
            <a:tbl>
              <a:tblPr/>
              <a:tblGrid>
                <a:gridCol w="2450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88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 멤버 추가 팝업 출력 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en-US" altLang="ko-KR" sz="800" smtClean="0"/>
                        <a:t>SQ5.2.1.1</a:t>
                      </a:r>
                      <a:endParaRPr lang="ko-KR" altLang="en-US" sz="800" smtClean="0"/>
                    </a:p>
                  </a:txBody>
                  <a:tcPr marL="36000" marR="36000" marT="72000" marB="72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클릭시 알림 설정 레이어 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72000" marB="72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2-1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알림 설정</a:t>
                      </a:r>
                      <a:endParaRPr kumimoji="1" lang="en-US" altLang="ko-KR" sz="8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4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가지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 종류의 알림 설정 가능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새 공지 등록 시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새 글 등록 시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내가 멘션된 새 글 등록 시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새 의견 등록 시  </a:t>
                      </a:r>
                      <a:endParaRPr kumimoji="1" lang="en-US" altLang="ko-KR" sz="80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4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가지 종류의 알림 항목은 멀티 선택 가능</a:t>
                      </a:r>
                      <a:endParaRPr kumimoji="1" lang="en-US" altLang="ko-KR" sz="80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전체 알림 받기 선택 시 전체 알림 받기에 체크박스가 활성화 되고 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4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가지 알림 항목에도 체크박스 처리</a:t>
                      </a:r>
                      <a:endParaRPr kumimoji="1" lang="en-US" altLang="ko-KR" sz="80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  (Default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로 전체 알림 받기 선택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kumimoji="1" lang="ko-KR" altLang="en-US" sz="80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72000" marB="72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36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 종료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 종료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이 그룹을 정말로 종료하시겠습니까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? (.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그룹을 종료하시면 하단 종료된 그룹에서 확인하실 수 있습니다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.”)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라는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안내 메시지 창을 오픈 후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버튼 클릭 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”</a:t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종료 처리하고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워크피드로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 숨김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그룹삭제 는 환경설정에서 가능</a:t>
                      </a:r>
                    </a:p>
                  </a:txBody>
                  <a:tcPr marL="36000" marR="36000" marT="72000" marB="72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362" name="그룹 361"/>
          <p:cNvGrpSpPr/>
          <p:nvPr/>
        </p:nvGrpSpPr>
        <p:grpSpPr>
          <a:xfrm>
            <a:off x="1905615" y="1422178"/>
            <a:ext cx="1323884" cy="195257"/>
            <a:chOff x="6575367" y="976838"/>
            <a:chExt cx="1323884" cy="195257"/>
          </a:xfrm>
        </p:grpSpPr>
        <p:sp>
          <p:nvSpPr>
            <p:cNvPr id="363" name="모서리가 둥근 직사각형 362"/>
            <p:cNvSpPr/>
            <p:nvPr/>
          </p:nvSpPr>
          <p:spPr>
            <a:xfrm>
              <a:off x="6891251" y="976838"/>
              <a:ext cx="1008000" cy="19525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15000"/>
                </a:lnSpc>
                <a:spcBef>
                  <a:spcPct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나눔고딕" pitchFamily="50" charset="-127"/>
                  <a:ea typeface="나눔고딕" pitchFamily="50" charset="-127"/>
                  <a:cs typeface="+mn-cs"/>
                </a:rPr>
                <a:t>   알림 받지 않기</a:t>
              </a:r>
            </a:p>
          </p:txBody>
        </p:sp>
        <p:sp>
          <p:nvSpPr>
            <p:cNvPr id="364" name="모서리가 둥근 직사각형 363"/>
            <p:cNvSpPr/>
            <p:nvPr/>
          </p:nvSpPr>
          <p:spPr>
            <a:xfrm>
              <a:off x="6575367" y="976838"/>
              <a:ext cx="504000" cy="195257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15000"/>
                </a:lnSpc>
                <a:spcBef>
                  <a:spcPct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나눔고딕" pitchFamily="50" charset="-127"/>
                  <a:ea typeface="나눔고딕" pitchFamily="50" charset="-127"/>
                  <a:cs typeface="+mn-cs"/>
                </a:rPr>
                <a:t>알림받기</a:t>
              </a:r>
              <a:endPara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endParaRPr>
            </a:p>
          </p:txBody>
        </p:sp>
      </p:grpSp>
      <p:sp>
        <p:nvSpPr>
          <p:cNvPr id="365" name="타원 364"/>
          <p:cNvSpPr/>
          <p:nvPr/>
        </p:nvSpPr>
        <p:spPr>
          <a:xfrm>
            <a:off x="224012" y="1267793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5" name="내용 개체 틀 2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</p:spPr>
        <p:txBody>
          <a:bodyPr/>
          <a:lstStyle/>
          <a:p>
            <a:r>
              <a:rPr lang="ko-KR" altLang="en-US" dirty="0"/>
              <a:t>스퀘어 홈</a:t>
            </a:r>
            <a:r>
              <a:rPr lang="en-US" altLang="ko-KR" dirty="0"/>
              <a:t>&gt; </a:t>
            </a:r>
            <a:r>
              <a:rPr lang="ko-KR" altLang="en-US" dirty="0"/>
              <a:t>그룹</a:t>
            </a:r>
          </a:p>
        </p:txBody>
      </p:sp>
      <p:sp>
        <p:nvSpPr>
          <p:cNvPr id="207" name="타원 206"/>
          <p:cNvSpPr/>
          <p:nvPr/>
        </p:nvSpPr>
        <p:spPr>
          <a:xfrm>
            <a:off x="224012" y="1000063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8" name="직선 화살표 연결선 7"/>
          <p:cNvCxnSpPr/>
          <p:nvPr/>
        </p:nvCxnSpPr>
        <p:spPr>
          <a:xfrm>
            <a:off x="1114425" y="1129473"/>
            <a:ext cx="600075" cy="0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749689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>
          <a:xfrm>
            <a:off x="180168" y="166885"/>
            <a:ext cx="10515163" cy="308883"/>
          </a:xfrm>
        </p:spPr>
        <p:txBody>
          <a:bodyPr/>
          <a:lstStyle/>
          <a:p>
            <a:r>
              <a:rPr kumimoji="1" lang="en-US" altLang="ko-KR" dirty="0"/>
              <a:t>5. </a:t>
            </a:r>
            <a:r>
              <a:rPr kumimoji="1" lang="ko-KR" altLang="en-US" dirty="0"/>
              <a:t>스퀘어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1"/>
          </p:nvPr>
        </p:nvSpPr>
        <p:spPr/>
        <p:txBody>
          <a:bodyPr/>
          <a:lstStyle/>
          <a:p>
            <a:r>
              <a:rPr lang="en-US" altLang="ko-KR" dirty="0" smtClean="0"/>
              <a:t>5.5. </a:t>
            </a:r>
            <a:r>
              <a:rPr lang="ko-KR" altLang="en-US" dirty="0" err="1"/>
              <a:t>피드</a:t>
            </a:r>
            <a:r>
              <a:rPr lang="ko-KR" altLang="en-US" dirty="0"/>
              <a:t> </a:t>
            </a:r>
            <a:r>
              <a:rPr lang="en-US" altLang="ko-KR" dirty="0" smtClean="0"/>
              <a:t>Type</a:t>
            </a:r>
            <a:endParaRPr lang="en-US" altLang="ko-KR" dirty="0"/>
          </a:p>
        </p:txBody>
      </p:sp>
      <p:graphicFrame>
        <p:nvGraphicFramePr>
          <p:cNvPr id="248" name="표"/>
          <p:cNvGraphicFramePr/>
          <p:nvPr>
            <p:extLst>
              <p:ext uri="{D42A27DB-BD31-4B8C-83A1-F6EECF244321}">
                <p14:modId xmlns:p14="http://schemas.microsoft.com/office/powerpoint/2010/main" val="2567072042"/>
              </p:ext>
            </p:extLst>
          </p:nvPr>
        </p:nvGraphicFramePr>
        <p:xfrm>
          <a:off x="7888077" y="286250"/>
          <a:ext cx="4219461" cy="6092858"/>
        </p:xfrm>
        <a:graphic>
          <a:graphicData uri="http://schemas.openxmlformats.org/drawingml/2006/table">
            <a:tbl>
              <a:tblPr/>
              <a:tblGrid>
                <a:gridCol w="2983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36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275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4689">
                <a:tc gridSpan="3">
                  <a:txBody>
                    <a:bodyPr/>
                    <a:lstStyle/>
                    <a:p>
                      <a:pPr algn="l" defTabSz="914400">
                        <a:defRPr sz="1800"/>
                      </a:pPr>
                      <a:r>
                        <a:rPr sz="1000" b="1" dirty="0" smtClean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  <a:endParaRPr sz="1000" b="1" dirty="0">
                        <a:latin typeface="+mj-ea"/>
                        <a:ea typeface="+mj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50800" marR="50800" marT="36000" marB="3600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344">
                <a:tc gridSpan="3">
                  <a:txBody>
                    <a:bodyPr/>
                    <a:lstStyle/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ko-KR" altLang="en-US" sz="1100" dirty="0" smtClean="0">
                          <a:latin typeface="+mj-ea"/>
                          <a:ea typeface="+mj-ea"/>
                          <a:cs typeface="Nanum Gothic" charset="-127"/>
                        </a:rPr>
                        <a:t>스퀘어 피드 </a:t>
                      </a:r>
                      <a:r>
                        <a:rPr lang="en-US" altLang="ko-KR" sz="1100" dirty="0" smtClean="0">
                          <a:latin typeface="+mj-ea"/>
                          <a:ea typeface="+mj-ea"/>
                          <a:cs typeface="Nanum Gothic" charset="-127"/>
                        </a:rPr>
                        <a:t>Type</a:t>
                      </a:r>
                      <a:r>
                        <a:rPr lang="ko-KR" altLang="en-US" sz="1100" dirty="0" smtClean="0">
                          <a:latin typeface="+mj-ea"/>
                          <a:ea typeface="+mj-ea"/>
                          <a:cs typeface="Nanum Gothic" charset="-127"/>
                        </a:rPr>
                        <a:t> 정의</a:t>
                      </a:r>
                      <a:endParaRPr lang="en-US" altLang="ko-KR" sz="1100" dirty="0" smtClean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50800" marR="50800" marT="36000" marB="36000" horzOverflow="overflow">
                    <a:lnL w="0">
                      <a:miter lim="400000"/>
                    </a:lnL>
                    <a:lnR w="0">
                      <a:miter lim="400000"/>
                    </a:lnR>
                    <a:lnT>
                      <a:solidFill>
                        <a:srgbClr val="A6AAA9"/>
                      </a:solidFill>
                      <a:miter lim="400000"/>
                    </a:lnT>
                    <a:lnB w="12700" cap="flat" cmpd="sng" algn="ctr">
                      <a:solidFill>
                        <a:srgbClr val="53585F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689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sz="100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No.</a:t>
                      </a: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100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Name</a:t>
                      </a:r>
                    </a:p>
                  </a:txBody>
                  <a:tcPr marL="36000" marR="360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100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</a:p>
                  </a:txBody>
                  <a:tcPr marL="36000" marR="360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 w="0"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그룹명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피드가 속한 그룹명을 표시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플래그 글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멘션 글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VIP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글 메뉴에서 제공하는 피드에만 표시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 시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그룹 상세 화면으로 이동 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피드 기본정보 및 기능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작성자 정보</a:t>
                      </a: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프로필 사진</a:t>
                      </a: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이름</a:t>
                      </a: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부서명</a:t>
                      </a: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작성 시간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보내기 및 더보기 버튼 제공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2-1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작성자 및 시간정보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작성자 프로필 사진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이름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부서명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피드 업로드 시간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프로필 선택 시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네임카드 제공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2-2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보내기 버튼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피드를 메일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업무넷으로 컨텐츠를 보내는 버튼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하단으로 드롭다운하여 연계 기능 리스트 제공</a:t>
                      </a:r>
                      <a:endParaRPr lang="en-US" altLang="ko-KR" sz="8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메일로 전송</a:t>
                      </a:r>
                      <a:endParaRPr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게시물로 등록</a:t>
                      </a:r>
                      <a:endParaRPr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피드로 작성되지 않은 시스템 메시지일 경우 출력하지 않음</a:t>
                      </a:r>
                      <a:endParaRPr lang="en-US" altLang="ko-KR" sz="800" b="1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altLang="ko-KR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비공개 그룹일 경우에도</a:t>
                      </a:r>
                      <a:r>
                        <a:rPr lang="en-US" altLang="ko-KR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해당 버튼 출력</a:t>
                      </a:r>
                      <a:endParaRPr lang="en-US" altLang="ko-KR" sz="800" b="1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49321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2-3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더보기 버튼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피드 추가 기능을 제공하는 버튼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 시 하단으로 드롭다운하여 기능 리스트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제공 기능 </a:t>
                      </a:r>
                    </a:p>
                    <a:p>
                      <a:pPr marL="182563" indent="-98425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타인이 올린 피드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복사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이미지 모두저장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파일 모두저장 </a:t>
                      </a:r>
                    </a:p>
                    <a:p>
                      <a:pPr marL="182563" indent="-98425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사용자가 올린 피드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복사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이미지 모두저장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파일 모두저장</a:t>
                      </a:r>
                      <a:endParaRPr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84138" indent="-84138" algn="l" defTabSz="914400">
                        <a:buSzPct val="75000"/>
                        <a:buFont typeface="맑은 고딕" pitchFamily="50" charset="-127"/>
                        <a:buNone/>
                        <a:tabLst/>
                        <a:defRPr sz="2000"/>
                      </a:pPr>
                      <a:r>
                        <a:rPr lang="en-US" altLang="ko-KR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800" b="1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피드로 작성되지 않은 시스템 메시지일 경우 출력하지 않음</a:t>
                      </a:r>
                      <a:endParaRPr lang="ko-KR" altLang="en-US" sz="8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텍스트 표시 영역</a:t>
                      </a:r>
                      <a:endParaRPr lang="en-US"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텍스트로 작성한 컨텐츠 표시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줄까지만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 노출되며 초과 시 더보기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더보기 선택 시 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하단으로 전체 피드 펼침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더보기 시 사용자가 첨부한 이미지가 텍스트 컨텐츠 내 해당 위치에서 제공됨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3-1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시스템 컨텐츠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스퀘어 개설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 등록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멤버 추가 시 자동 등록 피드의 경우 제공하는 컨텐츠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 등록 시 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일정 제목 및 일시 정보 제공하며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선택 시 해당 일정 상세 새창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멤버 추가 시 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멤버 이름 및 소속 정보 제공하며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선택 시 네임카드 제공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여러 명을 추가한 경우 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링크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작성한 텍스트 중 링크가 있는 경우 해당 링크 진입점을 제공하는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 시 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링크 페이지 새창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브라우저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으로 제공</a:t>
                      </a:r>
                      <a:endParaRPr lang="en-US" altLang="ko-KR" sz="8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링크의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뷰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순서는 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as-is 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형식으로 개발</a:t>
                      </a:r>
                      <a:endParaRPr lang="en-US" altLang="ko-KR" sz="8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26" name="텍스트 상자 31"/>
          <p:cNvSpPr txBox="1"/>
          <p:nvPr/>
        </p:nvSpPr>
        <p:spPr>
          <a:xfrm>
            <a:off x="444761" y="1100138"/>
            <a:ext cx="3370193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일반 피드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Type (Default)</a:t>
            </a: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(Full</a:t>
            </a: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Feature)</a:t>
            </a: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: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27" name="Rectangle 501"/>
          <p:cNvSpPr/>
          <p:nvPr/>
        </p:nvSpPr>
        <p:spPr>
          <a:xfrm>
            <a:off x="444761" y="1648198"/>
            <a:ext cx="3437310" cy="390914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28" name="텍스트 상자 31"/>
          <p:cNvSpPr txBox="1"/>
          <p:nvPr/>
        </p:nvSpPr>
        <p:spPr>
          <a:xfrm>
            <a:off x="902420" y="17795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김민수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|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UX/UI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129" name="그룹 400"/>
          <p:cNvGrpSpPr/>
          <p:nvPr/>
        </p:nvGrpSpPr>
        <p:grpSpPr>
          <a:xfrm>
            <a:off x="559628" y="1769072"/>
            <a:ext cx="229236" cy="229194"/>
            <a:chOff x="2625629" y="3735853"/>
            <a:chExt cx="276891" cy="276839"/>
          </a:xfrm>
        </p:grpSpPr>
        <p:sp>
          <p:nvSpPr>
            <p:cNvPr id="130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131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32" name="텍스트 상자 31"/>
          <p:cNvSpPr txBox="1"/>
          <p:nvPr/>
        </p:nvSpPr>
        <p:spPr>
          <a:xfrm>
            <a:off x="902420" y="191739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</a:t>
            </a: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시간 전</a:t>
            </a:r>
            <a:endParaRPr kumimoji="1" lang="ko-KR" altLang="en-US" sz="55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33" name="텍스트 상자 31"/>
          <p:cNvSpPr txBox="1"/>
          <p:nvPr/>
        </p:nvSpPr>
        <p:spPr>
          <a:xfrm>
            <a:off x="559628" y="2122471"/>
            <a:ext cx="3250996" cy="36625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다음 달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회식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날짜 정하려고 합니다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일정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확인후 댓글로 가능여부 남겨주세요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!</a:t>
            </a:r>
            <a:endParaRPr kumimoji="1" lang="ko-KR" altLang="en-US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더불어 몇가지 이슈가 있어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공유 드립니다</a:t>
            </a:r>
            <a:r>
              <a:rPr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mr-IN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…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더보기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34" name="Rounded Rectangle 509"/>
          <p:cNvSpPr/>
          <p:nvPr/>
        </p:nvSpPr>
        <p:spPr>
          <a:xfrm>
            <a:off x="531784" y="4310560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회식</a:t>
            </a:r>
            <a:endParaRPr kumimoji="1" lang="en-US" sz="55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35" name="Rounded Rectangle 510"/>
          <p:cNvSpPr/>
          <p:nvPr/>
        </p:nvSpPr>
        <p:spPr>
          <a:xfrm>
            <a:off x="891340" y="4310560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일정</a:t>
            </a:r>
            <a:endParaRPr kumimoji="1" lang="en-US" sz="55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179" name="직선 연결선[R] 33"/>
          <p:cNvCxnSpPr/>
          <p:nvPr/>
        </p:nvCxnSpPr>
        <p:spPr>
          <a:xfrm>
            <a:off x="533423" y="4492752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0" name="Rectangle 507"/>
          <p:cNvSpPr/>
          <p:nvPr/>
        </p:nvSpPr>
        <p:spPr>
          <a:xfrm>
            <a:off x="444761" y="4732426"/>
            <a:ext cx="3437310" cy="82491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181" name="Group 516"/>
          <p:cNvGrpSpPr/>
          <p:nvPr/>
        </p:nvGrpSpPr>
        <p:grpSpPr>
          <a:xfrm>
            <a:off x="559628" y="5149369"/>
            <a:ext cx="1612396" cy="229194"/>
            <a:chOff x="2478168" y="4026446"/>
            <a:chExt cx="1612396" cy="229194"/>
          </a:xfrm>
        </p:grpSpPr>
        <p:sp>
          <p:nvSpPr>
            <p:cNvPr id="182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박현주</a:t>
              </a: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댓글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블라블라블라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183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185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186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84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30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분전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187" name="Rectangle 526"/>
          <p:cNvSpPr/>
          <p:nvPr/>
        </p:nvSpPr>
        <p:spPr>
          <a:xfrm>
            <a:off x="533424" y="4808330"/>
            <a:ext cx="3234094" cy="18201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88" name="텍스트 상자 31"/>
          <p:cNvSpPr txBox="1"/>
          <p:nvPr/>
        </p:nvSpPr>
        <p:spPr>
          <a:xfrm>
            <a:off x="569867" y="4860037"/>
            <a:ext cx="718390" cy="769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의견을 입력하세요</a:t>
            </a:r>
            <a:endParaRPr kumimoji="1" lang="ko-KR" altLang="en-US" sz="5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192" name="직선 연결선[R] 33"/>
          <p:cNvCxnSpPr/>
          <p:nvPr/>
        </p:nvCxnSpPr>
        <p:spPr>
          <a:xfrm>
            <a:off x="533423" y="5061737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" name="Rectangle 523"/>
          <p:cNvSpPr/>
          <p:nvPr/>
        </p:nvSpPr>
        <p:spPr>
          <a:xfrm>
            <a:off x="444761" y="5431417"/>
            <a:ext cx="343731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94" name="텍스트 상자 31"/>
          <p:cNvSpPr txBox="1"/>
          <p:nvPr/>
        </p:nvSpPr>
        <p:spPr>
          <a:xfrm>
            <a:off x="1863128" y="5453441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4</a:t>
            </a:r>
            <a:r>
              <a:rPr kumimoji="1" lang="ko-KR" altLang="en-US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개 모두 보기</a:t>
            </a:r>
            <a:endParaRPr kumimoji="1" lang="ko-KR" altLang="en-US" sz="5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95" name="Freeform 25"/>
          <p:cNvSpPr>
            <a:spLocks noChangeAspect="1" noEditPoints="1"/>
          </p:cNvSpPr>
          <p:nvPr/>
        </p:nvSpPr>
        <p:spPr bwMode="auto">
          <a:xfrm>
            <a:off x="3504868" y="1809484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96" name="Freeform 26"/>
          <p:cNvSpPr>
            <a:spLocks noChangeAspect="1" noChangeArrowheads="1"/>
          </p:cNvSpPr>
          <p:nvPr/>
        </p:nvSpPr>
        <p:spPr bwMode="auto">
          <a:xfrm flipH="1">
            <a:off x="3719828" y="1802388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97" name="Rectangle 598"/>
          <p:cNvSpPr/>
          <p:nvPr/>
        </p:nvSpPr>
        <p:spPr>
          <a:xfrm>
            <a:off x="555308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98" name="Rectangle 599"/>
          <p:cNvSpPr/>
          <p:nvPr/>
        </p:nvSpPr>
        <p:spPr>
          <a:xfrm>
            <a:off x="1308431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199" name="Rectangle 600"/>
          <p:cNvSpPr/>
          <p:nvPr/>
        </p:nvSpPr>
        <p:spPr>
          <a:xfrm>
            <a:off x="2061554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200" name="Rectangle 601"/>
          <p:cNvSpPr/>
          <p:nvPr/>
        </p:nvSpPr>
        <p:spPr>
          <a:xfrm>
            <a:off x="2814677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201" name="Rectangle 602"/>
          <p:cNvSpPr/>
          <p:nvPr/>
        </p:nvSpPr>
        <p:spPr>
          <a:xfrm>
            <a:off x="3567801" y="3232874"/>
            <a:ext cx="238503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02" name="Freeform 14"/>
          <p:cNvSpPr>
            <a:spLocks noChangeArrowheads="1"/>
          </p:cNvSpPr>
          <p:nvPr/>
        </p:nvSpPr>
        <p:spPr bwMode="auto">
          <a:xfrm rot="5400000">
            <a:off x="3624582" y="3533944"/>
            <a:ext cx="150676" cy="92080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cxnSp>
        <p:nvCxnSpPr>
          <p:cNvPr id="203" name="직선 연결선[R] 33"/>
          <p:cNvCxnSpPr/>
          <p:nvPr/>
        </p:nvCxnSpPr>
        <p:spPr>
          <a:xfrm>
            <a:off x="533423" y="4253497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8" name="Rounded Rectangle 133"/>
          <p:cNvSpPr/>
          <p:nvPr/>
        </p:nvSpPr>
        <p:spPr>
          <a:xfrm>
            <a:off x="541106" y="4019222"/>
            <a:ext cx="648000" cy="177213"/>
          </a:xfrm>
          <a:prstGeom prst="roundRect">
            <a:avLst>
              <a:gd name="adj" fmla="val 8420"/>
            </a:avLst>
          </a:prstGeom>
          <a:noFill/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5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09" name="Group 1"/>
          <p:cNvGrpSpPr/>
          <p:nvPr/>
        </p:nvGrpSpPr>
        <p:grpSpPr>
          <a:xfrm>
            <a:off x="714374" y="4055826"/>
            <a:ext cx="493565" cy="107722"/>
            <a:chOff x="2459064" y="3489248"/>
            <a:chExt cx="493565" cy="107722"/>
          </a:xfrm>
        </p:grpSpPr>
        <p:sp>
          <p:nvSpPr>
            <p:cNvPr id="210" name="Freeform 90"/>
            <p:cNvSpPr>
              <a:spLocks noChangeAspect="1" noChangeArrowheads="1"/>
            </p:cNvSpPr>
            <p:nvPr/>
          </p:nvSpPr>
          <p:spPr bwMode="auto">
            <a:xfrm>
              <a:off x="2459064" y="3507399"/>
              <a:ext cx="130637" cy="72000"/>
            </a:xfrm>
            <a:custGeom>
              <a:avLst/>
              <a:gdLst>
                <a:gd name="T0" fmla="*/ 214 w 774"/>
                <a:gd name="T1" fmla="*/ 426 h 427"/>
                <a:gd name="T2" fmla="*/ 0 w 774"/>
                <a:gd name="T3" fmla="*/ 213 h 427"/>
                <a:gd name="T4" fmla="*/ 214 w 774"/>
                <a:gd name="T5" fmla="*/ 0 h 427"/>
                <a:gd name="T6" fmla="*/ 618 w 774"/>
                <a:gd name="T7" fmla="*/ 0 h 427"/>
                <a:gd name="T8" fmla="*/ 773 w 774"/>
                <a:gd name="T9" fmla="*/ 154 h 427"/>
                <a:gd name="T10" fmla="*/ 618 w 774"/>
                <a:gd name="T11" fmla="*/ 309 h 427"/>
                <a:gd name="T12" fmla="*/ 287 w 774"/>
                <a:gd name="T13" fmla="*/ 309 h 427"/>
                <a:gd name="T14" fmla="*/ 192 w 774"/>
                <a:gd name="T15" fmla="*/ 213 h 427"/>
                <a:gd name="T16" fmla="*/ 287 w 774"/>
                <a:gd name="T17" fmla="*/ 117 h 427"/>
                <a:gd name="T18" fmla="*/ 581 w 774"/>
                <a:gd name="T19" fmla="*/ 117 h 427"/>
                <a:gd name="T20" fmla="*/ 581 w 774"/>
                <a:gd name="T21" fmla="*/ 176 h 427"/>
                <a:gd name="T22" fmla="*/ 287 w 774"/>
                <a:gd name="T23" fmla="*/ 176 h 427"/>
                <a:gd name="T24" fmla="*/ 250 w 774"/>
                <a:gd name="T25" fmla="*/ 213 h 427"/>
                <a:gd name="T26" fmla="*/ 287 w 774"/>
                <a:gd name="T27" fmla="*/ 250 h 427"/>
                <a:gd name="T28" fmla="*/ 618 w 774"/>
                <a:gd name="T29" fmla="*/ 250 h 427"/>
                <a:gd name="T30" fmla="*/ 714 w 774"/>
                <a:gd name="T31" fmla="*/ 154 h 427"/>
                <a:gd name="T32" fmla="*/ 618 w 774"/>
                <a:gd name="T33" fmla="*/ 58 h 427"/>
                <a:gd name="T34" fmla="*/ 214 w 774"/>
                <a:gd name="T35" fmla="*/ 58 h 427"/>
                <a:gd name="T36" fmla="*/ 59 w 774"/>
                <a:gd name="T37" fmla="*/ 213 h 427"/>
                <a:gd name="T38" fmla="*/ 214 w 774"/>
                <a:gd name="T39" fmla="*/ 367 h 427"/>
                <a:gd name="T40" fmla="*/ 581 w 774"/>
                <a:gd name="T41" fmla="*/ 367 h 427"/>
                <a:gd name="T42" fmla="*/ 581 w 774"/>
                <a:gd name="T43" fmla="*/ 426 h 427"/>
                <a:gd name="T44" fmla="*/ 214 w 774"/>
                <a:gd name="T45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4" h="427">
                  <a:moveTo>
                    <a:pt x="214" y="426"/>
                  </a:moveTo>
                  <a:cubicBezTo>
                    <a:pt x="96" y="426"/>
                    <a:pt x="0" y="331"/>
                    <a:pt x="0" y="213"/>
                  </a:cubicBezTo>
                  <a:cubicBezTo>
                    <a:pt x="0" y="95"/>
                    <a:pt x="96" y="0"/>
                    <a:pt x="214" y="0"/>
                  </a:cubicBezTo>
                  <a:lnTo>
                    <a:pt x="618" y="0"/>
                  </a:lnTo>
                  <a:cubicBezTo>
                    <a:pt x="699" y="0"/>
                    <a:pt x="773" y="69"/>
                    <a:pt x="773" y="154"/>
                  </a:cubicBezTo>
                  <a:cubicBezTo>
                    <a:pt x="773" y="239"/>
                    <a:pt x="699" y="309"/>
                    <a:pt x="618" y="309"/>
                  </a:cubicBezTo>
                  <a:lnTo>
                    <a:pt x="287" y="309"/>
                  </a:lnTo>
                  <a:cubicBezTo>
                    <a:pt x="236" y="309"/>
                    <a:pt x="192" y="264"/>
                    <a:pt x="192" y="213"/>
                  </a:cubicBezTo>
                  <a:cubicBezTo>
                    <a:pt x="192" y="161"/>
                    <a:pt x="236" y="117"/>
                    <a:pt x="287" y="117"/>
                  </a:cubicBezTo>
                  <a:lnTo>
                    <a:pt x="581" y="117"/>
                  </a:lnTo>
                  <a:lnTo>
                    <a:pt x="581" y="176"/>
                  </a:lnTo>
                  <a:lnTo>
                    <a:pt x="287" y="176"/>
                  </a:lnTo>
                  <a:cubicBezTo>
                    <a:pt x="265" y="176"/>
                    <a:pt x="250" y="191"/>
                    <a:pt x="250" y="213"/>
                  </a:cubicBezTo>
                  <a:cubicBezTo>
                    <a:pt x="250" y="235"/>
                    <a:pt x="265" y="250"/>
                    <a:pt x="287" y="250"/>
                  </a:cubicBezTo>
                  <a:lnTo>
                    <a:pt x="618" y="250"/>
                  </a:lnTo>
                  <a:cubicBezTo>
                    <a:pt x="670" y="250"/>
                    <a:pt x="714" y="209"/>
                    <a:pt x="714" y="154"/>
                  </a:cubicBezTo>
                  <a:cubicBezTo>
                    <a:pt x="714" y="99"/>
                    <a:pt x="670" y="58"/>
                    <a:pt x="618" y="58"/>
                  </a:cubicBezTo>
                  <a:lnTo>
                    <a:pt x="214" y="58"/>
                  </a:lnTo>
                  <a:cubicBezTo>
                    <a:pt x="125" y="58"/>
                    <a:pt x="59" y="128"/>
                    <a:pt x="59" y="213"/>
                  </a:cubicBezTo>
                  <a:cubicBezTo>
                    <a:pt x="59" y="297"/>
                    <a:pt x="125" y="367"/>
                    <a:pt x="214" y="367"/>
                  </a:cubicBezTo>
                  <a:lnTo>
                    <a:pt x="581" y="367"/>
                  </a:lnTo>
                  <a:lnTo>
                    <a:pt x="581" y="426"/>
                  </a:lnTo>
                  <a:lnTo>
                    <a:pt x="214" y="426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11" name="텍스트 상자 31"/>
            <p:cNvSpPr txBox="1"/>
            <p:nvPr/>
          </p:nvSpPr>
          <p:spPr>
            <a:xfrm>
              <a:off x="2634001" y="3489248"/>
              <a:ext cx="318628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파일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5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212" name="Freeform 24"/>
          <p:cNvSpPr>
            <a:spLocks noChangeAspect="1" noChangeArrowheads="1"/>
          </p:cNvSpPr>
          <p:nvPr/>
        </p:nvSpPr>
        <p:spPr bwMode="auto">
          <a:xfrm flipV="1">
            <a:off x="598696" y="4095936"/>
            <a:ext cx="57767" cy="36000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13" name="Triangle 529"/>
          <p:cNvSpPr>
            <a:spLocks noChangeAspect="1"/>
          </p:cNvSpPr>
          <p:nvPr/>
        </p:nvSpPr>
        <p:spPr>
          <a:xfrm flipV="1">
            <a:off x="1763097" y="5472534"/>
            <a:ext cx="72000" cy="52888"/>
          </a:xfrm>
          <a:prstGeom prst="triangl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14" name="Rounded Rectangle 193"/>
          <p:cNvSpPr/>
          <p:nvPr/>
        </p:nvSpPr>
        <p:spPr>
          <a:xfrm>
            <a:off x="3485404" y="4835808"/>
            <a:ext cx="257806" cy="137831"/>
          </a:xfrm>
          <a:prstGeom prst="roundRect">
            <a:avLst/>
          </a:prstGeom>
          <a:solidFill>
            <a:schemeClr val="bg1">
              <a:lumMod val="6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15" name="Group 5"/>
          <p:cNvGrpSpPr/>
          <p:nvPr/>
        </p:nvGrpSpPr>
        <p:grpSpPr>
          <a:xfrm>
            <a:off x="444761" y="1325199"/>
            <a:ext cx="3437310" cy="288202"/>
            <a:chOff x="444761" y="1400721"/>
            <a:chExt cx="3437310" cy="288202"/>
          </a:xfrm>
        </p:grpSpPr>
        <p:sp>
          <p:nvSpPr>
            <p:cNvPr id="216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17" name="텍스트 상자 31"/>
            <p:cNvSpPr txBox="1"/>
            <p:nvPr/>
          </p:nvSpPr>
          <p:spPr>
            <a:xfrm>
              <a:off x="562816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자동차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개선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18" name="Freeform 14"/>
            <p:cNvSpPr>
              <a:spLocks noChangeArrowheads="1"/>
            </p:cNvSpPr>
            <p:nvPr/>
          </p:nvSpPr>
          <p:spPr bwMode="auto">
            <a:xfrm rot="5400000">
              <a:off x="3727658" y="1517331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230" name="그룹 143"/>
          <p:cNvGrpSpPr/>
          <p:nvPr/>
        </p:nvGrpSpPr>
        <p:grpSpPr>
          <a:xfrm>
            <a:off x="315784" y="1218455"/>
            <a:ext cx="216000" cy="252000"/>
            <a:chOff x="2704212" y="2825113"/>
            <a:chExt cx="216000" cy="252000"/>
          </a:xfrm>
        </p:grpSpPr>
        <p:sp>
          <p:nvSpPr>
            <p:cNvPr id="231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32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233" name="그룹 143"/>
          <p:cNvGrpSpPr/>
          <p:nvPr/>
        </p:nvGrpSpPr>
        <p:grpSpPr>
          <a:xfrm>
            <a:off x="328932" y="1612151"/>
            <a:ext cx="216000" cy="252000"/>
            <a:chOff x="2704212" y="2825113"/>
            <a:chExt cx="216000" cy="252000"/>
          </a:xfrm>
        </p:grpSpPr>
        <p:sp>
          <p:nvSpPr>
            <p:cNvPr id="234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35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2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42" name="Rectangle 372"/>
          <p:cNvSpPr/>
          <p:nvPr/>
        </p:nvSpPr>
        <p:spPr>
          <a:xfrm>
            <a:off x="508468" y="3199986"/>
            <a:ext cx="3302156" cy="104012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43" name="Rectangle 374"/>
          <p:cNvSpPr/>
          <p:nvPr/>
        </p:nvSpPr>
        <p:spPr>
          <a:xfrm>
            <a:off x="508468" y="4267291"/>
            <a:ext cx="3302156" cy="200164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45" name="Rectangle 375"/>
          <p:cNvSpPr/>
          <p:nvPr/>
        </p:nvSpPr>
        <p:spPr>
          <a:xfrm>
            <a:off x="508468" y="4508105"/>
            <a:ext cx="3302156" cy="105533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64" name="그룹 143"/>
          <p:cNvGrpSpPr/>
          <p:nvPr/>
        </p:nvGrpSpPr>
        <p:grpSpPr>
          <a:xfrm>
            <a:off x="3659517" y="1536549"/>
            <a:ext cx="216000" cy="252000"/>
            <a:chOff x="2704212" y="2825113"/>
            <a:chExt cx="216000" cy="252000"/>
          </a:xfrm>
        </p:grpSpPr>
        <p:sp>
          <p:nvSpPr>
            <p:cNvPr id="265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66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2-3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267" name="그룹 143"/>
          <p:cNvGrpSpPr/>
          <p:nvPr/>
        </p:nvGrpSpPr>
        <p:grpSpPr>
          <a:xfrm>
            <a:off x="315784" y="3144659"/>
            <a:ext cx="216000" cy="252000"/>
            <a:chOff x="2704212" y="2825113"/>
            <a:chExt cx="216000" cy="252000"/>
          </a:xfrm>
        </p:grpSpPr>
        <p:sp>
          <p:nvSpPr>
            <p:cNvPr id="268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69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5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270" name="그룹 143"/>
          <p:cNvGrpSpPr/>
          <p:nvPr/>
        </p:nvGrpSpPr>
        <p:grpSpPr>
          <a:xfrm>
            <a:off x="315784" y="4262713"/>
            <a:ext cx="216000" cy="252000"/>
            <a:chOff x="2704212" y="2825113"/>
            <a:chExt cx="216000" cy="252000"/>
          </a:xfrm>
        </p:grpSpPr>
        <p:sp>
          <p:nvSpPr>
            <p:cNvPr id="271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72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6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273" name="그룹 143"/>
          <p:cNvGrpSpPr/>
          <p:nvPr/>
        </p:nvGrpSpPr>
        <p:grpSpPr>
          <a:xfrm>
            <a:off x="315784" y="4504506"/>
            <a:ext cx="216000" cy="252000"/>
            <a:chOff x="2704212" y="2825113"/>
            <a:chExt cx="216000" cy="252000"/>
          </a:xfrm>
        </p:grpSpPr>
        <p:sp>
          <p:nvSpPr>
            <p:cNvPr id="274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75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7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76" name="Rectangle 177"/>
          <p:cNvSpPr/>
          <p:nvPr/>
        </p:nvSpPr>
        <p:spPr>
          <a:xfrm>
            <a:off x="541106" y="2677891"/>
            <a:ext cx="3262132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77" name="Rectangle 177"/>
          <p:cNvSpPr/>
          <p:nvPr/>
        </p:nvSpPr>
        <p:spPr>
          <a:xfrm>
            <a:off x="541106" y="2677891"/>
            <a:ext cx="457200" cy="45887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image</a:t>
            </a:r>
          </a:p>
        </p:txBody>
      </p:sp>
      <p:sp>
        <p:nvSpPr>
          <p:cNvPr id="278" name="텍스트 상자 31"/>
          <p:cNvSpPr txBox="1"/>
          <p:nvPr/>
        </p:nvSpPr>
        <p:spPr>
          <a:xfrm>
            <a:off x="1072991" y="2758332"/>
            <a:ext cx="252000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네이버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네이버 메인에서 다양한 정보와 유용한 콘텐츠를 만나 보세요</a:t>
            </a: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79" name="텍스트 상자 31"/>
          <p:cNvSpPr txBox="1"/>
          <p:nvPr/>
        </p:nvSpPr>
        <p:spPr>
          <a:xfrm>
            <a:off x="3084762" y="2973303"/>
            <a:ext cx="651589" cy="9233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www.naver.com</a:t>
            </a:r>
            <a:endParaRPr kumimoji="1" lang="ko-KR" altLang="en-US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Malgun Gothic" charset="0"/>
            </a:endParaRPr>
          </a:p>
        </p:txBody>
      </p:sp>
      <p:sp>
        <p:nvSpPr>
          <p:cNvPr id="280" name="Rectangle 418"/>
          <p:cNvSpPr/>
          <p:nvPr/>
        </p:nvSpPr>
        <p:spPr>
          <a:xfrm>
            <a:off x="508468" y="2620978"/>
            <a:ext cx="3302156" cy="55020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81" name="그룹 143"/>
          <p:cNvGrpSpPr/>
          <p:nvPr/>
        </p:nvGrpSpPr>
        <p:grpSpPr>
          <a:xfrm>
            <a:off x="315784" y="2730652"/>
            <a:ext cx="216000" cy="252000"/>
            <a:chOff x="2704212" y="2825113"/>
            <a:chExt cx="216000" cy="252000"/>
          </a:xfrm>
        </p:grpSpPr>
        <p:sp>
          <p:nvSpPr>
            <p:cNvPr id="282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83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4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84" name="Rectangle 424"/>
          <p:cNvSpPr/>
          <p:nvPr/>
        </p:nvSpPr>
        <p:spPr>
          <a:xfrm>
            <a:off x="508468" y="1710128"/>
            <a:ext cx="3302156" cy="31744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85" name="그룹 143"/>
          <p:cNvGrpSpPr/>
          <p:nvPr/>
        </p:nvGrpSpPr>
        <p:grpSpPr>
          <a:xfrm>
            <a:off x="624698" y="1571321"/>
            <a:ext cx="216000" cy="252000"/>
            <a:chOff x="2704212" y="2825113"/>
            <a:chExt cx="216000" cy="252000"/>
          </a:xfrm>
        </p:grpSpPr>
        <p:sp>
          <p:nvSpPr>
            <p:cNvPr id="286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287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2-1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288" name="Group 245"/>
          <p:cNvGrpSpPr/>
          <p:nvPr/>
        </p:nvGrpSpPr>
        <p:grpSpPr>
          <a:xfrm>
            <a:off x="3149648" y="4852079"/>
            <a:ext cx="292649" cy="104698"/>
            <a:chOff x="4069651" y="4087589"/>
            <a:chExt cx="389265" cy="139263"/>
          </a:xfrm>
        </p:grpSpPr>
        <p:sp>
          <p:nvSpPr>
            <p:cNvPr id="289" name="Freeform 17"/>
            <p:cNvSpPr>
              <a:spLocks noChangeArrowheads="1"/>
            </p:cNvSpPr>
            <p:nvPr/>
          </p:nvSpPr>
          <p:spPr bwMode="auto">
            <a:xfrm>
              <a:off x="4069651" y="4087589"/>
              <a:ext cx="139453" cy="139263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90" name="Freeform 247"/>
            <p:cNvSpPr>
              <a:spLocks noChangeArrowheads="1"/>
            </p:cNvSpPr>
            <p:nvPr/>
          </p:nvSpPr>
          <p:spPr bwMode="auto">
            <a:xfrm>
              <a:off x="4284206" y="4107687"/>
              <a:ext cx="174710" cy="96157"/>
            </a:xfrm>
            <a:custGeom>
              <a:avLst/>
              <a:gdLst>
                <a:gd name="T0" fmla="*/ 214 w 774"/>
                <a:gd name="T1" fmla="*/ 426 h 427"/>
                <a:gd name="T2" fmla="*/ 0 w 774"/>
                <a:gd name="T3" fmla="*/ 213 h 427"/>
                <a:gd name="T4" fmla="*/ 214 w 774"/>
                <a:gd name="T5" fmla="*/ 0 h 427"/>
                <a:gd name="T6" fmla="*/ 618 w 774"/>
                <a:gd name="T7" fmla="*/ 0 h 427"/>
                <a:gd name="T8" fmla="*/ 773 w 774"/>
                <a:gd name="T9" fmla="*/ 154 h 427"/>
                <a:gd name="T10" fmla="*/ 618 w 774"/>
                <a:gd name="T11" fmla="*/ 309 h 427"/>
                <a:gd name="T12" fmla="*/ 287 w 774"/>
                <a:gd name="T13" fmla="*/ 309 h 427"/>
                <a:gd name="T14" fmla="*/ 192 w 774"/>
                <a:gd name="T15" fmla="*/ 213 h 427"/>
                <a:gd name="T16" fmla="*/ 287 w 774"/>
                <a:gd name="T17" fmla="*/ 117 h 427"/>
                <a:gd name="T18" fmla="*/ 581 w 774"/>
                <a:gd name="T19" fmla="*/ 117 h 427"/>
                <a:gd name="T20" fmla="*/ 581 w 774"/>
                <a:gd name="T21" fmla="*/ 176 h 427"/>
                <a:gd name="T22" fmla="*/ 287 w 774"/>
                <a:gd name="T23" fmla="*/ 176 h 427"/>
                <a:gd name="T24" fmla="*/ 250 w 774"/>
                <a:gd name="T25" fmla="*/ 213 h 427"/>
                <a:gd name="T26" fmla="*/ 287 w 774"/>
                <a:gd name="T27" fmla="*/ 250 h 427"/>
                <a:gd name="T28" fmla="*/ 618 w 774"/>
                <a:gd name="T29" fmla="*/ 250 h 427"/>
                <a:gd name="T30" fmla="*/ 714 w 774"/>
                <a:gd name="T31" fmla="*/ 154 h 427"/>
                <a:gd name="T32" fmla="*/ 618 w 774"/>
                <a:gd name="T33" fmla="*/ 58 h 427"/>
                <a:gd name="T34" fmla="*/ 214 w 774"/>
                <a:gd name="T35" fmla="*/ 58 h 427"/>
                <a:gd name="T36" fmla="*/ 59 w 774"/>
                <a:gd name="T37" fmla="*/ 213 h 427"/>
                <a:gd name="T38" fmla="*/ 214 w 774"/>
                <a:gd name="T39" fmla="*/ 367 h 427"/>
                <a:gd name="T40" fmla="*/ 581 w 774"/>
                <a:gd name="T41" fmla="*/ 367 h 427"/>
                <a:gd name="T42" fmla="*/ 581 w 774"/>
                <a:gd name="T43" fmla="*/ 426 h 427"/>
                <a:gd name="T44" fmla="*/ 214 w 774"/>
                <a:gd name="T45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4" h="427">
                  <a:moveTo>
                    <a:pt x="214" y="426"/>
                  </a:moveTo>
                  <a:cubicBezTo>
                    <a:pt x="96" y="426"/>
                    <a:pt x="0" y="331"/>
                    <a:pt x="0" y="213"/>
                  </a:cubicBezTo>
                  <a:cubicBezTo>
                    <a:pt x="0" y="95"/>
                    <a:pt x="96" y="0"/>
                    <a:pt x="214" y="0"/>
                  </a:cubicBezTo>
                  <a:lnTo>
                    <a:pt x="618" y="0"/>
                  </a:lnTo>
                  <a:cubicBezTo>
                    <a:pt x="699" y="0"/>
                    <a:pt x="773" y="69"/>
                    <a:pt x="773" y="154"/>
                  </a:cubicBezTo>
                  <a:cubicBezTo>
                    <a:pt x="773" y="239"/>
                    <a:pt x="699" y="309"/>
                    <a:pt x="618" y="309"/>
                  </a:cubicBezTo>
                  <a:lnTo>
                    <a:pt x="287" y="309"/>
                  </a:lnTo>
                  <a:cubicBezTo>
                    <a:pt x="236" y="309"/>
                    <a:pt x="192" y="264"/>
                    <a:pt x="192" y="213"/>
                  </a:cubicBezTo>
                  <a:cubicBezTo>
                    <a:pt x="192" y="161"/>
                    <a:pt x="236" y="117"/>
                    <a:pt x="287" y="117"/>
                  </a:cubicBezTo>
                  <a:lnTo>
                    <a:pt x="581" y="117"/>
                  </a:lnTo>
                  <a:lnTo>
                    <a:pt x="581" y="176"/>
                  </a:lnTo>
                  <a:lnTo>
                    <a:pt x="287" y="176"/>
                  </a:lnTo>
                  <a:cubicBezTo>
                    <a:pt x="265" y="176"/>
                    <a:pt x="250" y="191"/>
                    <a:pt x="250" y="213"/>
                  </a:cubicBezTo>
                  <a:cubicBezTo>
                    <a:pt x="250" y="235"/>
                    <a:pt x="265" y="250"/>
                    <a:pt x="287" y="250"/>
                  </a:cubicBezTo>
                  <a:lnTo>
                    <a:pt x="618" y="250"/>
                  </a:lnTo>
                  <a:cubicBezTo>
                    <a:pt x="670" y="250"/>
                    <a:pt x="714" y="209"/>
                    <a:pt x="714" y="154"/>
                  </a:cubicBezTo>
                  <a:cubicBezTo>
                    <a:pt x="714" y="99"/>
                    <a:pt x="670" y="58"/>
                    <a:pt x="618" y="58"/>
                  </a:cubicBezTo>
                  <a:lnTo>
                    <a:pt x="214" y="58"/>
                  </a:lnTo>
                  <a:cubicBezTo>
                    <a:pt x="125" y="58"/>
                    <a:pt x="59" y="128"/>
                    <a:pt x="59" y="213"/>
                  </a:cubicBezTo>
                  <a:cubicBezTo>
                    <a:pt x="59" y="297"/>
                    <a:pt x="125" y="367"/>
                    <a:pt x="214" y="367"/>
                  </a:cubicBezTo>
                  <a:lnTo>
                    <a:pt x="581" y="367"/>
                  </a:lnTo>
                  <a:lnTo>
                    <a:pt x="581" y="426"/>
                  </a:lnTo>
                  <a:lnTo>
                    <a:pt x="214" y="426"/>
                  </a:ln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291" name="텍스트 상자 31"/>
          <p:cNvSpPr txBox="1"/>
          <p:nvPr/>
        </p:nvSpPr>
        <p:spPr>
          <a:xfrm>
            <a:off x="4155598" y="1100138"/>
            <a:ext cx="3370193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시스템 피드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Type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92" name="텍스트 상자 31"/>
          <p:cNvSpPr txBox="1"/>
          <p:nvPr/>
        </p:nvSpPr>
        <p:spPr>
          <a:xfrm>
            <a:off x="4155598" y="1361262"/>
            <a:ext cx="33701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1.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일정 등록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94" name="Rectangle 202"/>
          <p:cNvSpPr/>
          <p:nvPr/>
        </p:nvSpPr>
        <p:spPr>
          <a:xfrm>
            <a:off x="4151193" y="1565595"/>
            <a:ext cx="343731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95" name="텍스트 상자 31"/>
          <p:cNvSpPr txBox="1"/>
          <p:nvPr/>
        </p:nvSpPr>
        <p:spPr>
          <a:xfrm>
            <a:off x="4608852" y="168660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김민수 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|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UX/UI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19" name="Oval 121"/>
          <p:cNvSpPr>
            <a:spLocks noChangeAspect="1"/>
          </p:cNvSpPr>
          <p:nvPr/>
        </p:nvSpPr>
        <p:spPr bwMode="auto">
          <a:xfrm>
            <a:off x="4266060" y="1676139"/>
            <a:ext cx="229236" cy="22919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rgbClr val="D9D9D9"/>
            </a:solidFill>
            <a:prstDash val="solid"/>
            <a:miter lim="4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50800" tIns="50800" rIns="50800" bIns="5080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x-none" altLang="x-none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pic>
        <p:nvPicPr>
          <p:cNvPr id="320" name="Picture 157" descr="man-user (1).png"/>
          <p:cNvPicPr>
            <a:picLocks noChangeAspect="1"/>
          </p:cNvPicPr>
          <p:nvPr/>
        </p:nvPicPr>
        <p:blipFill>
          <a:blip r:embed="rId2" cstate="print">
            <a:alphaModFix amt="31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6479" y="1716551"/>
            <a:ext cx="148398" cy="1483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30589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12700" cap="flat" cmpd="sng">
                <a:solidFill>
                  <a:srgbClr val="000000"/>
                </a:solidFill>
                <a:prstDash val="solid"/>
                <a:miter lim="4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pic>
      <p:sp>
        <p:nvSpPr>
          <p:cNvPr id="297" name="텍스트 상자 31"/>
          <p:cNvSpPr txBox="1"/>
          <p:nvPr/>
        </p:nvSpPr>
        <p:spPr>
          <a:xfrm>
            <a:off x="4608852" y="1824465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5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</a:t>
            </a: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시간 전</a:t>
            </a:r>
            <a:endParaRPr kumimoji="1" lang="ko-KR" altLang="en-US" sz="55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98" name="Rectangle 177"/>
          <p:cNvSpPr/>
          <p:nvPr/>
        </p:nvSpPr>
        <p:spPr>
          <a:xfrm>
            <a:off x="4254924" y="2189188"/>
            <a:ext cx="3262132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17" name="텍스트 상자 31"/>
          <p:cNvSpPr txBox="1"/>
          <p:nvPr/>
        </p:nvSpPr>
        <p:spPr>
          <a:xfrm>
            <a:off x="4677293" y="2282491"/>
            <a:ext cx="1786124" cy="1075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팀 중간회식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00" name="Freeform 33"/>
          <p:cNvSpPr>
            <a:spLocks noEditPoints="1"/>
          </p:cNvSpPr>
          <p:nvPr/>
        </p:nvSpPr>
        <p:spPr bwMode="auto">
          <a:xfrm>
            <a:off x="4381576" y="2315792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301" name="직선 연결선[R] 33"/>
          <p:cNvCxnSpPr/>
          <p:nvPr/>
        </p:nvCxnSpPr>
        <p:spPr>
          <a:xfrm>
            <a:off x="4239855" y="2736390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2" name="텍스트 상자 31"/>
          <p:cNvSpPr txBox="1"/>
          <p:nvPr/>
        </p:nvSpPr>
        <p:spPr>
          <a:xfrm>
            <a:off x="4266060" y="2003093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 중간회식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일정을 등록했습니다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03" name="Freeform 227"/>
          <p:cNvSpPr>
            <a:spLocks noChangeArrowheads="1"/>
          </p:cNvSpPr>
          <p:nvPr/>
        </p:nvSpPr>
        <p:spPr bwMode="auto">
          <a:xfrm rot="5400000">
            <a:off x="7334798" y="238343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04" name="Freeform 26"/>
          <p:cNvSpPr>
            <a:spLocks noChangeAspect="1" noChangeArrowheads="1"/>
          </p:cNvSpPr>
          <p:nvPr/>
        </p:nvSpPr>
        <p:spPr bwMode="auto">
          <a:xfrm flipH="1">
            <a:off x="7434155" y="1690890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06" name="Freeform 25"/>
          <p:cNvSpPr>
            <a:spLocks noChangeAspect="1" noEditPoints="1"/>
          </p:cNvSpPr>
          <p:nvPr/>
        </p:nvSpPr>
        <p:spPr bwMode="auto">
          <a:xfrm>
            <a:off x="7242633" y="168646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21" name="텍스트 상자 31"/>
          <p:cNvSpPr txBox="1"/>
          <p:nvPr/>
        </p:nvSpPr>
        <p:spPr>
          <a:xfrm>
            <a:off x="4266060" y="3620361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이은수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님을 멤버로 추가했습니다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22" name="텍스트 상자 31"/>
          <p:cNvSpPr txBox="1"/>
          <p:nvPr/>
        </p:nvSpPr>
        <p:spPr>
          <a:xfrm>
            <a:off x="4155598" y="3405354"/>
            <a:ext cx="33701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2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멤버 추가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23" name="Group 11"/>
          <p:cNvGrpSpPr/>
          <p:nvPr/>
        </p:nvGrpSpPr>
        <p:grpSpPr>
          <a:xfrm>
            <a:off x="4254924" y="3806456"/>
            <a:ext cx="3262132" cy="458876"/>
            <a:chOff x="4128804" y="3844617"/>
            <a:chExt cx="3262132" cy="458876"/>
          </a:xfrm>
        </p:grpSpPr>
        <p:sp>
          <p:nvSpPr>
            <p:cNvPr id="324" name="Rectangle 177"/>
            <p:cNvSpPr/>
            <p:nvPr/>
          </p:nvSpPr>
          <p:spPr>
            <a:xfrm>
              <a:off x="4128804" y="3844617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25" name="텍스트 상자 31"/>
            <p:cNvSpPr txBox="1"/>
            <p:nvPr/>
          </p:nvSpPr>
          <p:spPr>
            <a:xfrm>
              <a:off x="4551173" y="4023498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이은수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|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제품기획팀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26" name="Freeform 298"/>
            <p:cNvSpPr>
              <a:spLocks noChangeArrowheads="1"/>
            </p:cNvSpPr>
            <p:nvPr/>
          </p:nvSpPr>
          <p:spPr bwMode="auto">
            <a:xfrm rot="5400000">
              <a:off x="7208678" y="4038860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pic>
          <p:nvPicPr>
            <p:cNvPr id="327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51197" y="3957715"/>
              <a:ext cx="222989" cy="222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28" name="Rectangle 320"/>
          <p:cNvSpPr/>
          <p:nvPr/>
        </p:nvSpPr>
        <p:spPr>
          <a:xfrm>
            <a:off x="4201528" y="1939239"/>
            <a:ext cx="3360592" cy="74779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29" name="Rectangle 321"/>
          <p:cNvSpPr/>
          <p:nvPr/>
        </p:nvSpPr>
        <p:spPr>
          <a:xfrm>
            <a:off x="4201528" y="3567414"/>
            <a:ext cx="3360592" cy="74779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31" name="텍스트 상자 31"/>
          <p:cNvSpPr txBox="1"/>
          <p:nvPr/>
        </p:nvSpPr>
        <p:spPr>
          <a:xfrm>
            <a:off x="4266060" y="4636779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A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통신사 서비스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TF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그룹을 개설했습니다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.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Malgun Gothic" charset="0"/>
            </a:endParaRPr>
          </a:p>
        </p:txBody>
      </p:sp>
      <p:sp>
        <p:nvSpPr>
          <p:cNvPr id="332" name="Rectangle 328"/>
          <p:cNvSpPr/>
          <p:nvPr/>
        </p:nvSpPr>
        <p:spPr>
          <a:xfrm>
            <a:off x="4201528" y="4583832"/>
            <a:ext cx="3360592" cy="21092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33" name="텍스트 상자 31"/>
          <p:cNvSpPr txBox="1"/>
          <p:nvPr/>
        </p:nvSpPr>
        <p:spPr>
          <a:xfrm>
            <a:off x="4155598" y="4422353"/>
            <a:ext cx="33701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3.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그룹 생성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34" name="그룹 143"/>
          <p:cNvGrpSpPr/>
          <p:nvPr/>
        </p:nvGrpSpPr>
        <p:grpSpPr>
          <a:xfrm>
            <a:off x="3997257" y="1902331"/>
            <a:ext cx="216000" cy="252000"/>
            <a:chOff x="2704212" y="2825113"/>
            <a:chExt cx="216000" cy="252000"/>
          </a:xfrm>
        </p:grpSpPr>
        <p:sp>
          <p:nvSpPr>
            <p:cNvPr id="335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36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3-1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4324397" y="5161651"/>
            <a:ext cx="1385696" cy="123111"/>
            <a:chOff x="4890410" y="4985612"/>
            <a:chExt cx="1385696" cy="123111"/>
          </a:xfrm>
        </p:grpSpPr>
        <p:sp>
          <p:nvSpPr>
            <p:cNvPr id="151" name="Freeform 25"/>
            <p:cNvSpPr>
              <a:spLocks noChangeAspect="1" noEditPoints="1"/>
            </p:cNvSpPr>
            <p:nvPr/>
          </p:nvSpPr>
          <p:spPr bwMode="auto">
            <a:xfrm>
              <a:off x="4890410" y="4999976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153" name="텍스트 상자 31"/>
            <p:cNvSpPr txBox="1"/>
            <p:nvPr/>
          </p:nvSpPr>
          <p:spPr>
            <a:xfrm>
              <a:off x="5023383" y="4985612"/>
              <a:ext cx="1252723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보내기 팝업 메뉴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159" name="Rounded Rectangle 397"/>
          <p:cNvSpPr/>
          <p:nvPr/>
        </p:nvSpPr>
        <p:spPr>
          <a:xfrm>
            <a:off x="4412525" y="5383010"/>
            <a:ext cx="918179" cy="560171"/>
          </a:xfrm>
          <a:prstGeom prst="roundRect">
            <a:avLst>
              <a:gd name="adj" fmla="val 0"/>
            </a:avLst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메일로 전송</a:t>
            </a: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게시물로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161" name="그룹 160"/>
          <p:cNvGrpSpPr/>
          <p:nvPr/>
        </p:nvGrpSpPr>
        <p:grpSpPr>
          <a:xfrm>
            <a:off x="582781" y="4551910"/>
            <a:ext cx="927446" cy="115755"/>
            <a:chOff x="2063871" y="2807721"/>
            <a:chExt cx="927446" cy="115755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164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66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73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74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67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68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69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70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71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72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65" name="그림 164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63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5" name="그룹 174"/>
          <p:cNvGrpSpPr/>
          <p:nvPr/>
        </p:nvGrpSpPr>
        <p:grpSpPr>
          <a:xfrm>
            <a:off x="4244357" y="2792787"/>
            <a:ext cx="927446" cy="115755"/>
            <a:chOff x="2063871" y="2807721"/>
            <a:chExt cx="927446" cy="115755"/>
          </a:xfrm>
        </p:grpSpPr>
        <p:grpSp>
          <p:nvGrpSpPr>
            <p:cNvPr id="176" name="그룹 175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178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05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40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44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06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07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36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37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38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39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04" name="그림 203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77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9" name="Create"/>
          <p:cNvSpPr>
            <a:spLocks noChangeAspect="1" noEditPoints="1"/>
          </p:cNvSpPr>
          <p:nvPr/>
        </p:nvSpPr>
        <p:spPr bwMode="auto">
          <a:xfrm>
            <a:off x="3445721" y="5157894"/>
            <a:ext cx="96990" cy="93924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0" name="Freeform 11"/>
          <p:cNvSpPr>
            <a:spLocks noChangeAspect="1" noChangeArrowheads="1"/>
          </p:cNvSpPr>
          <p:nvPr/>
        </p:nvSpPr>
        <p:spPr bwMode="auto">
          <a:xfrm>
            <a:off x="3589434" y="5168629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4" name="타원 3"/>
          <p:cNvSpPr/>
          <p:nvPr/>
        </p:nvSpPr>
        <p:spPr>
          <a:xfrm>
            <a:off x="3390900" y="1743075"/>
            <a:ext cx="266700" cy="257175"/>
          </a:xfrm>
          <a:prstGeom prst="ellipse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black"/>
              </a:solidFill>
              <a:latin typeface="맑은 고딕"/>
              <a:ea typeface="맑은 고딕"/>
            </a:endParaRPr>
          </a:p>
        </p:txBody>
      </p:sp>
      <p:sp>
        <p:nvSpPr>
          <p:cNvPr id="191" name="타원 190"/>
          <p:cNvSpPr/>
          <p:nvPr/>
        </p:nvSpPr>
        <p:spPr>
          <a:xfrm>
            <a:off x="3258346" y="1773555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2-2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sp>
        <p:nvSpPr>
          <p:cNvPr id="219" name="타원 218"/>
          <p:cNvSpPr/>
          <p:nvPr/>
        </p:nvSpPr>
        <p:spPr>
          <a:xfrm>
            <a:off x="4067971" y="5135880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2-2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grpSp>
        <p:nvGrpSpPr>
          <p:cNvPr id="152" name="그룹 143"/>
          <p:cNvGrpSpPr/>
          <p:nvPr/>
        </p:nvGrpSpPr>
        <p:grpSpPr>
          <a:xfrm>
            <a:off x="3997257" y="3449191"/>
            <a:ext cx="216000" cy="252000"/>
            <a:chOff x="2704212" y="2825113"/>
            <a:chExt cx="216000" cy="252000"/>
          </a:xfrm>
        </p:grpSpPr>
        <p:sp>
          <p:nvSpPr>
            <p:cNvPr id="154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155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3-1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156" name="그룹 143"/>
          <p:cNvGrpSpPr/>
          <p:nvPr/>
        </p:nvGrpSpPr>
        <p:grpSpPr>
          <a:xfrm>
            <a:off x="3997257" y="4477891"/>
            <a:ext cx="216000" cy="252000"/>
            <a:chOff x="2704212" y="2825113"/>
            <a:chExt cx="216000" cy="252000"/>
          </a:xfrm>
        </p:grpSpPr>
        <p:sp>
          <p:nvSpPr>
            <p:cNvPr id="157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158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3-1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220" name="TextBox 219"/>
          <p:cNvSpPr txBox="1"/>
          <p:nvPr/>
        </p:nvSpPr>
        <p:spPr>
          <a:xfrm>
            <a:off x="4632656" y="2376817"/>
            <a:ext cx="2281641" cy="307777"/>
          </a:xfrm>
          <a:prstGeom prst="rect">
            <a:avLst/>
          </a:prstGeom>
          <a:noFill/>
          <a:ln>
            <a:solidFill>
              <a:srgbClr val="0000FF"/>
            </a:solidFill>
          </a:ln>
        </p:spPr>
        <p:txBody>
          <a:bodyPr wrap="none" lIns="36000" rIns="36000" rtlCol="0" anchor="ctr">
            <a:spAutoFit/>
          </a:bodyPr>
          <a:lstStyle/>
          <a:p>
            <a:pPr lvl="0"/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lvl="0"/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매일 반복</a:t>
            </a:r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5754631" y="2735084"/>
            <a:ext cx="152342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컨텐츠 출력 방식 </a:t>
            </a:r>
            <a:r>
              <a:rPr lang="en-US" altLang="ko-KR" sz="800" smtClean="0">
                <a:solidFill>
                  <a:srgbClr val="0000FF"/>
                </a:solidFill>
                <a:latin typeface="+mn-ea"/>
                <a:ea typeface="+mn-ea"/>
              </a:rPr>
              <a:t>49page </a:t>
            </a:r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참고 </a:t>
            </a:r>
            <a:endParaRPr lang="ko-KR" altLang="en-US" sz="800" dirty="0">
              <a:solidFill>
                <a:srgbClr val="0000FF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11357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ko-KR" dirty="0"/>
              <a:t>5. </a:t>
            </a:r>
            <a:r>
              <a:rPr kumimoji="1" lang="ko-KR" altLang="en-US" dirty="0"/>
              <a:t>스퀘어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1"/>
          </p:nvPr>
        </p:nvSpPr>
        <p:spPr/>
        <p:txBody>
          <a:bodyPr/>
          <a:lstStyle/>
          <a:p>
            <a:r>
              <a:rPr lang="en-US" altLang="ko-KR" dirty="0" smtClean="0"/>
              <a:t>5.5. </a:t>
            </a:r>
            <a:r>
              <a:rPr lang="ko-KR" altLang="en-US" dirty="0" err="1"/>
              <a:t>피드</a:t>
            </a:r>
            <a:r>
              <a:rPr lang="ko-KR" altLang="en-US" dirty="0"/>
              <a:t> </a:t>
            </a:r>
            <a:r>
              <a:rPr lang="en-US" altLang="ko-KR" dirty="0" smtClean="0"/>
              <a:t>Type</a:t>
            </a:r>
            <a:endParaRPr lang="en-US" altLang="ko-KR" dirty="0"/>
          </a:p>
        </p:txBody>
      </p:sp>
      <p:graphicFrame>
        <p:nvGraphicFramePr>
          <p:cNvPr id="250" name="표"/>
          <p:cNvGraphicFramePr/>
          <p:nvPr>
            <p:extLst>
              <p:ext uri="{D42A27DB-BD31-4B8C-83A1-F6EECF244321}">
                <p14:modId xmlns:p14="http://schemas.microsoft.com/office/powerpoint/2010/main" val="287599061"/>
              </p:ext>
            </p:extLst>
          </p:nvPr>
        </p:nvGraphicFramePr>
        <p:xfrm>
          <a:off x="7888077" y="284979"/>
          <a:ext cx="4219461" cy="5869338"/>
        </p:xfrm>
        <a:graphic>
          <a:graphicData uri="http://schemas.openxmlformats.org/drawingml/2006/table">
            <a:tbl>
              <a:tblPr/>
              <a:tblGrid>
                <a:gridCol w="2983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36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275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4689">
                <a:tc gridSpan="3">
                  <a:txBody>
                    <a:bodyPr/>
                    <a:lstStyle/>
                    <a:p>
                      <a:pPr algn="l" defTabSz="914400">
                        <a:defRPr sz="1800"/>
                      </a:pPr>
                      <a:r>
                        <a:rPr sz="1000" b="1" dirty="0" smtClean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  <a:endParaRPr sz="1000" b="1" dirty="0">
                        <a:latin typeface="+mn-ea"/>
                        <a:ea typeface="+mn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50800" marR="50800" marT="36000" marB="3600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344">
                <a:tc gridSpan="3">
                  <a:txBody>
                    <a:bodyPr/>
                    <a:lstStyle/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ko-KR" altLang="en-US" sz="1100" dirty="0" smtClean="0">
                          <a:latin typeface="+mn-ea"/>
                          <a:ea typeface="+mn-ea"/>
                          <a:cs typeface="Nanum Gothic" charset="-127"/>
                        </a:rPr>
                        <a:t>스퀘어 피드 </a:t>
                      </a:r>
                      <a:r>
                        <a:rPr lang="en-US" altLang="ko-KR" sz="1100" dirty="0" smtClean="0">
                          <a:latin typeface="+mn-ea"/>
                          <a:ea typeface="+mn-ea"/>
                          <a:cs typeface="Nanum Gothic" charset="-127"/>
                        </a:rPr>
                        <a:t>Type</a:t>
                      </a:r>
                      <a:r>
                        <a:rPr lang="ko-KR" altLang="en-US" sz="1100" dirty="0" smtClean="0">
                          <a:latin typeface="+mn-ea"/>
                          <a:ea typeface="+mn-ea"/>
                          <a:cs typeface="Nanum Gothic" charset="-127"/>
                        </a:rPr>
                        <a:t> 정의</a:t>
                      </a:r>
                      <a:endParaRPr lang="en-US" altLang="ko-KR" sz="1100" dirty="0" smtClean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36000" marB="36000" horzOverflow="overflow">
                    <a:lnL w="0">
                      <a:miter lim="400000"/>
                    </a:lnL>
                    <a:lnR w="0">
                      <a:miter lim="400000"/>
                    </a:lnR>
                    <a:lnT>
                      <a:solidFill>
                        <a:srgbClr val="A6AAA9"/>
                      </a:solidFill>
                      <a:miter lim="400000"/>
                    </a:lnT>
                    <a:lnB w="12700" cap="flat" cmpd="sng" algn="ctr">
                      <a:solidFill>
                        <a:srgbClr val="53585F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689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sz="1000" b="1" dirty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No.</a:t>
                      </a: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1000" b="1" dirty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Name</a:t>
                      </a:r>
                    </a:p>
                  </a:txBody>
                  <a:tcPr marL="36000" marR="360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1000" b="1" dirty="0">
                          <a:latin typeface="+mn-ea"/>
                          <a:ea typeface="+mn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</a:p>
                  </a:txBody>
                  <a:tcPr marL="36000" marR="360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 w="0"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이미지 미리보기 및 파일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첨부한 이미지 미리보기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목록 제공하는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 미리보기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N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 초과 시 우측에 다음 이미지로 이동하는 화살표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이미지 전체화면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모달 레이어 팝업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으로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strike="sngStrike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 마우스 오버 시 </a:t>
                      </a:r>
                      <a:r>
                        <a:rPr lang="en-US" altLang="ko-KR" sz="700" strike="sngStrike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strike="sngStrike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다운로드 버튼 제공</a:t>
                      </a:r>
                      <a:r>
                        <a:rPr lang="en-US" altLang="ko-KR" sz="700" strike="sngStrike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(5-2)</a:t>
                      </a:r>
                      <a:endParaRPr lang="ko-KR" altLang="en-US" sz="700" strike="sngStrike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파일 미리보기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갯수 및 폴딩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파일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목록 제공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(5-1)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첨부파일은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피드에서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직접 플래그 할 수 없으며 파일 탭에서만 플래그가 가능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6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해시태그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사용자가 내용에 작성한 해시태그를 별도로 모아 제공하는 영역</a:t>
                      </a:r>
                      <a:endParaRPr lang="en-US" altLang="ko-KR" sz="7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태그는 한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피드당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최대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10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 까지만 인식하며 이후 비활성화 처리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태그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선택한 태그의 해당 그룹 내 검색 결과 제공</a:t>
                      </a:r>
                      <a:endParaRPr lang="ko-KR" altLang="en-US" sz="7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7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  <a:cs typeface="Malgun Gothic" charset="0"/>
                        </a:rPr>
                        <a:t>피드백 영역</a:t>
                      </a:r>
                      <a:endParaRPr lang="en-US" sz="8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플래그 버튼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표정짓기 버튼 및 카운트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의견 카운트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의견 입력창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플래그</a:t>
                      </a:r>
                    </a:p>
                    <a:p>
                      <a:pPr marL="88900" indent="0" algn="l" defTabSz="914400">
                        <a:buSzPct val="75000"/>
                        <a:buFontTx/>
                        <a:buNone/>
                        <a:tabLst/>
                        <a:defRPr sz="2000"/>
                      </a:pP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–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플래그 선택 시 플래그 글 메뉴에 해당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저장됨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플래그 선택 및 해제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토글</a:t>
                      </a:r>
                      <a:endParaRPr lang="ko-KR" altLang="en-US" sz="7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b="1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표정짓기</a:t>
                      </a:r>
                      <a:r>
                        <a:rPr lang="ko-KR" altLang="en-US" sz="700" b="1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700" b="1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(7-1)</a:t>
                      </a:r>
                      <a:endParaRPr lang="ko-KR" altLang="en-US" sz="700" b="1" kern="1200" baseline="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표정 선택 아이콘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클릭시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표정 옵션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6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 제공</a:t>
                      </a:r>
                      <a:endParaRPr lang="en-US" altLang="ko-KR" sz="700" kern="1200" baseline="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선택한 표정으로 선택 아이콘 모양이 변경</a:t>
                      </a:r>
                      <a:endParaRPr lang="en-US" altLang="ko-KR" sz="700" kern="1200" baseline="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재선택시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변경 가능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글에 표시된 표정이 있을 경우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표정선택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아이콘 우측으로 가장 빈도가 높은 표정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가지를 차례로 표시하며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총 표정 갯수 카운트 제공</a:t>
                      </a:r>
                      <a:endParaRPr lang="en-US" altLang="ko-KR" sz="700" kern="1200" baseline="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88900" indent="0" algn="l" defTabSz="914400">
                        <a:buSzPct val="75000"/>
                        <a:buFont typeface="맑은 고딕" pitchFamily="50" charset="-127"/>
                        <a:buNone/>
                        <a:tabLst/>
                        <a:defRPr sz="2000"/>
                      </a:pP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표정 카운트 수 마우스 </a:t>
                      </a:r>
                      <a:r>
                        <a:rPr lang="ko-KR" altLang="en-US" sz="700" strike="sngStrike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오버 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클릭시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가장 빈도수가 많은 표정 처리한 사용자 정보를 처리한 표정과 이름을 확인할 수 있는 레이어 팝업 오픈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순서는 최근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등록순으로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표시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endParaRPr lang="ko-KR" altLang="en-US" sz="700" kern="1200" baseline="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의견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의견 없는 경우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의견 입력창만 제공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의견이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 이상 있는 경우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가장 최신에 입력된 의견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개를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Default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로 제공하며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하단에 의견 전체 보기 버튼 제공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의견 전체 보기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의견 입력창을 제외한 의견 리스트가 접힘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의견 입력 영역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텍스트 입력 필드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이미지 첨부 버튼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첨부 버튼 제공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텍스트 의견 입력 후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등록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텍스트 의견 리스트 가장 상단에 등록됨</a:t>
                      </a:r>
                      <a:endParaRPr lang="en-US" altLang="ko-KR" sz="7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작성자에 한하여 우측 끝부분에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수정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삭제 버튼 제공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 첨부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파일 첨부 버튼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이미지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파일 첨부 시 바로 해당 이미지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파일 의견창에 등록됨 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로컬 탐색기에서 파일 첨부 시 바로 등록됨</a:t>
                      </a:r>
                      <a:r>
                        <a:rPr lang="en-US" altLang="ko-KR" sz="700" kern="12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endParaRPr lang="ko-KR" altLang="en-US" sz="700" kern="12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7-1</a:t>
                      </a:r>
                      <a:endParaRPr sz="800" dirty="0">
                        <a:solidFill>
                          <a:srgbClr val="2E6FFD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의견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수정시</a:t>
                      </a:r>
                      <a:endParaRPr lang="en-US" sz="800" dirty="0">
                        <a:solidFill>
                          <a:srgbClr val="2E6FFD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본인이 입력한 의견의 경우 수정과 삭제가 가능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수정버튼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입력 화면과 동일한 폼을 제공하여 글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이미지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첨부파일 변경 가능 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(20171113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추가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182563" indent="-93663" algn="l" defTabSz="914400">
                        <a:buSzPct val="75000"/>
                        <a:buFont typeface="맑은 고딕" pitchFamily="50" charset="-127"/>
                        <a:buChar char="–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삭제 버튼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확인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알럿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노출 후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확인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시 삭제 구현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826823"/>
                  </a:ext>
                </a:extLst>
              </a:tr>
            </a:tbl>
          </a:graphicData>
        </a:graphic>
      </p:graphicFrame>
      <p:sp>
        <p:nvSpPr>
          <p:cNvPr id="214" name="텍스트 상자 31"/>
          <p:cNvSpPr txBox="1"/>
          <p:nvPr/>
        </p:nvSpPr>
        <p:spPr>
          <a:xfrm>
            <a:off x="444761" y="1100138"/>
            <a:ext cx="3370193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일반 피드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Type (Default)</a:t>
            </a: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(Full</a:t>
            </a: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Feature)</a:t>
            </a:r>
            <a:r>
              <a:rPr kumimoji="1" lang="ko-KR" altLang="en-US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: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15" name="Rectangle 501"/>
          <p:cNvSpPr/>
          <p:nvPr/>
        </p:nvSpPr>
        <p:spPr>
          <a:xfrm>
            <a:off x="444761" y="1648198"/>
            <a:ext cx="3437310" cy="390914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16" name="텍스트 상자 31"/>
          <p:cNvSpPr txBox="1"/>
          <p:nvPr/>
        </p:nvSpPr>
        <p:spPr>
          <a:xfrm>
            <a:off x="902420" y="177954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김민수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|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UX/UI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17" name="그룹 400"/>
          <p:cNvGrpSpPr/>
          <p:nvPr/>
        </p:nvGrpSpPr>
        <p:grpSpPr>
          <a:xfrm>
            <a:off x="559628" y="1769072"/>
            <a:ext cx="229236" cy="229194"/>
            <a:chOff x="2625629" y="3735853"/>
            <a:chExt cx="276891" cy="276839"/>
          </a:xfrm>
        </p:grpSpPr>
        <p:sp>
          <p:nvSpPr>
            <p:cNvPr id="218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219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20" name="텍스트 상자 31"/>
          <p:cNvSpPr txBox="1"/>
          <p:nvPr/>
        </p:nvSpPr>
        <p:spPr>
          <a:xfrm>
            <a:off x="902420" y="191739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</a:t>
            </a: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시간 전</a:t>
            </a:r>
            <a:endParaRPr kumimoji="1" lang="ko-KR" altLang="en-US" sz="55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22" name="Rounded Rectangle 509"/>
          <p:cNvSpPr/>
          <p:nvPr/>
        </p:nvSpPr>
        <p:spPr>
          <a:xfrm>
            <a:off x="531784" y="4310560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회식</a:t>
            </a:r>
            <a:endParaRPr kumimoji="1" lang="en-US" sz="55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23" name="Rounded Rectangle 510"/>
          <p:cNvSpPr/>
          <p:nvPr/>
        </p:nvSpPr>
        <p:spPr>
          <a:xfrm>
            <a:off x="891340" y="4310560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일정</a:t>
            </a:r>
            <a:endParaRPr kumimoji="1" lang="en-US" sz="55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224" name="직선 연결선[R] 33"/>
          <p:cNvCxnSpPr/>
          <p:nvPr/>
        </p:nvCxnSpPr>
        <p:spPr>
          <a:xfrm>
            <a:off x="533423" y="4492752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Rectangle 507"/>
          <p:cNvSpPr/>
          <p:nvPr/>
        </p:nvSpPr>
        <p:spPr>
          <a:xfrm>
            <a:off x="444761" y="4732426"/>
            <a:ext cx="3437310" cy="82491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26" name="Group 516"/>
          <p:cNvGrpSpPr/>
          <p:nvPr/>
        </p:nvGrpSpPr>
        <p:grpSpPr>
          <a:xfrm>
            <a:off x="559628" y="5149369"/>
            <a:ext cx="1612396" cy="229194"/>
            <a:chOff x="2478168" y="4026446"/>
            <a:chExt cx="1612396" cy="229194"/>
          </a:xfrm>
        </p:grpSpPr>
        <p:sp>
          <p:nvSpPr>
            <p:cNvPr id="227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박현주</a:t>
              </a: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댓글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블라블라블라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228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3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231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29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30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분전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cxnSp>
        <p:nvCxnSpPr>
          <p:cNvPr id="247" name="직선 연결선[R] 33"/>
          <p:cNvCxnSpPr/>
          <p:nvPr/>
        </p:nvCxnSpPr>
        <p:spPr>
          <a:xfrm>
            <a:off x="533423" y="5061737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Rectangle 523"/>
          <p:cNvSpPr/>
          <p:nvPr/>
        </p:nvSpPr>
        <p:spPr>
          <a:xfrm>
            <a:off x="444761" y="5431417"/>
            <a:ext cx="343731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62" name="텍스트 상자 31"/>
          <p:cNvSpPr txBox="1"/>
          <p:nvPr/>
        </p:nvSpPr>
        <p:spPr>
          <a:xfrm>
            <a:off x="1863128" y="5453441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4</a:t>
            </a:r>
            <a:r>
              <a:rPr kumimoji="1" lang="ko-KR" altLang="en-US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개 모두 보기</a:t>
            </a:r>
            <a:endParaRPr kumimoji="1" lang="ko-KR" altLang="en-US" sz="5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63" name="Freeform 25"/>
          <p:cNvSpPr>
            <a:spLocks noChangeAspect="1" noEditPoints="1"/>
          </p:cNvSpPr>
          <p:nvPr/>
        </p:nvSpPr>
        <p:spPr bwMode="auto">
          <a:xfrm>
            <a:off x="3504868" y="1809484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64" name="Freeform 26"/>
          <p:cNvSpPr>
            <a:spLocks noChangeAspect="1" noChangeArrowheads="1"/>
          </p:cNvSpPr>
          <p:nvPr/>
        </p:nvSpPr>
        <p:spPr bwMode="auto">
          <a:xfrm flipH="1">
            <a:off x="3719828" y="1802388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65" name="Rectangle 598"/>
          <p:cNvSpPr/>
          <p:nvPr/>
        </p:nvSpPr>
        <p:spPr>
          <a:xfrm>
            <a:off x="555308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66" name="Rectangle 599"/>
          <p:cNvSpPr/>
          <p:nvPr/>
        </p:nvSpPr>
        <p:spPr>
          <a:xfrm>
            <a:off x="1308431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267" name="Rectangle 600"/>
          <p:cNvSpPr/>
          <p:nvPr/>
        </p:nvSpPr>
        <p:spPr>
          <a:xfrm>
            <a:off x="2061554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268" name="Rectangle 601"/>
          <p:cNvSpPr/>
          <p:nvPr/>
        </p:nvSpPr>
        <p:spPr>
          <a:xfrm>
            <a:off x="2814677" y="3232874"/>
            <a:ext cx="694220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269" name="Rectangle 602"/>
          <p:cNvSpPr/>
          <p:nvPr/>
        </p:nvSpPr>
        <p:spPr>
          <a:xfrm>
            <a:off x="3567801" y="3232874"/>
            <a:ext cx="238503" cy="69422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70" name="Freeform 14"/>
          <p:cNvSpPr>
            <a:spLocks noChangeArrowheads="1"/>
          </p:cNvSpPr>
          <p:nvPr/>
        </p:nvSpPr>
        <p:spPr bwMode="auto">
          <a:xfrm rot="5400000">
            <a:off x="3624582" y="3533944"/>
            <a:ext cx="150676" cy="92080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cxnSp>
        <p:nvCxnSpPr>
          <p:cNvPr id="271" name="직선 연결선[R] 33"/>
          <p:cNvCxnSpPr/>
          <p:nvPr/>
        </p:nvCxnSpPr>
        <p:spPr>
          <a:xfrm>
            <a:off x="533423" y="4253497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2" name="Rounded Rectangle 133"/>
          <p:cNvSpPr/>
          <p:nvPr/>
        </p:nvSpPr>
        <p:spPr>
          <a:xfrm>
            <a:off x="541106" y="4019222"/>
            <a:ext cx="648000" cy="177213"/>
          </a:xfrm>
          <a:prstGeom prst="roundRect">
            <a:avLst>
              <a:gd name="adj" fmla="val 8420"/>
            </a:avLst>
          </a:prstGeom>
          <a:noFill/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5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73" name="Group 1"/>
          <p:cNvGrpSpPr/>
          <p:nvPr/>
        </p:nvGrpSpPr>
        <p:grpSpPr>
          <a:xfrm>
            <a:off x="714374" y="4055826"/>
            <a:ext cx="493565" cy="107722"/>
            <a:chOff x="2459064" y="3489248"/>
            <a:chExt cx="493565" cy="107722"/>
          </a:xfrm>
        </p:grpSpPr>
        <p:sp>
          <p:nvSpPr>
            <p:cNvPr id="274" name="Freeform 90"/>
            <p:cNvSpPr>
              <a:spLocks noChangeAspect="1" noChangeArrowheads="1"/>
            </p:cNvSpPr>
            <p:nvPr/>
          </p:nvSpPr>
          <p:spPr bwMode="auto">
            <a:xfrm>
              <a:off x="2459064" y="3507399"/>
              <a:ext cx="130637" cy="72000"/>
            </a:xfrm>
            <a:custGeom>
              <a:avLst/>
              <a:gdLst>
                <a:gd name="T0" fmla="*/ 214 w 774"/>
                <a:gd name="T1" fmla="*/ 426 h 427"/>
                <a:gd name="T2" fmla="*/ 0 w 774"/>
                <a:gd name="T3" fmla="*/ 213 h 427"/>
                <a:gd name="T4" fmla="*/ 214 w 774"/>
                <a:gd name="T5" fmla="*/ 0 h 427"/>
                <a:gd name="T6" fmla="*/ 618 w 774"/>
                <a:gd name="T7" fmla="*/ 0 h 427"/>
                <a:gd name="T8" fmla="*/ 773 w 774"/>
                <a:gd name="T9" fmla="*/ 154 h 427"/>
                <a:gd name="T10" fmla="*/ 618 w 774"/>
                <a:gd name="T11" fmla="*/ 309 h 427"/>
                <a:gd name="T12" fmla="*/ 287 w 774"/>
                <a:gd name="T13" fmla="*/ 309 h 427"/>
                <a:gd name="T14" fmla="*/ 192 w 774"/>
                <a:gd name="T15" fmla="*/ 213 h 427"/>
                <a:gd name="T16" fmla="*/ 287 w 774"/>
                <a:gd name="T17" fmla="*/ 117 h 427"/>
                <a:gd name="T18" fmla="*/ 581 w 774"/>
                <a:gd name="T19" fmla="*/ 117 h 427"/>
                <a:gd name="T20" fmla="*/ 581 w 774"/>
                <a:gd name="T21" fmla="*/ 176 h 427"/>
                <a:gd name="T22" fmla="*/ 287 w 774"/>
                <a:gd name="T23" fmla="*/ 176 h 427"/>
                <a:gd name="T24" fmla="*/ 250 w 774"/>
                <a:gd name="T25" fmla="*/ 213 h 427"/>
                <a:gd name="T26" fmla="*/ 287 w 774"/>
                <a:gd name="T27" fmla="*/ 250 h 427"/>
                <a:gd name="T28" fmla="*/ 618 w 774"/>
                <a:gd name="T29" fmla="*/ 250 h 427"/>
                <a:gd name="T30" fmla="*/ 714 w 774"/>
                <a:gd name="T31" fmla="*/ 154 h 427"/>
                <a:gd name="T32" fmla="*/ 618 w 774"/>
                <a:gd name="T33" fmla="*/ 58 h 427"/>
                <a:gd name="T34" fmla="*/ 214 w 774"/>
                <a:gd name="T35" fmla="*/ 58 h 427"/>
                <a:gd name="T36" fmla="*/ 59 w 774"/>
                <a:gd name="T37" fmla="*/ 213 h 427"/>
                <a:gd name="T38" fmla="*/ 214 w 774"/>
                <a:gd name="T39" fmla="*/ 367 h 427"/>
                <a:gd name="T40" fmla="*/ 581 w 774"/>
                <a:gd name="T41" fmla="*/ 367 h 427"/>
                <a:gd name="T42" fmla="*/ 581 w 774"/>
                <a:gd name="T43" fmla="*/ 426 h 427"/>
                <a:gd name="T44" fmla="*/ 214 w 774"/>
                <a:gd name="T45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4" h="427">
                  <a:moveTo>
                    <a:pt x="214" y="426"/>
                  </a:moveTo>
                  <a:cubicBezTo>
                    <a:pt x="96" y="426"/>
                    <a:pt x="0" y="331"/>
                    <a:pt x="0" y="213"/>
                  </a:cubicBezTo>
                  <a:cubicBezTo>
                    <a:pt x="0" y="95"/>
                    <a:pt x="96" y="0"/>
                    <a:pt x="214" y="0"/>
                  </a:cubicBezTo>
                  <a:lnTo>
                    <a:pt x="618" y="0"/>
                  </a:lnTo>
                  <a:cubicBezTo>
                    <a:pt x="699" y="0"/>
                    <a:pt x="773" y="69"/>
                    <a:pt x="773" y="154"/>
                  </a:cubicBezTo>
                  <a:cubicBezTo>
                    <a:pt x="773" y="239"/>
                    <a:pt x="699" y="309"/>
                    <a:pt x="618" y="309"/>
                  </a:cubicBezTo>
                  <a:lnTo>
                    <a:pt x="287" y="309"/>
                  </a:lnTo>
                  <a:cubicBezTo>
                    <a:pt x="236" y="309"/>
                    <a:pt x="192" y="264"/>
                    <a:pt x="192" y="213"/>
                  </a:cubicBezTo>
                  <a:cubicBezTo>
                    <a:pt x="192" y="161"/>
                    <a:pt x="236" y="117"/>
                    <a:pt x="287" y="117"/>
                  </a:cubicBezTo>
                  <a:lnTo>
                    <a:pt x="581" y="117"/>
                  </a:lnTo>
                  <a:lnTo>
                    <a:pt x="581" y="176"/>
                  </a:lnTo>
                  <a:lnTo>
                    <a:pt x="287" y="176"/>
                  </a:lnTo>
                  <a:cubicBezTo>
                    <a:pt x="265" y="176"/>
                    <a:pt x="250" y="191"/>
                    <a:pt x="250" y="213"/>
                  </a:cubicBezTo>
                  <a:cubicBezTo>
                    <a:pt x="250" y="235"/>
                    <a:pt x="265" y="250"/>
                    <a:pt x="287" y="250"/>
                  </a:cubicBezTo>
                  <a:lnTo>
                    <a:pt x="618" y="250"/>
                  </a:lnTo>
                  <a:cubicBezTo>
                    <a:pt x="670" y="250"/>
                    <a:pt x="714" y="209"/>
                    <a:pt x="714" y="154"/>
                  </a:cubicBezTo>
                  <a:cubicBezTo>
                    <a:pt x="714" y="99"/>
                    <a:pt x="670" y="58"/>
                    <a:pt x="618" y="58"/>
                  </a:cubicBezTo>
                  <a:lnTo>
                    <a:pt x="214" y="58"/>
                  </a:lnTo>
                  <a:cubicBezTo>
                    <a:pt x="125" y="58"/>
                    <a:pt x="59" y="128"/>
                    <a:pt x="59" y="213"/>
                  </a:cubicBezTo>
                  <a:cubicBezTo>
                    <a:pt x="59" y="297"/>
                    <a:pt x="125" y="367"/>
                    <a:pt x="214" y="367"/>
                  </a:cubicBezTo>
                  <a:lnTo>
                    <a:pt x="581" y="367"/>
                  </a:lnTo>
                  <a:lnTo>
                    <a:pt x="581" y="426"/>
                  </a:lnTo>
                  <a:lnTo>
                    <a:pt x="214" y="426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75" name="텍스트 상자 31"/>
            <p:cNvSpPr txBox="1"/>
            <p:nvPr/>
          </p:nvSpPr>
          <p:spPr>
            <a:xfrm>
              <a:off x="2634001" y="3489248"/>
              <a:ext cx="318628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파일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5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276" name="Freeform 24"/>
          <p:cNvSpPr>
            <a:spLocks noChangeAspect="1" noChangeArrowheads="1"/>
          </p:cNvSpPr>
          <p:nvPr/>
        </p:nvSpPr>
        <p:spPr bwMode="auto">
          <a:xfrm flipV="1">
            <a:off x="598696" y="4095936"/>
            <a:ext cx="57767" cy="36000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77" name="Triangle 529"/>
          <p:cNvSpPr>
            <a:spLocks noChangeAspect="1"/>
          </p:cNvSpPr>
          <p:nvPr/>
        </p:nvSpPr>
        <p:spPr>
          <a:xfrm flipV="1">
            <a:off x="1763097" y="5472534"/>
            <a:ext cx="72000" cy="52888"/>
          </a:xfrm>
          <a:prstGeom prst="triangl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79" name="Group 5"/>
          <p:cNvGrpSpPr/>
          <p:nvPr/>
        </p:nvGrpSpPr>
        <p:grpSpPr>
          <a:xfrm>
            <a:off x="444761" y="1325199"/>
            <a:ext cx="3437310" cy="288202"/>
            <a:chOff x="444761" y="1400721"/>
            <a:chExt cx="3437310" cy="288202"/>
          </a:xfrm>
        </p:grpSpPr>
        <p:sp>
          <p:nvSpPr>
            <p:cNvPr id="280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81" name="텍스트 상자 31"/>
            <p:cNvSpPr txBox="1"/>
            <p:nvPr/>
          </p:nvSpPr>
          <p:spPr>
            <a:xfrm>
              <a:off x="562816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자동차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개선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82" name="Freeform 14"/>
            <p:cNvSpPr>
              <a:spLocks noChangeArrowheads="1"/>
            </p:cNvSpPr>
            <p:nvPr/>
          </p:nvSpPr>
          <p:spPr bwMode="auto">
            <a:xfrm rot="5400000">
              <a:off x="3727658" y="1517331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301" name="Rectangle 372"/>
          <p:cNvSpPr/>
          <p:nvPr/>
        </p:nvSpPr>
        <p:spPr>
          <a:xfrm>
            <a:off x="508468" y="3199986"/>
            <a:ext cx="3302156" cy="104012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02" name="Rectangle 374"/>
          <p:cNvSpPr/>
          <p:nvPr/>
        </p:nvSpPr>
        <p:spPr>
          <a:xfrm>
            <a:off x="508468" y="4267291"/>
            <a:ext cx="3302156" cy="200164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03" name="Rectangle 375"/>
          <p:cNvSpPr/>
          <p:nvPr/>
        </p:nvSpPr>
        <p:spPr>
          <a:xfrm>
            <a:off x="508468" y="4508105"/>
            <a:ext cx="3302156" cy="105533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13" name="그룹 143"/>
          <p:cNvGrpSpPr/>
          <p:nvPr/>
        </p:nvGrpSpPr>
        <p:grpSpPr>
          <a:xfrm>
            <a:off x="315784" y="3144659"/>
            <a:ext cx="216000" cy="252000"/>
            <a:chOff x="2704212" y="2825113"/>
            <a:chExt cx="216000" cy="252000"/>
          </a:xfrm>
        </p:grpSpPr>
        <p:sp>
          <p:nvSpPr>
            <p:cNvPr id="314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15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5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316" name="그룹 143"/>
          <p:cNvGrpSpPr/>
          <p:nvPr/>
        </p:nvGrpSpPr>
        <p:grpSpPr>
          <a:xfrm>
            <a:off x="315784" y="4262713"/>
            <a:ext cx="216000" cy="252000"/>
            <a:chOff x="2704212" y="2825113"/>
            <a:chExt cx="216000" cy="252000"/>
          </a:xfrm>
        </p:grpSpPr>
        <p:sp>
          <p:nvSpPr>
            <p:cNvPr id="317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18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6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319" name="그룹 143"/>
          <p:cNvGrpSpPr/>
          <p:nvPr/>
        </p:nvGrpSpPr>
        <p:grpSpPr>
          <a:xfrm>
            <a:off x="315784" y="4504506"/>
            <a:ext cx="216000" cy="252000"/>
            <a:chOff x="2704212" y="2825113"/>
            <a:chExt cx="216000" cy="252000"/>
          </a:xfrm>
        </p:grpSpPr>
        <p:sp>
          <p:nvSpPr>
            <p:cNvPr id="320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321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7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sp>
        <p:nvSpPr>
          <p:cNvPr id="322" name="Rectangle 177"/>
          <p:cNvSpPr/>
          <p:nvPr/>
        </p:nvSpPr>
        <p:spPr>
          <a:xfrm>
            <a:off x="541106" y="2677891"/>
            <a:ext cx="3262132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23" name="Rectangle 177"/>
          <p:cNvSpPr/>
          <p:nvPr/>
        </p:nvSpPr>
        <p:spPr>
          <a:xfrm>
            <a:off x="541106" y="2677891"/>
            <a:ext cx="457200" cy="45887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image</a:t>
            </a:r>
          </a:p>
        </p:txBody>
      </p:sp>
      <p:sp>
        <p:nvSpPr>
          <p:cNvPr id="324" name="텍스트 상자 31"/>
          <p:cNvSpPr txBox="1"/>
          <p:nvPr/>
        </p:nvSpPr>
        <p:spPr>
          <a:xfrm>
            <a:off x="1072991" y="2758332"/>
            <a:ext cx="252000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네이버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네이버 메인에서 다양한 정보와 유용한 콘텐츠를 만나 보세요</a:t>
            </a: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endParaRPr kumimoji="1" lang="ko-KR" altLang="en-US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25" name="텍스트 상자 31"/>
          <p:cNvSpPr txBox="1"/>
          <p:nvPr/>
        </p:nvSpPr>
        <p:spPr>
          <a:xfrm>
            <a:off x="3084762" y="2973303"/>
            <a:ext cx="651589" cy="9233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rPr>
              <a:t>www.naver.com</a:t>
            </a:r>
            <a:endParaRPr kumimoji="1" lang="ko-KR" altLang="en-US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Malgun Gothic" charset="0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533424" y="4808330"/>
            <a:ext cx="3234094" cy="182010"/>
            <a:chOff x="533424" y="4808330"/>
            <a:chExt cx="3234094" cy="182010"/>
          </a:xfrm>
        </p:grpSpPr>
        <p:sp>
          <p:nvSpPr>
            <p:cNvPr id="241" name="Rectangle 526"/>
            <p:cNvSpPr/>
            <p:nvPr/>
          </p:nvSpPr>
          <p:spPr>
            <a:xfrm>
              <a:off x="533424" y="4808330"/>
              <a:ext cx="3234094" cy="1820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42" name="텍스트 상자 31"/>
            <p:cNvSpPr txBox="1"/>
            <p:nvPr/>
          </p:nvSpPr>
          <p:spPr>
            <a:xfrm>
              <a:off x="568850" y="4860037"/>
              <a:ext cx="713471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의견을 입력하세요</a:t>
              </a:r>
              <a:endParaRPr kumimoji="1" lang="ko-KR" altLang="en-US" sz="5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78" name="Rounded Rectangle 193"/>
            <p:cNvSpPr/>
            <p:nvPr/>
          </p:nvSpPr>
          <p:spPr>
            <a:xfrm>
              <a:off x="3485404" y="4835808"/>
              <a:ext cx="257806" cy="13783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등록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334" name="Group 245"/>
            <p:cNvGrpSpPr/>
            <p:nvPr/>
          </p:nvGrpSpPr>
          <p:grpSpPr>
            <a:xfrm>
              <a:off x="3149648" y="4852079"/>
              <a:ext cx="292649" cy="104698"/>
              <a:chOff x="4069651" y="4087589"/>
              <a:chExt cx="389265" cy="139263"/>
            </a:xfrm>
          </p:grpSpPr>
          <p:sp>
            <p:nvSpPr>
              <p:cNvPr id="335" name="Freeform 17"/>
              <p:cNvSpPr>
                <a:spLocks noChangeArrowheads="1"/>
              </p:cNvSpPr>
              <p:nvPr/>
            </p:nvSpPr>
            <p:spPr bwMode="auto">
              <a:xfrm>
                <a:off x="4069651" y="4087589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336" name="Freeform 247"/>
              <p:cNvSpPr>
                <a:spLocks noChangeArrowheads="1"/>
              </p:cNvSpPr>
              <p:nvPr/>
            </p:nvSpPr>
            <p:spPr bwMode="auto">
              <a:xfrm>
                <a:off x="4284206" y="4107687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</p:grpSp>
      <p:sp>
        <p:nvSpPr>
          <p:cNvPr id="337" name="Rectangle 423"/>
          <p:cNvSpPr/>
          <p:nvPr/>
        </p:nvSpPr>
        <p:spPr>
          <a:xfrm>
            <a:off x="4192581" y="3906661"/>
            <a:ext cx="3437310" cy="25688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38" name="Group 8"/>
          <p:cNvGrpSpPr/>
          <p:nvPr/>
        </p:nvGrpSpPr>
        <p:grpSpPr>
          <a:xfrm>
            <a:off x="4107441" y="4263820"/>
            <a:ext cx="3280474" cy="1168186"/>
            <a:chOff x="4155525" y="5240434"/>
            <a:chExt cx="3280474" cy="1168186"/>
          </a:xfrm>
        </p:grpSpPr>
        <p:sp>
          <p:nvSpPr>
            <p:cNvPr id="339" name="Rounded Rectangle 137"/>
            <p:cNvSpPr/>
            <p:nvPr/>
          </p:nvSpPr>
          <p:spPr>
            <a:xfrm>
              <a:off x="4231145" y="5416492"/>
              <a:ext cx="3204854" cy="992128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40" name="직사각형"/>
            <p:cNvSpPr/>
            <p:nvPr/>
          </p:nvSpPr>
          <p:spPr>
            <a:xfrm>
              <a:off x="5984079" y="5451514"/>
              <a:ext cx="1451920" cy="169397"/>
            </a:xfrm>
            <a:prstGeom prst="rect">
              <a:avLst/>
            </a:prstGeom>
            <a:noFill/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전체선택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   </a:t>
              </a:r>
              <a:r>
                <a:rPr kumimoji="1" lang="ko-KR" altLang="en-US" sz="600" b="0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저장</a:t>
              </a:r>
              <a:endParaRPr kumimoji="1" sz="600" b="0" i="0" u="sng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341" name="그룹 7"/>
            <p:cNvGrpSpPr/>
            <p:nvPr/>
          </p:nvGrpSpPr>
          <p:grpSpPr>
            <a:xfrm>
              <a:off x="4309307" y="5693904"/>
              <a:ext cx="1903528" cy="652532"/>
              <a:chOff x="2833078" y="3506054"/>
              <a:chExt cx="1903528" cy="652532"/>
            </a:xfrm>
          </p:grpSpPr>
          <p:grpSp>
            <p:nvGrpSpPr>
              <p:cNvPr id="358" name="그룹 5"/>
              <p:cNvGrpSpPr/>
              <p:nvPr/>
            </p:nvGrpSpPr>
            <p:grpSpPr>
              <a:xfrm>
                <a:off x="3018933" y="3506054"/>
                <a:ext cx="1717673" cy="652532"/>
                <a:chOff x="2634608" y="3506054"/>
                <a:chExt cx="1717673" cy="652532"/>
              </a:xfrm>
            </p:grpSpPr>
            <p:sp>
              <p:nvSpPr>
                <p:cNvPr id="362" name="직사각형"/>
                <p:cNvSpPr/>
                <p:nvPr/>
              </p:nvSpPr>
              <p:spPr>
                <a:xfrm>
                  <a:off x="2900361" y="3506054"/>
                  <a:ext cx="1451920" cy="169397"/>
                </a:xfrm>
                <a:prstGeom prst="rect">
                  <a:avLst/>
                </a:prstGeom>
                <a:noFill/>
                <a:ln w="12700">
                  <a:noFill/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파일명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_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만든이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_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날짜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.</a:t>
                  </a:r>
                  <a:r>
                    <a:rPr kumimoji="1" lang="en-US" altLang="ko-KR" sz="600" b="0" i="0" u="none" strike="noStrike" kern="1200" cap="none" spc="0" normalizeH="0" baseline="0" noProof="0" dirty="0" err="1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docx</a:t>
                  </a:r>
                  <a:endParaRPr kumimoji="1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63" name="직사각형"/>
                <p:cNvSpPr/>
                <p:nvPr/>
              </p:nvSpPr>
              <p:spPr>
                <a:xfrm>
                  <a:off x="2900361" y="3750291"/>
                  <a:ext cx="1451920" cy="169397"/>
                </a:xfrm>
                <a:prstGeom prst="rect">
                  <a:avLst/>
                </a:prstGeom>
                <a:noFill/>
                <a:ln w="12700">
                  <a:noFill/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파일명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_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만든이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_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날짜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.pdf</a:t>
                  </a:r>
                  <a:endParaRPr kumimoji="1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64" name="직사각형"/>
                <p:cNvSpPr/>
                <p:nvPr/>
              </p:nvSpPr>
              <p:spPr>
                <a:xfrm>
                  <a:off x="2899882" y="3989189"/>
                  <a:ext cx="1451920" cy="169397"/>
                </a:xfrm>
                <a:prstGeom prst="rect">
                  <a:avLst/>
                </a:prstGeom>
                <a:noFill/>
                <a:ln w="12700">
                  <a:noFill/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파일명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_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만든이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_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날짜</a:t>
                  </a:r>
                  <a:r>
                    <a:rPr kumimoji="1" lang="en-US" altLang="ko-KR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.</a:t>
                  </a:r>
                  <a:r>
                    <a:rPr kumimoji="1" lang="en-US" altLang="ko-KR" sz="600" b="0" i="0" u="none" strike="noStrike" kern="1200" cap="none" spc="0" normalizeH="0" baseline="0" noProof="0" dirty="0" err="1" smtClean="0">
                      <a:ln>
                        <a:noFill/>
                      </a:ln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effectLst/>
                      <a:uLnTx/>
                      <a:uFillTx/>
                      <a:latin typeface="맑은 고딕"/>
                      <a:ea typeface="맑은 고딕"/>
                      <a:cs typeface="+mn-cs"/>
                    </a:rPr>
                    <a:t>docx</a:t>
                  </a:r>
                  <a:endParaRPr kumimoji="1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65" name="Freeform 29"/>
                <p:cNvSpPr>
                  <a:spLocks noChangeAspect="1" noEditPoints="1"/>
                </p:cNvSpPr>
                <p:nvPr/>
              </p:nvSpPr>
              <p:spPr bwMode="auto">
                <a:xfrm>
                  <a:off x="2634608" y="3534002"/>
                  <a:ext cx="88991" cy="108000"/>
                </a:xfrm>
                <a:custGeom>
                  <a:avLst/>
                  <a:gdLst>
                    <a:gd name="T0" fmla="*/ 350 w 350"/>
                    <a:gd name="T1" fmla="*/ 150 h 425"/>
                    <a:gd name="T2" fmla="*/ 250 w 350"/>
                    <a:gd name="T3" fmla="*/ 150 h 425"/>
                    <a:gd name="T4" fmla="*/ 250 w 350"/>
                    <a:gd name="T5" fmla="*/ 0 h 425"/>
                    <a:gd name="T6" fmla="*/ 100 w 350"/>
                    <a:gd name="T7" fmla="*/ 0 h 425"/>
                    <a:gd name="T8" fmla="*/ 100 w 350"/>
                    <a:gd name="T9" fmla="*/ 150 h 425"/>
                    <a:gd name="T10" fmla="*/ 0 w 350"/>
                    <a:gd name="T11" fmla="*/ 150 h 425"/>
                    <a:gd name="T12" fmla="*/ 175 w 350"/>
                    <a:gd name="T13" fmla="*/ 325 h 425"/>
                    <a:gd name="T14" fmla="*/ 350 w 350"/>
                    <a:gd name="T15" fmla="*/ 150 h 425"/>
                    <a:gd name="T16" fmla="*/ 0 w 350"/>
                    <a:gd name="T17" fmla="*/ 375 h 425"/>
                    <a:gd name="T18" fmla="*/ 0 w 350"/>
                    <a:gd name="T19" fmla="*/ 425 h 425"/>
                    <a:gd name="T20" fmla="*/ 350 w 350"/>
                    <a:gd name="T21" fmla="*/ 425 h 425"/>
                    <a:gd name="T22" fmla="*/ 350 w 350"/>
                    <a:gd name="T23" fmla="*/ 375 h 425"/>
                    <a:gd name="T24" fmla="*/ 0 w 350"/>
                    <a:gd name="T25" fmla="*/ 375 h 4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0" h="425">
                      <a:moveTo>
                        <a:pt x="350" y="150"/>
                      </a:moveTo>
                      <a:lnTo>
                        <a:pt x="250" y="150"/>
                      </a:lnTo>
                      <a:lnTo>
                        <a:pt x="250" y="0"/>
                      </a:lnTo>
                      <a:lnTo>
                        <a:pt x="100" y="0"/>
                      </a:lnTo>
                      <a:lnTo>
                        <a:pt x="100" y="150"/>
                      </a:lnTo>
                      <a:lnTo>
                        <a:pt x="0" y="150"/>
                      </a:lnTo>
                      <a:lnTo>
                        <a:pt x="175" y="325"/>
                      </a:lnTo>
                      <a:lnTo>
                        <a:pt x="350" y="150"/>
                      </a:lnTo>
                      <a:close/>
                      <a:moveTo>
                        <a:pt x="0" y="375"/>
                      </a:moveTo>
                      <a:lnTo>
                        <a:pt x="0" y="425"/>
                      </a:lnTo>
                      <a:lnTo>
                        <a:pt x="350" y="425"/>
                      </a:lnTo>
                      <a:lnTo>
                        <a:pt x="350" y="375"/>
                      </a:lnTo>
                      <a:lnTo>
                        <a:pt x="0" y="375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66" name="Freeform 38"/>
                <p:cNvSpPr>
                  <a:spLocks noChangeAspect="1" noChangeArrowheads="1"/>
                </p:cNvSpPr>
                <p:nvPr/>
              </p:nvSpPr>
              <p:spPr bwMode="auto">
                <a:xfrm>
                  <a:off x="2778352" y="3548536"/>
                  <a:ext cx="107999" cy="72000"/>
                </a:xfrm>
                <a:custGeom>
                  <a:avLst/>
                  <a:gdLst>
                    <a:gd name="T0" fmla="*/ 437 w 541"/>
                    <a:gd name="T1" fmla="*/ 137 h 361"/>
                    <a:gd name="T2" fmla="*/ 270 w 541"/>
                    <a:gd name="T3" fmla="*/ 0 h 361"/>
                    <a:gd name="T4" fmla="*/ 124 w 541"/>
                    <a:gd name="T5" fmla="*/ 90 h 361"/>
                    <a:gd name="T6" fmla="*/ 0 w 541"/>
                    <a:gd name="T7" fmla="*/ 227 h 361"/>
                    <a:gd name="T8" fmla="*/ 137 w 541"/>
                    <a:gd name="T9" fmla="*/ 360 h 361"/>
                    <a:gd name="T10" fmla="*/ 428 w 541"/>
                    <a:gd name="T11" fmla="*/ 360 h 361"/>
                    <a:gd name="T12" fmla="*/ 540 w 541"/>
                    <a:gd name="T13" fmla="*/ 249 h 361"/>
                    <a:gd name="T14" fmla="*/ 437 w 541"/>
                    <a:gd name="T15" fmla="*/ 137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1" h="361">
                      <a:moveTo>
                        <a:pt x="437" y="137"/>
                      </a:moveTo>
                      <a:cubicBezTo>
                        <a:pt x="420" y="60"/>
                        <a:pt x="351" y="0"/>
                        <a:pt x="270" y="0"/>
                      </a:cubicBezTo>
                      <a:cubicBezTo>
                        <a:pt x="206" y="0"/>
                        <a:pt x="150" y="39"/>
                        <a:pt x="124" y="90"/>
                      </a:cubicBezTo>
                      <a:cubicBezTo>
                        <a:pt x="51" y="99"/>
                        <a:pt x="0" y="155"/>
                        <a:pt x="0" y="227"/>
                      </a:cubicBezTo>
                      <a:cubicBezTo>
                        <a:pt x="0" y="300"/>
                        <a:pt x="60" y="360"/>
                        <a:pt x="137" y="360"/>
                      </a:cubicBezTo>
                      <a:lnTo>
                        <a:pt x="428" y="360"/>
                      </a:lnTo>
                      <a:cubicBezTo>
                        <a:pt x="488" y="360"/>
                        <a:pt x="540" y="313"/>
                        <a:pt x="540" y="249"/>
                      </a:cubicBezTo>
                      <a:cubicBezTo>
                        <a:pt x="540" y="189"/>
                        <a:pt x="493" y="142"/>
                        <a:pt x="437" y="137"/>
                      </a:cubicBezTo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  <p:sp>
              <p:nvSpPr>
                <p:cNvPr id="367" name="Freeform 29"/>
                <p:cNvSpPr>
                  <a:spLocks noChangeAspect="1" noEditPoints="1"/>
                </p:cNvSpPr>
                <p:nvPr/>
              </p:nvSpPr>
              <p:spPr bwMode="auto">
                <a:xfrm>
                  <a:off x="2634608" y="3778239"/>
                  <a:ext cx="88991" cy="108000"/>
                </a:xfrm>
                <a:custGeom>
                  <a:avLst/>
                  <a:gdLst>
                    <a:gd name="T0" fmla="*/ 350 w 350"/>
                    <a:gd name="T1" fmla="*/ 150 h 425"/>
                    <a:gd name="T2" fmla="*/ 250 w 350"/>
                    <a:gd name="T3" fmla="*/ 150 h 425"/>
                    <a:gd name="T4" fmla="*/ 250 w 350"/>
                    <a:gd name="T5" fmla="*/ 0 h 425"/>
                    <a:gd name="T6" fmla="*/ 100 w 350"/>
                    <a:gd name="T7" fmla="*/ 0 h 425"/>
                    <a:gd name="T8" fmla="*/ 100 w 350"/>
                    <a:gd name="T9" fmla="*/ 150 h 425"/>
                    <a:gd name="T10" fmla="*/ 0 w 350"/>
                    <a:gd name="T11" fmla="*/ 150 h 425"/>
                    <a:gd name="T12" fmla="*/ 175 w 350"/>
                    <a:gd name="T13" fmla="*/ 325 h 425"/>
                    <a:gd name="T14" fmla="*/ 350 w 350"/>
                    <a:gd name="T15" fmla="*/ 150 h 425"/>
                    <a:gd name="T16" fmla="*/ 0 w 350"/>
                    <a:gd name="T17" fmla="*/ 375 h 425"/>
                    <a:gd name="T18" fmla="*/ 0 w 350"/>
                    <a:gd name="T19" fmla="*/ 425 h 425"/>
                    <a:gd name="T20" fmla="*/ 350 w 350"/>
                    <a:gd name="T21" fmla="*/ 425 h 425"/>
                    <a:gd name="T22" fmla="*/ 350 w 350"/>
                    <a:gd name="T23" fmla="*/ 375 h 425"/>
                    <a:gd name="T24" fmla="*/ 0 w 350"/>
                    <a:gd name="T25" fmla="*/ 375 h 4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0" h="425">
                      <a:moveTo>
                        <a:pt x="350" y="150"/>
                      </a:moveTo>
                      <a:lnTo>
                        <a:pt x="250" y="150"/>
                      </a:lnTo>
                      <a:lnTo>
                        <a:pt x="250" y="0"/>
                      </a:lnTo>
                      <a:lnTo>
                        <a:pt x="100" y="0"/>
                      </a:lnTo>
                      <a:lnTo>
                        <a:pt x="100" y="150"/>
                      </a:lnTo>
                      <a:lnTo>
                        <a:pt x="0" y="150"/>
                      </a:lnTo>
                      <a:lnTo>
                        <a:pt x="175" y="325"/>
                      </a:lnTo>
                      <a:lnTo>
                        <a:pt x="350" y="150"/>
                      </a:lnTo>
                      <a:close/>
                      <a:moveTo>
                        <a:pt x="0" y="375"/>
                      </a:moveTo>
                      <a:lnTo>
                        <a:pt x="0" y="425"/>
                      </a:lnTo>
                      <a:lnTo>
                        <a:pt x="350" y="425"/>
                      </a:lnTo>
                      <a:lnTo>
                        <a:pt x="350" y="375"/>
                      </a:lnTo>
                      <a:lnTo>
                        <a:pt x="0" y="375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68" name="Freeform 38"/>
                <p:cNvSpPr>
                  <a:spLocks noChangeAspect="1" noChangeArrowheads="1"/>
                </p:cNvSpPr>
                <p:nvPr/>
              </p:nvSpPr>
              <p:spPr bwMode="auto">
                <a:xfrm>
                  <a:off x="2778352" y="3792773"/>
                  <a:ext cx="107999" cy="72000"/>
                </a:xfrm>
                <a:custGeom>
                  <a:avLst/>
                  <a:gdLst>
                    <a:gd name="T0" fmla="*/ 437 w 541"/>
                    <a:gd name="T1" fmla="*/ 137 h 361"/>
                    <a:gd name="T2" fmla="*/ 270 w 541"/>
                    <a:gd name="T3" fmla="*/ 0 h 361"/>
                    <a:gd name="T4" fmla="*/ 124 w 541"/>
                    <a:gd name="T5" fmla="*/ 90 h 361"/>
                    <a:gd name="T6" fmla="*/ 0 w 541"/>
                    <a:gd name="T7" fmla="*/ 227 h 361"/>
                    <a:gd name="T8" fmla="*/ 137 w 541"/>
                    <a:gd name="T9" fmla="*/ 360 h 361"/>
                    <a:gd name="T10" fmla="*/ 428 w 541"/>
                    <a:gd name="T11" fmla="*/ 360 h 361"/>
                    <a:gd name="T12" fmla="*/ 540 w 541"/>
                    <a:gd name="T13" fmla="*/ 249 h 361"/>
                    <a:gd name="T14" fmla="*/ 437 w 541"/>
                    <a:gd name="T15" fmla="*/ 137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1" h="361">
                      <a:moveTo>
                        <a:pt x="437" y="137"/>
                      </a:moveTo>
                      <a:cubicBezTo>
                        <a:pt x="420" y="60"/>
                        <a:pt x="351" y="0"/>
                        <a:pt x="270" y="0"/>
                      </a:cubicBezTo>
                      <a:cubicBezTo>
                        <a:pt x="206" y="0"/>
                        <a:pt x="150" y="39"/>
                        <a:pt x="124" y="90"/>
                      </a:cubicBezTo>
                      <a:cubicBezTo>
                        <a:pt x="51" y="99"/>
                        <a:pt x="0" y="155"/>
                        <a:pt x="0" y="227"/>
                      </a:cubicBezTo>
                      <a:cubicBezTo>
                        <a:pt x="0" y="300"/>
                        <a:pt x="60" y="360"/>
                        <a:pt x="137" y="360"/>
                      </a:cubicBezTo>
                      <a:lnTo>
                        <a:pt x="428" y="360"/>
                      </a:lnTo>
                      <a:cubicBezTo>
                        <a:pt x="488" y="360"/>
                        <a:pt x="540" y="313"/>
                        <a:pt x="540" y="249"/>
                      </a:cubicBezTo>
                      <a:cubicBezTo>
                        <a:pt x="540" y="189"/>
                        <a:pt x="493" y="142"/>
                        <a:pt x="437" y="137"/>
                      </a:cubicBezTo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  <p:sp>
              <p:nvSpPr>
                <p:cNvPr id="369" name="Freeform 29"/>
                <p:cNvSpPr>
                  <a:spLocks noChangeAspect="1" noEditPoints="1"/>
                </p:cNvSpPr>
                <p:nvPr/>
              </p:nvSpPr>
              <p:spPr bwMode="auto">
                <a:xfrm>
                  <a:off x="2634608" y="4017137"/>
                  <a:ext cx="88991" cy="108000"/>
                </a:xfrm>
                <a:custGeom>
                  <a:avLst/>
                  <a:gdLst>
                    <a:gd name="T0" fmla="*/ 350 w 350"/>
                    <a:gd name="T1" fmla="*/ 150 h 425"/>
                    <a:gd name="T2" fmla="*/ 250 w 350"/>
                    <a:gd name="T3" fmla="*/ 150 h 425"/>
                    <a:gd name="T4" fmla="*/ 250 w 350"/>
                    <a:gd name="T5" fmla="*/ 0 h 425"/>
                    <a:gd name="T6" fmla="*/ 100 w 350"/>
                    <a:gd name="T7" fmla="*/ 0 h 425"/>
                    <a:gd name="T8" fmla="*/ 100 w 350"/>
                    <a:gd name="T9" fmla="*/ 150 h 425"/>
                    <a:gd name="T10" fmla="*/ 0 w 350"/>
                    <a:gd name="T11" fmla="*/ 150 h 425"/>
                    <a:gd name="T12" fmla="*/ 175 w 350"/>
                    <a:gd name="T13" fmla="*/ 325 h 425"/>
                    <a:gd name="T14" fmla="*/ 350 w 350"/>
                    <a:gd name="T15" fmla="*/ 150 h 425"/>
                    <a:gd name="T16" fmla="*/ 0 w 350"/>
                    <a:gd name="T17" fmla="*/ 375 h 425"/>
                    <a:gd name="T18" fmla="*/ 0 w 350"/>
                    <a:gd name="T19" fmla="*/ 425 h 425"/>
                    <a:gd name="T20" fmla="*/ 350 w 350"/>
                    <a:gd name="T21" fmla="*/ 425 h 425"/>
                    <a:gd name="T22" fmla="*/ 350 w 350"/>
                    <a:gd name="T23" fmla="*/ 375 h 425"/>
                    <a:gd name="T24" fmla="*/ 0 w 350"/>
                    <a:gd name="T25" fmla="*/ 375 h 4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0" h="425">
                      <a:moveTo>
                        <a:pt x="350" y="150"/>
                      </a:moveTo>
                      <a:lnTo>
                        <a:pt x="250" y="150"/>
                      </a:lnTo>
                      <a:lnTo>
                        <a:pt x="250" y="0"/>
                      </a:lnTo>
                      <a:lnTo>
                        <a:pt x="100" y="0"/>
                      </a:lnTo>
                      <a:lnTo>
                        <a:pt x="100" y="150"/>
                      </a:lnTo>
                      <a:lnTo>
                        <a:pt x="0" y="150"/>
                      </a:lnTo>
                      <a:lnTo>
                        <a:pt x="175" y="325"/>
                      </a:lnTo>
                      <a:lnTo>
                        <a:pt x="350" y="150"/>
                      </a:lnTo>
                      <a:close/>
                      <a:moveTo>
                        <a:pt x="0" y="375"/>
                      </a:moveTo>
                      <a:lnTo>
                        <a:pt x="0" y="425"/>
                      </a:lnTo>
                      <a:lnTo>
                        <a:pt x="350" y="425"/>
                      </a:lnTo>
                      <a:lnTo>
                        <a:pt x="350" y="375"/>
                      </a:lnTo>
                      <a:lnTo>
                        <a:pt x="0" y="375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70" name="Freeform 130"/>
                <p:cNvSpPr>
                  <a:spLocks noChangeAspect="1" noChangeArrowheads="1"/>
                </p:cNvSpPr>
                <p:nvPr/>
              </p:nvSpPr>
              <p:spPr bwMode="auto">
                <a:xfrm>
                  <a:off x="2778352" y="4031671"/>
                  <a:ext cx="107999" cy="72000"/>
                </a:xfrm>
                <a:custGeom>
                  <a:avLst/>
                  <a:gdLst>
                    <a:gd name="T0" fmla="*/ 437 w 541"/>
                    <a:gd name="T1" fmla="*/ 137 h 361"/>
                    <a:gd name="T2" fmla="*/ 270 w 541"/>
                    <a:gd name="T3" fmla="*/ 0 h 361"/>
                    <a:gd name="T4" fmla="*/ 124 w 541"/>
                    <a:gd name="T5" fmla="*/ 90 h 361"/>
                    <a:gd name="T6" fmla="*/ 0 w 541"/>
                    <a:gd name="T7" fmla="*/ 227 h 361"/>
                    <a:gd name="T8" fmla="*/ 137 w 541"/>
                    <a:gd name="T9" fmla="*/ 360 h 361"/>
                    <a:gd name="T10" fmla="*/ 428 w 541"/>
                    <a:gd name="T11" fmla="*/ 360 h 361"/>
                    <a:gd name="T12" fmla="*/ 540 w 541"/>
                    <a:gd name="T13" fmla="*/ 249 h 361"/>
                    <a:gd name="T14" fmla="*/ 437 w 541"/>
                    <a:gd name="T15" fmla="*/ 137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1" h="361">
                      <a:moveTo>
                        <a:pt x="437" y="137"/>
                      </a:moveTo>
                      <a:cubicBezTo>
                        <a:pt x="420" y="60"/>
                        <a:pt x="351" y="0"/>
                        <a:pt x="270" y="0"/>
                      </a:cubicBezTo>
                      <a:cubicBezTo>
                        <a:pt x="206" y="0"/>
                        <a:pt x="150" y="39"/>
                        <a:pt x="124" y="90"/>
                      </a:cubicBezTo>
                      <a:cubicBezTo>
                        <a:pt x="51" y="99"/>
                        <a:pt x="0" y="155"/>
                        <a:pt x="0" y="227"/>
                      </a:cubicBezTo>
                      <a:cubicBezTo>
                        <a:pt x="0" y="300"/>
                        <a:pt x="60" y="360"/>
                        <a:pt x="137" y="360"/>
                      </a:cubicBezTo>
                      <a:lnTo>
                        <a:pt x="428" y="360"/>
                      </a:lnTo>
                      <a:cubicBezTo>
                        <a:pt x="488" y="360"/>
                        <a:pt x="540" y="313"/>
                        <a:pt x="540" y="249"/>
                      </a:cubicBezTo>
                      <a:cubicBezTo>
                        <a:pt x="540" y="189"/>
                        <a:pt x="493" y="142"/>
                        <a:pt x="437" y="137"/>
                      </a:cubicBezTo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</p:grpSp>
          <p:sp>
            <p:nvSpPr>
              <p:cNvPr id="359" name="Freeform 1"/>
              <p:cNvSpPr>
                <a:spLocks noChangeAspect="1" noChangeArrowheads="1"/>
              </p:cNvSpPr>
              <p:nvPr/>
            </p:nvSpPr>
            <p:spPr bwMode="auto">
              <a:xfrm>
                <a:off x="2833078" y="3524525"/>
                <a:ext cx="118482" cy="118482"/>
              </a:xfrm>
              <a:custGeom>
                <a:avLst/>
                <a:gdLst>
                  <a:gd name="T0" fmla="*/ 523 w 587"/>
                  <a:gd name="T1" fmla="*/ 0 h 586"/>
                  <a:gd name="T2" fmla="*/ 69 w 587"/>
                  <a:gd name="T3" fmla="*/ 0 h 586"/>
                  <a:gd name="T4" fmla="*/ 0 w 587"/>
                  <a:gd name="T5" fmla="*/ 68 h 586"/>
                  <a:gd name="T6" fmla="*/ 0 w 587"/>
                  <a:gd name="T7" fmla="*/ 523 h 586"/>
                  <a:gd name="T8" fmla="*/ 69 w 587"/>
                  <a:gd name="T9" fmla="*/ 585 h 586"/>
                  <a:gd name="T10" fmla="*/ 523 w 587"/>
                  <a:gd name="T11" fmla="*/ 585 h 586"/>
                  <a:gd name="T12" fmla="*/ 586 w 587"/>
                  <a:gd name="T13" fmla="*/ 523 h 586"/>
                  <a:gd name="T14" fmla="*/ 586 w 587"/>
                  <a:gd name="T15" fmla="*/ 68 h 586"/>
                  <a:gd name="T16" fmla="*/ 523 w 587"/>
                  <a:gd name="T17" fmla="*/ 0 h 586"/>
                  <a:gd name="T18" fmla="*/ 231 w 587"/>
                  <a:gd name="T19" fmla="*/ 454 h 586"/>
                  <a:gd name="T20" fmla="*/ 69 w 587"/>
                  <a:gd name="T21" fmla="*/ 292 h 586"/>
                  <a:gd name="T22" fmla="*/ 113 w 587"/>
                  <a:gd name="T23" fmla="*/ 249 h 586"/>
                  <a:gd name="T24" fmla="*/ 231 w 587"/>
                  <a:gd name="T25" fmla="*/ 367 h 586"/>
                  <a:gd name="T26" fmla="*/ 480 w 587"/>
                  <a:gd name="T27" fmla="*/ 118 h 586"/>
                  <a:gd name="T28" fmla="*/ 523 w 587"/>
                  <a:gd name="T29" fmla="*/ 161 h 586"/>
                  <a:gd name="T30" fmla="*/ 231 w 587"/>
                  <a:gd name="T31" fmla="*/ 454 h 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7" h="586">
                    <a:moveTo>
                      <a:pt x="523" y="0"/>
                    </a:moveTo>
                    <a:lnTo>
                      <a:pt x="69" y="0"/>
                    </a:lnTo>
                    <a:cubicBezTo>
                      <a:pt x="32" y="0"/>
                      <a:pt x="0" y="31"/>
                      <a:pt x="0" y="68"/>
                    </a:cubicBezTo>
                    <a:lnTo>
                      <a:pt x="0" y="523"/>
                    </a:lnTo>
                    <a:cubicBezTo>
                      <a:pt x="0" y="554"/>
                      <a:pt x="32" y="585"/>
                      <a:pt x="69" y="585"/>
                    </a:cubicBezTo>
                    <a:lnTo>
                      <a:pt x="523" y="585"/>
                    </a:lnTo>
                    <a:cubicBezTo>
                      <a:pt x="561" y="585"/>
                      <a:pt x="586" y="554"/>
                      <a:pt x="586" y="523"/>
                    </a:cubicBezTo>
                    <a:lnTo>
                      <a:pt x="586" y="68"/>
                    </a:lnTo>
                    <a:cubicBezTo>
                      <a:pt x="586" y="31"/>
                      <a:pt x="561" y="0"/>
                      <a:pt x="523" y="0"/>
                    </a:cubicBezTo>
                    <a:close/>
                    <a:moveTo>
                      <a:pt x="231" y="454"/>
                    </a:moveTo>
                    <a:lnTo>
                      <a:pt x="69" y="292"/>
                    </a:lnTo>
                    <a:lnTo>
                      <a:pt x="113" y="249"/>
                    </a:lnTo>
                    <a:lnTo>
                      <a:pt x="231" y="367"/>
                    </a:lnTo>
                    <a:lnTo>
                      <a:pt x="480" y="118"/>
                    </a:lnTo>
                    <a:lnTo>
                      <a:pt x="523" y="161"/>
                    </a:lnTo>
                    <a:lnTo>
                      <a:pt x="231" y="45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360" name="Freeform 1"/>
              <p:cNvSpPr>
                <a:spLocks noChangeAspect="1" noChangeArrowheads="1"/>
              </p:cNvSpPr>
              <p:nvPr/>
            </p:nvSpPr>
            <p:spPr bwMode="auto">
              <a:xfrm>
                <a:off x="2833078" y="3774373"/>
                <a:ext cx="118482" cy="118482"/>
              </a:xfrm>
              <a:custGeom>
                <a:avLst/>
                <a:gdLst>
                  <a:gd name="T0" fmla="*/ 523 w 587"/>
                  <a:gd name="T1" fmla="*/ 0 h 586"/>
                  <a:gd name="T2" fmla="*/ 69 w 587"/>
                  <a:gd name="T3" fmla="*/ 0 h 586"/>
                  <a:gd name="T4" fmla="*/ 0 w 587"/>
                  <a:gd name="T5" fmla="*/ 68 h 586"/>
                  <a:gd name="T6" fmla="*/ 0 w 587"/>
                  <a:gd name="T7" fmla="*/ 523 h 586"/>
                  <a:gd name="T8" fmla="*/ 69 w 587"/>
                  <a:gd name="T9" fmla="*/ 585 h 586"/>
                  <a:gd name="T10" fmla="*/ 523 w 587"/>
                  <a:gd name="T11" fmla="*/ 585 h 586"/>
                  <a:gd name="T12" fmla="*/ 586 w 587"/>
                  <a:gd name="T13" fmla="*/ 523 h 586"/>
                  <a:gd name="T14" fmla="*/ 586 w 587"/>
                  <a:gd name="T15" fmla="*/ 68 h 586"/>
                  <a:gd name="T16" fmla="*/ 523 w 587"/>
                  <a:gd name="T17" fmla="*/ 0 h 586"/>
                  <a:gd name="T18" fmla="*/ 231 w 587"/>
                  <a:gd name="T19" fmla="*/ 454 h 586"/>
                  <a:gd name="T20" fmla="*/ 69 w 587"/>
                  <a:gd name="T21" fmla="*/ 292 h 586"/>
                  <a:gd name="T22" fmla="*/ 113 w 587"/>
                  <a:gd name="T23" fmla="*/ 249 h 586"/>
                  <a:gd name="T24" fmla="*/ 231 w 587"/>
                  <a:gd name="T25" fmla="*/ 367 h 586"/>
                  <a:gd name="T26" fmla="*/ 480 w 587"/>
                  <a:gd name="T27" fmla="*/ 118 h 586"/>
                  <a:gd name="T28" fmla="*/ 523 w 587"/>
                  <a:gd name="T29" fmla="*/ 161 h 586"/>
                  <a:gd name="T30" fmla="*/ 231 w 587"/>
                  <a:gd name="T31" fmla="*/ 454 h 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7" h="586">
                    <a:moveTo>
                      <a:pt x="523" y="0"/>
                    </a:moveTo>
                    <a:lnTo>
                      <a:pt x="69" y="0"/>
                    </a:lnTo>
                    <a:cubicBezTo>
                      <a:pt x="32" y="0"/>
                      <a:pt x="0" y="31"/>
                      <a:pt x="0" y="68"/>
                    </a:cubicBezTo>
                    <a:lnTo>
                      <a:pt x="0" y="523"/>
                    </a:lnTo>
                    <a:cubicBezTo>
                      <a:pt x="0" y="554"/>
                      <a:pt x="32" y="585"/>
                      <a:pt x="69" y="585"/>
                    </a:cubicBezTo>
                    <a:lnTo>
                      <a:pt x="523" y="585"/>
                    </a:lnTo>
                    <a:cubicBezTo>
                      <a:pt x="561" y="585"/>
                      <a:pt x="586" y="554"/>
                      <a:pt x="586" y="523"/>
                    </a:cubicBezTo>
                    <a:lnTo>
                      <a:pt x="586" y="68"/>
                    </a:lnTo>
                    <a:cubicBezTo>
                      <a:pt x="586" y="31"/>
                      <a:pt x="561" y="0"/>
                      <a:pt x="523" y="0"/>
                    </a:cubicBezTo>
                    <a:close/>
                    <a:moveTo>
                      <a:pt x="231" y="454"/>
                    </a:moveTo>
                    <a:lnTo>
                      <a:pt x="69" y="292"/>
                    </a:lnTo>
                    <a:lnTo>
                      <a:pt x="113" y="249"/>
                    </a:lnTo>
                    <a:lnTo>
                      <a:pt x="231" y="367"/>
                    </a:lnTo>
                    <a:lnTo>
                      <a:pt x="480" y="118"/>
                    </a:lnTo>
                    <a:lnTo>
                      <a:pt x="523" y="161"/>
                    </a:lnTo>
                    <a:lnTo>
                      <a:pt x="231" y="45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361" name="Freeform 1"/>
              <p:cNvSpPr>
                <a:spLocks noChangeAspect="1" noChangeArrowheads="1"/>
              </p:cNvSpPr>
              <p:nvPr/>
            </p:nvSpPr>
            <p:spPr bwMode="auto">
              <a:xfrm>
                <a:off x="2833078" y="4017137"/>
                <a:ext cx="118482" cy="118482"/>
              </a:xfrm>
              <a:custGeom>
                <a:avLst/>
                <a:gdLst>
                  <a:gd name="T0" fmla="*/ 523 w 587"/>
                  <a:gd name="T1" fmla="*/ 0 h 586"/>
                  <a:gd name="T2" fmla="*/ 69 w 587"/>
                  <a:gd name="T3" fmla="*/ 0 h 586"/>
                  <a:gd name="T4" fmla="*/ 0 w 587"/>
                  <a:gd name="T5" fmla="*/ 68 h 586"/>
                  <a:gd name="T6" fmla="*/ 0 w 587"/>
                  <a:gd name="T7" fmla="*/ 523 h 586"/>
                  <a:gd name="T8" fmla="*/ 69 w 587"/>
                  <a:gd name="T9" fmla="*/ 585 h 586"/>
                  <a:gd name="T10" fmla="*/ 523 w 587"/>
                  <a:gd name="T11" fmla="*/ 585 h 586"/>
                  <a:gd name="T12" fmla="*/ 586 w 587"/>
                  <a:gd name="T13" fmla="*/ 523 h 586"/>
                  <a:gd name="T14" fmla="*/ 586 w 587"/>
                  <a:gd name="T15" fmla="*/ 68 h 586"/>
                  <a:gd name="T16" fmla="*/ 523 w 587"/>
                  <a:gd name="T17" fmla="*/ 0 h 586"/>
                  <a:gd name="T18" fmla="*/ 231 w 587"/>
                  <a:gd name="T19" fmla="*/ 454 h 586"/>
                  <a:gd name="T20" fmla="*/ 69 w 587"/>
                  <a:gd name="T21" fmla="*/ 292 h 586"/>
                  <a:gd name="T22" fmla="*/ 113 w 587"/>
                  <a:gd name="T23" fmla="*/ 249 h 586"/>
                  <a:gd name="T24" fmla="*/ 231 w 587"/>
                  <a:gd name="T25" fmla="*/ 367 h 586"/>
                  <a:gd name="T26" fmla="*/ 480 w 587"/>
                  <a:gd name="T27" fmla="*/ 118 h 586"/>
                  <a:gd name="T28" fmla="*/ 523 w 587"/>
                  <a:gd name="T29" fmla="*/ 161 h 586"/>
                  <a:gd name="T30" fmla="*/ 231 w 587"/>
                  <a:gd name="T31" fmla="*/ 454 h 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7" h="586">
                    <a:moveTo>
                      <a:pt x="523" y="0"/>
                    </a:moveTo>
                    <a:lnTo>
                      <a:pt x="69" y="0"/>
                    </a:lnTo>
                    <a:cubicBezTo>
                      <a:pt x="32" y="0"/>
                      <a:pt x="0" y="31"/>
                      <a:pt x="0" y="68"/>
                    </a:cubicBezTo>
                    <a:lnTo>
                      <a:pt x="0" y="523"/>
                    </a:lnTo>
                    <a:cubicBezTo>
                      <a:pt x="0" y="554"/>
                      <a:pt x="32" y="585"/>
                      <a:pt x="69" y="585"/>
                    </a:cubicBezTo>
                    <a:lnTo>
                      <a:pt x="523" y="585"/>
                    </a:lnTo>
                    <a:cubicBezTo>
                      <a:pt x="561" y="585"/>
                      <a:pt x="586" y="554"/>
                      <a:pt x="586" y="523"/>
                    </a:cubicBezTo>
                    <a:lnTo>
                      <a:pt x="586" y="68"/>
                    </a:lnTo>
                    <a:cubicBezTo>
                      <a:pt x="586" y="31"/>
                      <a:pt x="561" y="0"/>
                      <a:pt x="523" y="0"/>
                    </a:cubicBezTo>
                    <a:close/>
                    <a:moveTo>
                      <a:pt x="231" y="454"/>
                    </a:moveTo>
                    <a:lnTo>
                      <a:pt x="69" y="292"/>
                    </a:lnTo>
                    <a:lnTo>
                      <a:pt x="113" y="249"/>
                    </a:lnTo>
                    <a:lnTo>
                      <a:pt x="231" y="367"/>
                    </a:lnTo>
                    <a:lnTo>
                      <a:pt x="480" y="118"/>
                    </a:lnTo>
                    <a:lnTo>
                      <a:pt x="523" y="161"/>
                    </a:lnTo>
                    <a:lnTo>
                      <a:pt x="231" y="45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342" name="Group 138"/>
            <p:cNvGrpSpPr/>
            <p:nvPr/>
          </p:nvGrpSpPr>
          <p:grpSpPr>
            <a:xfrm>
              <a:off x="4429541" y="5468998"/>
              <a:ext cx="493565" cy="107722"/>
              <a:chOff x="2459064" y="3489248"/>
              <a:chExt cx="493565" cy="107722"/>
            </a:xfrm>
          </p:grpSpPr>
          <p:sp>
            <p:nvSpPr>
              <p:cNvPr id="356" name="Freeform 14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357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파일 </a:t>
                </a:r>
                <a:r>
                  <a:rPr kumimoji="1" lang="en-US" altLang="ko-KR" sz="7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5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343" name="Freeform 24"/>
            <p:cNvSpPr>
              <a:spLocks noChangeAspect="1" noChangeArrowheads="1"/>
            </p:cNvSpPr>
            <p:nvPr/>
          </p:nvSpPr>
          <p:spPr bwMode="auto">
            <a:xfrm>
              <a:off x="4309307" y="5509108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44" name="직사각형"/>
            <p:cNvSpPr/>
            <p:nvPr/>
          </p:nvSpPr>
          <p:spPr>
            <a:xfrm>
              <a:off x="6594789" y="5695652"/>
              <a:ext cx="804882" cy="169397"/>
            </a:xfrm>
            <a:prstGeom prst="rect">
              <a:avLst/>
            </a:prstGeom>
            <a:noFill/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477KB</a:t>
              </a:r>
              <a:endParaRPr kumimoji="1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45" name="직사각형"/>
            <p:cNvSpPr/>
            <p:nvPr/>
          </p:nvSpPr>
          <p:spPr>
            <a:xfrm>
              <a:off x="6594789" y="5939889"/>
              <a:ext cx="804882" cy="169397"/>
            </a:xfrm>
            <a:prstGeom prst="rect">
              <a:avLst/>
            </a:prstGeom>
            <a:noFill/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31KB</a:t>
              </a:r>
              <a:endParaRPr kumimoji="1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46" name="직사각형"/>
            <p:cNvSpPr/>
            <p:nvPr/>
          </p:nvSpPr>
          <p:spPr>
            <a:xfrm>
              <a:off x="6594789" y="6178787"/>
              <a:ext cx="804883" cy="169397"/>
            </a:xfrm>
            <a:prstGeom prst="rect">
              <a:avLst/>
            </a:prstGeom>
            <a:noFill/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150MB</a:t>
              </a:r>
              <a:endParaRPr kumimoji="1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347" name="직선 연결선[R] 7"/>
            <p:cNvCxnSpPr/>
            <p:nvPr/>
          </p:nvCxnSpPr>
          <p:spPr>
            <a:xfrm>
              <a:off x="4231145" y="5643458"/>
              <a:ext cx="3204854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  <a:miter lim="400000"/>
            </a:ln>
          </p:spPr>
        </p:cxnSp>
        <p:grpSp>
          <p:nvGrpSpPr>
            <p:cNvPr id="348" name="그룹 15"/>
            <p:cNvGrpSpPr/>
            <p:nvPr/>
          </p:nvGrpSpPr>
          <p:grpSpPr>
            <a:xfrm>
              <a:off x="6624539" y="5643458"/>
              <a:ext cx="811460" cy="329855"/>
              <a:chOff x="8498795" y="5080575"/>
              <a:chExt cx="811460" cy="329855"/>
            </a:xfrm>
          </p:grpSpPr>
          <p:sp>
            <p:nvSpPr>
              <p:cNvPr id="350" name="Rectangle 14"/>
              <p:cNvSpPr>
                <a:spLocks/>
              </p:cNvSpPr>
              <p:nvPr/>
            </p:nvSpPr>
            <p:spPr bwMode="auto">
              <a:xfrm>
                <a:off x="8498795" y="5080575"/>
                <a:ext cx="811460" cy="329855"/>
              </a:xfrm>
              <a:prstGeom prst="rect">
                <a:avLst/>
              </a:prstGeom>
              <a:solidFill>
                <a:schemeClr val="bg1"/>
              </a:solidFill>
              <a:ln w="1270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351" name="텍스트 상자 31"/>
              <p:cNvSpPr txBox="1"/>
              <p:nvPr/>
            </p:nvSpPr>
            <p:spPr>
              <a:xfrm>
                <a:off x="8705877" y="5121040"/>
                <a:ext cx="420311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PC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에 저장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352" name="Group 4"/>
              <p:cNvGrpSpPr/>
              <p:nvPr/>
            </p:nvGrpSpPr>
            <p:grpSpPr>
              <a:xfrm>
                <a:off x="8542893" y="5123290"/>
                <a:ext cx="107999" cy="222514"/>
                <a:chOff x="3020724" y="3355926"/>
                <a:chExt cx="107999" cy="222514"/>
              </a:xfrm>
            </p:grpSpPr>
            <p:sp>
              <p:nvSpPr>
                <p:cNvPr id="354" name="Freeform 29"/>
                <p:cNvSpPr>
                  <a:spLocks noChangeAspect="1" noEditPoints="1"/>
                </p:cNvSpPr>
                <p:nvPr/>
              </p:nvSpPr>
              <p:spPr bwMode="auto">
                <a:xfrm>
                  <a:off x="3037710" y="3355926"/>
                  <a:ext cx="81062" cy="98377"/>
                </a:xfrm>
                <a:custGeom>
                  <a:avLst/>
                  <a:gdLst>
                    <a:gd name="T0" fmla="*/ 350 w 350"/>
                    <a:gd name="T1" fmla="*/ 150 h 425"/>
                    <a:gd name="T2" fmla="*/ 250 w 350"/>
                    <a:gd name="T3" fmla="*/ 150 h 425"/>
                    <a:gd name="T4" fmla="*/ 250 w 350"/>
                    <a:gd name="T5" fmla="*/ 0 h 425"/>
                    <a:gd name="T6" fmla="*/ 100 w 350"/>
                    <a:gd name="T7" fmla="*/ 0 h 425"/>
                    <a:gd name="T8" fmla="*/ 100 w 350"/>
                    <a:gd name="T9" fmla="*/ 150 h 425"/>
                    <a:gd name="T10" fmla="*/ 0 w 350"/>
                    <a:gd name="T11" fmla="*/ 150 h 425"/>
                    <a:gd name="T12" fmla="*/ 175 w 350"/>
                    <a:gd name="T13" fmla="*/ 325 h 425"/>
                    <a:gd name="T14" fmla="*/ 350 w 350"/>
                    <a:gd name="T15" fmla="*/ 150 h 425"/>
                    <a:gd name="T16" fmla="*/ 0 w 350"/>
                    <a:gd name="T17" fmla="*/ 375 h 425"/>
                    <a:gd name="T18" fmla="*/ 0 w 350"/>
                    <a:gd name="T19" fmla="*/ 425 h 425"/>
                    <a:gd name="T20" fmla="*/ 350 w 350"/>
                    <a:gd name="T21" fmla="*/ 425 h 425"/>
                    <a:gd name="T22" fmla="*/ 350 w 350"/>
                    <a:gd name="T23" fmla="*/ 375 h 425"/>
                    <a:gd name="T24" fmla="*/ 0 w 350"/>
                    <a:gd name="T25" fmla="*/ 375 h 4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0" h="425">
                      <a:moveTo>
                        <a:pt x="350" y="150"/>
                      </a:moveTo>
                      <a:lnTo>
                        <a:pt x="250" y="150"/>
                      </a:lnTo>
                      <a:lnTo>
                        <a:pt x="250" y="0"/>
                      </a:lnTo>
                      <a:lnTo>
                        <a:pt x="100" y="0"/>
                      </a:lnTo>
                      <a:lnTo>
                        <a:pt x="100" y="150"/>
                      </a:lnTo>
                      <a:lnTo>
                        <a:pt x="0" y="150"/>
                      </a:lnTo>
                      <a:lnTo>
                        <a:pt x="175" y="325"/>
                      </a:lnTo>
                      <a:lnTo>
                        <a:pt x="350" y="150"/>
                      </a:lnTo>
                      <a:close/>
                      <a:moveTo>
                        <a:pt x="0" y="375"/>
                      </a:moveTo>
                      <a:lnTo>
                        <a:pt x="0" y="425"/>
                      </a:lnTo>
                      <a:lnTo>
                        <a:pt x="350" y="425"/>
                      </a:lnTo>
                      <a:lnTo>
                        <a:pt x="350" y="375"/>
                      </a:lnTo>
                      <a:lnTo>
                        <a:pt x="0" y="375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355" name="Freeform 38"/>
                <p:cNvSpPr>
                  <a:spLocks noChangeAspect="1" noChangeArrowheads="1"/>
                </p:cNvSpPr>
                <p:nvPr/>
              </p:nvSpPr>
              <p:spPr bwMode="auto">
                <a:xfrm>
                  <a:off x="3020724" y="3506440"/>
                  <a:ext cx="107999" cy="72000"/>
                </a:xfrm>
                <a:custGeom>
                  <a:avLst/>
                  <a:gdLst>
                    <a:gd name="T0" fmla="*/ 437 w 541"/>
                    <a:gd name="T1" fmla="*/ 137 h 361"/>
                    <a:gd name="T2" fmla="*/ 270 w 541"/>
                    <a:gd name="T3" fmla="*/ 0 h 361"/>
                    <a:gd name="T4" fmla="*/ 124 w 541"/>
                    <a:gd name="T5" fmla="*/ 90 h 361"/>
                    <a:gd name="T6" fmla="*/ 0 w 541"/>
                    <a:gd name="T7" fmla="*/ 227 h 361"/>
                    <a:gd name="T8" fmla="*/ 137 w 541"/>
                    <a:gd name="T9" fmla="*/ 360 h 361"/>
                    <a:gd name="T10" fmla="*/ 428 w 541"/>
                    <a:gd name="T11" fmla="*/ 360 h 361"/>
                    <a:gd name="T12" fmla="*/ 540 w 541"/>
                    <a:gd name="T13" fmla="*/ 249 h 361"/>
                    <a:gd name="T14" fmla="*/ 437 w 541"/>
                    <a:gd name="T15" fmla="*/ 137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1" h="361">
                      <a:moveTo>
                        <a:pt x="437" y="137"/>
                      </a:moveTo>
                      <a:cubicBezTo>
                        <a:pt x="420" y="60"/>
                        <a:pt x="351" y="0"/>
                        <a:pt x="270" y="0"/>
                      </a:cubicBezTo>
                      <a:cubicBezTo>
                        <a:pt x="206" y="0"/>
                        <a:pt x="150" y="39"/>
                        <a:pt x="124" y="90"/>
                      </a:cubicBezTo>
                      <a:cubicBezTo>
                        <a:pt x="51" y="99"/>
                        <a:pt x="0" y="155"/>
                        <a:pt x="0" y="227"/>
                      </a:cubicBezTo>
                      <a:cubicBezTo>
                        <a:pt x="0" y="300"/>
                        <a:pt x="60" y="360"/>
                        <a:pt x="137" y="360"/>
                      </a:cubicBezTo>
                      <a:lnTo>
                        <a:pt x="428" y="360"/>
                      </a:lnTo>
                      <a:cubicBezTo>
                        <a:pt x="488" y="360"/>
                        <a:pt x="540" y="313"/>
                        <a:pt x="540" y="249"/>
                      </a:cubicBezTo>
                      <a:cubicBezTo>
                        <a:pt x="540" y="189"/>
                        <a:pt x="493" y="142"/>
                        <a:pt x="437" y="137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</p:grpSp>
          <p:sp>
            <p:nvSpPr>
              <p:cNvPr id="353" name="텍스트 상자 31"/>
              <p:cNvSpPr txBox="1"/>
              <p:nvPr/>
            </p:nvSpPr>
            <p:spPr>
              <a:xfrm>
                <a:off x="8705877" y="5265735"/>
                <a:ext cx="569922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클라우드에 저장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349" name="텍스트 상자 31"/>
            <p:cNvSpPr txBox="1"/>
            <p:nvPr/>
          </p:nvSpPr>
          <p:spPr>
            <a:xfrm>
              <a:off x="4155525" y="5240434"/>
              <a:ext cx="1616993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* 첨부파일 폴딩 펼침 시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371" name="Group 331"/>
          <p:cNvGrpSpPr/>
          <p:nvPr/>
        </p:nvGrpSpPr>
        <p:grpSpPr>
          <a:xfrm>
            <a:off x="5093814" y="3968115"/>
            <a:ext cx="263837" cy="107722"/>
            <a:chOff x="4817820" y="3121801"/>
            <a:chExt cx="263837" cy="107722"/>
          </a:xfrm>
        </p:grpSpPr>
        <p:sp>
          <p:nvSpPr>
            <p:cNvPr id="372" name="Freeform 24"/>
            <p:cNvSpPr>
              <a:spLocks noChangeAspect="1" noChangeArrowheads="1"/>
            </p:cNvSpPr>
            <p:nvPr/>
          </p:nvSpPr>
          <p:spPr bwMode="auto">
            <a:xfrm>
              <a:off x="4817820" y="3136639"/>
              <a:ext cx="90000" cy="89388"/>
            </a:xfrm>
            <a:custGeom>
              <a:avLst/>
              <a:gdLst>
                <a:gd name="T0" fmla="*/ 587 w 650"/>
                <a:gd name="T1" fmla="*/ 0 h 644"/>
                <a:gd name="T2" fmla="*/ 68 w 650"/>
                <a:gd name="T3" fmla="*/ 0 h 644"/>
                <a:gd name="T4" fmla="*/ 0 w 650"/>
                <a:gd name="T5" fmla="*/ 62 h 644"/>
                <a:gd name="T6" fmla="*/ 0 w 650"/>
                <a:gd name="T7" fmla="*/ 643 h 644"/>
                <a:gd name="T8" fmla="*/ 130 w 650"/>
                <a:gd name="T9" fmla="*/ 513 h 644"/>
                <a:gd name="T10" fmla="*/ 587 w 650"/>
                <a:gd name="T11" fmla="*/ 513 h 644"/>
                <a:gd name="T12" fmla="*/ 649 w 650"/>
                <a:gd name="T13" fmla="*/ 451 h 644"/>
                <a:gd name="T14" fmla="*/ 649 w 650"/>
                <a:gd name="T15" fmla="*/ 62 h 644"/>
                <a:gd name="T16" fmla="*/ 587 w 650"/>
                <a:gd name="T17" fmla="*/ 0 h 644"/>
                <a:gd name="T18" fmla="*/ 229 w 650"/>
                <a:gd name="T19" fmla="*/ 290 h 644"/>
                <a:gd name="T20" fmla="*/ 167 w 650"/>
                <a:gd name="T21" fmla="*/ 290 h 644"/>
                <a:gd name="T22" fmla="*/ 167 w 650"/>
                <a:gd name="T23" fmla="*/ 222 h 644"/>
                <a:gd name="T24" fmla="*/ 229 w 650"/>
                <a:gd name="T25" fmla="*/ 222 h 644"/>
                <a:gd name="T26" fmla="*/ 229 w 650"/>
                <a:gd name="T27" fmla="*/ 290 h 644"/>
                <a:gd name="T28" fmla="*/ 359 w 650"/>
                <a:gd name="T29" fmla="*/ 290 h 644"/>
                <a:gd name="T30" fmla="*/ 297 w 650"/>
                <a:gd name="T31" fmla="*/ 290 h 644"/>
                <a:gd name="T32" fmla="*/ 297 w 650"/>
                <a:gd name="T33" fmla="*/ 222 h 644"/>
                <a:gd name="T34" fmla="*/ 359 w 650"/>
                <a:gd name="T35" fmla="*/ 222 h 644"/>
                <a:gd name="T36" fmla="*/ 359 w 650"/>
                <a:gd name="T37" fmla="*/ 290 h 644"/>
                <a:gd name="T38" fmla="*/ 488 w 650"/>
                <a:gd name="T39" fmla="*/ 290 h 644"/>
                <a:gd name="T40" fmla="*/ 420 w 650"/>
                <a:gd name="T41" fmla="*/ 290 h 644"/>
                <a:gd name="T42" fmla="*/ 420 w 650"/>
                <a:gd name="T43" fmla="*/ 222 h 644"/>
                <a:gd name="T44" fmla="*/ 488 w 650"/>
                <a:gd name="T45" fmla="*/ 222 h 644"/>
                <a:gd name="T46" fmla="*/ 488 w 650"/>
                <a:gd name="T47" fmla="*/ 29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0" h="644">
                  <a:moveTo>
                    <a:pt x="587" y="0"/>
                  </a:moveTo>
                  <a:lnTo>
                    <a:pt x="68" y="0"/>
                  </a:lnTo>
                  <a:cubicBezTo>
                    <a:pt x="31" y="0"/>
                    <a:pt x="0" y="24"/>
                    <a:pt x="0" y="62"/>
                  </a:cubicBezTo>
                  <a:lnTo>
                    <a:pt x="0" y="643"/>
                  </a:lnTo>
                  <a:lnTo>
                    <a:pt x="130" y="513"/>
                  </a:lnTo>
                  <a:lnTo>
                    <a:pt x="587" y="513"/>
                  </a:lnTo>
                  <a:cubicBezTo>
                    <a:pt x="618" y="513"/>
                    <a:pt x="649" y="482"/>
                    <a:pt x="649" y="451"/>
                  </a:cubicBezTo>
                  <a:lnTo>
                    <a:pt x="649" y="62"/>
                  </a:lnTo>
                  <a:cubicBezTo>
                    <a:pt x="649" y="24"/>
                    <a:pt x="618" y="0"/>
                    <a:pt x="587" y="0"/>
                  </a:cubicBezTo>
                  <a:close/>
                  <a:moveTo>
                    <a:pt x="229" y="290"/>
                  </a:moveTo>
                  <a:lnTo>
                    <a:pt x="167" y="290"/>
                  </a:lnTo>
                  <a:lnTo>
                    <a:pt x="167" y="222"/>
                  </a:lnTo>
                  <a:lnTo>
                    <a:pt x="229" y="222"/>
                  </a:lnTo>
                  <a:lnTo>
                    <a:pt x="229" y="290"/>
                  </a:lnTo>
                  <a:close/>
                  <a:moveTo>
                    <a:pt x="359" y="290"/>
                  </a:moveTo>
                  <a:lnTo>
                    <a:pt x="297" y="290"/>
                  </a:lnTo>
                  <a:lnTo>
                    <a:pt x="297" y="222"/>
                  </a:lnTo>
                  <a:lnTo>
                    <a:pt x="359" y="222"/>
                  </a:lnTo>
                  <a:lnTo>
                    <a:pt x="359" y="290"/>
                  </a:lnTo>
                  <a:close/>
                  <a:moveTo>
                    <a:pt x="488" y="290"/>
                  </a:moveTo>
                  <a:lnTo>
                    <a:pt x="420" y="290"/>
                  </a:lnTo>
                  <a:lnTo>
                    <a:pt x="420" y="222"/>
                  </a:lnTo>
                  <a:lnTo>
                    <a:pt x="488" y="222"/>
                  </a:lnTo>
                  <a:lnTo>
                    <a:pt x="488" y="29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73" name="텍스트 상자 31"/>
            <p:cNvSpPr txBox="1"/>
            <p:nvPr/>
          </p:nvSpPr>
          <p:spPr>
            <a:xfrm>
              <a:off x="4963998" y="3121801"/>
              <a:ext cx="11765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4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374" name="텍스트 상자 31"/>
          <p:cNvSpPr txBox="1"/>
          <p:nvPr/>
        </p:nvSpPr>
        <p:spPr>
          <a:xfrm>
            <a:off x="4115653" y="3313767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표정짓기 선택 시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75" name="Freeform 333"/>
          <p:cNvSpPr>
            <a:spLocks noChangeAspect="1"/>
          </p:cNvSpPr>
          <p:nvPr/>
        </p:nvSpPr>
        <p:spPr>
          <a:xfrm>
            <a:off x="4263459" y="3982170"/>
            <a:ext cx="80610" cy="89283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76" name="Group 20"/>
          <p:cNvGrpSpPr/>
          <p:nvPr/>
        </p:nvGrpSpPr>
        <p:grpSpPr>
          <a:xfrm>
            <a:off x="4112848" y="3491819"/>
            <a:ext cx="1360622" cy="322989"/>
            <a:chOff x="4025073" y="5565214"/>
            <a:chExt cx="1360622" cy="322989"/>
          </a:xfrm>
        </p:grpSpPr>
        <p:sp>
          <p:nvSpPr>
            <p:cNvPr id="377" name="Rectangular Callout 14"/>
            <p:cNvSpPr/>
            <p:nvPr/>
          </p:nvSpPr>
          <p:spPr>
            <a:xfrm>
              <a:off x="4025073" y="5565214"/>
              <a:ext cx="1360622" cy="322989"/>
            </a:xfrm>
            <a:prstGeom prst="wedgeRectCallout">
              <a:avLst>
                <a:gd name="adj1" fmla="val -23108"/>
                <a:gd name="adj2" fmla="val 85710"/>
              </a:avLst>
            </a:prstGeom>
            <a:noFill/>
            <a:ln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pic>
          <p:nvPicPr>
            <p:cNvPr id="378" name="Picture 16"/>
            <p:cNvPicPr>
              <a:picLocks noChangeAspect="1"/>
            </p:cNvPicPr>
            <p:nvPr/>
          </p:nvPicPr>
          <p:blipFill>
            <a:blip r:embed="rId3" cstate="print">
              <a:grayscl/>
              <a:alphaModFix amt="4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1628" y="5648983"/>
              <a:ext cx="1319988" cy="203075"/>
            </a:xfrm>
            <a:prstGeom prst="rect">
              <a:avLst/>
            </a:prstGeom>
          </p:spPr>
        </p:pic>
        <p:sp>
          <p:nvSpPr>
            <p:cNvPr id="379" name="Freeform 5"/>
            <p:cNvSpPr>
              <a:spLocks noChangeArrowheads="1"/>
            </p:cNvSpPr>
            <p:nvPr/>
          </p:nvSpPr>
          <p:spPr bwMode="auto">
            <a:xfrm>
              <a:off x="4180359" y="5638154"/>
              <a:ext cx="85363" cy="84787"/>
            </a:xfrm>
            <a:custGeom>
              <a:avLst/>
              <a:gdLst>
                <a:gd name="T0" fmla="*/ 329 w 654"/>
                <a:gd name="T1" fmla="*/ 0 h 649"/>
                <a:gd name="T2" fmla="*/ 0 w 654"/>
                <a:gd name="T3" fmla="*/ 324 h 649"/>
                <a:gd name="T4" fmla="*/ 329 w 654"/>
                <a:gd name="T5" fmla="*/ 648 h 649"/>
                <a:gd name="T6" fmla="*/ 653 w 654"/>
                <a:gd name="T7" fmla="*/ 324 h 649"/>
                <a:gd name="T8" fmla="*/ 329 w 654"/>
                <a:gd name="T9" fmla="*/ 0 h 649"/>
                <a:gd name="T10" fmla="*/ 261 w 654"/>
                <a:gd name="T11" fmla="*/ 486 h 649"/>
                <a:gd name="T12" fmla="*/ 99 w 654"/>
                <a:gd name="T13" fmla="*/ 324 h 649"/>
                <a:gd name="T14" fmla="*/ 143 w 654"/>
                <a:gd name="T15" fmla="*/ 281 h 649"/>
                <a:gd name="T16" fmla="*/ 261 w 654"/>
                <a:gd name="T17" fmla="*/ 399 h 649"/>
                <a:gd name="T18" fmla="*/ 510 w 654"/>
                <a:gd name="T19" fmla="*/ 150 h 649"/>
                <a:gd name="T20" fmla="*/ 554 w 654"/>
                <a:gd name="T21" fmla="*/ 193 h 649"/>
                <a:gd name="T22" fmla="*/ 261 w 654"/>
                <a:gd name="T23" fmla="*/ 486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4" h="649">
                  <a:moveTo>
                    <a:pt x="329" y="0"/>
                  </a:moveTo>
                  <a:cubicBezTo>
                    <a:pt x="149" y="0"/>
                    <a:pt x="0" y="144"/>
                    <a:pt x="0" y="324"/>
                  </a:cubicBezTo>
                  <a:cubicBezTo>
                    <a:pt x="0" y="505"/>
                    <a:pt x="152" y="648"/>
                    <a:pt x="329" y="648"/>
                  </a:cubicBezTo>
                  <a:cubicBezTo>
                    <a:pt x="507" y="648"/>
                    <a:pt x="653" y="505"/>
                    <a:pt x="653" y="324"/>
                  </a:cubicBezTo>
                  <a:cubicBezTo>
                    <a:pt x="653" y="144"/>
                    <a:pt x="504" y="0"/>
                    <a:pt x="329" y="0"/>
                  </a:cubicBezTo>
                  <a:close/>
                  <a:moveTo>
                    <a:pt x="261" y="486"/>
                  </a:moveTo>
                  <a:lnTo>
                    <a:pt x="99" y="324"/>
                  </a:lnTo>
                  <a:lnTo>
                    <a:pt x="143" y="281"/>
                  </a:lnTo>
                  <a:lnTo>
                    <a:pt x="261" y="399"/>
                  </a:lnTo>
                  <a:lnTo>
                    <a:pt x="510" y="150"/>
                  </a:lnTo>
                  <a:lnTo>
                    <a:pt x="554" y="193"/>
                  </a:lnTo>
                  <a:lnTo>
                    <a:pt x="261" y="4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80" name="Freeform 5"/>
            <p:cNvSpPr>
              <a:spLocks noChangeArrowheads="1"/>
            </p:cNvSpPr>
            <p:nvPr/>
          </p:nvSpPr>
          <p:spPr bwMode="auto">
            <a:xfrm>
              <a:off x="4390276" y="5638154"/>
              <a:ext cx="85363" cy="84787"/>
            </a:xfrm>
            <a:custGeom>
              <a:avLst/>
              <a:gdLst>
                <a:gd name="T0" fmla="*/ 329 w 654"/>
                <a:gd name="T1" fmla="*/ 0 h 649"/>
                <a:gd name="T2" fmla="*/ 0 w 654"/>
                <a:gd name="T3" fmla="*/ 324 h 649"/>
                <a:gd name="T4" fmla="*/ 329 w 654"/>
                <a:gd name="T5" fmla="*/ 648 h 649"/>
                <a:gd name="T6" fmla="*/ 653 w 654"/>
                <a:gd name="T7" fmla="*/ 324 h 649"/>
                <a:gd name="T8" fmla="*/ 329 w 654"/>
                <a:gd name="T9" fmla="*/ 0 h 649"/>
                <a:gd name="T10" fmla="*/ 261 w 654"/>
                <a:gd name="T11" fmla="*/ 486 h 649"/>
                <a:gd name="T12" fmla="*/ 99 w 654"/>
                <a:gd name="T13" fmla="*/ 324 h 649"/>
                <a:gd name="T14" fmla="*/ 143 w 654"/>
                <a:gd name="T15" fmla="*/ 281 h 649"/>
                <a:gd name="T16" fmla="*/ 261 w 654"/>
                <a:gd name="T17" fmla="*/ 399 h 649"/>
                <a:gd name="T18" fmla="*/ 510 w 654"/>
                <a:gd name="T19" fmla="*/ 150 h 649"/>
                <a:gd name="T20" fmla="*/ 554 w 654"/>
                <a:gd name="T21" fmla="*/ 193 h 649"/>
                <a:gd name="T22" fmla="*/ 261 w 654"/>
                <a:gd name="T23" fmla="*/ 486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4" h="649">
                  <a:moveTo>
                    <a:pt x="329" y="0"/>
                  </a:moveTo>
                  <a:cubicBezTo>
                    <a:pt x="149" y="0"/>
                    <a:pt x="0" y="144"/>
                    <a:pt x="0" y="324"/>
                  </a:cubicBezTo>
                  <a:cubicBezTo>
                    <a:pt x="0" y="505"/>
                    <a:pt x="152" y="648"/>
                    <a:pt x="329" y="648"/>
                  </a:cubicBezTo>
                  <a:cubicBezTo>
                    <a:pt x="507" y="648"/>
                    <a:pt x="653" y="505"/>
                    <a:pt x="653" y="324"/>
                  </a:cubicBezTo>
                  <a:cubicBezTo>
                    <a:pt x="653" y="144"/>
                    <a:pt x="504" y="0"/>
                    <a:pt x="329" y="0"/>
                  </a:cubicBezTo>
                  <a:close/>
                  <a:moveTo>
                    <a:pt x="261" y="486"/>
                  </a:moveTo>
                  <a:lnTo>
                    <a:pt x="99" y="324"/>
                  </a:lnTo>
                  <a:lnTo>
                    <a:pt x="143" y="281"/>
                  </a:lnTo>
                  <a:lnTo>
                    <a:pt x="261" y="399"/>
                  </a:lnTo>
                  <a:lnTo>
                    <a:pt x="510" y="150"/>
                  </a:lnTo>
                  <a:lnTo>
                    <a:pt x="554" y="193"/>
                  </a:lnTo>
                  <a:lnTo>
                    <a:pt x="261" y="4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81" name="Freeform 5"/>
            <p:cNvSpPr>
              <a:spLocks noChangeArrowheads="1"/>
            </p:cNvSpPr>
            <p:nvPr/>
          </p:nvSpPr>
          <p:spPr bwMode="auto">
            <a:xfrm>
              <a:off x="4592689" y="5638154"/>
              <a:ext cx="85363" cy="84787"/>
            </a:xfrm>
            <a:custGeom>
              <a:avLst/>
              <a:gdLst>
                <a:gd name="T0" fmla="*/ 329 w 654"/>
                <a:gd name="T1" fmla="*/ 0 h 649"/>
                <a:gd name="T2" fmla="*/ 0 w 654"/>
                <a:gd name="T3" fmla="*/ 324 h 649"/>
                <a:gd name="T4" fmla="*/ 329 w 654"/>
                <a:gd name="T5" fmla="*/ 648 h 649"/>
                <a:gd name="T6" fmla="*/ 653 w 654"/>
                <a:gd name="T7" fmla="*/ 324 h 649"/>
                <a:gd name="T8" fmla="*/ 329 w 654"/>
                <a:gd name="T9" fmla="*/ 0 h 649"/>
                <a:gd name="T10" fmla="*/ 261 w 654"/>
                <a:gd name="T11" fmla="*/ 486 h 649"/>
                <a:gd name="T12" fmla="*/ 99 w 654"/>
                <a:gd name="T13" fmla="*/ 324 h 649"/>
                <a:gd name="T14" fmla="*/ 143 w 654"/>
                <a:gd name="T15" fmla="*/ 281 h 649"/>
                <a:gd name="T16" fmla="*/ 261 w 654"/>
                <a:gd name="T17" fmla="*/ 399 h 649"/>
                <a:gd name="T18" fmla="*/ 510 w 654"/>
                <a:gd name="T19" fmla="*/ 150 h 649"/>
                <a:gd name="T20" fmla="*/ 554 w 654"/>
                <a:gd name="T21" fmla="*/ 193 h 649"/>
                <a:gd name="T22" fmla="*/ 261 w 654"/>
                <a:gd name="T23" fmla="*/ 486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4" h="649">
                  <a:moveTo>
                    <a:pt x="329" y="0"/>
                  </a:moveTo>
                  <a:cubicBezTo>
                    <a:pt x="149" y="0"/>
                    <a:pt x="0" y="144"/>
                    <a:pt x="0" y="324"/>
                  </a:cubicBezTo>
                  <a:cubicBezTo>
                    <a:pt x="0" y="505"/>
                    <a:pt x="152" y="648"/>
                    <a:pt x="329" y="648"/>
                  </a:cubicBezTo>
                  <a:cubicBezTo>
                    <a:pt x="507" y="648"/>
                    <a:pt x="653" y="505"/>
                    <a:pt x="653" y="324"/>
                  </a:cubicBezTo>
                  <a:cubicBezTo>
                    <a:pt x="653" y="144"/>
                    <a:pt x="504" y="0"/>
                    <a:pt x="329" y="0"/>
                  </a:cubicBezTo>
                  <a:close/>
                  <a:moveTo>
                    <a:pt x="261" y="486"/>
                  </a:moveTo>
                  <a:lnTo>
                    <a:pt x="99" y="324"/>
                  </a:lnTo>
                  <a:lnTo>
                    <a:pt x="143" y="281"/>
                  </a:lnTo>
                  <a:lnTo>
                    <a:pt x="261" y="399"/>
                  </a:lnTo>
                  <a:lnTo>
                    <a:pt x="510" y="150"/>
                  </a:lnTo>
                  <a:lnTo>
                    <a:pt x="554" y="193"/>
                  </a:lnTo>
                  <a:lnTo>
                    <a:pt x="261" y="4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82" name="Freeform 5"/>
            <p:cNvSpPr>
              <a:spLocks noChangeArrowheads="1"/>
            </p:cNvSpPr>
            <p:nvPr/>
          </p:nvSpPr>
          <p:spPr bwMode="auto">
            <a:xfrm>
              <a:off x="4808185" y="5638154"/>
              <a:ext cx="85363" cy="84787"/>
            </a:xfrm>
            <a:custGeom>
              <a:avLst/>
              <a:gdLst>
                <a:gd name="T0" fmla="*/ 329 w 654"/>
                <a:gd name="T1" fmla="*/ 0 h 649"/>
                <a:gd name="T2" fmla="*/ 0 w 654"/>
                <a:gd name="T3" fmla="*/ 324 h 649"/>
                <a:gd name="T4" fmla="*/ 329 w 654"/>
                <a:gd name="T5" fmla="*/ 648 h 649"/>
                <a:gd name="T6" fmla="*/ 653 w 654"/>
                <a:gd name="T7" fmla="*/ 324 h 649"/>
                <a:gd name="T8" fmla="*/ 329 w 654"/>
                <a:gd name="T9" fmla="*/ 0 h 649"/>
                <a:gd name="T10" fmla="*/ 261 w 654"/>
                <a:gd name="T11" fmla="*/ 486 h 649"/>
                <a:gd name="T12" fmla="*/ 99 w 654"/>
                <a:gd name="T13" fmla="*/ 324 h 649"/>
                <a:gd name="T14" fmla="*/ 143 w 654"/>
                <a:gd name="T15" fmla="*/ 281 h 649"/>
                <a:gd name="T16" fmla="*/ 261 w 654"/>
                <a:gd name="T17" fmla="*/ 399 h 649"/>
                <a:gd name="T18" fmla="*/ 510 w 654"/>
                <a:gd name="T19" fmla="*/ 150 h 649"/>
                <a:gd name="T20" fmla="*/ 554 w 654"/>
                <a:gd name="T21" fmla="*/ 193 h 649"/>
                <a:gd name="T22" fmla="*/ 261 w 654"/>
                <a:gd name="T23" fmla="*/ 486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4" h="649">
                  <a:moveTo>
                    <a:pt x="329" y="0"/>
                  </a:moveTo>
                  <a:cubicBezTo>
                    <a:pt x="149" y="0"/>
                    <a:pt x="0" y="144"/>
                    <a:pt x="0" y="324"/>
                  </a:cubicBezTo>
                  <a:cubicBezTo>
                    <a:pt x="0" y="505"/>
                    <a:pt x="152" y="648"/>
                    <a:pt x="329" y="648"/>
                  </a:cubicBezTo>
                  <a:cubicBezTo>
                    <a:pt x="507" y="648"/>
                    <a:pt x="653" y="505"/>
                    <a:pt x="653" y="324"/>
                  </a:cubicBezTo>
                  <a:cubicBezTo>
                    <a:pt x="653" y="144"/>
                    <a:pt x="504" y="0"/>
                    <a:pt x="329" y="0"/>
                  </a:cubicBezTo>
                  <a:close/>
                  <a:moveTo>
                    <a:pt x="261" y="486"/>
                  </a:moveTo>
                  <a:lnTo>
                    <a:pt x="99" y="324"/>
                  </a:lnTo>
                  <a:lnTo>
                    <a:pt x="143" y="281"/>
                  </a:lnTo>
                  <a:lnTo>
                    <a:pt x="261" y="399"/>
                  </a:lnTo>
                  <a:lnTo>
                    <a:pt x="510" y="150"/>
                  </a:lnTo>
                  <a:lnTo>
                    <a:pt x="554" y="193"/>
                  </a:lnTo>
                  <a:lnTo>
                    <a:pt x="261" y="4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83" name="Freeform 5"/>
            <p:cNvSpPr>
              <a:spLocks noChangeArrowheads="1"/>
            </p:cNvSpPr>
            <p:nvPr/>
          </p:nvSpPr>
          <p:spPr bwMode="auto">
            <a:xfrm>
              <a:off x="5025878" y="5638154"/>
              <a:ext cx="85363" cy="84787"/>
            </a:xfrm>
            <a:custGeom>
              <a:avLst/>
              <a:gdLst>
                <a:gd name="T0" fmla="*/ 329 w 654"/>
                <a:gd name="T1" fmla="*/ 0 h 649"/>
                <a:gd name="T2" fmla="*/ 0 w 654"/>
                <a:gd name="T3" fmla="*/ 324 h 649"/>
                <a:gd name="T4" fmla="*/ 329 w 654"/>
                <a:gd name="T5" fmla="*/ 648 h 649"/>
                <a:gd name="T6" fmla="*/ 653 w 654"/>
                <a:gd name="T7" fmla="*/ 324 h 649"/>
                <a:gd name="T8" fmla="*/ 329 w 654"/>
                <a:gd name="T9" fmla="*/ 0 h 649"/>
                <a:gd name="T10" fmla="*/ 261 w 654"/>
                <a:gd name="T11" fmla="*/ 486 h 649"/>
                <a:gd name="T12" fmla="*/ 99 w 654"/>
                <a:gd name="T13" fmla="*/ 324 h 649"/>
                <a:gd name="T14" fmla="*/ 143 w 654"/>
                <a:gd name="T15" fmla="*/ 281 h 649"/>
                <a:gd name="T16" fmla="*/ 261 w 654"/>
                <a:gd name="T17" fmla="*/ 399 h 649"/>
                <a:gd name="T18" fmla="*/ 510 w 654"/>
                <a:gd name="T19" fmla="*/ 150 h 649"/>
                <a:gd name="T20" fmla="*/ 554 w 654"/>
                <a:gd name="T21" fmla="*/ 193 h 649"/>
                <a:gd name="T22" fmla="*/ 261 w 654"/>
                <a:gd name="T23" fmla="*/ 486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4" h="649">
                  <a:moveTo>
                    <a:pt x="329" y="0"/>
                  </a:moveTo>
                  <a:cubicBezTo>
                    <a:pt x="149" y="0"/>
                    <a:pt x="0" y="144"/>
                    <a:pt x="0" y="324"/>
                  </a:cubicBezTo>
                  <a:cubicBezTo>
                    <a:pt x="0" y="505"/>
                    <a:pt x="152" y="648"/>
                    <a:pt x="329" y="648"/>
                  </a:cubicBezTo>
                  <a:cubicBezTo>
                    <a:pt x="507" y="648"/>
                    <a:pt x="653" y="505"/>
                    <a:pt x="653" y="324"/>
                  </a:cubicBezTo>
                  <a:cubicBezTo>
                    <a:pt x="653" y="144"/>
                    <a:pt x="504" y="0"/>
                    <a:pt x="329" y="0"/>
                  </a:cubicBezTo>
                  <a:close/>
                  <a:moveTo>
                    <a:pt x="261" y="486"/>
                  </a:moveTo>
                  <a:lnTo>
                    <a:pt x="99" y="324"/>
                  </a:lnTo>
                  <a:lnTo>
                    <a:pt x="143" y="281"/>
                  </a:lnTo>
                  <a:lnTo>
                    <a:pt x="261" y="399"/>
                  </a:lnTo>
                  <a:lnTo>
                    <a:pt x="510" y="150"/>
                  </a:lnTo>
                  <a:lnTo>
                    <a:pt x="554" y="193"/>
                  </a:lnTo>
                  <a:lnTo>
                    <a:pt x="261" y="4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84" name="Freeform 5"/>
            <p:cNvSpPr>
              <a:spLocks noChangeArrowheads="1"/>
            </p:cNvSpPr>
            <p:nvPr/>
          </p:nvSpPr>
          <p:spPr bwMode="auto">
            <a:xfrm>
              <a:off x="5250104" y="5638154"/>
              <a:ext cx="85363" cy="84787"/>
            </a:xfrm>
            <a:custGeom>
              <a:avLst/>
              <a:gdLst>
                <a:gd name="T0" fmla="*/ 329 w 654"/>
                <a:gd name="T1" fmla="*/ 0 h 649"/>
                <a:gd name="T2" fmla="*/ 0 w 654"/>
                <a:gd name="T3" fmla="*/ 324 h 649"/>
                <a:gd name="T4" fmla="*/ 329 w 654"/>
                <a:gd name="T5" fmla="*/ 648 h 649"/>
                <a:gd name="T6" fmla="*/ 653 w 654"/>
                <a:gd name="T7" fmla="*/ 324 h 649"/>
                <a:gd name="T8" fmla="*/ 329 w 654"/>
                <a:gd name="T9" fmla="*/ 0 h 649"/>
                <a:gd name="T10" fmla="*/ 261 w 654"/>
                <a:gd name="T11" fmla="*/ 486 h 649"/>
                <a:gd name="T12" fmla="*/ 99 w 654"/>
                <a:gd name="T13" fmla="*/ 324 h 649"/>
                <a:gd name="T14" fmla="*/ 143 w 654"/>
                <a:gd name="T15" fmla="*/ 281 h 649"/>
                <a:gd name="T16" fmla="*/ 261 w 654"/>
                <a:gd name="T17" fmla="*/ 399 h 649"/>
                <a:gd name="T18" fmla="*/ 510 w 654"/>
                <a:gd name="T19" fmla="*/ 150 h 649"/>
                <a:gd name="T20" fmla="*/ 554 w 654"/>
                <a:gd name="T21" fmla="*/ 193 h 649"/>
                <a:gd name="T22" fmla="*/ 261 w 654"/>
                <a:gd name="T23" fmla="*/ 486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4" h="649">
                  <a:moveTo>
                    <a:pt x="329" y="0"/>
                  </a:moveTo>
                  <a:cubicBezTo>
                    <a:pt x="149" y="0"/>
                    <a:pt x="0" y="144"/>
                    <a:pt x="0" y="324"/>
                  </a:cubicBezTo>
                  <a:cubicBezTo>
                    <a:pt x="0" y="505"/>
                    <a:pt x="152" y="648"/>
                    <a:pt x="329" y="648"/>
                  </a:cubicBezTo>
                  <a:cubicBezTo>
                    <a:pt x="507" y="648"/>
                    <a:pt x="653" y="505"/>
                    <a:pt x="653" y="324"/>
                  </a:cubicBezTo>
                  <a:cubicBezTo>
                    <a:pt x="653" y="144"/>
                    <a:pt x="504" y="0"/>
                    <a:pt x="329" y="0"/>
                  </a:cubicBezTo>
                  <a:close/>
                  <a:moveTo>
                    <a:pt x="261" y="486"/>
                  </a:moveTo>
                  <a:lnTo>
                    <a:pt x="99" y="324"/>
                  </a:lnTo>
                  <a:lnTo>
                    <a:pt x="143" y="281"/>
                  </a:lnTo>
                  <a:lnTo>
                    <a:pt x="261" y="399"/>
                  </a:lnTo>
                  <a:lnTo>
                    <a:pt x="510" y="150"/>
                  </a:lnTo>
                  <a:lnTo>
                    <a:pt x="554" y="193"/>
                  </a:lnTo>
                  <a:lnTo>
                    <a:pt x="261" y="4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385" name="Group 19"/>
          <p:cNvGrpSpPr/>
          <p:nvPr/>
        </p:nvGrpSpPr>
        <p:grpSpPr>
          <a:xfrm>
            <a:off x="4547248" y="3949951"/>
            <a:ext cx="506509" cy="168213"/>
            <a:chOff x="4310632" y="6036033"/>
            <a:chExt cx="506509" cy="168213"/>
          </a:xfrm>
        </p:grpSpPr>
        <p:pic>
          <p:nvPicPr>
            <p:cNvPr id="386" name="Picture 354"/>
            <p:cNvPicPr>
              <a:picLocks noChangeAspect="1"/>
            </p:cNvPicPr>
            <p:nvPr/>
          </p:nvPicPr>
          <p:blipFill rotWithShape="1">
            <a:blip r:embed="rId4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2453" t="-1030" r="50334" b="-2670"/>
            <a:stretch/>
          </p:blipFill>
          <p:spPr>
            <a:xfrm>
              <a:off x="4512891" y="6036033"/>
              <a:ext cx="181493" cy="168213"/>
            </a:xfrm>
            <a:prstGeom prst="rect">
              <a:avLst/>
            </a:prstGeom>
          </p:spPr>
        </p:pic>
        <p:pic>
          <p:nvPicPr>
            <p:cNvPr id="387" name="Picture 353"/>
            <p:cNvPicPr>
              <a:picLocks noChangeAspect="1"/>
            </p:cNvPicPr>
            <p:nvPr/>
          </p:nvPicPr>
          <p:blipFill rotWithShape="1">
            <a:blip r:embed="rId5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188" r="68606" b="11811"/>
            <a:stretch/>
          </p:blipFill>
          <p:spPr>
            <a:xfrm>
              <a:off x="4424357" y="6036670"/>
              <a:ext cx="144047" cy="147999"/>
            </a:xfrm>
            <a:prstGeom prst="rect">
              <a:avLst/>
            </a:prstGeom>
          </p:spPr>
        </p:pic>
        <p:pic>
          <p:nvPicPr>
            <p:cNvPr id="388" name="Picture 352"/>
            <p:cNvPicPr>
              <a:picLocks noChangeAspect="1"/>
            </p:cNvPicPr>
            <p:nvPr/>
          </p:nvPicPr>
          <p:blipFill rotWithShape="1">
            <a:blip r:embed="rId6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" r="82461" b="1177"/>
            <a:stretch/>
          </p:blipFill>
          <p:spPr>
            <a:xfrm>
              <a:off x="4310632" y="6041465"/>
              <a:ext cx="180383" cy="156364"/>
            </a:xfrm>
            <a:prstGeom prst="rect">
              <a:avLst/>
            </a:prstGeom>
          </p:spPr>
        </p:pic>
        <p:sp>
          <p:nvSpPr>
            <p:cNvPr id="389" name="텍스트 상자 31"/>
            <p:cNvSpPr txBox="1"/>
            <p:nvPr/>
          </p:nvSpPr>
          <p:spPr>
            <a:xfrm>
              <a:off x="4699482" y="6054197"/>
              <a:ext cx="11765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12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390" name="텍스트 상자 31"/>
          <p:cNvSpPr txBox="1"/>
          <p:nvPr/>
        </p:nvSpPr>
        <p:spPr>
          <a:xfrm>
            <a:off x="4115653" y="5537341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이미지가 첨부된 의견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91" name="Rectangle 289"/>
          <p:cNvSpPr/>
          <p:nvPr/>
        </p:nvSpPr>
        <p:spPr>
          <a:xfrm>
            <a:off x="4182529" y="5683560"/>
            <a:ext cx="3437310" cy="972000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92" name="Rectangle 299"/>
          <p:cNvSpPr/>
          <p:nvPr/>
        </p:nvSpPr>
        <p:spPr>
          <a:xfrm>
            <a:off x="4182529" y="6533558"/>
            <a:ext cx="343731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393" name="직선 연결선[R] 33"/>
          <p:cNvCxnSpPr/>
          <p:nvPr/>
        </p:nvCxnSpPr>
        <p:spPr>
          <a:xfrm>
            <a:off x="4271191" y="6542563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94" name="Group 309"/>
          <p:cNvGrpSpPr/>
          <p:nvPr/>
        </p:nvGrpSpPr>
        <p:grpSpPr>
          <a:xfrm>
            <a:off x="4297396" y="5769630"/>
            <a:ext cx="1612396" cy="229194"/>
            <a:chOff x="2478168" y="4026446"/>
            <a:chExt cx="1612396" cy="229194"/>
          </a:xfrm>
        </p:grpSpPr>
        <p:sp>
          <p:nvSpPr>
            <p:cNvPr id="395" name="텍스트 상자 31"/>
            <p:cNvSpPr txBox="1"/>
            <p:nvPr/>
          </p:nvSpPr>
          <p:spPr>
            <a:xfrm>
              <a:off x="2820960" y="4040721"/>
              <a:ext cx="1269604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박현주</a:t>
              </a:r>
              <a:endParaRPr kumimoji="1" lang="ko-KR" altLang="en-US" sz="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396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398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399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97" name="텍스트 상자 31"/>
            <p:cNvSpPr txBox="1"/>
            <p:nvPr/>
          </p:nvSpPr>
          <p:spPr>
            <a:xfrm>
              <a:off x="3102626" y="4040721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30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분전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400" name="텍스트 상자 31"/>
          <p:cNvSpPr txBox="1"/>
          <p:nvPr/>
        </p:nvSpPr>
        <p:spPr>
          <a:xfrm>
            <a:off x="5656992" y="6563075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4</a:t>
            </a:r>
            <a:r>
              <a:rPr kumimoji="1" lang="ko-KR" altLang="en-US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개 모두 보기</a:t>
            </a:r>
            <a:endParaRPr kumimoji="1" lang="ko-KR" altLang="en-US" sz="5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01" name="Triangle 529"/>
          <p:cNvSpPr>
            <a:spLocks noChangeAspect="1"/>
          </p:cNvSpPr>
          <p:nvPr/>
        </p:nvSpPr>
        <p:spPr>
          <a:xfrm flipV="1">
            <a:off x="5556961" y="6582168"/>
            <a:ext cx="72000" cy="52888"/>
          </a:xfrm>
          <a:prstGeom prst="triangl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02" name="Rectangle 337"/>
          <p:cNvSpPr/>
          <p:nvPr/>
        </p:nvSpPr>
        <p:spPr>
          <a:xfrm>
            <a:off x="4634212" y="5931598"/>
            <a:ext cx="922749" cy="53372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image</a:t>
            </a:r>
          </a:p>
        </p:txBody>
      </p:sp>
      <p:sp>
        <p:nvSpPr>
          <p:cNvPr id="403" name="Rectangle 229"/>
          <p:cNvSpPr/>
          <p:nvPr/>
        </p:nvSpPr>
        <p:spPr>
          <a:xfrm>
            <a:off x="4182529" y="1538646"/>
            <a:ext cx="3437310" cy="25688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04" name="텍스트 상자 31"/>
          <p:cNvSpPr txBox="1"/>
          <p:nvPr/>
        </p:nvSpPr>
        <p:spPr>
          <a:xfrm>
            <a:off x="4199249" y="1380199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의견 모두 보기 선택 시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05" name="Rectangle 155"/>
          <p:cNvSpPr/>
          <p:nvPr/>
        </p:nvSpPr>
        <p:spPr>
          <a:xfrm>
            <a:off x="4182529" y="1794302"/>
            <a:ext cx="3437310" cy="1329048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411" name="직선 연결선[R] 33"/>
          <p:cNvCxnSpPr/>
          <p:nvPr/>
        </p:nvCxnSpPr>
        <p:spPr>
          <a:xfrm>
            <a:off x="4271191" y="2123612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2" name="Rectangle 169"/>
          <p:cNvSpPr/>
          <p:nvPr/>
        </p:nvSpPr>
        <p:spPr>
          <a:xfrm>
            <a:off x="4182529" y="2991891"/>
            <a:ext cx="343731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13" name="텍스트 상자 31"/>
          <p:cNvSpPr txBox="1"/>
          <p:nvPr/>
        </p:nvSpPr>
        <p:spPr>
          <a:xfrm>
            <a:off x="5600896" y="3013915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의견 다시 접기</a:t>
            </a:r>
            <a:endParaRPr kumimoji="1" lang="ko-KR" altLang="en-US" sz="5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414" name="직선 연결선[R] 33"/>
          <p:cNvCxnSpPr/>
          <p:nvPr/>
        </p:nvCxnSpPr>
        <p:spPr>
          <a:xfrm>
            <a:off x="4271191" y="2996078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15" name="Group 180"/>
          <p:cNvGrpSpPr/>
          <p:nvPr/>
        </p:nvGrpSpPr>
        <p:grpSpPr>
          <a:xfrm>
            <a:off x="4297396" y="2668615"/>
            <a:ext cx="1612396" cy="229194"/>
            <a:chOff x="2478168" y="4026446"/>
            <a:chExt cx="1612396" cy="229194"/>
          </a:xfrm>
        </p:grpSpPr>
        <p:sp>
          <p:nvSpPr>
            <p:cNvPr id="416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박현주</a:t>
              </a: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댓글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2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블라블라블라</a:t>
              </a:r>
            </a:p>
          </p:txBody>
        </p:sp>
        <p:grpSp>
          <p:nvGrpSpPr>
            <p:cNvPr id="417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41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420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418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50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분전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cxnSp>
        <p:nvCxnSpPr>
          <p:cNvPr id="421" name="직선 연결선[R] 33"/>
          <p:cNvCxnSpPr/>
          <p:nvPr/>
        </p:nvCxnSpPr>
        <p:spPr>
          <a:xfrm>
            <a:off x="4271191" y="2561499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22" name="Group 187"/>
          <p:cNvGrpSpPr/>
          <p:nvPr/>
        </p:nvGrpSpPr>
        <p:grpSpPr>
          <a:xfrm>
            <a:off x="4297396" y="2247100"/>
            <a:ext cx="1612396" cy="229194"/>
            <a:chOff x="2478168" y="4026446"/>
            <a:chExt cx="1612396" cy="229194"/>
          </a:xfrm>
        </p:grpSpPr>
        <p:sp>
          <p:nvSpPr>
            <p:cNvPr id="423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박현주</a:t>
              </a: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댓글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블라블라블라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424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42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42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425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30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분전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428" name="Triangle 529"/>
          <p:cNvSpPr>
            <a:spLocks noChangeAspect="1"/>
          </p:cNvSpPr>
          <p:nvPr/>
        </p:nvSpPr>
        <p:spPr>
          <a:xfrm>
            <a:off x="5533792" y="3032126"/>
            <a:ext cx="72000" cy="52888"/>
          </a:xfrm>
          <a:prstGeom prst="triangl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441" name="그룹 143"/>
          <p:cNvGrpSpPr/>
          <p:nvPr/>
        </p:nvGrpSpPr>
        <p:grpSpPr>
          <a:xfrm>
            <a:off x="4053552" y="1297981"/>
            <a:ext cx="216000" cy="252000"/>
            <a:chOff x="2704212" y="2825113"/>
            <a:chExt cx="216000" cy="252000"/>
          </a:xfrm>
        </p:grpSpPr>
        <p:sp>
          <p:nvSpPr>
            <p:cNvPr id="442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443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9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Helvetica"/>
                  <a:sym typeface="Helvetica"/>
                </a:rPr>
                <a:t>7</a:t>
              </a:r>
              <a:endParaRPr kumimoji="1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444" name="Group 21"/>
          <p:cNvGrpSpPr/>
          <p:nvPr/>
        </p:nvGrpSpPr>
        <p:grpSpPr>
          <a:xfrm>
            <a:off x="4074634" y="2408792"/>
            <a:ext cx="3619125" cy="281875"/>
            <a:chOff x="278478" y="6627607"/>
            <a:chExt cx="5264545" cy="281875"/>
          </a:xfrm>
        </p:grpSpPr>
        <p:sp>
          <p:nvSpPr>
            <p:cNvPr id="445" name="Shape 164"/>
            <p:cNvSpPr/>
            <p:nvPr/>
          </p:nvSpPr>
          <p:spPr>
            <a:xfrm>
              <a:off x="278478" y="6627961"/>
              <a:ext cx="5245391" cy="2797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19" extrusionOk="0">
                  <a:moveTo>
                    <a:pt x="21600" y="17027"/>
                  </a:moveTo>
                  <a:lnTo>
                    <a:pt x="21600" y="5324"/>
                  </a:lnTo>
                  <a:cubicBezTo>
                    <a:pt x="19983" y="1823"/>
                    <a:pt x="18313" y="33"/>
                    <a:pt x="16635" y="0"/>
                  </a:cubicBezTo>
                  <a:cubicBezTo>
                    <a:pt x="13681" y="-56"/>
                    <a:pt x="10782" y="5313"/>
                    <a:pt x="7848" y="7424"/>
                  </a:cubicBezTo>
                  <a:cubicBezTo>
                    <a:pt x="5234" y="9305"/>
                    <a:pt x="2597" y="8604"/>
                    <a:pt x="0" y="5324"/>
                  </a:cubicBezTo>
                  <a:lnTo>
                    <a:pt x="0" y="17701"/>
                  </a:lnTo>
                  <a:cubicBezTo>
                    <a:pt x="2589" y="20870"/>
                    <a:pt x="5215" y="21544"/>
                    <a:pt x="7821" y="19720"/>
                  </a:cubicBezTo>
                  <a:cubicBezTo>
                    <a:pt x="10753" y="17669"/>
                    <a:pt x="13648" y="12452"/>
                    <a:pt x="16598" y="12310"/>
                  </a:cubicBezTo>
                  <a:cubicBezTo>
                    <a:pt x="18284" y="12229"/>
                    <a:pt x="19965" y="13814"/>
                    <a:pt x="21600" y="17027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noFill/>
              <a:miter lim="400000"/>
            </a:ln>
            <a:effectLst/>
          </p:spPr>
          <p:txBody>
            <a:bodyPr wrap="square" lIns="20858" tIns="20858" rIns="20858" bIns="20858" numCol="1" anchor="ctr">
              <a:noAutofit/>
            </a:bodyPr>
            <a:lstStyle/>
            <a:p>
              <a:pPr marL="0" marR="0" lvl="0" indent="0" algn="l" defTabSz="4572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446" name="Shape 165"/>
            <p:cNvSpPr/>
            <p:nvPr/>
          </p:nvSpPr>
          <p:spPr>
            <a:xfrm>
              <a:off x="291584" y="6794712"/>
              <a:ext cx="5251439" cy="114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985" extrusionOk="0">
                  <a:moveTo>
                    <a:pt x="0" y="13843"/>
                  </a:moveTo>
                  <a:cubicBezTo>
                    <a:pt x="2066" y="19723"/>
                    <a:pt x="4161" y="21389"/>
                    <a:pt x="6247" y="18810"/>
                  </a:cubicBezTo>
                  <a:cubicBezTo>
                    <a:pt x="9577" y="14691"/>
                    <a:pt x="12855" y="-211"/>
                    <a:pt x="16195" y="3"/>
                  </a:cubicBezTo>
                  <a:cubicBezTo>
                    <a:pt x="18022" y="120"/>
                    <a:pt x="19841" y="4775"/>
                    <a:pt x="21600" y="13843"/>
                  </a:cubicBezTo>
                </a:path>
              </a:pathLst>
            </a:custGeom>
            <a:noFill/>
            <a:ln w="3175" cap="flat">
              <a:solidFill>
                <a:schemeClr val="bg1">
                  <a:lumMod val="50000"/>
                </a:schemeClr>
              </a:solidFill>
              <a:prstDash val="sysDash"/>
              <a:miter lim="400000"/>
            </a:ln>
            <a:effectLst/>
          </p:spPr>
          <p:txBody>
            <a:bodyPr wrap="square" lIns="20858" tIns="20858" rIns="20858" bIns="20858" numCol="1" anchor="ctr">
              <a:noAutofit/>
            </a:bodyPr>
            <a:lstStyle/>
            <a:p>
              <a:pPr marL="0" marR="0" lvl="0" indent="0" algn="l" defTabSz="4572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  <p:sp>
          <p:nvSpPr>
            <p:cNvPr id="447" name="Shape 166"/>
            <p:cNvSpPr/>
            <p:nvPr/>
          </p:nvSpPr>
          <p:spPr>
            <a:xfrm>
              <a:off x="291584" y="6627607"/>
              <a:ext cx="5251439" cy="114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985" extrusionOk="0">
                  <a:moveTo>
                    <a:pt x="0" y="13843"/>
                  </a:moveTo>
                  <a:cubicBezTo>
                    <a:pt x="2066" y="19723"/>
                    <a:pt x="4161" y="21389"/>
                    <a:pt x="6247" y="18810"/>
                  </a:cubicBezTo>
                  <a:cubicBezTo>
                    <a:pt x="9577" y="14691"/>
                    <a:pt x="12855" y="-211"/>
                    <a:pt x="16195" y="3"/>
                  </a:cubicBezTo>
                  <a:cubicBezTo>
                    <a:pt x="18022" y="120"/>
                    <a:pt x="19841" y="4775"/>
                    <a:pt x="21600" y="13843"/>
                  </a:cubicBezTo>
                </a:path>
              </a:pathLst>
            </a:custGeom>
            <a:noFill/>
            <a:ln w="3175" cap="flat">
              <a:solidFill>
                <a:schemeClr val="bg1">
                  <a:lumMod val="50000"/>
                </a:schemeClr>
              </a:solidFill>
              <a:prstDash val="sysDash"/>
              <a:miter lim="400000"/>
            </a:ln>
            <a:effectLst/>
          </p:spPr>
          <p:txBody>
            <a:bodyPr wrap="square" lIns="20858" tIns="20858" rIns="20858" bIns="20858" numCol="1" anchor="ctr">
              <a:noAutofit/>
            </a:bodyPr>
            <a:lstStyle/>
            <a:p>
              <a:pPr marL="0" marR="0" lvl="0" indent="0" algn="l" defTabSz="4572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endParaRP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5910700" y="3023632"/>
            <a:ext cx="829617" cy="1222599"/>
            <a:chOff x="6460946" y="2774199"/>
            <a:chExt cx="829617" cy="1222599"/>
          </a:xfrm>
        </p:grpSpPr>
        <p:grpSp>
          <p:nvGrpSpPr>
            <p:cNvPr id="2" name="그룹 1"/>
            <p:cNvGrpSpPr/>
            <p:nvPr/>
          </p:nvGrpSpPr>
          <p:grpSpPr>
            <a:xfrm>
              <a:off x="6460946" y="2774199"/>
              <a:ext cx="829617" cy="1222599"/>
              <a:chOff x="6460946" y="2774199"/>
              <a:chExt cx="829617" cy="1222599"/>
            </a:xfrm>
          </p:grpSpPr>
          <p:sp>
            <p:nvSpPr>
              <p:cNvPr id="232" name="Rectangle 14"/>
              <p:cNvSpPr>
                <a:spLocks/>
              </p:cNvSpPr>
              <p:nvPr/>
            </p:nvSpPr>
            <p:spPr bwMode="auto">
              <a:xfrm>
                <a:off x="6460946" y="2774199"/>
                <a:ext cx="829617" cy="1222599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/>
            </p:spPr>
            <p:txBody>
              <a:bodyPr lIns="0" tIns="0" rIns="0" bIns="0" anchor="ctr"/>
              <a:lstStyle/>
              <a:p>
                <a:pPr marL="252000" marR="0" lvl="0" indent="0" algn="l" defTabSz="914400" rtl="0" eaLnBrk="1" fontAlgn="base" latinLnBrk="1" hangingPunct="1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홍길동</a:t>
                </a:r>
                <a:r>
                  <a:rPr kumimoji="1" lang="en-US" altLang="ko-KR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1</a:t>
                </a:r>
              </a:p>
              <a:p>
                <a:pPr marL="252000" marR="0" lvl="0" indent="0" algn="l" defTabSz="914400" rtl="0" eaLnBrk="1" fontAlgn="base" latinLnBrk="1" hangingPunct="1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홍길동</a:t>
                </a:r>
                <a:r>
                  <a:rPr kumimoji="1" lang="en-US" altLang="ko-KR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2</a:t>
                </a:r>
              </a:p>
              <a:p>
                <a:pPr marL="252000" marR="0" lvl="0" indent="0" algn="l" defTabSz="914400" rtl="0" eaLnBrk="1" fontAlgn="base" latinLnBrk="1" hangingPunct="1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홍길동</a:t>
                </a:r>
                <a:r>
                  <a:rPr kumimoji="1" lang="en-US" altLang="ko-KR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3</a:t>
                </a:r>
              </a:p>
              <a:p>
                <a:pPr marL="252000" marR="0" lvl="0" indent="0" algn="l" defTabSz="914400" rtl="0" eaLnBrk="1" fontAlgn="base" latinLnBrk="1" hangingPunct="1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홍길동</a:t>
                </a:r>
                <a:r>
                  <a:rPr kumimoji="1" lang="en-US" altLang="ko-KR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4</a:t>
                </a:r>
              </a:p>
              <a:p>
                <a:pPr marL="252000" marR="0" lvl="0" indent="0" algn="l" defTabSz="914400" rtl="0" eaLnBrk="1" fontAlgn="base" latinLnBrk="1" hangingPunct="1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홍길동</a:t>
                </a:r>
                <a:r>
                  <a:rPr kumimoji="1" lang="en-US" altLang="ko-KR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5</a:t>
                </a:r>
                <a:r>
                  <a:rPr kumimoji="1" lang="ko-KR" altLang="en-US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x-none" altLang="x-none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235" name="Picture 352"/>
              <p:cNvPicPr>
                <a:picLocks noChangeAspect="1"/>
              </p:cNvPicPr>
              <p:nvPr/>
            </p:nvPicPr>
            <p:blipFill rotWithShape="1">
              <a:blip r:embed="rId6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1" r="82461" b="1177"/>
              <a:stretch/>
            </p:blipFill>
            <p:spPr>
              <a:xfrm>
                <a:off x="6509892" y="2917896"/>
                <a:ext cx="180383" cy="156364"/>
              </a:xfrm>
              <a:prstGeom prst="rect">
                <a:avLst/>
              </a:prstGeom>
            </p:spPr>
          </p:pic>
          <p:pic>
            <p:nvPicPr>
              <p:cNvPr id="236" name="Picture 352"/>
              <p:cNvPicPr>
                <a:picLocks noChangeAspect="1"/>
              </p:cNvPicPr>
              <p:nvPr/>
            </p:nvPicPr>
            <p:blipFill rotWithShape="1">
              <a:blip r:embed="rId6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1" r="82461" b="1177"/>
              <a:stretch/>
            </p:blipFill>
            <p:spPr>
              <a:xfrm>
                <a:off x="6509892" y="3118248"/>
                <a:ext cx="180383" cy="156364"/>
              </a:xfrm>
              <a:prstGeom prst="rect">
                <a:avLst/>
              </a:prstGeom>
            </p:spPr>
          </p:pic>
          <p:pic>
            <p:nvPicPr>
              <p:cNvPr id="238" name="Picture 353"/>
              <p:cNvPicPr>
                <a:picLocks noChangeAspect="1"/>
              </p:cNvPicPr>
              <p:nvPr/>
            </p:nvPicPr>
            <p:blipFill rotWithShape="1">
              <a:blip r:embed="rId5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8188" r="68606" b="11811"/>
              <a:stretch/>
            </p:blipFill>
            <p:spPr>
              <a:xfrm>
                <a:off x="6530505" y="3728846"/>
                <a:ext cx="144047" cy="147999"/>
              </a:xfrm>
              <a:prstGeom prst="rect">
                <a:avLst/>
              </a:prstGeom>
            </p:spPr>
          </p:pic>
          <p:pic>
            <p:nvPicPr>
              <p:cNvPr id="240" name="Picture 352"/>
              <p:cNvPicPr>
                <a:picLocks noChangeAspect="1"/>
              </p:cNvPicPr>
              <p:nvPr/>
            </p:nvPicPr>
            <p:blipFill rotWithShape="1">
              <a:blip r:embed="rId6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1" r="82461" b="1177"/>
              <a:stretch/>
            </p:blipFill>
            <p:spPr>
              <a:xfrm>
                <a:off x="6509892" y="3326067"/>
                <a:ext cx="180383" cy="156364"/>
              </a:xfrm>
              <a:prstGeom prst="rect">
                <a:avLst/>
              </a:prstGeom>
            </p:spPr>
          </p:pic>
          <p:pic>
            <p:nvPicPr>
              <p:cNvPr id="244" name="Picture 352"/>
              <p:cNvPicPr>
                <a:picLocks noChangeAspect="1"/>
              </p:cNvPicPr>
              <p:nvPr/>
            </p:nvPicPr>
            <p:blipFill rotWithShape="1">
              <a:blip r:embed="rId6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1" r="82461" b="1177"/>
              <a:stretch/>
            </p:blipFill>
            <p:spPr>
              <a:xfrm>
                <a:off x="6509892" y="3533885"/>
                <a:ext cx="180383" cy="156364"/>
              </a:xfrm>
              <a:prstGeom prst="rect">
                <a:avLst/>
              </a:prstGeom>
            </p:spPr>
          </p:pic>
        </p:grpSp>
        <p:sp>
          <p:nvSpPr>
            <p:cNvPr id="248" name="Rounded Rectangle 22"/>
            <p:cNvSpPr/>
            <p:nvPr/>
          </p:nvSpPr>
          <p:spPr>
            <a:xfrm>
              <a:off x="7214590" y="2952646"/>
              <a:ext cx="50376" cy="6235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251" name="Rectangle 424"/>
          <p:cNvSpPr/>
          <p:nvPr/>
        </p:nvSpPr>
        <p:spPr>
          <a:xfrm>
            <a:off x="4576411" y="3898566"/>
            <a:ext cx="488818" cy="2927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52" name="그룹 423"/>
          <p:cNvGrpSpPr/>
          <p:nvPr/>
        </p:nvGrpSpPr>
        <p:grpSpPr>
          <a:xfrm rot="16200000">
            <a:off x="5281745" y="3392620"/>
            <a:ext cx="336741" cy="1031880"/>
            <a:chOff x="8726378" y="3335313"/>
            <a:chExt cx="336741" cy="1031880"/>
          </a:xfrm>
        </p:grpSpPr>
        <p:sp>
          <p:nvSpPr>
            <p:cNvPr id="253" name="AutoShape 133"/>
            <p:cNvSpPr>
              <a:spLocks/>
            </p:cNvSpPr>
            <p:nvPr/>
          </p:nvSpPr>
          <p:spPr bwMode="auto">
            <a:xfrm>
              <a:off x="8726378" y="3335313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254" name="직선 화살표 연결선 425"/>
            <p:cNvCxnSpPr>
              <a:stCxn id="253" idx="0"/>
            </p:cNvCxnSpPr>
            <p:nvPr/>
          </p:nvCxnSpPr>
          <p:spPr>
            <a:xfrm rot="5400000" flipV="1">
              <a:off x="8440118" y="3744191"/>
              <a:ext cx="967690" cy="278313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7" name="Freeform 11"/>
          <p:cNvSpPr>
            <a:spLocks noChangeAspect="1" noChangeArrowheads="1"/>
          </p:cNvSpPr>
          <p:nvPr/>
        </p:nvSpPr>
        <p:spPr bwMode="auto">
          <a:xfrm>
            <a:off x="3589434" y="5168629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39" name="Freeform 11"/>
          <p:cNvSpPr>
            <a:spLocks noChangeAspect="1" noChangeArrowheads="1"/>
          </p:cNvSpPr>
          <p:nvPr/>
        </p:nvSpPr>
        <p:spPr bwMode="auto">
          <a:xfrm>
            <a:off x="7351587" y="2273436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55" name="Freeform 11"/>
          <p:cNvSpPr>
            <a:spLocks noChangeAspect="1" noChangeArrowheads="1"/>
          </p:cNvSpPr>
          <p:nvPr/>
        </p:nvSpPr>
        <p:spPr bwMode="auto">
          <a:xfrm>
            <a:off x="7351587" y="2707978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56" name="Rectangle 289"/>
          <p:cNvSpPr/>
          <p:nvPr/>
        </p:nvSpPr>
        <p:spPr>
          <a:xfrm>
            <a:off x="439785" y="6573782"/>
            <a:ext cx="3437310" cy="82653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57" name="Rectangle 299"/>
          <p:cNvSpPr/>
          <p:nvPr/>
        </p:nvSpPr>
        <p:spPr>
          <a:xfrm>
            <a:off x="439785" y="7274393"/>
            <a:ext cx="343731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cxnSp>
        <p:nvCxnSpPr>
          <p:cNvPr id="258" name="직선 연결선[R] 33"/>
          <p:cNvCxnSpPr/>
          <p:nvPr/>
        </p:nvCxnSpPr>
        <p:spPr>
          <a:xfrm>
            <a:off x="528447" y="7283398"/>
            <a:ext cx="3277201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9" name="Group 309"/>
          <p:cNvGrpSpPr/>
          <p:nvPr/>
        </p:nvGrpSpPr>
        <p:grpSpPr>
          <a:xfrm>
            <a:off x="554652" y="6659852"/>
            <a:ext cx="1612396" cy="229194"/>
            <a:chOff x="2478168" y="4026446"/>
            <a:chExt cx="1612396" cy="229194"/>
          </a:xfrm>
        </p:grpSpPr>
        <p:sp>
          <p:nvSpPr>
            <p:cNvPr id="260" name="텍스트 상자 31"/>
            <p:cNvSpPr txBox="1"/>
            <p:nvPr/>
          </p:nvSpPr>
          <p:spPr>
            <a:xfrm>
              <a:off x="2820960" y="4040721"/>
              <a:ext cx="1269604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박현주</a:t>
              </a:r>
              <a:endParaRPr kumimoji="1" lang="ko-KR" altLang="en-US" sz="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261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452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453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451" name="텍스트 상자 31"/>
            <p:cNvSpPr txBox="1"/>
            <p:nvPr/>
          </p:nvSpPr>
          <p:spPr>
            <a:xfrm>
              <a:off x="3102626" y="4040721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30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분전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454" name="텍스트 상자 31"/>
          <p:cNvSpPr txBox="1"/>
          <p:nvPr/>
        </p:nvSpPr>
        <p:spPr>
          <a:xfrm>
            <a:off x="1914248" y="7303910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4</a:t>
            </a:r>
            <a:r>
              <a:rPr kumimoji="1" lang="ko-KR" altLang="en-US" sz="500" b="1" i="0" u="sng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개 모두 보기</a:t>
            </a:r>
            <a:endParaRPr kumimoji="1" lang="ko-KR" altLang="en-US" sz="5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55" name="Triangle 529"/>
          <p:cNvSpPr>
            <a:spLocks noChangeAspect="1"/>
          </p:cNvSpPr>
          <p:nvPr/>
        </p:nvSpPr>
        <p:spPr>
          <a:xfrm flipV="1">
            <a:off x="1814217" y="7323003"/>
            <a:ext cx="72000" cy="52888"/>
          </a:xfrm>
          <a:prstGeom prst="triangl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57" name="Rounded Rectangle 133"/>
          <p:cNvSpPr/>
          <p:nvPr/>
        </p:nvSpPr>
        <p:spPr>
          <a:xfrm>
            <a:off x="541106" y="7018279"/>
            <a:ext cx="648000" cy="177213"/>
          </a:xfrm>
          <a:prstGeom prst="roundRect">
            <a:avLst>
              <a:gd name="adj" fmla="val 8420"/>
            </a:avLst>
          </a:prstGeom>
          <a:noFill/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5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458" name="Group 1"/>
          <p:cNvGrpSpPr/>
          <p:nvPr/>
        </p:nvGrpSpPr>
        <p:grpSpPr>
          <a:xfrm>
            <a:off x="714374" y="7054883"/>
            <a:ext cx="493565" cy="107722"/>
            <a:chOff x="2459064" y="3489248"/>
            <a:chExt cx="493565" cy="107722"/>
          </a:xfrm>
        </p:grpSpPr>
        <p:sp>
          <p:nvSpPr>
            <p:cNvPr id="459" name="Freeform 90"/>
            <p:cNvSpPr>
              <a:spLocks noChangeAspect="1" noChangeArrowheads="1"/>
            </p:cNvSpPr>
            <p:nvPr/>
          </p:nvSpPr>
          <p:spPr bwMode="auto">
            <a:xfrm>
              <a:off x="2459064" y="3507399"/>
              <a:ext cx="130637" cy="72000"/>
            </a:xfrm>
            <a:custGeom>
              <a:avLst/>
              <a:gdLst>
                <a:gd name="T0" fmla="*/ 214 w 774"/>
                <a:gd name="T1" fmla="*/ 426 h 427"/>
                <a:gd name="T2" fmla="*/ 0 w 774"/>
                <a:gd name="T3" fmla="*/ 213 h 427"/>
                <a:gd name="T4" fmla="*/ 214 w 774"/>
                <a:gd name="T5" fmla="*/ 0 h 427"/>
                <a:gd name="T6" fmla="*/ 618 w 774"/>
                <a:gd name="T7" fmla="*/ 0 h 427"/>
                <a:gd name="T8" fmla="*/ 773 w 774"/>
                <a:gd name="T9" fmla="*/ 154 h 427"/>
                <a:gd name="T10" fmla="*/ 618 w 774"/>
                <a:gd name="T11" fmla="*/ 309 h 427"/>
                <a:gd name="T12" fmla="*/ 287 w 774"/>
                <a:gd name="T13" fmla="*/ 309 h 427"/>
                <a:gd name="T14" fmla="*/ 192 w 774"/>
                <a:gd name="T15" fmla="*/ 213 h 427"/>
                <a:gd name="T16" fmla="*/ 287 w 774"/>
                <a:gd name="T17" fmla="*/ 117 h 427"/>
                <a:gd name="T18" fmla="*/ 581 w 774"/>
                <a:gd name="T19" fmla="*/ 117 h 427"/>
                <a:gd name="T20" fmla="*/ 581 w 774"/>
                <a:gd name="T21" fmla="*/ 176 h 427"/>
                <a:gd name="T22" fmla="*/ 287 w 774"/>
                <a:gd name="T23" fmla="*/ 176 h 427"/>
                <a:gd name="T24" fmla="*/ 250 w 774"/>
                <a:gd name="T25" fmla="*/ 213 h 427"/>
                <a:gd name="T26" fmla="*/ 287 w 774"/>
                <a:gd name="T27" fmla="*/ 250 h 427"/>
                <a:gd name="T28" fmla="*/ 618 w 774"/>
                <a:gd name="T29" fmla="*/ 250 h 427"/>
                <a:gd name="T30" fmla="*/ 714 w 774"/>
                <a:gd name="T31" fmla="*/ 154 h 427"/>
                <a:gd name="T32" fmla="*/ 618 w 774"/>
                <a:gd name="T33" fmla="*/ 58 h 427"/>
                <a:gd name="T34" fmla="*/ 214 w 774"/>
                <a:gd name="T35" fmla="*/ 58 h 427"/>
                <a:gd name="T36" fmla="*/ 59 w 774"/>
                <a:gd name="T37" fmla="*/ 213 h 427"/>
                <a:gd name="T38" fmla="*/ 214 w 774"/>
                <a:gd name="T39" fmla="*/ 367 h 427"/>
                <a:gd name="T40" fmla="*/ 581 w 774"/>
                <a:gd name="T41" fmla="*/ 367 h 427"/>
                <a:gd name="T42" fmla="*/ 581 w 774"/>
                <a:gd name="T43" fmla="*/ 426 h 427"/>
                <a:gd name="T44" fmla="*/ 214 w 774"/>
                <a:gd name="T45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4" h="427">
                  <a:moveTo>
                    <a:pt x="214" y="426"/>
                  </a:moveTo>
                  <a:cubicBezTo>
                    <a:pt x="96" y="426"/>
                    <a:pt x="0" y="331"/>
                    <a:pt x="0" y="213"/>
                  </a:cubicBezTo>
                  <a:cubicBezTo>
                    <a:pt x="0" y="95"/>
                    <a:pt x="96" y="0"/>
                    <a:pt x="214" y="0"/>
                  </a:cubicBezTo>
                  <a:lnTo>
                    <a:pt x="618" y="0"/>
                  </a:lnTo>
                  <a:cubicBezTo>
                    <a:pt x="699" y="0"/>
                    <a:pt x="773" y="69"/>
                    <a:pt x="773" y="154"/>
                  </a:cubicBezTo>
                  <a:cubicBezTo>
                    <a:pt x="773" y="239"/>
                    <a:pt x="699" y="309"/>
                    <a:pt x="618" y="309"/>
                  </a:cubicBezTo>
                  <a:lnTo>
                    <a:pt x="287" y="309"/>
                  </a:lnTo>
                  <a:cubicBezTo>
                    <a:pt x="236" y="309"/>
                    <a:pt x="192" y="264"/>
                    <a:pt x="192" y="213"/>
                  </a:cubicBezTo>
                  <a:cubicBezTo>
                    <a:pt x="192" y="161"/>
                    <a:pt x="236" y="117"/>
                    <a:pt x="287" y="117"/>
                  </a:cubicBezTo>
                  <a:lnTo>
                    <a:pt x="581" y="117"/>
                  </a:lnTo>
                  <a:lnTo>
                    <a:pt x="581" y="176"/>
                  </a:lnTo>
                  <a:lnTo>
                    <a:pt x="287" y="176"/>
                  </a:lnTo>
                  <a:cubicBezTo>
                    <a:pt x="265" y="176"/>
                    <a:pt x="250" y="191"/>
                    <a:pt x="250" y="213"/>
                  </a:cubicBezTo>
                  <a:cubicBezTo>
                    <a:pt x="250" y="235"/>
                    <a:pt x="265" y="250"/>
                    <a:pt x="287" y="250"/>
                  </a:cubicBezTo>
                  <a:lnTo>
                    <a:pt x="618" y="250"/>
                  </a:lnTo>
                  <a:cubicBezTo>
                    <a:pt x="670" y="250"/>
                    <a:pt x="714" y="209"/>
                    <a:pt x="714" y="154"/>
                  </a:cubicBezTo>
                  <a:cubicBezTo>
                    <a:pt x="714" y="99"/>
                    <a:pt x="670" y="58"/>
                    <a:pt x="618" y="58"/>
                  </a:cubicBezTo>
                  <a:lnTo>
                    <a:pt x="214" y="58"/>
                  </a:lnTo>
                  <a:cubicBezTo>
                    <a:pt x="125" y="58"/>
                    <a:pt x="59" y="128"/>
                    <a:pt x="59" y="213"/>
                  </a:cubicBezTo>
                  <a:cubicBezTo>
                    <a:pt x="59" y="297"/>
                    <a:pt x="125" y="367"/>
                    <a:pt x="214" y="367"/>
                  </a:cubicBezTo>
                  <a:lnTo>
                    <a:pt x="581" y="367"/>
                  </a:lnTo>
                  <a:lnTo>
                    <a:pt x="581" y="426"/>
                  </a:lnTo>
                  <a:lnTo>
                    <a:pt x="214" y="426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460" name="텍스트 상자 31"/>
            <p:cNvSpPr txBox="1"/>
            <p:nvPr/>
          </p:nvSpPr>
          <p:spPr>
            <a:xfrm>
              <a:off x="2634001" y="3489248"/>
              <a:ext cx="318628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파일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5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461" name="Freeform 24"/>
          <p:cNvSpPr>
            <a:spLocks noChangeAspect="1" noChangeArrowheads="1"/>
          </p:cNvSpPr>
          <p:nvPr/>
        </p:nvSpPr>
        <p:spPr bwMode="auto">
          <a:xfrm flipV="1">
            <a:off x="598696" y="7094993"/>
            <a:ext cx="57767" cy="36000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462" name="텍스트 상자 31"/>
          <p:cNvSpPr txBox="1"/>
          <p:nvPr/>
        </p:nvSpPr>
        <p:spPr>
          <a:xfrm>
            <a:off x="439785" y="6398922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* 파일 첨부된 의견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4" name="그룹 3"/>
          <p:cNvGrpSpPr/>
          <p:nvPr/>
        </p:nvGrpSpPr>
        <p:grpSpPr>
          <a:xfrm>
            <a:off x="4297396" y="1602656"/>
            <a:ext cx="930081" cy="115755"/>
            <a:chOff x="4297396" y="1127703"/>
            <a:chExt cx="930081" cy="115755"/>
          </a:xfrm>
        </p:grpSpPr>
        <p:grpSp>
          <p:nvGrpSpPr>
            <p:cNvPr id="477" name="그룹 476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479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481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488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489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482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483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484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485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86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87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480" name="그림 479"/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490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491" name="그룹 490"/>
          <p:cNvGrpSpPr/>
          <p:nvPr/>
        </p:nvGrpSpPr>
        <p:grpSpPr>
          <a:xfrm>
            <a:off x="538368" y="4556480"/>
            <a:ext cx="930081" cy="115755"/>
            <a:chOff x="4297396" y="1127703"/>
            <a:chExt cx="930081" cy="115755"/>
          </a:xfrm>
        </p:grpSpPr>
        <p:grpSp>
          <p:nvGrpSpPr>
            <p:cNvPr id="492" name="그룹 491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494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496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503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504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497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498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499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500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501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502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495" name="그림 494"/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493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505" name="그룹 504"/>
          <p:cNvGrpSpPr/>
          <p:nvPr/>
        </p:nvGrpSpPr>
        <p:grpSpPr>
          <a:xfrm>
            <a:off x="4263459" y="1862551"/>
            <a:ext cx="3234094" cy="182010"/>
            <a:chOff x="533424" y="4808330"/>
            <a:chExt cx="3234094" cy="182010"/>
          </a:xfrm>
        </p:grpSpPr>
        <p:sp>
          <p:nvSpPr>
            <p:cNvPr id="506" name="Rectangle 526"/>
            <p:cNvSpPr/>
            <p:nvPr/>
          </p:nvSpPr>
          <p:spPr>
            <a:xfrm>
              <a:off x="533424" y="4808330"/>
              <a:ext cx="3234094" cy="1820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07" name="텍스트 상자 31"/>
            <p:cNvSpPr txBox="1"/>
            <p:nvPr/>
          </p:nvSpPr>
          <p:spPr>
            <a:xfrm>
              <a:off x="568850" y="4860037"/>
              <a:ext cx="713471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의견을 입력하세요</a:t>
              </a:r>
              <a:endParaRPr kumimoji="1" lang="ko-KR" altLang="en-US" sz="5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08" name="Rounded Rectangle 193"/>
            <p:cNvSpPr/>
            <p:nvPr/>
          </p:nvSpPr>
          <p:spPr>
            <a:xfrm>
              <a:off x="3485404" y="4835808"/>
              <a:ext cx="257806" cy="13783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등록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509" name="Group 245"/>
            <p:cNvGrpSpPr/>
            <p:nvPr/>
          </p:nvGrpSpPr>
          <p:grpSpPr>
            <a:xfrm>
              <a:off x="3149648" y="4852079"/>
              <a:ext cx="292649" cy="104698"/>
              <a:chOff x="4069651" y="4087589"/>
              <a:chExt cx="389265" cy="139263"/>
            </a:xfrm>
          </p:grpSpPr>
          <p:sp>
            <p:nvSpPr>
              <p:cNvPr id="510" name="Freeform 17"/>
              <p:cNvSpPr>
                <a:spLocks noChangeArrowheads="1"/>
              </p:cNvSpPr>
              <p:nvPr/>
            </p:nvSpPr>
            <p:spPr bwMode="auto">
              <a:xfrm>
                <a:off x="4069651" y="4087589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511" name="Freeform 247"/>
              <p:cNvSpPr>
                <a:spLocks noChangeArrowheads="1"/>
              </p:cNvSpPr>
              <p:nvPr/>
            </p:nvSpPr>
            <p:spPr bwMode="auto">
              <a:xfrm>
                <a:off x="4284206" y="4107687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</p:grpSp>
      <p:grpSp>
        <p:nvGrpSpPr>
          <p:cNvPr id="517" name="Group 311"/>
          <p:cNvGrpSpPr/>
          <p:nvPr/>
        </p:nvGrpSpPr>
        <p:grpSpPr>
          <a:xfrm>
            <a:off x="4963640" y="668335"/>
            <a:ext cx="263837" cy="107722"/>
            <a:chOff x="5094041" y="3121801"/>
            <a:chExt cx="263837" cy="107722"/>
          </a:xfrm>
        </p:grpSpPr>
        <p:sp>
          <p:nvSpPr>
            <p:cNvPr id="524" name="Freeform 24"/>
            <p:cNvSpPr>
              <a:spLocks noChangeAspect="1" noChangeArrowheads="1"/>
            </p:cNvSpPr>
            <p:nvPr/>
          </p:nvSpPr>
          <p:spPr bwMode="auto">
            <a:xfrm>
              <a:off x="5094041" y="3136639"/>
              <a:ext cx="90000" cy="89388"/>
            </a:xfrm>
            <a:custGeom>
              <a:avLst/>
              <a:gdLst>
                <a:gd name="T0" fmla="*/ 587 w 650"/>
                <a:gd name="T1" fmla="*/ 0 h 644"/>
                <a:gd name="T2" fmla="*/ 68 w 650"/>
                <a:gd name="T3" fmla="*/ 0 h 644"/>
                <a:gd name="T4" fmla="*/ 0 w 650"/>
                <a:gd name="T5" fmla="*/ 62 h 644"/>
                <a:gd name="T6" fmla="*/ 0 w 650"/>
                <a:gd name="T7" fmla="*/ 643 h 644"/>
                <a:gd name="T8" fmla="*/ 130 w 650"/>
                <a:gd name="T9" fmla="*/ 513 h 644"/>
                <a:gd name="T10" fmla="*/ 587 w 650"/>
                <a:gd name="T11" fmla="*/ 513 h 644"/>
                <a:gd name="T12" fmla="*/ 649 w 650"/>
                <a:gd name="T13" fmla="*/ 451 h 644"/>
                <a:gd name="T14" fmla="*/ 649 w 650"/>
                <a:gd name="T15" fmla="*/ 62 h 644"/>
                <a:gd name="T16" fmla="*/ 587 w 650"/>
                <a:gd name="T17" fmla="*/ 0 h 644"/>
                <a:gd name="T18" fmla="*/ 229 w 650"/>
                <a:gd name="T19" fmla="*/ 290 h 644"/>
                <a:gd name="T20" fmla="*/ 167 w 650"/>
                <a:gd name="T21" fmla="*/ 290 h 644"/>
                <a:gd name="T22" fmla="*/ 167 w 650"/>
                <a:gd name="T23" fmla="*/ 222 h 644"/>
                <a:gd name="T24" fmla="*/ 229 w 650"/>
                <a:gd name="T25" fmla="*/ 222 h 644"/>
                <a:gd name="T26" fmla="*/ 229 w 650"/>
                <a:gd name="T27" fmla="*/ 290 h 644"/>
                <a:gd name="T28" fmla="*/ 359 w 650"/>
                <a:gd name="T29" fmla="*/ 290 h 644"/>
                <a:gd name="T30" fmla="*/ 297 w 650"/>
                <a:gd name="T31" fmla="*/ 290 h 644"/>
                <a:gd name="T32" fmla="*/ 297 w 650"/>
                <a:gd name="T33" fmla="*/ 222 h 644"/>
                <a:gd name="T34" fmla="*/ 359 w 650"/>
                <a:gd name="T35" fmla="*/ 222 h 644"/>
                <a:gd name="T36" fmla="*/ 359 w 650"/>
                <a:gd name="T37" fmla="*/ 290 h 644"/>
                <a:gd name="T38" fmla="*/ 488 w 650"/>
                <a:gd name="T39" fmla="*/ 290 h 644"/>
                <a:gd name="T40" fmla="*/ 420 w 650"/>
                <a:gd name="T41" fmla="*/ 290 h 644"/>
                <a:gd name="T42" fmla="*/ 420 w 650"/>
                <a:gd name="T43" fmla="*/ 222 h 644"/>
                <a:gd name="T44" fmla="*/ 488 w 650"/>
                <a:gd name="T45" fmla="*/ 222 h 644"/>
                <a:gd name="T46" fmla="*/ 488 w 650"/>
                <a:gd name="T47" fmla="*/ 29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0" h="644">
                  <a:moveTo>
                    <a:pt x="587" y="0"/>
                  </a:moveTo>
                  <a:lnTo>
                    <a:pt x="68" y="0"/>
                  </a:lnTo>
                  <a:cubicBezTo>
                    <a:pt x="31" y="0"/>
                    <a:pt x="0" y="24"/>
                    <a:pt x="0" y="62"/>
                  </a:cubicBezTo>
                  <a:lnTo>
                    <a:pt x="0" y="643"/>
                  </a:lnTo>
                  <a:lnTo>
                    <a:pt x="130" y="513"/>
                  </a:lnTo>
                  <a:lnTo>
                    <a:pt x="587" y="513"/>
                  </a:lnTo>
                  <a:cubicBezTo>
                    <a:pt x="618" y="513"/>
                    <a:pt x="649" y="482"/>
                    <a:pt x="649" y="451"/>
                  </a:cubicBezTo>
                  <a:lnTo>
                    <a:pt x="649" y="62"/>
                  </a:lnTo>
                  <a:cubicBezTo>
                    <a:pt x="649" y="24"/>
                    <a:pt x="618" y="0"/>
                    <a:pt x="587" y="0"/>
                  </a:cubicBezTo>
                  <a:close/>
                  <a:moveTo>
                    <a:pt x="229" y="290"/>
                  </a:moveTo>
                  <a:lnTo>
                    <a:pt x="167" y="290"/>
                  </a:lnTo>
                  <a:lnTo>
                    <a:pt x="167" y="222"/>
                  </a:lnTo>
                  <a:lnTo>
                    <a:pt x="229" y="222"/>
                  </a:lnTo>
                  <a:lnTo>
                    <a:pt x="229" y="290"/>
                  </a:lnTo>
                  <a:close/>
                  <a:moveTo>
                    <a:pt x="359" y="290"/>
                  </a:moveTo>
                  <a:lnTo>
                    <a:pt x="297" y="290"/>
                  </a:lnTo>
                  <a:lnTo>
                    <a:pt x="297" y="222"/>
                  </a:lnTo>
                  <a:lnTo>
                    <a:pt x="359" y="222"/>
                  </a:lnTo>
                  <a:lnTo>
                    <a:pt x="359" y="290"/>
                  </a:lnTo>
                  <a:close/>
                  <a:moveTo>
                    <a:pt x="488" y="290"/>
                  </a:moveTo>
                  <a:lnTo>
                    <a:pt x="420" y="290"/>
                  </a:lnTo>
                  <a:lnTo>
                    <a:pt x="420" y="222"/>
                  </a:lnTo>
                  <a:lnTo>
                    <a:pt x="488" y="222"/>
                  </a:lnTo>
                  <a:lnTo>
                    <a:pt x="488" y="29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525" name="텍스트 상자 31"/>
            <p:cNvSpPr txBox="1"/>
            <p:nvPr/>
          </p:nvSpPr>
          <p:spPr>
            <a:xfrm>
              <a:off x="5240219" y="3121801"/>
              <a:ext cx="11765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4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19" name="텍스트 상자 31"/>
          <p:cNvSpPr txBox="1"/>
          <p:nvPr/>
        </p:nvSpPr>
        <p:spPr>
          <a:xfrm>
            <a:off x="4847763" y="668335"/>
            <a:ext cx="11765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3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520" name="Group 50"/>
          <p:cNvGrpSpPr>
            <a:grpSpLocks noChangeAspect="1"/>
          </p:cNvGrpSpPr>
          <p:nvPr/>
        </p:nvGrpSpPr>
        <p:grpSpPr bwMode="auto">
          <a:xfrm>
            <a:off x="4406558" y="3955383"/>
            <a:ext cx="140223" cy="141134"/>
            <a:chOff x="2178" y="1307"/>
            <a:chExt cx="154" cy="155"/>
          </a:xfrm>
          <a:solidFill>
            <a:schemeClr val="bg1">
              <a:lumMod val="50000"/>
            </a:schemeClr>
          </a:solidFill>
        </p:grpSpPr>
        <p:sp>
          <p:nvSpPr>
            <p:cNvPr id="521" name="Oval 51"/>
            <p:cNvSpPr>
              <a:spLocks noChangeArrowheads="1"/>
            </p:cNvSpPr>
            <p:nvPr/>
          </p:nvSpPr>
          <p:spPr bwMode="auto">
            <a:xfrm>
              <a:off x="2271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522" name="Oval 52"/>
            <p:cNvSpPr>
              <a:spLocks noChangeArrowheads="1"/>
            </p:cNvSpPr>
            <p:nvPr/>
          </p:nvSpPr>
          <p:spPr bwMode="auto">
            <a:xfrm>
              <a:off x="2217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523" name="Freeform 53"/>
            <p:cNvSpPr>
              <a:spLocks noEditPoints="1"/>
            </p:cNvSpPr>
            <p:nvPr/>
          </p:nvSpPr>
          <p:spPr bwMode="auto">
            <a:xfrm>
              <a:off x="2178" y="1307"/>
              <a:ext cx="154" cy="155"/>
            </a:xfrm>
            <a:custGeom>
              <a:avLst/>
              <a:gdLst>
                <a:gd name="T0" fmla="*/ 250 w 500"/>
                <a:gd name="T1" fmla="*/ 0 h 500"/>
                <a:gd name="T2" fmla="*/ 0 w 500"/>
                <a:gd name="T3" fmla="*/ 250 h 500"/>
                <a:gd name="T4" fmla="*/ 250 w 500"/>
                <a:gd name="T5" fmla="*/ 500 h 500"/>
                <a:gd name="T6" fmla="*/ 500 w 500"/>
                <a:gd name="T7" fmla="*/ 250 h 500"/>
                <a:gd name="T8" fmla="*/ 250 w 500"/>
                <a:gd name="T9" fmla="*/ 0 h 500"/>
                <a:gd name="T10" fmla="*/ 250 w 500"/>
                <a:gd name="T11" fmla="*/ 450 h 500"/>
                <a:gd name="T12" fmla="*/ 50 w 500"/>
                <a:gd name="T13" fmla="*/ 250 h 500"/>
                <a:gd name="T14" fmla="*/ 250 w 500"/>
                <a:gd name="T15" fmla="*/ 50 h 500"/>
                <a:gd name="T16" fmla="*/ 450 w 500"/>
                <a:gd name="T17" fmla="*/ 250 h 500"/>
                <a:gd name="T18" fmla="*/ 250 w 500"/>
                <a:gd name="T19" fmla="*/ 450 h 500"/>
                <a:gd name="T20" fmla="*/ 250 w 500"/>
                <a:gd name="T21" fmla="*/ 350 h 500"/>
                <a:gd name="T22" fmla="*/ 164 w 500"/>
                <a:gd name="T23" fmla="*/ 300 h 500"/>
                <a:gd name="T24" fmla="*/ 122 w 500"/>
                <a:gd name="T25" fmla="*/ 300 h 500"/>
                <a:gd name="T26" fmla="*/ 250 w 500"/>
                <a:gd name="T27" fmla="*/ 388 h 500"/>
                <a:gd name="T28" fmla="*/ 378 w 500"/>
                <a:gd name="T29" fmla="*/ 300 h 500"/>
                <a:gd name="T30" fmla="*/ 336 w 500"/>
                <a:gd name="T31" fmla="*/ 300 h 500"/>
                <a:gd name="T32" fmla="*/ 250 w 500"/>
                <a:gd name="T33" fmla="*/ 3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0" h="500">
                  <a:moveTo>
                    <a:pt x="250" y="0"/>
                  </a:moveTo>
                  <a:cubicBezTo>
                    <a:pt x="112" y="0"/>
                    <a:pt x="0" y="112"/>
                    <a:pt x="0" y="250"/>
                  </a:cubicBezTo>
                  <a:cubicBezTo>
                    <a:pt x="0" y="388"/>
                    <a:pt x="112" y="500"/>
                    <a:pt x="250" y="500"/>
                  </a:cubicBezTo>
                  <a:cubicBezTo>
                    <a:pt x="388" y="500"/>
                    <a:pt x="500" y="388"/>
                    <a:pt x="500" y="250"/>
                  </a:cubicBezTo>
                  <a:cubicBezTo>
                    <a:pt x="500" y="112"/>
                    <a:pt x="388" y="0"/>
                    <a:pt x="250" y="0"/>
                  </a:cubicBezTo>
                  <a:close/>
                  <a:moveTo>
                    <a:pt x="250" y="450"/>
                  </a:moveTo>
                  <a:cubicBezTo>
                    <a:pt x="140" y="450"/>
                    <a:pt x="50" y="361"/>
                    <a:pt x="50" y="250"/>
                  </a:cubicBezTo>
                  <a:cubicBezTo>
                    <a:pt x="50" y="139"/>
                    <a:pt x="140" y="50"/>
                    <a:pt x="250" y="50"/>
                  </a:cubicBezTo>
                  <a:cubicBezTo>
                    <a:pt x="361" y="50"/>
                    <a:pt x="450" y="140"/>
                    <a:pt x="450" y="250"/>
                  </a:cubicBezTo>
                  <a:cubicBezTo>
                    <a:pt x="450" y="361"/>
                    <a:pt x="361" y="450"/>
                    <a:pt x="250" y="450"/>
                  </a:cubicBezTo>
                  <a:close/>
                  <a:moveTo>
                    <a:pt x="250" y="350"/>
                  </a:moveTo>
                  <a:cubicBezTo>
                    <a:pt x="213" y="350"/>
                    <a:pt x="181" y="330"/>
                    <a:pt x="164" y="300"/>
                  </a:cubicBezTo>
                  <a:lnTo>
                    <a:pt x="122" y="300"/>
                  </a:lnTo>
                  <a:cubicBezTo>
                    <a:pt x="142" y="351"/>
                    <a:pt x="192" y="388"/>
                    <a:pt x="250" y="388"/>
                  </a:cubicBezTo>
                  <a:cubicBezTo>
                    <a:pt x="308" y="388"/>
                    <a:pt x="358" y="351"/>
                    <a:pt x="378" y="300"/>
                  </a:cubicBezTo>
                  <a:lnTo>
                    <a:pt x="336" y="300"/>
                  </a:lnTo>
                  <a:cubicBezTo>
                    <a:pt x="319" y="330"/>
                    <a:pt x="287" y="350"/>
                    <a:pt x="250" y="3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pic>
        <p:nvPicPr>
          <p:cNvPr id="516" name="그림 51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39075" y="662211"/>
            <a:ext cx="270094" cy="115755"/>
          </a:xfrm>
          <a:prstGeom prst="rect">
            <a:avLst/>
          </a:prstGeom>
        </p:spPr>
      </p:pic>
      <p:sp>
        <p:nvSpPr>
          <p:cNvPr id="514" name="Freeform 269"/>
          <p:cNvSpPr>
            <a:spLocks noChangeAspect="1"/>
          </p:cNvSpPr>
          <p:nvPr/>
        </p:nvSpPr>
        <p:spPr>
          <a:xfrm>
            <a:off x="4297396" y="678523"/>
            <a:ext cx="80610" cy="89283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526" name="텍스트 상자 31"/>
          <p:cNvSpPr txBox="1"/>
          <p:nvPr/>
        </p:nvSpPr>
        <p:spPr>
          <a:xfrm>
            <a:off x="559628" y="2122471"/>
            <a:ext cx="3250996" cy="36625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다음 달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회식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날짜 정하려고 합니다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.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en-US" altLang="ko-KR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#</a:t>
            </a: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일정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확인후 댓글로 가능여부 남겨주세요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!</a:t>
            </a:r>
            <a:endParaRPr kumimoji="1" lang="ko-KR" altLang="en-US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더불어 몇가지 이슈가 있어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공유 드립니다</a:t>
            </a:r>
            <a:r>
              <a:rPr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mr-IN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…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더보기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531" name="Freeform 11"/>
          <p:cNvSpPr>
            <a:spLocks noChangeAspect="1" noChangeArrowheads="1"/>
          </p:cNvSpPr>
          <p:nvPr/>
        </p:nvSpPr>
        <p:spPr bwMode="auto">
          <a:xfrm>
            <a:off x="6639951" y="3044439"/>
            <a:ext cx="72000" cy="72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533" name="타원형"/>
          <p:cNvSpPr>
            <a:spLocks noChangeAspect="1"/>
          </p:cNvSpPr>
          <p:nvPr/>
        </p:nvSpPr>
        <p:spPr>
          <a:xfrm>
            <a:off x="5617659" y="4328626"/>
            <a:ext cx="213549" cy="216000"/>
          </a:xfrm>
          <a:prstGeom prst="ellipse">
            <a:avLst/>
          </a:prstGeom>
          <a:solidFill>
            <a:srgbClr val="2E6FFD"/>
          </a:solidFill>
          <a:ln w="12700" cap="flat">
            <a:solidFill>
              <a:srgbClr val="002060"/>
            </a:solidFill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marR="0" lvl="0" indent="0" algn="ctr" defTabSz="57681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sz="700" b="1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r>
              <a:rPr kumimoji="1" 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rPr>
              <a:t>5-1</a:t>
            </a:r>
            <a:endParaRPr kumimoji="1" sz="7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/>
              <a:ea typeface="맑은 고딕"/>
              <a:cs typeface="Helvetica"/>
              <a:sym typeface="Helvetica"/>
            </a:endParaRPr>
          </a:p>
        </p:txBody>
      </p:sp>
      <p:sp>
        <p:nvSpPr>
          <p:cNvPr id="536" name="타원형"/>
          <p:cNvSpPr>
            <a:spLocks noChangeAspect="1"/>
          </p:cNvSpPr>
          <p:nvPr/>
        </p:nvSpPr>
        <p:spPr>
          <a:xfrm>
            <a:off x="5369720" y="3383819"/>
            <a:ext cx="213549" cy="216000"/>
          </a:xfrm>
          <a:prstGeom prst="ellipse">
            <a:avLst/>
          </a:prstGeom>
          <a:solidFill>
            <a:srgbClr val="2E6FFD"/>
          </a:solidFill>
          <a:ln w="12700" cap="flat">
            <a:solidFill>
              <a:srgbClr val="002060"/>
            </a:solidFill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marR="0" lvl="0" indent="0" algn="ctr" defTabSz="57681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sz="700" b="1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r>
              <a:rPr kumimoji="1" 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rPr>
              <a:t>7-1</a:t>
            </a:r>
            <a:endParaRPr kumimoji="1" sz="7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/>
              <a:ea typeface="맑은 고딕"/>
              <a:cs typeface="Helvetica"/>
              <a:sym typeface="Helvetica"/>
            </a:endParaRPr>
          </a:p>
        </p:txBody>
      </p:sp>
      <p:sp>
        <p:nvSpPr>
          <p:cNvPr id="284" name="Create"/>
          <p:cNvSpPr>
            <a:spLocks noChangeAspect="1" noEditPoints="1"/>
          </p:cNvSpPr>
          <p:nvPr/>
        </p:nvSpPr>
        <p:spPr bwMode="auto">
          <a:xfrm>
            <a:off x="3445721" y="5157894"/>
            <a:ext cx="96990" cy="93924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5" name="Create"/>
          <p:cNvSpPr>
            <a:spLocks noChangeAspect="1" noEditPoints="1"/>
          </p:cNvSpPr>
          <p:nvPr/>
        </p:nvSpPr>
        <p:spPr bwMode="auto">
          <a:xfrm>
            <a:off x="7180036" y="2260275"/>
            <a:ext cx="96990" cy="93924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6" name="Create"/>
          <p:cNvSpPr>
            <a:spLocks noChangeAspect="1" noEditPoints="1"/>
          </p:cNvSpPr>
          <p:nvPr/>
        </p:nvSpPr>
        <p:spPr bwMode="auto">
          <a:xfrm>
            <a:off x="7180036" y="2698452"/>
            <a:ext cx="96990" cy="93924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0" name="Rectangle 507"/>
          <p:cNvSpPr/>
          <p:nvPr/>
        </p:nvSpPr>
        <p:spPr>
          <a:xfrm>
            <a:off x="444761" y="5642663"/>
            <a:ext cx="3437310" cy="666613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04" name="그룹 303"/>
          <p:cNvGrpSpPr/>
          <p:nvPr/>
        </p:nvGrpSpPr>
        <p:grpSpPr>
          <a:xfrm>
            <a:off x="533424" y="5718566"/>
            <a:ext cx="3234094" cy="541215"/>
            <a:chOff x="533424" y="4808330"/>
            <a:chExt cx="3234094" cy="541215"/>
          </a:xfrm>
        </p:grpSpPr>
        <p:sp>
          <p:nvSpPr>
            <p:cNvPr id="305" name="Rectangle 526"/>
            <p:cNvSpPr/>
            <p:nvPr/>
          </p:nvSpPr>
          <p:spPr>
            <a:xfrm>
              <a:off x="533424" y="4808330"/>
              <a:ext cx="3234094" cy="54121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06" name="텍스트 상자 31"/>
            <p:cNvSpPr txBox="1"/>
            <p:nvPr/>
          </p:nvSpPr>
          <p:spPr>
            <a:xfrm>
              <a:off x="568850" y="4860037"/>
              <a:ext cx="2310196" cy="360227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  <a:defRPr/>
              </a:pP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댓글</a:t>
              </a:r>
              <a:r>
                <a:rPr lang="en-US" altLang="ko-KR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1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r>
                <a:rPr lang="ko-KR" altLang="en-US" sz="5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 </a:t>
              </a:r>
              <a:r>
                <a:rPr lang="ko-KR" altLang="en-US" sz="5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블라블라블라</a:t>
              </a:r>
              <a:endParaRPr lang="ko-KR" altLang="en-US" sz="5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406" name="Rounded Rectangle 193"/>
            <p:cNvSpPr/>
            <p:nvPr/>
          </p:nvSpPr>
          <p:spPr>
            <a:xfrm>
              <a:off x="3485404" y="4835808"/>
              <a:ext cx="257806" cy="13783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등록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407" name="Group 245"/>
            <p:cNvGrpSpPr/>
            <p:nvPr/>
          </p:nvGrpSpPr>
          <p:grpSpPr>
            <a:xfrm>
              <a:off x="3149648" y="4852079"/>
              <a:ext cx="292649" cy="104698"/>
              <a:chOff x="4069651" y="4087589"/>
              <a:chExt cx="389265" cy="139263"/>
            </a:xfrm>
          </p:grpSpPr>
          <p:sp>
            <p:nvSpPr>
              <p:cNvPr id="408" name="Freeform 17"/>
              <p:cNvSpPr>
                <a:spLocks noChangeArrowheads="1"/>
              </p:cNvSpPr>
              <p:nvPr/>
            </p:nvSpPr>
            <p:spPr bwMode="auto">
              <a:xfrm>
                <a:off x="4069651" y="4087589"/>
                <a:ext cx="139453" cy="139263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409" name="Freeform 247"/>
              <p:cNvSpPr>
                <a:spLocks noChangeArrowheads="1"/>
              </p:cNvSpPr>
              <p:nvPr/>
            </p:nvSpPr>
            <p:spPr bwMode="auto">
              <a:xfrm>
                <a:off x="4284206" y="4107687"/>
                <a:ext cx="174710" cy="96157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</p:grpSp>
      <p:sp>
        <p:nvSpPr>
          <p:cNvPr id="410" name="Rounded Rectangle 256"/>
          <p:cNvSpPr/>
          <p:nvPr/>
        </p:nvSpPr>
        <p:spPr>
          <a:xfrm rot="5400000">
            <a:off x="2855173" y="5912998"/>
            <a:ext cx="308626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  <a:alpha val="48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30" name="Rectangle 375"/>
          <p:cNvSpPr/>
          <p:nvPr/>
        </p:nvSpPr>
        <p:spPr>
          <a:xfrm>
            <a:off x="404159" y="5595881"/>
            <a:ext cx="3498015" cy="732282"/>
          </a:xfrm>
          <a:prstGeom prst="rect">
            <a:avLst/>
          </a:prstGeom>
          <a:noFill/>
          <a:ln w="3175">
            <a:solidFill>
              <a:srgbClr val="2E6FFD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29" name="타원형"/>
          <p:cNvSpPr>
            <a:spLocks noChangeAspect="1"/>
          </p:cNvSpPr>
          <p:nvPr/>
        </p:nvSpPr>
        <p:spPr>
          <a:xfrm>
            <a:off x="291040" y="5746044"/>
            <a:ext cx="213549" cy="216000"/>
          </a:xfrm>
          <a:prstGeom prst="ellipse">
            <a:avLst/>
          </a:prstGeom>
          <a:solidFill>
            <a:srgbClr val="2E6FFD"/>
          </a:solidFill>
          <a:ln w="12700" cap="flat">
            <a:solidFill>
              <a:srgbClr val="002060"/>
            </a:solidFill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marR="0" lvl="0" indent="0" algn="ctr" defTabSz="57681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sz="700" b="1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r>
              <a:rPr lang="en-US" sz="700" b="1" dirty="0">
                <a:solidFill>
                  <a:srgbClr val="FFFFFF"/>
                </a:solidFill>
                <a:latin typeface="맑은 고딕"/>
                <a:ea typeface="맑은 고딕"/>
                <a:cs typeface="Helvetica"/>
                <a:sym typeface="Helvetica"/>
              </a:rPr>
              <a:t>7</a:t>
            </a:r>
            <a:r>
              <a:rPr kumimoji="1" 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rPr>
              <a:t>-1</a:t>
            </a:r>
            <a:endParaRPr kumimoji="1" sz="7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/>
              <a:ea typeface="맑은 고딕"/>
              <a:cs typeface="Helvetica"/>
              <a:sym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2716664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그룹 54"/>
          <p:cNvGrpSpPr/>
          <p:nvPr/>
        </p:nvGrpSpPr>
        <p:grpSpPr>
          <a:xfrm>
            <a:off x="2727908" y="3451995"/>
            <a:ext cx="918000" cy="906315"/>
            <a:chOff x="3069168" y="3411307"/>
            <a:chExt cx="918000" cy="906315"/>
          </a:xfrm>
        </p:grpSpPr>
        <p:sp>
          <p:nvSpPr>
            <p:cNvPr id="4" name="Freeform 26"/>
            <p:cNvSpPr>
              <a:spLocks noChangeAspect="1" noChangeArrowheads="1"/>
            </p:cNvSpPr>
            <p:nvPr/>
          </p:nvSpPr>
          <p:spPr bwMode="auto">
            <a:xfrm flipH="1">
              <a:off x="3895053" y="3411307"/>
              <a:ext cx="32516" cy="126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5" name="Rectangle 14"/>
            <p:cNvSpPr>
              <a:spLocks/>
            </p:cNvSpPr>
            <p:nvPr/>
          </p:nvSpPr>
          <p:spPr bwMode="auto">
            <a:xfrm>
              <a:off x="3069168" y="3582590"/>
              <a:ext cx="918000" cy="735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10800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복사</a:t>
              </a:r>
            </a:p>
            <a:p>
              <a:pPr marL="0" marR="0" lvl="0" indent="0" algn="l" defTabSz="914400" rtl="0" eaLnBrk="1" fontAlgn="base" latinLnBrk="1" hangingPunct="1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수정</a:t>
              </a:r>
            </a:p>
            <a:p>
              <a:pPr marL="0" marR="0" lvl="0" indent="0" algn="l" defTabSz="914400" rtl="0" eaLnBrk="1" fontAlgn="base" latinLnBrk="1" hangingPunct="1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삭제</a:t>
              </a:r>
            </a:p>
            <a:p>
              <a:pPr marL="0" marR="0" lvl="0" indent="0" algn="l" defTabSz="914400" rtl="0" eaLnBrk="1" fontAlgn="base" latinLnBrk="1" hangingPunct="1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이미지 모두저장</a:t>
              </a:r>
            </a:p>
            <a:p>
              <a:pPr marL="0" marR="0" lvl="0" indent="0" algn="l" defTabSz="914400" rtl="0" eaLnBrk="1" fontAlgn="base" latinLnBrk="1" hangingPunct="1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모두저장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8" name="텍스트 상자 31"/>
          <p:cNvSpPr txBox="1"/>
          <p:nvPr/>
        </p:nvSpPr>
        <p:spPr>
          <a:xfrm>
            <a:off x="213003" y="1222362"/>
            <a:ext cx="33701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1.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일정 등록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Rectangle 202"/>
          <p:cNvSpPr/>
          <p:nvPr/>
        </p:nvSpPr>
        <p:spPr>
          <a:xfrm>
            <a:off x="208598" y="1426695"/>
            <a:ext cx="343731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" name="텍스트 상자 31"/>
          <p:cNvSpPr txBox="1"/>
          <p:nvPr/>
        </p:nvSpPr>
        <p:spPr>
          <a:xfrm>
            <a:off x="666257" y="154770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김민수 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|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UX/UI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텍스트 상자 31"/>
          <p:cNvSpPr txBox="1"/>
          <p:nvPr/>
        </p:nvSpPr>
        <p:spPr>
          <a:xfrm>
            <a:off x="666257" y="1685565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55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55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 전</a:t>
            </a:r>
            <a:endParaRPr kumimoji="1" lang="ko-KR" altLang="en-US" sz="55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Rectangle 177"/>
          <p:cNvSpPr/>
          <p:nvPr/>
        </p:nvSpPr>
        <p:spPr>
          <a:xfrm>
            <a:off x="312329" y="2050288"/>
            <a:ext cx="3262132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5" name="Group 221"/>
          <p:cNvGrpSpPr/>
          <p:nvPr/>
        </p:nvGrpSpPr>
        <p:grpSpPr>
          <a:xfrm>
            <a:off x="729572" y="2143591"/>
            <a:ext cx="2626900" cy="257587"/>
            <a:chOff x="2887384" y="5664055"/>
            <a:chExt cx="2626900" cy="257587"/>
          </a:xfrm>
        </p:grpSpPr>
        <p:sp>
          <p:nvSpPr>
            <p:cNvPr id="33" name="텍스트 상자 31"/>
            <p:cNvSpPr txBox="1"/>
            <p:nvPr/>
          </p:nvSpPr>
          <p:spPr>
            <a:xfrm>
              <a:off x="2892510" y="5664055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A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서비스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TF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팀 중간회식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2887384" y="5821743"/>
              <a:ext cx="2626900" cy="998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  <a:defRPr/>
              </a:pP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2017.09.30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금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6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오후 </a:t>
              </a:r>
              <a:r>
                <a:rPr lang="en-US" altLang="ko-KR" sz="60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7:00-8:00 ~ 2017.09.30</a:t>
              </a:r>
              <a:r>
                <a:rPr lang="ko-KR" altLang="en-US" sz="60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60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60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금</a:t>
              </a:r>
              <a:r>
                <a:rPr lang="en-US" altLang="ko-KR" sz="60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60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오후 </a:t>
              </a:r>
              <a:r>
                <a:rPr lang="en-US" altLang="ko-KR" sz="60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7:00-8:00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" name="Freeform 33"/>
          <p:cNvSpPr>
            <a:spLocks noEditPoints="1"/>
          </p:cNvSpPr>
          <p:nvPr/>
        </p:nvSpPr>
        <p:spPr bwMode="auto">
          <a:xfrm>
            <a:off x="438981" y="2176892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7" name="직선 연결선[R] 33"/>
          <p:cNvCxnSpPr/>
          <p:nvPr/>
        </p:nvCxnSpPr>
        <p:spPr>
          <a:xfrm>
            <a:off x="297260" y="2597490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텍스트 상자 31"/>
          <p:cNvSpPr txBox="1"/>
          <p:nvPr/>
        </p:nvSpPr>
        <p:spPr>
          <a:xfrm>
            <a:off x="323465" y="1864193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A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서비스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TF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팀 중간회식 일정을 등록했습니다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Freeform 227"/>
          <p:cNvSpPr>
            <a:spLocks noChangeArrowheads="1"/>
          </p:cNvSpPr>
          <p:nvPr/>
        </p:nvSpPr>
        <p:spPr bwMode="auto">
          <a:xfrm rot="5400000">
            <a:off x="3392203" y="224453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20" name="Freeform 26"/>
          <p:cNvSpPr>
            <a:spLocks noChangeAspect="1" noChangeArrowheads="1"/>
          </p:cNvSpPr>
          <p:nvPr/>
        </p:nvSpPr>
        <p:spPr bwMode="auto">
          <a:xfrm flipH="1">
            <a:off x="3491560" y="1551990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22" name="Freeform 25"/>
          <p:cNvSpPr>
            <a:spLocks noChangeAspect="1" noEditPoints="1"/>
          </p:cNvSpPr>
          <p:nvPr/>
        </p:nvSpPr>
        <p:spPr bwMode="auto">
          <a:xfrm>
            <a:off x="3300038" y="154756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Rectangle 320"/>
          <p:cNvSpPr/>
          <p:nvPr/>
        </p:nvSpPr>
        <p:spPr>
          <a:xfrm>
            <a:off x="258933" y="1800339"/>
            <a:ext cx="3360592" cy="74779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1" name="텍스트 상자 31"/>
          <p:cNvSpPr txBox="1"/>
          <p:nvPr/>
        </p:nvSpPr>
        <p:spPr>
          <a:xfrm>
            <a:off x="258933" y="3091438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* </a:t>
            </a:r>
            <a:r>
              <a:rPr kumimoji="1" lang="ko-KR" altLang="en-US" sz="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더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</a:t>
            </a:r>
            <a:r>
              <a:rPr kumimoji="1" lang="ko-KR" altLang="en-US" sz="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버튼에 마우스 오버 시 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3" name="그룹 423"/>
          <p:cNvGrpSpPr/>
          <p:nvPr/>
        </p:nvGrpSpPr>
        <p:grpSpPr>
          <a:xfrm rot="16200000">
            <a:off x="1845756" y="3007047"/>
            <a:ext cx="205422" cy="1762073"/>
            <a:chOff x="8061280" y="-302641"/>
            <a:chExt cx="205422" cy="1762073"/>
          </a:xfrm>
        </p:grpSpPr>
        <p:sp>
          <p:nvSpPr>
            <p:cNvPr id="44" name="AutoShape 133"/>
            <p:cNvSpPr>
              <a:spLocks/>
            </p:cNvSpPr>
            <p:nvPr/>
          </p:nvSpPr>
          <p:spPr bwMode="auto">
            <a:xfrm>
              <a:off x="8149838" y="1342471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cxnSp>
          <p:nvCxnSpPr>
            <p:cNvPr id="45" name="직선 화살표 연결선 425"/>
            <p:cNvCxnSpPr/>
            <p:nvPr/>
          </p:nvCxnSpPr>
          <p:spPr>
            <a:xfrm rot="5400000" flipH="1">
              <a:off x="7312219" y="446420"/>
              <a:ext cx="1645113" cy="146991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TextBox 45"/>
          <p:cNvSpPr txBox="1"/>
          <p:nvPr/>
        </p:nvSpPr>
        <p:spPr>
          <a:xfrm>
            <a:off x="198609" y="3338794"/>
            <a:ext cx="2204899" cy="1222624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txBody>
          <a:bodyPr wrap="square" lIns="72000" tIns="72000" rIns="72000" bIns="72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타인이 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올린 </a:t>
            </a:r>
            <a:r>
              <a:rPr kumimoji="1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피드</a:t>
            </a: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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복사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이미지 모두저장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모두저장 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사용자가 올린 </a:t>
            </a:r>
            <a:r>
              <a:rPr kumimoji="1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피드</a:t>
            </a: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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복사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이미지 모두저장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모두저장 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복사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 </a:t>
            </a: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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해당 작업의 </a:t>
            </a:r>
            <a:r>
              <a:rPr kumimoji="1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팝업창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 제공</a:t>
            </a: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  <a:sym typeface="Wingdings" pitchFamily="2" charset="2"/>
            </a:endParaRPr>
          </a:p>
          <a:p>
            <a:pPr marL="171450" marR="0" lvl="0" indent="-17145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/>
              <a:buChar char="à"/>
              <a:tabLst/>
              <a:defRPr/>
            </a:pP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이미지 모두저장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모두저장</a:t>
            </a: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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다운로드 시 해당 자료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zip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itchFamily="2" charset="2"/>
              </a:rPr>
              <a:t>파일로 묶어서 제공</a:t>
            </a:r>
            <a:endParaRPr kumimoji="1" lang="en-US" altLang="ko-KR" sz="7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Rectangle 320"/>
          <p:cNvSpPr/>
          <p:nvPr/>
        </p:nvSpPr>
        <p:spPr>
          <a:xfrm>
            <a:off x="2793825" y="3645804"/>
            <a:ext cx="665283" cy="39600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0" name="Rectangle 176"/>
          <p:cNvSpPr/>
          <p:nvPr/>
        </p:nvSpPr>
        <p:spPr>
          <a:xfrm>
            <a:off x="2740037" y="4062343"/>
            <a:ext cx="905871" cy="243646"/>
          </a:xfrm>
          <a:prstGeom prst="rect">
            <a:avLst/>
          </a:prstGeom>
          <a:solidFill>
            <a:srgbClr val="FF2F92">
              <a:alpha val="29804"/>
            </a:srgbClr>
          </a:solidFill>
          <a:ln w="15875">
            <a:noFill/>
            <a:prstDash val="dash"/>
            <a:headEnd type="oval" w="sm" len="sm"/>
            <a:tailEnd type="none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1" name="그룹 423"/>
          <p:cNvGrpSpPr/>
          <p:nvPr/>
        </p:nvGrpSpPr>
        <p:grpSpPr>
          <a:xfrm rot="16200000">
            <a:off x="2137315" y="3598434"/>
            <a:ext cx="198001" cy="1217110"/>
            <a:chOff x="8208269" y="257691"/>
            <a:chExt cx="198001" cy="1217110"/>
          </a:xfrm>
        </p:grpSpPr>
        <p:sp>
          <p:nvSpPr>
            <p:cNvPr id="52" name="AutoShape 133"/>
            <p:cNvSpPr>
              <a:spLocks/>
            </p:cNvSpPr>
            <p:nvPr/>
          </p:nvSpPr>
          <p:spPr bwMode="auto">
            <a:xfrm>
              <a:off x="8289406" y="1357840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cxnSp>
          <p:nvCxnSpPr>
            <p:cNvPr id="53" name="직선 화살표 연결선 425"/>
            <p:cNvCxnSpPr/>
            <p:nvPr/>
          </p:nvCxnSpPr>
          <p:spPr>
            <a:xfrm rot="5400000" flipH="1">
              <a:off x="7727979" y="737981"/>
              <a:ext cx="1100149" cy="139569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 14"/>
          <p:cNvSpPr>
            <a:spLocks/>
          </p:cNvSpPr>
          <p:nvPr/>
        </p:nvSpPr>
        <p:spPr bwMode="auto">
          <a:xfrm>
            <a:off x="3921477" y="1433682"/>
            <a:ext cx="3926977" cy="1939365"/>
          </a:xfrm>
          <a:prstGeom prst="rect">
            <a:avLst/>
          </a:prstGeom>
          <a:solidFill>
            <a:schemeClr val="bg1"/>
          </a:solidFill>
          <a:ln w="28575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sx="99000" sy="99000" algn="tl" rotWithShape="0">
              <a:prstClr val="black">
                <a:alpha val="40000"/>
              </a:prstClr>
            </a:outerShdw>
          </a:effectLst>
          <a:extLst/>
        </p:spPr>
        <p:txBody>
          <a:bodyPr lIns="50800" tIns="18000" rIns="50800" bIns="50800" anchor="t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x-none" altLang="x-none" sz="600" b="0" i="0" u="sng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sp>
        <p:nvSpPr>
          <p:cNvPr id="59" name="Rectangle 304"/>
          <p:cNvSpPr>
            <a:spLocks noChangeArrowheads="1"/>
          </p:cNvSpPr>
          <p:nvPr/>
        </p:nvSpPr>
        <p:spPr bwMode="auto">
          <a:xfrm>
            <a:off x="4934452" y="2271306"/>
            <a:ext cx="2019153" cy="216000"/>
          </a:xfrm>
          <a:prstGeom prst="rect">
            <a:avLst/>
          </a:prstGeom>
          <a:solidFill>
            <a:schemeClr val="bg1"/>
          </a:solidFill>
          <a:ln w="6350" algn="ctr">
            <a:solidFill>
              <a:schemeClr val="bg1">
                <a:lumMod val="75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A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통신사 서비스 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TF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4078410" y="2261781"/>
            <a:ext cx="556810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그룹선택  </a:t>
            </a:r>
            <a:endParaRPr kumimoji="0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148230" y="2568124"/>
            <a:ext cx="2266413" cy="215444"/>
          </a:xfrm>
          <a:prstGeom prst="rect">
            <a:avLst/>
          </a:prstGeom>
          <a:noFill/>
        </p:spPr>
        <p:txBody>
          <a:bodyPr wrap="squar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컨텐츠</a:t>
            </a:r>
            <a:r>
              <a:rPr kumimoji="0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 등록 후</a:t>
            </a:r>
            <a:r>
              <a:rPr kumimoji="0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, </a:t>
            </a:r>
            <a:r>
              <a:rPr kumimoji="0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복사한 그룹으로 이동합니다</a:t>
            </a:r>
            <a:r>
              <a:rPr kumimoji="0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. 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078410" y="1961005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본문</a:t>
            </a:r>
            <a:endParaRPr kumimoji="0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74" name="직선 연결선 73"/>
          <p:cNvCxnSpPr/>
          <p:nvPr/>
        </p:nvCxnSpPr>
        <p:spPr>
          <a:xfrm flipH="1">
            <a:off x="4150007" y="2939733"/>
            <a:ext cx="349708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4940773" y="1962203"/>
            <a:ext cx="143685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화면설계서 전달해 드립니다</a:t>
            </a:r>
            <a:r>
              <a:rPr kumimoji="0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526487" y="2258637"/>
            <a:ext cx="143235" cy="257369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*</a:t>
            </a:r>
            <a:endParaRPr kumimoji="1" lang="ko-KR" altLang="en-US" sz="1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4" name="Triangle 337"/>
          <p:cNvSpPr/>
          <p:nvPr/>
        </p:nvSpPr>
        <p:spPr>
          <a:xfrm flipV="1">
            <a:off x="6691794" y="2349151"/>
            <a:ext cx="86539" cy="63568"/>
          </a:xfrm>
          <a:prstGeom prst="triangl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5" name="Freeform 1"/>
          <p:cNvSpPr>
            <a:spLocks noChangeAspect="1" noChangeArrowheads="1"/>
          </p:cNvSpPr>
          <p:nvPr/>
        </p:nvSpPr>
        <p:spPr bwMode="auto">
          <a:xfrm>
            <a:off x="4995871" y="2616605"/>
            <a:ext cx="118482" cy="118482"/>
          </a:xfrm>
          <a:custGeom>
            <a:avLst/>
            <a:gdLst>
              <a:gd name="T0" fmla="*/ 523 w 587"/>
              <a:gd name="T1" fmla="*/ 0 h 586"/>
              <a:gd name="T2" fmla="*/ 69 w 587"/>
              <a:gd name="T3" fmla="*/ 0 h 586"/>
              <a:gd name="T4" fmla="*/ 0 w 587"/>
              <a:gd name="T5" fmla="*/ 68 h 586"/>
              <a:gd name="T6" fmla="*/ 0 w 587"/>
              <a:gd name="T7" fmla="*/ 523 h 586"/>
              <a:gd name="T8" fmla="*/ 69 w 587"/>
              <a:gd name="T9" fmla="*/ 585 h 586"/>
              <a:gd name="T10" fmla="*/ 523 w 587"/>
              <a:gd name="T11" fmla="*/ 585 h 586"/>
              <a:gd name="T12" fmla="*/ 586 w 587"/>
              <a:gd name="T13" fmla="*/ 523 h 586"/>
              <a:gd name="T14" fmla="*/ 586 w 587"/>
              <a:gd name="T15" fmla="*/ 68 h 586"/>
              <a:gd name="T16" fmla="*/ 523 w 587"/>
              <a:gd name="T17" fmla="*/ 0 h 586"/>
              <a:gd name="T18" fmla="*/ 231 w 587"/>
              <a:gd name="T19" fmla="*/ 454 h 586"/>
              <a:gd name="T20" fmla="*/ 69 w 587"/>
              <a:gd name="T21" fmla="*/ 292 h 586"/>
              <a:gd name="T22" fmla="*/ 113 w 587"/>
              <a:gd name="T23" fmla="*/ 249 h 586"/>
              <a:gd name="T24" fmla="*/ 231 w 587"/>
              <a:gd name="T25" fmla="*/ 367 h 586"/>
              <a:gd name="T26" fmla="*/ 480 w 587"/>
              <a:gd name="T27" fmla="*/ 118 h 586"/>
              <a:gd name="T28" fmla="*/ 523 w 587"/>
              <a:gd name="T29" fmla="*/ 161 h 586"/>
              <a:gd name="T30" fmla="*/ 231 w 587"/>
              <a:gd name="T31" fmla="*/ 454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6">
                <a:moveTo>
                  <a:pt x="523" y="0"/>
                </a:moveTo>
                <a:lnTo>
                  <a:pt x="69" y="0"/>
                </a:lnTo>
                <a:cubicBezTo>
                  <a:pt x="32" y="0"/>
                  <a:pt x="0" y="31"/>
                  <a:pt x="0" y="68"/>
                </a:cubicBezTo>
                <a:lnTo>
                  <a:pt x="0" y="523"/>
                </a:lnTo>
                <a:cubicBezTo>
                  <a:pt x="0" y="554"/>
                  <a:pt x="32" y="585"/>
                  <a:pt x="69" y="585"/>
                </a:cubicBezTo>
                <a:lnTo>
                  <a:pt x="523" y="585"/>
                </a:lnTo>
                <a:cubicBezTo>
                  <a:pt x="561" y="585"/>
                  <a:pt x="586" y="554"/>
                  <a:pt x="586" y="523"/>
                </a:cubicBezTo>
                <a:lnTo>
                  <a:pt x="586" y="68"/>
                </a:lnTo>
                <a:cubicBezTo>
                  <a:pt x="586" y="31"/>
                  <a:pt x="561" y="0"/>
                  <a:pt x="523" y="0"/>
                </a:cubicBezTo>
                <a:close/>
                <a:moveTo>
                  <a:pt x="231" y="454"/>
                </a:moveTo>
                <a:lnTo>
                  <a:pt x="69" y="292"/>
                </a:lnTo>
                <a:lnTo>
                  <a:pt x="113" y="249"/>
                </a:lnTo>
                <a:lnTo>
                  <a:pt x="231" y="367"/>
                </a:lnTo>
                <a:lnTo>
                  <a:pt x="480" y="118"/>
                </a:lnTo>
                <a:lnTo>
                  <a:pt x="523" y="161"/>
                </a:lnTo>
                <a:lnTo>
                  <a:pt x="231" y="45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pic>
        <p:nvPicPr>
          <p:cNvPr id="82" name="Picture 3" descr="C:\Users\Administrator\Downloads\round-account-button-with-user-inside (1)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7557" y="1536358"/>
            <a:ext cx="205200" cy="2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0" name="Rectangle 14"/>
          <p:cNvSpPr>
            <a:spLocks/>
          </p:cNvSpPr>
          <p:nvPr/>
        </p:nvSpPr>
        <p:spPr bwMode="auto">
          <a:xfrm>
            <a:off x="3921477" y="4101286"/>
            <a:ext cx="5320640" cy="1306454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sx="99000" sy="99000" algn="tl" rotWithShape="0">
              <a:prstClr val="black">
                <a:alpha val="40000"/>
              </a:prstClr>
            </a:outerShdw>
          </a:effectLst>
          <a:extLst/>
        </p:spPr>
        <p:txBody>
          <a:bodyPr lIns="50800" tIns="18000" rIns="50800" bIns="50800" anchor="t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x-none" altLang="x-none" sz="600" b="0" i="0" u="sng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sp>
        <p:nvSpPr>
          <p:cNvPr id="115" name="TextBox 114"/>
          <p:cNvSpPr txBox="1"/>
          <p:nvPr/>
        </p:nvSpPr>
        <p:spPr>
          <a:xfrm>
            <a:off x="4142817" y="4223101"/>
            <a:ext cx="143685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9057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화면설계서 전달해 드립니다</a:t>
            </a:r>
            <a:r>
              <a:rPr kumimoji="0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25" name="직선 연결선 124"/>
          <p:cNvCxnSpPr/>
          <p:nvPr/>
        </p:nvCxnSpPr>
        <p:spPr>
          <a:xfrm flipH="1">
            <a:off x="3935720" y="5100909"/>
            <a:ext cx="5306397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Freeform 17"/>
          <p:cNvSpPr>
            <a:spLocks noChangeArrowheads="1"/>
          </p:cNvSpPr>
          <p:nvPr/>
        </p:nvSpPr>
        <p:spPr bwMode="auto">
          <a:xfrm>
            <a:off x="4151103" y="5163992"/>
            <a:ext cx="162000" cy="162000"/>
          </a:xfrm>
          <a:custGeom>
            <a:avLst/>
            <a:gdLst>
              <a:gd name="T0" fmla="*/ 403 w 404"/>
              <a:gd name="T1" fmla="*/ 360 h 404"/>
              <a:gd name="T2" fmla="*/ 403 w 404"/>
              <a:gd name="T3" fmla="*/ 43 h 404"/>
              <a:gd name="T4" fmla="*/ 360 w 404"/>
              <a:gd name="T5" fmla="*/ 0 h 404"/>
              <a:gd name="T6" fmla="*/ 47 w 404"/>
              <a:gd name="T7" fmla="*/ 0 h 404"/>
              <a:gd name="T8" fmla="*/ 0 w 404"/>
              <a:gd name="T9" fmla="*/ 43 h 404"/>
              <a:gd name="T10" fmla="*/ 0 w 404"/>
              <a:gd name="T11" fmla="*/ 360 h 404"/>
              <a:gd name="T12" fmla="*/ 47 w 404"/>
              <a:gd name="T13" fmla="*/ 403 h 404"/>
              <a:gd name="T14" fmla="*/ 360 w 404"/>
              <a:gd name="T15" fmla="*/ 403 h 404"/>
              <a:gd name="T16" fmla="*/ 403 w 404"/>
              <a:gd name="T17" fmla="*/ 360 h 404"/>
              <a:gd name="T18" fmla="*/ 124 w 404"/>
              <a:gd name="T19" fmla="*/ 236 h 404"/>
              <a:gd name="T20" fmla="*/ 180 w 404"/>
              <a:gd name="T21" fmla="*/ 304 h 404"/>
              <a:gd name="T22" fmla="*/ 257 w 404"/>
              <a:gd name="T23" fmla="*/ 201 h 404"/>
              <a:gd name="T24" fmla="*/ 360 w 404"/>
              <a:gd name="T25" fmla="*/ 334 h 404"/>
              <a:gd name="T26" fmla="*/ 47 w 404"/>
              <a:gd name="T27" fmla="*/ 334 h 404"/>
              <a:gd name="T28" fmla="*/ 124 w 404"/>
              <a:gd name="T29" fmla="*/ 23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4" h="404">
                <a:moveTo>
                  <a:pt x="403" y="360"/>
                </a:moveTo>
                <a:lnTo>
                  <a:pt x="403" y="43"/>
                </a:lnTo>
                <a:cubicBezTo>
                  <a:pt x="403" y="21"/>
                  <a:pt x="386" y="0"/>
                  <a:pt x="360" y="0"/>
                </a:cubicBezTo>
                <a:lnTo>
                  <a:pt x="47" y="0"/>
                </a:lnTo>
                <a:cubicBezTo>
                  <a:pt x="22" y="0"/>
                  <a:pt x="0" y="21"/>
                  <a:pt x="0" y="43"/>
                </a:cubicBezTo>
                <a:lnTo>
                  <a:pt x="0" y="360"/>
                </a:lnTo>
                <a:cubicBezTo>
                  <a:pt x="0" y="381"/>
                  <a:pt x="22" y="403"/>
                  <a:pt x="47" y="403"/>
                </a:cubicBezTo>
                <a:lnTo>
                  <a:pt x="360" y="403"/>
                </a:lnTo>
                <a:cubicBezTo>
                  <a:pt x="386" y="403"/>
                  <a:pt x="403" y="381"/>
                  <a:pt x="403" y="360"/>
                </a:cubicBezTo>
                <a:close/>
                <a:moveTo>
                  <a:pt x="124" y="236"/>
                </a:moveTo>
                <a:lnTo>
                  <a:pt x="180" y="304"/>
                </a:lnTo>
                <a:lnTo>
                  <a:pt x="257" y="201"/>
                </a:lnTo>
                <a:lnTo>
                  <a:pt x="360" y="334"/>
                </a:lnTo>
                <a:lnTo>
                  <a:pt x="47" y="334"/>
                </a:lnTo>
                <a:lnTo>
                  <a:pt x="124" y="2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28" name="Freeform 33"/>
          <p:cNvSpPr>
            <a:spLocks noEditPoints="1"/>
          </p:cNvSpPr>
          <p:nvPr/>
        </p:nvSpPr>
        <p:spPr bwMode="auto">
          <a:xfrm>
            <a:off x="4759048" y="5163992"/>
            <a:ext cx="162000" cy="16200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26" name="Picture 2" descr="C:\Users\Administrator\Downloads\paperclip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104" y="5163992"/>
            <a:ext cx="162000" cy="16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0" name="Picture 5" descr="C:\Users\Administrator\Downloads\megaphone (1)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7719" y="5160720"/>
            <a:ext cx="180000" cy="1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5" name="Freeform 25"/>
          <p:cNvSpPr>
            <a:spLocks noChangeAspect="1" noEditPoints="1"/>
          </p:cNvSpPr>
          <p:nvPr/>
        </p:nvSpPr>
        <p:spPr bwMode="auto">
          <a:xfrm>
            <a:off x="9001836" y="5156032"/>
            <a:ext cx="146880" cy="180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텍스트 상자 31"/>
          <p:cNvSpPr txBox="1"/>
          <p:nvPr/>
        </p:nvSpPr>
        <p:spPr>
          <a:xfrm>
            <a:off x="3921477" y="1191585"/>
            <a:ext cx="3626844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* </a:t>
            </a:r>
            <a:r>
              <a:rPr kumimoji="1" lang="ko-KR" altLang="en-US" sz="1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더보기버튼</a:t>
            </a: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복사를 선택 했을 경우 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3921477" y="3873162"/>
            <a:ext cx="3626844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* </a:t>
            </a:r>
            <a:r>
              <a:rPr kumimoji="1" lang="ko-KR" altLang="en-US" sz="1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더보기버튼</a:t>
            </a: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1" lang="ko-KR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수정을 선택 했을 경우 </a:t>
            </a: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08" name="Group 3"/>
          <p:cNvGraphicFramePr>
            <a:graphicFrameLocks noGrp="1"/>
          </p:cNvGraphicFramePr>
          <p:nvPr>
            <p:extLst/>
          </p:nvPr>
        </p:nvGraphicFramePr>
        <p:xfrm>
          <a:off x="9239749" y="745639"/>
          <a:ext cx="2892502" cy="23610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더보기버튼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&gt;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복사를 선택 했을 경우 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1-1 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해당 글의 복사할 그룹을 선택한다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. </a:t>
                      </a: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수정을 선택 했을 경우 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2-1 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취소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버튼을 선택하였을 경우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취소할 경우 입력된 내용아 모두 사라집니다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 </a:t>
                      </a: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취소하시겠습니까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 alert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2-2 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하단에 입력되어 있는 내용을 수정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후 저장 버튼을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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수정한 글이 등록된다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. 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삭제를 선택 했을 경우 </a:t>
                      </a:r>
                      <a:endParaRPr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정말 삭제하시겠습니까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? “ alert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노출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2" name="타원 111"/>
          <p:cNvSpPr/>
          <p:nvPr/>
        </p:nvSpPr>
        <p:spPr>
          <a:xfrm>
            <a:off x="3861961" y="4036265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3" name="타원 112"/>
          <p:cNvSpPr/>
          <p:nvPr/>
        </p:nvSpPr>
        <p:spPr>
          <a:xfrm>
            <a:off x="4817214" y="2183942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8" name="타원 117"/>
          <p:cNvSpPr/>
          <p:nvPr/>
        </p:nvSpPr>
        <p:spPr>
          <a:xfrm>
            <a:off x="7836432" y="5002912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타원 118"/>
          <p:cNvSpPr/>
          <p:nvPr/>
        </p:nvSpPr>
        <p:spPr>
          <a:xfrm>
            <a:off x="8402407" y="5002912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8" name="Rounded Rectangle 364"/>
          <p:cNvSpPr/>
          <p:nvPr/>
        </p:nvSpPr>
        <p:spPr>
          <a:xfrm>
            <a:off x="8401064" y="5173851"/>
            <a:ext cx="360000" cy="180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취소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89" name="Rounded Rectangle 358"/>
          <p:cNvSpPr/>
          <p:nvPr/>
        </p:nvSpPr>
        <p:spPr>
          <a:xfrm>
            <a:off x="7972129" y="5175145"/>
            <a:ext cx="360000" cy="18000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등록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0" name="Rectangle 304"/>
          <p:cNvSpPr/>
          <p:nvPr/>
        </p:nvSpPr>
        <p:spPr>
          <a:xfrm>
            <a:off x="3940331" y="1461164"/>
            <a:ext cx="3906000" cy="29555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4089991" y="1444537"/>
            <a:ext cx="859580" cy="297022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복사할 그룹 선택</a:t>
            </a:r>
            <a:endParaRPr kumimoji="1" lang="en-US" altLang="ko-KR" sz="900" b="1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3861961" y="1397069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91" name="그룹 90"/>
          <p:cNvGrpSpPr/>
          <p:nvPr/>
        </p:nvGrpSpPr>
        <p:grpSpPr>
          <a:xfrm>
            <a:off x="5386019" y="3048243"/>
            <a:ext cx="991613" cy="189478"/>
            <a:chOff x="2611118" y="5246132"/>
            <a:chExt cx="991613" cy="189478"/>
          </a:xfrm>
        </p:grpSpPr>
        <p:sp>
          <p:nvSpPr>
            <p:cNvPr id="92" name="Rounded Rectangle 658"/>
            <p:cNvSpPr/>
            <p:nvPr/>
          </p:nvSpPr>
          <p:spPr>
            <a:xfrm>
              <a:off x="3125717" y="5246132"/>
              <a:ext cx="477014" cy="189478"/>
            </a:xfrm>
            <a:prstGeom prst="roundRect">
              <a:avLst>
                <a:gd name="adj" fmla="val 8420"/>
              </a:avLst>
            </a:prstGeom>
            <a:solidFill>
              <a:schemeClr val="bg1">
                <a:lumMod val="85000"/>
              </a:schemeClr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완료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93" name="Rounded Rectangle 659"/>
            <p:cNvSpPr/>
            <p:nvPr/>
          </p:nvSpPr>
          <p:spPr>
            <a:xfrm>
              <a:off x="2611118" y="5246132"/>
              <a:ext cx="477014" cy="189478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취소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</p:grpSp>
      <p:pic>
        <p:nvPicPr>
          <p:cNvPr id="81" name="Picture 3" descr="C:\Users\Administrator\Downloads\briefcase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64417" y="5159301"/>
            <a:ext cx="180000" cy="1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7" name="그룹 56"/>
          <p:cNvGrpSpPr/>
          <p:nvPr/>
        </p:nvGrpSpPr>
        <p:grpSpPr>
          <a:xfrm>
            <a:off x="9468221" y="3265047"/>
            <a:ext cx="2138737" cy="2262829"/>
            <a:chOff x="9468221" y="3265047"/>
            <a:chExt cx="2138737" cy="2262829"/>
          </a:xfrm>
        </p:grpSpPr>
        <p:sp>
          <p:nvSpPr>
            <p:cNvPr id="12" name="직사각형 11"/>
            <p:cNvSpPr/>
            <p:nvPr/>
          </p:nvSpPr>
          <p:spPr>
            <a:xfrm>
              <a:off x="9471743" y="3441678"/>
              <a:ext cx="2135215" cy="208619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40" name="그룹 39"/>
            <p:cNvGrpSpPr/>
            <p:nvPr/>
          </p:nvGrpSpPr>
          <p:grpSpPr>
            <a:xfrm>
              <a:off x="9471743" y="3852315"/>
              <a:ext cx="2135215" cy="1675561"/>
              <a:chOff x="9471743" y="3577995"/>
              <a:chExt cx="2135215" cy="1675561"/>
            </a:xfrm>
          </p:grpSpPr>
          <p:sp>
            <p:nvSpPr>
              <p:cNvPr id="38" name="직사각형 37"/>
              <p:cNvSpPr/>
              <p:nvPr/>
            </p:nvSpPr>
            <p:spPr>
              <a:xfrm>
                <a:off x="9471743" y="4315866"/>
                <a:ext cx="2135215" cy="206258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  <p:grpSp>
            <p:nvGrpSpPr>
              <p:cNvPr id="39" name="그룹 38"/>
              <p:cNvGrpSpPr/>
              <p:nvPr/>
            </p:nvGrpSpPr>
            <p:grpSpPr>
              <a:xfrm>
                <a:off x="9622475" y="3577995"/>
                <a:ext cx="463836" cy="1675561"/>
                <a:chOff x="9622475" y="3577995"/>
                <a:chExt cx="463836" cy="1675561"/>
              </a:xfrm>
            </p:grpSpPr>
            <p:sp>
              <p:nvSpPr>
                <p:cNvPr id="35" name="TextBox 34"/>
                <p:cNvSpPr txBox="1"/>
                <p:nvPr/>
              </p:nvSpPr>
              <p:spPr>
                <a:xfrm>
                  <a:off x="9622475" y="3577995"/>
                  <a:ext cx="463836" cy="180425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95000"/>
                          <a:lumOff val="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기본 그룹</a:t>
                  </a:r>
                  <a:endPara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95000"/>
                        <a:lumOff val="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96" name="TextBox 95"/>
                <p:cNvSpPr txBox="1"/>
                <p:nvPr/>
              </p:nvSpPr>
              <p:spPr>
                <a:xfrm>
                  <a:off x="9623563" y="3744562"/>
                  <a:ext cx="337199" cy="150899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1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2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rgbClr val="4F81BD">
                          <a:lumMod val="75000"/>
                        </a:srgb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1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rgbClr val="4F81BD">
                          <a:lumMod val="75000"/>
                        </a:srgb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3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4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5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6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7</a:t>
                  </a:r>
                </a:p>
                <a:p>
                  <a:pPr marL="0" marR="0" lvl="0" indent="0" algn="l" defTabSz="914400" rtl="0" eaLnBrk="1" fontAlgn="base" latinLnBrk="1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</a:t>
                  </a:r>
                  <a:r>
                    <a:rPr kumimoji="1" lang="en-US" altLang="ko-KR" sz="8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8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103" name="Freeform 429"/>
                <p:cNvSpPr>
                  <a:spLocks noChangeArrowheads="1"/>
                </p:cNvSpPr>
                <p:nvPr/>
              </p:nvSpPr>
              <p:spPr bwMode="auto">
                <a:xfrm>
                  <a:off x="9959263" y="4187098"/>
                  <a:ext cx="110114" cy="83948"/>
                </a:xfrm>
                <a:custGeom>
                  <a:avLst/>
                  <a:gdLst>
                    <a:gd name="T0" fmla="*/ 145 w 446"/>
                    <a:gd name="T1" fmla="*/ 266 h 340"/>
                    <a:gd name="T2" fmla="*/ 39 w 446"/>
                    <a:gd name="T3" fmla="*/ 160 h 340"/>
                    <a:gd name="T4" fmla="*/ 0 w 446"/>
                    <a:gd name="T5" fmla="*/ 194 h 340"/>
                    <a:gd name="T6" fmla="*/ 145 w 446"/>
                    <a:gd name="T7" fmla="*/ 339 h 340"/>
                    <a:gd name="T8" fmla="*/ 445 w 446"/>
                    <a:gd name="T9" fmla="*/ 34 h 340"/>
                    <a:gd name="T10" fmla="*/ 411 w 446"/>
                    <a:gd name="T11" fmla="*/ 0 h 340"/>
                    <a:gd name="T12" fmla="*/ 145 w 446"/>
                    <a:gd name="T13" fmla="*/ 266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6" h="340">
                      <a:moveTo>
                        <a:pt x="145" y="266"/>
                      </a:moveTo>
                      <a:lnTo>
                        <a:pt x="39" y="160"/>
                      </a:lnTo>
                      <a:lnTo>
                        <a:pt x="0" y="194"/>
                      </a:lnTo>
                      <a:lnTo>
                        <a:pt x="145" y="339"/>
                      </a:lnTo>
                      <a:lnTo>
                        <a:pt x="445" y="34"/>
                      </a:lnTo>
                      <a:lnTo>
                        <a:pt x="411" y="0"/>
                      </a:lnTo>
                      <a:lnTo>
                        <a:pt x="145" y="266"/>
                      </a:ln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accent5"/>
                  </a:solidFill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srgbClr val="4F81BD">
                        <a:lumMod val="75000"/>
                      </a:srgbClr>
                    </a:solidFill>
                    <a:effectLst/>
                    <a:uLnTx/>
                    <a:uFillTx/>
                    <a:latin typeface="Roboto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4" name="직사각형 103"/>
            <p:cNvSpPr/>
            <p:nvPr/>
          </p:nvSpPr>
          <p:spPr>
            <a:xfrm>
              <a:off x="9483473" y="3509506"/>
              <a:ext cx="2104470" cy="3309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>
              <a:off x="9531342" y="3559119"/>
              <a:ext cx="2048287" cy="216000"/>
              <a:chOff x="9531342" y="3525867"/>
              <a:chExt cx="2048287" cy="216000"/>
            </a:xfrm>
          </p:grpSpPr>
          <p:sp>
            <p:nvSpPr>
              <p:cNvPr id="116" name="모서리가 둥근 직사각형 115"/>
              <p:cNvSpPr/>
              <p:nvPr/>
            </p:nvSpPr>
            <p:spPr>
              <a:xfrm>
                <a:off x="9531342" y="3525867"/>
                <a:ext cx="2048287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pSp>
            <p:nvGrpSpPr>
              <p:cNvPr id="117" name="그룹 116"/>
              <p:cNvGrpSpPr/>
              <p:nvPr/>
            </p:nvGrpSpPr>
            <p:grpSpPr>
              <a:xfrm>
                <a:off x="9675401" y="3525867"/>
                <a:ext cx="1771795" cy="216000"/>
                <a:chOff x="2431066" y="4910563"/>
                <a:chExt cx="1771795" cy="216000"/>
              </a:xfrm>
            </p:grpSpPr>
            <p:sp>
              <p:nvSpPr>
                <p:cNvPr id="122" name="Freeform 10"/>
                <p:cNvSpPr>
                  <a:spLocks noChangeAspect="1" noChangeArrowheads="1"/>
                </p:cNvSpPr>
                <p:nvPr/>
              </p:nvSpPr>
              <p:spPr bwMode="auto">
                <a:xfrm>
                  <a:off x="4094664" y="4969558"/>
                  <a:ext cx="108197" cy="108000"/>
                </a:xfrm>
                <a:custGeom>
                  <a:avLst/>
                  <a:gdLst>
                    <a:gd name="T0" fmla="*/ 332 w 471"/>
                    <a:gd name="T1" fmla="*/ 296 h 471"/>
                    <a:gd name="T2" fmla="*/ 312 w 471"/>
                    <a:gd name="T3" fmla="*/ 296 h 471"/>
                    <a:gd name="T4" fmla="*/ 307 w 471"/>
                    <a:gd name="T5" fmla="*/ 286 h 471"/>
                    <a:gd name="T6" fmla="*/ 348 w 471"/>
                    <a:gd name="T7" fmla="*/ 173 h 471"/>
                    <a:gd name="T8" fmla="*/ 174 w 471"/>
                    <a:gd name="T9" fmla="*/ 0 h 471"/>
                    <a:gd name="T10" fmla="*/ 0 w 471"/>
                    <a:gd name="T11" fmla="*/ 173 h 471"/>
                    <a:gd name="T12" fmla="*/ 174 w 471"/>
                    <a:gd name="T13" fmla="*/ 347 h 471"/>
                    <a:gd name="T14" fmla="*/ 286 w 471"/>
                    <a:gd name="T15" fmla="*/ 306 h 471"/>
                    <a:gd name="T16" fmla="*/ 296 w 471"/>
                    <a:gd name="T17" fmla="*/ 311 h 471"/>
                    <a:gd name="T18" fmla="*/ 296 w 471"/>
                    <a:gd name="T19" fmla="*/ 337 h 471"/>
                    <a:gd name="T20" fmla="*/ 429 w 471"/>
                    <a:gd name="T21" fmla="*/ 470 h 471"/>
                    <a:gd name="T22" fmla="*/ 470 w 471"/>
                    <a:gd name="T23" fmla="*/ 429 h 471"/>
                    <a:gd name="T24" fmla="*/ 332 w 471"/>
                    <a:gd name="T25" fmla="*/ 296 h 471"/>
                    <a:gd name="T26" fmla="*/ 174 w 471"/>
                    <a:gd name="T27" fmla="*/ 296 h 471"/>
                    <a:gd name="T28" fmla="*/ 56 w 471"/>
                    <a:gd name="T29" fmla="*/ 173 h 471"/>
                    <a:gd name="T30" fmla="*/ 174 w 471"/>
                    <a:gd name="T31" fmla="*/ 56 h 471"/>
                    <a:gd name="T32" fmla="*/ 296 w 471"/>
                    <a:gd name="T33" fmla="*/ 173 h 471"/>
                    <a:gd name="T34" fmla="*/ 174 w 471"/>
                    <a:gd name="T35" fmla="*/ 296 h 4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71" h="471">
                      <a:moveTo>
                        <a:pt x="332" y="296"/>
                      </a:moveTo>
                      <a:lnTo>
                        <a:pt x="312" y="296"/>
                      </a:lnTo>
                      <a:lnTo>
                        <a:pt x="307" y="286"/>
                      </a:lnTo>
                      <a:cubicBezTo>
                        <a:pt x="332" y="255"/>
                        <a:pt x="348" y="219"/>
                        <a:pt x="348" y="173"/>
                      </a:cubicBezTo>
                      <a:cubicBezTo>
                        <a:pt x="348" y="76"/>
                        <a:pt x="271" y="0"/>
                        <a:pt x="174" y="0"/>
                      </a:cubicBezTo>
                      <a:cubicBezTo>
                        <a:pt x="77" y="0"/>
                        <a:pt x="0" y="76"/>
                        <a:pt x="0" y="173"/>
                      </a:cubicBezTo>
                      <a:cubicBezTo>
                        <a:pt x="0" y="270"/>
                        <a:pt x="77" y="347"/>
                        <a:pt x="174" y="347"/>
                      </a:cubicBezTo>
                      <a:cubicBezTo>
                        <a:pt x="215" y="347"/>
                        <a:pt x="256" y="332"/>
                        <a:pt x="286" y="306"/>
                      </a:cubicBezTo>
                      <a:lnTo>
                        <a:pt x="296" y="311"/>
                      </a:lnTo>
                      <a:lnTo>
                        <a:pt x="296" y="337"/>
                      </a:lnTo>
                      <a:lnTo>
                        <a:pt x="429" y="470"/>
                      </a:lnTo>
                      <a:lnTo>
                        <a:pt x="470" y="429"/>
                      </a:lnTo>
                      <a:lnTo>
                        <a:pt x="332" y="296"/>
                      </a:lnTo>
                      <a:close/>
                      <a:moveTo>
                        <a:pt x="174" y="296"/>
                      </a:moveTo>
                      <a:cubicBezTo>
                        <a:pt x="107" y="296"/>
                        <a:pt x="56" y="240"/>
                        <a:pt x="56" y="173"/>
                      </a:cubicBezTo>
                      <a:cubicBezTo>
                        <a:pt x="56" y="107"/>
                        <a:pt x="107" y="56"/>
                        <a:pt x="174" y="56"/>
                      </a:cubicBezTo>
                      <a:cubicBezTo>
                        <a:pt x="240" y="56"/>
                        <a:pt x="296" y="107"/>
                        <a:pt x="296" y="173"/>
                      </a:cubicBezTo>
                      <a:cubicBezTo>
                        <a:pt x="296" y="240"/>
                        <a:pt x="240" y="296"/>
                        <a:pt x="174" y="296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Roboto" charset="0"/>
                    <a:ea typeface="ＭＳ Ｐゴシック" charset="0"/>
                  </a:endParaRPr>
                </a:p>
              </p:txBody>
            </p:sp>
            <p:sp>
              <p:nvSpPr>
                <p:cNvPr id="124" name="텍스트 상자 31"/>
                <p:cNvSpPr txBox="1"/>
                <p:nvPr/>
              </p:nvSpPr>
              <p:spPr>
                <a:xfrm>
                  <a:off x="2431066" y="4910563"/>
                  <a:ext cx="937423" cy="2160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600" b="0" i="0" u="none" strike="noStrike" kern="1200" cap="none" spc="0" normalizeH="0" baseline="0" noProof="0" dirty="0" err="1" smtClean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그룹명</a:t>
                  </a:r>
                  <a:r>
                    <a:rPr kumimoji="1" lang="ko-KR" altLang="en-US" sz="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 검색</a:t>
                  </a:r>
                  <a:endParaRPr kumimoji="1" lang="ko-KR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grpSp>
          <p:nvGrpSpPr>
            <p:cNvPr id="42" name="그룹 41"/>
            <p:cNvGrpSpPr/>
            <p:nvPr/>
          </p:nvGrpSpPr>
          <p:grpSpPr>
            <a:xfrm>
              <a:off x="9468221" y="3265047"/>
              <a:ext cx="2138737" cy="216000"/>
              <a:chOff x="9468221" y="3265047"/>
              <a:chExt cx="2138737" cy="216000"/>
            </a:xfrm>
          </p:grpSpPr>
          <p:sp>
            <p:nvSpPr>
              <p:cNvPr id="85" name="Rectangle 304"/>
              <p:cNvSpPr>
                <a:spLocks noChangeArrowheads="1"/>
              </p:cNvSpPr>
              <p:nvPr/>
            </p:nvSpPr>
            <p:spPr bwMode="auto">
              <a:xfrm>
                <a:off x="9468221" y="3265047"/>
                <a:ext cx="2138737" cy="216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algn="ctr">
                <a:solidFill>
                  <a:schemeClr val="bg1">
                    <a:lumMod val="75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나눔고딕" pitchFamily="50" charset="-127"/>
                    <a:ea typeface="나눔고딕" pitchFamily="50" charset="-127"/>
                    <a:cs typeface="+mn-cs"/>
                  </a:rPr>
                  <a:t>A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나눔고딕" pitchFamily="50" charset="-127"/>
                    <a:ea typeface="나눔고딕" pitchFamily="50" charset="-127"/>
                    <a:cs typeface="+mn-cs"/>
                  </a:rPr>
                  <a:t>통신사 서비스 </a:t>
                </a:r>
                <a:r>
                  <a:rPr kumimoji="1" lang="en-US" altLang="ko-KR" sz="8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나눔고딕" pitchFamily="50" charset="-127"/>
                    <a:ea typeface="나눔고딕" pitchFamily="50" charset="-127"/>
                    <a:cs typeface="+mn-cs"/>
                  </a:rPr>
                  <a:t>TF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나눔고딕" pitchFamily="50" charset="-127"/>
                  <a:ea typeface="나눔고딕" pitchFamily="50" charset="-127"/>
                  <a:cs typeface="+mn-cs"/>
                </a:endParaRPr>
              </a:p>
            </p:txBody>
          </p:sp>
          <p:sp>
            <p:nvSpPr>
              <p:cNvPr id="121" name="Triangle 942"/>
              <p:cNvSpPr>
                <a:spLocks noChangeAspect="1"/>
              </p:cNvSpPr>
              <p:nvPr/>
            </p:nvSpPr>
            <p:spPr>
              <a:xfrm>
                <a:off x="11461889" y="3359753"/>
                <a:ext cx="75371" cy="43200"/>
              </a:xfrm>
              <a:prstGeom prst="triangl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ＭＳ Ｐゴシック" charset="0"/>
                </a:endParaRPr>
              </a:p>
            </p:txBody>
          </p:sp>
        </p:grpSp>
      </p:grpSp>
      <p:grpSp>
        <p:nvGrpSpPr>
          <p:cNvPr id="129" name="그룹 423"/>
          <p:cNvGrpSpPr/>
          <p:nvPr/>
        </p:nvGrpSpPr>
        <p:grpSpPr>
          <a:xfrm rot="17215884" flipV="1">
            <a:off x="7525176" y="1593390"/>
            <a:ext cx="1090514" cy="2639127"/>
            <a:chOff x="7266253" y="-1251866"/>
            <a:chExt cx="1090514" cy="2687023"/>
          </a:xfrm>
        </p:grpSpPr>
        <p:sp>
          <p:nvSpPr>
            <p:cNvPr id="130" name="AutoShape 133"/>
            <p:cNvSpPr>
              <a:spLocks/>
            </p:cNvSpPr>
            <p:nvPr/>
          </p:nvSpPr>
          <p:spPr bwMode="auto">
            <a:xfrm>
              <a:off x="7913246" y="1318196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cxnSp>
          <p:nvCxnSpPr>
            <p:cNvPr id="131" name="직선 화살표 연결선 425"/>
            <p:cNvCxnSpPr>
              <a:stCxn id="130" idx="0"/>
            </p:cNvCxnSpPr>
            <p:nvPr/>
          </p:nvCxnSpPr>
          <p:spPr>
            <a:xfrm rot="17215884" flipV="1">
              <a:off x="6547834" y="-533447"/>
              <a:ext cx="2527351" cy="1090514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pPr marL="0" marR="0" lvl="0" indent="0" algn="l" defTabSz="914400" rtl="0" eaLnBrk="0" fontAlgn="base" latinLnBrk="1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67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j-cs"/>
              </a:rPr>
              <a:t>복사할 그룹 선택</a:t>
            </a:r>
            <a:endParaRPr kumimoji="0" lang="ko-KR" altLang="en-US" sz="867" b="0" i="0" u="none" strike="noStrike" kern="120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j-cs"/>
            </a:endParaRPr>
          </a:p>
        </p:txBody>
      </p:sp>
      <p:sp>
        <p:nvSpPr>
          <p:cNvPr id="120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71464" marR="0" lvl="0" indent="-371464" algn="l" defTabSz="914400" rtl="0" eaLnBrk="0" fontAlgn="base" latinLnBrk="1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6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SQ5.2.1.4</a:t>
            </a:r>
            <a:endParaRPr kumimoji="0" lang="ko-KR" altLang="en-US" sz="867" b="0" i="0" u="none" strike="noStrike" kern="120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123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71464" marR="0" lvl="0" indent="-371464" algn="l" defTabSz="914400" rtl="0" eaLnBrk="0" fontAlgn="base" latinLnBrk="1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67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스퀘어 홈</a:t>
            </a:r>
            <a:r>
              <a:rPr kumimoji="0" lang="en-US" altLang="ko-KR" sz="867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&gt; </a:t>
            </a:r>
            <a:r>
              <a:rPr kumimoji="0" lang="ko-KR" altLang="en-US" sz="867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그룹 </a:t>
            </a:r>
            <a:r>
              <a:rPr kumimoji="0" lang="en-US" altLang="ko-KR" sz="867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&gt; </a:t>
            </a:r>
            <a:r>
              <a:rPr kumimoji="0" lang="ko-KR" altLang="en-US" sz="867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워크피드</a:t>
            </a:r>
            <a:endParaRPr kumimoji="0" lang="ko-KR" altLang="en-US" sz="867" b="0" i="0" u="none" strike="noStrike" kern="120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sp>
        <p:nvSpPr>
          <p:cNvPr id="127" name="내용 개체 틀 3"/>
          <p:cNvSpPr txBox="1">
            <a:spLocks/>
          </p:cNvSpPr>
          <p:nvPr/>
        </p:nvSpPr>
        <p:spPr>
          <a:xfrm>
            <a:off x="7101525" y="1469867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71464" marR="0" lvl="0" indent="-371464" algn="l" defTabSz="914400" rtl="0" eaLnBrk="0" fontAlgn="base" latinLnBrk="1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67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rPr>
              <a:t>SQ5.2.1.4</a:t>
            </a:r>
            <a:endParaRPr kumimoji="0" lang="ko-KR" altLang="en-US" sz="867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  <a:cs typeface="+mn-cs"/>
            </a:endParaRPr>
          </a:p>
        </p:txBody>
      </p:sp>
      <p:grpSp>
        <p:nvGrpSpPr>
          <p:cNvPr id="109" name="그룹 108"/>
          <p:cNvGrpSpPr/>
          <p:nvPr/>
        </p:nvGrpSpPr>
        <p:grpSpPr>
          <a:xfrm>
            <a:off x="299550" y="2654866"/>
            <a:ext cx="930081" cy="115755"/>
            <a:chOff x="4297396" y="1127703"/>
            <a:chExt cx="930081" cy="115755"/>
          </a:xfrm>
        </p:grpSpPr>
        <p:grpSp>
          <p:nvGrpSpPr>
            <p:cNvPr id="110" name="그룹 109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133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35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42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en-US" sz="1633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Roboto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3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4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136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37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3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grpSp>
                <p:nvGrpSpPr>
                  <p:cNvPr id="138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39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140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141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</p:grpSp>
          </p:grpSp>
          <p:pic>
            <p:nvPicPr>
              <p:cNvPr id="134" name="그림 133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32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144" name="Rounded Rectangle 861"/>
          <p:cNvSpPr/>
          <p:nvPr/>
        </p:nvSpPr>
        <p:spPr>
          <a:xfrm>
            <a:off x="4089991" y="4896888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#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태그를 입력하세요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X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8534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70964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워크피드 </a:t>
            </a:r>
            <a:r>
              <a:rPr lang="en-US" altLang="ko-KR" sz="2800" b="1" smtClean="0"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z="2800" b="1" smtClean="0"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메일</a:t>
            </a:r>
            <a:r>
              <a:rPr lang="en-US" altLang="ko-KR" sz="2800" b="1" smtClean="0">
                <a:latin typeface="+mn-ea"/>
                <a:ea typeface="+mn-ea"/>
              </a:rPr>
              <a:t>/</a:t>
            </a:r>
            <a:r>
              <a:rPr lang="ko-KR" altLang="en-US" sz="2800" b="1" smtClean="0">
                <a:latin typeface="+mn-ea"/>
                <a:ea typeface="+mn-ea"/>
              </a:rPr>
              <a:t>게시판 연계</a:t>
            </a:r>
            <a:r>
              <a:rPr lang="en-US" altLang="ko-KR" sz="2800" b="1" smtClean="0">
                <a:latin typeface="+mn-ea"/>
                <a:ea typeface="+mn-ea"/>
              </a:rPr>
              <a:t>(</a:t>
            </a:r>
            <a:r>
              <a:rPr lang="ko-KR" altLang="en-US" sz="2800" b="1" smtClean="0">
                <a:latin typeface="+mn-ea"/>
                <a:ea typeface="+mn-ea"/>
              </a:rPr>
              <a:t>공유</a:t>
            </a:r>
            <a:r>
              <a:rPr lang="en-US" altLang="ko-KR" sz="2800" b="1" smtClean="0">
                <a:latin typeface="+mn-ea"/>
                <a:ea typeface="+mn-ea"/>
              </a:rPr>
              <a:t>)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8036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"/>
            </p:custDataLst>
          </p:nvPr>
        </p:nvSpPr>
        <p:spPr>
          <a:xfrm>
            <a:off x="319652" y="602456"/>
            <a:ext cx="4924821" cy="545950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43543" tIns="43543" rIns="43543" bIns="43543" anchor="ctr"/>
          <a:lstStyle/>
          <a:p>
            <a:endParaRPr lang="en-US" sz="2057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" name="텍스트 상자 31"/>
          <p:cNvSpPr txBox="1"/>
          <p:nvPr/>
        </p:nvSpPr>
        <p:spPr>
          <a:xfrm>
            <a:off x="422113" y="929627"/>
            <a:ext cx="1700125" cy="1186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71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 쓰기</a:t>
            </a:r>
          </a:p>
        </p:txBody>
      </p:sp>
      <p:cxnSp>
        <p:nvCxnSpPr>
          <p:cNvPr id="11" name="직선 연결선[R] 7"/>
          <p:cNvCxnSpPr/>
          <p:nvPr/>
        </p:nvCxnSpPr>
        <p:spPr>
          <a:xfrm>
            <a:off x="323066" y="1133066"/>
            <a:ext cx="4915406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2" name="Rounded Rectangle 289"/>
          <p:cNvSpPr/>
          <p:nvPr/>
        </p:nvSpPr>
        <p:spPr>
          <a:xfrm>
            <a:off x="1458532" y="1215205"/>
            <a:ext cx="462857" cy="160912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r>
              <a: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미리보기</a:t>
            </a:r>
            <a:endParaRPr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" name="Rounded Rectangle 290"/>
          <p:cNvSpPr/>
          <p:nvPr/>
        </p:nvSpPr>
        <p:spPr>
          <a:xfrm>
            <a:off x="940570" y="1215205"/>
            <a:ext cx="462857" cy="160912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9525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r>
              <a: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임시저장</a:t>
            </a:r>
            <a:endParaRPr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4" name="직선 연결선[R] 7"/>
          <p:cNvCxnSpPr/>
          <p:nvPr/>
        </p:nvCxnSpPr>
        <p:spPr>
          <a:xfrm>
            <a:off x="323066" y="1450666"/>
            <a:ext cx="4915406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18" name="Group 6"/>
          <p:cNvGrpSpPr/>
          <p:nvPr/>
        </p:nvGrpSpPr>
        <p:grpSpPr>
          <a:xfrm>
            <a:off x="419721" y="2077387"/>
            <a:ext cx="4773295" cy="3696087"/>
            <a:chOff x="515219" y="2619932"/>
            <a:chExt cx="5568844" cy="4312101"/>
          </a:xfrm>
        </p:grpSpPr>
        <p:pic>
          <p:nvPicPr>
            <p:cNvPr id="20" name="Picture 206"/>
            <p:cNvPicPr>
              <a:picLocks noChangeAspect="1"/>
            </p:cNvPicPr>
            <p:nvPr/>
          </p:nvPicPr>
          <p:blipFill rotWithShape="1"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00" t="36531" r="3472" b="8109"/>
            <a:stretch/>
          </p:blipFill>
          <p:spPr>
            <a:xfrm>
              <a:off x="515219" y="2619932"/>
              <a:ext cx="5568844" cy="2717092"/>
            </a:xfrm>
            <a:prstGeom prst="rect">
              <a:avLst/>
            </a:prstGeom>
          </p:spPr>
        </p:pic>
        <p:pic>
          <p:nvPicPr>
            <p:cNvPr id="21" name="Picture 219"/>
            <p:cNvPicPr>
              <a:picLocks noChangeAspect="1"/>
            </p:cNvPicPr>
            <p:nvPr/>
          </p:nvPicPr>
          <p:blipFill rotWithShape="1"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00" t="57489" r="3472" b="8109"/>
            <a:stretch/>
          </p:blipFill>
          <p:spPr>
            <a:xfrm>
              <a:off x="515219" y="5243560"/>
              <a:ext cx="5568844" cy="1688473"/>
            </a:xfrm>
            <a:prstGeom prst="rect">
              <a:avLst/>
            </a:prstGeom>
          </p:spPr>
        </p:pic>
      </p:grpSp>
      <p:sp>
        <p:nvSpPr>
          <p:cNvPr id="32" name="Rounded Rectangle 266"/>
          <p:cNvSpPr/>
          <p:nvPr/>
        </p:nvSpPr>
        <p:spPr>
          <a:xfrm>
            <a:off x="423621" y="1215205"/>
            <a:ext cx="460085" cy="160912"/>
          </a:xfrm>
          <a:prstGeom prst="roundRect">
            <a:avLst>
              <a:gd name="adj" fmla="val 8420"/>
            </a:avLst>
          </a:prstGeom>
          <a:solidFill>
            <a:schemeClr val="bg1">
              <a:lumMod val="85000"/>
            </a:schemeClr>
          </a:solidFill>
          <a:ln w="9525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>
              <a:lnSpc>
                <a:spcPct val="120000"/>
              </a:lnSpc>
            </a:pPr>
            <a:r>
              <a:rPr lang="ko-KR" altLang="en-US" sz="6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보내기</a:t>
            </a:r>
            <a:endParaRPr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45" name="Group 158"/>
          <p:cNvGrpSpPr/>
          <p:nvPr/>
        </p:nvGrpSpPr>
        <p:grpSpPr>
          <a:xfrm>
            <a:off x="4594633" y="1215205"/>
            <a:ext cx="543456" cy="146977"/>
            <a:chOff x="5293793" y="1614052"/>
            <a:chExt cx="634032" cy="171473"/>
          </a:xfrm>
        </p:grpSpPr>
        <p:sp>
          <p:nvSpPr>
            <p:cNvPr id="46" name="Rounded Rectangle 159"/>
            <p:cNvSpPr/>
            <p:nvPr/>
          </p:nvSpPr>
          <p:spPr>
            <a:xfrm>
              <a:off x="5293793" y="1614052"/>
              <a:ext cx="634032" cy="171473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lang="ko-KR" altLang="en-US" sz="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보내기 옵션</a:t>
              </a:r>
              <a:endParaRPr 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7" name="Triangle 162"/>
            <p:cNvSpPr>
              <a:spLocks noChangeAspect="1"/>
            </p:cNvSpPr>
            <p:nvPr/>
          </p:nvSpPr>
          <p:spPr>
            <a:xfrm flipV="1">
              <a:off x="5792363" y="1690875"/>
              <a:ext cx="75371" cy="43200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400">
                <a:latin typeface="+mn-ea"/>
                <a:ea typeface="+mn-ea"/>
                <a:cs typeface="ＭＳ Ｐゴシック" charset="0"/>
              </a:endParaRPr>
            </a:p>
          </p:txBody>
        </p:sp>
      </p:grpSp>
      <p:grpSp>
        <p:nvGrpSpPr>
          <p:cNvPr id="60" name="그룹 59"/>
          <p:cNvGrpSpPr/>
          <p:nvPr/>
        </p:nvGrpSpPr>
        <p:grpSpPr>
          <a:xfrm>
            <a:off x="3998588" y="1198384"/>
            <a:ext cx="540000" cy="162000"/>
            <a:chOff x="4751211" y="1614052"/>
            <a:chExt cx="540000" cy="162000"/>
          </a:xfrm>
        </p:grpSpPr>
        <p:sp>
          <p:nvSpPr>
            <p:cNvPr id="61" name="Rounded Rectangle 289"/>
            <p:cNvSpPr/>
            <p:nvPr/>
          </p:nvSpPr>
          <p:spPr>
            <a:xfrm>
              <a:off x="4751211" y="1614052"/>
              <a:ext cx="540000" cy="162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>
                <a:lnSpc>
                  <a:spcPct val="130000"/>
                </a:lnSpc>
              </a:pPr>
              <a:r>
                <a: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 </a:t>
              </a:r>
              <a:r>
                <a:rPr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예약발송</a:t>
              </a:r>
              <a:endParaRPr 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2" name="Triangle 265"/>
            <p:cNvSpPr>
              <a:spLocks noChangeAspect="1"/>
            </p:cNvSpPr>
            <p:nvPr/>
          </p:nvSpPr>
          <p:spPr>
            <a:xfrm flipV="1">
              <a:off x="5172299" y="1684805"/>
              <a:ext cx="75371" cy="43200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  <p:grpSp>
        <p:nvGrpSpPr>
          <p:cNvPr id="4" name="그룹 3"/>
          <p:cNvGrpSpPr/>
          <p:nvPr/>
        </p:nvGrpSpPr>
        <p:grpSpPr>
          <a:xfrm>
            <a:off x="319653" y="602456"/>
            <a:ext cx="4924820" cy="237745"/>
            <a:chOff x="319653" y="602456"/>
            <a:chExt cx="4924820" cy="237745"/>
          </a:xfrm>
        </p:grpSpPr>
        <p:sp>
          <p:nvSpPr>
            <p:cNvPr id="6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2"/>
              </p:custDataLst>
            </p:nvPr>
          </p:nvSpPr>
          <p:spPr>
            <a:xfrm>
              <a:off x="319653" y="602456"/>
              <a:ext cx="4924820" cy="23774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  <a:effectLst/>
          </p:spPr>
          <p:txBody>
            <a:bodyPr lIns="43543" tIns="43543" rIns="43543" bIns="43543" anchor="ctr"/>
            <a:lstStyle/>
            <a:p>
              <a:r>
                <a:rPr lang="en-US" sz="8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</a:rPr>
                <a:t> Window</a:t>
              </a:r>
              <a:endParaRPr lang="en-US" sz="800" dirty="0"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endParaRPr>
            </a:p>
          </p:txBody>
        </p:sp>
        <p:sp>
          <p:nvSpPr>
            <p:cNvPr id="7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5033589" y="673703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solidFill>
              <a:schemeClr val="bg1"/>
            </a:solidFill>
            <a:ln w="127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  <a:effectLst/>
            <a:extLst/>
          </p:spPr>
          <p:txBody>
            <a:bodyPr lIns="43543" tIns="43543" rIns="43543" bIns="43543" anchor="ctr"/>
            <a:lstStyle/>
            <a:p>
              <a:endParaRPr lang="en-US" sz="2057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sp>
          <p:nvSpPr>
            <p:cNvPr id="75" name="Panel"/>
            <p:cNvSpPr/>
            <p:nvPr/>
          </p:nvSpPr>
          <p:spPr>
            <a:xfrm>
              <a:off x="4816344" y="673402"/>
              <a:ext cx="104786" cy="9430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76" name="Line"/>
            <p:cNvCxnSpPr>
              <a:cxnSpLocks/>
            </p:cNvCxnSpPr>
            <p:nvPr/>
          </p:nvCxnSpPr>
          <p:spPr bwMode="auto">
            <a:xfrm>
              <a:off x="4581678" y="713760"/>
              <a:ext cx="91624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직사각형 91"/>
          <p:cNvSpPr/>
          <p:nvPr/>
        </p:nvSpPr>
        <p:spPr>
          <a:xfrm>
            <a:off x="588645" y="4899660"/>
            <a:ext cx="4444944" cy="693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FF0000"/>
            </a:solidFill>
            <a:prstDash val="sysDash"/>
          </a:ln>
        </p:spPr>
        <p:txBody>
          <a:bodyPr wrap="none" lIns="72000" tIns="72000" rIns="72000" bIns="72000" rtlCol="0" anchor="t">
            <a:no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다음 달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회식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날짜 정하려고 합니다</a:t>
            </a: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.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일정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확인후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참석가능하신 분들은 댓글로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가능여부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남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…</a:t>
            </a:r>
          </a:p>
          <a:p>
            <a:pPr lvl="0">
              <a:lnSpc>
                <a:spcPct val="150000"/>
              </a:lnSpc>
              <a:defRPr/>
            </a:pPr>
            <a:r>
              <a: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[</a:t>
            </a:r>
            <a:r>
              <a:rPr lang="ko-KR" altLang="en-US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스퀘어</a:t>
            </a:r>
            <a:r>
              <a: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] EGW UX </a:t>
            </a:r>
            <a:r>
              <a:rPr lang="ko-KR" altLang="en-US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개선 프로젝트 </a:t>
            </a:r>
            <a:r>
              <a: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TF </a:t>
            </a:r>
            <a:endParaRPr lang="ko-KR" altLang="en-US" sz="6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/>
            </a:endParaRPr>
          </a:p>
        </p:txBody>
      </p:sp>
      <p:grpSp>
        <p:nvGrpSpPr>
          <p:cNvPr id="93" name="Cutout"/>
          <p:cNvGrpSpPr/>
          <p:nvPr/>
        </p:nvGrpSpPr>
        <p:grpSpPr>
          <a:xfrm rot="16200000">
            <a:off x="2813897" y="-971605"/>
            <a:ext cx="191981" cy="5362575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94" name="Fill"/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" name="Border"/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2135904" y="1608143"/>
            <a:ext cx="1343025" cy="209550"/>
          </a:xfrm>
          <a:prstGeom prst="rect">
            <a:avLst/>
          </a:prstGeom>
          <a:solidFill>
            <a:schemeClr val="bg1"/>
          </a:solidFill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 쓰기 입력폼과 동일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247774" y="94841"/>
            <a:ext cx="1438275" cy="1813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 연계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_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(1/2)</a:t>
            </a:r>
            <a:endParaRPr lang="ko-KR" altLang="en-US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1" name="타원 140"/>
          <p:cNvSpPr/>
          <p:nvPr/>
        </p:nvSpPr>
        <p:spPr>
          <a:xfrm>
            <a:off x="471910" y="4735830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graphicFrame>
        <p:nvGraphicFramePr>
          <p:cNvPr id="142" name="Group 3"/>
          <p:cNvGraphicFramePr>
            <a:graphicFrameLocks noGrp="1"/>
          </p:cNvGraphicFramePr>
          <p:nvPr>
            <p:extLst/>
          </p:nvPr>
        </p:nvGraphicFramePr>
        <p:xfrm>
          <a:off x="9290533" y="786383"/>
          <a:ext cx="2835467" cy="1410050"/>
        </p:xfrm>
        <a:graphic>
          <a:graphicData uri="http://schemas.openxmlformats.org/drawingml/2006/table">
            <a:tbl>
              <a:tblPr/>
              <a:tblGrid>
                <a:gridCol w="256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790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선택 피드를 메일로 보내기 했을 때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메일 쓰기창이 출력되며 하단에 해당 피드 내용이 출력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기본 텍스트 피드 유형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1-1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피드 내용의 첫줄을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지정된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width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초과시 말줄임 처리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1-2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해당 피드가 속해 있는 스퀘어 그룹명 출력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5291284"/>
                  </a:ext>
                </a:extLst>
              </a:tr>
            </a:tbl>
          </a:graphicData>
        </a:graphic>
      </p:graphicFrame>
      <p:sp>
        <p:nvSpPr>
          <p:cNvPr id="143" name="타원 142"/>
          <p:cNvSpPr/>
          <p:nvPr/>
        </p:nvSpPr>
        <p:spPr>
          <a:xfrm>
            <a:off x="490729" y="4978656"/>
            <a:ext cx="130683" cy="138545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1-1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sp>
        <p:nvSpPr>
          <p:cNvPr id="144" name="타원 143"/>
          <p:cNvSpPr/>
          <p:nvPr/>
        </p:nvSpPr>
        <p:spPr>
          <a:xfrm>
            <a:off x="490729" y="5172385"/>
            <a:ext cx="130683" cy="138545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1-2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sp>
        <p:nvSpPr>
          <p:cNvPr id="145" name="직각 삼각형 144"/>
          <p:cNvSpPr/>
          <p:nvPr/>
        </p:nvSpPr>
        <p:spPr>
          <a:xfrm flipH="1">
            <a:off x="11404515" y="5833174"/>
            <a:ext cx="720080" cy="834728"/>
          </a:xfrm>
          <a:prstGeom prst="rtTriangl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12/06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추가</a:t>
            </a:r>
            <a:endParaRPr lang="ko-KR" altLang="en-US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5750354" y="3476967"/>
            <a:ext cx="3437310" cy="3128097"/>
            <a:chOff x="6959669" y="2965963"/>
            <a:chExt cx="3437310" cy="3128097"/>
          </a:xfrm>
        </p:grpSpPr>
        <p:sp>
          <p:nvSpPr>
            <p:cNvPr id="72" name="Rectangle 501"/>
            <p:cNvSpPr/>
            <p:nvPr/>
          </p:nvSpPr>
          <p:spPr>
            <a:xfrm>
              <a:off x="6959669" y="2965963"/>
              <a:ext cx="3437310" cy="31280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417328" y="3097306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김민수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|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UX/UI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74" name="그룹 400"/>
            <p:cNvGrpSpPr/>
            <p:nvPr/>
          </p:nvGrpSpPr>
          <p:grpSpPr>
            <a:xfrm>
              <a:off x="7074536" y="3086837"/>
              <a:ext cx="229236" cy="229194"/>
              <a:chOff x="2625629" y="3735853"/>
              <a:chExt cx="276891" cy="276839"/>
            </a:xfrm>
          </p:grpSpPr>
          <p:sp>
            <p:nvSpPr>
              <p:cNvPr id="133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134" name="Picture 157" descr="man-user (1).png"/>
              <p:cNvPicPr>
                <a:picLocks noChangeAspect="1"/>
              </p:cNvPicPr>
              <p:nvPr/>
            </p:nvPicPr>
            <p:blipFill>
              <a:blip r:embed="rId7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7" name="텍스트 상자 31"/>
            <p:cNvSpPr txBox="1"/>
            <p:nvPr/>
          </p:nvSpPr>
          <p:spPr>
            <a:xfrm>
              <a:off x="7417328" y="3235163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</a:t>
              </a: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시간 전</a:t>
              </a:r>
              <a:endParaRPr kumimoji="1" lang="ko-KR" alt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78" name="Rounded Rectangle 509"/>
            <p:cNvSpPr/>
            <p:nvPr/>
          </p:nvSpPr>
          <p:spPr>
            <a:xfrm>
              <a:off x="7046692" y="4847275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회식</a:t>
              </a:r>
              <a:endParaRPr kumimoji="1" 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79" name="Rounded Rectangle 510"/>
            <p:cNvSpPr/>
            <p:nvPr/>
          </p:nvSpPr>
          <p:spPr>
            <a:xfrm>
              <a:off x="7406248" y="4847275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일정</a:t>
              </a:r>
              <a:endParaRPr kumimoji="1" 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80" name="직선 연결선[R] 33"/>
            <p:cNvCxnSpPr/>
            <p:nvPr/>
          </p:nvCxnSpPr>
          <p:spPr>
            <a:xfrm>
              <a:off x="7048331" y="5029467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Rectangle 507"/>
            <p:cNvSpPr/>
            <p:nvPr/>
          </p:nvSpPr>
          <p:spPr>
            <a:xfrm>
              <a:off x="6959669" y="5269141"/>
              <a:ext cx="3437310" cy="82491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82" name="Group 516"/>
            <p:cNvGrpSpPr/>
            <p:nvPr/>
          </p:nvGrpSpPr>
          <p:grpSpPr>
            <a:xfrm>
              <a:off x="7074536" y="5686084"/>
              <a:ext cx="1612396" cy="229194"/>
              <a:chOff x="2478168" y="4026446"/>
              <a:chExt cx="1612396" cy="229194"/>
            </a:xfrm>
          </p:grpSpPr>
          <p:sp>
            <p:nvSpPr>
              <p:cNvPr id="128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박현주</a:t>
                </a:r>
              </a:p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댓글</a:t>
                </a: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1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블라블라블라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129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131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x-none" altLang="x-none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pic>
              <p:nvPicPr>
                <p:cNvPr id="132" name="Picture 157" descr="man-user (1).png"/>
                <p:cNvPicPr>
                  <a:picLocks noChangeAspect="1"/>
                </p:cNvPicPr>
                <p:nvPr/>
              </p:nvPicPr>
              <p:blipFill>
                <a:blip r:embed="rId7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130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30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분전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cxnSp>
          <p:nvCxnSpPr>
            <p:cNvPr id="83" name="직선 연결선[R] 33"/>
            <p:cNvCxnSpPr/>
            <p:nvPr/>
          </p:nvCxnSpPr>
          <p:spPr>
            <a:xfrm>
              <a:off x="7048331" y="5598452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 523"/>
            <p:cNvSpPr/>
            <p:nvPr/>
          </p:nvSpPr>
          <p:spPr>
            <a:xfrm>
              <a:off x="6959669" y="5968132"/>
              <a:ext cx="3437310" cy="12592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85" name="텍스트 상자 31"/>
            <p:cNvSpPr txBox="1"/>
            <p:nvPr/>
          </p:nvSpPr>
          <p:spPr>
            <a:xfrm>
              <a:off x="8378036" y="599015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00" b="1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4</a:t>
              </a:r>
              <a:r>
                <a:rPr kumimoji="1" lang="ko-KR" altLang="en-US" sz="500" b="1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개 모두 보기</a:t>
              </a:r>
              <a:endParaRPr kumimoji="1" lang="ko-KR" altLang="en-US" sz="5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86" name="Freeform 25"/>
            <p:cNvSpPr>
              <a:spLocks noChangeAspect="1" noEditPoints="1"/>
            </p:cNvSpPr>
            <p:nvPr/>
          </p:nvSpPr>
          <p:spPr bwMode="auto">
            <a:xfrm>
              <a:off x="10019776" y="3127249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87" name="Freeform 26"/>
            <p:cNvSpPr>
              <a:spLocks noChangeAspect="1" noChangeArrowheads="1"/>
            </p:cNvSpPr>
            <p:nvPr/>
          </p:nvSpPr>
          <p:spPr bwMode="auto">
            <a:xfrm flipH="1">
              <a:off x="10234736" y="3120153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cxnSp>
          <p:nvCxnSpPr>
            <p:cNvPr id="88" name="직선 연결선[R] 33"/>
            <p:cNvCxnSpPr/>
            <p:nvPr/>
          </p:nvCxnSpPr>
          <p:spPr>
            <a:xfrm>
              <a:off x="7048331" y="4790212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ounded Rectangle 133"/>
            <p:cNvSpPr/>
            <p:nvPr/>
          </p:nvSpPr>
          <p:spPr>
            <a:xfrm>
              <a:off x="7056014" y="4555937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90" name="Group 1"/>
            <p:cNvGrpSpPr/>
            <p:nvPr/>
          </p:nvGrpSpPr>
          <p:grpSpPr>
            <a:xfrm>
              <a:off x="7229282" y="4592541"/>
              <a:ext cx="493565" cy="107722"/>
              <a:chOff x="2459064" y="3489248"/>
              <a:chExt cx="493565" cy="107722"/>
            </a:xfrm>
          </p:grpSpPr>
          <p:sp>
            <p:nvSpPr>
              <p:cNvPr id="126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127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파일 </a:t>
                </a:r>
                <a:r>
                  <a:rPr kumimoji="1" lang="en-US" altLang="ko-KR" sz="7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5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91" name="Freeform 24"/>
            <p:cNvSpPr>
              <a:spLocks noChangeAspect="1" noChangeArrowheads="1"/>
            </p:cNvSpPr>
            <p:nvPr/>
          </p:nvSpPr>
          <p:spPr bwMode="auto">
            <a:xfrm flipV="1">
              <a:off x="7113604" y="4632651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97" name="Triangle 529"/>
            <p:cNvSpPr>
              <a:spLocks noChangeAspect="1"/>
            </p:cNvSpPr>
            <p:nvPr/>
          </p:nvSpPr>
          <p:spPr>
            <a:xfrm flipV="1">
              <a:off x="8278005" y="6009249"/>
              <a:ext cx="72000" cy="52888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98" name="Rectangle 177"/>
            <p:cNvSpPr/>
            <p:nvPr/>
          </p:nvSpPr>
          <p:spPr>
            <a:xfrm>
              <a:off x="7056014" y="3995656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99" name="Rectangle 177"/>
            <p:cNvSpPr/>
            <p:nvPr/>
          </p:nvSpPr>
          <p:spPr>
            <a:xfrm>
              <a:off x="7056014" y="3995656"/>
              <a:ext cx="457200" cy="45887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Malgun Gothic" charset="0"/>
                </a:rPr>
                <a:t>image</a:t>
              </a:r>
            </a:p>
          </p:txBody>
        </p:sp>
        <p:sp>
          <p:nvSpPr>
            <p:cNvPr id="100" name="텍스트 상자 31"/>
            <p:cNvSpPr txBox="1"/>
            <p:nvPr/>
          </p:nvSpPr>
          <p:spPr>
            <a:xfrm>
              <a:off x="7587899" y="4076097"/>
              <a:ext cx="2520005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네이버</a:t>
              </a:r>
            </a:p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네이버 메인에서 다양한 정보와 유용한 콘텐츠를 만나 보세요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101" name="텍스트 상자 31"/>
            <p:cNvSpPr txBox="1"/>
            <p:nvPr/>
          </p:nvSpPr>
          <p:spPr>
            <a:xfrm>
              <a:off x="9599670" y="4291068"/>
              <a:ext cx="65158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Malgun Gothic" charset="0"/>
                </a:rPr>
                <a:t>www.naver.com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endParaRPr>
            </a:p>
          </p:txBody>
        </p:sp>
        <p:grpSp>
          <p:nvGrpSpPr>
            <p:cNvPr id="102" name="그룹 101"/>
            <p:cNvGrpSpPr/>
            <p:nvPr/>
          </p:nvGrpSpPr>
          <p:grpSpPr>
            <a:xfrm>
              <a:off x="7048332" y="5345045"/>
              <a:ext cx="3234094" cy="182010"/>
              <a:chOff x="533424" y="4808330"/>
              <a:chExt cx="3234094" cy="182010"/>
            </a:xfrm>
          </p:grpSpPr>
          <p:sp>
            <p:nvSpPr>
              <p:cNvPr id="120" name="Rectangle 526"/>
              <p:cNvSpPr/>
              <p:nvPr/>
            </p:nvSpPr>
            <p:spPr>
              <a:xfrm>
                <a:off x="533424" y="4808330"/>
                <a:ext cx="3234094" cy="18201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121" name="텍스트 상자 31"/>
              <p:cNvSpPr txBox="1"/>
              <p:nvPr/>
            </p:nvSpPr>
            <p:spPr>
              <a:xfrm>
                <a:off x="568850" y="4860037"/>
                <a:ext cx="713471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5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의견을 입력하세요</a:t>
                </a:r>
                <a:endParaRPr kumimoji="1" lang="ko-KR" altLang="en-US" sz="5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122" name="Rounded Rectangle 193"/>
              <p:cNvSpPr/>
              <p:nvPr/>
            </p:nvSpPr>
            <p:spPr>
              <a:xfrm>
                <a:off x="3485404" y="4835808"/>
                <a:ext cx="257806" cy="137831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123" name="Group 245"/>
              <p:cNvGrpSpPr/>
              <p:nvPr/>
            </p:nvGrpSpPr>
            <p:grpSpPr>
              <a:xfrm>
                <a:off x="3149648" y="4852079"/>
                <a:ext cx="292649" cy="104698"/>
                <a:chOff x="4069651" y="4087589"/>
                <a:chExt cx="389265" cy="139263"/>
              </a:xfrm>
            </p:grpSpPr>
            <p:sp>
              <p:nvSpPr>
                <p:cNvPr id="124" name="Freeform 17"/>
                <p:cNvSpPr>
                  <a:spLocks noChangeArrowheads="1"/>
                </p:cNvSpPr>
                <p:nvPr/>
              </p:nvSpPr>
              <p:spPr bwMode="auto">
                <a:xfrm>
                  <a:off x="4069651" y="4087589"/>
                  <a:ext cx="139453" cy="139263"/>
                </a:xfrm>
                <a:custGeom>
                  <a:avLst/>
                  <a:gdLst>
                    <a:gd name="T0" fmla="*/ 403 w 404"/>
                    <a:gd name="T1" fmla="*/ 360 h 404"/>
                    <a:gd name="T2" fmla="*/ 403 w 404"/>
                    <a:gd name="T3" fmla="*/ 43 h 404"/>
                    <a:gd name="T4" fmla="*/ 360 w 404"/>
                    <a:gd name="T5" fmla="*/ 0 h 404"/>
                    <a:gd name="T6" fmla="*/ 47 w 404"/>
                    <a:gd name="T7" fmla="*/ 0 h 404"/>
                    <a:gd name="T8" fmla="*/ 0 w 404"/>
                    <a:gd name="T9" fmla="*/ 43 h 404"/>
                    <a:gd name="T10" fmla="*/ 0 w 404"/>
                    <a:gd name="T11" fmla="*/ 360 h 404"/>
                    <a:gd name="T12" fmla="*/ 47 w 404"/>
                    <a:gd name="T13" fmla="*/ 403 h 404"/>
                    <a:gd name="T14" fmla="*/ 360 w 404"/>
                    <a:gd name="T15" fmla="*/ 403 h 404"/>
                    <a:gd name="T16" fmla="*/ 403 w 404"/>
                    <a:gd name="T17" fmla="*/ 360 h 404"/>
                    <a:gd name="T18" fmla="*/ 124 w 404"/>
                    <a:gd name="T19" fmla="*/ 236 h 404"/>
                    <a:gd name="T20" fmla="*/ 180 w 404"/>
                    <a:gd name="T21" fmla="*/ 304 h 404"/>
                    <a:gd name="T22" fmla="*/ 257 w 404"/>
                    <a:gd name="T23" fmla="*/ 201 h 404"/>
                    <a:gd name="T24" fmla="*/ 360 w 404"/>
                    <a:gd name="T25" fmla="*/ 334 h 404"/>
                    <a:gd name="T26" fmla="*/ 47 w 404"/>
                    <a:gd name="T27" fmla="*/ 334 h 404"/>
                    <a:gd name="T28" fmla="*/ 124 w 404"/>
                    <a:gd name="T29" fmla="*/ 236 h 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4" h="404">
                      <a:moveTo>
                        <a:pt x="403" y="360"/>
                      </a:moveTo>
                      <a:lnTo>
                        <a:pt x="403" y="43"/>
                      </a:lnTo>
                      <a:cubicBezTo>
                        <a:pt x="403" y="21"/>
                        <a:pt x="386" y="0"/>
                        <a:pt x="360" y="0"/>
                      </a:cubicBezTo>
                      <a:lnTo>
                        <a:pt x="47" y="0"/>
                      </a:lnTo>
                      <a:cubicBezTo>
                        <a:pt x="22" y="0"/>
                        <a:pt x="0" y="21"/>
                        <a:pt x="0" y="43"/>
                      </a:cubicBezTo>
                      <a:lnTo>
                        <a:pt x="0" y="360"/>
                      </a:lnTo>
                      <a:cubicBezTo>
                        <a:pt x="0" y="381"/>
                        <a:pt x="22" y="403"/>
                        <a:pt x="47" y="403"/>
                      </a:cubicBezTo>
                      <a:lnTo>
                        <a:pt x="360" y="403"/>
                      </a:lnTo>
                      <a:cubicBezTo>
                        <a:pt x="386" y="403"/>
                        <a:pt x="403" y="381"/>
                        <a:pt x="403" y="360"/>
                      </a:cubicBezTo>
                      <a:close/>
                      <a:moveTo>
                        <a:pt x="124" y="236"/>
                      </a:moveTo>
                      <a:lnTo>
                        <a:pt x="180" y="304"/>
                      </a:lnTo>
                      <a:lnTo>
                        <a:pt x="257" y="201"/>
                      </a:lnTo>
                      <a:lnTo>
                        <a:pt x="360" y="334"/>
                      </a:lnTo>
                      <a:lnTo>
                        <a:pt x="47" y="334"/>
                      </a:lnTo>
                      <a:lnTo>
                        <a:pt x="124" y="236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  <p:sp>
              <p:nvSpPr>
                <p:cNvPr id="125" name="Freeform 247"/>
                <p:cNvSpPr>
                  <a:spLocks noChangeArrowheads="1"/>
                </p:cNvSpPr>
                <p:nvPr/>
              </p:nvSpPr>
              <p:spPr bwMode="auto">
                <a:xfrm>
                  <a:off x="4284206" y="4107687"/>
                  <a:ext cx="174710" cy="96157"/>
                </a:xfrm>
                <a:custGeom>
                  <a:avLst/>
                  <a:gdLst>
                    <a:gd name="T0" fmla="*/ 214 w 774"/>
                    <a:gd name="T1" fmla="*/ 426 h 427"/>
                    <a:gd name="T2" fmla="*/ 0 w 774"/>
                    <a:gd name="T3" fmla="*/ 213 h 427"/>
                    <a:gd name="T4" fmla="*/ 214 w 774"/>
                    <a:gd name="T5" fmla="*/ 0 h 427"/>
                    <a:gd name="T6" fmla="*/ 618 w 774"/>
                    <a:gd name="T7" fmla="*/ 0 h 427"/>
                    <a:gd name="T8" fmla="*/ 773 w 774"/>
                    <a:gd name="T9" fmla="*/ 154 h 427"/>
                    <a:gd name="T10" fmla="*/ 618 w 774"/>
                    <a:gd name="T11" fmla="*/ 309 h 427"/>
                    <a:gd name="T12" fmla="*/ 287 w 774"/>
                    <a:gd name="T13" fmla="*/ 309 h 427"/>
                    <a:gd name="T14" fmla="*/ 192 w 774"/>
                    <a:gd name="T15" fmla="*/ 213 h 427"/>
                    <a:gd name="T16" fmla="*/ 287 w 774"/>
                    <a:gd name="T17" fmla="*/ 117 h 427"/>
                    <a:gd name="T18" fmla="*/ 581 w 774"/>
                    <a:gd name="T19" fmla="*/ 117 h 427"/>
                    <a:gd name="T20" fmla="*/ 581 w 774"/>
                    <a:gd name="T21" fmla="*/ 176 h 427"/>
                    <a:gd name="T22" fmla="*/ 287 w 774"/>
                    <a:gd name="T23" fmla="*/ 176 h 427"/>
                    <a:gd name="T24" fmla="*/ 250 w 774"/>
                    <a:gd name="T25" fmla="*/ 213 h 427"/>
                    <a:gd name="T26" fmla="*/ 287 w 774"/>
                    <a:gd name="T27" fmla="*/ 250 h 427"/>
                    <a:gd name="T28" fmla="*/ 618 w 774"/>
                    <a:gd name="T29" fmla="*/ 250 h 427"/>
                    <a:gd name="T30" fmla="*/ 714 w 774"/>
                    <a:gd name="T31" fmla="*/ 154 h 427"/>
                    <a:gd name="T32" fmla="*/ 618 w 774"/>
                    <a:gd name="T33" fmla="*/ 58 h 427"/>
                    <a:gd name="T34" fmla="*/ 214 w 774"/>
                    <a:gd name="T35" fmla="*/ 58 h 427"/>
                    <a:gd name="T36" fmla="*/ 59 w 774"/>
                    <a:gd name="T37" fmla="*/ 213 h 427"/>
                    <a:gd name="T38" fmla="*/ 214 w 774"/>
                    <a:gd name="T39" fmla="*/ 367 h 427"/>
                    <a:gd name="T40" fmla="*/ 581 w 774"/>
                    <a:gd name="T41" fmla="*/ 367 h 427"/>
                    <a:gd name="T42" fmla="*/ 581 w 774"/>
                    <a:gd name="T43" fmla="*/ 426 h 427"/>
                    <a:gd name="T44" fmla="*/ 214 w 774"/>
                    <a:gd name="T45" fmla="*/ 426 h 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774" h="427">
                      <a:moveTo>
                        <a:pt x="214" y="426"/>
                      </a:moveTo>
                      <a:cubicBezTo>
                        <a:pt x="96" y="426"/>
                        <a:pt x="0" y="331"/>
                        <a:pt x="0" y="213"/>
                      </a:cubicBezTo>
                      <a:cubicBezTo>
                        <a:pt x="0" y="95"/>
                        <a:pt x="96" y="0"/>
                        <a:pt x="214" y="0"/>
                      </a:cubicBezTo>
                      <a:lnTo>
                        <a:pt x="618" y="0"/>
                      </a:lnTo>
                      <a:cubicBezTo>
                        <a:pt x="699" y="0"/>
                        <a:pt x="773" y="69"/>
                        <a:pt x="773" y="154"/>
                      </a:cubicBezTo>
                      <a:cubicBezTo>
                        <a:pt x="773" y="239"/>
                        <a:pt x="699" y="309"/>
                        <a:pt x="618" y="309"/>
                      </a:cubicBezTo>
                      <a:lnTo>
                        <a:pt x="287" y="309"/>
                      </a:lnTo>
                      <a:cubicBezTo>
                        <a:pt x="236" y="309"/>
                        <a:pt x="192" y="264"/>
                        <a:pt x="192" y="213"/>
                      </a:cubicBezTo>
                      <a:cubicBezTo>
                        <a:pt x="192" y="161"/>
                        <a:pt x="236" y="117"/>
                        <a:pt x="287" y="117"/>
                      </a:cubicBezTo>
                      <a:lnTo>
                        <a:pt x="581" y="117"/>
                      </a:lnTo>
                      <a:lnTo>
                        <a:pt x="581" y="176"/>
                      </a:lnTo>
                      <a:lnTo>
                        <a:pt x="287" y="176"/>
                      </a:lnTo>
                      <a:cubicBezTo>
                        <a:pt x="265" y="176"/>
                        <a:pt x="250" y="191"/>
                        <a:pt x="250" y="213"/>
                      </a:cubicBezTo>
                      <a:cubicBezTo>
                        <a:pt x="250" y="235"/>
                        <a:pt x="265" y="250"/>
                        <a:pt x="287" y="250"/>
                      </a:cubicBezTo>
                      <a:lnTo>
                        <a:pt x="618" y="250"/>
                      </a:lnTo>
                      <a:cubicBezTo>
                        <a:pt x="670" y="250"/>
                        <a:pt x="714" y="209"/>
                        <a:pt x="714" y="154"/>
                      </a:cubicBezTo>
                      <a:cubicBezTo>
                        <a:pt x="714" y="99"/>
                        <a:pt x="670" y="58"/>
                        <a:pt x="618" y="58"/>
                      </a:cubicBezTo>
                      <a:lnTo>
                        <a:pt x="214" y="58"/>
                      </a:lnTo>
                      <a:cubicBezTo>
                        <a:pt x="125" y="58"/>
                        <a:pt x="59" y="128"/>
                        <a:pt x="59" y="213"/>
                      </a:cubicBezTo>
                      <a:cubicBezTo>
                        <a:pt x="59" y="297"/>
                        <a:pt x="125" y="367"/>
                        <a:pt x="214" y="367"/>
                      </a:cubicBezTo>
                      <a:lnTo>
                        <a:pt x="581" y="367"/>
                      </a:lnTo>
                      <a:lnTo>
                        <a:pt x="581" y="426"/>
                      </a:lnTo>
                      <a:lnTo>
                        <a:pt x="214" y="426"/>
                      </a:ln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</p:grpSp>
        </p:grpSp>
        <p:sp>
          <p:nvSpPr>
            <p:cNvPr id="103" name="Freeform 11"/>
            <p:cNvSpPr>
              <a:spLocks noChangeAspect="1" noChangeArrowheads="1"/>
            </p:cNvSpPr>
            <p:nvPr/>
          </p:nvSpPr>
          <p:spPr bwMode="auto">
            <a:xfrm>
              <a:off x="10104342" y="5705344"/>
              <a:ext cx="72000" cy="72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7053276" y="5093195"/>
              <a:ext cx="930081" cy="115755"/>
              <a:chOff x="4297396" y="1127703"/>
              <a:chExt cx="930081" cy="115755"/>
            </a:xfrm>
          </p:grpSpPr>
          <p:grpSp>
            <p:nvGrpSpPr>
              <p:cNvPr id="107" name="그룹 106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109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111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118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19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112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113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114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115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116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117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110" name="그림 109"/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108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105" name="텍스트 상자 31"/>
            <p:cNvSpPr txBox="1"/>
            <p:nvPr/>
          </p:nvSpPr>
          <p:spPr>
            <a:xfrm>
              <a:off x="7074536" y="3440236"/>
              <a:ext cx="3250996" cy="366254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다음 달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#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회식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날짜 정하려고 합니다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#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일정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확인후 댓글로 가능여부 남겨주세요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!</a:t>
              </a:r>
              <a:endPara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더불어 몇가지 이슈가 있어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공유 드립니다</a:t>
              </a:r>
              <a:r>
                <a:rPr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.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mr-IN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…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더보기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106" name="Create"/>
            <p:cNvSpPr>
              <a:spLocks noChangeAspect="1" noEditPoints="1"/>
            </p:cNvSpPr>
            <p:nvPr/>
          </p:nvSpPr>
          <p:spPr bwMode="auto">
            <a:xfrm>
              <a:off x="9960629" y="5694609"/>
              <a:ext cx="96990" cy="93924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5" name="Rounded Rectangle 397"/>
          <p:cNvSpPr/>
          <p:nvPr/>
        </p:nvSpPr>
        <p:spPr>
          <a:xfrm>
            <a:off x="8003810" y="3036514"/>
            <a:ext cx="918179" cy="560171"/>
          </a:xfrm>
          <a:prstGeom prst="roundRect">
            <a:avLst>
              <a:gd name="adj" fmla="val 0"/>
            </a:avLst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메일로 전송</a:t>
            </a: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게시물로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36" name="모서리가 둥근 직사각형 135"/>
          <p:cNvSpPr/>
          <p:nvPr/>
        </p:nvSpPr>
        <p:spPr>
          <a:xfrm>
            <a:off x="7906110" y="3158954"/>
            <a:ext cx="714375" cy="20002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137" name="직선 화살표 연결선 136"/>
          <p:cNvCxnSpPr/>
          <p:nvPr/>
        </p:nvCxnSpPr>
        <p:spPr>
          <a:xfrm flipH="1">
            <a:off x="5534385" y="3244679"/>
            <a:ext cx="2268542" cy="0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모서리가 둥근 직사각형 137"/>
          <p:cNvSpPr/>
          <p:nvPr/>
        </p:nvSpPr>
        <p:spPr>
          <a:xfrm>
            <a:off x="5820135" y="3940005"/>
            <a:ext cx="3281069" cy="136578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3" name="직선 화살표 연결선 2"/>
          <p:cNvCxnSpPr>
            <a:stCxn id="138" idx="1"/>
          </p:cNvCxnSpPr>
          <p:nvPr/>
        </p:nvCxnSpPr>
        <p:spPr>
          <a:xfrm flipH="1">
            <a:off x="5021979" y="4008294"/>
            <a:ext cx="798156" cy="886111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내용 개체 틀 3"/>
          <p:cNvSpPr txBox="1">
            <a:spLocks/>
          </p:cNvSpPr>
          <p:nvPr/>
        </p:nvSpPr>
        <p:spPr>
          <a:xfrm>
            <a:off x="1015905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71464" marR="0" lvl="0" indent="-371464" algn="l" defTabSz="914400" rtl="0" eaLnBrk="0" fontAlgn="base" latinLnBrk="1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SQ5.8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62700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그룹 9"/>
          <p:cNvGrpSpPr/>
          <p:nvPr/>
        </p:nvGrpSpPr>
        <p:grpSpPr>
          <a:xfrm>
            <a:off x="285749" y="1989681"/>
            <a:ext cx="4433335" cy="2137186"/>
            <a:chOff x="5591175" y="2350994"/>
            <a:chExt cx="771525" cy="693420"/>
          </a:xfrm>
        </p:grpSpPr>
        <p:sp>
          <p:nvSpPr>
            <p:cNvPr id="11" name="직사각형 10"/>
            <p:cNvSpPr/>
            <p:nvPr/>
          </p:nvSpPr>
          <p:spPr>
            <a:xfrm>
              <a:off x="5591175" y="2350994"/>
              <a:ext cx="771525" cy="69342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wrap="none" lIns="72000" tIns="72000" rIns="72000" bIns="72000" rtlCol="0" anchor="t">
              <a:noAutofit/>
            </a:bodyPr>
            <a:lstStyle/>
            <a:p>
              <a:pPr lvl="0">
                <a:lnSpc>
                  <a:spcPct val="150000"/>
                </a:lnSpc>
                <a:defRPr/>
              </a:pPr>
              <a:endPara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endParaRPr>
            </a:p>
          </p:txBody>
        </p:sp>
        <p:cxnSp>
          <p:nvCxnSpPr>
            <p:cNvPr id="12" name="직선 연결선 11"/>
            <p:cNvCxnSpPr/>
            <p:nvPr/>
          </p:nvCxnSpPr>
          <p:spPr>
            <a:xfrm>
              <a:off x="5591175" y="2350994"/>
              <a:ext cx="771525" cy="693420"/>
            </a:xfrm>
            <a:prstGeom prst="line">
              <a:avLst/>
            </a:prstGeom>
            <a:ln w="3175">
              <a:solidFill>
                <a:schemeClr val="bg1"/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/>
            <p:cNvCxnSpPr/>
            <p:nvPr/>
          </p:nvCxnSpPr>
          <p:spPr>
            <a:xfrm flipH="1">
              <a:off x="5591175" y="2350994"/>
              <a:ext cx="771525" cy="693420"/>
            </a:xfrm>
            <a:prstGeom prst="line">
              <a:avLst/>
            </a:prstGeom>
            <a:ln w="6350">
              <a:solidFill>
                <a:schemeClr val="bg1"/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/>
          <p:cNvSpPr/>
          <p:nvPr/>
        </p:nvSpPr>
        <p:spPr>
          <a:xfrm>
            <a:off x="285749" y="4126867"/>
            <a:ext cx="4433335" cy="693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wrap="none" lIns="72000" tIns="72000" rIns="72000" bIns="72000" rtlCol="0" anchor="t">
            <a:no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다음 달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회식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날짜 정하려고 합니다</a:t>
            </a: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.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일정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확인후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참석가능하신 분들은 댓글로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가능여부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남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…</a:t>
            </a:r>
          </a:p>
          <a:p>
            <a:pPr lvl="0">
              <a:lnSpc>
                <a:spcPct val="150000"/>
              </a:lnSpc>
              <a:defRPr/>
            </a:pPr>
            <a:r>
              <a: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[</a:t>
            </a:r>
            <a:r>
              <a:rPr lang="ko-KR" altLang="en-US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스퀘어</a:t>
            </a:r>
            <a:r>
              <a: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] EGW UX </a:t>
            </a:r>
            <a:r>
              <a:rPr lang="ko-KR" altLang="en-US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개선 프로젝트 </a:t>
            </a:r>
            <a:r>
              <a: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TF </a:t>
            </a:r>
            <a:endParaRPr lang="ko-KR" altLang="en-US" sz="6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289305" y="624885"/>
            <a:ext cx="4444944" cy="853395"/>
            <a:chOff x="5556630" y="1622468"/>
            <a:chExt cx="4444944" cy="853395"/>
          </a:xfrm>
        </p:grpSpPr>
        <p:sp>
          <p:nvSpPr>
            <p:cNvPr id="16" name="직사각형 15"/>
            <p:cNvSpPr/>
            <p:nvPr/>
          </p:nvSpPr>
          <p:spPr>
            <a:xfrm>
              <a:off x="5556630" y="1622468"/>
              <a:ext cx="4444944" cy="8533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txBody>
            <a:bodyPr wrap="none" lIns="72000" tIns="72000" rIns="72000" bIns="72000" rtlCol="0" anchor="t">
              <a:no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en-US" altLang="ko-KR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</a:t>
              </a:r>
              <a:r>
                <a:rPr lang="ko-KR" altLang="en-US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서비스 </a:t>
              </a:r>
              <a:r>
                <a:rPr lang="en-US" altLang="ko-KR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TF</a:t>
              </a:r>
              <a:r>
                <a:rPr lang="ko-KR" altLang="en-US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팀 중간회식 일정을 등록했습니다</a:t>
              </a:r>
              <a:r>
                <a:rPr lang="en-US" altLang="ko-KR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lvl="0">
                <a:lnSpc>
                  <a:spcPct val="150000"/>
                </a:lnSpc>
                <a:defRPr/>
              </a:pPr>
              <a:endPara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endParaRPr>
            </a:p>
            <a:p>
              <a:pPr lvl="0">
                <a:lnSpc>
                  <a:spcPct val="150000"/>
                </a:lnSpc>
                <a:defRPr/>
              </a:pPr>
              <a:endParaRPr lang="en-US" altLang="ko-KR" sz="60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endParaRPr>
            </a:p>
            <a:p>
              <a:pPr lvl="0">
                <a:lnSpc>
                  <a:spcPct val="150000"/>
                </a:lnSpc>
                <a:defRPr/>
              </a:pPr>
              <a:endParaRPr lang="en-US" altLang="ko-KR" sz="6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endParaRPr>
            </a:p>
            <a:p>
              <a:pPr lvl="0">
                <a:lnSpc>
                  <a:spcPct val="150000"/>
                </a:lnSpc>
                <a:defRPr/>
              </a:pPr>
              <a:r>
                <a:rPr lang="en-US" altLang="ko-KR" sz="6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/>
                </a:rPr>
                <a:t>[</a:t>
              </a:r>
              <a:r>
                <a:rPr lang="ko-KR" altLang="en-US" sz="6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/>
                </a:rPr>
                <a:t>스퀘어</a:t>
              </a:r>
              <a:r>
                <a:rPr lang="en-US" altLang="ko-KR" sz="6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/>
                </a:rPr>
                <a:t>] EGW UX </a:t>
              </a:r>
              <a:r>
                <a:rPr lang="ko-KR" altLang="en-US" sz="6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/>
                </a:rPr>
                <a:t>개선 프로젝트 </a:t>
              </a:r>
              <a:r>
                <a:rPr lang="en-US" altLang="ko-KR" sz="6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/>
                </a:rPr>
                <a:t>TF </a:t>
              </a:r>
              <a:endPara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5610225" y="1885951"/>
              <a:ext cx="4295775" cy="36195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8" name="텍스트 상자 31"/>
            <p:cNvSpPr txBox="1"/>
            <p:nvPr/>
          </p:nvSpPr>
          <p:spPr>
            <a:xfrm>
              <a:off x="5967671" y="1929737"/>
              <a:ext cx="1786124" cy="10750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A</a:t>
              </a:r>
              <a:r>
                <a:rPr kumimoji="1" lang="ko-KR" altLang="en-US" sz="700" b="1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 서비스 </a:t>
              </a:r>
              <a:r>
                <a:rPr kumimoji="1" lang="en-US" altLang="ko-KR" sz="700" b="1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TF</a:t>
              </a:r>
              <a:r>
                <a:rPr kumimoji="1" lang="ko-KR" altLang="en-US" sz="700" b="1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 팀 중간회식</a:t>
              </a:r>
              <a:endParaRPr kumimoji="1" lang="ko-KR" altLang="en-US" sz="700" b="1" i="0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19" name="텍스트 상자 31"/>
            <p:cNvSpPr txBox="1"/>
            <p:nvPr/>
          </p:nvSpPr>
          <p:spPr>
            <a:xfrm>
              <a:off x="5962545" y="2079121"/>
              <a:ext cx="1621213" cy="11650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2017.09.30</a:t>
              </a:r>
              <a:r>
                <a:rPr kumimoji="1" lang="ko-KR" altLang="en-US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(</a:t>
              </a:r>
              <a:r>
                <a:rPr kumimoji="1" lang="ko-KR" altLang="en-US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금</a:t>
              </a:r>
              <a:r>
                <a:rPr kumimoji="1" lang="en-US" altLang="ko-KR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)</a:t>
              </a:r>
              <a:r>
                <a:rPr kumimoji="1" lang="ko-KR" altLang="en-US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 오후 </a:t>
              </a:r>
              <a:r>
                <a:rPr kumimoji="1" lang="en-US" altLang="ko-KR" sz="700" b="0" i="0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맑은 고딕"/>
                  <a:ea typeface="맑은 고딕"/>
                  <a:cs typeface="+mn-cs"/>
                </a:rPr>
                <a:t>7:00-8:00</a:t>
              </a:r>
              <a:endParaRPr kumimoji="1" lang="ko-KR" altLang="en-US" sz="700" b="0" i="0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0" name="Freeform 33"/>
            <p:cNvSpPr>
              <a:spLocks noEditPoints="1"/>
            </p:cNvSpPr>
            <p:nvPr/>
          </p:nvSpPr>
          <p:spPr bwMode="auto">
            <a:xfrm>
              <a:off x="5671954" y="1963038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aphicFrame>
        <p:nvGraphicFramePr>
          <p:cNvPr id="2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6832204"/>
              </p:ext>
            </p:extLst>
          </p:nvPr>
        </p:nvGraphicFramePr>
        <p:xfrm>
          <a:off x="9290533" y="786383"/>
          <a:ext cx="2835467" cy="804509"/>
        </p:xfrm>
        <a:graphic>
          <a:graphicData uri="http://schemas.openxmlformats.org/drawingml/2006/table">
            <a:tbl>
              <a:tblPr/>
              <a:tblGrid>
                <a:gridCol w="256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790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일정 정보를 보내기할 경우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sng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sng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이미지가 삽입된 피드를 보내기할 경우</a:t>
                      </a:r>
                      <a:r>
                        <a:rPr kumimoji="1" lang="en-US" altLang="ko-KR" sz="800" b="0" i="0" u="none" strike="sng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br>
                        <a:rPr kumimoji="1" lang="en-US" altLang="ko-KR" sz="800" b="0" i="0" u="none" strike="sng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sng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가장 처음 삽입된 이미지만 출력</a:t>
                      </a:r>
                      <a:endParaRPr kumimoji="1" lang="ko-KR" altLang="en-US" sz="800" b="0" i="0" u="none" strike="sng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5291284"/>
                  </a:ext>
                </a:extLst>
              </a:tr>
            </a:tbl>
          </a:graphicData>
        </a:graphic>
      </p:graphicFrame>
      <p:sp>
        <p:nvSpPr>
          <p:cNvPr id="30" name="타원 29"/>
          <p:cNvSpPr/>
          <p:nvPr/>
        </p:nvSpPr>
        <p:spPr>
          <a:xfrm>
            <a:off x="96884" y="652026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2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sp>
        <p:nvSpPr>
          <p:cNvPr id="32" name="타원 31"/>
          <p:cNvSpPr/>
          <p:nvPr/>
        </p:nvSpPr>
        <p:spPr>
          <a:xfrm>
            <a:off x="96884" y="2017653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3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578244" y="1274218"/>
            <a:ext cx="1115878" cy="156791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en-US" altLang="ko-KR" sz="600" smtClean="0">
                <a:solidFill>
                  <a:srgbClr val="FF0000"/>
                </a:solidFill>
                <a:latin typeface="+mn-ea"/>
                <a:ea typeface="+mn-ea"/>
              </a:rPr>
              <a:t>// </a:t>
            </a:r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스퀘어 그룹명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726982" y="1999249"/>
            <a:ext cx="1115878" cy="156791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en-US" altLang="ko-KR" sz="600" smtClean="0">
                <a:solidFill>
                  <a:srgbClr val="FF0000"/>
                </a:solidFill>
                <a:latin typeface="+mn-ea"/>
                <a:ea typeface="+mn-ea"/>
              </a:rPr>
              <a:t>// </a:t>
            </a:r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피드에 삽입된 이미지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577166" y="4205173"/>
            <a:ext cx="1115878" cy="156791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en-US" altLang="ko-KR" sz="600" smtClean="0">
                <a:solidFill>
                  <a:srgbClr val="FF0000"/>
                </a:solidFill>
                <a:latin typeface="+mn-ea"/>
                <a:ea typeface="+mn-ea"/>
              </a:rPr>
              <a:t>// </a:t>
            </a:r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등록시 작성 내용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247774" y="94841"/>
            <a:ext cx="1438275" cy="1813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 연계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_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(2/2)</a:t>
            </a:r>
            <a:endParaRPr lang="ko-KR" altLang="en-US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2" name="직각 삼각형 41"/>
          <p:cNvSpPr/>
          <p:nvPr/>
        </p:nvSpPr>
        <p:spPr>
          <a:xfrm flipH="1">
            <a:off x="11404515" y="5833174"/>
            <a:ext cx="720080" cy="834728"/>
          </a:xfrm>
          <a:prstGeom prst="rtTriangl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12/06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추가</a:t>
            </a:r>
            <a:endParaRPr lang="ko-KR" altLang="en-US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6568863" y="2692146"/>
            <a:ext cx="3437310" cy="3909147"/>
            <a:chOff x="7454688" y="2092071"/>
            <a:chExt cx="3437310" cy="3909147"/>
          </a:xfrm>
        </p:grpSpPr>
        <p:sp>
          <p:nvSpPr>
            <p:cNvPr id="43" name="Rectangle 501"/>
            <p:cNvSpPr/>
            <p:nvPr/>
          </p:nvSpPr>
          <p:spPr>
            <a:xfrm>
              <a:off x="7454688" y="2092071"/>
              <a:ext cx="3437310" cy="39091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912347" y="2223414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김민수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|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UX/UI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45" name="그룹 400"/>
            <p:cNvGrpSpPr/>
            <p:nvPr/>
          </p:nvGrpSpPr>
          <p:grpSpPr>
            <a:xfrm>
              <a:off x="7569555" y="2212945"/>
              <a:ext cx="229236" cy="229194"/>
              <a:chOff x="2625629" y="3735853"/>
              <a:chExt cx="276891" cy="276839"/>
            </a:xfrm>
          </p:grpSpPr>
          <p:sp>
            <p:nvSpPr>
              <p:cNvPr id="103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104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46" name="텍스트 상자 31"/>
            <p:cNvSpPr txBox="1"/>
            <p:nvPr/>
          </p:nvSpPr>
          <p:spPr>
            <a:xfrm>
              <a:off x="7912347" y="2361271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</a:t>
              </a: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시간 전</a:t>
              </a:r>
              <a:endParaRPr kumimoji="1" lang="ko-KR" alt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7" name="Rounded Rectangle 509"/>
            <p:cNvSpPr/>
            <p:nvPr/>
          </p:nvSpPr>
          <p:spPr>
            <a:xfrm>
              <a:off x="7541711" y="4754433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회식</a:t>
              </a:r>
              <a:endParaRPr kumimoji="1" 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8" name="Rounded Rectangle 510"/>
            <p:cNvSpPr/>
            <p:nvPr/>
          </p:nvSpPr>
          <p:spPr>
            <a:xfrm>
              <a:off x="7901267" y="4754433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일정</a:t>
              </a:r>
              <a:endParaRPr kumimoji="1" 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49" name="직선 연결선[R] 33"/>
            <p:cNvCxnSpPr/>
            <p:nvPr/>
          </p:nvCxnSpPr>
          <p:spPr>
            <a:xfrm>
              <a:off x="7543350" y="4936625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507"/>
            <p:cNvSpPr/>
            <p:nvPr/>
          </p:nvSpPr>
          <p:spPr>
            <a:xfrm>
              <a:off x="7454688" y="5176299"/>
              <a:ext cx="3437310" cy="82491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51" name="Group 516"/>
            <p:cNvGrpSpPr/>
            <p:nvPr/>
          </p:nvGrpSpPr>
          <p:grpSpPr>
            <a:xfrm>
              <a:off x="7569555" y="5593242"/>
              <a:ext cx="1612396" cy="229194"/>
              <a:chOff x="2478168" y="4026446"/>
              <a:chExt cx="1612396" cy="229194"/>
            </a:xfrm>
          </p:grpSpPr>
          <p:sp>
            <p:nvSpPr>
              <p:cNvPr id="98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박현주</a:t>
                </a:r>
              </a:p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댓글</a:t>
                </a: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1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블라블라블라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99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101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x-none" altLang="x-none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pic>
              <p:nvPicPr>
                <p:cNvPr id="102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100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30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분전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cxnSp>
          <p:nvCxnSpPr>
            <p:cNvPr id="52" name="직선 연결선[R] 33"/>
            <p:cNvCxnSpPr/>
            <p:nvPr/>
          </p:nvCxnSpPr>
          <p:spPr>
            <a:xfrm>
              <a:off x="7543350" y="5505610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3"/>
            <p:cNvSpPr/>
            <p:nvPr/>
          </p:nvSpPr>
          <p:spPr>
            <a:xfrm>
              <a:off x="7454688" y="5875290"/>
              <a:ext cx="3437310" cy="12592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4" name="텍스트 상자 31"/>
            <p:cNvSpPr txBox="1"/>
            <p:nvPr/>
          </p:nvSpPr>
          <p:spPr>
            <a:xfrm>
              <a:off x="8873055" y="5897314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00" b="1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4</a:t>
              </a:r>
              <a:r>
                <a:rPr kumimoji="1" lang="ko-KR" altLang="en-US" sz="500" b="1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개 모두 보기</a:t>
              </a:r>
              <a:endParaRPr kumimoji="1" lang="ko-KR" altLang="en-US" sz="5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5" name="Freeform 25"/>
            <p:cNvSpPr>
              <a:spLocks noChangeAspect="1" noEditPoints="1"/>
            </p:cNvSpPr>
            <p:nvPr/>
          </p:nvSpPr>
          <p:spPr bwMode="auto">
            <a:xfrm>
              <a:off x="10514795" y="2253357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6" name="Freeform 26"/>
            <p:cNvSpPr>
              <a:spLocks noChangeAspect="1" noChangeArrowheads="1"/>
            </p:cNvSpPr>
            <p:nvPr/>
          </p:nvSpPr>
          <p:spPr bwMode="auto">
            <a:xfrm flipH="1">
              <a:off x="10729755" y="2246261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57" name="Rectangle 598"/>
            <p:cNvSpPr/>
            <p:nvPr/>
          </p:nvSpPr>
          <p:spPr>
            <a:xfrm>
              <a:off x="7565235" y="3676747"/>
              <a:ext cx="694220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rgbClr val="FF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image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8" name="Rectangle 599"/>
            <p:cNvSpPr/>
            <p:nvPr/>
          </p:nvSpPr>
          <p:spPr>
            <a:xfrm>
              <a:off x="8318358" y="3676747"/>
              <a:ext cx="694220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image</a:t>
              </a:r>
            </a:p>
          </p:txBody>
        </p:sp>
        <p:sp>
          <p:nvSpPr>
            <p:cNvPr id="59" name="Rectangle 600"/>
            <p:cNvSpPr/>
            <p:nvPr/>
          </p:nvSpPr>
          <p:spPr>
            <a:xfrm>
              <a:off x="9071481" y="3676747"/>
              <a:ext cx="694220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image</a:t>
              </a:r>
            </a:p>
          </p:txBody>
        </p:sp>
        <p:sp>
          <p:nvSpPr>
            <p:cNvPr id="60" name="Rectangle 601"/>
            <p:cNvSpPr/>
            <p:nvPr/>
          </p:nvSpPr>
          <p:spPr>
            <a:xfrm>
              <a:off x="9824604" y="3676747"/>
              <a:ext cx="694220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image</a:t>
              </a:r>
            </a:p>
          </p:txBody>
        </p:sp>
        <p:sp>
          <p:nvSpPr>
            <p:cNvPr id="61" name="Rectangle 602"/>
            <p:cNvSpPr/>
            <p:nvPr/>
          </p:nvSpPr>
          <p:spPr>
            <a:xfrm>
              <a:off x="10577728" y="3676747"/>
              <a:ext cx="238503" cy="694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2" name="Freeform 14"/>
            <p:cNvSpPr>
              <a:spLocks noChangeArrowheads="1"/>
            </p:cNvSpPr>
            <p:nvPr/>
          </p:nvSpPr>
          <p:spPr bwMode="auto">
            <a:xfrm rot="5400000">
              <a:off x="10634509" y="3977817"/>
              <a:ext cx="150676" cy="92080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cxnSp>
          <p:nvCxnSpPr>
            <p:cNvPr id="63" name="직선 연결선[R] 33"/>
            <p:cNvCxnSpPr/>
            <p:nvPr/>
          </p:nvCxnSpPr>
          <p:spPr>
            <a:xfrm>
              <a:off x="7543350" y="4697370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unded Rectangle 133"/>
            <p:cNvSpPr/>
            <p:nvPr/>
          </p:nvSpPr>
          <p:spPr>
            <a:xfrm>
              <a:off x="7551033" y="4463095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65" name="Group 1"/>
            <p:cNvGrpSpPr/>
            <p:nvPr/>
          </p:nvGrpSpPr>
          <p:grpSpPr>
            <a:xfrm>
              <a:off x="7724301" y="4499699"/>
              <a:ext cx="493565" cy="107722"/>
              <a:chOff x="2459064" y="3489248"/>
              <a:chExt cx="493565" cy="107722"/>
            </a:xfrm>
          </p:grpSpPr>
          <p:sp>
            <p:nvSpPr>
              <p:cNvPr id="96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97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파일 </a:t>
                </a:r>
                <a:r>
                  <a:rPr kumimoji="1" lang="en-US" altLang="ko-KR" sz="7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5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66" name="Freeform 24"/>
            <p:cNvSpPr>
              <a:spLocks noChangeAspect="1" noChangeArrowheads="1"/>
            </p:cNvSpPr>
            <p:nvPr/>
          </p:nvSpPr>
          <p:spPr bwMode="auto">
            <a:xfrm flipV="1">
              <a:off x="7608623" y="4539809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67" name="Triangle 529"/>
            <p:cNvSpPr>
              <a:spLocks noChangeAspect="1"/>
            </p:cNvSpPr>
            <p:nvPr/>
          </p:nvSpPr>
          <p:spPr>
            <a:xfrm flipV="1">
              <a:off x="8773024" y="5916407"/>
              <a:ext cx="72000" cy="52888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8" name="Rectangle 177"/>
            <p:cNvSpPr/>
            <p:nvPr/>
          </p:nvSpPr>
          <p:spPr>
            <a:xfrm>
              <a:off x="7551033" y="3121764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9" name="Rectangle 177"/>
            <p:cNvSpPr/>
            <p:nvPr/>
          </p:nvSpPr>
          <p:spPr>
            <a:xfrm>
              <a:off x="7551033" y="3121764"/>
              <a:ext cx="457200" cy="45887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Malgun Gothic" charset="0"/>
                </a:rPr>
                <a:t>image</a:t>
              </a:r>
            </a:p>
          </p:txBody>
        </p:sp>
        <p:sp>
          <p:nvSpPr>
            <p:cNvPr id="70" name="텍스트 상자 31"/>
            <p:cNvSpPr txBox="1"/>
            <p:nvPr/>
          </p:nvSpPr>
          <p:spPr>
            <a:xfrm>
              <a:off x="8082918" y="3202205"/>
              <a:ext cx="2520005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네이버</a:t>
              </a:r>
            </a:p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네이버 메인에서 다양한 정보와 유용한 콘텐츠를 만나 보세요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71" name="텍스트 상자 31"/>
            <p:cNvSpPr txBox="1"/>
            <p:nvPr/>
          </p:nvSpPr>
          <p:spPr>
            <a:xfrm>
              <a:off x="10094689" y="3417176"/>
              <a:ext cx="65158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Malgun Gothic" charset="0"/>
                </a:rPr>
                <a:t>www.naver.com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endParaRPr>
            </a:p>
          </p:txBody>
        </p:sp>
        <p:grpSp>
          <p:nvGrpSpPr>
            <p:cNvPr id="72" name="그룹 71"/>
            <p:cNvGrpSpPr/>
            <p:nvPr/>
          </p:nvGrpSpPr>
          <p:grpSpPr>
            <a:xfrm>
              <a:off x="7543351" y="5252203"/>
              <a:ext cx="3234094" cy="182010"/>
              <a:chOff x="533424" y="4808330"/>
              <a:chExt cx="3234094" cy="182010"/>
            </a:xfrm>
          </p:grpSpPr>
          <p:sp>
            <p:nvSpPr>
              <p:cNvPr id="90" name="Rectangle 526"/>
              <p:cNvSpPr/>
              <p:nvPr/>
            </p:nvSpPr>
            <p:spPr>
              <a:xfrm>
                <a:off x="533424" y="4808330"/>
                <a:ext cx="3234094" cy="18201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91" name="텍스트 상자 31"/>
              <p:cNvSpPr txBox="1"/>
              <p:nvPr/>
            </p:nvSpPr>
            <p:spPr>
              <a:xfrm>
                <a:off x="568850" y="4860037"/>
                <a:ext cx="713471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5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의견을 입력하세요</a:t>
                </a:r>
                <a:endParaRPr kumimoji="1" lang="ko-KR" altLang="en-US" sz="5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92" name="Rounded Rectangle 193"/>
              <p:cNvSpPr/>
              <p:nvPr/>
            </p:nvSpPr>
            <p:spPr>
              <a:xfrm>
                <a:off x="3485404" y="4835808"/>
                <a:ext cx="257806" cy="137831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93" name="Group 245"/>
              <p:cNvGrpSpPr/>
              <p:nvPr/>
            </p:nvGrpSpPr>
            <p:grpSpPr>
              <a:xfrm>
                <a:off x="3149648" y="4852079"/>
                <a:ext cx="292649" cy="104698"/>
                <a:chOff x="4069651" y="4087589"/>
                <a:chExt cx="389265" cy="139263"/>
              </a:xfrm>
            </p:grpSpPr>
            <p:sp>
              <p:nvSpPr>
                <p:cNvPr id="94" name="Freeform 17"/>
                <p:cNvSpPr>
                  <a:spLocks noChangeArrowheads="1"/>
                </p:cNvSpPr>
                <p:nvPr/>
              </p:nvSpPr>
              <p:spPr bwMode="auto">
                <a:xfrm>
                  <a:off x="4069651" y="4087589"/>
                  <a:ext cx="139453" cy="139263"/>
                </a:xfrm>
                <a:custGeom>
                  <a:avLst/>
                  <a:gdLst>
                    <a:gd name="T0" fmla="*/ 403 w 404"/>
                    <a:gd name="T1" fmla="*/ 360 h 404"/>
                    <a:gd name="T2" fmla="*/ 403 w 404"/>
                    <a:gd name="T3" fmla="*/ 43 h 404"/>
                    <a:gd name="T4" fmla="*/ 360 w 404"/>
                    <a:gd name="T5" fmla="*/ 0 h 404"/>
                    <a:gd name="T6" fmla="*/ 47 w 404"/>
                    <a:gd name="T7" fmla="*/ 0 h 404"/>
                    <a:gd name="T8" fmla="*/ 0 w 404"/>
                    <a:gd name="T9" fmla="*/ 43 h 404"/>
                    <a:gd name="T10" fmla="*/ 0 w 404"/>
                    <a:gd name="T11" fmla="*/ 360 h 404"/>
                    <a:gd name="T12" fmla="*/ 47 w 404"/>
                    <a:gd name="T13" fmla="*/ 403 h 404"/>
                    <a:gd name="T14" fmla="*/ 360 w 404"/>
                    <a:gd name="T15" fmla="*/ 403 h 404"/>
                    <a:gd name="T16" fmla="*/ 403 w 404"/>
                    <a:gd name="T17" fmla="*/ 360 h 404"/>
                    <a:gd name="T18" fmla="*/ 124 w 404"/>
                    <a:gd name="T19" fmla="*/ 236 h 404"/>
                    <a:gd name="T20" fmla="*/ 180 w 404"/>
                    <a:gd name="T21" fmla="*/ 304 h 404"/>
                    <a:gd name="T22" fmla="*/ 257 w 404"/>
                    <a:gd name="T23" fmla="*/ 201 h 404"/>
                    <a:gd name="T24" fmla="*/ 360 w 404"/>
                    <a:gd name="T25" fmla="*/ 334 h 404"/>
                    <a:gd name="T26" fmla="*/ 47 w 404"/>
                    <a:gd name="T27" fmla="*/ 334 h 404"/>
                    <a:gd name="T28" fmla="*/ 124 w 404"/>
                    <a:gd name="T29" fmla="*/ 236 h 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4" h="404">
                      <a:moveTo>
                        <a:pt x="403" y="360"/>
                      </a:moveTo>
                      <a:lnTo>
                        <a:pt x="403" y="43"/>
                      </a:lnTo>
                      <a:cubicBezTo>
                        <a:pt x="403" y="21"/>
                        <a:pt x="386" y="0"/>
                        <a:pt x="360" y="0"/>
                      </a:cubicBezTo>
                      <a:lnTo>
                        <a:pt x="47" y="0"/>
                      </a:lnTo>
                      <a:cubicBezTo>
                        <a:pt x="22" y="0"/>
                        <a:pt x="0" y="21"/>
                        <a:pt x="0" y="43"/>
                      </a:cubicBezTo>
                      <a:lnTo>
                        <a:pt x="0" y="360"/>
                      </a:lnTo>
                      <a:cubicBezTo>
                        <a:pt x="0" y="381"/>
                        <a:pt x="22" y="403"/>
                        <a:pt x="47" y="403"/>
                      </a:cubicBezTo>
                      <a:lnTo>
                        <a:pt x="360" y="403"/>
                      </a:lnTo>
                      <a:cubicBezTo>
                        <a:pt x="386" y="403"/>
                        <a:pt x="403" y="381"/>
                        <a:pt x="403" y="360"/>
                      </a:cubicBezTo>
                      <a:close/>
                      <a:moveTo>
                        <a:pt x="124" y="236"/>
                      </a:moveTo>
                      <a:lnTo>
                        <a:pt x="180" y="304"/>
                      </a:lnTo>
                      <a:lnTo>
                        <a:pt x="257" y="201"/>
                      </a:lnTo>
                      <a:lnTo>
                        <a:pt x="360" y="334"/>
                      </a:lnTo>
                      <a:lnTo>
                        <a:pt x="47" y="334"/>
                      </a:lnTo>
                      <a:lnTo>
                        <a:pt x="124" y="236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  <p:sp>
              <p:nvSpPr>
                <p:cNvPr id="95" name="Freeform 247"/>
                <p:cNvSpPr>
                  <a:spLocks noChangeArrowheads="1"/>
                </p:cNvSpPr>
                <p:nvPr/>
              </p:nvSpPr>
              <p:spPr bwMode="auto">
                <a:xfrm>
                  <a:off x="4284206" y="4107687"/>
                  <a:ext cx="174710" cy="96157"/>
                </a:xfrm>
                <a:custGeom>
                  <a:avLst/>
                  <a:gdLst>
                    <a:gd name="T0" fmla="*/ 214 w 774"/>
                    <a:gd name="T1" fmla="*/ 426 h 427"/>
                    <a:gd name="T2" fmla="*/ 0 w 774"/>
                    <a:gd name="T3" fmla="*/ 213 h 427"/>
                    <a:gd name="T4" fmla="*/ 214 w 774"/>
                    <a:gd name="T5" fmla="*/ 0 h 427"/>
                    <a:gd name="T6" fmla="*/ 618 w 774"/>
                    <a:gd name="T7" fmla="*/ 0 h 427"/>
                    <a:gd name="T8" fmla="*/ 773 w 774"/>
                    <a:gd name="T9" fmla="*/ 154 h 427"/>
                    <a:gd name="T10" fmla="*/ 618 w 774"/>
                    <a:gd name="T11" fmla="*/ 309 h 427"/>
                    <a:gd name="T12" fmla="*/ 287 w 774"/>
                    <a:gd name="T13" fmla="*/ 309 h 427"/>
                    <a:gd name="T14" fmla="*/ 192 w 774"/>
                    <a:gd name="T15" fmla="*/ 213 h 427"/>
                    <a:gd name="T16" fmla="*/ 287 w 774"/>
                    <a:gd name="T17" fmla="*/ 117 h 427"/>
                    <a:gd name="T18" fmla="*/ 581 w 774"/>
                    <a:gd name="T19" fmla="*/ 117 h 427"/>
                    <a:gd name="T20" fmla="*/ 581 w 774"/>
                    <a:gd name="T21" fmla="*/ 176 h 427"/>
                    <a:gd name="T22" fmla="*/ 287 w 774"/>
                    <a:gd name="T23" fmla="*/ 176 h 427"/>
                    <a:gd name="T24" fmla="*/ 250 w 774"/>
                    <a:gd name="T25" fmla="*/ 213 h 427"/>
                    <a:gd name="T26" fmla="*/ 287 w 774"/>
                    <a:gd name="T27" fmla="*/ 250 h 427"/>
                    <a:gd name="T28" fmla="*/ 618 w 774"/>
                    <a:gd name="T29" fmla="*/ 250 h 427"/>
                    <a:gd name="T30" fmla="*/ 714 w 774"/>
                    <a:gd name="T31" fmla="*/ 154 h 427"/>
                    <a:gd name="T32" fmla="*/ 618 w 774"/>
                    <a:gd name="T33" fmla="*/ 58 h 427"/>
                    <a:gd name="T34" fmla="*/ 214 w 774"/>
                    <a:gd name="T35" fmla="*/ 58 h 427"/>
                    <a:gd name="T36" fmla="*/ 59 w 774"/>
                    <a:gd name="T37" fmla="*/ 213 h 427"/>
                    <a:gd name="T38" fmla="*/ 214 w 774"/>
                    <a:gd name="T39" fmla="*/ 367 h 427"/>
                    <a:gd name="T40" fmla="*/ 581 w 774"/>
                    <a:gd name="T41" fmla="*/ 367 h 427"/>
                    <a:gd name="T42" fmla="*/ 581 w 774"/>
                    <a:gd name="T43" fmla="*/ 426 h 427"/>
                    <a:gd name="T44" fmla="*/ 214 w 774"/>
                    <a:gd name="T45" fmla="*/ 426 h 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774" h="427">
                      <a:moveTo>
                        <a:pt x="214" y="426"/>
                      </a:moveTo>
                      <a:cubicBezTo>
                        <a:pt x="96" y="426"/>
                        <a:pt x="0" y="331"/>
                        <a:pt x="0" y="213"/>
                      </a:cubicBezTo>
                      <a:cubicBezTo>
                        <a:pt x="0" y="95"/>
                        <a:pt x="96" y="0"/>
                        <a:pt x="214" y="0"/>
                      </a:cubicBezTo>
                      <a:lnTo>
                        <a:pt x="618" y="0"/>
                      </a:lnTo>
                      <a:cubicBezTo>
                        <a:pt x="699" y="0"/>
                        <a:pt x="773" y="69"/>
                        <a:pt x="773" y="154"/>
                      </a:cubicBezTo>
                      <a:cubicBezTo>
                        <a:pt x="773" y="239"/>
                        <a:pt x="699" y="309"/>
                        <a:pt x="618" y="309"/>
                      </a:cubicBezTo>
                      <a:lnTo>
                        <a:pt x="287" y="309"/>
                      </a:lnTo>
                      <a:cubicBezTo>
                        <a:pt x="236" y="309"/>
                        <a:pt x="192" y="264"/>
                        <a:pt x="192" y="213"/>
                      </a:cubicBezTo>
                      <a:cubicBezTo>
                        <a:pt x="192" y="161"/>
                        <a:pt x="236" y="117"/>
                        <a:pt x="287" y="117"/>
                      </a:cubicBezTo>
                      <a:lnTo>
                        <a:pt x="581" y="117"/>
                      </a:lnTo>
                      <a:lnTo>
                        <a:pt x="581" y="176"/>
                      </a:lnTo>
                      <a:lnTo>
                        <a:pt x="287" y="176"/>
                      </a:lnTo>
                      <a:cubicBezTo>
                        <a:pt x="265" y="176"/>
                        <a:pt x="250" y="191"/>
                        <a:pt x="250" y="213"/>
                      </a:cubicBezTo>
                      <a:cubicBezTo>
                        <a:pt x="250" y="235"/>
                        <a:pt x="265" y="250"/>
                        <a:pt x="287" y="250"/>
                      </a:cubicBezTo>
                      <a:lnTo>
                        <a:pt x="618" y="250"/>
                      </a:lnTo>
                      <a:cubicBezTo>
                        <a:pt x="670" y="250"/>
                        <a:pt x="714" y="209"/>
                        <a:pt x="714" y="154"/>
                      </a:cubicBezTo>
                      <a:cubicBezTo>
                        <a:pt x="714" y="99"/>
                        <a:pt x="670" y="58"/>
                        <a:pt x="618" y="58"/>
                      </a:cubicBezTo>
                      <a:lnTo>
                        <a:pt x="214" y="58"/>
                      </a:lnTo>
                      <a:cubicBezTo>
                        <a:pt x="125" y="58"/>
                        <a:pt x="59" y="128"/>
                        <a:pt x="59" y="213"/>
                      </a:cubicBezTo>
                      <a:cubicBezTo>
                        <a:pt x="59" y="297"/>
                        <a:pt x="125" y="367"/>
                        <a:pt x="214" y="367"/>
                      </a:cubicBezTo>
                      <a:lnTo>
                        <a:pt x="581" y="367"/>
                      </a:lnTo>
                      <a:lnTo>
                        <a:pt x="581" y="426"/>
                      </a:lnTo>
                      <a:lnTo>
                        <a:pt x="214" y="426"/>
                      </a:ln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</p:grpSp>
        </p:grpSp>
        <p:sp>
          <p:nvSpPr>
            <p:cNvPr id="73" name="Freeform 11"/>
            <p:cNvSpPr>
              <a:spLocks noChangeAspect="1" noChangeArrowheads="1"/>
            </p:cNvSpPr>
            <p:nvPr/>
          </p:nvSpPr>
          <p:spPr bwMode="auto">
            <a:xfrm>
              <a:off x="10599361" y="5612502"/>
              <a:ext cx="72000" cy="72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74" name="그룹 73"/>
            <p:cNvGrpSpPr/>
            <p:nvPr/>
          </p:nvGrpSpPr>
          <p:grpSpPr>
            <a:xfrm>
              <a:off x="7548295" y="5000353"/>
              <a:ext cx="930081" cy="115755"/>
              <a:chOff x="4297396" y="1127703"/>
              <a:chExt cx="930081" cy="115755"/>
            </a:xfrm>
          </p:grpSpPr>
          <p:grpSp>
            <p:nvGrpSpPr>
              <p:cNvPr id="77" name="그룹 76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79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81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88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89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82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83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84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85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86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87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80" name="그림 79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78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75" name="텍스트 상자 31"/>
            <p:cNvSpPr txBox="1"/>
            <p:nvPr/>
          </p:nvSpPr>
          <p:spPr>
            <a:xfrm>
              <a:off x="7569555" y="2566344"/>
              <a:ext cx="3250996" cy="366254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다음 달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#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회식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날짜 정하려고 합니다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#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일정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확인후 댓글로 가능여부 남겨주세요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!</a:t>
              </a:r>
              <a:endPara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더불어 몇가지 이슈가 있어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공유 드립니다</a:t>
              </a:r>
              <a:r>
                <a:rPr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.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mr-IN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…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더보기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76" name="Create"/>
            <p:cNvSpPr>
              <a:spLocks noChangeAspect="1" noEditPoints="1"/>
            </p:cNvSpPr>
            <p:nvPr/>
          </p:nvSpPr>
          <p:spPr bwMode="auto">
            <a:xfrm>
              <a:off x="10455648" y="5601767"/>
              <a:ext cx="96990" cy="93924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5" name="모서리가 둥근 직사각형 104"/>
          <p:cNvSpPr/>
          <p:nvPr/>
        </p:nvSpPr>
        <p:spPr>
          <a:xfrm>
            <a:off x="6624931" y="3149548"/>
            <a:ext cx="3281069" cy="136578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106" name="직선 화살표 연결선 105"/>
          <p:cNvCxnSpPr>
            <a:stCxn id="105" idx="1"/>
          </p:cNvCxnSpPr>
          <p:nvPr/>
        </p:nvCxnSpPr>
        <p:spPr>
          <a:xfrm flipH="1">
            <a:off x="5191125" y="3217837"/>
            <a:ext cx="1433806" cy="957242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화살표 연결선 2"/>
          <p:cNvCxnSpPr>
            <a:stCxn id="57" idx="1"/>
          </p:cNvCxnSpPr>
          <p:nvPr/>
        </p:nvCxnSpPr>
        <p:spPr>
          <a:xfrm flipH="1" flipV="1">
            <a:off x="4867275" y="3045985"/>
            <a:ext cx="1812135" cy="1577947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그룹 3"/>
          <p:cNvGrpSpPr/>
          <p:nvPr/>
        </p:nvGrpSpPr>
        <p:grpSpPr>
          <a:xfrm>
            <a:off x="5626122" y="493771"/>
            <a:ext cx="3437310" cy="1401523"/>
            <a:chOff x="208598" y="1426695"/>
            <a:chExt cx="3437310" cy="1401523"/>
          </a:xfrm>
        </p:grpSpPr>
        <p:sp>
          <p:nvSpPr>
            <p:cNvPr id="107" name="Rectangle 202"/>
            <p:cNvSpPr/>
            <p:nvPr/>
          </p:nvSpPr>
          <p:spPr>
            <a:xfrm>
              <a:off x="208598" y="1426695"/>
              <a:ext cx="3437310" cy="140152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8" name="텍스트 상자 31"/>
            <p:cNvSpPr txBox="1"/>
            <p:nvPr/>
          </p:nvSpPr>
          <p:spPr>
            <a:xfrm>
              <a:off x="666257" y="1547708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김민수 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|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UX/UI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텍스트 상자 31"/>
            <p:cNvSpPr txBox="1"/>
            <p:nvPr/>
          </p:nvSpPr>
          <p:spPr>
            <a:xfrm>
              <a:off x="666257" y="1685565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시간 전</a:t>
              </a:r>
              <a:endParaRPr kumimoji="1" lang="ko-KR" alt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Rectangle 177"/>
            <p:cNvSpPr/>
            <p:nvPr/>
          </p:nvSpPr>
          <p:spPr>
            <a:xfrm>
              <a:off x="312329" y="2050288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grpSp>
          <p:nvGrpSpPr>
            <p:cNvPr id="111" name="Group 221"/>
            <p:cNvGrpSpPr/>
            <p:nvPr/>
          </p:nvGrpSpPr>
          <p:grpSpPr>
            <a:xfrm>
              <a:off x="729572" y="2143591"/>
              <a:ext cx="1791250" cy="272271"/>
              <a:chOff x="2887384" y="5664055"/>
              <a:chExt cx="1791250" cy="272271"/>
            </a:xfrm>
          </p:grpSpPr>
          <p:sp>
            <p:nvSpPr>
              <p:cNvPr id="112" name="텍스트 상자 31"/>
              <p:cNvSpPr txBox="1"/>
              <p:nvPr/>
            </p:nvSpPr>
            <p:spPr>
              <a:xfrm>
                <a:off x="2892510" y="5664055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A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서비스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TF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팀 중간회식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13" name="텍스트 상자 31"/>
              <p:cNvSpPr txBox="1"/>
              <p:nvPr/>
            </p:nvSpPr>
            <p:spPr>
              <a:xfrm>
                <a:off x="2887384" y="5807060"/>
                <a:ext cx="1621213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2017.09.30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(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금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)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오후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7:00-8:00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14" name="Freeform 33"/>
            <p:cNvSpPr>
              <a:spLocks noEditPoints="1"/>
            </p:cNvSpPr>
            <p:nvPr/>
          </p:nvSpPr>
          <p:spPr bwMode="auto">
            <a:xfrm>
              <a:off x="438981" y="2176892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15" name="직선 연결선[R] 33"/>
            <p:cNvCxnSpPr/>
            <p:nvPr/>
          </p:nvCxnSpPr>
          <p:spPr>
            <a:xfrm>
              <a:off x="297260" y="2597490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텍스트 상자 31"/>
            <p:cNvSpPr txBox="1"/>
            <p:nvPr/>
          </p:nvSpPr>
          <p:spPr>
            <a:xfrm>
              <a:off x="323465" y="1864193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A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서비스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TF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 중간회식 일정을 등록했습니다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227"/>
            <p:cNvSpPr>
              <a:spLocks noChangeArrowheads="1"/>
            </p:cNvSpPr>
            <p:nvPr/>
          </p:nvSpPr>
          <p:spPr bwMode="auto">
            <a:xfrm rot="5400000">
              <a:off x="3392203" y="2244531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18" name="Freeform 26"/>
            <p:cNvSpPr>
              <a:spLocks noChangeAspect="1" noChangeArrowheads="1"/>
            </p:cNvSpPr>
            <p:nvPr/>
          </p:nvSpPr>
          <p:spPr bwMode="auto">
            <a:xfrm flipH="1">
              <a:off x="3491560" y="1551990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19" name="Freeform 25"/>
            <p:cNvSpPr>
              <a:spLocks noChangeAspect="1" noEditPoints="1"/>
            </p:cNvSpPr>
            <p:nvPr/>
          </p:nvSpPr>
          <p:spPr bwMode="auto">
            <a:xfrm>
              <a:off x="3300038" y="1547569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Rectangle 320"/>
            <p:cNvSpPr/>
            <p:nvPr/>
          </p:nvSpPr>
          <p:spPr>
            <a:xfrm>
              <a:off x="258933" y="1800339"/>
              <a:ext cx="3360592" cy="747796"/>
            </a:xfrm>
            <a:prstGeom prst="rect">
              <a:avLst/>
            </a:prstGeom>
            <a:noFill/>
            <a:ln w="3175">
              <a:solidFill>
                <a:srgbClr val="FF0000"/>
              </a:solidFill>
              <a:prstDash val="dash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pic>
          <p:nvPicPr>
            <p:cNvPr id="121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557" y="1536358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22" name="그룹 121"/>
            <p:cNvGrpSpPr/>
            <p:nvPr/>
          </p:nvGrpSpPr>
          <p:grpSpPr>
            <a:xfrm>
              <a:off x="299550" y="2654866"/>
              <a:ext cx="930081" cy="115755"/>
              <a:chOff x="4297396" y="1127703"/>
              <a:chExt cx="930081" cy="115755"/>
            </a:xfrm>
          </p:grpSpPr>
          <p:grpSp>
            <p:nvGrpSpPr>
              <p:cNvPr id="123" name="그룹 122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125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127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134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sz="1633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28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129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grpSp>
                  <p:nvGrpSpPr>
                    <p:cNvPr id="130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131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132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133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126" name="그림 125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124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sp>
        <p:nvSpPr>
          <p:cNvPr id="5" name="직사각형 4"/>
          <p:cNvSpPr/>
          <p:nvPr/>
        </p:nvSpPr>
        <p:spPr>
          <a:xfrm>
            <a:off x="314325" y="714375"/>
            <a:ext cx="4391025" cy="5715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7" name="직선 화살표 연결선 6"/>
          <p:cNvCxnSpPr/>
          <p:nvPr/>
        </p:nvCxnSpPr>
        <p:spPr>
          <a:xfrm flipH="1">
            <a:off x="4808874" y="965455"/>
            <a:ext cx="856599" cy="0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내용 개체 틀 3"/>
          <p:cNvSpPr txBox="1">
            <a:spLocks/>
          </p:cNvSpPr>
          <p:nvPr/>
        </p:nvSpPr>
        <p:spPr>
          <a:xfrm>
            <a:off x="1015905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71464" marR="0" lvl="0" indent="-371464" algn="l" defTabSz="914400" rtl="0" eaLnBrk="0" fontAlgn="base" latinLnBrk="1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SQ5.8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96884" y="1971675"/>
            <a:ext cx="9909289" cy="4629618"/>
          </a:xfrm>
          <a:prstGeom prst="rect">
            <a:avLst/>
          </a:prstGeom>
          <a:solidFill>
            <a:schemeClr val="tx1">
              <a:lumMod val="95000"/>
              <a:lumOff val="5000"/>
              <a:alpha val="48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1100" smtClean="0">
                <a:solidFill>
                  <a:schemeClr val="bg1"/>
                </a:solidFill>
                <a:latin typeface="+mn-ea"/>
                <a:ea typeface="+mn-ea"/>
              </a:rPr>
              <a:t>본문내 이미지가 있는 경우에도 본문 내용 첫줄만 전송하는 걸로 수정</a:t>
            </a:r>
            <a:endParaRPr lang="en-US" altLang="ko-KR" sz="1100" smtClean="0">
              <a:solidFill>
                <a:schemeClr val="bg1"/>
              </a:solidFill>
              <a:latin typeface="+mn-ea"/>
              <a:ea typeface="+mn-ea"/>
            </a:endParaRPr>
          </a:p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1100" smtClean="0">
                <a:solidFill>
                  <a:schemeClr val="bg1"/>
                </a:solidFill>
                <a:latin typeface="+mn-ea"/>
                <a:ea typeface="+mn-ea"/>
              </a:rPr>
              <a:t>2017-12-20</a:t>
            </a:r>
            <a:endParaRPr lang="ko-KR" altLang="en-US" sz="11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634464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직사각형">
            <a:extLst>
              <a:ext uri="{FF2B5EF4-FFF2-40B4-BE49-F238E27FC236}">
                <a16:creationId xmlns:a16="http://schemas.microsoft.com/office/drawing/2014/main" id="{806DF65C-B0DC-4039-BFDD-07A68112E91B}"/>
              </a:ext>
            </a:extLst>
          </p:cNvPr>
          <p:cNvSpPr/>
          <p:nvPr/>
        </p:nvSpPr>
        <p:spPr>
          <a:xfrm>
            <a:off x="484416" y="723722"/>
            <a:ext cx="5459184" cy="544847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43543" tIns="43543" rIns="43543" bIns="43543" anchor="ctr"/>
          <a:lstStyle/>
          <a:p>
            <a:endParaRPr sz="2057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3" name="Rectangle 356"/>
          <p:cNvSpPr/>
          <p:nvPr/>
        </p:nvSpPr>
        <p:spPr>
          <a:xfrm>
            <a:off x="507159" y="761470"/>
            <a:ext cx="5418000" cy="24994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4" name="텍스트 상자 31"/>
          <p:cNvSpPr txBox="1"/>
          <p:nvPr/>
        </p:nvSpPr>
        <p:spPr>
          <a:xfrm>
            <a:off x="625014" y="844272"/>
            <a:ext cx="2903154" cy="1186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71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 읽기</a:t>
            </a:r>
            <a:endParaRPr lang="ko-KR" altLang="en-US" sz="771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5" name="직선 연결선[R] 7"/>
          <p:cNvCxnSpPr/>
          <p:nvPr/>
        </p:nvCxnSpPr>
        <p:spPr>
          <a:xfrm>
            <a:off x="501231" y="1009612"/>
            <a:ext cx="5436000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6" name="직선 연결선[R] 7"/>
          <p:cNvCxnSpPr/>
          <p:nvPr/>
        </p:nvCxnSpPr>
        <p:spPr>
          <a:xfrm>
            <a:off x="500901" y="1342710"/>
            <a:ext cx="5431318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7" name="Group 21"/>
          <p:cNvGrpSpPr/>
          <p:nvPr/>
        </p:nvGrpSpPr>
        <p:grpSpPr>
          <a:xfrm>
            <a:off x="5085416" y="1091529"/>
            <a:ext cx="759076" cy="172800"/>
            <a:chOff x="7047584" y="1671150"/>
            <a:chExt cx="759076" cy="172800"/>
          </a:xfrm>
        </p:grpSpPr>
        <p:grpSp>
          <p:nvGrpSpPr>
            <p:cNvPr id="8" name="Group 295"/>
            <p:cNvGrpSpPr/>
            <p:nvPr/>
          </p:nvGrpSpPr>
          <p:grpSpPr>
            <a:xfrm>
              <a:off x="7047584" y="1671150"/>
              <a:ext cx="360809" cy="172800"/>
              <a:chOff x="7097102" y="1652881"/>
              <a:chExt cx="360809" cy="176922"/>
            </a:xfrm>
          </p:grpSpPr>
          <p:sp>
            <p:nvSpPr>
              <p:cNvPr id="13" name="Rounded Rectangle 296"/>
              <p:cNvSpPr/>
              <p:nvPr/>
            </p:nvSpPr>
            <p:spPr>
              <a:xfrm>
                <a:off x="7097102" y="1652881"/>
                <a:ext cx="360809" cy="176922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4" name="Freeform 298"/>
              <p:cNvSpPr>
                <a:spLocks noChangeArrowheads="1"/>
              </p:cNvSpPr>
              <p:nvPr/>
            </p:nvSpPr>
            <p:spPr bwMode="auto">
              <a:xfrm rot="5400000">
                <a:off x="7125059" y="1726978"/>
                <a:ext cx="91743" cy="47453"/>
              </a:xfrm>
              <a:custGeom>
                <a:avLst/>
                <a:gdLst>
                  <a:gd name="T0" fmla="*/ 0 w 384"/>
                  <a:gd name="T1" fmla="*/ 0 h 200"/>
                  <a:gd name="T2" fmla="*/ 192 w 384"/>
                  <a:gd name="T3" fmla="*/ 199 h 200"/>
                  <a:gd name="T4" fmla="*/ 383 w 384"/>
                  <a:gd name="T5" fmla="*/ 0 h 200"/>
                  <a:gd name="T6" fmla="*/ 0 w 384"/>
                  <a:gd name="T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4" h="200">
                    <a:moveTo>
                      <a:pt x="0" y="0"/>
                    </a:moveTo>
                    <a:lnTo>
                      <a:pt x="192" y="199"/>
                    </a:lnTo>
                    <a:lnTo>
                      <a:pt x="383" y="0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15" name="텍스트 상자 31"/>
              <p:cNvSpPr txBox="1"/>
              <p:nvPr/>
            </p:nvSpPr>
            <p:spPr>
              <a:xfrm>
                <a:off x="7211387" y="1694075"/>
                <a:ext cx="198021" cy="9453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algn="ctr"/>
                <a:r>
                  <a:rPr kumimoji="1" lang="ko-KR" altLang="en-US" sz="6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이전</a:t>
                </a:r>
                <a:endParaRPr kumimoji="1" lang="ko-KR" altLang="en-US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9" name="Group 300"/>
            <p:cNvGrpSpPr/>
            <p:nvPr/>
          </p:nvGrpSpPr>
          <p:grpSpPr>
            <a:xfrm>
              <a:off x="7445851" y="1671150"/>
              <a:ext cx="360809" cy="172800"/>
              <a:chOff x="7495369" y="1652881"/>
              <a:chExt cx="360809" cy="176922"/>
            </a:xfrm>
          </p:grpSpPr>
          <p:sp>
            <p:nvSpPr>
              <p:cNvPr id="10" name="Rounded Rectangle 301"/>
              <p:cNvSpPr/>
              <p:nvPr/>
            </p:nvSpPr>
            <p:spPr>
              <a:xfrm>
                <a:off x="7495369" y="1652881"/>
                <a:ext cx="360809" cy="176922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1" name="Freeform 303"/>
              <p:cNvSpPr>
                <a:spLocks noChangeArrowheads="1"/>
              </p:cNvSpPr>
              <p:nvPr/>
            </p:nvSpPr>
            <p:spPr bwMode="auto">
              <a:xfrm rot="5400000">
                <a:off x="7743844" y="1726978"/>
                <a:ext cx="91745" cy="47453"/>
              </a:xfrm>
              <a:custGeom>
                <a:avLst/>
                <a:gdLst>
                  <a:gd name="T0" fmla="*/ 0 w 383"/>
                  <a:gd name="T1" fmla="*/ 199 h 200"/>
                  <a:gd name="T2" fmla="*/ 191 w 383"/>
                  <a:gd name="T3" fmla="*/ 0 h 200"/>
                  <a:gd name="T4" fmla="*/ 382 w 383"/>
                  <a:gd name="T5" fmla="*/ 199 h 200"/>
                  <a:gd name="T6" fmla="*/ 0 w 383"/>
                  <a:gd name="T7" fmla="*/ 19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3" h="200">
                    <a:moveTo>
                      <a:pt x="0" y="199"/>
                    </a:moveTo>
                    <a:lnTo>
                      <a:pt x="191" y="0"/>
                    </a:lnTo>
                    <a:lnTo>
                      <a:pt x="382" y="199"/>
                    </a:lnTo>
                    <a:lnTo>
                      <a:pt x="0" y="199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12" name="텍스트 상자 31"/>
              <p:cNvSpPr txBox="1"/>
              <p:nvPr/>
            </p:nvSpPr>
            <p:spPr>
              <a:xfrm>
                <a:off x="7565310" y="1694075"/>
                <a:ext cx="184441" cy="9453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6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다음</a:t>
                </a:r>
                <a:endParaRPr kumimoji="1" lang="ko-KR" altLang="en-US" sz="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16" name="텍스트 상자 31"/>
          <p:cNvSpPr txBox="1"/>
          <p:nvPr/>
        </p:nvSpPr>
        <p:spPr>
          <a:xfrm>
            <a:off x="818979" y="2273171"/>
            <a:ext cx="4971352" cy="1097095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안녕하세요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오전 중으로 주간보고 완료 부탁 드립니다</a:t>
            </a:r>
            <a:r>
              <a:rPr kumimoji="1" lang="en-US" altLang="ko-KR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</a:p>
          <a:p>
            <a:pPr>
              <a:lnSpc>
                <a:spcPct val="120000"/>
              </a:lnSpc>
            </a:pPr>
            <a:endParaRPr kumimoji="1" lang="en-US" altLang="ko-KR" sz="6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주간보고 </a:t>
            </a: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하실 때 반드시 ‘저장’ 후 ‘완료’ </a:t>
            </a: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해주세요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기타 부분에 휴가 및 조기퇴근 등의 특이사항 입력 부탁 </a:t>
            </a: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드립니다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평가</a:t>
            </a:r>
            <a:r>
              <a:rPr kumimoji="1" lang="en-US" altLang="ko-KR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/</a:t>
            </a: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면담 하신 시간 주간보고 해 </a:t>
            </a: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주세요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 </a:t>
            </a:r>
          </a:p>
          <a:p>
            <a:pPr>
              <a:lnSpc>
                <a:spcPct val="120000"/>
              </a:lnSpc>
            </a:pP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평소 고마웠던 분들에게 별점 선물하는 건 어떨까요</a:t>
            </a: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?</a:t>
            </a:r>
            <a:endParaRPr kumimoji="1" lang="en-US" altLang="ko-KR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---</a:t>
            </a:r>
          </a:p>
          <a:p>
            <a:pPr>
              <a:lnSpc>
                <a:spcPct val="120000"/>
              </a:lnSpc>
            </a:pPr>
            <a:r>
              <a:rPr kumimoji="1" lang="ko-KR" altLang="en-US" sz="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홍사원 드림</a:t>
            </a:r>
            <a:endParaRPr kumimoji="1" lang="en-US" altLang="ko-KR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" name="텍스트 상자 31"/>
          <p:cNvSpPr txBox="1"/>
          <p:nvPr/>
        </p:nvSpPr>
        <p:spPr>
          <a:xfrm>
            <a:off x="845251" y="1611088"/>
            <a:ext cx="308386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800" b="1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[</a:t>
            </a:r>
            <a:r>
              <a:rPr kumimoji="1" lang="ko-KR" altLang="en-US" sz="800" b="1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받은 편지함</a:t>
            </a:r>
            <a:r>
              <a:rPr kumimoji="1" lang="en-US" altLang="ko-KR" sz="800" b="1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]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Re: 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협업 도구로 뭐가 제일 좋을까요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?</a:t>
            </a:r>
            <a:endParaRPr kumimoji="1" lang="en-US" altLang="ko-KR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" name="텍스트 상자 31"/>
          <p:cNvSpPr txBox="1"/>
          <p:nvPr/>
        </p:nvSpPr>
        <p:spPr>
          <a:xfrm>
            <a:off x="4465309" y="1451891"/>
            <a:ext cx="107677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en-US" altLang="ko-KR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2017.01.29 13:55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9" name="직선 연결선[R] 7"/>
          <p:cNvCxnSpPr/>
          <p:nvPr/>
        </p:nvCxnSpPr>
        <p:spPr>
          <a:xfrm>
            <a:off x="486376" y="1809079"/>
            <a:ext cx="5436000" cy="0"/>
          </a:xfrm>
          <a:prstGeom prst="line">
            <a:avLst/>
          </a:prstGeom>
          <a:ln w="6350">
            <a:solidFill>
              <a:schemeClr val="bg1">
                <a:lumMod val="95000"/>
              </a:schemeClr>
            </a:solidFill>
            <a:miter lim="400000"/>
          </a:ln>
        </p:spPr>
      </p:cxnSp>
      <p:grpSp>
        <p:nvGrpSpPr>
          <p:cNvPr id="20" name="Group 534"/>
          <p:cNvGrpSpPr/>
          <p:nvPr/>
        </p:nvGrpSpPr>
        <p:grpSpPr>
          <a:xfrm>
            <a:off x="660815" y="1864705"/>
            <a:ext cx="2896314" cy="275876"/>
            <a:chOff x="581382" y="2619748"/>
            <a:chExt cx="3609538" cy="343812"/>
          </a:xfrm>
        </p:grpSpPr>
        <p:sp>
          <p:nvSpPr>
            <p:cNvPr id="21" name="직사각형"/>
            <p:cNvSpPr/>
            <p:nvPr/>
          </p:nvSpPr>
          <p:spPr>
            <a:xfrm>
              <a:off x="796686" y="2619748"/>
              <a:ext cx="3394234" cy="343812"/>
            </a:xfrm>
            <a:prstGeom prst="rect">
              <a:avLst/>
            </a:prstGeom>
            <a:noFill/>
            <a:ln w="12700">
              <a:noFill/>
              <a:miter lim="400000"/>
            </a:ln>
          </p:spPr>
          <p:txBody>
            <a:bodyPr wrap="square" lIns="0" tIns="0" rIns="0" bIns="0" anchor="t"/>
            <a:lstStyle/>
            <a:p>
              <a:pPr>
                <a:lnSpc>
                  <a:spcPct val="120000"/>
                </a:lnSpc>
              </a:pPr>
              <a:r>
                <a:rPr lang="en-US" altLang="ko-KR" sz="700" b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To</a:t>
              </a:r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이길수</a:t>
              </a:r>
              <a:endParaRPr kumimoji="1" lang="en-US" altLang="ko-KR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2" name="Group 576"/>
            <p:cNvGrpSpPr/>
            <p:nvPr/>
          </p:nvGrpSpPr>
          <p:grpSpPr>
            <a:xfrm>
              <a:off x="581382" y="2639127"/>
              <a:ext cx="94913" cy="100287"/>
              <a:chOff x="1226479" y="2268605"/>
              <a:chExt cx="94913" cy="100287"/>
            </a:xfrm>
          </p:grpSpPr>
          <p:sp>
            <p:nvSpPr>
              <p:cNvPr id="23" name="Rounded Rectangle 577"/>
              <p:cNvSpPr/>
              <p:nvPr/>
            </p:nvSpPr>
            <p:spPr>
              <a:xfrm>
                <a:off x="1226479" y="2268605"/>
                <a:ext cx="94913" cy="10028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>
                  <a:lnSpc>
                    <a:spcPct val="130000"/>
                  </a:lnSpc>
                </a:pPr>
                <a:endParaRPr 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" name="Triangle 942"/>
              <p:cNvSpPr>
                <a:spLocks noChangeAspect="1"/>
              </p:cNvSpPr>
              <p:nvPr/>
            </p:nvSpPr>
            <p:spPr>
              <a:xfrm flipV="1">
                <a:off x="1242180" y="2302261"/>
                <a:ext cx="62808" cy="36000"/>
              </a:xfrm>
              <a:prstGeom prst="triangl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</p:grpSp>
      </p:grpSp>
      <p:cxnSp>
        <p:nvCxnSpPr>
          <p:cNvPr id="26" name="직선 연결선[R] 7"/>
          <p:cNvCxnSpPr/>
          <p:nvPr/>
        </p:nvCxnSpPr>
        <p:spPr>
          <a:xfrm>
            <a:off x="486376" y="2044566"/>
            <a:ext cx="5436000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miter lim="400000"/>
          </a:ln>
        </p:spPr>
      </p:cxnSp>
      <p:pic>
        <p:nvPicPr>
          <p:cNvPr id="5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175" y="1439318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텍스트 상자 31"/>
          <p:cNvSpPr txBox="1"/>
          <p:nvPr/>
        </p:nvSpPr>
        <p:spPr>
          <a:xfrm>
            <a:off x="1029617" y="1421631"/>
            <a:ext cx="1324282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홍길동 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|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제품기획팀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2224154" y="1377851"/>
            <a:ext cx="648182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+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주소록 추가</a:t>
            </a:r>
          </a:p>
        </p:txBody>
      </p:sp>
      <p:grpSp>
        <p:nvGrpSpPr>
          <p:cNvPr id="59" name="그룹 58"/>
          <p:cNvGrpSpPr/>
          <p:nvPr/>
        </p:nvGrpSpPr>
        <p:grpSpPr>
          <a:xfrm>
            <a:off x="5212319" y="839125"/>
            <a:ext cx="577254" cy="126958"/>
            <a:chOff x="5212319" y="1115350"/>
            <a:chExt cx="577254" cy="126958"/>
          </a:xfrm>
        </p:grpSpPr>
        <p:grpSp>
          <p:nvGrpSpPr>
            <p:cNvPr id="60" name="그룹 59"/>
            <p:cNvGrpSpPr/>
            <p:nvPr/>
          </p:nvGrpSpPr>
          <p:grpSpPr>
            <a:xfrm>
              <a:off x="5212319" y="1115350"/>
              <a:ext cx="577254" cy="108002"/>
              <a:chOff x="6561678" y="1132722"/>
              <a:chExt cx="577254" cy="108002"/>
            </a:xfrm>
          </p:grpSpPr>
          <p:sp>
            <p:nvSpPr>
              <p:cNvPr id="62" name="Freeform 11"/>
              <p:cNvSpPr>
                <a:spLocks noChangeAspect="1" noChangeArrowheads="1"/>
              </p:cNvSpPr>
              <p:nvPr/>
            </p:nvSpPr>
            <p:spPr bwMode="auto">
              <a:xfrm>
                <a:off x="7030932" y="1132722"/>
                <a:ext cx="108000" cy="108002"/>
              </a:xfrm>
              <a:custGeom>
                <a:avLst/>
                <a:gdLst>
                  <a:gd name="T0" fmla="*/ 454 w 455"/>
                  <a:gd name="T1" fmla="*/ 44 h 456"/>
                  <a:gd name="T2" fmla="*/ 411 w 455"/>
                  <a:gd name="T3" fmla="*/ 0 h 456"/>
                  <a:gd name="T4" fmla="*/ 224 w 455"/>
                  <a:gd name="T5" fmla="*/ 181 h 456"/>
                  <a:gd name="T6" fmla="*/ 44 w 455"/>
                  <a:gd name="T7" fmla="*/ 0 h 456"/>
                  <a:gd name="T8" fmla="*/ 0 w 455"/>
                  <a:gd name="T9" fmla="*/ 44 h 456"/>
                  <a:gd name="T10" fmla="*/ 181 w 455"/>
                  <a:gd name="T11" fmla="*/ 224 h 456"/>
                  <a:gd name="T12" fmla="*/ 0 w 455"/>
                  <a:gd name="T13" fmla="*/ 411 h 456"/>
                  <a:gd name="T14" fmla="*/ 44 w 455"/>
                  <a:gd name="T15" fmla="*/ 455 h 456"/>
                  <a:gd name="T16" fmla="*/ 224 w 455"/>
                  <a:gd name="T17" fmla="*/ 274 h 456"/>
                  <a:gd name="T18" fmla="*/ 411 w 455"/>
                  <a:gd name="T19" fmla="*/ 455 h 456"/>
                  <a:gd name="T20" fmla="*/ 454 w 455"/>
                  <a:gd name="T21" fmla="*/ 411 h 456"/>
                  <a:gd name="T22" fmla="*/ 274 w 455"/>
                  <a:gd name="T23" fmla="*/ 224 h 456"/>
                  <a:gd name="T24" fmla="*/ 454 w 455"/>
                  <a:gd name="T25" fmla="*/ 44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5" h="456">
                    <a:moveTo>
                      <a:pt x="454" y="44"/>
                    </a:moveTo>
                    <a:lnTo>
                      <a:pt x="411" y="0"/>
                    </a:lnTo>
                    <a:lnTo>
                      <a:pt x="224" y="181"/>
                    </a:lnTo>
                    <a:lnTo>
                      <a:pt x="44" y="0"/>
                    </a:lnTo>
                    <a:lnTo>
                      <a:pt x="0" y="44"/>
                    </a:lnTo>
                    <a:lnTo>
                      <a:pt x="181" y="224"/>
                    </a:lnTo>
                    <a:lnTo>
                      <a:pt x="0" y="411"/>
                    </a:lnTo>
                    <a:lnTo>
                      <a:pt x="44" y="455"/>
                    </a:lnTo>
                    <a:lnTo>
                      <a:pt x="224" y="274"/>
                    </a:lnTo>
                    <a:lnTo>
                      <a:pt x="411" y="455"/>
                    </a:lnTo>
                    <a:lnTo>
                      <a:pt x="454" y="411"/>
                    </a:lnTo>
                    <a:lnTo>
                      <a:pt x="274" y="224"/>
                    </a:lnTo>
                    <a:lnTo>
                      <a:pt x="454" y="44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cxnSp>
            <p:nvCxnSpPr>
              <p:cNvPr id="63" name="직선 연결선 62"/>
              <p:cNvCxnSpPr/>
              <p:nvPr/>
            </p:nvCxnSpPr>
            <p:spPr>
              <a:xfrm>
                <a:off x="6561678" y="1240724"/>
                <a:ext cx="1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61" name="그림 6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40796" y="1116308"/>
              <a:ext cx="126000" cy="126000"/>
            </a:xfrm>
            <a:prstGeom prst="rect">
              <a:avLst/>
            </a:prstGeom>
          </p:spPr>
        </p:pic>
      </p:grpSp>
      <p:pic>
        <p:nvPicPr>
          <p:cNvPr id="77" name="그림 7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6197" y="1109082"/>
            <a:ext cx="3853006" cy="201185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950432" y="1378046"/>
            <a:ext cx="417349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VIP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설정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1247774" y="94841"/>
            <a:ext cx="1438275" cy="1813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 연계시 메일 읽기 화면</a:t>
            </a:r>
          </a:p>
        </p:txBody>
      </p:sp>
      <p:sp>
        <p:nvSpPr>
          <p:cNvPr id="83" name="직사각형 82"/>
          <p:cNvSpPr/>
          <p:nvPr/>
        </p:nvSpPr>
        <p:spPr>
          <a:xfrm>
            <a:off x="717606" y="5385435"/>
            <a:ext cx="4949770" cy="5200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FF0000"/>
            </a:solidFill>
            <a:prstDash val="solid"/>
          </a:ln>
        </p:spPr>
        <p:txBody>
          <a:bodyPr wrap="none" lIns="72000" tIns="72000" rIns="72000" bIns="72000" rtlCol="0" anchor="t">
            <a:no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다음 달 </a:t>
            </a:r>
            <a:r>
              <a:rPr lang="ko-KR" altLang="en-US" sz="7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회식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날짜 정하려고 합니다</a:t>
            </a:r>
            <a:r>
              <a:rPr lang="en-US" altLang="ko-KR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.</a:t>
            </a:r>
            <a:r>
              <a: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7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일정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확인후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참석가능하신 분들은 댓글로 </a:t>
            </a:r>
            <a:r>
              <a: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가능여부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남겨주세요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.</a:t>
            </a:r>
          </a:p>
          <a:p>
            <a:pPr lvl="0">
              <a:lnSpc>
                <a:spcPct val="150000"/>
              </a:lnSpc>
              <a:defRPr/>
            </a:pPr>
            <a:r>
              <a:rPr lang="en-US" altLang="ko-KR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[</a:t>
            </a: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스퀘어</a:t>
            </a:r>
            <a:r>
              <a:rPr lang="en-US" altLang="ko-KR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] EGW UX </a:t>
            </a:r>
            <a:r>
              <a:rPr lang="ko-KR" altLang="en-US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개선 프로젝트 </a:t>
            </a:r>
            <a:r>
              <a:rPr lang="en-US" altLang="ko-KR" sz="7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TF </a:t>
            </a:r>
            <a:endParaRPr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629446" y="5278755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graphicFrame>
        <p:nvGraphicFramePr>
          <p:cNvPr id="8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9813463"/>
              </p:ext>
            </p:extLst>
          </p:nvPr>
        </p:nvGraphicFramePr>
        <p:xfrm>
          <a:off x="9290533" y="786383"/>
          <a:ext cx="2835467" cy="1064600"/>
        </p:xfrm>
        <a:graphic>
          <a:graphicData uri="http://schemas.openxmlformats.org/drawingml/2006/table">
            <a:tbl>
              <a:tblPr/>
              <a:tblGrid>
                <a:gridCol w="256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790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워크피드 연계로 메일이 발송됐을 때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해당 수신자의 메일 읽기 화면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클릭시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해당 스퀘어 그룹으로 이동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이동시 해당 피드로 포커싱 처리 되는지 개발 확인 필요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87" name="직선 화살표 연결선 86"/>
          <p:cNvCxnSpPr/>
          <p:nvPr/>
        </p:nvCxnSpPr>
        <p:spPr>
          <a:xfrm>
            <a:off x="5681573" y="5629275"/>
            <a:ext cx="1323975" cy="0"/>
          </a:xfrm>
          <a:prstGeom prst="straightConnector1">
            <a:avLst/>
          </a:prstGeom>
          <a:ln w="19050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6600825" y="4621530"/>
            <a:ext cx="3124200" cy="321945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클릭시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비공개 그룹 컨텐츠로 메일 수신자가 열람 권한이 없을 경우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89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9ftbPzdYjmrrprxs6peuBe+uy7PGWnG8otq+na9Gr9eZHV7+q7Nlw0hI52dZ9P8671F41q2dVV+zU7Hp5f5ssXLv3GyzBZ5s6IP07D1b5z84t84SelZrSdlMU2nZdY00ubLFRM0fRT8+SRrcnlDX+SX6+Iya/P07FU2K6on67atlmkxrZZny/PK/+yzdLkuy8NbvPndrF7SiL/ey6d1XdVf79WfWOcNBhp9+4b3q2Uuv71/1+2V/tZ8jXfnda4dx9/uv8+c8e1sOSvz+rt1tlrlNY/ee/1knk/f5rOTeba8yGf+C8NoxcBOuhS5DWAPtPBldZnXdTHL00lVlenZsmi3zny2hGymTeeDUXp2vFqlhMcdB9BjWzwT4ucxw+u/jRcDZPCIIG4dE77t63m2yps0836nIeRXqfftFkEZv86hn/KZfCSQPZwieOEpztMtD/b4rGG4nRcHXsZz9256PJulH53R1H6UTlWbxNu+1/TTECNzvXUWwvj9QyB3PI7xn7Pn2SQvGQH57bPeTI5pGPzdFo/l0UdDsCyQ8RdZfVEsFdmX2WxG07bV/Xr8PD9vR723xm+qVeTTV8XFnFrvDA7EG/vndbVeMQj5LT6m7gtbm8bFLYbH5X/tjSv42I4r+FTH1fv8SUWILdJP0vub0OrreAcoHCJNHrXdOHcdYGPlIAIaCMIU/XwmYoY/xnjv/cEqY6afCM63Yv+x/8eGLqMGbJgy2nwjcfogb00fffVrAf/ZpFLEUg/TiBtvpFAX3K3pwy9+DcA/m7SJuyLD5DHtN1IoAvTWRDLvfj3w3wSpNps59YFusnTv6ZEM2LonXSjvZ+0EiVvYOx3UsMnzIMWNQ7+BmofIF2wgIp+/v+kTIM03Yv0GHGu/i5407Kby2yDdYkAHREHnwEqD/j3+0oD4Gl144vAeDHkb3TEUS2wk156SqxmkVxTsexLsjYXxdTr5WSTZYAi1kWj3biZaHPD7ks2D8vU6+tkjXfzTOm/X9TJt63Ueee+X9D/KS5NX8J9fvBH6eUYv3Qze+/OXbAotL6tilj4tmlXV5FvDESOislsbsPR3lZj2FsHebUGOLYqRod8aSj+Ix9OhHIb6Huxy+8G+B9CNw30POIMDDj/gfECsy5B1NOHBLHMW0rzjB2xVk5+m2D9t8uUsr0fiSxzXF02aD/NYkN+pA4UkcNKsCRp1hoWJ81/TiUl/4S/0oRnlcPN8WR+QGSy9ReTVxeAz8fo6gVgklcEv37ITKI2hnvrxzG07G46VNvXXjRBu29tQ5LGpr4iXfdvuPB++/8bPVm4Lz4Aqv32Oyzz9GIVH+QF2wBdmoebPB3GWlxrj4Rgu0Y/Hm3zbCFvGXN2BSfwaHQ4JQ9RdfL9uN7qkg/3Gva337Dn06v5/II6Gpazb/OFCmS/XC6e+hiWMDMQo/EjVeOdTVredz4xOvDUqOs5BbCwrdzpyvNb9wmOFASzuUpbjcbNeUBx9fRR+/LpYrMrivAB/TGlRs0nbKm2ESarzNFumHzHaH4074O724ZnBykKgz3qP0jPxi7JJ6bnqnaHbFSpdeYm7XaYVg04LmjzMrvx1ixeuZGrf650cE/9eb/wiZYv3ekkYf/c92++9Z/t7nfbhGwOsYr7CaleRlcUPwC+sQx43Oc14nZ9/9pE34x/dPaKpadpsScvG5zWtBLTzPG1W+RS8NusDFpbzmMwiE2E0PBqB+SqMf7yCqRVw/Gt0IQ9PRIu186IZC+PRv1G9CgI8o/G4vrZcX90woxchKNKyECnq8UakLvJOm4F2eDS4DYXCs/g95ve+6zC5+ybeFZ4+l3vwAm7ufa5c2/tcuVM/v5UNeC8G/jxvSbHV5DvRT/Ake7kzUk5ldk1JDsqA4lO2TPRxVlYXX5Mp2b8MDQ+eD5xhGNnNhnXgRTycfvB5Y/yTRVOQSoZf8kUxraumOm/HX56fF9N8fFLV+fiLpnpTF69b0iLjBX5f+75q7FEevDEAM4/1k7rM+UNBbvPiFh6LXyggPxTsNi0t4bG49STxh4LeDYs6Pdk0D0nQ0/w8W5dtepmV60jyDs9tGSmSEWx+WBLVXBXtdJ5u8TA2kG8DCDxTyhx1Bvpo8xt4BkT59vO9gbPMMyyUt+vm2UCetfsMCdc328sGMflmO5rUefb2hnadSVdN9LM977cdwYdO/C3560fzzjr+/y+zftt+Pmzab8lb/2+edWM6fzTxPxu9fPDM35LDbjPxM/F0bjHRlBmsriQxV1+sF5QcPn03zVcYyNZHXy2b9WpV1ZSe8+IL9jvGg0vIeCLu0cDH33RoRTmvCeWnKY1kspg/G3GWSRz2UmB4In7XDzXa8oPgr+WSb4y/8fjh9Hv3wPJ0yy7ufUAXX98z9oMAk/zelO03zwDX47FB0//LJ+c9evh/z9xsXBIxz48m55Y9fMNzEy4aDb06bDDiX7x/NH8bQf65jOrjvHf7aTscIhWebzxl0KPmLVyNOO/fboS3dcLi3P8N93ELB6xPKaekfpZJdVs38v+9lPJUxv/3aXXbLm5Bqp8tr15p/cN17NWdvqyKWSrrtPnWzatlJ2We1Vs3rnndEDV89DKrG1ow5HDgorjMl/6SIk/zK6ytYUXxHNEFPkF8kbVkU1Z13hBF8XIf9CqrW17F/pBIQ1dQmTaRxT/3q7fm+D60638H0+VgwV/AUtiApRCzGoXT1tf9DzeYS9fn+M31ijselCoeNlpBrD6vq/UKS3gehJNqTdNCIHbxBa2mjvmVr9qibMYUKb7IFsHKKZrKAvJH72+vGQGG36QX+P2szRcNaQUPoc/t5xtECmTwAOgq5Nc30tEp8J8b3scDpqdVuzYtaEC7h/Tj8WfeKIXS9PEnn9ywfIPnFv3hYVoK9VK/s+8V37+F/sTDS9zTbPkqJ05v8tcKqr2dBsZzA+1cw1uOCY9l8/fk8ON1Kx/c6PJ3H+nNvn9jt0FLdC0KhuZ4ls9e5dOWmLn8umh8O2ve5O9IhZHwfVNxSPd5j9nA0w31jLqz6mT8QpH9SExjujukIIae98QIT4iRIHJLtvWfPv+f39Jb858N0XLs6UTQe7ck694PjawGo/9Pk/XeLcl674dGVoPR/3fI+h5NLfW/jvZ+RjEMWdHFe8zEe84CMAuWaTYwBhb3UzT8IXBGB6f/77AGHjvn3bWpDcTVRfQfFn37mP1/lMThstwGAvNq9Q+LvF2s/j9K3N5q5Ab6mnXhHxaJI7j9f4fKt2x6y2bnxTIryxsCNvO8B6nBAh3SvOe8fkEpknlWjhXESbX4cvLTFAuINdyUI/KfW5DhhiY3fH0rAt6CcIPDdYHoTWPegOnXTpvhmWacuz/58gubxEvzd5HpHBgmEiHPq4uLvB6zJt366FlWlJT8aysy1kVL6aniB5qDZU5p6OOGgr5pnp5T5onWQEqiBL3AU9+MPxqh/8OhBYd4jg7PBy72v6K8my7ze+m6L/KmyS7yJ9U7QR5JO4P/10266RDCFhHy9n2w4fTNwOwMMl4Ad4j3us4W+r6Z8PxmzMn55rDvgh4aQMSbeb8xdOz1NzeCEPAQ/j134f2w75vCb24APdhDY4jZ4/cbRpC7+OZG4IMdQr6TNvk6eGty4JvGe+8WeNu8xNfBW6Pvbxrve7fA2wb+t8Pb+1N/pR+/5P8B96SA2U9VAAA=&lt;/Code&gt;&lt;CodeSignature&gt;BLF4JWurVfxIUHaELsi3Nd7j9DhOHL/Mzfty2RbBJndEYSJzEH2XjlOCGM5N4Y9nV5FTIAS219vteJTD3Z/4XWVvkZtfgQxlLmoV4wsdfH8OKo8X1itX6TvbMBqX/oVA+6SyYCB5R8xQ4594vwKX3+d6QJj8QV8I9/euyLGJBof34ivmhhRbXnBaRyyay1r8dKnNOuIGkZTn/zoB/RFkN++hixRlxyYGoJYmk9hnLTUGhiN+xcV4T178pA3JDT3bqSjbV1YYEDUiXfNhZcEEDh1Y2sAb87IQ+7WlC694jPU9ip4XAQBKAedRPoA3wYsewBmLptQX6R00D9TbbxddDA==&lt;/CodeSignature&gt;&lt;/SmartOptions&gt;&lt;SmartResize enabled=&quot;True&quot; minWidth=&quot;190&quot; minHeight=&quot;110&quot; /&gt;&lt;/SmartSettings&gt;"/>
          <p:cNvGrpSpPr/>
          <p:nvPr>
            <p:custDataLst>
              <p:tags r:id="rId1"/>
            </p:custDataLst>
          </p:nvPr>
        </p:nvGrpSpPr>
        <p:grpSpPr>
          <a:xfrm>
            <a:off x="7075677" y="5027996"/>
            <a:ext cx="3222246" cy="1507358"/>
            <a:chOff x="595686" y="1261242"/>
            <a:chExt cx="3222246" cy="1507358"/>
          </a:xfrm>
        </p:grpSpPr>
        <p:sp>
          <p:nvSpPr>
            <p:cNvPr id="90" name="Window Body" descr="&lt;Tags&gt;&lt;SMARTRESIZEANCHORS&gt;Absolute,Absolute,Absolute,Absolute&lt;/SMARTRESIZEANCHORS&gt;&lt;/Tags&gt;"/>
            <p:cNvSpPr/>
            <p:nvPr/>
          </p:nvSpPr>
          <p:spPr>
            <a:xfrm>
              <a:off x="595686" y="1498986"/>
              <a:ext cx="3222246" cy="126961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Text" descr="&lt;Tags&gt;&lt;SMARTRESIZEANCHORS&gt;Absolute,Absolute,Absolute,Absolute&lt;/SMARTRESIZEANCHORS&gt;&lt;/Tags&gt;"/>
            <p:cNvSpPr txBox="1"/>
            <p:nvPr/>
          </p:nvSpPr>
          <p:spPr>
            <a:xfrm>
              <a:off x="1335557" y="1635819"/>
              <a:ext cx="2294511" cy="688281"/>
            </a:xfrm>
            <a:prstGeom prst="rect">
              <a:avLst/>
            </a:prstGeom>
            <a:noFill/>
          </p:spPr>
          <p:txBody>
            <a:bodyPr wrap="square" lIns="73152" tIns="36576" rIns="73152" bIns="36576" rtlCol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noProof="1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멤버만 워크피드를 확인할 수 있습니다</a:t>
              </a:r>
              <a:r>
                <a:rPr lang="en-US" altLang="ko-KR" sz="900" noProof="1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noProof="1" smtClean="0">
                <a:solidFill>
                  <a:schemeClr val="tx1">
                    <a:lumMod val="95000"/>
                    <a:lumOff val="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Title Bar" descr="&lt;Tags&gt;&lt;SMARTRESIZEANCHORS&gt;Absolute,None,Absolute,Absolute&lt;/SMARTRESIZEANCHORS&gt;&lt;/Tags&gt;"/>
            <p:cNvSpPr/>
            <p:nvPr/>
          </p:nvSpPr>
          <p:spPr>
            <a:xfrm>
              <a:off x="595686" y="1261242"/>
              <a:ext cx="3222246" cy="2377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Alert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3" name="Close Button" descr="&lt;Tags&gt;&lt;SMARTRESIZEANCHORS&gt;Absolute,None,None,Absolute&lt;/SMARTRESIZEANCHORS&gt;&lt;/Tags&gt;"/>
            <p:cNvSpPr>
              <a:spLocks noEditPoints="1"/>
            </p:cNvSpPr>
            <p:nvPr/>
          </p:nvSpPr>
          <p:spPr bwMode="auto">
            <a:xfrm>
              <a:off x="3607048" y="1332489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4" name="Icons"/>
            <p:cNvGrpSpPr/>
            <p:nvPr/>
          </p:nvGrpSpPr>
          <p:grpSpPr>
            <a:xfrm>
              <a:off x="773534" y="1669713"/>
              <a:ext cx="457200" cy="396875"/>
              <a:chOff x="773534" y="1669713"/>
              <a:chExt cx="457200" cy="396875"/>
            </a:xfrm>
          </p:grpSpPr>
          <p:sp>
            <p:nvSpPr>
              <p:cNvPr id="99" name="Info Icon" descr="&lt;Tags&gt;&lt;SMARTRESIZEANCHORS&gt;Absolute,None,Absolute,None&lt;/SMARTRESIZEANCHORS&gt;&lt;/Tags&gt;"/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0" name="Warning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Error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Question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5" name="Buttons"/>
            <p:cNvGrpSpPr/>
            <p:nvPr/>
          </p:nvGrpSpPr>
          <p:grpSpPr>
            <a:xfrm>
              <a:off x="1538287" y="2386471"/>
              <a:ext cx="2091779" cy="240384"/>
              <a:chOff x="1538287" y="2386471"/>
              <a:chExt cx="2091779" cy="240384"/>
            </a:xfrm>
          </p:grpSpPr>
          <p:sp>
            <p:nvSpPr>
              <p:cNvPr id="96" name="Button 1" descr="&lt;Tags&gt;&lt;SMARTRESIZEANCHORS&gt;None,Absolute,None,Absolute&lt;/SMARTRESIZEANCHORS&gt;&lt;/Tags&gt;"/>
              <p:cNvSpPr>
                <a:spLocks/>
              </p:cNvSpPr>
              <p:nvPr/>
            </p:nvSpPr>
            <p:spPr bwMode="auto">
              <a:xfrm>
                <a:off x="2967037" y="2386471"/>
                <a:ext cx="663029" cy="240384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90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  <a:endParaRPr lang="en-US" sz="900" dirty="0">
                  <a:solidFill>
                    <a:srgbClr val="5F5F5F"/>
                  </a:solidFill>
                  <a:effectLst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Button 2" descr="&lt;Tags&gt;&lt;SMARTRESIZEANCHORS&gt;None,Absolute,None,Absolute&lt;/SMARTRESIZEANCHORS&gt;&lt;/Tags&gt;" hidden="1"/>
              <p:cNvSpPr>
                <a:spLocks/>
              </p:cNvSpPr>
              <p:nvPr/>
            </p:nvSpPr>
            <p:spPr bwMode="auto">
              <a:xfrm>
                <a:off x="2252662" y="2386471"/>
                <a:ext cx="663029" cy="240384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900" dirty="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Cancel</a:t>
                </a:r>
                <a:endParaRPr lang="en-US" sz="900" dirty="0">
                  <a:solidFill>
                    <a:srgbClr val="5F5F5F"/>
                  </a:solidFill>
                  <a:effectLst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8" name="Button 3" descr="&lt;Tags&gt;&lt;SMARTRESIZEANCHORS&gt;None,Absolute,None,Absolute&lt;/SMARTRESIZEANCHORS&gt;&lt;/Tags&gt;" hidden="1"/>
              <p:cNvSpPr>
                <a:spLocks/>
              </p:cNvSpPr>
              <p:nvPr/>
            </p:nvSpPr>
            <p:spPr bwMode="auto">
              <a:xfrm>
                <a:off x="1538287" y="2386471"/>
                <a:ext cx="663029" cy="240384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900" dirty="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Abort</a:t>
                </a:r>
                <a:endParaRPr lang="en-US" sz="900" dirty="0">
                  <a:solidFill>
                    <a:srgbClr val="5F5F5F"/>
                  </a:solidFill>
                  <a:effectLst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4402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Window" descr="&lt;SmartSettings&gt;&lt;SmartResize enabled=&quot;True&quot; minWidth=&quot;60&quot; minHeight=&quot;30&quot; /&gt;&lt;/SmartSettings&gt;"/>
          <p:cNvGrpSpPr/>
          <p:nvPr>
            <p:custDataLst>
              <p:tags r:id="rId1"/>
            </p:custDataLst>
          </p:nvPr>
        </p:nvGrpSpPr>
        <p:grpSpPr>
          <a:xfrm>
            <a:off x="191504" y="494728"/>
            <a:ext cx="6212538" cy="5982272"/>
            <a:chOff x="595684" y="1261242"/>
            <a:chExt cx="6668462" cy="5982272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/>
            <p:cNvSpPr/>
            <p:nvPr>
              <p:custDataLst>
                <p:tags r:id="rId3"/>
              </p:custDataLst>
            </p:nvPr>
          </p:nvSpPr>
          <p:spPr>
            <a:xfrm>
              <a:off x="595684" y="1498986"/>
              <a:ext cx="6668462" cy="57445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4"/>
              </p:custDataLst>
            </p:nvPr>
          </p:nvSpPr>
          <p:spPr>
            <a:xfrm>
              <a:off x="595685" y="1261242"/>
              <a:ext cx="6668461" cy="2377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Window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7037786" y="1332489"/>
              <a:ext cx="105648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295275" y="857250"/>
            <a:ext cx="1333500" cy="285750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게시 하기</a:t>
            </a:r>
          </a:p>
        </p:txBody>
      </p:sp>
      <p:cxnSp>
        <p:nvCxnSpPr>
          <p:cNvPr id="7" name="직선 연결선 6"/>
          <p:cNvCxnSpPr/>
          <p:nvPr/>
        </p:nvCxnSpPr>
        <p:spPr>
          <a:xfrm>
            <a:off x="333375" y="1230630"/>
            <a:ext cx="5840733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25">
            <a:extLst>
              <a:ext uri="{FF2B5EF4-FFF2-40B4-BE49-F238E27FC236}">
                <a16:creationId xmlns:a16="http://schemas.microsoft.com/office/drawing/2014/main" id="{638C44F9-D851-4D52-8D42-49303ABE2677}"/>
              </a:ext>
            </a:extLst>
          </p:cNvPr>
          <p:cNvSpPr/>
          <p:nvPr/>
        </p:nvSpPr>
        <p:spPr>
          <a:xfrm>
            <a:off x="372211" y="1320595"/>
            <a:ext cx="477955" cy="200298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95000"/>
                <a:lumOff val="5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" name="직선 연결선 12"/>
          <p:cNvCxnSpPr/>
          <p:nvPr/>
        </p:nvCxnSpPr>
        <p:spPr>
          <a:xfrm>
            <a:off x="333375" y="1621155"/>
            <a:ext cx="5840733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25">
            <a:extLst>
              <a:ext uri="{FF2B5EF4-FFF2-40B4-BE49-F238E27FC236}">
                <a16:creationId xmlns:a16="http://schemas.microsoft.com/office/drawing/2014/main" id="{638C44F9-D851-4D52-8D42-49303ABE2677}"/>
              </a:ext>
            </a:extLst>
          </p:cNvPr>
          <p:cNvSpPr/>
          <p:nvPr/>
        </p:nvSpPr>
        <p:spPr>
          <a:xfrm>
            <a:off x="943711" y="1320595"/>
            <a:ext cx="477955" cy="200298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95000"/>
                <a:lumOff val="5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Cutout"/>
          <p:cNvGrpSpPr/>
          <p:nvPr/>
        </p:nvGrpSpPr>
        <p:grpSpPr>
          <a:xfrm rot="16200000">
            <a:off x="3202868" y="-601725"/>
            <a:ext cx="191981" cy="6335196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17" name="Fill"/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Border"/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9" name="그림 18">
            <a:extLst>
              <a:ext uri="{FF2B5EF4-FFF2-40B4-BE49-F238E27FC236}">
                <a16:creationId xmlns:a16="http://schemas.microsoft.com/office/drawing/2014/main" id="{9128E977-A121-4B53-AA84-D0395B701FA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267" t="2939" r="400"/>
          <a:stretch/>
        </p:blipFill>
        <p:spPr>
          <a:xfrm>
            <a:off x="333375" y="2832934"/>
            <a:ext cx="5840733" cy="654740"/>
          </a:xfrm>
          <a:prstGeom prst="rect">
            <a:avLst/>
          </a:prstGeom>
        </p:spPr>
      </p:pic>
      <p:sp>
        <p:nvSpPr>
          <p:cNvPr id="20" name="직사각형 19"/>
          <p:cNvSpPr/>
          <p:nvPr/>
        </p:nvSpPr>
        <p:spPr>
          <a:xfrm>
            <a:off x="333142" y="2819400"/>
            <a:ext cx="5840966" cy="3429000"/>
          </a:xfrm>
          <a:prstGeom prst="rect">
            <a:avLst/>
          </a:prstGeom>
          <a:noFill/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546155" y="5385435"/>
            <a:ext cx="5330769" cy="693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FF0000"/>
            </a:solidFill>
            <a:prstDash val="sysDash"/>
          </a:ln>
        </p:spPr>
        <p:txBody>
          <a:bodyPr wrap="none" lIns="72000" tIns="72000" rIns="72000" bIns="72000" rtlCol="0" anchor="t">
            <a:no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다음 달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회식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날짜 정하려고 합니다</a:t>
            </a: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.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일정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확인후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참석가능하신 분들은 댓글로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가능여부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남겨주세요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.</a:t>
            </a:r>
          </a:p>
          <a:p>
            <a:pPr lvl="0">
              <a:lnSpc>
                <a:spcPct val="150000"/>
              </a:lnSpc>
              <a:defRPr/>
            </a:pPr>
            <a:r>
              <a:rPr lang="en-US" altLang="ko-KR" sz="8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[</a:t>
            </a:r>
            <a:r>
              <a:rPr lang="ko-KR" altLang="en-US" sz="8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스퀘어</a:t>
            </a:r>
            <a:r>
              <a:rPr lang="en-US" altLang="ko-KR" sz="8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] EGW UX </a:t>
            </a:r>
            <a:r>
              <a:rPr lang="ko-KR" altLang="en-US" sz="8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개선 프로젝트 </a:t>
            </a:r>
            <a:r>
              <a:rPr lang="en-US" altLang="ko-KR" sz="800" smtClean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/>
              </a:rPr>
              <a:t>TF </a:t>
            </a:r>
            <a:endParaRPr lang="ko-KR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2482886" y="2352453"/>
            <a:ext cx="1469989" cy="362171"/>
          </a:xfrm>
          <a:prstGeom prst="rect">
            <a:avLst/>
          </a:prstGeom>
          <a:solidFill>
            <a:schemeClr val="bg1"/>
          </a:solidFill>
        </p:spPr>
        <p:txBody>
          <a:bodyPr wrap="none" lIns="72000" rIns="72000" rtlCol="0" anchor="ctr">
            <a:noAutofit/>
          </a:bodyPr>
          <a:lstStyle/>
          <a:p>
            <a:pPr algn="ctr"/>
            <a:r>
              <a:rPr lang="ko-KR" altLang="en-US" sz="800" i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이하 </a:t>
            </a:r>
            <a:r>
              <a:rPr lang="en-US" altLang="ko-KR" sz="800" i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RM</a:t>
            </a:r>
            <a:r>
              <a:rPr lang="ko-KR" altLang="en-US" sz="800" i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게시판 입력폼과 동일</a:t>
            </a:r>
          </a:p>
        </p:txBody>
      </p:sp>
      <p:sp>
        <p:nvSpPr>
          <p:cNvPr id="23" name="직각 삼각형 22"/>
          <p:cNvSpPr/>
          <p:nvPr/>
        </p:nvSpPr>
        <p:spPr>
          <a:xfrm flipH="1">
            <a:off x="11404515" y="5833174"/>
            <a:ext cx="720080" cy="834728"/>
          </a:xfrm>
          <a:prstGeom prst="rtTriangl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12/06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추가</a:t>
            </a:r>
            <a:endParaRPr lang="ko-KR" altLang="en-US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247774" y="94841"/>
            <a:ext cx="1438275" cy="1813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 연계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_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게시판</a:t>
            </a:r>
          </a:p>
        </p:txBody>
      </p:sp>
      <p:graphicFrame>
        <p:nvGraphicFramePr>
          <p:cNvPr id="2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213474"/>
              </p:ext>
            </p:extLst>
          </p:nvPr>
        </p:nvGraphicFramePr>
        <p:xfrm>
          <a:off x="9290533" y="786383"/>
          <a:ext cx="2835467" cy="926429"/>
        </p:xfrm>
        <a:graphic>
          <a:graphicData uri="http://schemas.openxmlformats.org/drawingml/2006/table">
            <a:tbl>
              <a:tblPr/>
              <a:tblGrid>
                <a:gridCol w="256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790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클릭시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게시판의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게시하기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팝업창이 출력되며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b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본문내의 하단 영역에 각 유형에 맞는 컨텐츠가 출력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메일과 동일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클릭시 게시판 위치 선택 팝업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0191137"/>
                  </a:ext>
                </a:extLst>
              </a:tr>
            </a:tbl>
          </a:graphicData>
        </a:graphic>
      </p:graphicFrame>
      <p:grpSp>
        <p:nvGrpSpPr>
          <p:cNvPr id="26" name="그룹 25"/>
          <p:cNvGrpSpPr/>
          <p:nvPr/>
        </p:nvGrpSpPr>
        <p:grpSpPr>
          <a:xfrm>
            <a:off x="6907575" y="3391360"/>
            <a:ext cx="3437310" cy="3128097"/>
            <a:chOff x="6959669" y="2965963"/>
            <a:chExt cx="3437310" cy="3128097"/>
          </a:xfrm>
        </p:grpSpPr>
        <p:sp>
          <p:nvSpPr>
            <p:cNvPr id="27" name="Rectangle 501"/>
            <p:cNvSpPr/>
            <p:nvPr/>
          </p:nvSpPr>
          <p:spPr>
            <a:xfrm>
              <a:off x="6959669" y="2965963"/>
              <a:ext cx="3437310" cy="31280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7417328" y="3097306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김민수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|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UX/UI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29" name="그룹 400"/>
            <p:cNvGrpSpPr/>
            <p:nvPr/>
          </p:nvGrpSpPr>
          <p:grpSpPr>
            <a:xfrm>
              <a:off x="7074536" y="3086837"/>
              <a:ext cx="229236" cy="229194"/>
              <a:chOff x="2625629" y="3735853"/>
              <a:chExt cx="276891" cy="276839"/>
            </a:xfrm>
          </p:grpSpPr>
          <p:sp>
            <p:nvSpPr>
              <p:cNvPr id="8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pic>
            <p:nvPicPr>
              <p:cNvPr id="82" name="Picture 157" descr="man-user (1).png"/>
              <p:cNvPicPr>
                <a:picLocks noChangeAspect="1"/>
              </p:cNvPicPr>
              <p:nvPr/>
            </p:nvPicPr>
            <p:blipFill>
              <a:blip r:embed="rId8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0" name="텍스트 상자 31"/>
            <p:cNvSpPr txBox="1"/>
            <p:nvPr/>
          </p:nvSpPr>
          <p:spPr>
            <a:xfrm>
              <a:off x="7417328" y="3235163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1</a:t>
              </a: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시간 전</a:t>
              </a:r>
              <a:endParaRPr kumimoji="1" lang="ko-KR" alt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1" name="Rounded Rectangle 509"/>
            <p:cNvSpPr/>
            <p:nvPr/>
          </p:nvSpPr>
          <p:spPr>
            <a:xfrm>
              <a:off x="7046692" y="4847275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회식</a:t>
              </a:r>
              <a:endParaRPr kumimoji="1" 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2" name="Rounded Rectangle 510"/>
            <p:cNvSpPr/>
            <p:nvPr/>
          </p:nvSpPr>
          <p:spPr>
            <a:xfrm>
              <a:off x="7406248" y="4847275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5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일정</a:t>
              </a:r>
              <a:endParaRPr kumimoji="1" lang="en-US" sz="55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cxnSp>
          <p:nvCxnSpPr>
            <p:cNvPr id="33" name="직선 연결선[R] 33"/>
            <p:cNvCxnSpPr/>
            <p:nvPr/>
          </p:nvCxnSpPr>
          <p:spPr>
            <a:xfrm>
              <a:off x="7048331" y="5029467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Rectangle 507"/>
            <p:cNvSpPr/>
            <p:nvPr/>
          </p:nvSpPr>
          <p:spPr>
            <a:xfrm>
              <a:off x="6959669" y="5269141"/>
              <a:ext cx="3437310" cy="82491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35" name="Group 516"/>
            <p:cNvGrpSpPr/>
            <p:nvPr/>
          </p:nvGrpSpPr>
          <p:grpSpPr>
            <a:xfrm>
              <a:off x="7074536" y="5686084"/>
              <a:ext cx="1612396" cy="229194"/>
              <a:chOff x="2478168" y="4026446"/>
              <a:chExt cx="1612396" cy="229194"/>
            </a:xfrm>
          </p:grpSpPr>
          <p:sp>
            <p:nvSpPr>
              <p:cNvPr id="76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박현주</a:t>
                </a:r>
              </a:p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댓글</a:t>
                </a: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1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블라블라블라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77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79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x-none" altLang="x-none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pic>
              <p:nvPicPr>
                <p:cNvPr id="80" name="Picture 157" descr="man-user (1).png"/>
                <p:cNvPicPr>
                  <a:picLocks noChangeAspect="1"/>
                </p:cNvPicPr>
                <p:nvPr/>
              </p:nvPicPr>
              <p:blipFill>
                <a:blip r:embed="rId8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78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30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분전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cxnSp>
          <p:nvCxnSpPr>
            <p:cNvPr id="36" name="직선 연결선[R] 33"/>
            <p:cNvCxnSpPr/>
            <p:nvPr/>
          </p:nvCxnSpPr>
          <p:spPr>
            <a:xfrm>
              <a:off x="7048331" y="5598452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Rectangle 523"/>
            <p:cNvSpPr/>
            <p:nvPr/>
          </p:nvSpPr>
          <p:spPr>
            <a:xfrm>
              <a:off x="6959669" y="5968132"/>
              <a:ext cx="3437310" cy="12592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8" name="텍스트 상자 31"/>
            <p:cNvSpPr txBox="1"/>
            <p:nvPr/>
          </p:nvSpPr>
          <p:spPr>
            <a:xfrm>
              <a:off x="8378036" y="599015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500" b="1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4</a:t>
              </a:r>
              <a:r>
                <a:rPr kumimoji="1" lang="ko-KR" altLang="en-US" sz="500" b="1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개 모두 보기</a:t>
              </a:r>
              <a:endParaRPr kumimoji="1" lang="ko-KR" altLang="en-US" sz="5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39" name="Freeform 25"/>
            <p:cNvSpPr>
              <a:spLocks noChangeAspect="1" noEditPoints="1"/>
            </p:cNvSpPr>
            <p:nvPr/>
          </p:nvSpPr>
          <p:spPr bwMode="auto">
            <a:xfrm>
              <a:off x="10019776" y="3127249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0" name="Freeform 26"/>
            <p:cNvSpPr>
              <a:spLocks noChangeAspect="1" noChangeArrowheads="1"/>
            </p:cNvSpPr>
            <p:nvPr/>
          </p:nvSpPr>
          <p:spPr bwMode="auto">
            <a:xfrm flipH="1">
              <a:off x="10234736" y="3120153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cxnSp>
          <p:nvCxnSpPr>
            <p:cNvPr id="41" name="직선 연결선[R] 33"/>
            <p:cNvCxnSpPr/>
            <p:nvPr/>
          </p:nvCxnSpPr>
          <p:spPr>
            <a:xfrm>
              <a:off x="7048331" y="4790212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Rounded Rectangle 133"/>
            <p:cNvSpPr/>
            <p:nvPr/>
          </p:nvSpPr>
          <p:spPr>
            <a:xfrm>
              <a:off x="7056014" y="4555937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43" name="Group 1"/>
            <p:cNvGrpSpPr/>
            <p:nvPr/>
          </p:nvGrpSpPr>
          <p:grpSpPr>
            <a:xfrm>
              <a:off x="7229282" y="4592541"/>
              <a:ext cx="493565" cy="107722"/>
              <a:chOff x="2459064" y="3489248"/>
              <a:chExt cx="493565" cy="107722"/>
            </a:xfrm>
          </p:grpSpPr>
          <p:sp>
            <p:nvSpPr>
              <p:cNvPr id="74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75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파일 </a:t>
                </a:r>
                <a:r>
                  <a:rPr kumimoji="1" lang="en-US" altLang="ko-KR" sz="7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5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44" name="Freeform 24"/>
            <p:cNvSpPr>
              <a:spLocks noChangeAspect="1" noChangeArrowheads="1"/>
            </p:cNvSpPr>
            <p:nvPr/>
          </p:nvSpPr>
          <p:spPr bwMode="auto">
            <a:xfrm flipV="1">
              <a:off x="7113604" y="4632651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45" name="Triangle 529"/>
            <p:cNvSpPr>
              <a:spLocks noChangeAspect="1"/>
            </p:cNvSpPr>
            <p:nvPr/>
          </p:nvSpPr>
          <p:spPr>
            <a:xfrm flipV="1">
              <a:off x="8278005" y="6009249"/>
              <a:ext cx="72000" cy="52888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6" name="Rectangle 177"/>
            <p:cNvSpPr/>
            <p:nvPr/>
          </p:nvSpPr>
          <p:spPr>
            <a:xfrm>
              <a:off x="7056014" y="3995656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7" name="Rectangle 177"/>
            <p:cNvSpPr/>
            <p:nvPr/>
          </p:nvSpPr>
          <p:spPr>
            <a:xfrm>
              <a:off x="7056014" y="3995656"/>
              <a:ext cx="457200" cy="45887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Malgun Gothic" charset="0"/>
                </a:rPr>
                <a:t>image</a:t>
              </a:r>
            </a:p>
          </p:txBody>
        </p:sp>
        <p:sp>
          <p:nvSpPr>
            <p:cNvPr id="48" name="텍스트 상자 31"/>
            <p:cNvSpPr txBox="1"/>
            <p:nvPr/>
          </p:nvSpPr>
          <p:spPr>
            <a:xfrm>
              <a:off x="7587899" y="4076097"/>
              <a:ext cx="2520005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네이버</a:t>
              </a:r>
            </a:p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네이버 메인에서 다양한 정보와 유용한 콘텐츠를 만나 보세요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49" name="텍스트 상자 31"/>
            <p:cNvSpPr txBox="1"/>
            <p:nvPr/>
          </p:nvSpPr>
          <p:spPr>
            <a:xfrm>
              <a:off x="9599670" y="4291068"/>
              <a:ext cx="65158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6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Malgun Gothic" charset="0"/>
                </a:rPr>
                <a:t>www.naver.com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Malgun Gothic" charset="0"/>
              </a:endParaRPr>
            </a:p>
          </p:txBody>
        </p:sp>
        <p:grpSp>
          <p:nvGrpSpPr>
            <p:cNvPr id="50" name="그룹 49"/>
            <p:cNvGrpSpPr/>
            <p:nvPr/>
          </p:nvGrpSpPr>
          <p:grpSpPr>
            <a:xfrm>
              <a:off x="7048332" y="5345045"/>
              <a:ext cx="3234094" cy="182010"/>
              <a:chOff x="533424" y="4808330"/>
              <a:chExt cx="3234094" cy="182010"/>
            </a:xfrm>
          </p:grpSpPr>
          <p:sp>
            <p:nvSpPr>
              <p:cNvPr id="68" name="Rectangle 526"/>
              <p:cNvSpPr/>
              <p:nvPr/>
            </p:nvSpPr>
            <p:spPr>
              <a:xfrm>
                <a:off x="533424" y="4808330"/>
                <a:ext cx="3234094" cy="18201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69" name="텍스트 상자 31"/>
              <p:cNvSpPr txBox="1"/>
              <p:nvPr/>
            </p:nvSpPr>
            <p:spPr>
              <a:xfrm>
                <a:off x="568850" y="4860037"/>
                <a:ext cx="713471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5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의견을 입력하세요</a:t>
                </a:r>
                <a:endParaRPr kumimoji="1" lang="ko-KR" altLang="en-US" sz="5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70" name="Rounded Rectangle 193"/>
              <p:cNvSpPr/>
              <p:nvPr/>
            </p:nvSpPr>
            <p:spPr>
              <a:xfrm>
                <a:off x="3485404" y="4835808"/>
                <a:ext cx="257806" cy="137831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등록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 </a:t>
                </a: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71" name="Group 245"/>
              <p:cNvGrpSpPr/>
              <p:nvPr/>
            </p:nvGrpSpPr>
            <p:grpSpPr>
              <a:xfrm>
                <a:off x="3149648" y="4852079"/>
                <a:ext cx="292649" cy="104698"/>
                <a:chOff x="4069651" y="4087589"/>
                <a:chExt cx="389265" cy="139263"/>
              </a:xfrm>
            </p:grpSpPr>
            <p:sp>
              <p:nvSpPr>
                <p:cNvPr id="72" name="Freeform 17"/>
                <p:cNvSpPr>
                  <a:spLocks noChangeArrowheads="1"/>
                </p:cNvSpPr>
                <p:nvPr/>
              </p:nvSpPr>
              <p:spPr bwMode="auto">
                <a:xfrm>
                  <a:off x="4069651" y="4087589"/>
                  <a:ext cx="139453" cy="139263"/>
                </a:xfrm>
                <a:custGeom>
                  <a:avLst/>
                  <a:gdLst>
                    <a:gd name="T0" fmla="*/ 403 w 404"/>
                    <a:gd name="T1" fmla="*/ 360 h 404"/>
                    <a:gd name="T2" fmla="*/ 403 w 404"/>
                    <a:gd name="T3" fmla="*/ 43 h 404"/>
                    <a:gd name="T4" fmla="*/ 360 w 404"/>
                    <a:gd name="T5" fmla="*/ 0 h 404"/>
                    <a:gd name="T6" fmla="*/ 47 w 404"/>
                    <a:gd name="T7" fmla="*/ 0 h 404"/>
                    <a:gd name="T8" fmla="*/ 0 w 404"/>
                    <a:gd name="T9" fmla="*/ 43 h 404"/>
                    <a:gd name="T10" fmla="*/ 0 w 404"/>
                    <a:gd name="T11" fmla="*/ 360 h 404"/>
                    <a:gd name="T12" fmla="*/ 47 w 404"/>
                    <a:gd name="T13" fmla="*/ 403 h 404"/>
                    <a:gd name="T14" fmla="*/ 360 w 404"/>
                    <a:gd name="T15" fmla="*/ 403 h 404"/>
                    <a:gd name="T16" fmla="*/ 403 w 404"/>
                    <a:gd name="T17" fmla="*/ 360 h 404"/>
                    <a:gd name="T18" fmla="*/ 124 w 404"/>
                    <a:gd name="T19" fmla="*/ 236 h 404"/>
                    <a:gd name="T20" fmla="*/ 180 w 404"/>
                    <a:gd name="T21" fmla="*/ 304 h 404"/>
                    <a:gd name="T22" fmla="*/ 257 w 404"/>
                    <a:gd name="T23" fmla="*/ 201 h 404"/>
                    <a:gd name="T24" fmla="*/ 360 w 404"/>
                    <a:gd name="T25" fmla="*/ 334 h 404"/>
                    <a:gd name="T26" fmla="*/ 47 w 404"/>
                    <a:gd name="T27" fmla="*/ 334 h 404"/>
                    <a:gd name="T28" fmla="*/ 124 w 404"/>
                    <a:gd name="T29" fmla="*/ 236 h 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4" h="404">
                      <a:moveTo>
                        <a:pt x="403" y="360"/>
                      </a:moveTo>
                      <a:lnTo>
                        <a:pt x="403" y="43"/>
                      </a:lnTo>
                      <a:cubicBezTo>
                        <a:pt x="403" y="21"/>
                        <a:pt x="386" y="0"/>
                        <a:pt x="360" y="0"/>
                      </a:cubicBezTo>
                      <a:lnTo>
                        <a:pt x="47" y="0"/>
                      </a:lnTo>
                      <a:cubicBezTo>
                        <a:pt x="22" y="0"/>
                        <a:pt x="0" y="21"/>
                        <a:pt x="0" y="43"/>
                      </a:cubicBezTo>
                      <a:lnTo>
                        <a:pt x="0" y="360"/>
                      </a:lnTo>
                      <a:cubicBezTo>
                        <a:pt x="0" y="381"/>
                        <a:pt x="22" y="403"/>
                        <a:pt x="47" y="403"/>
                      </a:cubicBezTo>
                      <a:lnTo>
                        <a:pt x="360" y="403"/>
                      </a:lnTo>
                      <a:cubicBezTo>
                        <a:pt x="386" y="403"/>
                        <a:pt x="403" y="381"/>
                        <a:pt x="403" y="360"/>
                      </a:cubicBezTo>
                      <a:close/>
                      <a:moveTo>
                        <a:pt x="124" y="236"/>
                      </a:moveTo>
                      <a:lnTo>
                        <a:pt x="180" y="304"/>
                      </a:lnTo>
                      <a:lnTo>
                        <a:pt x="257" y="201"/>
                      </a:lnTo>
                      <a:lnTo>
                        <a:pt x="360" y="334"/>
                      </a:lnTo>
                      <a:lnTo>
                        <a:pt x="47" y="334"/>
                      </a:lnTo>
                      <a:lnTo>
                        <a:pt x="124" y="236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  <p:sp>
              <p:nvSpPr>
                <p:cNvPr id="73" name="Freeform 247"/>
                <p:cNvSpPr>
                  <a:spLocks noChangeArrowheads="1"/>
                </p:cNvSpPr>
                <p:nvPr/>
              </p:nvSpPr>
              <p:spPr bwMode="auto">
                <a:xfrm>
                  <a:off x="4284206" y="4107687"/>
                  <a:ext cx="174710" cy="96157"/>
                </a:xfrm>
                <a:custGeom>
                  <a:avLst/>
                  <a:gdLst>
                    <a:gd name="T0" fmla="*/ 214 w 774"/>
                    <a:gd name="T1" fmla="*/ 426 h 427"/>
                    <a:gd name="T2" fmla="*/ 0 w 774"/>
                    <a:gd name="T3" fmla="*/ 213 h 427"/>
                    <a:gd name="T4" fmla="*/ 214 w 774"/>
                    <a:gd name="T5" fmla="*/ 0 h 427"/>
                    <a:gd name="T6" fmla="*/ 618 w 774"/>
                    <a:gd name="T7" fmla="*/ 0 h 427"/>
                    <a:gd name="T8" fmla="*/ 773 w 774"/>
                    <a:gd name="T9" fmla="*/ 154 h 427"/>
                    <a:gd name="T10" fmla="*/ 618 w 774"/>
                    <a:gd name="T11" fmla="*/ 309 h 427"/>
                    <a:gd name="T12" fmla="*/ 287 w 774"/>
                    <a:gd name="T13" fmla="*/ 309 h 427"/>
                    <a:gd name="T14" fmla="*/ 192 w 774"/>
                    <a:gd name="T15" fmla="*/ 213 h 427"/>
                    <a:gd name="T16" fmla="*/ 287 w 774"/>
                    <a:gd name="T17" fmla="*/ 117 h 427"/>
                    <a:gd name="T18" fmla="*/ 581 w 774"/>
                    <a:gd name="T19" fmla="*/ 117 h 427"/>
                    <a:gd name="T20" fmla="*/ 581 w 774"/>
                    <a:gd name="T21" fmla="*/ 176 h 427"/>
                    <a:gd name="T22" fmla="*/ 287 w 774"/>
                    <a:gd name="T23" fmla="*/ 176 h 427"/>
                    <a:gd name="T24" fmla="*/ 250 w 774"/>
                    <a:gd name="T25" fmla="*/ 213 h 427"/>
                    <a:gd name="T26" fmla="*/ 287 w 774"/>
                    <a:gd name="T27" fmla="*/ 250 h 427"/>
                    <a:gd name="T28" fmla="*/ 618 w 774"/>
                    <a:gd name="T29" fmla="*/ 250 h 427"/>
                    <a:gd name="T30" fmla="*/ 714 w 774"/>
                    <a:gd name="T31" fmla="*/ 154 h 427"/>
                    <a:gd name="T32" fmla="*/ 618 w 774"/>
                    <a:gd name="T33" fmla="*/ 58 h 427"/>
                    <a:gd name="T34" fmla="*/ 214 w 774"/>
                    <a:gd name="T35" fmla="*/ 58 h 427"/>
                    <a:gd name="T36" fmla="*/ 59 w 774"/>
                    <a:gd name="T37" fmla="*/ 213 h 427"/>
                    <a:gd name="T38" fmla="*/ 214 w 774"/>
                    <a:gd name="T39" fmla="*/ 367 h 427"/>
                    <a:gd name="T40" fmla="*/ 581 w 774"/>
                    <a:gd name="T41" fmla="*/ 367 h 427"/>
                    <a:gd name="T42" fmla="*/ 581 w 774"/>
                    <a:gd name="T43" fmla="*/ 426 h 427"/>
                    <a:gd name="T44" fmla="*/ 214 w 774"/>
                    <a:gd name="T45" fmla="*/ 426 h 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774" h="427">
                      <a:moveTo>
                        <a:pt x="214" y="426"/>
                      </a:moveTo>
                      <a:cubicBezTo>
                        <a:pt x="96" y="426"/>
                        <a:pt x="0" y="331"/>
                        <a:pt x="0" y="213"/>
                      </a:cubicBezTo>
                      <a:cubicBezTo>
                        <a:pt x="0" y="95"/>
                        <a:pt x="96" y="0"/>
                        <a:pt x="214" y="0"/>
                      </a:cubicBezTo>
                      <a:lnTo>
                        <a:pt x="618" y="0"/>
                      </a:lnTo>
                      <a:cubicBezTo>
                        <a:pt x="699" y="0"/>
                        <a:pt x="773" y="69"/>
                        <a:pt x="773" y="154"/>
                      </a:cubicBezTo>
                      <a:cubicBezTo>
                        <a:pt x="773" y="239"/>
                        <a:pt x="699" y="309"/>
                        <a:pt x="618" y="309"/>
                      </a:cubicBezTo>
                      <a:lnTo>
                        <a:pt x="287" y="309"/>
                      </a:lnTo>
                      <a:cubicBezTo>
                        <a:pt x="236" y="309"/>
                        <a:pt x="192" y="264"/>
                        <a:pt x="192" y="213"/>
                      </a:cubicBezTo>
                      <a:cubicBezTo>
                        <a:pt x="192" y="161"/>
                        <a:pt x="236" y="117"/>
                        <a:pt x="287" y="117"/>
                      </a:cubicBezTo>
                      <a:lnTo>
                        <a:pt x="581" y="117"/>
                      </a:lnTo>
                      <a:lnTo>
                        <a:pt x="581" y="176"/>
                      </a:lnTo>
                      <a:lnTo>
                        <a:pt x="287" y="176"/>
                      </a:lnTo>
                      <a:cubicBezTo>
                        <a:pt x="265" y="176"/>
                        <a:pt x="250" y="191"/>
                        <a:pt x="250" y="213"/>
                      </a:cubicBezTo>
                      <a:cubicBezTo>
                        <a:pt x="250" y="235"/>
                        <a:pt x="265" y="250"/>
                        <a:pt x="287" y="250"/>
                      </a:cubicBezTo>
                      <a:lnTo>
                        <a:pt x="618" y="250"/>
                      </a:lnTo>
                      <a:cubicBezTo>
                        <a:pt x="670" y="250"/>
                        <a:pt x="714" y="209"/>
                        <a:pt x="714" y="154"/>
                      </a:cubicBezTo>
                      <a:cubicBezTo>
                        <a:pt x="714" y="99"/>
                        <a:pt x="670" y="58"/>
                        <a:pt x="618" y="58"/>
                      </a:cubicBezTo>
                      <a:lnTo>
                        <a:pt x="214" y="58"/>
                      </a:lnTo>
                      <a:cubicBezTo>
                        <a:pt x="125" y="58"/>
                        <a:pt x="59" y="128"/>
                        <a:pt x="59" y="213"/>
                      </a:cubicBezTo>
                      <a:cubicBezTo>
                        <a:pt x="59" y="297"/>
                        <a:pt x="125" y="367"/>
                        <a:pt x="214" y="367"/>
                      </a:cubicBezTo>
                      <a:lnTo>
                        <a:pt x="581" y="367"/>
                      </a:lnTo>
                      <a:lnTo>
                        <a:pt x="581" y="426"/>
                      </a:lnTo>
                      <a:lnTo>
                        <a:pt x="214" y="426"/>
                      </a:ln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sz="1633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endParaRPr>
                </a:p>
              </p:txBody>
            </p:sp>
          </p:grpSp>
        </p:grpSp>
        <p:sp>
          <p:nvSpPr>
            <p:cNvPr id="51" name="Freeform 11"/>
            <p:cNvSpPr>
              <a:spLocks noChangeAspect="1" noChangeArrowheads="1"/>
            </p:cNvSpPr>
            <p:nvPr/>
          </p:nvSpPr>
          <p:spPr bwMode="auto">
            <a:xfrm>
              <a:off x="10104342" y="5705344"/>
              <a:ext cx="72000" cy="72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7053276" y="5093195"/>
              <a:ext cx="930081" cy="115755"/>
              <a:chOff x="4297396" y="1127703"/>
              <a:chExt cx="930081" cy="115755"/>
            </a:xfrm>
          </p:grpSpPr>
          <p:grpSp>
            <p:nvGrpSpPr>
              <p:cNvPr id="55" name="그룹 54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57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59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66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67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60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61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62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63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64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65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58" name="그림 57"/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56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53" name="텍스트 상자 31"/>
            <p:cNvSpPr txBox="1"/>
            <p:nvPr/>
          </p:nvSpPr>
          <p:spPr>
            <a:xfrm>
              <a:off x="7074536" y="3440236"/>
              <a:ext cx="3250996" cy="366254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다음 달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#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회식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날짜 정하려고 합니다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.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#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일정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확인후 댓글로 가능여부 남겨주세요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!</a:t>
              </a:r>
              <a:endPara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더불어 몇가지 이슈가 있어 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공유 드립니다</a:t>
              </a:r>
              <a:r>
                <a:rPr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/>
                  <a:ea typeface="맑은 고딕"/>
                </a:rPr>
                <a:t>.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mr-IN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…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더보기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4" name="Create"/>
            <p:cNvSpPr>
              <a:spLocks noChangeAspect="1" noEditPoints="1"/>
            </p:cNvSpPr>
            <p:nvPr/>
          </p:nvSpPr>
          <p:spPr bwMode="auto">
            <a:xfrm>
              <a:off x="9960629" y="5694609"/>
              <a:ext cx="96990" cy="93924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3" name="Rounded Rectangle 397"/>
          <p:cNvSpPr/>
          <p:nvPr/>
        </p:nvSpPr>
        <p:spPr>
          <a:xfrm>
            <a:off x="9161031" y="2950907"/>
            <a:ext cx="918179" cy="560171"/>
          </a:xfrm>
          <a:prstGeom prst="roundRect">
            <a:avLst>
              <a:gd name="adj" fmla="val 0"/>
            </a:avLst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메일로 전송</a:t>
            </a: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게시물로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등록</a:t>
            </a:r>
            <a:endParaRPr kumimoji="1" 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101431" y="3225747"/>
            <a:ext cx="714375" cy="20002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85" name="직선 화살표 연결선 84"/>
          <p:cNvCxnSpPr/>
          <p:nvPr/>
        </p:nvCxnSpPr>
        <p:spPr>
          <a:xfrm flipH="1">
            <a:off x="6729706" y="3311472"/>
            <a:ext cx="2268542" cy="0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모서리가 둥근 직사각형 85"/>
          <p:cNvSpPr/>
          <p:nvPr/>
        </p:nvSpPr>
        <p:spPr>
          <a:xfrm>
            <a:off x="6977356" y="3854398"/>
            <a:ext cx="3281069" cy="136578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87" name="직선 화살표 연결선 86"/>
          <p:cNvCxnSpPr/>
          <p:nvPr/>
        </p:nvCxnSpPr>
        <p:spPr>
          <a:xfrm flipH="1">
            <a:off x="5543550" y="3952875"/>
            <a:ext cx="1390650" cy="1403304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9" name="표 8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265420"/>
              </p:ext>
            </p:extLst>
          </p:nvPr>
        </p:nvGraphicFramePr>
        <p:xfrm>
          <a:off x="419100" y="1739900"/>
          <a:ext cx="5581650" cy="6168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4125">
                  <a:extLst>
                    <a:ext uri="{9D8B030D-6E8A-4147-A177-3AD203B41FA5}">
                      <a16:colId xmlns:a16="http://schemas.microsoft.com/office/drawing/2014/main" val="2665677487"/>
                    </a:ext>
                  </a:extLst>
                </a:gridCol>
                <a:gridCol w="4327525">
                  <a:extLst>
                    <a:ext uri="{9D8B030D-6E8A-4147-A177-3AD203B41FA5}">
                      <a16:colId xmlns:a16="http://schemas.microsoft.com/office/drawing/2014/main" val="3182414624"/>
                    </a:ext>
                  </a:extLst>
                </a:gridCol>
              </a:tblGrid>
              <a:tr h="30842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제목</a:t>
                      </a:r>
                      <a:endParaRPr lang="ko-KR" altLang="en-US" sz="800" b="1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9438359"/>
                  </a:ext>
                </a:extLst>
              </a:tr>
              <a:tr h="30842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게시판 위치</a:t>
                      </a:r>
                      <a:endParaRPr lang="ko-KR" altLang="en-US" sz="800" b="1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208841"/>
                  </a:ext>
                </a:extLst>
              </a:tr>
            </a:tbl>
          </a:graphicData>
        </a:graphic>
      </p:graphicFrame>
      <p:sp>
        <p:nvSpPr>
          <p:cNvPr id="90" name="직사각형 89">
            <a:extLst>
              <a:ext uri="{FF2B5EF4-FFF2-40B4-BE49-F238E27FC236}">
                <a16:creationId xmlns:a16="http://schemas.microsoft.com/office/drawing/2014/main" id="{FF84E853-7D02-4603-92D0-D67B84FCB2B1}"/>
              </a:ext>
            </a:extLst>
          </p:cNvPr>
          <p:cNvSpPr/>
          <p:nvPr/>
        </p:nvSpPr>
        <p:spPr>
          <a:xfrm>
            <a:off x="2156006" y="1787173"/>
            <a:ext cx="3387544" cy="19433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F84E853-7D02-4603-92D0-D67B84FCB2B1}"/>
              </a:ext>
            </a:extLst>
          </p:cNvPr>
          <p:cNvSpPr/>
          <p:nvPr/>
        </p:nvSpPr>
        <p:spPr>
          <a:xfrm>
            <a:off x="1400679" y="1787173"/>
            <a:ext cx="642610" cy="19433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머리글    ▼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9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&lt;/Code&gt;&lt;CodeSignature&gt;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&lt;/CodeSignature&gt;&lt;/SmartOptions&gt;&lt;SmartResize enabled=&quot;True&quot; minWidth=&quot;10&quot; minHeight=&quot;10&quot; /&gt;&lt;/SmartSettings&gt;"/>
          <p:cNvGrpSpPr/>
          <p:nvPr>
            <p:custDataLst>
              <p:tags r:id="rId2"/>
            </p:custDataLst>
          </p:nvPr>
        </p:nvGrpSpPr>
        <p:grpSpPr>
          <a:xfrm>
            <a:off x="5607529" y="1787173"/>
            <a:ext cx="484473" cy="196977"/>
            <a:chOff x="554563" y="2599933"/>
            <a:chExt cx="484473" cy="196977"/>
          </a:xfrm>
        </p:grpSpPr>
        <p:sp>
          <p:nvSpPr>
            <p:cNvPr id="93" name="Box" descr="&lt;Tags&gt;&lt;SMARTRESIZEANCHORS&gt;None,None,Absolute,None&lt;/SMARTRESIZEANCHORS&gt;&lt;/Tags&gt;"/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" name="Label" descr="&lt;Tags&gt;&lt;SMARTRESIZEANCHORS&gt;Absolute,Absolute,Absolute,Absolute&lt;/SMARTRESIZEANCHORS&gt;&lt;/Tags&gt;"/>
            <p:cNvSpPr txBox="1"/>
            <p:nvPr/>
          </p:nvSpPr>
          <p:spPr>
            <a:xfrm>
              <a:off x="686119" y="2599933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긴급</a:t>
              </a:r>
              <a:endParaRPr lang="en-US" sz="800" dirty="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" name="Check" descr="&lt;Tags&gt;&lt;SMARTRESIZEANCHORS&gt;None,None,Absolute,None&lt;/SMARTRESIZEANCHORS&gt;&lt;/Tags&gt;" hidden="1"/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1398763" y="2103086"/>
            <a:ext cx="3504697" cy="194334"/>
            <a:chOff x="3315203" y="1729716"/>
            <a:chExt cx="3504697" cy="194334"/>
          </a:xfrm>
        </p:grpSpPr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FF84E853-7D02-4603-92D0-D67B84FCB2B1}"/>
                </a:ext>
              </a:extLst>
            </p:cNvPr>
            <p:cNvSpPr/>
            <p:nvPr/>
          </p:nvSpPr>
          <p:spPr>
            <a:xfrm>
              <a:off x="3315203" y="1729716"/>
              <a:ext cx="3504697" cy="1943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pic>
          <p:nvPicPr>
            <p:cNvPr id="97" name="그림 96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35877" y="1753003"/>
              <a:ext cx="143550" cy="143550"/>
            </a:xfrm>
            <a:prstGeom prst="rect">
              <a:avLst/>
            </a:prstGeom>
          </p:spPr>
        </p:pic>
      </p:grpSp>
      <p:sp>
        <p:nvSpPr>
          <p:cNvPr id="99" name="타원 98"/>
          <p:cNvSpPr/>
          <p:nvPr/>
        </p:nvSpPr>
        <p:spPr>
          <a:xfrm>
            <a:off x="8982871" y="3164205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  <p:sp>
        <p:nvSpPr>
          <p:cNvPr id="100" name="타원 99"/>
          <p:cNvSpPr/>
          <p:nvPr/>
        </p:nvSpPr>
        <p:spPr>
          <a:xfrm>
            <a:off x="4506121" y="2106930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2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444044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/>
          <p:cNvGrpSpPr/>
          <p:nvPr/>
        </p:nvGrpSpPr>
        <p:grpSpPr>
          <a:xfrm>
            <a:off x="532033" y="645653"/>
            <a:ext cx="3201767" cy="4549985"/>
            <a:chOff x="532033" y="645653"/>
            <a:chExt cx="4536504" cy="4549985"/>
          </a:xfrm>
        </p:grpSpPr>
        <p:sp>
          <p:nvSpPr>
            <p:cNvPr id="3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3"/>
              </p:custDataLst>
            </p:nvPr>
          </p:nvSpPr>
          <p:spPr>
            <a:xfrm>
              <a:off x="532033" y="645653"/>
              <a:ext cx="4536504" cy="454998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4" name="직선 연결선 3"/>
            <p:cNvCxnSpPr/>
            <p:nvPr/>
          </p:nvCxnSpPr>
          <p:spPr>
            <a:xfrm>
              <a:off x="616279" y="1031862"/>
              <a:ext cx="4394062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직사각형 6"/>
          <p:cNvSpPr/>
          <p:nvPr/>
        </p:nvSpPr>
        <p:spPr>
          <a:xfrm>
            <a:off x="747911" y="1215802"/>
            <a:ext cx="2757289" cy="31493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8" name="모서리가 둥근 직사각형 7"/>
          <p:cNvSpPr/>
          <p:nvPr/>
        </p:nvSpPr>
        <p:spPr>
          <a:xfrm>
            <a:off x="2255429" y="4628427"/>
            <a:ext cx="1126484" cy="277391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취소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05043" y="752448"/>
            <a:ext cx="661742" cy="195956"/>
          </a:xfrm>
          <a:prstGeom prst="rect">
            <a:avLst/>
          </a:prstGeom>
          <a:noFill/>
        </p:spPr>
        <p:txBody>
          <a:bodyPr wrap="none" lIns="36000" r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위치 선택</a:t>
            </a:r>
            <a:endParaRPr kumimoji="1" lang="ko-KR" altLang="en-US" sz="12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Close Button" descr="&lt;SmartSettings&gt;&lt;SmartResize anchorLeft=&quot;None&quot; anchorTop=&quot;Absolute&quot; anchorRight=&quot;Absolute&quot; anchorBottom=&quot;None&quot; /&gt;&lt;/SmartSettings&gt;"/>
          <p:cNvSpPr>
            <a:spLocks noEditPoints="1"/>
          </p:cNvSpPr>
          <p:nvPr>
            <p:custDataLst>
              <p:tags r:id="rId1"/>
            </p:custDataLst>
          </p:nvPr>
        </p:nvSpPr>
        <p:spPr bwMode="auto">
          <a:xfrm>
            <a:off x="3449013" y="799496"/>
            <a:ext cx="123053" cy="116625"/>
          </a:xfrm>
          <a:custGeom>
            <a:avLst/>
            <a:gdLst>
              <a:gd name="T0" fmla="*/ 254 w 254"/>
              <a:gd name="T1" fmla="*/ 0 h 254"/>
              <a:gd name="T2" fmla="*/ 0 w 254"/>
              <a:gd name="T3" fmla="*/ 254 h 254"/>
              <a:gd name="T4" fmla="*/ 0 w 254"/>
              <a:gd name="T5" fmla="*/ 0 h 254"/>
              <a:gd name="T6" fmla="*/ 254 w 254"/>
              <a:gd name="T7" fmla="*/ 25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" h="254">
                <a:moveTo>
                  <a:pt x="254" y="0"/>
                </a:moveTo>
                <a:lnTo>
                  <a:pt x="0" y="254"/>
                </a:lnTo>
                <a:moveTo>
                  <a:pt x="0" y="0"/>
                </a:moveTo>
                <a:lnTo>
                  <a:pt x="254" y="254"/>
                </a:lnTo>
              </a:path>
            </a:pathLst>
          </a:custGeom>
          <a:noFill/>
          <a:ln w="9525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" name="모서리가 둥근 직사각형 8"/>
          <p:cNvSpPr/>
          <p:nvPr/>
        </p:nvSpPr>
        <p:spPr>
          <a:xfrm>
            <a:off x="949287" y="4628427"/>
            <a:ext cx="1126484" cy="277391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9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ko-KR" altLang="en-US" sz="9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모서리가 둥근 직사각형 9"/>
          <p:cNvSpPr/>
          <p:nvPr/>
        </p:nvSpPr>
        <p:spPr>
          <a:xfrm>
            <a:off x="3403294" y="1638501"/>
            <a:ext cx="45719" cy="1969526"/>
          </a:xfrm>
          <a:prstGeom prst="roundRect">
            <a:avLst>
              <a:gd name="adj" fmla="val 38585"/>
            </a:avLst>
          </a:prstGeom>
          <a:solidFill>
            <a:schemeClr val="bg1">
              <a:lumMod val="6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40" name="그룹 39"/>
          <p:cNvGrpSpPr/>
          <p:nvPr/>
        </p:nvGrpSpPr>
        <p:grpSpPr>
          <a:xfrm>
            <a:off x="929734" y="1743719"/>
            <a:ext cx="1563174" cy="1455540"/>
            <a:chOff x="834484" y="1298848"/>
            <a:chExt cx="1563174" cy="1455540"/>
          </a:xfrm>
        </p:grpSpPr>
        <p:sp>
          <p:nvSpPr>
            <p:cNvPr id="11" name="TextBox 10"/>
            <p:cNvSpPr txBox="1"/>
            <p:nvPr/>
          </p:nvSpPr>
          <p:spPr>
            <a:xfrm>
              <a:off x="1259205" y="1430949"/>
              <a:ext cx="1138453" cy="13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핸디소프트</a:t>
              </a:r>
              <a:endParaRPr lang="en-US" altLang="ko-KR" sz="800" smtClean="0">
                <a:latin typeface="+mn-ea"/>
                <a:ea typeface="+mn-ea"/>
              </a:endParaRPr>
            </a:p>
            <a:p>
              <a:pPr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         알림마당</a:t>
              </a:r>
              <a:endParaRPr lang="en-US" altLang="ko-KR" sz="800" smtClean="0">
                <a:latin typeface="+mn-ea"/>
                <a:ea typeface="+mn-ea"/>
              </a:endParaRPr>
            </a:p>
            <a:p>
              <a:pPr indent="355600"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     공지사항</a:t>
              </a:r>
              <a:endParaRPr lang="en-US" altLang="ko-KR" sz="800" smtClean="0">
                <a:latin typeface="+mn-ea"/>
                <a:ea typeface="+mn-ea"/>
              </a:endParaRPr>
            </a:p>
            <a:p>
              <a:pPr indent="177800"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    정보마당</a:t>
              </a:r>
              <a:endParaRPr lang="en-US" altLang="ko-KR" sz="800" smtClean="0">
                <a:latin typeface="+mn-ea"/>
                <a:ea typeface="+mn-ea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913259" y="1298848"/>
              <a:ext cx="906016" cy="206102"/>
            </a:xfrm>
            <a:prstGeom prst="rect">
              <a:avLst/>
            </a:prstGeom>
            <a:noFill/>
          </p:spPr>
          <p:txBody>
            <a:bodyPr wrap="none" lIns="72000" rIns="72000" rtlCol="0" anchor="ctr">
              <a:noAutofit/>
            </a:bodyPr>
            <a:lstStyle/>
            <a:p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다산그룹</a:t>
              </a:r>
            </a:p>
          </p:txBody>
        </p:sp>
        <p:pic>
          <p:nvPicPr>
            <p:cNvPr id="14" name="그림 1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4484" y="1337272"/>
              <a:ext cx="120427" cy="120427"/>
            </a:xfrm>
            <a:prstGeom prst="rect">
              <a:avLst/>
            </a:prstGeom>
          </p:spPr>
        </p:pic>
        <p:grpSp>
          <p:nvGrpSpPr>
            <p:cNvPr id="15" name="그룹 14"/>
            <p:cNvGrpSpPr/>
            <p:nvPr/>
          </p:nvGrpSpPr>
          <p:grpSpPr>
            <a:xfrm>
              <a:off x="1045937" y="1610127"/>
              <a:ext cx="278937" cy="120427"/>
              <a:chOff x="1045937" y="1610127"/>
              <a:chExt cx="278937" cy="120427"/>
            </a:xfrm>
          </p:grpSpPr>
          <p:pic>
            <p:nvPicPr>
              <p:cNvPr id="16" name="그림 15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17" name="타원 16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grpSp>
          <p:nvGrpSpPr>
            <p:cNvPr id="18" name="그룹 17"/>
            <p:cNvGrpSpPr/>
            <p:nvPr/>
          </p:nvGrpSpPr>
          <p:grpSpPr>
            <a:xfrm>
              <a:off x="1374184" y="1914928"/>
              <a:ext cx="278937" cy="120427"/>
              <a:chOff x="1045937" y="1610127"/>
              <a:chExt cx="278937" cy="120427"/>
            </a:xfrm>
          </p:grpSpPr>
          <p:pic>
            <p:nvPicPr>
              <p:cNvPr id="19" name="그림 18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20" name="타원 19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grpSp>
          <p:nvGrpSpPr>
            <p:cNvPr id="21" name="그룹 20"/>
            <p:cNvGrpSpPr/>
            <p:nvPr/>
          </p:nvGrpSpPr>
          <p:grpSpPr>
            <a:xfrm>
              <a:off x="1573476" y="2219729"/>
              <a:ext cx="278937" cy="120427"/>
              <a:chOff x="1045937" y="1610127"/>
              <a:chExt cx="278937" cy="120427"/>
            </a:xfrm>
          </p:grpSpPr>
          <p:pic>
            <p:nvPicPr>
              <p:cNvPr id="22" name="그림 21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23" name="타원 22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grpSp>
          <p:nvGrpSpPr>
            <p:cNvPr id="24" name="그룹 23"/>
            <p:cNvGrpSpPr/>
            <p:nvPr/>
          </p:nvGrpSpPr>
          <p:grpSpPr>
            <a:xfrm>
              <a:off x="1374184" y="2512806"/>
              <a:ext cx="278937" cy="120427"/>
              <a:chOff x="1045937" y="1610127"/>
              <a:chExt cx="278937" cy="120427"/>
            </a:xfrm>
          </p:grpSpPr>
          <p:pic>
            <p:nvPicPr>
              <p:cNvPr id="25" name="그림 24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26" name="타원 25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cxnSp>
          <p:nvCxnSpPr>
            <p:cNvPr id="29" name="꺾인 연결선 28"/>
            <p:cNvCxnSpPr/>
            <p:nvPr/>
          </p:nvCxnSpPr>
          <p:spPr>
            <a:xfrm rot="16200000" flipH="1">
              <a:off x="1117873" y="1709306"/>
              <a:ext cx="244588" cy="268033"/>
            </a:xfrm>
            <a:prstGeom prst="bentConnector2">
              <a:avLst/>
            </a:prstGeom>
            <a:ln w="3175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그룹 29"/>
            <p:cNvGrpSpPr/>
            <p:nvPr/>
          </p:nvGrpSpPr>
          <p:grpSpPr>
            <a:xfrm>
              <a:off x="894697" y="1457699"/>
              <a:ext cx="678779" cy="1115321"/>
              <a:chOff x="894697" y="1457699"/>
              <a:chExt cx="678779" cy="1115321"/>
            </a:xfrm>
          </p:grpSpPr>
          <p:cxnSp>
            <p:nvCxnSpPr>
              <p:cNvPr id="31" name="꺾인 연결선 30"/>
              <p:cNvCxnSpPr>
                <a:stCxn id="14" idx="2"/>
                <a:endCxn id="16" idx="1"/>
              </p:cNvCxnSpPr>
              <p:nvPr/>
            </p:nvCxnSpPr>
            <p:spPr>
              <a:xfrm rot="16200000" flipH="1">
                <a:off x="863996" y="1488400"/>
                <a:ext cx="212642" cy="151239"/>
              </a:xfrm>
              <a:prstGeom prst="bentConnector2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꺾인 연결선 31"/>
              <p:cNvCxnSpPr>
                <a:stCxn id="19" idx="2"/>
                <a:endCxn id="22" idx="1"/>
              </p:cNvCxnSpPr>
              <p:nvPr/>
            </p:nvCxnSpPr>
            <p:spPr>
              <a:xfrm rot="16200000" flipH="1">
                <a:off x="1381643" y="2088110"/>
                <a:ext cx="244588" cy="139078"/>
              </a:xfrm>
              <a:prstGeom prst="bentConnector2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꺾인 연결선 32"/>
              <p:cNvCxnSpPr>
                <a:stCxn id="16" idx="2"/>
                <a:endCxn id="25" idx="1"/>
              </p:cNvCxnSpPr>
              <p:nvPr/>
            </p:nvCxnSpPr>
            <p:spPr>
              <a:xfrm rot="16200000" flipH="1">
                <a:off x="818934" y="2017770"/>
                <a:ext cx="842466" cy="268033"/>
              </a:xfrm>
              <a:prstGeom prst="bentConnector2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" name="TextBox 35"/>
          <p:cNvSpPr txBox="1"/>
          <p:nvPr/>
        </p:nvSpPr>
        <p:spPr>
          <a:xfrm>
            <a:off x="1228825" y="80066"/>
            <a:ext cx="914400" cy="2056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>
              <a:defRPr/>
            </a:pPr>
            <a:r>
              <a:rPr lang="en-US" altLang="ko-KR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#</a:t>
            </a:r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위치 선택</a:t>
            </a:r>
            <a:r>
              <a:rPr lang="en-US" altLang="ko-KR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_modal</a:t>
            </a:r>
            <a:endParaRPr lang="ko-KR" altLang="en-US" sz="80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0172800" y="308666"/>
            <a:ext cx="914400" cy="20568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en-US" altLang="ko-KR" sz="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BO7.3.1.1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847726" y="1323975"/>
            <a:ext cx="2374656" cy="23812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2" name="Search Ic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8772CE8-74D3-4691-950D-6A2C55699AAB}"/>
              </a:ext>
            </a:extLst>
          </p:cNvPr>
          <p:cNvSpPr>
            <a:spLocks noChangeAspect="1" noEditPoints="1"/>
          </p:cNvSpPr>
          <p:nvPr>
            <p:custDataLst>
              <p:tags r:id="rId2"/>
            </p:custDataLst>
          </p:nvPr>
        </p:nvSpPr>
        <p:spPr bwMode="auto">
          <a:xfrm>
            <a:off x="2997984" y="1377541"/>
            <a:ext cx="128723" cy="121217"/>
          </a:xfrm>
          <a:custGeom>
            <a:avLst/>
            <a:gdLst>
              <a:gd name="T0" fmla="*/ 232 w 354"/>
              <a:gd name="T1" fmla="*/ 0 h 354"/>
              <a:gd name="T2" fmla="*/ 264 w 354"/>
              <a:gd name="T3" fmla="*/ 5 h 354"/>
              <a:gd name="T4" fmla="*/ 293 w 354"/>
              <a:gd name="T5" fmla="*/ 17 h 354"/>
              <a:gd name="T6" fmla="*/ 318 w 354"/>
              <a:gd name="T7" fmla="*/ 36 h 354"/>
              <a:gd name="T8" fmla="*/ 337 w 354"/>
              <a:gd name="T9" fmla="*/ 61 h 354"/>
              <a:gd name="T10" fmla="*/ 349 w 354"/>
              <a:gd name="T11" fmla="*/ 90 h 354"/>
              <a:gd name="T12" fmla="*/ 354 w 354"/>
              <a:gd name="T13" fmla="*/ 122 h 354"/>
              <a:gd name="T14" fmla="*/ 349 w 354"/>
              <a:gd name="T15" fmla="*/ 154 h 354"/>
              <a:gd name="T16" fmla="*/ 337 w 354"/>
              <a:gd name="T17" fmla="*/ 183 h 354"/>
              <a:gd name="T18" fmla="*/ 318 w 354"/>
              <a:gd name="T19" fmla="*/ 208 h 354"/>
              <a:gd name="T20" fmla="*/ 293 w 354"/>
              <a:gd name="T21" fmla="*/ 227 h 354"/>
              <a:gd name="T22" fmla="*/ 264 w 354"/>
              <a:gd name="T23" fmla="*/ 239 h 354"/>
              <a:gd name="T24" fmla="*/ 232 w 354"/>
              <a:gd name="T25" fmla="*/ 244 h 354"/>
              <a:gd name="T26" fmla="*/ 191 w 354"/>
              <a:gd name="T27" fmla="*/ 236 h 354"/>
              <a:gd name="T28" fmla="*/ 154 w 354"/>
              <a:gd name="T29" fmla="*/ 215 h 354"/>
              <a:gd name="T30" fmla="*/ 19 w 354"/>
              <a:gd name="T31" fmla="*/ 351 h 354"/>
              <a:gd name="T32" fmla="*/ 11 w 354"/>
              <a:gd name="T33" fmla="*/ 354 h 354"/>
              <a:gd name="T34" fmla="*/ 3 w 354"/>
              <a:gd name="T35" fmla="*/ 351 h 354"/>
              <a:gd name="T36" fmla="*/ 0 w 354"/>
              <a:gd name="T37" fmla="*/ 343 h 354"/>
              <a:gd name="T38" fmla="*/ 3 w 354"/>
              <a:gd name="T39" fmla="*/ 335 h 354"/>
              <a:gd name="T40" fmla="*/ 139 w 354"/>
              <a:gd name="T41" fmla="*/ 200 h 354"/>
              <a:gd name="T42" fmla="*/ 118 w 354"/>
              <a:gd name="T43" fmla="*/ 163 h 354"/>
              <a:gd name="T44" fmla="*/ 110 w 354"/>
              <a:gd name="T45" fmla="*/ 122 h 354"/>
              <a:gd name="T46" fmla="*/ 115 w 354"/>
              <a:gd name="T47" fmla="*/ 90 h 354"/>
              <a:gd name="T48" fmla="*/ 127 w 354"/>
              <a:gd name="T49" fmla="*/ 61 h 354"/>
              <a:gd name="T50" fmla="*/ 146 w 354"/>
              <a:gd name="T51" fmla="*/ 36 h 354"/>
              <a:gd name="T52" fmla="*/ 171 w 354"/>
              <a:gd name="T53" fmla="*/ 17 h 354"/>
              <a:gd name="T54" fmla="*/ 200 w 354"/>
              <a:gd name="T55" fmla="*/ 5 h 354"/>
              <a:gd name="T56" fmla="*/ 232 w 354"/>
              <a:gd name="T57" fmla="*/ 0 h 354"/>
              <a:gd name="T58" fmla="*/ 232 w 354"/>
              <a:gd name="T59" fmla="*/ 221 h 354"/>
              <a:gd name="T60" fmla="*/ 271 w 354"/>
              <a:gd name="T61" fmla="*/ 214 h 354"/>
              <a:gd name="T62" fmla="*/ 302 w 354"/>
              <a:gd name="T63" fmla="*/ 192 h 354"/>
              <a:gd name="T64" fmla="*/ 324 w 354"/>
              <a:gd name="T65" fmla="*/ 161 h 354"/>
              <a:gd name="T66" fmla="*/ 331 w 354"/>
              <a:gd name="T67" fmla="*/ 122 h 354"/>
              <a:gd name="T68" fmla="*/ 324 w 354"/>
              <a:gd name="T69" fmla="*/ 83 h 354"/>
              <a:gd name="T70" fmla="*/ 302 w 354"/>
              <a:gd name="T71" fmla="*/ 52 h 354"/>
              <a:gd name="T72" fmla="*/ 271 w 354"/>
              <a:gd name="T73" fmla="*/ 30 h 354"/>
              <a:gd name="T74" fmla="*/ 232 w 354"/>
              <a:gd name="T75" fmla="*/ 23 h 354"/>
              <a:gd name="T76" fmla="*/ 193 w 354"/>
              <a:gd name="T77" fmla="*/ 30 h 354"/>
              <a:gd name="T78" fmla="*/ 162 w 354"/>
              <a:gd name="T79" fmla="*/ 52 h 354"/>
              <a:gd name="T80" fmla="*/ 140 w 354"/>
              <a:gd name="T81" fmla="*/ 83 h 354"/>
              <a:gd name="T82" fmla="*/ 133 w 354"/>
              <a:gd name="T83" fmla="*/ 122 h 354"/>
              <a:gd name="T84" fmla="*/ 140 w 354"/>
              <a:gd name="T85" fmla="*/ 161 h 354"/>
              <a:gd name="T86" fmla="*/ 162 w 354"/>
              <a:gd name="T87" fmla="*/ 192 h 354"/>
              <a:gd name="T88" fmla="*/ 193 w 354"/>
              <a:gd name="T89" fmla="*/ 214 h 354"/>
              <a:gd name="T90" fmla="*/ 232 w 354"/>
              <a:gd name="T91" fmla="*/ 2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4" h="354">
                <a:moveTo>
                  <a:pt x="232" y="0"/>
                </a:moveTo>
                <a:cubicBezTo>
                  <a:pt x="243" y="0"/>
                  <a:pt x="254" y="2"/>
                  <a:pt x="264" y="5"/>
                </a:cubicBezTo>
                <a:cubicBezTo>
                  <a:pt x="275" y="8"/>
                  <a:pt x="284" y="12"/>
                  <a:pt x="293" y="17"/>
                </a:cubicBezTo>
                <a:cubicBezTo>
                  <a:pt x="302" y="22"/>
                  <a:pt x="310" y="29"/>
                  <a:pt x="318" y="36"/>
                </a:cubicBezTo>
                <a:cubicBezTo>
                  <a:pt x="325" y="44"/>
                  <a:pt x="332" y="52"/>
                  <a:pt x="337" y="61"/>
                </a:cubicBezTo>
                <a:cubicBezTo>
                  <a:pt x="342" y="70"/>
                  <a:pt x="346" y="79"/>
                  <a:pt x="349" y="90"/>
                </a:cubicBezTo>
                <a:cubicBezTo>
                  <a:pt x="352" y="100"/>
                  <a:pt x="354" y="111"/>
                  <a:pt x="354" y="122"/>
                </a:cubicBezTo>
                <a:cubicBezTo>
                  <a:pt x="354" y="133"/>
                  <a:pt x="352" y="144"/>
                  <a:pt x="349" y="154"/>
                </a:cubicBezTo>
                <a:cubicBezTo>
                  <a:pt x="346" y="165"/>
                  <a:pt x="342" y="174"/>
                  <a:pt x="337" y="183"/>
                </a:cubicBezTo>
                <a:cubicBezTo>
                  <a:pt x="332" y="192"/>
                  <a:pt x="325" y="200"/>
                  <a:pt x="318" y="208"/>
                </a:cubicBezTo>
                <a:cubicBezTo>
                  <a:pt x="310" y="215"/>
                  <a:pt x="302" y="222"/>
                  <a:pt x="293" y="227"/>
                </a:cubicBezTo>
                <a:cubicBezTo>
                  <a:pt x="284" y="232"/>
                  <a:pt x="275" y="236"/>
                  <a:pt x="264" y="239"/>
                </a:cubicBezTo>
                <a:cubicBezTo>
                  <a:pt x="254" y="242"/>
                  <a:pt x="243" y="244"/>
                  <a:pt x="232" y="244"/>
                </a:cubicBezTo>
                <a:cubicBezTo>
                  <a:pt x="218" y="244"/>
                  <a:pt x="204" y="241"/>
                  <a:pt x="191" y="236"/>
                </a:cubicBezTo>
                <a:cubicBezTo>
                  <a:pt x="177" y="231"/>
                  <a:pt x="165" y="224"/>
                  <a:pt x="154" y="215"/>
                </a:cubicBezTo>
                <a:lnTo>
                  <a:pt x="19" y="351"/>
                </a:lnTo>
                <a:cubicBezTo>
                  <a:pt x="17" y="353"/>
                  <a:pt x="14" y="354"/>
                  <a:pt x="11" y="354"/>
                </a:cubicBezTo>
                <a:cubicBezTo>
                  <a:pt x="8" y="354"/>
                  <a:pt x="5" y="353"/>
                  <a:pt x="3" y="351"/>
                </a:cubicBezTo>
                <a:cubicBezTo>
                  <a:pt x="1" y="349"/>
                  <a:pt x="0" y="346"/>
                  <a:pt x="0" y="343"/>
                </a:cubicBezTo>
                <a:cubicBezTo>
                  <a:pt x="0" y="340"/>
                  <a:pt x="1" y="337"/>
                  <a:pt x="3" y="335"/>
                </a:cubicBezTo>
                <a:lnTo>
                  <a:pt x="139" y="200"/>
                </a:lnTo>
                <a:cubicBezTo>
                  <a:pt x="130" y="189"/>
                  <a:pt x="123" y="177"/>
                  <a:pt x="118" y="163"/>
                </a:cubicBezTo>
                <a:cubicBezTo>
                  <a:pt x="113" y="150"/>
                  <a:pt x="110" y="136"/>
                  <a:pt x="110" y="122"/>
                </a:cubicBezTo>
                <a:cubicBezTo>
                  <a:pt x="110" y="111"/>
                  <a:pt x="112" y="100"/>
                  <a:pt x="115" y="90"/>
                </a:cubicBezTo>
                <a:cubicBezTo>
                  <a:pt x="118" y="79"/>
                  <a:pt x="122" y="70"/>
                  <a:pt x="127" y="61"/>
                </a:cubicBezTo>
                <a:cubicBezTo>
                  <a:pt x="132" y="52"/>
                  <a:pt x="139" y="44"/>
                  <a:pt x="146" y="36"/>
                </a:cubicBezTo>
                <a:cubicBezTo>
                  <a:pt x="154" y="29"/>
                  <a:pt x="162" y="22"/>
                  <a:pt x="171" y="17"/>
                </a:cubicBezTo>
                <a:cubicBezTo>
                  <a:pt x="180" y="12"/>
                  <a:pt x="189" y="8"/>
                  <a:pt x="200" y="5"/>
                </a:cubicBezTo>
                <a:cubicBezTo>
                  <a:pt x="210" y="2"/>
                  <a:pt x="221" y="0"/>
                  <a:pt x="232" y="0"/>
                </a:cubicBezTo>
                <a:close/>
                <a:moveTo>
                  <a:pt x="232" y="221"/>
                </a:moveTo>
                <a:cubicBezTo>
                  <a:pt x="246" y="221"/>
                  <a:pt x="259" y="219"/>
                  <a:pt x="271" y="214"/>
                </a:cubicBezTo>
                <a:cubicBezTo>
                  <a:pt x="283" y="208"/>
                  <a:pt x="293" y="201"/>
                  <a:pt x="302" y="192"/>
                </a:cubicBezTo>
                <a:cubicBezTo>
                  <a:pt x="311" y="183"/>
                  <a:pt x="318" y="173"/>
                  <a:pt x="324" y="161"/>
                </a:cubicBezTo>
                <a:cubicBezTo>
                  <a:pt x="329" y="149"/>
                  <a:pt x="331" y="136"/>
                  <a:pt x="331" y="122"/>
                </a:cubicBezTo>
                <a:cubicBezTo>
                  <a:pt x="331" y="108"/>
                  <a:pt x="329" y="95"/>
                  <a:pt x="324" y="83"/>
                </a:cubicBezTo>
                <a:cubicBezTo>
                  <a:pt x="318" y="71"/>
                  <a:pt x="311" y="61"/>
                  <a:pt x="302" y="52"/>
                </a:cubicBezTo>
                <a:cubicBezTo>
                  <a:pt x="293" y="43"/>
                  <a:pt x="283" y="36"/>
                  <a:pt x="271" y="30"/>
                </a:cubicBezTo>
                <a:cubicBezTo>
                  <a:pt x="259" y="25"/>
                  <a:pt x="246" y="23"/>
                  <a:pt x="232" y="23"/>
                </a:cubicBezTo>
                <a:cubicBezTo>
                  <a:pt x="218" y="23"/>
                  <a:pt x="205" y="25"/>
                  <a:pt x="193" y="30"/>
                </a:cubicBezTo>
                <a:cubicBezTo>
                  <a:pt x="181" y="36"/>
                  <a:pt x="171" y="43"/>
                  <a:pt x="162" y="52"/>
                </a:cubicBezTo>
                <a:cubicBezTo>
                  <a:pt x="153" y="61"/>
                  <a:pt x="146" y="71"/>
                  <a:pt x="140" y="83"/>
                </a:cubicBezTo>
                <a:cubicBezTo>
                  <a:pt x="135" y="95"/>
                  <a:pt x="133" y="108"/>
                  <a:pt x="133" y="122"/>
                </a:cubicBezTo>
                <a:cubicBezTo>
                  <a:pt x="133" y="136"/>
                  <a:pt x="135" y="149"/>
                  <a:pt x="140" y="161"/>
                </a:cubicBezTo>
                <a:cubicBezTo>
                  <a:pt x="146" y="173"/>
                  <a:pt x="153" y="183"/>
                  <a:pt x="162" y="192"/>
                </a:cubicBezTo>
                <a:cubicBezTo>
                  <a:pt x="171" y="201"/>
                  <a:pt x="181" y="208"/>
                  <a:pt x="193" y="214"/>
                </a:cubicBezTo>
                <a:cubicBezTo>
                  <a:pt x="205" y="219"/>
                  <a:pt x="218" y="221"/>
                  <a:pt x="232" y="221"/>
                </a:cubicBezTo>
                <a:close/>
              </a:path>
            </a:pathLst>
          </a:custGeom>
          <a:solidFill>
            <a:srgbClr val="000000"/>
          </a:solidFill>
          <a:ln w="63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" name="그림 4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83292" y="1362524"/>
            <a:ext cx="133385" cy="147421"/>
          </a:xfrm>
          <a:prstGeom prst="rect">
            <a:avLst/>
          </a:prstGeom>
        </p:spPr>
      </p:pic>
      <p:graphicFrame>
        <p:nvGraphicFramePr>
          <p:cNvPr id="4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568959"/>
              </p:ext>
            </p:extLst>
          </p:nvPr>
        </p:nvGraphicFramePr>
        <p:xfrm>
          <a:off x="9290533" y="786383"/>
          <a:ext cx="2835467" cy="690722"/>
        </p:xfrm>
        <a:graphic>
          <a:graphicData uri="http://schemas.openxmlformats.org/drawingml/2006/table">
            <a:tbl>
              <a:tblPr/>
              <a:tblGrid>
                <a:gridCol w="256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790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게시판에서 사용되는 게시판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 선택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팝업 사용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수신자가 게시글을 작성할 수 있는 게시판 선택 가능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168444"/>
                  </a:ext>
                </a:extLst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885825" y="1733550"/>
            <a:ext cx="1924050" cy="1924050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5" name="타원 44"/>
          <p:cNvSpPr/>
          <p:nvPr/>
        </p:nvSpPr>
        <p:spPr>
          <a:xfrm>
            <a:off x="2696371" y="1659255"/>
            <a:ext cx="171227" cy="167640"/>
          </a:xfrm>
          <a:prstGeom prst="ellips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Trebuchet MS" panose="020B0603020202020204" pitchFamily="34" charset="0"/>
                <a:ea typeface="나눔고딕" pitchFamily="50" charset="-127"/>
              </a:rPr>
              <a:t>1</a:t>
            </a:r>
            <a:endParaRPr lang="ko-KR" altLang="en-US" sz="800" dirty="0" smtClean="0">
              <a:solidFill>
                <a:schemeClr val="bg1"/>
              </a:solidFill>
              <a:latin typeface="Trebuchet MS" panose="020B0603020202020204" pitchFamily="34" charset="0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83143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smtClean="0"/>
              <a:t>글쓰기</a:t>
            </a:r>
            <a:r>
              <a:rPr kumimoji="1" lang="en-US" altLang="ko-KR" smtClean="0"/>
              <a:t>_</a:t>
            </a:r>
            <a:r>
              <a:rPr kumimoji="1" lang="ko-KR" altLang="en-US" smtClean="0"/>
              <a:t>기본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SQ5.2.1.3.1</a:t>
            </a:r>
            <a:endParaRPr lang="ko-KR" altLang="en-US" dirty="0"/>
          </a:p>
        </p:txBody>
      </p:sp>
      <p:graphicFrame>
        <p:nvGraphicFramePr>
          <p:cNvPr id="5" name="내용 개체 틀 18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6526212"/>
              </p:ext>
            </p:extLst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  </a:t>
              </a:r>
              <a:r>
                <a:rPr kumimoji="1" lang="en-US" altLang="ko-KR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7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" name="Rectangle 477"/>
          <p:cNvSpPr/>
          <p:nvPr/>
        </p:nvSpPr>
        <p:spPr>
          <a:xfrm>
            <a:off x="6925831" y="5484435"/>
            <a:ext cx="2169137" cy="111484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42127" y="86576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950447"/>
            <a:chOff x="5995939" y="5903574"/>
            <a:chExt cx="2088322" cy="95044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  <a:endParaRPr lang="en-US" altLang="ko-KR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06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8" name="Freeform 9"/>
          <p:cNvSpPr>
            <a:spLocks noChangeAspect="1" noChangeArrowheads="1"/>
          </p:cNvSpPr>
          <p:nvPr/>
        </p:nvSpPr>
        <p:spPr bwMode="auto">
          <a:xfrm>
            <a:off x="6535161" y="1262456"/>
            <a:ext cx="120648" cy="108000"/>
          </a:xfrm>
          <a:custGeom>
            <a:avLst/>
            <a:gdLst>
              <a:gd name="T0" fmla="*/ 0 w 545"/>
              <a:gd name="T1" fmla="*/ 383 h 488"/>
              <a:gd name="T2" fmla="*/ 0 w 545"/>
              <a:gd name="T3" fmla="*/ 487 h 488"/>
              <a:gd name="T4" fmla="*/ 103 w 545"/>
              <a:gd name="T5" fmla="*/ 487 h 488"/>
              <a:gd name="T6" fmla="*/ 404 w 545"/>
              <a:gd name="T7" fmla="*/ 186 h 488"/>
              <a:gd name="T8" fmla="*/ 300 w 545"/>
              <a:gd name="T9" fmla="*/ 83 h 488"/>
              <a:gd name="T10" fmla="*/ 0 w 545"/>
              <a:gd name="T11" fmla="*/ 383 h 488"/>
              <a:gd name="T12" fmla="*/ 482 w 545"/>
              <a:gd name="T13" fmla="*/ 109 h 488"/>
              <a:gd name="T14" fmla="*/ 482 w 545"/>
              <a:gd name="T15" fmla="*/ 72 h 488"/>
              <a:gd name="T16" fmla="*/ 420 w 545"/>
              <a:gd name="T17" fmla="*/ 10 h 488"/>
              <a:gd name="T18" fmla="*/ 383 w 545"/>
              <a:gd name="T19" fmla="*/ 10 h 488"/>
              <a:gd name="T20" fmla="*/ 331 w 545"/>
              <a:gd name="T21" fmla="*/ 57 h 488"/>
              <a:gd name="T22" fmla="*/ 435 w 545"/>
              <a:gd name="T23" fmla="*/ 160 h 488"/>
              <a:gd name="T24" fmla="*/ 482 w 545"/>
              <a:gd name="T25" fmla="*/ 109 h 488"/>
              <a:gd name="T26" fmla="*/ 248 w 545"/>
              <a:gd name="T27" fmla="*/ 435 h 488"/>
              <a:gd name="T28" fmla="*/ 191 w 545"/>
              <a:gd name="T29" fmla="*/ 487 h 488"/>
              <a:gd name="T30" fmla="*/ 544 w 545"/>
              <a:gd name="T31" fmla="*/ 487 h 488"/>
              <a:gd name="T32" fmla="*/ 544 w 545"/>
              <a:gd name="T33" fmla="*/ 435 h 488"/>
              <a:gd name="T34" fmla="*/ 248 w 545"/>
              <a:gd name="T35" fmla="*/ 435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45" h="488">
                <a:moveTo>
                  <a:pt x="0" y="383"/>
                </a:moveTo>
                <a:lnTo>
                  <a:pt x="0" y="487"/>
                </a:lnTo>
                <a:lnTo>
                  <a:pt x="103" y="487"/>
                </a:lnTo>
                <a:lnTo>
                  <a:pt x="404" y="186"/>
                </a:lnTo>
                <a:lnTo>
                  <a:pt x="300" y="83"/>
                </a:lnTo>
                <a:lnTo>
                  <a:pt x="0" y="383"/>
                </a:lnTo>
                <a:close/>
                <a:moveTo>
                  <a:pt x="482" y="109"/>
                </a:moveTo>
                <a:cubicBezTo>
                  <a:pt x="492" y="98"/>
                  <a:pt x="492" y="83"/>
                  <a:pt x="482" y="72"/>
                </a:cubicBezTo>
                <a:lnTo>
                  <a:pt x="420" y="10"/>
                </a:lnTo>
                <a:cubicBezTo>
                  <a:pt x="409" y="0"/>
                  <a:pt x="394" y="0"/>
                  <a:pt x="383" y="10"/>
                </a:cubicBezTo>
                <a:lnTo>
                  <a:pt x="331" y="57"/>
                </a:lnTo>
                <a:lnTo>
                  <a:pt x="435" y="160"/>
                </a:lnTo>
                <a:lnTo>
                  <a:pt x="482" y="109"/>
                </a:lnTo>
                <a:close/>
                <a:moveTo>
                  <a:pt x="248" y="435"/>
                </a:moveTo>
                <a:lnTo>
                  <a:pt x="191" y="487"/>
                </a:lnTo>
                <a:lnTo>
                  <a:pt x="544" y="487"/>
                </a:lnTo>
                <a:lnTo>
                  <a:pt x="544" y="435"/>
                </a:lnTo>
                <a:lnTo>
                  <a:pt x="248" y="4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2364809"/>
              </p:ext>
            </p:extLst>
          </p:nvPr>
        </p:nvGraphicFramePr>
        <p:xfrm>
          <a:off x="9290533" y="786383"/>
          <a:ext cx="2892502" cy="343797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글쓰기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입력창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클릭 시 글쓰기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레이어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창 호출</a:t>
                      </a: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1-1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  <a:cs typeface="Malgun Gothic" charset="0"/>
                        </a:rPr>
                        <a:t>액션 버튼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취소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등록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보내기 버튼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취소 선택 시 취소 확인 팝업 제공 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등록 선택 시 작성한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피드를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그룹에 업로드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보내기 버튼에 마우스 오버 시 기능 제공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등록 및 메일로 전송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등록 및 업무 요청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메일</a:t>
                      </a:r>
                      <a:r>
                        <a:rPr lang="en-US" altLang="ko-KR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업무로 보내기 실행 시 </a:t>
                      </a:r>
                      <a:r>
                        <a:rPr lang="en-US" altLang="ko-KR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메일 쓰기</a:t>
                      </a:r>
                      <a:r>
                        <a:rPr lang="en-US" altLang="ko-KR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업무 요청 </a:t>
                      </a:r>
                      <a:r>
                        <a:rPr lang="ko-KR" altLang="en-US" sz="800" strike="sngStrike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새창</a:t>
                      </a:r>
                      <a:r>
                        <a:rPr lang="ko-KR" altLang="en-US" sz="800" strike="sng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제공 </a:t>
                      </a:r>
                      <a:r>
                        <a:rPr lang="en-US" altLang="ko-KR" sz="8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작성한 스퀘어 글 및 파일이 해당 </a:t>
                      </a:r>
                      <a:r>
                        <a:rPr lang="ko-KR" altLang="en-US" sz="800" strike="sngStrike" dirty="0" err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새창에</a:t>
                      </a:r>
                      <a:r>
                        <a:rPr lang="ko-KR" altLang="en-US" sz="8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입력된 상태로 제공</a:t>
                      </a:r>
                      <a:r>
                        <a:rPr lang="en-US" altLang="ko-KR" sz="800" strike="sngStrike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strike="sngStrike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1-2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첨부 버튼 영역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이미지 등록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첨부파일 등록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일정 입력 버튼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업무 등록버튼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공지사항 입력 버튼 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rgbClr val="2E6FFD"/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태그 입력 버튼 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공통기능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추가 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20171114)</a:t>
                      </a: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최근태그와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추천태그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가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셀렉트박스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형태로 노출 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(2-1 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참고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이동하여 태그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해당 태그가 등록</a:t>
                      </a:r>
                      <a:endParaRPr lang="en-US" altLang="ko-KR" sz="80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엑스 버튼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해당 영역 노출되지 않음</a:t>
                      </a:r>
                      <a:endParaRPr lang="en-US" altLang="ko-KR" sz="80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rgbClr val="2E6FFD"/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rgbClr val="2E6FFD"/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멤버 자동완성 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공통기능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추가 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20171114)</a:t>
                      </a:r>
                      <a:endParaRPr lang="en-US" sz="80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@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입력 후 텍스트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입력시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해당 글자로 시작하는 멤버들이 자동완성으로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셀렉트박스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노출</a:t>
                      </a:r>
                      <a:r>
                        <a:rPr lang="en-US" altLang="ko-KR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해당</a:t>
                      </a:r>
                      <a:r>
                        <a:rPr lang="ko-KR" altLang="en-US" sz="8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멤버가 자동으로 등록</a:t>
                      </a:r>
                      <a:r>
                        <a:rPr lang="en-US" altLang="ko-KR" sz="8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 sz="800" dirty="0">
                        <a:solidFill>
                          <a:srgbClr val="2E6FFD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8397108"/>
                  </a:ext>
                </a:extLst>
              </a:tr>
            </a:tbl>
          </a:graphicData>
        </a:graphic>
      </p:graphicFrame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Rectangle 185"/>
          <p:cNvSpPr/>
          <p:nvPr/>
        </p:nvSpPr>
        <p:spPr>
          <a:xfrm>
            <a:off x="1963755" y="5482604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0" name="텍스트 상자 31"/>
          <p:cNvSpPr txBox="1"/>
          <p:nvPr/>
        </p:nvSpPr>
        <p:spPr>
          <a:xfrm>
            <a:off x="2421414" y="5613946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91" name="그룹 400"/>
          <p:cNvGrpSpPr/>
          <p:nvPr/>
        </p:nvGrpSpPr>
        <p:grpSpPr>
          <a:xfrm>
            <a:off x="2078622" y="5603477"/>
            <a:ext cx="229236" cy="229194"/>
            <a:chOff x="2625629" y="3735853"/>
            <a:chExt cx="276891" cy="276839"/>
          </a:xfrm>
        </p:grpSpPr>
        <p:sp>
          <p:nvSpPr>
            <p:cNvPr id="19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9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92" name="텍스트 상자 31"/>
          <p:cNvSpPr txBox="1"/>
          <p:nvPr/>
        </p:nvSpPr>
        <p:spPr>
          <a:xfrm>
            <a:off x="2421414" y="5751803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3" name="텍스트 상자 31"/>
          <p:cNvSpPr txBox="1"/>
          <p:nvPr/>
        </p:nvSpPr>
        <p:spPr>
          <a:xfrm>
            <a:off x="2078622" y="5936557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6" name="Rectangle 279"/>
          <p:cNvSpPr/>
          <p:nvPr/>
        </p:nvSpPr>
        <p:spPr>
          <a:xfrm>
            <a:off x="1963754" y="3848939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8" name="Rectangle 202"/>
          <p:cNvSpPr/>
          <p:nvPr/>
        </p:nvSpPr>
        <p:spPr>
          <a:xfrm>
            <a:off x="1963754" y="1722802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2421414" y="1852981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00" name="그룹 400"/>
          <p:cNvGrpSpPr/>
          <p:nvPr/>
        </p:nvGrpSpPr>
        <p:grpSpPr>
          <a:xfrm>
            <a:off x="2078622" y="1842605"/>
            <a:ext cx="229236" cy="227167"/>
            <a:chOff x="2625629" y="3735853"/>
            <a:chExt cx="276891" cy="276839"/>
          </a:xfrm>
        </p:grpSpPr>
        <p:sp>
          <p:nvSpPr>
            <p:cNvPr id="23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2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01" name="텍스트 상자 31"/>
          <p:cNvSpPr txBox="1"/>
          <p:nvPr/>
        </p:nvSpPr>
        <p:spPr>
          <a:xfrm>
            <a:off x="2421414" y="1989619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2078622" y="2192878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3" name="Rectangle 231"/>
          <p:cNvSpPr/>
          <p:nvPr/>
        </p:nvSpPr>
        <p:spPr>
          <a:xfrm>
            <a:off x="1963754" y="2825708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04" name="Rounded Rectangle 245"/>
          <p:cNvSpPr/>
          <p:nvPr/>
        </p:nvSpPr>
        <p:spPr>
          <a:xfrm>
            <a:off x="2078622" y="2398054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5" name="Rounded Rectangle 246"/>
          <p:cNvSpPr/>
          <p:nvPr/>
        </p:nvSpPr>
        <p:spPr>
          <a:xfrm>
            <a:off x="2564063" y="2398054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06" name="Rounded Rectangle 247"/>
          <p:cNvSpPr/>
          <p:nvPr/>
        </p:nvSpPr>
        <p:spPr>
          <a:xfrm>
            <a:off x="2923619" y="2398054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07" name="직선 연결선[R] 33"/>
          <p:cNvCxnSpPr/>
          <p:nvPr/>
        </p:nvCxnSpPr>
        <p:spPr>
          <a:xfrm>
            <a:off x="2052416" y="262811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8" name="Oval 52"/>
          <p:cNvSpPr>
            <a:spLocks noChangeArrowheads="1"/>
          </p:cNvSpPr>
          <p:nvPr/>
        </p:nvSpPr>
        <p:spPr bwMode="auto">
          <a:xfrm>
            <a:off x="2136324" y="2703141"/>
            <a:ext cx="13355" cy="13237"/>
          </a:xfrm>
          <a:prstGeom prst="ellipse">
            <a:avLst/>
          </a:prstGeom>
          <a:solidFill>
            <a:schemeClr val="bg1">
              <a:lumMod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grpSp>
        <p:nvGrpSpPr>
          <p:cNvPr id="209" name="Group 7"/>
          <p:cNvGrpSpPr/>
          <p:nvPr/>
        </p:nvGrpSpPr>
        <p:grpSpPr>
          <a:xfrm>
            <a:off x="2078622" y="3238963"/>
            <a:ext cx="1612396" cy="227167"/>
            <a:chOff x="2478168" y="4026446"/>
            <a:chExt cx="1612396" cy="229194"/>
          </a:xfrm>
        </p:grpSpPr>
        <p:sp>
          <p:nvSpPr>
            <p:cNvPr id="226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27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2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30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28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17" name="Rectangle 237"/>
          <p:cNvSpPr/>
          <p:nvPr/>
        </p:nvSpPr>
        <p:spPr>
          <a:xfrm>
            <a:off x="2371518" y="2900940"/>
            <a:ext cx="4428596" cy="1804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8" name="텍스트 상자 31"/>
          <p:cNvSpPr txBox="1"/>
          <p:nvPr/>
        </p:nvSpPr>
        <p:spPr>
          <a:xfrm>
            <a:off x="2421412" y="2952190"/>
            <a:ext cx="2510551" cy="7626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500" b="1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댓글 </a:t>
            </a:r>
            <a:r>
              <a:rPr kumimoji="1" lang="ko-KR" altLang="en-US" sz="5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남기기</a:t>
            </a:r>
            <a:endParaRPr kumimoji="1" lang="ko-KR" altLang="en-US" sz="5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19" name="Group 50"/>
          <p:cNvGrpSpPr>
            <a:grpSpLocks noChangeAspect="1"/>
          </p:cNvGrpSpPr>
          <p:nvPr/>
        </p:nvGrpSpPr>
        <p:grpSpPr bwMode="auto">
          <a:xfrm>
            <a:off x="6546832" y="2937073"/>
            <a:ext cx="108260" cy="108000"/>
            <a:chOff x="2178" y="1307"/>
            <a:chExt cx="154" cy="155"/>
          </a:xfrm>
          <a:solidFill>
            <a:schemeClr val="bg1">
              <a:lumMod val="50000"/>
            </a:schemeClr>
          </a:solidFill>
        </p:grpSpPr>
        <p:sp>
          <p:nvSpPr>
            <p:cNvPr id="223" name="Oval 51"/>
            <p:cNvSpPr>
              <a:spLocks noChangeArrowheads="1"/>
            </p:cNvSpPr>
            <p:nvPr/>
          </p:nvSpPr>
          <p:spPr bwMode="auto">
            <a:xfrm>
              <a:off x="2271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24" name="Oval 52"/>
            <p:cNvSpPr>
              <a:spLocks noChangeArrowheads="1"/>
            </p:cNvSpPr>
            <p:nvPr/>
          </p:nvSpPr>
          <p:spPr bwMode="auto">
            <a:xfrm>
              <a:off x="2217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25" name="Freeform 53"/>
            <p:cNvSpPr>
              <a:spLocks noEditPoints="1"/>
            </p:cNvSpPr>
            <p:nvPr/>
          </p:nvSpPr>
          <p:spPr bwMode="auto">
            <a:xfrm>
              <a:off x="2178" y="1307"/>
              <a:ext cx="154" cy="155"/>
            </a:xfrm>
            <a:custGeom>
              <a:avLst/>
              <a:gdLst>
                <a:gd name="T0" fmla="*/ 250 w 500"/>
                <a:gd name="T1" fmla="*/ 0 h 500"/>
                <a:gd name="T2" fmla="*/ 0 w 500"/>
                <a:gd name="T3" fmla="*/ 250 h 500"/>
                <a:gd name="T4" fmla="*/ 250 w 500"/>
                <a:gd name="T5" fmla="*/ 500 h 500"/>
                <a:gd name="T6" fmla="*/ 500 w 500"/>
                <a:gd name="T7" fmla="*/ 250 h 500"/>
                <a:gd name="T8" fmla="*/ 250 w 500"/>
                <a:gd name="T9" fmla="*/ 0 h 500"/>
                <a:gd name="T10" fmla="*/ 250 w 500"/>
                <a:gd name="T11" fmla="*/ 450 h 500"/>
                <a:gd name="T12" fmla="*/ 50 w 500"/>
                <a:gd name="T13" fmla="*/ 250 h 500"/>
                <a:gd name="T14" fmla="*/ 250 w 500"/>
                <a:gd name="T15" fmla="*/ 50 h 500"/>
                <a:gd name="T16" fmla="*/ 450 w 500"/>
                <a:gd name="T17" fmla="*/ 250 h 500"/>
                <a:gd name="T18" fmla="*/ 250 w 500"/>
                <a:gd name="T19" fmla="*/ 450 h 500"/>
                <a:gd name="T20" fmla="*/ 250 w 500"/>
                <a:gd name="T21" fmla="*/ 350 h 500"/>
                <a:gd name="T22" fmla="*/ 164 w 500"/>
                <a:gd name="T23" fmla="*/ 300 h 500"/>
                <a:gd name="T24" fmla="*/ 122 w 500"/>
                <a:gd name="T25" fmla="*/ 300 h 500"/>
                <a:gd name="T26" fmla="*/ 250 w 500"/>
                <a:gd name="T27" fmla="*/ 388 h 500"/>
                <a:gd name="T28" fmla="*/ 378 w 500"/>
                <a:gd name="T29" fmla="*/ 300 h 500"/>
                <a:gd name="T30" fmla="*/ 336 w 500"/>
                <a:gd name="T31" fmla="*/ 300 h 500"/>
                <a:gd name="T32" fmla="*/ 250 w 500"/>
                <a:gd name="T33" fmla="*/ 3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0" h="500">
                  <a:moveTo>
                    <a:pt x="250" y="0"/>
                  </a:moveTo>
                  <a:cubicBezTo>
                    <a:pt x="112" y="0"/>
                    <a:pt x="0" y="112"/>
                    <a:pt x="0" y="250"/>
                  </a:cubicBezTo>
                  <a:cubicBezTo>
                    <a:pt x="0" y="388"/>
                    <a:pt x="112" y="500"/>
                    <a:pt x="250" y="500"/>
                  </a:cubicBezTo>
                  <a:cubicBezTo>
                    <a:pt x="388" y="500"/>
                    <a:pt x="500" y="388"/>
                    <a:pt x="500" y="250"/>
                  </a:cubicBezTo>
                  <a:cubicBezTo>
                    <a:pt x="500" y="112"/>
                    <a:pt x="388" y="0"/>
                    <a:pt x="250" y="0"/>
                  </a:cubicBezTo>
                  <a:close/>
                  <a:moveTo>
                    <a:pt x="250" y="450"/>
                  </a:moveTo>
                  <a:cubicBezTo>
                    <a:pt x="140" y="450"/>
                    <a:pt x="50" y="361"/>
                    <a:pt x="50" y="250"/>
                  </a:cubicBezTo>
                  <a:cubicBezTo>
                    <a:pt x="50" y="139"/>
                    <a:pt x="140" y="50"/>
                    <a:pt x="250" y="50"/>
                  </a:cubicBezTo>
                  <a:cubicBezTo>
                    <a:pt x="361" y="50"/>
                    <a:pt x="450" y="140"/>
                    <a:pt x="450" y="250"/>
                  </a:cubicBezTo>
                  <a:cubicBezTo>
                    <a:pt x="450" y="361"/>
                    <a:pt x="361" y="450"/>
                    <a:pt x="250" y="450"/>
                  </a:cubicBezTo>
                  <a:close/>
                  <a:moveTo>
                    <a:pt x="250" y="350"/>
                  </a:moveTo>
                  <a:cubicBezTo>
                    <a:pt x="213" y="350"/>
                    <a:pt x="181" y="330"/>
                    <a:pt x="164" y="300"/>
                  </a:cubicBezTo>
                  <a:lnTo>
                    <a:pt x="122" y="300"/>
                  </a:lnTo>
                  <a:cubicBezTo>
                    <a:pt x="142" y="351"/>
                    <a:pt x="192" y="388"/>
                    <a:pt x="250" y="388"/>
                  </a:cubicBezTo>
                  <a:cubicBezTo>
                    <a:pt x="308" y="388"/>
                    <a:pt x="358" y="351"/>
                    <a:pt x="378" y="300"/>
                  </a:cubicBezTo>
                  <a:lnTo>
                    <a:pt x="336" y="300"/>
                  </a:lnTo>
                  <a:cubicBezTo>
                    <a:pt x="319" y="330"/>
                    <a:pt x="287" y="350"/>
                    <a:pt x="250" y="3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grpSp>
        <p:nvGrpSpPr>
          <p:cNvPr id="220" name="그룹 400"/>
          <p:cNvGrpSpPr/>
          <p:nvPr/>
        </p:nvGrpSpPr>
        <p:grpSpPr>
          <a:xfrm>
            <a:off x="2078622" y="2877910"/>
            <a:ext cx="229236" cy="227167"/>
            <a:chOff x="2625629" y="3735853"/>
            <a:chExt cx="276891" cy="276839"/>
          </a:xfrm>
        </p:grpSpPr>
        <p:sp>
          <p:nvSpPr>
            <p:cNvPr id="22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22" name="Picture 266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11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2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13" name="직선 연결선[R] 33"/>
          <p:cNvCxnSpPr/>
          <p:nvPr/>
        </p:nvCxnSpPr>
        <p:spPr>
          <a:xfrm>
            <a:off x="2052416" y="3152106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Rectangle 313"/>
          <p:cNvSpPr/>
          <p:nvPr/>
        </p:nvSpPr>
        <p:spPr>
          <a:xfrm>
            <a:off x="1963755" y="3543670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5" name="텍스트 상자 31"/>
          <p:cNvSpPr txBox="1"/>
          <p:nvPr/>
        </p:nvSpPr>
        <p:spPr>
          <a:xfrm>
            <a:off x="4141390" y="3557466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전체 댓글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pic>
        <p:nvPicPr>
          <p:cNvPr id="216" name="Picture 280"/>
          <p:cNvPicPr>
            <a:picLocks noChangeAspect="1"/>
          </p:cNvPicPr>
          <p:nvPr/>
        </p:nvPicPr>
        <p:blipFill rotWithShape="1">
          <a:blip r:embed="rId4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233" name="텍스트 상자 31"/>
          <p:cNvSpPr txBox="1"/>
          <p:nvPr/>
        </p:nvSpPr>
        <p:spPr>
          <a:xfrm>
            <a:off x="2421414" y="396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34" name="그룹 400"/>
          <p:cNvGrpSpPr/>
          <p:nvPr/>
        </p:nvGrpSpPr>
        <p:grpSpPr>
          <a:xfrm>
            <a:off x="2078622" y="3959483"/>
            <a:ext cx="229236" cy="229194"/>
            <a:chOff x="2625629" y="3735853"/>
            <a:chExt cx="276891" cy="276839"/>
          </a:xfrm>
        </p:grpSpPr>
        <p:sp>
          <p:nvSpPr>
            <p:cNvPr id="23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37" name="텍스트 상자 31"/>
          <p:cNvSpPr txBox="1"/>
          <p:nvPr/>
        </p:nvSpPr>
        <p:spPr>
          <a:xfrm>
            <a:off x="2421414" y="4107809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8" name="Rectangle 177"/>
          <p:cNvSpPr/>
          <p:nvPr/>
        </p:nvSpPr>
        <p:spPr>
          <a:xfrm>
            <a:off x="2067486" y="4472532"/>
            <a:ext cx="4700930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39" name="Group 11"/>
          <p:cNvGrpSpPr/>
          <p:nvPr/>
        </p:nvGrpSpPr>
        <p:grpSpPr>
          <a:xfrm>
            <a:off x="2484729" y="4565835"/>
            <a:ext cx="1791250" cy="272271"/>
            <a:chOff x="2887384" y="5664055"/>
            <a:chExt cx="1791250" cy="272271"/>
          </a:xfrm>
        </p:grpSpPr>
        <p:sp>
          <p:nvSpPr>
            <p:cNvPr id="240" name="텍스트 상자 31"/>
            <p:cNvSpPr txBox="1"/>
            <p:nvPr/>
          </p:nvSpPr>
          <p:spPr>
            <a:xfrm>
              <a:off x="2892510" y="5664055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팀 중간회식</a:t>
              </a:r>
              <a:endParaRPr kumimoji="1" lang="ko-KR" altLang="en-US" sz="7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41" name="텍스트 상자 31"/>
            <p:cNvSpPr txBox="1"/>
            <p:nvPr/>
          </p:nvSpPr>
          <p:spPr>
            <a:xfrm>
              <a:off x="2887384" y="5807060"/>
              <a:ext cx="1621213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2017.09.30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(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금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)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오후 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7:00-8:00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42" name="Freeform 33"/>
          <p:cNvSpPr>
            <a:spLocks noEditPoints="1"/>
          </p:cNvSpPr>
          <p:nvPr/>
        </p:nvSpPr>
        <p:spPr bwMode="auto">
          <a:xfrm>
            <a:off x="2194138" y="4599136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cxnSp>
        <p:nvCxnSpPr>
          <p:cNvPr id="243" name="직선 연결선[R] 33"/>
          <p:cNvCxnSpPr/>
          <p:nvPr/>
        </p:nvCxnSpPr>
        <p:spPr>
          <a:xfrm>
            <a:off x="2052416" y="501973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4" name="텍스트 상자 31"/>
          <p:cNvSpPr txBox="1"/>
          <p:nvPr/>
        </p:nvSpPr>
        <p:spPr>
          <a:xfrm>
            <a:off x="2078622" y="4286437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서비스 </a:t>
            </a: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팀 중간회식</a:t>
            </a:r>
            <a:r>
              <a: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일정을 등록했습니다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5" name="Freeform 14"/>
          <p:cNvSpPr>
            <a:spLocks noChangeArrowheads="1"/>
          </p:cNvSpPr>
          <p:nvPr/>
        </p:nvSpPr>
        <p:spPr bwMode="auto">
          <a:xfrm rot="5400000">
            <a:off x="5147360" y="4666775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248" name="Straight Connector 21"/>
          <p:cNvCxnSpPr/>
          <p:nvPr/>
        </p:nvCxnSpPr>
        <p:spPr>
          <a:xfrm>
            <a:off x="1933588" y="535004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9" name="Straight Connector 422"/>
          <p:cNvCxnSpPr/>
          <p:nvPr/>
        </p:nvCxnSpPr>
        <p:spPr>
          <a:xfrm>
            <a:off x="1933588" y="5383408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" name="Freeform 26"/>
          <p:cNvSpPr>
            <a:spLocks noChangeAspect="1" noChangeArrowheads="1"/>
          </p:cNvSpPr>
          <p:nvPr/>
        </p:nvSpPr>
        <p:spPr bwMode="auto">
          <a:xfrm flipH="1">
            <a:off x="6726683" y="185144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3" name="Freeform 26"/>
          <p:cNvSpPr>
            <a:spLocks noChangeAspect="1" noChangeArrowheads="1"/>
          </p:cNvSpPr>
          <p:nvPr/>
        </p:nvSpPr>
        <p:spPr bwMode="auto">
          <a:xfrm flipH="1">
            <a:off x="6726683" y="397423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4" name="Freeform 26"/>
          <p:cNvSpPr>
            <a:spLocks noChangeAspect="1" noChangeArrowheads="1"/>
          </p:cNvSpPr>
          <p:nvPr/>
        </p:nvSpPr>
        <p:spPr bwMode="auto">
          <a:xfrm flipH="1">
            <a:off x="6726683" y="5616516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259" name="Group 365"/>
          <p:cNvGrpSpPr/>
          <p:nvPr/>
        </p:nvGrpSpPr>
        <p:grpSpPr>
          <a:xfrm>
            <a:off x="2064211" y="2680981"/>
            <a:ext cx="651018" cy="107722"/>
            <a:chOff x="2463757" y="3788208"/>
            <a:chExt cx="651018" cy="107722"/>
          </a:xfrm>
        </p:grpSpPr>
        <p:grpSp>
          <p:nvGrpSpPr>
            <p:cNvPr id="260" name="Group 366"/>
            <p:cNvGrpSpPr/>
            <p:nvPr/>
          </p:nvGrpSpPr>
          <p:grpSpPr>
            <a:xfrm>
              <a:off x="2850938" y="3788208"/>
              <a:ext cx="263837" cy="107722"/>
              <a:chOff x="4817820" y="3121801"/>
              <a:chExt cx="263837" cy="107722"/>
            </a:xfrm>
          </p:grpSpPr>
          <p:sp>
            <p:nvSpPr>
              <p:cNvPr id="268" name="Freeform 24"/>
              <p:cNvSpPr>
                <a:spLocks noChangeAspect="1" noChangeArrowheads="1"/>
              </p:cNvSpPr>
              <p:nvPr/>
            </p:nvSpPr>
            <p:spPr bwMode="auto">
              <a:xfrm>
                <a:off x="4817820" y="3136639"/>
                <a:ext cx="90000" cy="89388"/>
              </a:xfrm>
              <a:custGeom>
                <a:avLst/>
                <a:gdLst>
                  <a:gd name="T0" fmla="*/ 587 w 650"/>
                  <a:gd name="T1" fmla="*/ 0 h 644"/>
                  <a:gd name="T2" fmla="*/ 68 w 650"/>
                  <a:gd name="T3" fmla="*/ 0 h 644"/>
                  <a:gd name="T4" fmla="*/ 0 w 650"/>
                  <a:gd name="T5" fmla="*/ 62 h 644"/>
                  <a:gd name="T6" fmla="*/ 0 w 650"/>
                  <a:gd name="T7" fmla="*/ 643 h 644"/>
                  <a:gd name="T8" fmla="*/ 130 w 650"/>
                  <a:gd name="T9" fmla="*/ 513 h 644"/>
                  <a:gd name="T10" fmla="*/ 587 w 650"/>
                  <a:gd name="T11" fmla="*/ 513 h 644"/>
                  <a:gd name="T12" fmla="*/ 649 w 650"/>
                  <a:gd name="T13" fmla="*/ 451 h 644"/>
                  <a:gd name="T14" fmla="*/ 649 w 650"/>
                  <a:gd name="T15" fmla="*/ 62 h 644"/>
                  <a:gd name="T16" fmla="*/ 587 w 650"/>
                  <a:gd name="T17" fmla="*/ 0 h 644"/>
                  <a:gd name="T18" fmla="*/ 229 w 650"/>
                  <a:gd name="T19" fmla="*/ 290 h 644"/>
                  <a:gd name="T20" fmla="*/ 167 w 650"/>
                  <a:gd name="T21" fmla="*/ 290 h 644"/>
                  <a:gd name="T22" fmla="*/ 167 w 650"/>
                  <a:gd name="T23" fmla="*/ 222 h 644"/>
                  <a:gd name="T24" fmla="*/ 229 w 650"/>
                  <a:gd name="T25" fmla="*/ 222 h 644"/>
                  <a:gd name="T26" fmla="*/ 229 w 650"/>
                  <a:gd name="T27" fmla="*/ 290 h 644"/>
                  <a:gd name="T28" fmla="*/ 359 w 650"/>
                  <a:gd name="T29" fmla="*/ 290 h 644"/>
                  <a:gd name="T30" fmla="*/ 297 w 650"/>
                  <a:gd name="T31" fmla="*/ 290 h 644"/>
                  <a:gd name="T32" fmla="*/ 297 w 650"/>
                  <a:gd name="T33" fmla="*/ 222 h 644"/>
                  <a:gd name="T34" fmla="*/ 359 w 650"/>
                  <a:gd name="T35" fmla="*/ 222 h 644"/>
                  <a:gd name="T36" fmla="*/ 359 w 650"/>
                  <a:gd name="T37" fmla="*/ 290 h 644"/>
                  <a:gd name="T38" fmla="*/ 488 w 650"/>
                  <a:gd name="T39" fmla="*/ 290 h 644"/>
                  <a:gd name="T40" fmla="*/ 420 w 650"/>
                  <a:gd name="T41" fmla="*/ 290 h 644"/>
                  <a:gd name="T42" fmla="*/ 420 w 650"/>
                  <a:gd name="T43" fmla="*/ 222 h 644"/>
                  <a:gd name="T44" fmla="*/ 488 w 650"/>
                  <a:gd name="T45" fmla="*/ 222 h 644"/>
                  <a:gd name="T46" fmla="*/ 488 w 650"/>
                  <a:gd name="T47" fmla="*/ 29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0" h="644">
                    <a:moveTo>
                      <a:pt x="587" y="0"/>
                    </a:moveTo>
                    <a:lnTo>
                      <a:pt x="68" y="0"/>
                    </a:lnTo>
                    <a:cubicBezTo>
                      <a:pt x="31" y="0"/>
                      <a:pt x="0" y="24"/>
                      <a:pt x="0" y="62"/>
                    </a:cubicBezTo>
                    <a:lnTo>
                      <a:pt x="0" y="643"/>
                    </a:lnTo>
                    <a:lnTo>
                      <a:pt x="130" y="513"/>
                    </a:lnTo>
                    <a:lnTo>
                      <a:pt x="587" y="513"/>
                    </a:lnTo>
                    <a:cubicBezTo>
                      <a:pt x="618" y="513"/>
                      <a:pt x="649" y="482"/>
                      <a:pt x="649" y="451"/>
                    </a:cubicBezTo>
                    <a:lnTo>
                      <a:pt x="649" y="62"/>
                    </a:lnTo>
                    <a:cubicBezTo>
                      <a:pt x="649" y="24"/>
                      <a:pt x="618" y="0"/>
                      <a:pt x="587" y="0"/>
                    </a:cubicBezTo>
                    <a:close/>
                    <a:moveTo>
                      <a:pt x="229" y="290"/>
                    </a:moveTo>
                    <a:lnTo>
                      <a:pt x="167" y="290"/>
                    </a:lnTo>
                    <a:lnTo>
                      <a:pt x="167" y="222"/>
                    </a:lnTo>
                    <a:lnTo>
                      <a:pt x="229" y="222"/>
                    </a:lnTo>
                    <a:lnTo>
                      <a:pt x="229" y="290"/>
                    </a:lnTo>
                    <a:close/>
                    <a:moveTo>
                      <a:pt x="359" y="290"/>
                    </a:moveTo>
                    <a:lnTo>
                      <a:pt x="297" y="290"/>
                    </a:lnTo>
                    <a:lnTo>
                      <a:pt x="297" y="222"/>
                    </a:lnTo>
                    <a:lnTo>
                      <a:pt x="359" y="222"/>
                    </a:lnTo>
                    <a:lnTo>
                      <a:pt x="359" y="290"/>
                    </a:lnTo>
                    <a:close/>
                    <a:moveTo>
                      <a:pt x="488" y="290"/>
                    </a:moveTo>
                    <a:lnTo>
                      <a:pt x="420" y="290"/>
                    </a:lnTo>
                    <a:lnTo>
                      <a:pt x="420" y="222"/>
                    </a:lnTo>
                    <a:lnTo>
                      <a:pt x="488" y="222"/>
                    </a:lnTo>
                    <a:lnTo>
                      <a:pt x="488" y="2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69" name="텍스트 상자 31"/>
              <p:cNvSpPr txBox="1"/>
              <p:nvPr/>
            </p:nvSpPr>
            <p:spPr>
              <a:xfrm>
                <a:off x="4963998" y="3121801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4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61" name="Group 367"/>
            <p:cNvGrpSpPr/>
            <p:nvPr/>
          </p:nvGrpSpPr>
          <p:grpSpPr>
            <a:xfrm>
              <a:off x="2594860" y="3788208"/>
              <a:ext cx="257860" cy="107722"/>
              <a:chOff x="4269857" y="3799412"/>
              <a:chExt cx="257860" cy="107722"/>
            </a:xfrm>
          </p:grpSpPr>
          <p:sp>
            <p:nvSpPr>
              <p:cNvPr id="263" name="텍스트 상자 31"/>
              <p:cNvSpPr txBox="1"/>
              <p:nvPr/>
            </p:nvSpPr>
            <p:spPr>
              <a:xfrm>
                <a:off x="4410058" y="3799412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3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64" name="Group 50"/>
              <p:cNvGrpSpPr>
                <a:grpSpLocks noChangeAspect="1"/>
              </p:cNvGrpSpPr>
              <p:nvPr/>
            </p:nvGrpSpPr>
            <p:grpSpPr bwMode="auto">
              <a:xfrm>
                <a:off x="4269857" y="3808273"/>
                <a:ext cx="89419" cy="90000"/>
                <a:chOff x="2178" y="1307"/>
                <a:chExt cx="154" cy="155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265" name="Oval 51"/>
                <p:cNvSpPr>
                  <a:spLocks noChangeArrowheads="1"/>
                </p:cNvSpPr>
                <p:nvPr/>
              </p:nvSpPr>
              <p:spPr bwMode="auto">
                <a:xfrm>
                  <a:off x="2271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66" name="Oval 52"/>
                <p:cNvSpPr>
                  <a:spLocks noChangeArrowheads="1"/>
                </p:cNvSpPr>
                <p:nvPr/>
              </p:nvSpPr>
              <p:spPr bwMode="auto">
                <a:xfrm>
                  <a:off x="2217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67" name="Freeform 53"/>
                <p:cNvSpPr>
                  <a:spLocks noEditPoints="1"/>
                </p:cNvSpPr>
                <p:nvPr/>
              </p:nvSpPr>
              <p:spPr bwMode="auto">
                <a:xfrm>
                  <a:off x="2178" y="1307"/>
                  <a:ext cx="154" cy="155"/>
                </a:xfrm>
                <a:custGeom>
                  <a:avLst/>
                  <a:gdLst>
                    <a:gd name="T0" fmla="*/ 250 w 500"/>
                    <a:gd name="T1" fmla="*/ 0 h 500"/>
                    <a:gd name="T2" fmla="*/ 0 w 500"/>
                    <a:gd name="T3" fmla="*/ 250 h 500"/>
                    <a:gd name="T4" fmla="*/ 250 w 500"/>
                    <a:gd name="T5" fmla="*/ 500 h 500"/>
                    <a:gd name="T6" fmla="*/ 500 w 500"/>
                    <a:gd name="T7" fmla="*/ 250 h 500"/>
                    <a:gd name="T8" fmla="*/ 250 w 500"/>
                    <a:gd name="T9" fmla="*/ 0 h 500"/>
                    <a:gd name="T10" fmla="*/ 250 w 500"/>
                    <a:gd name="T11" fmla="*/ 450 h 500"/>
                    <a:gd name="T12" fmla="*/ 50 w 500"/>
                    <a:gd name="T13" fmla="*/ 250 h 500"/>
                    <a:gd name="T14" fmla="*/ 250 w 500"/>
                    <a:gd name="T15" fmla="*/ 50 h 500"/>
                    <a:gd name="T16" fmla="*/ 450 w 500"/>
                    <a:gd name="T17" fmla="*/ 250 h 500"/>
                    <a:gd name="T18" fmla="*/ 250 w 500"/>
                    <a:gd name="T19" fmla="*/ 450 h 500"/>
                    <a:gd name="T20" fmla="*/ 250 w 500"/>
                    <a:gd name="T21" fmla="*/ 350 h 500"/>
                    <a:gd name="T22" fmla="*/ 164 w 500"/>
                    <a:gd name="T23" fmla="*/ 300 h 500"/>
                    <a:gd name="T24" fmla="*/ 122 w 500"/>
                    <a:gd name="T25" fmla="*/ 300 h 500"/>
                    <a:gd name="T26" fmla="*/ 250 w 500"/>
                    <a:gd name="T27" fmla="*/ 388 h 500"/>
                    <a:gd name="T28" fmla="*/ 378 w 500"/>
                    <a:gd name="T29" fmla="*/ 300 h 500"/>
                    <a:gd name="T30" fmla="*/ 336 w 500"/>
                    <a:gd name="T31" fmla="*/ 300 h 500"/>
                    <a:gd name="T32" fmla="*/ 250 w 500"/>
                    <a:gd name="T33" fmla="*/ 350 h 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00" h="500">
                      <a:moveTo>
                        <a:pt x="250" y="0"/>
                      </a:moveTo>
                      <a:cubicBezTo>
                        <a:pt x="112" y="0"/>
                        <a:pt x="0" y="112"/>
                        <a:pt x="0" y="250"/>
                      </a:cubicBezTo>
                      <a:cubicBezTo>
                        <a:pt x="0" y="388"/>
                        <a:pt x="112" y="500"/>
                        <a:pt x="250" y="500"/>
                      </a:cubicBezTo>
                      <a:cubicBezTo>
                        <a:pt x="388" y="500"/>
                        <a:pt x="500" y="388"/>
                        <a:pt x="500" y="250"/>
                      </a:cubicBezTo>
                      <a:cubicBezTo>
                        <a:pt x="500" y="112"/>
                        <a:pt x="388" y="0"/>
                        <a:pt x="250" y="0"/>
                      </a:cubicBezTo>
                      <a:close/>
                      <a:moveTo>
                        <a:pt x="250" y="450"/>
                      </a:moveTo>
                      <a:cubicBezTo>
                        <a:pt x="140" y="450"/>
                        <a:pt x="50" y="361"/>
                        <a:pt x="50" y="250"/>
                      </a:cubicBezTo>
                      <a:cubicBezTo>
                        <a:pt x="50" y="139"/>
                        <a:pt x="140" y="50"/>
                        <a:pt x="250" y="50"/>
                      </a:cubicBezTo>
                      <a:cubicBezTo>
                        <a:pt x="361" y="50"/>
                        <a:pt x="450" y="140"/>
                        <a:pt x="450" y="250"/>
                      </a:cubicBezTo>
                      <a:cubicBezTo>
                        <a:pt x="450" y="361"/>
                        <a:pt x="361" y="450"/>
                        <a:pt x="250" y="450"/>
                      </a:cubicBezTo>
                      <a:close/>
                      <a:moveTo>
                        <a:pt x="250" y="350"/>
                      </a:moveTo>
                      <a:cubicBezTo>
                        <a:pt x="213" y="350"/>
                        <a:pt x="181" y="330"/>
                        <a:pt x="164" y="300"/>
                      </a:cubicBezTo>
                      <a:lnTo>
                        <a:pt x="122" y="300"/>
                      </a:lnTo>
                      <a:cubicBezTo>
                        <a:pt x="142" y="351"/>
                        <a:pt x="192" y="388"/>
                        <a:pt x="250" y="388"/>
                      </a:cubicBezTo>
                      <a:cubicBezTo>
                        <a:pt x="308" y="388"/>
                        <a:pt x="358" y="351"/>
                        <a:pt x="378" y="300"/>
                      </a:cubicBezTo>
                      <a:lnTo>
                        <a:pt x="336" y="300"/>
                      </a:lnTo>
                      <a:cubicBezTo>
                        <a:pt x="319" y="330"/>
                        <a:pt x="287" y="350"/>
                        <a:pt x="250" y="35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262" name="Freeform 375"/>
            <p:cNvSpPr>
              <a:spLocks noChangeAspect="1"/>
            </p:cNvSpPr>
            <p:nvPr/>
          </p:nvSpPr>
          <p:spPr>
            <a:xfrm>
              <a:off x="2463757" y="3802263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grpSp>
        <p:nvGrpSpPr>
          <p:cNvPr id="270" name="Group 399"/>
          <p:cNvGrpSpPr/>
          <p:nvPr/>
        </p:nvGrpSpPr>
        <p:grpSpPr>
          <a:xfrm>
            <a:off x="2064211" y="5083100"/>
            <a:ext cx="651018" cy="107722"/>
            <a:chOff x="2463757" y="3788208"/>
            <a:chExt cx="651018" cy="107722"/>
          </a:xfrm>
        </p:grpSpPr>
        <p:grpSp>
          <p:nvGrpSpPr>
            <p:cNvPr id="271" name="Group 400"/>
            <p:cNvGrpSpPr/>
            <p:nvPr/>
          </p:nvGrpSpPr>
          <p:grpSpPr>
            <a:xfrm>
              <a:off x="2850938" y="3788208"/>
              <a:ext cx="263837" cy="107722"/>
              <a:chOff x="4817820" y="3121801"/>
              <a:chExt cx="263837" cy="107722"/>
            </a:xfrm>
          </p:grpSpPr>
          <p:sp>
            <p:nvSpPr>
              <p:cNvPr id="279" name="Freeform 24"/>
              <p:cNvSpPr>
                <a:spLocks noChangeAspect="1" noChangeArrowheads="1"/>
              </p:cNvSpPr>
              <p:nvPr/>
            </p:nvSpPr>
            <p:spPr bwMode="auto">
              <a:xfrm>
                <a:off x="4817820" y="3136639"/>
                <a:ext cx="90000" cy="89388"/>
              </a:xfrm>
              <a:custGeom>
                <a:avLst/>
                <a:gdLst>
                  <a:gd name="T0" fmla="*/ 587 w 650"/>
                  <a:gd name="T1" fmla="*/ 0 h 644"/>
                  <a:gd name="T2" fmla="*/ 68 w 650"/>
                  <a:gd name="T3" fmla="*/ 0 h 644"/>
                  <a:gd name="T4" fmla="*/ 0 w 650"/>
                  <a:gd name="T5" fmla="*/ 62 h 644"/>
                  <a:gd name="T6" fmla="*/ 0 w 650"/>
                  <a:gd name="T7" fmla="*/ 643 h 644"/>
                  <a:gd name="T8" fmla="*/ 130 w 650"/>
                  <a:gd name="T9" fmla="*/ 513 h 644"/>
                  <a:gd name="T10" fmla="*/ 587 w 650"/>
                  <a:gd name="T11" fmla="*/ 513 h 644"/>
                  <a:gd name="T12" fmla="*/ 649 w 650"/>
                  <a:gd name="T13" fmla="*/ 451 h 644"/>
                  <a:gd name="T14" fmla="*/ 649 w 650"/>
                  <a:gd name="T15" fmla="*/ 62 h 644"/>
                  <a:gd name="T16" fmla="*/ 587 w 650"/>
                  <a:gd name="T17" fmla="*/ 0 h 644"/>
                  <a:gd name="T18" fmla="*/ 229 w 650"/>
                  <a:gd name="T19" fmla="*/ 290 h 644"/>
                  <a:gd name="T20" fmla="*/ 167 w 650"/>
                  <a:gd name="T21" fmla="*/ 290 h 644"/>
                  <a:gd name="T22" fmla="*/ 167 w 650"/>
                  <a:gd name="T23" fmla="*/ 222 h 644"/>
                  <a:gd name="T24" fmla="*/ 229 w 650"/>
                  <a:gd name="T25" fmla="*/ 222 h 644"/>
                  <a:gd name="T26" fmla="*/ 229 w 650"/>
                  <a:gd name="T27" fmla="*/ 290 h 644"/>
                  <a:gd name="T28" fmla="*/ 359 w 650"/>
                  <a:gd name="T29" fmla="*/ 290 h 644"/>
                  <a:gd name="T30" fmla="*/ 297 w 650"/>
                  <a:gd name="T31" fmla="*/ 290 h 644"/>
                  <a:gd name="T32" fmla="*/ 297 w 650"/>
                  <a:gd name="T33" fmla="*/ 222 h 644"/>
                  <a:gd name="T34" fmla="*/ 359 w 650"/>
                  <a:gd name="T35" fmla="*/ 222 h 644"/>
                  <a:gd name="T36" fmla="*/ 359 w 650"/>
                  <a:gd name="T37" fmla="*/ 290 h 644"/>
                  <a:gd name="T38" fmla="*/ 488 w 650"/>
                  <a:gd name="T39" fmla="*/ 290 h 644"/>
                  <a:gd name="T40" fmla="*/ 420 w 650"/>
                  <a:gd name="T41" fmla="*/ 290 h 644"/>
                  <a:gd name="T42" fmla="*/ 420 w 650"/>
                  <a:gd name="T43" fmla="*/ 222 h 644"/>
                  <a:gd name="T44" fmla="*/ 488 w 650"/>
                  <a:gd name="T45" fmla="*/ 222 h 644"/>
                  <a:gd name="T46" fmla="*/ 488 w 650"/>
                  <a:gd name="T47" fmla="*/ 29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0" h="644">
                    <a:moveTo>
                      <a:pt x="587" y="0"/>
                    </a:moveTo>
                    <a:lnTo>
                      <a:pt x="68" y="0"/>
                    </a:lnTo>
                    <a:cubicBezTo>
                      <a:pt x="31" y="0"/>
                      <a:pt x="0" y="24"/>
                      <a:pt x="0" y="62"/>
                    </a:cubicBezTo>
                    <a:lnTo>
                      <a:pt x="0" y="643"/>
                    </a:lnTo>
                    <a:lnTo>
                      <a:pt x="130" y="513"/>
                    </a:lnTo>
                    <a:lnTo>
                      <a:pt x="587" y="513"/>
                    </a:lnTo>
                    <a:cubicBezTo>
                      <a:pt x="618" y="513"/>
                      <a:pt x="649" y="482"/>
                      <a:pt x="649" y="451"/>
                    </a:cubicBezTo>
                    <a:lnTo>
                      <a:pt x="649" y="62"/>
                    </a:lnTo>
                    <a:cubicBezTo>
                      <a:pt x="649" y="24"/>
                      <a:pt x="618" y="0"/>
                      <a:pt x="587" y="0"/>
                    </a:cubicBezTo>
                    <a:close/>
                    <a:moveTo>
                      <a:pt x="229" y="290"/>
                    </a:moveTo>
                    <a:lnTo>
                      <a:pt x="167" y="290"/>
                    </a:lnTo>
                    <a:lnTo>
                      <a:pt x="167" y="222"/>
                    </a:lnTo>
                    <a:lnTo>
                      <a:pt x="229" y="222"/>
                    </a:lnTo>
                    <a:lnTo>
                      <a:pt x="229" y="290"/>
                    </a:lnTo>
                    <a:close/>
                    <a:moveTo>
                      <a:pt x="359" y="290"/>
                    </a:moveTo>
                    <a:lnTo>
                      <a:pt x="297" y="290"/>
                    </a:lnTo>
                    <a:lnTo>
                      <a:pt x="297" y="222"/>
                    </a:lnTo>
                    <a:lnTo>
                      <a:pt x="359" y="222"/>
                    </a:lnTo>
                    <a:lnTo>
                      <a:pt x="359" y="290"/>
                    </a:lnTo>
                    <a:close/>
                    <a:moveTo>
                      <a:pt x="488" y="290"/>
                    </a:moveTo>
                    <a:lnTo>
                      <a:pt x="420" y="290"/>
                    </a:lnTo>
                    <a:lnTo>
                      <a:pt x="420" y="222"/>
                    </a:lnTo>
                    <a:lnTo>
                      <a:pt x="488" y="222"/>
                    </a:lnTo>
                    <a:lnTo>
                      <a:pt x="488" y="2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80" name="텍스트 상자 31"/>
              <p:cNvSpPr txBox="1"/>
              <p:nvPr/>
            </p:nvSpPr>
            <p:spPr>
              <a:xfrm>
                <a:off x="4963998" y="3121801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4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72" name="Group 401"/>
            <p:cNvGrpSpPr/>
            <p:nvPr/>
          </p:nvGrpSpPr>
          <p:grpSpPr>
            <a:xfrm>
              <a:off x="2594860" y="3788208"/>
              <a:ext cx="257860" cy="107722"/>
              <a:chOff x="4269857" y="3799412"/>
              <a:chExt cx="257860" cy="107722"/>
            </a:xfrm>
          </p:grpSpPr>
          <p:sp>
            <p:nvSpPr>
              <p:cNvPr id="274" name="텍스트 상자 31"/>
              <p:cNvSpPr txBox="1"/>
              <p:nvPr/>
            </p:nvSpPr>
            <p:spPr>
              <a:xfrm>
                <a:off x="4410058" y="3799412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3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75" name="Group 50"/>
              <p:cNvGrpSpPr>
                <a:grpSpLocks noChangeAspect="1"/>
              </p:cNvGrpSpPr>
              <p:nvPr/>
            </p:nvGrpSpPr>
            <p:grpSpPr bwMode="auto">
              <a:xfrm>
                <a:off x="4269857" y="3808273"/>
                <a:ext cx="89419" cy="90000"/>
                <a:chOff x="2178" y="1307"/>
                <a:chExt cx="154" cy="155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276" name="Oval 51"/>
                <p:cNvSpPr>
                  <a:spLocks noChangeArrowheads="1"/>
                </p:cNvSpPr>
                <p:nvPr/>
              </p:nvSpPr>
              <p:spPr bwMode="auto">
                <a:xfrm>
                  <a:off x="2271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77" name="Oval 52"/>
                <p:cNvSpPr>
                  <a:spLocks noChangeArrowheads="1"/>
                </p:cNvSpPr>
                <p:nvPr/>
              </p:nvSpPr>
              <p:spPr bwMode="auto">
                <a:xfrm>
                  <a:off x="2217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78" name="Freeform 53"/>
                <p:cNvSpPr>
                  <a:spLocks noEditPoints="1"/>
                </p:cNvSpPr>
                <p:nvPr/>
              </p:nvSpPr>
              <p:spPr bwMode="auto">
                <a:xfrm>
                  <a:off x="2178" y="1307"/>
                  <a:ext cx="154" cy="155"/>
                </a:xfrm>
                <a:custGeom>
                  <a:avLst/>
                  <a:gdLst>
                    <a:gd name="T0" fmla="*/ 250 w 500"/>
                    <a:gd name="T1" fmla="*/ 0 h 500"/>
                    <a:gd name="T2" fmla="*/ 0 w 500"/>
                    <a:gd name="T3" fmla="*/ 250 h 500"/>
                    <a:gd name="T4" fmla="*/ 250 w 500"/>
                    <a:gd name="T5" fmla="*/ 500 h 500"/>
                    <a:gd name="T6" fmla="*/ 500 w 500"/>
                    <a:gd name="T7" fmla="*/ 250 h 500"/>
                    <a:gd name="T8" fmla="*/ 250 w 500"/>
                    <a:gd name="T9" fmla="*/ 0 h 500"/>
                    <a:gd name="T10" fmla="*/ 250 w 500"/>
                    <a:gd name="T11" fmla="*/ 450 h 500"/>
                    <a:gd name="T12" fmla="*/ 50 w 500"/>
                    <a:gd name="T13" fmla="*/ 250 h 500"/>
                    <a:gd name="T14" fmla="*/ 250 w 500"/>
                    <a:gd name="T15" fmla="*/ 50 h 500"/>
                    <a:gd name="T16" fmla="*/ 450 w 500"/>
                    <a:gd name="T17" fmla="*/ 250 h 500"/>
                    <a:gd name="T18" fmla="*/ 250 w 500"/>
                    <a:gd name="T19" fmla="*/ 450 h 500"/>
                    <a:gd name="T20" fmla="*/ 250 w 500"/>
                    <a:gd name="T21" fmla="*/ 350 h 500"/>
                    <a:gd name="T22" fmla="*/ 164 w 500"/>
                    <a:gd name="T23" fmla="*/ 300 h 500"/>
                    <a:gd name="T24" fmla="*/ 122 w 500"/>
                    <a:gd name="T25" fmla="*/ 300 h 500"/>
                    <a:gd name="T26" fmla="*/ 250 w 500"/>
                    <a:gd name="T27" fmla="*/ 388 h 500"/>
                    <a:gd name="T28" fmla="*/ 378 w 500"/>
                    <a:gd name="T29" fmla="*/ 300 h 500"/>
                    <a:gd name="T30" fmla="*/ 336 w 500"/>
                    <a:gd name="T31" fmla="*/ 300 h 500"/>
                    <a:gd name="T32" fmla="*/ 250 w 500"/>
                    <a:gd name="T33" fmla="*/ 350 h 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00" h="500">
                      <a:moveTo>
                        <a:pt x="250" y="0"/>
                      </a:moveTo>
                      <a:cubicBezTo>
                        <a:pt x="112" y="0"/>
                        <a:pt x="0" y="112"/>
                        <a:pt x="0" y="250"/>
                      </a:cubicBezTo>
                      <a:cubicBezTo>
                        <a:pt x="0" y="388"/>
                        <a:pt x="112" y="500"/>
                        <a:pt x="250" y="500"/>
                      </a:cubicBezTo>
                      <a:cubicBezTo>
                        <a:pt x="388" y="500"/>
                        <a:pt x="500" y="388"/>
                        <a:pt x="500" y="250"/>
                      </a:cubicBezTo>
                      <a:cubicBezTo>
                        <a:pt x="500" y="112"/>
                        <a:pt x="388" y="0"/>
                        <a:pt x="250" y="0"/>
                      </a:cubicBezTo>
                      <a:close/>
                      <a:moveTo>
                        <a:pt x="250" y="450"/>
                      </a:moveTo>
                      <a:cubicBezTo>
                        <a:pt x="140" y="450"/>
                        <a:pt x="50" y="361"/>
                        <a:pt x="50" y="250"/>
                      </a:cubicBezTo>
                      <a:cubicBezTo>
                        <a:pt x="50" y="139"/>
                        <a:pt x="140" y="50"/>
                        <a:pt x="250" y="50"/>
                      </a:cubicBezTo>
                      <a:cubicBezTo>
                        <a:pt x="361" y="50"/>
                        <a:pt x="450" y="140"/>
                        <a:pt x="450" y="250"/>
                      </a:cubicBezTo>
                      <a:cubicBezTo>
                        <a:pt x="450" y="361"/>
                        <a:pt x="361" y="450"/>
                        <a:pt x="250" y="450"/>
                      </a:cubicBezTo>
                      <a:close/>
                      <a:moveTo>
                        <a:pt x="250" y="350"/>
                      </a:moveTo>
                      <a:cubicBezTo>
                        <a:pt x="213" y="350"/>
                        <a:pt x="181" y="330"/>
                        <a:pt x="164" y="300"/>
                      </a:cubicBezTo>
                      <a:lnTo>
                        <a:pt x="122" y="300"/>
                      </a:lnTo>
                      <a:cubicBezTo>
                        <a:pt x="142" y="351"/>
                        <a:pt x="192" y="388"/>
                        <a:pt x="250" y="388"/>
                      </a:cubicBezTo>
                      <a:cubicBezTo>
                        <a:pt x="308" y="388"/>
                        <a:pt x="358" y="351"/>
                        <a:pt x="378" y="300"/>
                      </a:cubicBezTo>
                      <a:lnTo>
                        <a:pt x="336" y="300"/>
                      </a:lnTo>
                      <a:cubicBezTo>
                        <a:pt x="319" y="330"/>
                        <a:pt x="287" y="350"/>
                        <a:pt x="250" y="35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273" name="Freeform 402"/>
            <p:cNvSpPr>
              <a:spLocks noChangeAspect="1"/>
            </p:cNvSpPr>
            <p:nvPr/>
          </p:nvSpPr>
          <p:spPr>
            <a:xfrm>
              <a:off x="2463757" y="3802263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sp>
        <p:nvSpPr>
          <p:cNvPr id="281" name="Freeform 25"/>
          <p:cNvSpPr>
            <a:spLocks noChangeAspect="1" noEditPoints="1"/>
          </p:cNvSpPr>
          <p:nvPr/>
        </p:nvSpPr>
        <p:spPr bwMode="auto">
          <a:xfrm>
            <a:off x="6535161" y="184443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2" name="Freeform 25"/>
          <p:cNvSpPr>
            <a:spLocks noChangeAspect="1" noEditPoints="1"/>
          </p:cNvSpPr>
          <p:nvPr/>
        </p:nvSpPr>
        <p:spPr bwMode="auto">
          <a:xfrm>
            <a:off x="6535161" y="396981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3" name="Freeform 25"/>
          <p:cNvSpPr>
            <a:spLocks noChangeAspect="1" noEditPoints="1"/>
          </p:cNvSpPr>
          <p:nvPr/>
        </p:nvSpPr>
        <p:spPr bwMode="auto">
          <a:xfrm>
            <a:off x="6535161" y="561727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8" name="텍스트 상자 31"/>
          <p:cNvSpPr txBox="1"/>
          <p:nvPr/>
        </p:nvSpPr>
        <p:spPr>
          <a:xfrm>
            <a:off x="3785591" y="5303634"/>
            <a:ext cx="1269604" cy="107722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kumimoji="1" lang="ko-KR" altLang="en-US" sz="700" b="1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여기까지 읽었습니다</a:t>
            </a:r>
            <a:r>
              <a:rPr kumimoji="1" lang="en-US" altLang="ko-KR" sz="700" b="1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b="1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325" name="그룹 324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26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7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28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29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0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1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2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3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34" name="직사각형 333"/>
          <p:cNvSpPr/>
          <p:nvPr/>
        </p:nvSpPr>
        <p:spPr>
          <a:xfrm>
            <a:off x="430400" y="681266"/>
            <a:ext cx="8792432" cy="5978614"/>
          </a:xfrm>
          <a:prstGeom prst="rect">
            <a:avLst/>
          </a:prstGeom>
          <a:solidFill>
            <a:schemeClr val="tx1">
              <a:lumMod val="50000"/>
              <a:lumOff val="50000"/>
              <a:alpha val="50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336" name="그룹 335"/>
          <p:cNvGrpSpPr/>
          <p:nvPr/>
        </p:nvGrpSpPr>
        <p:grpSpPr>
          <a:xfrm>
            <a:off x="1793763" y="1553980"/>
            <a:ext cx="5320640" cy="1304447"/>
            <a:chOff x="4540990" y="4109994"/>
            <a:chExt cx="5320640" cy="1304447"/>
          </a:xfrm>
        </p:grpSpPr>
        <p:sp>
          <p:nvSpPr>
            <p:cNvPr id="338" name="Rectangle 14"/>
            <p:cNvSpPr>
              <a:spLocks/>
            </p:cNvSpPr>
            <p:nvPr/>
          </p:nvSpPr>
          <p:spPr bwMode="auto">
            <a:xfrm>
              <a:off x="4540990" y="4109994"/>
              <a:ext cx="5320640" cy="1304447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>
              <a:outerShdw blurRad="50800" dist="38100" dir="2700000" sx="99000" sy="99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50800" tIns="18000" rIns="50800" bIns="50800" anchor="t"/>
            <a:lstStyle/>
            <a:p>
              <a:pPr>
                <a:lnSpc>
                  <a:spcPct val="130000"/>
                </a:lnSpc>
              </a:pPr>
              <a:endParaRPr lang="x-none" altLang="x-none" sz="600" u="sng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4753135" y="4234530"/>
              <a:ext cx="1824786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defTabSz="990570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멤버들에게 새로운 소식을 전해보세요</a:t>
              </a:r>
              <a:endParaRPr kumimoji="0"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40" name="직사각형 339"/>
            <p:cNvSpPr/>
            <p:nvPr/>
          </p:nvSpPr>
          <p:spPr>
            <a:xfrm>
              <a:off x="4553194" y="5107528"/>
              <a:ext cx="5302800" cy="2950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1" name="직선 연결선 340"/>
            <p:cNvCxnSpPr/>
            <p:nvPr/>
          </p:nvCxnSpPr>
          <p:spPr>
            <a:xfrm flipH="1">
              <a:off x="4555233" y="5107611"/>
              <a:ext cx="530639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2" name="Rounded Rectangle 861"/>
            <p:cNvSpPr/>
            <p:nvPr/>
          </p:nvSpPr>
          <p:spPr>
            <a:xfrm>
              <a:off x="8642797" y="5180734"/>
              <a:ext cx="396000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저장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43" name="Rounded Rectangle 861"/>
            <p:cNvSpPr/>
            <p:nvPr/>
          </p:nvSpPr>
          <p:spPr>
            <a:xfrm>
              <a:off x="9126793" y="5180734"/>
              <a:ext cx="396000" cy="16200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취소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44" name="Freeform 17"/>
            <p:cNvSpPr>
              <a:spLocks noChangeArrowheads="1"/>
            </p:cNvSpPr>
            <p:nvPr/>
          </p:nvSpPr>
          <p:spPr bwMode="auto">
            <a:xfrm>
              <a:off x="4770616" y="5170694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45" name="Freeform 33"/>
            <p:cNvSpPr>
              <a:spLocks noEditPoints="1"/>
            </p:cNvSpPr>
            <p:nvPr/>
          </p:nvSpPr>
          <p:spPr bwMode="auto">
            <a:xfrm>
              <a:off x="5378561" y="5170694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46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5617" y="5170694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7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12687" y="5152694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8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6892" y="5160333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6" name="타원 65"/>
          <p:cNvSpPr>
            <a:spLocks noChangeAspect="1"/>
          </p:cNvSpPr>
          <p:nvPr/>
        </p:nvSpPr>
        <p:spPr>
          <a:xfrm>
            <a:off x="1708248" y="1499832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0" name="Rectangle 129"/>
          <p:cNvSpPr/>
          <p:nvPr/>
        </p:nvSpPr>
        <p:spPr>
          <a:xfrm>
            <a:off x="5837199" y="2585272"/>
            <a:ext cx="1247748" cy="23400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51" name="타원 250"/>
          <p:cNvSpPr>
            <a:spLocks noChangeAspect="1"/>
          </p:cNvSpPr>
          <p:nvPr/>
        </p:nvSpPr>
        <p:spPr>
          <a:xfrm>
            <a:off x="6474617" y="243435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1-1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5" name="Rectangle 129"/>
          <p:cNvSpPr/>
          <p:nvPr/>
        </p:nvSpPr>
        <p:spPr>
          <a:xfrm>
            <a:off x="1899808" y="2575941"/>
            <a:ext cx="1791209" cy="23400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56" name="타원 255"/>
          <p:cNvSpPr>
            <a:spLocks noChangeAspect="1"/>
          </p:cNvSpPr>
          <p:nvPr/>
        </p:nvSpPr>
        <p:spPr>
          <a:xfrm>
            <a:off x="3488424" y="243435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1-2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7" name="Rounded Rectangle 861"/>
          <p:cNvSpPr/>
          <p:nvPr/>
        </p:nvSpPr>
        <p:spPr>
          <a:xfrm>
            <a:off x="1907262" y="2337302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#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태그를 입력하세요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</a:t>
            </a:r>
            <a:endParaRPr 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258" name="타원 257"/>
          <p:cNvSpPr>
            <a:spLocks noChangeAspect="1"/>
          </p:cNvSpPr>
          <p:nvPr/>
        </p:nvSpPr>
        <p:spPr>
          <a:xfrm>
            <a:off x="2883275" y="222414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9" name="Freeform 25"/>
          <p:cNvSpPr>
            <a:spLocks noChangeAspect="1" noEditPoints="1"/>
          </p:cNvSpPr>
          <p:nvPr/>
        </p:nvSpPr>
        <p:spPr bwMode="auto">
          <a:xfrm>
            <a:off x="5643798" y="4775413"/>
            <a:ext cx="146880" cy="180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23" name="Rounded Rectangle 861"/>
          <p:cNvSpPr/>
          <p:nvPr/>
        </p:nvSpPr>
        <p:spPr>
          <a:xfrm>
            <a:off x="676938" y="4505995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#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태그를 입력하세요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</a:t>
            </a:r>
            <a:endParaRPr 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563439" y="3722673"/>
            <a:ext cx="5320640" cy="1507711"/>
            <a:chOff x="563439" y="3722673"/>
            <a:chExt cx="5320640" cy="1507711"/>
          </a:xfrm>
        </p:grpSpPr>
        <p:sp>
          <p:nvSpPr>
            <p:cNvPr id="310" name="Rectangle 14"/>
            <p:cNvSpPr>
              <a:spLocks/>
            </p:cNvSpPr>
            <p:nvPr/>
          </p:nvSpPr>
          <p:spPr bwMode="auto">
            <a:xfrm>
              <a:off x="563439" y="3722673"/>
              <a:ext cx="5320640" cy="1304447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>
              <a:outerShdw blurRad="50800" dist="38100" dir="2700000" sx="99000" sy="99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50800" tIns="18000" rIns="50800" bIns="50800" anchor="t"/>
            <a:lstStyle/>
            <a:p>
              <a:pPr>
                <a:lnSpc>
                  <a:spcPct val="130000"/>
                </a:lnSpc>
              </a:pPr>
              <a:endParaRPr lang="x-none" altLang="x-none" sz="600" u="sng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1" name="TextBox 310"/>
            <p:cNvSpPr txBox="1"/>
            <p:nvPr/>
          </p:nvSpPr>
          <p:spPr>
            <a:xfrm>
              <a:off x="775584" y="3847209"/>
              <a:ext cx="276285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defTabSz="990570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800" dirty="0" smtClean="0">
                  <a:latin typeface="+mn-ea"/>
                  <a:ea typeface="+mn-ea"/>
                </a:rPr>
                <a:t>@</a:t>
              </a:r>
              <a:r>
                <a:rPr kumimoji="0" lang="ko-KR" altLang="en-US" sz="800" dirty="0" smtClean="0">
                  <a:latin typeface="+mn-ea"/>
                  <a:ea typeface="+mn-ea"/>
                </a:rPr>
                <a:t>강</a:t>
              </a:r>
              <a:endParaRPr kumimoji="0"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312" name="직사각형 311"/>
            <p:cNvSpPr/>
            <p:nvPr/>
          </p:nvSpPr>
          <p:spPr>
            <a:xfrm>
              <a:off x="575643" y="4720207"/>
              <a:ext cx="5302800" cy="2950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3" name="직선 연결선 312"/>
            <p:cNvCxnSpPr/>
            <p:nvPr/>
          </p:nvCxnSpPr>
          <p:spPr>
            <a:xfrm flipH="1">
              <a:off x="577682" y="4720290"/>
              <a:ext cx="530639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4" name="Rounded Rectangle 861"/>
            <p:cNvSpPr/>
            <p:nvPr/>
          </p:nvSpPr>
          <p:spPr>
            <a:xfrm>
              <a:off x="4665246" y="4793413"/>
              <a:ext cx="396000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저장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15" name="Rounded Rectangle 861"/>
            <p:cNvSpPr/>
            <p:nvPr/>
          </p:nvSpPr>
          <p:spPr>
            <a:xfrm>
              <a:off x="5149242" y="4793413"/>
              <a:ext cx="396000" cy="16200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취소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16" name="Freeform 17"/>
            <p:cNvSpPr>
              <a:spLocks noChangeArrowheads="1"/>
            </p:cNvSpPr>
            <p:nvPr/>
          </p:nvSpPr>
          <p:spPr bwMode="auto">
            <a:xfrm>
              <a:off x="793065" y="4783373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17" name="Freeform 33"/>
            <p:cNvSpPr>
              <a:spLocks noEditPoints="1"/>
            </p:cNvSpPr>
            <p:nvPr/>
          </p:nvSpPr>
          <p:spPr bwMode="auto">
            <a:xfrm>
              <a:off x="1401010" y="4783373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18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8066" y="4783373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9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35136" y="4765373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0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9341" y="4773012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0" name="TextBox 349"/>
            <p:cNvSpPr txBox="1"/>
            <p:nvPr/>
          </p:nvSpPr>
          <p:spPr>
            <a:xfrm>
              <a:off x="943919" y="3847209"/>
              <a:ext cx="175295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defTabSz="990570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 dirty="0" err="1">
                  <a:latin typeface="+mn-ea"/>
                  <a:ea typeface="+mn-ea"/>
                </a:rPr>
                <a:t>ㅣ</a:t>
              </a:r>
              <a:endParaRPr kumimoji="0"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321" name="Rectangle 14"/>
            <p:cNvSpPr>
              <a:spLocks/>
            </p:cNvSpPr>
            <p:nvPr/>
          </p:nvSpPr>
          <p:spPr bwMode="auto">
            <a:xfrm>
              <a:off x="721387" y="4067478"/>
              <a:ext cx="3774417" cy="1162906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>
              <a:outerShdw blurRad="50800" dist="38100" dir="2700000" sx="99000" sy="99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50800" tIns="18000" rIns="50800" bIns="50800" anchor="t"/>
            <a:lstStyle/>
            <a:p>
              <a:pPr>
                <a:lnSpc>
                  <a:spcPct val="200000"/>
                </a:lnSpc>
              </a:pPr>
              <a:endParaRPr lang="en-US" altLang="x-none" sz="700" b="1" dirty="0" smtClean="0">
                <a:solidFill>
                  <a:schemeClr val="bg1">
                    <a:lumMod val="65000"/>
                  </a:schemeClr>
                </a:solidFill>
                <a:latin typeface="+mj-ea"/>
                <a:ea typeface="+mj-ea"/>
              </a:endParaRPr>
            </a:p>
          </p:txBody>
        </p:sp>
        <p:sp>
          <p:nvSpPr>
            <p:cNvPr id="322" name="Rectangle 14"/>
            <p:cNvSpPr>
              <a:spLocks/>
            </p:cNvSpPr>
            <p:nvPr/>
          </p:nvSpPr>
          <p:spPr bwMode="auto">
            <a:xfrm>
              <a:off x="729449" y="4077687"/>
              <a:ext cx="3774417" cy="297579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635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50800" tIns="18000" rIns="50800" bIns="50800" anchor="t"/>
            <a:lstStyle/>
            <a:p>
              <a:pPr>
                <a:lnSpc>
                  <a:spcPct val="200000"/>
                </a:lnSpc>
              </a:pPr>
              <a:endParaRPr lang="en-US" altLang="x-none" sz="700" b="1" dirty="0" smtClean="0">
                <a:solidFill>
                  <a:schemeClr val="bg1">
                    <a:lumMod val="65000"/>
                  </a:schemeClr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5386" y="4128180"/>
            <a:ext cx="1613396" cy="1079630"/>
            <a:chOff x="763636" y="4744751"/>
            <a:chExt cx="1613396" cy="1079630"/>
          </a:xfrm>
        </p:grpSpPr>
        <p:sp>
          <p:nvSpPr>
            <p:cNvPr id="324" name="텍스트 상자 31"/>
            <p:cNvSpPr txBox="1"/>
            <p:nvPr/>
          </p:nvSpPr>
          <p:spPr>
            <a:xfrm>
              <a:off x="1065702" y="4782147"/>
              <a:ext cx="131133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7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강미나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rPr>
                <a:t>|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선임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pic>
          <p:nvPicPr>
            <p:cNvPr id="349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3636" y="4744751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1" name="텍스트 상자 31"/>
            <p:cNvSpPr txBox="1"/>
            <p:nvPr/>
          </p:nvSpPr>
          <p:spPr>
            <a:xfrm>
              <a:off x="1065702" y="5085332"/>
              <a:ext cx="131133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7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강미나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rPr>
                <a:t>|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선임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pic>
          <p:nvPicPr>
            <p:cNvPr id="352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3636" y="5047936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3" name="텍스트 상자 31"/>
            <p:cNvSpPr txBox="1"/>
            <p:nvPr/>
          </p:nvSpPr>
          <p:spPr>
            <a:xfrm>
              <a:off x="1065702" y="5377398"/>
              <a:ext cx="131133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7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강미나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rPr>
                <a:t>|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선임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pic>
          <p:nvPicPr>
            <p:cNvPr id="354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3636" y="5340002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5" name="텍스트 상자 31"/>
            <p:cNvSpPr txBox="1"/>
            <p:nvPr/>
          </p:nvSpPr>
          <p:spPr>
            <a:xfrm>
              <a:off x="1065702" y="5656577"/>
              <a:ext cx="131133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700" dirty="0" err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강미나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rPr>
                <a:t>|</a:t>
              </a:r>
              <a:r>
                <a:rPr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선임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pic>
          <p:nvPicPr>
            <p:cNvPr id="356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3636" y="5619181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5" name="그룹 24"/>
          <p:cNvGrpSpPr/>
          <p:nvPr/>
        </p:nvGrpSpPr>
        <p:grpSpPr>
          <a:xfrm>
            <a:off x="6408847" y="4683606"/>
            <a:ext cx="5320640" cy="2123639"/>
            <a:chOff x="6144333" y="5187326"/>
            <a:chExt cx="5320640" cy="2123639"/>
          </a:xfrm>
        </p:grpSpPr>
        <p:grpSp>
          <p:nvGrpSpPr>
            <p:cNvPr id="285" name="그룹 284"/>
            <p:cNvGrpSpPr/>
            <p:nvPr/>
          </p:nvGrpSpPr>
          <p:grpSpPr>
            <a:xfrm>
              <a:off x="6144333" y="5187326"/>
              <a:ext cx="5320640" cy="2123639"/>
              <a:chOff x="4540990" y="4109994"/>
              <a:chExt cx="5320640" cy="2123639"/>
            </a:xfrm>
          </p:grpSpPr>
          <p:sp>
            <p:nvSpPr>
              <p:cNvPr id="287" name="Rectangle 14"/>
              <p:cNvSpPr>
                <a:spLocks/>
              </p:cNvSpPr>
              <p:nvPr/>
            </p:nvSpPr>
            <p:spPr bwMode="auto">
              <a:xfrm>
                <a:off x="4540990" y="4109994"/>
                <a:ext cx="5320640" cy="1304447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>
                <a:outerShdw blurRad="50800" dist="38100" dir="2700000" sx="99000" sy="99000" algn="t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lIns="50800" tIns="18000" rIns="50800" bIns="50800" anchor="t"/>
              <a:lstStyle/>
              <a:p>
                <a:pPr>
                  <a:lnSpc>
                    <a:spcPct val="130000"/>
                  </a:lnSpc>
                </a:pPr>
                <a:endParaRPr lang="x-none" altLang="x-none" sz="600" u="sng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9" name="TextBox 288"/>
              <p:cNvSpPr txBox="1"/>
              <p:nvPr/>
            </p:nvSpPr>
            <p:spPr>
              <a:xfrm>
                <a:off x="4753135" y="4234530"/>
                <a:ext cx="1824786" cy="215444"/>
              </a:xfrm>
              <a:prstGeom prst="rect">
                <a:avLst/>
              </a:prstGeom>
              <a:noFill/>
            </p:spPr>
            <p:txBody>
              <a:bodyPr wrap="none" lIns="36000" rIns="36000" rtlCol="0" anchor="ctr">
                <a:spAutoFit/>
              </a:bodyPr>
              <a:lstStyle/>
              <a:p>
                <a:pPr defTabSz="990570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멤버들에게 새로운 소식을 전해보세요</a:t>
                </a:r>
                <a:endParaRPr kumimoji="0" lang="en-US" altLang="ko-KR" sz="800" dirty="0">
                  <a:solidFill>
                    <a:schemeClr val="bg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90" name="직사각형 289"/>
              <p:cNvSpPr/>
              <p:nvPr/>
            </p:nvSpPr>
            <p:spPr>
              <a:xfrm>
                <a:off x="4553194" y="5107528"/>
                <a:ext cx="5302800" cy="295038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291" name="직선 연결선 290"/>
              <p:cNvCxnSpPr/>
              <p:nvPr/>
            </p:nvCxnSpPr>
            <p:spPr>
              <a:xfrm flipH="1">
                <a:off x="4555233" y="5107611"/>
                <a:ext cx="5306397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7" name="Rounded Rectangle 861"/>
              <p:cNvSpPr/>
              <p:nvPr/>
            </p:nvSpPr>
            <p:spPr>
              <a:xfrm>
                <a:off x="8642797" y="5180734"/>
                <a:ext cx="396000" cy="162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8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</a:rPr>
                  <a:t>저장</a:t>
                </a:r>
                <a:endParaRPr lang="en-US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98" name="Rounded Rectangle 861"/>
              <p:cNvSpPr/>
              <p:nvPr/>
            </p:nvSpPr>
            <p:spPr>
              <a:xfrm>
                <a:off x="9126793" y="5180734"/>
                <a:ext cx="396000" cy="162000"/>
              </a:xfrm>
              <a:prstGeom prst="round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8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</a:rPr>
                  <a:t>취소</a:t>
                </a:r>
                <a:endParaRPr lang="en-US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99" name="Freeform 17"/>
              <p:cNvSpPr>
                <a:spLocks noChangeArrowheads="1"/>
              </p:cNvSpPr>
              <p:nvPr/>
            </p:nvSpPr>
            <p:spPr bwMode="auto">
              <a:xfrm>
                <a:off x="4770616" y="5170694"/>
                <a:ext cx="162000" cy="162000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300" name="Freeform 33"/>
              <p:cNvSpPr>
                <a:spLocks noEditPoints="1"/>
              </p:cNvSpPr>
              <p:nvPr/>
            </p:nvSpPr>
            <p:spPr bwMode="auto">
              <a:xfrm>
                <a:off x="5378561" y="5170694"/>
                <a:ext cx="162000" cy="16200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+mn-ea"/>
                  <a:ea typeface="+mn-ea"/>
                </a:endParaRPr>
              </a:p>
            </p:txBody>
          </p:sp>
          <p:pic>
            <p:nvPicPr>
              <p:cNvPr id="301" name="Picture 2" descr="C:\Users\Administrator\Downloads\paperclip.png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55617" y="5170694"/>
                <a:ext cx="162000" cy="162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02" name="Picture 3" descr="C:\Users\Administrator\Downloads\briefcase (1).png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2687" y="5152694"/>
                <a:ext cx="180000" cy="180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03" name="Picture 5" descr="C:\Users\Administrator\Downloads\megaphone (1).png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56892" y="5160333"/>
                <a:ext cx="180000" cy="180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05" name="Rectangle 14"/>
              <p:cNvSpPr>
                <a:spLocks/>
              </p:cNvSpPr>
              <p:nvPr/>
            </p:nvSpPr>
            <p:spPr bwMode="auto">
              <a:xfrm>
                <a:off x="4654488" y="5070727"/>
                <a:ext cx="3774417" cy="1162906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>
                <a:outerShdw blurRad="50800" dist="38100" dir="2700000" sx="99000" sy="99000" algn="t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lIns="50800" tIns="18000" rIns="50800" bIns="50800" anchor="t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b="1" dirty="0" err="1" smtClean="0">
                    <a:solidFill>
                      <a:schemeClr val="bg1">
                        <a:lumMod val="65000"/>
                      </a:schemeClr>
                    </a:solidFill>
                    <a:latin typeface="+mj-ea"/>
                    <a:ea typeface="+mj-ea"/>
                  </a:rPr>
                  <a:t>최근태그</a:t>
                </a:r>
                <a:endParaRPr lang="en-US" altLang="ko-KR" sz="700" b="1" dirty="0" smtClean="0">
                  <a:solidFill>
                    <a:schemeClr val="bg1">
                      <a:lumMod val="65000"/>
                    </a:schemeClr>
                  </a:solidFill>
                  <a:latin typeface="+mj-ea"/>
                  <a:ea typeface="+mj-ea"/>
                </a:endParaRPr>
              </a:p>
              <a:p>
                <a:pPr>
                  <a:lnSpc>
                    <a:spcPct val="200000"/>
                  </a:lnSpc>
                </a:pPr>
                <a:r>
                  <a:rPr lang="en-US" altLang="x-none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 </a:t>
                </a:r>
                <a:r>
                  <a:rPr lang="en-US" altLang="x-none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  </a:t>
                </a:r>
                <a:r>
                  <a:rPr lang="ko-KR" altLang="en-US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수요일</a:t>
                </a:r>
                <a:r>
                  <a:rPr lang="en-US" altLang="ko-KR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9</a:t>
                </a:r>
                <a:r>
                  <a:rPr lang="ko-KR" altLang="en-US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시</a:t>
                </a:r>
                <a:endParaRPr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ea"/>
                  <a:ea typeface="+mj-ea"/>
                </a:endParaRPr>
              </a:p>
              <a:p>
                <a:pPr>
                  <a:lnSpc>
                    <a:spcPct val="200000"/>
                  </a:lnSpc>
                </a:pPr>
                <a:r>
                  <a:rPr lang="en-US" altLang="x-none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 </a:t>
                </a:r>
                <a:r>
                  <a:rPr lang="en-US" altLang="x-none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  </a:t>
                </a:r>
                <a:r>
                  <a:rPr lang="ko-KR" altLang="en-US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회식</a:t>
                </a:r>
                <a:endParaRPr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ea"/>
                  <a:ea typeface="+mj-ea"/>
                </a:endParaRPr>
              </a:p>
              <a:p>
                <a:pPr>
                  <a:lnSpc>
                    <a:spcPct val="200000"/>
                  </a:lnSpc>
                </a:pPr>
                <a:r>
                  <a:rPr lang="en-US" altLang="x-none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 </a:t>
                </a:r>
                <a:r>
                  <a:rPr lang="en-US" altLang="x-none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rPr>
                  <a:t>  EGW TFT</a:t>
                </a:r>
                <a:endParaRPr lang="en-US" altLang="x-none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ea"/>
                  <a:ea typeface="+mj-ea"/>
                </a:endParaRPr>
              </a:p>
              <a:p>
                <a:pPr>
                  <a:lnSpc>
                    <a:spcPct val="200000"/>
                  </a:lnSpc>
                </a:pPr>
                <a:r>
                  <a:rPr lang="ko-KR" altLang="en-US" sz="700" b="1" dirty="0" err="1" smtClean="0">
                    <a:solidFill>
                      <a:schemeClr val="bg1">
                        <a:lumMod val="65000"/>
                      </a:schemeClr>
                    </a:solidFill>
                    <a:latin typeface="+mj-ea"/>
                    <a:ea typeface="+mj-ea"/>
                  </a:rPr>
                  <a:t>추천태그</a:t>
                </a:r>
                <a:endParaRPr lang="en-US" altLang="x-none" sz="700" b="1" dirty="0" smtClean="0">
                  <a:solidFill>
                    <a:schemeClr val="bg1">
                      <a:lumMod val="65000"/>
                    </a:schemeClr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06" name="Rectangle 14"/>
              <p:cNvSpPr>
                <a:spLocks/>
              </p:cNvSpPr>
              <p:nvPr/>
            </p:nvSpPr>
            <p:spPr bwMode="auto">
              <a:xfrm>
                <a:off x="4662550" y="5327990"/>
                <a:ext cx="3774417" cy="195508"/>
              </a:xfrm>
              <a:prstGeom prst="rect">
                <a:avLst/>
              </a:prstGeom>
              <a:solidFill>
                <a:schemeClr val="bg1">
                  <a:lumMod val="75000"/>
                  <a:alpha val="30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  <a:extLst/>
            </p:spPr>
            <p:txBody>
              <a:bodyPr lIns="50800" tIns="18000" rIns="50800" bIns="50800" anchor="t"/>
              <a:lstStyle/>
              <a:p>
                <a:pPr>
                  <a:lnSpc>
                    <a:spcPct val="200000"/>
                  </a:lnSpc>
                </a:pPr>
                <a:endParaRPr lang="en-US" altLang="x-none" sz="700" b="1" dirty="0" smtClean="0">
                  <a:solidFill>
                    <a:schemeClr val="bg1">
                      <a:lumMod val="65000"/>
                    </a:schemeClr>
                  </a:solidFill>
                  <a:latin typeface="+mj-ea"/>
                  <a:ea typeface="+mj-ea"/>
                </a:endParaRPr>
              </a:p>
            </p:txBody>
          </p:sp>
        </p:grpSp>
        <p:sp>
          <p:nvSpPr>
            <p:cNvPr id="304" name="Rounded Rectangle 861"/>
            <p:cNvSpPr/>
            <p:nvPr/>
          </p:nvSpPr>
          <p:spPr>
            <a:xfrm>
              <a:off x="6257832" y="5970648"/>
              <a:ext cx="1005944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#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태그를 입력하세요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X</a:t>
              </a:r>
              <a:endParaRPr 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57" name="타원 356"/>
            <p:cNvSpPr>
              <a:spLocks noChangeAspect="1"/>
            </p:cNvSpPr>
            <p:nvPr/>
          </p:nvSpPr>
          <p:spPr>
            <a:xfrm>
              <a:off x="7994495" y="6018762"/>
              <a:ext cx="178657" cy="180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rgbClr val="C00000"/>
              </a:solidFill>
            </a:ln>
            <a:effectLst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2-1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58" name="타원 357"/>
          <p:cNvSpPr>
            <a:spLocks noChangeAspect="1"/>
          </p:cNvSpPr>
          <p:nvPr/>
        </p:nvSpPr>
        <p:spPr>
          <a:xfrm>
            <a:off x="3134430" y="396981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2" name="TextBox 291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</a:t>
            </a:r>
          </a:p>
        </p:txBody>
      </p:sp>
    </p:spTree>
    <p:extLst>
      <p:ext uri="{BB962C8B-B14F-4D97-AF65-F5344CB8AC3E}">
        <p14:creationId xmlns:p14="http://schemas.microsoft.com/office/powerpoint/2010/main" val="41089341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900216"/>
              </p:ext>
            </p:extLst>
          </p:nvPr>
        </p:nvGraphicFramePr>
        <p:xfrm>
          <a:off x="9290533" y="786383"/>
          <a:ext cx="2880000" cy="2403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글쓰기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 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layer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창에서      일정 등록 버튼 클릭시</a:t>
                      </a:r>
                      <a:endParaRPr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출력되는 간편 등록 </a:t>
                      </a:r>
                      <a:r>
                        <a:rPr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layer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ko-KR" altLang="en-US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8656566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필수 입력항목으로 글자수는 일정 제목 제한수와 동일</a:t>
                      </a:r>
                      <a:endParaRPr lang="ko-KR" altLang="en-US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클릭시 월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일만 선택 가능한 캘린더 모듈 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Today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로 기본 세팅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시간 설정은 일정과 동일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현재 시간 기준으로 기본 세팅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체크 ③항목 비활성화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5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 상기 입력된 정보로 일정 등록 완료 처리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lang="ko-KR" altLang="en-US" sz="800" smtClean="0"/>
                        <a:t>등록 완료 화면 </a:t>
                      </a:r>
                      <a:r>
                        <a:rPr lang="en-US" altLang="ko-KR" sz="800" smtClean="0"/>
                        <a:t>SQ5.2.1.3.2.1 </a:t>
                      </a:r>
                      <a:r>
                        <a:rPr lang="ko-KR" altLang="en-US" sz="800" smtClean="0"/>
                        <a:t>참고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60657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6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현재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layer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창 종료 후 일정 상세 등록 화면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팝업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)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팝업 출력시 ①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~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④번 입력된 항목 반영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일정 상세 등록 화면 </a:t>
                      </a:r>
                      <a:r>
                        <a:rPr kumimoji="0" lang="en-US" altLang="ko-KR" sz="800" b="1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SQ5.2.1.3.3.1</a:t>
                      </a:r>
                      <a:r>
                        <a:rPr kumimoji="1"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참고</a:t>
                      </a:r>
                      <a:endParaRPr kumimoji="0" lang="ko-KR" altLang="en-US" sz="800" b="1" smtClean="0">
                        <a:solidFill>
                          <a:srgbClr val="595959"/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624244"/>
                  </a:ext>
                </a:extLst>
              </a:tr>
            </a:tbl>
          </a:graphicData>
        </a:graphic>
      </p:graphicFrame>
      <p:graphicFrame>
        <p:nvGraphicFramePr>
          <p:cNvPr id="31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9569016"/>
              </p:ext>
            </p:extLst>
          </p:nvPr>
        </p:nvGraphicFramePr>
        <p:xfrm>
          <a:off x="9290533" y="6184272"/>
          <a:ext cx="2880000" cy="47125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수정내역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228600" indent="-228600" defTabSz="914400">
                        <a:lnSpc>
                          <a:spcPct val="100000"/>
                        </a:lnSpc>
                        <a:buFont typeface="+mj-ea"/>
                        <a:buAutoNum type="circleNumDbPlain"/>
                        <a:defRPr sz="18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간편 등록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layer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수정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pic>
        <p:nvPicPr>
          <p:cNvPr id="2" name="그림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375" y="419100"/>
            <a:ext cx="8915400" cy="6362700"/>
          </a:xfrm>
          <a:prstGeom prst="rect">
            <a:avLst/>
          </a:prstGeom>
        </p:spPr>
      </p:pic>
      <p:pic>
        <p:nvPicPr>
          <p:cNvPr id="55" name="그림 5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28612" y="1080947"/>
            <a:ext cx="5383235" cy="1426588"/>
          </a:xfrm>
          <a:prstGeom prst="rect">
            <a:avLst/>
          </a:prstGeom>
        </p:spPr>
      </p:pic>
      <p:grpSp>
        <p:nvGrpSpPr>
          <p:cNvPr id="59" name="그룹 58"/>
          <p:cNvGrpSpPr/>
          <p:nvPr/>
        </p:nvGrpSpPr>
        <p:grpSpPr>
          <a:xfrm>
            <a:off x="2526459" y="2772430"/>
            <a:ext cx="3506978" cy="2012740"/>
            <a:chOff x="2591470" y="1095468"/>
            <a:chExt cx="3506978" cy="2012740"/>
          </a:xfrm>
        </p:grpSpPr>
        <p:sp>
          <p:nvSpPr>
            <p:cNvPr id="372" name="Rectangular Callout 441"/>
            <p:cNvSpPr/>
            <p:nvPr/>
          </p:nvSpPr>
          <p:spPr>
            <a:xfrm>
              <a:off x="2591470" y="1095468"/>
              <a:ext cx="3506978" cy="2012740"/>
            </a:xfrm>
            <a:prstGeom prst="wedgeRectCallout">
              <a:avLst>
                <a:gd name="adj1" fmla="val -18981"/>
                <a:gd name="adj2" fmla="val -45799"/>
              </a:avLst>
            </a:prstGeom>
            <a:solidFill>
              <a:schemeClr val="bg1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73" name="텍스트 상자 31"/>
            <p:cNvSpPr txBox="1"/>
            <p:nvPr/>
          </p:nvSpPr>
          <p:spPr>
            <a:xfrm>
              <a:off x="2772460" y="1699090"/>
              <a:ext cx="454551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800" b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제목</a:t>
              </a:r>
              <a:r>
                <a:rPr kumimoji="1" lang="en-US" altLang="ko-KR" sz="800" b="1" smtClean="0">
                  <a:solidFill>
                    <a:srgbClr val="FF0000"/>
                  </a:solidFill>
                  <a:latin typeface="+mn-ea"/>
                  <a:ea typeface="+mn-ea"/>
                </a:rPr>
                <a:t>*</a:t>
              </a:r>
              <a:endParaRPr kumimoji="1" lang="ko-KR" altLang="en-US" sz="8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74" name="Rectangle 444"/>
            <p:cNvSpPr/>
            <p:nvPr/>
          </p:nvSpPr>
          <p:spPr>
            <a:xfrm>
              <a:off x="3331749" y="1655200"/>
              <a:ext cx="2368277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일정 제목을 입력하세요</a:t>
              </a:r>
              <a:r>
                <a:rPr lang="en-US" altLang="ko-KR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5" name="텍스트 상자 31"/>
            <p:cNvSpPr txBox="1"/>
            <p:nvPr/>
          </p:nvSpPr>
          <p:spPr>
            <a:xfrm>
              <a:off x="2772460" y="2022454"/>
              <a:ext cx="454551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시간</a:t>
              </a:r>
              <a:endParaRPr kumimoji="1"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76" name="그룹 375"/>
            <p:cNvGrpSpPr/>
            <p:nvPr/>
          </p:nvGrpSpPr>
          <p:grpSpPr>
            <a:xfrm>
              <a:off x="2751876" y="1211565"/>
              <a:ext cx="3179272" cy="250322"/>
              <a:chOff x="482478" y="822942"/>
              <a:chExt cx="3179272" cy="250322"/>
            </a:xfrm>
          </p:grpSpPr>
          <p:sp>
            <p:nvSpPr>
              <p:cNvPr id="399" name="텍스트 상자 31"/>
              <p:cNvSpPr txBox="1"/>
              <p:nvPr/>
            </p:nvSpPr>
            <p:spPr>
              <a:xfrm>
                <a:off x="482478" y="822942"/>
                <a:ext cx="869265" cy="1384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kumimoji="1" lang="ko-KR" altLang="en-US" sz="900" b="1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+mn-ea"/>
                    <a:ea typeface="+mn-ea"/>
                  </a:rPr>
                  <a:t>일정 간편등록</a:t>
                </a:r>
                <a:endParaRPr kumimoji="1" lang="ko-KR" altLang="en-US" sz="900" b="1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00" name="직선 연결선[R] 33"/>
              <p:cNvCxnSpPr/>
              <p:nvPr/>
            </p:nvCxnSpPr>
            <p:spPr>
              <a:xfrm>
                <a:off x="493750" y="1073264"/>
                <a:ext cx="3168000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Rectangle 143"/>
            <p:cNvSpPr/>
            <p:nvPr/>
          </p:nvSpPr>
          <p:spPr>
            <a:xfrm>
              <a:off x="4250021" y="1999710"/>
              <a:ext cx="648000" cy="18000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36000" tIns="36000" rIns="0" bIns="36000" anchor="ctr"/>
            <a:lstStyle/>
            <a:p>
              <a:r>
                <a:rPr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오전 </a:t>
              </a:r>
              <a:r>
                <a:rPr lang="en-US" altLang="ko-KR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12 : 00</a:t>
              </a:r>
              <a:endParaRPr 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95" name="Rectangle 143"/>
            <p:cNvSpPr/>
            <p:nvPr/>
          </p:nvSpPr>
          <p:spPr>
            <a:xfrm>
              <a:off x="5052026" y="2005311"/>
              <a:ext cx="648000" cy="18000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36000" tIns="36000" rIns="0" bIns="36000" anchor="ctr"/>
            <a:lstStyle/>
            <a:p>
              <a:r>
                <a:rPr lang="ko-KR" altLang="en-US" sz="6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오전 </a:t>
              </a:r>
              <a:r>
                <a:rPr lang="en-US" altLang="ko-KR" sz="6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12 : 30</a:t>
              </a:r>
              <a:endParaRPr 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96" name="TextBox 395"/>
            <p:cNvSpPr txBox="1"/>
            <p:nvPr/>
          </p:nvSpPr>
          <p:spPr>
            <a:xfrm>
              <a:off x="4915768" y="1983093"/>
              <a:ext cx="135221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~</a:t>
              </a:r>
              <a:endPara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97" name="Triangle 942"/>
            <p:cNvSpPr>
              <a:spLocks noChangeAspect="1"/>
            </p:cNvSpPr>
            <p:nvPr/>
          </p:nvSpPr>
          <p:spPr>
            <a:xfrm flipV="1">
              <a:off x="4739967" y="2063694"/>
              <a:ext cx="108000" cy="61902"/>
            </a:xfrm>
            <a:prstGeom prst="triangl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  <p:sp>
          <p:nvSpPr>
            <p:cNvPr id="398" name="Triangle 942"/>
            <p:cNvSpPr>
              <a:spLocks noChangeAspect="1"/>
            </p:cNvSpPr>
            <p:nvPr/>
          </p:nvSpPr>
          <p:spPr>
            <a:xfrm flipV="1">
              <a:off x="5548440" y="2067457"/>
              <a:ext cx="108000" cy="61902"/>
            </a:xfrm>
            <a:prstGeom prst="triangl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  <p:grpSp>
          <p:nvGrpSpPr>
            <p:cNvPr id="381" name="그룹 380"/>
            <p:cNvGrpSpPr/>
            <p:nvPr/>
          </p:nvGrpSpPr>
          <p:grpSpPr>
            <a:xfrm>
              <a:off x="3331749" y="2201294"/>
              <a:ext cx="1091890" cy="196977"/>
              <a:chOff x="3469515" y="1616011"/>
              <a:chExt cx="1091890" cy="196977"/>
            </a:xfrm>
          </p:grpSpPr>
          <p:grpSp>
            <p:nvGrpSpPr>
              <p:cNvPr id="38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&lt;/Code&gt;&lt;CodeSignature&gt;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&lt;/CodeSignature&gt;&lt;/SmartOptions&gt;&lt;SmartResize enabled=&quot;True&quot; minWidth=&quot;10&quot; minHeight=&quot;10&quot; /&gt;&lt;/SmartSettings&gt;"/>
              <p:cNvGrpSpPr/>
              <p:nvPr>
                <p:custDataLst>
                  <p:tags r:id="rId1"/>
                </p:custDataLst>
              </p:nvPr>
            </p:nvGrpSpPr>
            <p:grpSpPr>
              <a:xfrm>
                <a:off x="3469515" y="1616011"/>
                <a:ext cx="484473" cy="196977"/>
                <a:chOff x="554563" y="2599933"/>
                <a:chExt cx="484473" cy="196977"/>
              </a:xfrm>
            </p:grpSpPr>
            <p:sp>
              <p:nvSpPr>
                <p:cNvPr id="391" name="Box" descr="&lt;Tags&gt;&lt;SMARTRESIZEANCHORS&gt;None,None,Absolute,None&lt;/SMARTRESIZEANCHORS&gt;&lt;/Tags&gt;"/>
                <p:cNvSpPr/>
                <p:nvPr/>
              </p:nvSpPr>
              <p:spPr>
                <a:xfrm>
                  <a:off x="554563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Label" descr="&lt;Tags&gt;&lt;SMARTRESIZEANCHORS&gt;Absolute,Absolute,Absolute,Absolute&lt;/SMARTRESIZEANCHORS&gt;&lt;/Tags&gt;"/>
                <p:cNvSpPr txBox="1"/>
                <p:nvPr/>
              </p:nvSpPr>
              <p:spPr>
                <a:xfrm>
                  <a:off x="686119" y="2599933"/>
                  <a:ext cx="352917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80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종일</a:t>
                  </a:r>
                  <a:endParaRPr lang="en-US" sz="8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3" name="Check" descr="&lt;Tags&gt;&lt;SMARTRESIZEANCHORS&gt;None,None,Absolute,None&lt;/SMARTRESIZEANCHORS&gt;&lt;/Tags&gt;" hidden="1"/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&lt;/Code&gt;&lt;CodeSignature&gt;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&lt;/CodeSignature&gt;&lt;/SmartOptions&gt;&lt;SmartResize enabled=&quot;True&quot; minWidth=&quot;10&quot; minHeight=&quot;10&quot; /&gt;&lt;/SmartSettings&gt;"/>
              <p:cNvGrpSpPr/>
              <p:nvPr>
                <p:custDataLst>
                  <p:tags r:id="rId2"/>
                </p:custDataLst>
              </p:nvPr>
            </p:nvGrpSpPr>
            <p:grpSpPr>
              <a:xfrm>
                <a:off x="3974340" y="1616011"/>
                <a:ext cx="587065" cy="196977"/>
                <a:chOff x="554563" y="2599933"/>
                <a:chExt cx="587065" cy="196977"/>
              </a:xfrm>
            </p:grpSpPr>
            <p:sp>
              <p:nvSpPr>
                <p:cNvPr id="388" name="Box" descr="&lt;Tags&gt;&lt;SMARTRESIZEANCHORS&gt;None,None,Absolute,None&lt;/SMARTRESIZEANCHORS&gt;&lt;/Tags&gt;"/>
                <p:cNvSpPr/>
                <p:nvPr/>
              </p:nvSpPr>
              <p:spPr>
                <a:xfrm>
                  <a:off x="554563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9" name="Label" descr="&lt;Tags&gt;&lt;SMARTRESIZEANCHORS&gt;Absolute,Absolute,Absolute,Absolute&lt;/SMARTRESIZEANCHORS&gt;&lt;/Tags&gt;"/>
                <p:cNvSpPr txBox="1"/>
                <p:nvPr/>
              </p:nvSpPr>
              <p:spPr>
                <a:xfrm>
                  <a:off x="686119" y="2599933"/>
                  <a:ext cx="45550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80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기념일</a:t>
                  </a:r>
                  <a:endParaRPr lang="en-US" sz="8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Check" descr="&lt;Tags&gt;&lt;SMARTRESIZEANCHORS&gt;None,None,Absolute,None&lt;/SMARTRESIZEANCHORS&gt;&lt;/Tags&gt;" hidden="1"/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82" name="모서리가 둥근 직사각형 381"/>
            <p:cNvSpPr/>
            <p:nvPr/>
          </p:nvSpPr>
          <p:spPr>
            <a:xfrm>
              <a:off x="2754360" y="2758748"/>
              <a:ext cx="608046" cy="217209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12700" dist="38100" dir="2700000" algn="tl" rotWithShape="0">
                <a:schemeClr val="bg1">
                  <a:lumMod val="75000"/>
                  <a:alpha val="40000"/>
                </a:schemeClr>
              </a:outerShdw>
            </a:effectLst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15000"/>
                </a:lnSpc>
                <a:spcBef>
                  <a:spcPct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상세입력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383" name="그룹 382"/>
            <p:cNvGrpSpPr/>
            <p:nvPr/>
          </p:nvGrpSpPr>
          <p:grpSpPr>
            <a:xfrm>
              <a:off x="4731414" y="2758748"/>
              <a:ext cx="973247" cy="217209"/>
              <a:chOff x="1242801" y="2370125"/>
              <a:chExt cx="1307711" cy="217209"/>
            </a:xfrm>
          </p:grpSpPr>
          <p:sp>
            <p:nvSpPr>
              <p:cNvPr id="384" name="모서리가 둥근 직사각형 383"/>
              <p:cNvSpPr/>
              <p:nvPr/>
            </p:nvSpPr>
            <p:spPr>
              <a:xfrm>
                <a:off x="1242801" y="2370125"/>
                <a:ext cx="608046" cy="217209"/>
              </a:xfrm>
              <a:prstGeom prst="round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3175">
                <a:solidFill>
                  <a:schemeClr val="bg1">
                    <a:lumMod val="50000"/>
                  </a:schemeClr>
                </a:solidFill>
              </a:ln>
              <a:effectLst>
                <a:outerShdw blurRad="12700" dist="38100" dir="2700000" algn="tl" rotWithShape="0">
                  <a:schemeClr val="bg1">
                    <a:lumMod val="75000"/>
                    <a:alpha val="40000"/>
                  </a:schemeClr>
                </a:out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r>
                  <a:rPr lang="ko-KR" altLang="en-US" sz="800" smtClean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완료</a:t>
                </a:r>
                <a:endPara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5" name="모서리가 둥근 직사각형 384"/>
              <p:cNvSpPr/>
              <p:nvPr/>
            </p:nvSpPr>
            <p:spPr>
              <a:xfrm>
                <a:off x="1942466" y="2370125"/>
                <a:ext cx="608046" cy="217209"/>
              </a:xfrm>
              <a:prstGeom prst="round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  <a:effectLst>
                <a:outerShdw blurRad="12700" dist="38100" dir="2700000" algn="tl" rotWithShape="0">
                  <a:schemeClr val="bg1">
                    <a:lumMod val="75000"/>
                    <a:alpha val="40000"/>
                  </a:schemeClr>
                </a:outerShdw>
              </a:effectLst>
            </p:spPr>
            <p:txBody>
              <a:bodyPr wrap="none" lIns="36000" tIns="36000" rIns="36000" bIns="36000" rtlCol="0" anchor="ctr">
                <a:noAutofit/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15000"/>
                  </a:lnSpc>
                  <a:spcBef>
                    <a:spcPct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취소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cxnSp>
          <p:nvCxnSpPr>
            <p:cNvPr id="401" name="직선 연결선[R] 33"/>
            <p:cNvCxnSpPr/>
            <p:nvPr/>
          </p:nvCxnSpPr>
          <p:spPr>
            <a:xfrm>
              <a:off x="2751876" y="2623937"/>
              <a:ext cx="3168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직사각형 57"/>
            <p:cNvSpPr/>
            <p:nvPr/>
          </p:nvSpPr>
          <p:spPr>
            <a:xfrm>
              <a:off x="3800475" y="2209800"/>
              <a:ext cx="628650" cy="20002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418" name="Rectangle 143"/>
            <p:cNvSpPr/>
            <p:nvPr/>
          </p:nvSpPr>
          <p:spPr>
            <a:xfrm>
              <a:off x="3331749" y="2000693"/>
              <a:ext cx="852324" cy="18000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0" lang="en-US" altLang="ko-KR" sz="700" ker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cs typeface="Arial" panose="020B0604020202020204" pitchFamily="34" charset="0"/>
                </a:rPr>
                <a:t> </a:t>
              </a:r>
              <a:r>
                <a:rPr kumimoji="0" lang="en-US" altLang="ko-KR" sz="700" kern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cs typeface="Arial" panose="020B0604020202020204" pitchFamily="34" charset="0"/>
                </a:rPr>
                <a:t>2017-08-26</a:t>
              </a:r>
              <a:endParaRPr 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15" name="Freeform 33"/>
            <p:cNvSpPr>
              <a:spLocks noChangeAspect="1" noEditPoints="1"/>
            </p:cNvSpPr>
            <p:nvPr/>
          </p:nvSpPr>
          <p:spPr bwMode="auto">
            <a:xfrm>
              <a:off x="3359740" y="2030434"/>
              <a:ext cx="101007" cy="112401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3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endParaRPr>
            </a:p>
          </p:txBody>
        </p:sp>
      </p:grpSp>
      <p:sp>
        <p:nvSpPr>
          <p:cNvPr id="38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 간편 </a:t>
            </a:r>
            <a:r>
              <a:rPr kumimoji="1"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등록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9" name="타원 38"/>
          <p:cNvSpPr>
            <a:spLocks noChangeAspect="1"/>
          </p:cNvSpPr>
          <p:nvPr/>
        </p:nvSpPr>
        <p:spPr>
          <a:xfrm>
            <a:off x="3174340" y="3233753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타원 39"/>
          <p:cNvSpPr>
            <a:spLocks noChangeAspect="1"/>
          </p:cNvSpPr>
          <p:nvPr/>
        </p:nvSpPr>
        <p:spPr>
          <a:xfrm>
            <a:off x="3174340" y="3614753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타원 40"/>
          <p:cNvSpPr>
            <a:spLocks noChangeAspect="1"/>
          </p:cNvSpPr>
          <p:nvPr/>
        </p:nvSpPr>
        <p:spPr>
          <a:xfrm>
            <a:off x="3174340" y="3957653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타원 41"/>
          <p:cNvSpPr>
            <a:spLocks noChangeAspect="1"/>
          </p:cNvSpPr>
          <p:nvPr/>
        </p:nvSpPr>
        <p:spPr>
          <a:xfrm>
            <a:off x="2621890" y="434817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6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타원 42"/>
          <p:cNvSpPr>
            <a:spLocks noChangeAspect="1"/>
          </p:cNvSpPr>
          <p:nvPr/>
        </p:nvSpPr>
        <p:spPr>
          <a:xfrm>
            <a:off x="4612615" y="434817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모서리가 둥근 직사각형 2"/>
          <p:cNvSpPr/>
          <p:nvPr/>
        </p:nvSpPr>
        <p:spPr>
          <a:xfrm>
            <a:off x="4164089" y="3648637"/>
            <a:ext cx="1581150" cy="247650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5" name="타원 44"/>
          <p:cNvSpPr>
            <a:spLocks noChangeAspect="1"/>
          </p:cNvSpPr>
          <p:nvPr/>
        </p:nvSpPr>
        <p:spPr>
          <a:xfrm>
            <a:off x="5669890" y="356712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Freeform 33"/>
          <p:cNvSpPr>
            <a:spLocks noEditPoints="1"/>
          </p:cNvSpPr>
          <p:nvPr/>
        </p:nvSpPr>
        <p:spPr bwMode="auto">
          <a:xfrm>
            <a:off x="10217767" y="1066638"/>
            <a:ext cx="133885" cy="133885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</a:t>
            </a:r>
          </a:p>
        </p:txBody>
      </p:sp>
      <p:cxnSp>
        <p:nvCxnSpPr>
          <p:cNvPr id="5" name="직선 화살표 연결선 4"/>
          <p:cNvCxnSpPr/>
          <p:nvPr/>
        </p:nvCxnSpPr>
        <p:spPr>
          <a:xfrm>
            <a:off x="2658290" y="2333625"/>
            <a:ext cx="0" cy="545377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내용 개체 틀 3"/>
          <p:cNvSpPr txBox="1">
            <a:spLocks/>
          </p:cNvSpPr>
          <p:nvPr/>
        </p:nvSpPr>
        <p:spPr>
          <a:xfrm>
            <a:off x="5301300" y="2803367"/>
            <a:ext cx="747075" cy="187483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0" lang="en-US" altLang="ko-KR" sz="800" b="1" smtClean="0">
                <a:latin typeface="+mn-ea"/>
                <a:ea typeface="+mn-ea"/>
              </a:rPr>
              <a:t>SQ5.2.1.3.2</a:t>
            </a:r>
            <a:endParaRPr kumimoji="0" lang="ko-KR" altLang="en-US" sz="800" b="1" dirty="0">
              <a:latin typeface="+mn-ea"/>
              <a:ea typeface="+mn-ea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371464" lvl="0" indent="-371464" eaLnBrk="0" hangingPunct="0">
              <a:spcBef>
                <a:spcPct val="20000"/>
              </a:spcBef>
            </a:pPr>
            <a:r>
              <a:rPr kumimoji="0" lang="en-US" altLang="ko-KR" sz="800" b="1" smtClean="0">
                <a:solidFill>
                  <a:srgbClr val="595959"/>
                </a:solidFill>
                <a:latin typeface="+mn-ea"/>
                <a:ea typeface="+mn-ea"/>
              </a:rPr>
              <a:t>SQ5.2.1.3.2</a:t>
            </a:r>
            <a:endParaRPr kumimoji="0" lang="ko-KR" altLang="en-US" sz="800" b="1" dirty="0">
              <a:solidFill>
                <a:srgbClr val="595959"/>
              </a:solidFill>
              <a:latin typeface="+mn-ea"/>
              <a:ea typeface="+mn-ea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6781800" y="2124075"/>
            <a:ext cx="247650" cy="2476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48017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7397646"/>
              </p:ext>
            </p:extLst>
          </p:nvPr>
        </p:nvGraphicFramePr>
        <p:xfrm>
          <a:off x="9290533" y="786383"/>
          <a:ext cx="2880000" cy="31912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간편 등록 또는 상세 등록으로 스퀘어 일정이 등록됐을 경우 출력되는 정보 및 영역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상단 텍스트 컨텐츠 입력과는 별도 관리</a:t>
                      </a:r>
                      <a:endParaRPr lang="ko-KR" altLang="en-US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등록된 일정 제목 출력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1-2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날짜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시간 요약 정보 출력 영역으로 출력 방식은 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다음페이지 참고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1-3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해당 버튼은 작성자에게만 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수정 및 삭제에 대한 작동 방식은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&lt;</a:t>
                      </a:r>
                      <a:r>
                        <a:rPr lang="ko-KR" altLang="en-US" sz="800" b="1" u="sng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스퀘어 컨텐츠 피드내 일정 수정 가이드</a:t>
                      </a:r>
                      <a:r>
                        <a:rPr lang="en-US" altLang="ko-KR" sz="800" b="1" u="sng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1"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참고</a:t>
                      </a:r>
                      <a:endParaRPr lang="ko-KR" altLang="en-US" sz="8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일정이 등록된 상태에서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[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일정 등록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버튼을 재차 누르면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관련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alert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이 출력되며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해당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alert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에서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확인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 기등록된 일정 삭제 처리후 간편 일정등록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layer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60657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저장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 작성된 컨텐츠 텍스트 최종 반영 처리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12769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취소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 일정은 이미 등록된 상태이므로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관련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alert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출력 후 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등록된 일정 취소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 컨텐츠 피드 취소시 등록된 일정도 삭제 처리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smtClean="0">
                          <a:solidFill>
                            <a:srgbClr val="FF0000"/>
                          </a:solidFill>
                          <a:latin typeface="+mn-ea"/>
                        </a:rPr>
                        <a:t>일정은 그대로 유지</a:t>
                      </a:r>
                      <a: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  <a:t>] </a:t>
                      </a:r>
                      <a:r>
                        <a:rPr kumimoji="1" lang="ko-KR" altLang="en-US" sz="800" smtClean="0">
                          <a:solidFill>
                            <a:srgbClr val="FF0000"/>
                          </a:solidFill>
                          <a:latin typeface="+mn-ea"/>
                        </a:rPr>
                        <a:t>클릭시 작성된 컨텐츠 피드만 취소하고 일정은 그대로 반영 처리</a:t>
                      </a:r>
                      <a: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</a:br>
                      <a: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smtClean="0">
                          <a:solidFill>
                            <a:srgbClr val="FF0000"/>
                          </a:solidFill>
                          <a:latin typeface="+mn-ea"/>
                        </a:rPr>
                        <a:t>피드상에는 해당 일정 반영하지 않고</a:t>
                      </a:r>
                      <a: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rgbClr val="FF0000"/>
                          </a:solidFill>
                          <a:latin typeface="+mn-ea"/>
                        </a:rPr>
                        <a:t>스퀘어 일정탭 캘린더에만 반영 처리</a:t>
                      </a:r>
                      <a:r>
                        <a:rPr kumimoji="1" lang="en-US" altLang="ko-KR" sz="800" smtClean="0">
                          <a:solidFill>
                            <a:srgbClr val="FF0000"/>
                          </a:solidFill>
                          <a:latin typeface="+mn-ea"/>
                        </a:rPr>
                        <a:t>)</a:t>
                      </a:r>
                      <a:r>
                        <a:rPr kumimoji="1" lang="ko-KR" altLang="en-US" sz="800" smtClean="0">
                          <a:solidFill>
                            <a:srgbClr val="FF0000"/>
                          </a:solidFill>
                          <a:latin typeface="+mn-ea"/>
                        </a:rPr>
                        <a:t> </a:t>
                      </a:r>
                      <a:endParaRPr kumimoji="1" lang="ko-KR" altLang="en-US" sz="800" dirty="0" smtClean="0">
                        <a:solidFill>
                          <a:srgbClr val="FF0000"/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1219094"/>
                  </a:ext>
                </a:extLst>
              </a:tr>
            </a:tbl>
          </a:graphicData>
        </a:graphic>
      </p:graphicFrame>
      <p:pic>
        <p:nvPicPr>
          <p:cNvPr id="2" name="그림 1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33375" y="419100"/>
            <a:ext cx="8915400" cy="6362700"/>
          </a:xfrm>
          <a:prstGeom prst="rect">
            <a:avLst/>
          </a:prstGeom>
        </p:spPr>
      </p:pic>
      <p:sp>
        <p:nvSpPr>
          <p:cNvPr id="41" name="Rectangle 14"/>
          <p:cNvSpPr>
            <a:spLocks/>
          </p:cNvSpPr>
          <p:nvPr/>
        </p:nvSpPr>
        <p:spPr bwMode="auto">
          <a:xfrm>
            <a:off x="1793763" y="1553979"/>
            <a:ext cx="5320640" cy="2102197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sx="99000" sy="99000" algn="tl" rotWithShape="0">
              <a:prstClr val="black">
                <a:alpha val="40000"/>
              </a:prstClr>
            </a:outerShdw>
          </a:effectLst>
          <a:extLst/>
        </p:spPr>
        <p:txBody>
          <a:bodyPr lIns="50800" tIns="18000" rIns="50800" bIns="50800" anchor="t"/>
          <a:lstStyle/>
          <a:p>
            <a:pPr>
              <a:lnSpc>
                <a:spcPct val="130000"/>
              </a:lnSpc>
            </a:pPr>
            <a:endParaRPr lang="x-none" altLang="x-none" sz="600" u="sng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005908" y="1678516"/>
            <a:ext cx="1824786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defTabSz="990570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멤버들에게 새로운 소식을 전해보세요</a:t>
            </a:r>
            <a:endParaRPr kumimoji="0" lang="en-US" altLang="ko-KR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1805967" y="3361139"/>
            <a:ext cx="5302800" cy="2950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4" name="직선 연결선 43"/>
          <p:cNvCxnSpPr/>
          <p:nvPr/>
        </p:nvCxnSpPr>
        <p:spPr>
          <a:xfrm flipH="1">
            <a:off x="1808006" y="3361222"/>
            <a:ext cx="5306397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Rounded Rectangle 861"/>
          <p:cNvSpPr/>
          <p:nvPr/>
        </p:nvSpPr>
        <p:spPr>
          <a:xfrm>
            <a:off x="5895570" y="3434345"/>
            <a:ext cx="396000" cy="162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 smtClean="0">
                <a:solidFill>
                  <a:schemeClr val="bg1"/>
                </a:solidFill>
                <a:latin typeface="+mn-ea"/>
              </a:rPr>
              <a:t>저장</a:t>
            </a:r>
            <a:endParaRPr 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Rounded Rectangle 861"/>
          <p:cNvSpPr/>
          <p:nvPr/>
        </p:nvSpPr>
        <p:spPr>
          <a:xfrm>
            <a:off x="6379566" y="3434345"/>
            <a:ext cx="396000" cy="1620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취소</a:t>
            </a:r>
            <a:endParaRPr lang="en-US" sz="8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7" name="Freeform 17"/>
          <p:cNvSpPr>
            <a:spLocks noChangeArrowheads="1"/>
          </p:cNvSpPr>
          <p:nvPr/>
        </p:nvSpPr>
        <p:spPr bwMode="auto">
          <a:xfrm>
            <a:off x="2023389" y="3424305"/>
            <a:ext cx="162000" cy="162000"/>
          </a:xfrm>
          <a:custGeom>
            <a:avLst/>
            <a:gdLst>
              <a:gd name="T0" fmla="*/ 403 w 404"/>
              <a:gd name="T1" fmla="*/ 360 h 404"/>
              <a:gd name="T2" fmla="*/ 403 w 404"/>
              <a:gd name="T3" fmla="*/ 43 h 404"/>
              <a:gd name="T4" fmla="*/ 360 w 404"/>
              <a:gd name="T5" fmla="*/ 0 h 404"/>
              <a:gd name="T6" fmla="*/ 47 w 404"/>
              <a:gd name="T7" fmla="*/ 0 h 404"/>
              <a:gd name="T8" fmla="*/ 0 w 404"/>
              <a:gd name="T9" fmla="*/ 43 h 404"/>
              <a:gd name="T10" fmla="*/ 0 w 404"/>
              <a:gd name="T11" fmla="*/ 360 h 404"/>
              <a:gd name="T12" fmla="*/ 47 w 404"/>
              <a:gd name="T13" fmla="*/ 403 h 404"/>
              <a:gd name="T14" fmla="*/ 360 w 404"/>
              <a:gd name="T15" fmla="*/ 403 h 404"/>
              <a:gd name="T16" fmla="*/ 403 w 404"/>
              <a:gd name="T17" fmla="*/ 360 h 404"/>
              <a:gd name="T18" fmla="*/ 124 w 404"/>
              <a:gd name="T19" fmla="*/ 236 h 404"/>
              <a:gd name="T20" fmla="*/ 180 w 404"/>
              <a:gd name="T21" fmla="*/ 304 h 404"/>
              <a:gd name="T22" fmla="*/ 257 w 404"/>
              <a:gd name="T23" fmla="*/ 201 h 404"/>
              <a:gd name="T24" fmla="*/ 360 w 404"/>
              <a:gd name="T25" fmla="*/ 334 h 404"/>
              <a:gd name="T26" fmla="*/ 47 w 404"/>
              <a:gd name="T27" fmla="*/ 334 h 404"/>
              <a:gd name="T28" fmla="*/ 124 w 404"/>
              <a:gd name="T29" fmla="*/ 23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4" h="404">
                <a:moveTo>
                  <a:pt x="403" y="360"/>
                </a:moveTo>
                <a:lnTo>
                  <a:pt x="403" y="43"/>
                </a:lnTo>
                <a:cubicBezTo>
                  <a:pt x="403" y="21"/>
                  <a:pt x="386" y="0"/>
                  <a:pt x="360" y="0"/>
                </a:cubicBezTo>
                <a:lnTo>
                  <a:pt x="47" y="0"/>
                </a:lnTo>
                <a:cubicBezTo>
                  <a:pt x="22" y="0"/>
                  <a:pt x="0" y="21"/>
                  <a:pt x="0" y="43"/>
                </a:cubicBezTo>
                <a:lnTo>
                  <a:pt x="0" y="360"/>
                </a:lnTo>
                <a:cubicBezTo>
                  <a:pt x="0" y="381"/>
                  <a:pt x="22" y="403"/>
                  <a:pt x="47" y="403"/>
                </a:cubicBezTo>
                <a:lnTo>
                  <a:pt x="360" y="403"/>
                </a:lnTo>
                <a:cubicBezTo>
                  <a:pt x="386" y="403"/>
                  <a:pt x="403" y="381"/>
                  <a:pt x="403" y="360"/>
                </a:cubicBezTo>
                <a:close/>
                <a:moveTo>
                  <a:pt x="124" y="236"/>
                </a:moveTo>
                <a:lnTo>
                  <a:pt x="180" y="304"/>
                </a:lnTo>
                <a:lnTo>
                  <a:pt x="257" y="201"/>
                </a:lnTo>
                <a:lnTo>
                  <a:pt x="360" y="334"/>
                </a:lnTo>
                <a:lnTo>
                  <a:pt x="47" y="334"/>
                </a:lnTo>
                <a:lnTo>
                  <a:pt x="124" y="2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48" name="Freeform 33"/>
          <p:cNvSpPr>
            <a:spLocks noEditPoints="1"/>
          </p:cNvSpPr>
          <p:nvPr/>
        </p:nvSpPr>
        <p:spPr bwMode="auto">
          <a:xfrm>
            <a:off x="2631334" y="3424305"/>
            <a:ext cx="162000" cy="16200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rgbClr val="0070C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pic>
        <p:nvPicPr>
          <p:cNvPr id="49" name="Picture 2" descr="C:\Users\Administrator\Downloads\paperclip.png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8390" y="3424305"/>
            <a:ext cx="162000" cy="16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3" descr="C:\Users\Administrator\Downloads\briefcase (1).png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5460" y="3406305"/>
            <a:ext cx="180000" cy="1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5" descr="C:\Users\Administrator\Downloads\megaphone (1).png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9665" y="3413944"/>
            <a:ext cx="180000" cy="1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" name="Rectangle 177"/>
          <p:cNvSpPr/>
          <p:nvPr/>
        </p:nvSpPr>
        <p:spPr>
          <a:xfrm>
            <a:off x="2014624" y="2494575"/>
            <a:ext cx="4859497" cy="5439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76" name="Freeform 33"/>
          <p:cNvSpPr>
            <a:spLocks noEditPoints="1"/>
          </p:cNvSpPr>
          <p:nvPr/>
        </p:nvSpPr>
        <p:spPr bwMode="auto">
          <a:xfrm>
            <a:off x="2112702" y="2649754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2436994" y="2583161"/>
            <a:ext cx="2617150" cy="36933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 중간회식</a:t>
            </a:r>
            <a:endParaRPr kumimoji="1" lang="en-US" altLang="ko-KR" sz="800" b="1" i="0" u="none" strike="noStrike" kern="1200" cap="none" spc="0" normalizeH="0" baseline="0" noProof="0" smtClean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2018-01-22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ㅣ 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12:00 ~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12:30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05" name="Rounded Rectangle 861"/>
          <p:cNvSpPr/>
          <p:nvPr/>
        </p:nvSpPr>
        <p:spPr>
          <a:xfrm>
            <a:off x="2032591" y="3125238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tIns="0" rIns="72000" bIns="0" rtlCol="0" anchor="ctr"/>
          <a:lstStyle/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#</a:t>
            </a:r>
            <a:r>
              <a: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태그를 입력하세요</a:t>
            </a:r>
            <a:r>
              <a: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X</a:t>
            </a:r>
            <a:endParaRPr kumimoji="1" lang="en-US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cs typeface="+mn-cs"/>
            </a:endParaRPr>
          </a:p>
        </p:txBody>
      </p:sp>
      <p:grpSp>
        <p:nvGrpSpPr>
          <p:cNvPr id="108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9ftbPzdYjmrrprxs6peuBe+uy7PGWnG8otq+na9Gr9eZHV7+q7Nlw0hI52dZ9P8671F41q2dVV+zU7Hp5f5ssXLv3GyzBZ5s6IP07D1b5z84t84SelZrSdlMU2nZdY00ubLFRM0fRT8+SRrcnlDX+SX6+Iya/P07FU2K6on67atlmkxrZZny/PK/+yzdLkuy8NbvPndrF7SiL/ey6d1XdVf79WfWOcNBhp9+4b3q2Uuv71/1+2V/tZ8jXfnda4dx9/uv8+c8e1sOSvz+rt1tlrlNY/ee/1knk/f5rOTeba8yGf+C8NoxcBOuhS5DWAPtPBldZnXdTHL00lVlenZsmi3zny2hGymTeeDUXp2vFqlhMcdB9BjWzwT4ucxw+u/jRcDZPCIIG4dE77t63m2yps0836nIeRXqfftFkEZv86hn/KZfCSQPZwieOEpztMtD/b4rGG4nRcHXsZz9256PJulH53R1H6UTlWbxNu+1/TTECNzvXUWwvj9QyB3PI7xn7Pn2SQvGQH57bPeTI5pGPzdFo/l0UdDsCyQ8RdZfVEsFdmX2WxG07bV/Xr8PD9vR723xm+qVeTTV8XFnFrvDA7EG/vndbVeMQj5LT6m7gtbm8bFLYbH5X/tjSv42I4r+FTH1fv8SUWILdJP0vub0OrreAcoHCJNHrXdOHcdYGPlIAIaCMIU/XwmYoY/xnjv/cEqY6afCM63Yv+x/8eGLqMGbJgy2nwjcfogb00fffVrAf/ZpFLEUg/TiBtvpFAX3K3pwy9+DcA/m7SJuyLD5DHtN1IoAvTWRDLvfj3w3wSpNps59YFusnTv6ZEM2LonXSjvZ+0EiVvYOx3UsMnzIMWNQ7+BmofIF2wgIp+/v+kTIM03Yv0GHGu/i5407Kby2yDdYkAHREHnwEqD/j3+0oD4Gl144vAeDHkb3TEUS2wk156SqxmkVxTsexLsjYXxdTr5WSTZYAi1kWj3biZaHPD7ks2D8vU6+tkjXfzTOm/X9TJt63Ueee+X9D/KS5NX8J9fvBH6eUYv3Qze+/OXbAotL6tilj4tmlXV5FvDESOislsbsPR3lZj2FsHebUGOLYqRod8aSj+Ix9OhHIb6Huxy+8G+B9CNw30POIMDDj/gfECsy5B1NOHBLHMW0rzjB2xVk5+m2D9t8uUsr0fiSxzXF02aD/NYkN+pA4UkcNKsCRp1hoWJ81/TiUl/4S/0oRnlcPN8WR+QGSy9ReTVxeAz8fo6gVgklcEv37ITKI2hnvrxzG07G46VNvXXjRBu29tQ5LGpr4iXfdvuPB++/8bPVm4Lz4Aqv32Oyzz9GIVH+QF2wBdmoebPB3GWlxrj4Rgu0Y/Hm3zbCFvGXN2BSfwaHQ4JQ9RdfL9uN7qkg/3Gva337Dn06v5/II6Gpazb/OFCmS/XC6e+hiWMDMQo/EjVeOdTVredz4xOvDUqOs5BbCwrdzpyvNb9wmOFASzuUpbjcbNeUBx9fRR+/LpYrMrivAB/TGlRs0nbKm2ESarzNFumHzHaH4074O724ZnBykKgz3qP0jPxi7JJ6bnqnaHbFSpdeYm7XaYVg04LmjzMrvx1ixeuZGrf650cE/9eb/wiZYv3ekkYf/c92++9Z/t7nfbhGwOsYr7CaleRlcUPwC+sQx43Oc14nZ9/9pE34x/dPaKpadpsScvG5zWtBLTzPG1W+RS8NusDFpbzmMwiE2E0PBqB+SqMf7yCqRVw/Gt0IQ9PRIu186IZC+PRv1G9CgI8o/G4vrZcX90woxchKNKyECnq8UakLvJOm4F2eDS4DYXCs/g95ve+6zC5+ybeFZ4+l3vwAm7ufa5c2/tcuVM/v5UNeC8G/jxvSbHV5DvRT/Ake7kzUk5ldk1JDsqA4lO2TPRxVlYXX5Mp2b8MDQ+eD5xhGNnNhnXgRTycfvB5Y/yTRVOQSoZf8kUxraumOm/HX56fF9N8fFLV+fiLpnpTF69b0iLjBX5f+75q7FEevDEAM4/1k7rM+UNBbvPiFh6LXyggPxTsNi0t4bG49STxh4LeDYs6Pdk0D0nQ0/w8W5dtepmV60jyDs9tGSmSEWx+WBLVXBXtdJ5u8TA2kG8DCDxTyhx1Bvpo8xt4BkT59vO9gbPMMyyUt+vm2UCetfsMCdc328sGMflmO5rUefb2hnadSVdN9LM977cdwYdO/C3560fzzjr+/y+zftt+Pmzab8lb/2+edWM6fzTxPxu9fPDM35LDbjPxM/F0bjHRlBmsriQxV1+sF5QcPn03zVcYyNZHXy2b9WpV1ZSe8+IL9jvGg0vIeCLu0cDH33RoRTmvCeWnKY1kspg/G3GWSRz2UmB4In7XDzXa8oPgr+WSb4y/8fjh9Hv3wPJ0yy7ufUAXX98z9oMAk/zelO03zwDX47FB0//LJ+c9evh/z9xsXBIxz48m55Y9fMNzEy4aDb06bDDiX7x/NH8bQf65jOrjvHf7aTscIhWebzxl0KPmLVyNOO/fboS3dcLi3P8N93ELB6xPKaekfpZJdVs38v+9lPJUxv/3aXXbLm5Bqp8tr15p/cN17NWdvqyKWSrrtPnWzatlJ2We1Vs3rnndEDV89DKrG1ow5HDgorjMl/6SIk/zK6ytYUXxHNEFPkF8kbVkU1Z13hBF8XIf9CqrW17F/pBIQ1dQmTaRxT/3q7fm+D60638H0+VgwV/AUtiApRCzGoXT1tf9DzeYS9fn+M31ijselCoeNlpBrD6vq/UKS3gehJNqTdNCIHbxBa2mjvmVr9qibMYUKb7IFsHKKZrKAvJH72+vGQGG36QX+P2szRcNaQUPoc/t5xtECmTwAOgq5Nc30tEp8J8b3scDpqdVuzYtaEC7h/Tj8WfeKIXS9PEnn9ywfIPnFv3hYVoK9VK/s+8V37+F/sTDS9zTbPkqJ05v8tcKqr2dBsZzA+1cw1uOCY9l8/fk8ON1Kx/c6PJ3H+nNvn9jt0FLdC0KhuZ4ls9e5dOWmLn8umh8O2ve5O9IhZHwfVNxSPd5j9nA0w31jLqz6mT8QpH9SExjujukIIae98QIT4iRIHJLtvWfPv+f39Jb858N0XLs6UTQe7ck694PjawGo/9Pk/XeLcl674dGVoPR/3fI+h5NLfW/jvZ+RjEMWdHFe8zEe84CMAuWaTYwBhb3UzT8IXBGB6f/77AGHjvn3bWpDcTVRfQfFn37mP1/lMThstwGAvNq9Q+LvF2s/j9K3N5q5Ab6mnXhHxaJI7j9f4fKt2x6y2bnxTIryxsCNvO8B6nBAh3SvOe8fkEpknlWjhXESbX4cvLTFAuINdyUI/KfW5DhhiY3fH0rAt6CcIPDdYHoTWPegOnXTpvhmWacuz/58gubxEvzd5HpHBgmEiHPq4uLvB6zJt366FlWlJT8aysy1kVL6aniB5qDZU5p6OOGgr5pnp5T5onWQEqiBL3AU9+MPxqh/8OhBYd4jg7PBy72v6K8my7ze+m6L/KmyS7yJ9U7QR5JO4P/10266RDCFhHy9n2w4fTNwOwMMl4Ad4j3us4W+r6Z8PxmzMn55rDvgh4aQMSbeb8xdOz1NzeCEPAQ/j134f2w75vCb24APdhDY4jZ4/cbRpC7+OZG4IMdQr6TNvk6eGty4JvGe+8WeNu8xNfBW6Pvbxrve7fA2wb+t8Pb+1N/pR+/5P8B96SA2U9VAAA=&lt;/Code&gt;&lt;CodeSignature&gt;BLF4JWurVfxIUHaELsi3Nd7j9DhOHL/Mzfty2RbBJndEYSJzEH2XjlOCGM5N4Y9nV5FTIAS219vteJTD3Z/4XWVvkZtfgQxlLmoV4wsdfH8OKo8X1itX6TvbMBqX/oVA+6SyYCB5R8xQ4594vwKX3+d6QJj8QV8I9/euyLGJBof34ivmhhRbXnBaRyyay1r8dKnNOuIGkZTn/zoB/RFkN++hixRlxyYGoJYmk9hnLTUGhiN+xcV4T178pA3JDT3bqSjbV1YYEDUiXfNhZcEEDh1Y2sAb87IQ+7WlC694jPU9ip4XAQBKAedRPoA3wYsewBmLptQX6R00D9TbbxddDA==&lt;/CodeSignature&gt;&lt;/SmartOptions&gt;&lt;SmartResize enabled=&quot;True&quot; minWidth=&quot;190&quot; minHeight=&quot;110&quot; /&gt;&lt;/SmartSettings&gt;"/>
          <p:cNvGrpSpPr/>
          <p:nvPr>
            <p:custDataLst>
              <p:tags r:id="rId1"/>
            </p:custDataLst>
          </p:nvPr>
        </p:nvGrpSpPr>
        <p:grpSpPr>
          <a:xfrm>
            <a:off x="1758269" y="4336601"/>
            <a:ext cx="3222246" cy="1507358"/>
            <a:chOff x="595686" y="1261242"/>
            <a:chExt cx="3222246" cy="1507358"/>
          </a:xfrm>
        </p:grpSpPr>
        <p:sp>
          <p:nvSpPr>
            <p:cNvPr id="109" name="Window Body" descr="&lt;Tags&gt;&lt;SMARTRESIZEANCHORS&gt;Absolute,Absolute,Absolute,Absolute&lt;/SMARTRESIZEANCHORS&gt;&lt;/Tags&gt;"/>
            <p:cNvSpPr/>
            <p:nvPr/>
          </p:nvSpPr>
          <p:spPr>
            <a:xfrm>
              <a:off x="595686" y="1498986"/>
              <a:ext cx="3222246" cy="126961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" name="Text" descr="&lt;SmartSettings&gt;&lt;SmartResize anchorLeft=&quot;Absolute&quot; anchorTop=&quot;Absolute&quot; anchorRight=&quot;Absolute&quot; anchorBottom=&quot;Absolute&quot; /&gt;&lt;/SmartSettings&gt;"/>
            <p:cNvSpPr txBox="1"/>
            <p:nvPr>
              <p:custDataLst>
                <p:tags r:id="rId8"/>
              </p:custDataLst>
            </p:nvPr>
          </p:nvSpPr>
          <p:spPr>
            <a:xfrm>
              <a:off x="1335557" y="1635819"/>
              <a:ext cx="2294511" cy="688281"/>
            </a:xfrm>
            <a:prstGeom prst="rect">
              <a:avLst/>
            </a:prstGeom>
            <a:noFill/>
          </p:spPr>
          <p:txBody>
            <a:bodyPr wrap="square" lIns="73152" tIns="36576" rIns="73152" bIns="36576" rtlCol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noProof="1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 등록된 일정이 있습니다</a:t>
              </a:r>
              <a:r>
                <a:rPr lang="en-US" altLang="ko-KR" sz="800" noProof="1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r>
                <a:rPr lang="ko-KR" altLang="en-US" sz="800" noProof="1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일정을 삭제한 후 다시 등록하겠습니까</a:t>
              </a:r>
              <a:r>
                <a:rPr lang="en-US" altLang="ko-KR" sz="800" noProof="1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?</a:t>
              </a:r>
              <a:endParaRPr lang="en-US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1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9"/>
              </p:custDataLst>
            </p:nvPr>
          </p:nvSpPr>
          <p:spPr>
            <a:xfrm>
              <a:off x="595686" y="1261242"/>
              <a:ext cx="3222246" cy="2377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Alert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Close Button" descr="&lt;Tags&gt;&lt;SMARTRESIZEANCHORS&gt;Absolute,None,None,Absolute&lt;/SMARTRESIZEANCHORS&gt;&lt;/Tags&gt;"/>
            <p:cNvSpPr>
              <a:spLocks noEditPoints="1"/>
            </p:cNvSpPr>
            <p:nvPr/>
          </p:nvSpPr>
          <p:spPr bwMode="auto">
            <a:xfrm>
              <a:off x="3607048" y="1332489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3" name="Icons"/>
            <p:cNvGrpSpPr/>
            <p:nvPr/>
          </p:nvGrpSpPr>
          <p:grpSpPr>
            <a:xfrm>
              <a:off x="773534" y="1669713"/>
              <a:ext cx="457200" cy="396875"/>
              <a:chOff x="773534" y="1669713"/>
              <a:chExt cx="457200" cy="396875"/>
            </a:xfrm>
          </p:grpSpPr>
          <p:sp>
            <p:nvSpPr>
              <p:cNvPr id="118" name="Info Icon" descr="&lt;Tags&gt;&lt;SMARTRESIZEANCHORS&gt;Absolute,None,Absolute,None&lt;/SMARTRESIZEANCHORS&gt;&lt;/Tags&gt;"/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9" name="Warning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0" name="Error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1" name="Question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4" name="Buttons"/>
            <p:cNvGrpSpPr/>
            <p:nvPr/>
          </p:nvGrpSpPr>
          <p:grpSpPr>
            <a:xfrm>
              <a:off x="1538287" y="2386471"/>
              <a:ext cx="2091779" cy="240384"/>
              <a:chOff x="1538287" y="2386471"/>
              <a:chExt cx="2091779" cy="240384"/>
            </a:xfrm>
          </p:grpSpPr>
          <p:sp>
            <p:nvSpPr>
              <p:cNvPr id="115" name="Button 1" descr="&lt;SmartSettings&gt;&lt;SmartResize anchorLeft=&quot;None&quot; anchorTop=&quot;None&quot; anchorRight=&quot;Absolute&quot; anchorBottom=&quot;Absolute&quot; /&gt;&lt;/SmartSettings&gt;"/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auto">
              <a:xfrm>
                <a:off x="2967037" y="2386471"/>
                <a:ext cx="663029" cy="240384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sz="600" dirty="0">
                  <a:solidFill>
                    <a:srgbClr val="5F5F5F"/>
                  </a:solidFill>
                  <a:effectLst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6" name="Button 2" descr="&lt;SmartSettings&gt;&lt;SmartResize anchorLeft=&quot;None&quot; anchorTop=&quot;None&quot; anchorRight=&quot;Absolute&quot; anchorBottom=&quot;Absolute&quot; /&gt;&lt;/SmartSettings&gt;"/>
              <p:cNvSpPr>
                <a:spLocks/>
              </p:cNvSpPr>
              <p:nvPr>
                <p:custDataLst>
                  <p:tags r:id="rId11"/>
                </p:custDataLst>
              </p:nvPr>
            </p:nvSpPr>
            <p:spPr bwMode="auto">
              <a:xfrm>
                <a:off x="2252662" y="2386471"/>
                <a:ext cx="663029" cy="240384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  <a:endParaRPr lang="en-US" sz="600" dirty="0">
                  <a:solidFill>
                    <a:srgbClr val="5F5F5F"/>
                  </a:solidFill>
                  <a:effectLst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Button 3" descr="&lt;Tags&gt;&lt;SMARTRESIZEANCHORS&gt;None,Absolute,None,Absolute&lt;/SMARTRESIZEANCHORS&gt;&lt;/Tags&gt;" hidden="1"/>
              <p:cNvSpPr>
                <a:spLocks/>
              </p:cNvSpPr>
              <p:nvPr/>
            </p:nvSpPr>
            <p:spPr bwMode="auto">
              <a:xfrm>
                <a:off x="1538287" y="2386471"/>
                <a:ext cx="663029" cy="240384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900" dirty="0" smtClean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Abort</a:t>
                </a:r>
                <a:endParaRPr lang="en-US" sz="900" dirty="0">
                  <a:solidFill>
                    <a:srgbClr val="5F5F5F"/>
                  </a:solidFill>
                  <a:effectLst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3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2"/>
            </p:custDataLst>
          </p:nvPr>
        </p:nvSpPr>
        <p:spPr>
          <a:xfrm>
            <a:off x="5164443" y="4574345"/>
            <a:ext cx="3222246" cy="1269614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Text" descr="&lt;SmartSettings&gt;&lt;SmartResize anchorLeft=&quot;Absolute&quot; anchorTop=&quot;Absolute&quot; anchorRight=&quot;Absolute&quot; anchorBottom=&quot;Absolute&quot; /&gt;&lt;/SmartSettings&gt;"/>
          <p:cNvSpPr txBox="1"/>
          <p:nvPr>
            <p:custDataLst>
              <p:tags r:id="rId3"/>
            </p:custDataLst>
          </p:nvPr>
        </p:nvSpPr>
        <p:spPr>
          <a:xfrm>
            <a:off x="5904314" y="4711178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이미 등록된 일정도 취소하겠습니까</a:t>
            </a:r>
            <a:r>
              <a:rPr lang="en-US" altLang="ko-KR" sz="800" noProof="1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  <a:endParaRPr lang="en-US" sz="800" noProof="1" smtClean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5" name="Title Bar" descr="&lt;SmartSettings&gt;&lt;SmartResize anchorLeft=&quot;Absolute&quot; anchorTop=&quot;Absolute&quot; anchorRight=&quot;Absolute&quot; anchorBottom=&quot;None&quot; /&gt;&lt;/SmartSettings&gt;"/>
          <p:cNvSpPr/>
          <p:nvPr>
            <p:custDataLst>
              <p:tags r:id="rId4"/>
            </p:custDataLst>
          </p:nvPr>
        </p:nvSpPr>
        <p:spPr>
          <a:xfrm>
            <a:off x="5164443" y="4336601"/>
            <a:ext cx="3222246" cy="237744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2286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Alert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Close Button" descr="&lt;SmartSettings&gt;&lt;SmartResize anchorLeft=&quot;None&quot; anchorTop=&quot;Absolute&quot; anchorRight=&quot;Absolute&quot; anchorBottom=&quot;None&quot; /&gt;&lt;/SmartSettings&gt;"/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8175805" y="4407848"/>
            <a:ext cx="98425" cy="95250"/>
          </a:xfrm>
          <a:custGeom>
            <a:avLst/>
            <a:gdLst>
              <a:gd name="T0" fmla="*/ 254 w 254"/>
              <a:gd name="T1" fmla="*/ 0 h 254"/>
              <a:gd name="T2" fmla="*/ 0 w 254"/>
              <a:gd name="T3" fmla="*/ 254 h 254"/>
              <a:gd name="T4" fmla="*/ 0 w 254"/>
              <a:gd name="T5" fmla="*/ 0 h 254"/>
              <a:gd name="T6" fmla="*/ 254 w 254"/>
              <a:gd name="T7" fmla="*/ 25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" h="254">
                <a:moveTo>
                  <a:pt x="254" y="0"/>
                </a:moveTo>
                <a:lnTo>
                  <a:pt x="0" y="254"/>
                </a:lnTo>
                <a:moveTo>
                  <a:pt x="0" y="0"/>
                </a:moveTo>
                <a:lnTo>
                  <a:pt x="254" y="254"/>
                </a:lnTo>
              </a:path>
            </a:pathLst>
          </a:custGeom>
          <a:noFill/>
          <a:ln w="9525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7" name="Icons"/>
          <p:cNvGrpSpPr/>
          <p:nvPr/>
        </p:nvGrpSpPr>
        <p:grpSpPr>
          <a:xfrm>
            <a:off x="5342291" y="4745072"/>
            <a:ext cx="457200" cy="396875"/>
            <a:chOff x="773534" y="1669713"/>
            <a:chExt cx="457200" cy="396875"/>
          </a:xfrm>
        </p:grpSpPr>
        <p:sp>
          <p:nvSpPr>
            <p:cNvPr id="132" name="Info Icon" descr="&lt;Tags&gt;&lt;SMARTRESIZEANCHORS&gt;Absolute,None,Absolute,None&lt;/SMARTRESIZEANCHORS&gt;&lt;/Tags&gt;" hidden="1"/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Warning Icon" descr="&lt;Tags&gt;&lt;SMARTRESIZEANCHORS&gt;Absolute,None,Absolute,None&lt;/SMARTRESIZEANCHORS&gt;&lt;/Tags&gt;" hidden="1"/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4" name="Error Icon" descr="&lt;Tags&gt;&lt;SMARTRESIZEANCHORS&gt;Absolute,None,Absolute,None&lt;/SMARTRESIZEANCHORS&gt;&lt;/Tags&gt;" hidden="1"/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5" name="Question Icon" descr="&lt;Tags&gt;&lt;SMARTRESIZEANCHORS&gt;Absolute,None,Absolute,None&lt;/SMARTRESIZEANCHORS&gt;&lt;/Tags&gt;"/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9" name="Button 1" descr="&lt;SmartSettings&gt;&lt;SmartResize anchorLeft=&quot;None&quot; anchorTop=&quot;None&quot; anchorRight=&quot;Absolute&quot; anchorBottom=&quot;Absolute&quot; /&gt;&lt;/SmartSettings&gt;"/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7373753" y="5461830"/>
            <a:ext cx="850895" cy="24038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60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일정은 그대로 유지</a:t>
            </a:r>
            <a:endParaRPr lang="en-US" sz="600" dirty="0">
              <a:solidFill>
                <a:srgbClr val="5F5F5F"/>
              </a:solidFill>
              <a:effectLst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0" name="Button 2" descr="&lt;SmartSettings&gt;&lt;SmartResize anchorLeft=&quot;None&quot; anchorTop=&quot;None&quot; anchorRight=&quot;Absolute&quot; anchorBottom=&quot;Absolute&quot; /&gt;&lt;/SmartSettings&gt;"/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6327498" y="5461830"/>
            <a:ext cx="994909" cy="24038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60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등록된 일정 취소</a:t>
            </a:r>
            <a:endParaRPr lang="en-US" sz="600" dirty="0">
              <a:solidFill>
                <a:srgbClr val="5F5F5F"/>
              </a:solidFill>
              <a:effectLst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1" name="Button 3" descr="&lt;Tags&gt;&lt;SMARTRESIZEANCHORS&gt;None,Absolute,None,Absolute&lt;/SMARTRESIZEANCHORS&gt;&lt;/Tags&gt;" hidden="1"/>
          <p:cNvSpPr>
            <a:spLocks/>
          </p:cNvSpPr>
          <p:nvPr/>
        </p:nvSpPr>
        <p:spPr bwMode="auto">
          <a:xfrm>
            <a:off x="6107044" y="5042730"/>
            <a:ext cx="663029" cy="24038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600" dirty="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Abort</a:t>
            </a:r>
            <a:endParaRPr lang="en-US" sz="600" dirty="0">
              <a:solidFill>
                <a:srgbClr val="5F5F5F"/>
              </a:solidFill>
              <a:effectLst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7" name="직선 화살표 연결선 6"/>
          <p:cNvCxnSpPr/>
          <p:nvPr/>
        </p:nvCxnSpPr>
        <p:spPr>
          <a:xfrm>
            <a:off x="2700870" y="3608552"/>
            <a:ext cx="0" cy="616898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직선 화살표 연결선 137"/>
          <p:cNvCxnSpPr/>
          <p:nvPr/>
        </p:nvCxnSpPr>
        <p:spPr>
          <a:xfrm>
            <a:off x="6568020" y="3608552"/>
            <a:ext cx="0" cy="616898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2708910" y="3688348"/>
            <a:ext cx="2065236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일정이 등록된 상태에서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일정 등록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]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버튼을 </a:t>
            </a:r>
            <a:endParaRPr lang="en-US" altLang="ko-KR" sz="800" b="1" smtClean="0">
              <a:solidFill>
                <a:srgbClr val="FF0000"/>
              </a:solidFill>
              <a:latin typeface="+mn-ea"/>
              <a:ea typeface="+mn-ea"/>
            </a:endParaRPr>
          </a:p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다시 클릭했을 때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6576060" y="3688348"/>
            <a:ext cx="1832800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일정이 등록된 상태에서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취소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]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버튼을 </a:t>
            </a:r>
            <a:endParaRPr lang="en-US" altLang="ko-KR" sz="800" b="1" smtClean="0">
              <a:solidFill>
                <a:srgbClr val="FF0000"/>
              </a:solidFill>
              <a:latin typeface="+mn-ea"/>
              <a:ea typeface="+mn-ea"/>
            </a:endParaRPr>
          </a:p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클릭했을 때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55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 간편 등록완료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스퀘어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피드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34125" y="2533649"/>
            <a:ext cx="511926" cy="16503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ㅣ 삭제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371464" lvl="0" indent="-371464" eaLnBrk="0" hangingPunct="0">
              <a:spcBef>
                <a:spcPct val="20000"/>
              </a:spcBef>
            </a:pPr>
            <a:r>
              <a:rPr kumimoji="0" lang="en-US" altLang="ko-KR" sz="800" b="1" smtClean="0">
                <a:solidFill>
                  <a:srgbClr val="595959"/>
                </a:solidFill>
                <a:latin typeface="+mn-ea"/>
                <a:ea typeface="+mn-ea"/>
              </a:rPr>
              <a:t>SQ5.2.1.3.2.1</a:t>
            </a:r>
            <a:endParaRPr kumimoji="0" lang="ko-KR" altLang="en-US" sz="800" b="1" dirty="0">
              <a:solidFill>
                <a:srgbClr val="595959"/>
              </a:solidFill>
              <a:latin typeface="+mn-ea"/>
              <a:ea typeface="+mn-ea"/>
            </a:endParaRPr>
          </a:p>
        </p:txBody>
      </p:sp>
      <p:sp>
        <p:nvSpPr>
          <p:cNvPr id="60" name="타원 59"/>
          <p:cNvSpPr>
            <a:spLocks noChangeAspect="1"/>
          </p:cNvSpPr>
          <p:nvPr/>
        </p:nvSpPr>
        <p:spPr>
          <a:xfrm>
            <a:off x="1974190" y="244317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1" name="Rectangle 177"/>
          <p:cNvSpPr/>
          <p:nvPr/>
        </p:nvSpPr>
        <p:spPr>
          <a:xfrm>
            <a:off x="2014624" y="1676400"/>
            <a:ext cx="4859497" cy="742950"/>
          </a:xfrm>
          <a:prstGeom prst="rect">
            <a:avLst/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62" name="타원 61"/>
          <p:cNvSpPr>
            <a:spLocks noChangeAspect="1"/>
          </p:cNvSpPr>
          <p:nvPr/>
        </p:nvSpPr>
        <p:spPr>
          <a:xfrm>
            <a:off x="6165190" y="2528903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1-3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타원 62"/>
          <p:cNvSpPr>
            <a:spLocks noChangeAspect="1"/>
          </p:cNvSpPr>
          <p:nvPr/>
        </p:nvSpPr>
        <p:spPr>
          <a:xfrm>
            <a:off x="3622015" y="2586053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타원 63"/>
          <p:cNvSpPr>
            <a:spLocks noChangeAspect="1"/>
          </p:cNvSpPr>
          <p:nvPr/>
        </p:nvSpPr>
        <p:spPr>
          <a:xfrm>
            <a:off x="4307815" y="278607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5" name="타원 64"/>
          <p:cNvSpPr>
            <a:spLocks noChangeAspect="1"/>
          </p:cNvSpPr>
          <p:nvPr/>
        </p:nvSpPr>
        <p:spPr>
          <a:xfrm>
            <a:off x="2507590" y="333852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타원 65"/>
          <p:cNvSpPr>
            <a:spLocks noChangeAspect="1"/>
          </p:cNvSpPr>
          <p:nvPr/>
        </p:nvSpPr>
        <p:spPr>
          <a:xfrm>
            <a:off x="6336640" y="335757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타원 66"/>
          <p:cNvSpPr>
            <a:spLocks noChangeAspect="1"/>
          </p:cNvSpPr>
          <p:nvPr/>
        </p:nvSpPr>
        <p:spPr>
          <a:xfrm>
            <a:off x="5860390" y="3357578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6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434457"/>
              </p:ext>
            </p:extLst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8409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77"/>
          <p:cNvSpPr/>
          <p:nvPr/>
        </p:nvSpPr>
        <p:spPr>
          <a:xfrm>
            <a:off x="366799" y="2313600"/>
            <a:ext cx="4859497" cy="7534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13" name="Freeform 33"/>
          <p:cNvSpPr>
            <a:spLocks noEditPoints="1"/>
          </p:cNvSpPr>
          <p:nvPr/>
        </p:nvSpPr>
        <p:spPr bwMode="auto">
          <a:xfrm>
            <a:off x="464877" y="2468779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4" name="텍스트 상자 31"/>
          <p:cNvSpPr txBox="1"/>
          <p:nvPr/>
        </p:nvSpPr>
        <p:spPr>
          <a:xfrm>
            <a:off x="789169" y="2402186"/>
            <a:ext cx="2617150" cy="36933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 중간회식</a:t>
            </a:r>
            <a:endParaRPr kumimoji="1" lang="en-US" altLang="ko-KR" sz="800" b="1" i="0" u="none" strike="noStrike" kern="1200" cap="none" spc="0" normalizeH="0" baseline="0" noProof="0" smtClean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2018-01-22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12:00 ~ 2018-01-23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12:30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772435" y="2801383"/>
            <a:ext cx="1008740" cy="13231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음력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2017-11-30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" name="Rectangle 177"/>
          <p:cNvSpPr/>
          <p:nvPr/>
        </p:nvSpPr>
        <p:spPr>
          <a:xfrm>
            <a:off x="366799" y="980100"/>
            <a:ext cx="4859497" cy="5439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9" name="Freeform 33"/>
          <p:cNvSpPr>
            <a:spLocks noEditPoints="1"/>
          </p:cNvSpPr>
          <p:nvPr/>
        </p:nvSpPr>
        <p:spPr bwMode="auto">
          <a:xfrm>
            <a:off x="464877" y="1135279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0" name="텍스트 상자 31"/>
          <p:cNvSpPr txBox="1"/>
          <p:nvPr/>
        </p:nvSpPr>
        <p:spPr>
          <a:xfrm>
            <a:off x="789169" y="1068686"/>
            <a:ext cx="2617150" cy="36933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 중간회식</a:t>
            </a:r>
            <a:endParaRPr kumimoji="1" lang="en-US" altLang="ko-KR" sz="800" b="1" i="0" u="none" strike="noStrike" kern="1200" cap="none" spc="0" normalizeH="0" baseline="0" noProof="0" smtClean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2018-01-22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ㅣ 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12:00 ~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12:30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2" name="Rectangle 177"/>
          <p:cNvSpPr/>
          <p:nvPr/>
        </p:nvSpPr>
        <p:spPr>
          <a:xfrm>
            <a:off x="369939" y="3391864"/>
            <a:ext cx="4859497" cy="5439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468017" y="3547043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34" name="텍스트 상자 31"/>
          <p:cNvSpPr txBox="1"/>
          <p:nvPr/>
        </p:nvSpPr>
        <p:spPr>
          <a:xfrm>
            <a:off x="792309" y="3480450"/>
            <a:ext cx="2617150" cy="36933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 중간회식</a:t>
            </a:r>
            <a:endParaRPr kumimoji="1" lang="en-US" altLang="ko-KR" sz="800" b="1" i="0" u="none" strike="noStrike" kern="1200" cap="none" spc="0" normalizeH="0" baseline="0" noProof="0" smtClean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lvl="0">
              <a:lnSpc>
                <a:spcPct val="150000"/>
              </a:lnSpc>
              <a:defRPr/>
            </a:pP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2018-01-22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~ </a:t>
            </a: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2018-01-23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종일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맑은 고딕"/>
              <a:ea typeface="맑은 고딕"/>
            </a:endParaRPr>
          </a:p>
        </p:txBody>
      </p:sp>
      <p:sp>
        <p:nvSpPr>
          <p:cNvPr id="38" name="Rectangle 177"/>
          <p:cNvSpPr/>
          <p:nvPr/>
        </p:nvSpPr>
        <p:spPr>
          <a:xfrm>
            <a:off x="366798" y="4245317"/>
            <a:ext cx="4859497" cy="75530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9" name="Freeform 33"/>
          <p:cNvSpPr>
            <a:spLocks noEditPoints="1"/>
          </p:cNvSpPr>
          <p:nvPr/>
        </p:nvSpPr>
        <p:spPr bwMode="auto">
          <a:xfrm>
            <a:off x="464876" y="4400497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89168" y="4333904"/>
            <a:ext cx="2617150" cy="36933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A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서비스 </a:t>
            </a:r>
            <a:r>
              <a:rPr kumimoji="1" lang="en-US" altLang="ko-KR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TF</a:t>
            </a:r>
            <a:r>
              <a:rPr kumimoji="1" lang="ko-KR" altLang="en-US" sz="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팀 중간회식</a:t>
            </a:r>
            <a:endParaRPr kumimoji="1" lang="en-US" altLang="ko-KR" sz="800" b="1" i="0" u="none" strike="noStrike" kern="1200" cap="none" spc="0" normalizeH="0" baseline="0" noProof="0" smtClean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  <a:p>
            <a:pPr lvl="0">
              <a:lnSpc>
                <a:spcPct val="150000"/>
              </a:lnSpc>
              <a:defRPr/>
            </a:pP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2018-01-22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~ </a:t>
            </a: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2018-01-23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ㅣ 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11:00 ~ 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11:30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96718" y="171450"/>
            <a:ext cx="3679460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 등록된 입력값에 따른 컨텐츠 출력 방식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257175" y="722925"/>
            <a:ext cx="1233277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간편 일정 등록시</a:t>
            </a:r>
            <a:endParaRPr lang="ko-KR" altLang="en-US" sz="10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257175" y="1827825"/>
            <a:ext cx="1233277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상세 일정 등록시</a:t>
            </a:r>
            <a:endParaRPr lang="ko-KR" altLang="en-US" sz="10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361950" y="2104050"/>
            <a:ext cx="203958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1)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연속 일정 </a:t>
            </a: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+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음력 일정이 적용된 케이스</a:t>
            </a:r>
            <a:endParaRPr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361950" y="3170850"/>
            <a:ext cx="144487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2)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종일 일정이 적용된 케이스</a:t>
            </a:r>
            <a:endParaRPr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361950" y="4028100"/>
            <a:ext cx="144487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3)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반복 일정이 적용된 케이스</a:t>
            </a:r>
            <a:endParaRPr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1466850" y="1266824"/>
            <a:ext cx="1190625" cy="161925"/>
          </a:xfrm>
          <a:prstGeom prst="rect">
            <a:avLst/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/>
          <p:cNvSpPr/>
          <p:nvPr/>
        </p:nvSpPr>
        <p:spPr>
          <a:xfrm>
            <a:off x="742950" y="1266824"/>
            <a:ext cx="605559" cy="161925"/>
          </a:xfrm>
          <a:prstGeom prst="rect">
            <a:avLst/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직사각형 57"/>
          <p:cNvSpPr/>
          <p:nvPr/>
        </p:nvSpPr>
        <p:spPr>
          <a:xfrm>
            <a:off x="742950" y="2601478"/>
            <a:ext cx="2341995" cy="161925"/>
          </a:xfrm>
          <a:prstGeom prst="rect">
            <a:avLst/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/>
          <p:cNvSpPr/>
          <p:nvPr/>
        </p:nvSpPr>
        <p:spPr>
          <a:xfrm>
            <a:off x="2003714" y="3678380"/>
            <a:ext cx="259195" cy="161925"/>
          </a:xfrm>
          <a:prstGeom prst="rect">
            <a:avLst/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타원 60"/>
          <p:cNvSpPr>
            <a:spLocks noChangeAspect="1"/>
          </p:cNvSpPr>
          <p:nvPr/>
        </p:nvSpPr>
        <p:spPr>
          <a:xfrm>
            <a:off x="688938" y="1195153"/>
            <a:ext cx="134227" cy="135236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2" name="타원 61"/>
          <p:cNvSpPr>
            <a:spLocks noChangeAspect="1"/>
          </p:cNvSpPr>
          <p:nvPr/>
        </p:nvSpPr>
        <p:spPr>
          <a:xfrm>
            <a:off x="1413540" y="1195153"/>
            <a:ext cx="134227" cy="135236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타원 62"/>
          <p:cNvSpPr>
            <a:spLocks noChangeAspect="1"/>
          </p:cNvSpPr>
          <p:nvPr/>
        </p:nvSpPr>
        <p:spPr>
          <a:xfrm>
            <a:off x="688938" y="2542444"/>
            <a:ext cx="134227" cy="135236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타원 63"/>
          <p:cNvSpPr>
            <a:spLocks noChangeAspect="1"/>
          </p:cNvSpPr>
          <p:nvPr/>
        </p:nvSpPr>
        <p:spPr>
          <a:xfrm>
            <a:off x="688938" y="2857531"/>
            <a:ext cx="134227" cy="135236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5" name="타원 64"/>
          <p:cNvSpPr>
            <a:spLocks noChangeAspect="1"/>
          </p:cNvSpPr>
          <p:nvPr/>
        </p:nvSpPr>
        <p:spPr>
          <a:xfrm>
            <a:off x="2215743" y="3605095"/>
            <a:ext cx="134227" cy="135236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타원 65"/>
          <p:cNvSpPr>
            <a:spLocks noChangeAspect="1"/>
          </p:cNvSpPr>
          <p:nvPr/>
        </p:nvSpPr>
        <p:spPr>
          <a:xfrm>
            <a:off x="1498563" y="4654130"/>
            <a:ext cx="134227" cy="135236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6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428185"/>
              </p:ext>
            </p:extLst>
          </p:nvPr>
        </p:nvGraphicFramePr>
        <p:xfrm>
          <a:off x="9290533" y="786383"/>
          <a:ext cx="2880000" cy="1823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설정된 날짜 정보 출력</a:t>
                      </a:r>
                      <a:endParaRPr lang="ko-KR" altLang="en-US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설정된 시간 정보 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종일 일정으로 설정됐을 경우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시간 정보대신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종일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b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으로 출력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연속 일정으로 설정됐을 경우 출력되는 날짜 정보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단일 일정일 경우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간편 일정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과 동일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음력 일정으로 설정됐을 경우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5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시간 정보가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‘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종일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’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으로 설정됐을 경우 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60657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6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lnSpc>
                          <a:spcPct val="100000"/>
                        </a:lnSpc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반복일정으로 설정됐을 경우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704504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4676775" y="1028699"/>
            <a:ext cx="511926" cy="16503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ㅣ 삭제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4676775" y="2390774"/>
            <a:ext cx="511926" cy="16503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ㅣ 삭제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4676775" y="3448049"/>
            <a:ext cx="511926" cy="16503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ㅣ 삭제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4676775" y="4324349"/>
            <a:ext cx="511926" cy="16503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ㅣ 삭제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136" name="그림 1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22459" y="4635528"/>
            <a:ext cx="2907191" cy="1791974"/>
          </a:xfrm>
          <a:prstGeom prst="rect">
            <a:avLst/>
          </a:prstGeom>
        </p:spPr>
      </p:pic>
      <p:sp>
        <p:nvSpPr>
          <p:cNvPr id="137" name="직사각형 136"/>
          <p:cNvSpPr/>
          <p:nvPr/>
        </p:nvSpPr>
        <p:spPr>
          <a:xfrm>
            <a:off x="6076951" y="5848350"/>
            <a:ext cx="419100" cy="123826"/>
          </a:xfrm>
          <a:prstGeom prst="rect">
            <a:avLst/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9" name="꺾인 연결선 138"/>
          <p:cNvCxnSpPr>
            <a:stCxn id="137" idx="1"/>
            <a:endCxn id="60" idx="2"/>
          </p:cNvCxnSpPr>
          <p:nvPr/>
        </p:nvCxnSpPr>
        <p:spPr>
          <a:xfrm rot="10800000">
            <a:off x="2048549" y="4873379"/>
            <a:ext cx="4028403" cy="1036884"/>
          </a:xfrm>
          <a:prstGeom prst="bentConnector2">
            <a:avLst/>
          </a:prstGeom>
          <a:ln w="3175"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3248025" y="5819775"/>
            <a:ext cx="2169431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반복설정 레이어에서 출력된 요약정보를 호출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5476875" y="2357344"/>
            <a:ext cx="1904936" cy="442035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※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단일 일정일 경우</a:t>
            </a:r>
            <a:endParaRPr lang="en-US" altLang="ko-KR" sz="800" b="1" smtClean="0">
              <a:solidFill>
                <a:schemeClr val="tx1">
                  <a:lumMod val="95000"/>
                  <a:lumOff val="5000"/>
                </a:schemeClr>
              </a:solidFill>
              <a:latin typeface="맑은 고딕"/>
              <a:ea typeface="맑은 고딕"/>
            </a:endParaRPr>
          </a:p>
          <a:p>
            <a:pPr lvl="0">
              <a:lnSpc>
                <a:spcPct val="150000"/>
              </a:lnSpc>
            </a:pP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2018-01-22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ㅣ 오전 </a:t>
            </a:r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12:00 ~ </a:t>
            </a:r>
            <a:r>
              <a:rPr lang="ko-KR" altLang="en-US" sz="80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오전 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12:30</a:t>
            </a:r>
            <a:endParaRPr lang="ko-KR" altLang="en-US" sz="800">
              <a:solidFill>
                <a:schemeClr val="tx1">
                  <a:lumMod val="95000"/>
                  <a:lumOff val="5000"/>
                </a:schemeClr>
              </a:solidFill>
              <a:latin typeface="맑은 고딕"/>
              <a:ea typeface="맑은 고딕"/>
            </a:endParaRPr>
          </a:p>
        </p:txBody>
      </p:sp>
      <p:cxnSp>
        <p:nvCxnSpPr>
          <p:cNvPr id="143" name="직선 화살표 연결선 142"/>
          <p:cNvCxnSpPr/>
          <p:nvPr/>
        </p:nvCxnSpPr>
        <p:spPr>
          <a:xfrm flipH="1">
            <a:off x="3114675" y="2678255"/>
            <a:ext cx="2314575" cy="0"/>
          </a:xfrm>
          <a:prstGeom prst="straightConnector1">
            <a:avLst/>
          </a:prstGeom>
          <a:ln w="3175"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6545506"/>
              </p:ext>
            </p:extLst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직사각형 44"/>
          <p:cNvSpPr/>
          <p:nvPr/>
        </p:nvSpPr>
        <p:spPr>
          <a:xfrm>
            <a:off x="762910" y="4725433"/>
            <a:ext cx="1008740" cy="13231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음력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2017-11-30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1688125" y="4711454"/>
            <a:ext cx="720845" cy="161925"/>
          </a:xfrm>
          <a:prstGeom prst="rect">
            <a:avLst/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ㅣ매일반복</a:t>
            </a:r>
            <a:endParaRPr lang="ko-KR" altLang="en-US" sz="8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9736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TextBox 124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피드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371464" lvl="0" indent="-371464" eaLnBrk="0" hangingPunct="0">
              <a:spcBef>
                <a:spcPct val="20000"/>
              </a:spcBef>
            </a:pPr>
            <a:r>
              <a:rPr kumimoji="0" lang="en-US" altLang="ko-KR" sz="800" b="1" smtClean="0">
                <a:solidFill>
                  <a:srgbClr val="595959"/>
                </a:solidFill>
                <a:latin typeface="+mn-ea"/>
                <a:ea typeface="+mn-ea"/>
              </a:rPr>
              <a:t>SQ5.2.1.3.3.1</a:t>
            </a:r>
            <a:endParaRPr kumimoji="0" lang="ko-KR" altLang="en-US" sz="800" b="1" dirty="0">
              <a:solidFill>
                <a:srgbClr val="595959"/>
              </a:solidFill>
              <a:latin typeface="+mn-ea"/>
              <a:ea typeface="+mn-ea"/>
            </a:endParaRPr>
          </a:p>
        </p:txBody>
      </p:sp>
      <p:sp>
        <p:nvSpPr>
          <p:cNvPr id="145" name="직사각형"/>
          <p:cNvSpPr/>
          <p:nvPr/>
        </p:nvSpPr>
        <p:spPr>
          <a:xfrm>
            <a:off x="189335" y="416863"/>
            <a:ext cx="7487538" cy="57362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endParaRPr sz="240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146" name="Rectangle 212"/>
          <p:cNvSpPr/>
          <p:nvPr/>
        </p:nvSpPr>
        <p:spPr>
          <a:xfrm>
            <a:off x="202573" y="677714"/>
            <a:ext cx="7468227" cy="2916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일정 등록</a:t>
            </a:r>
            <a:endParaRPr lang="en-US" sz="800" b="1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</p:txBody>
      </p:sp>
      <p:cxnSp>
        <p:nvCxnSpPr>
          <p:cNvPr id="147" name="직선 연결선[R] 7"/>
          <p:cNvCxnSpPr/>
          <p:nvPr/>
        </p:nvCxnSpPr>
        <p:spPr>
          <a:xfrm>
            <a:off x="190692" y="1332080"/>
            <a:ext cx="7486181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48" name="텍스트 상자 31"/>
          <p:cNvSpPr txBox="1"/>
          <p:nvPr/>
        </p:nvSpPr>
        <p:spPr>
          <a:xfrm>
            <a:off x="371287" y="1540946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제목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49" name="직선 연결선[R] 7"/>
          <p:cNvCxnSpPr/>
          <p:nvPr/>
        </p:nvCxnSpPr>
        <p:spPr>
          <a:xfrm>
            <a:off x="911112" y="1721683"/>
            <a:ext cx="4962148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150" name="텍스트 상자 31"/>
          <p:cNvSpPr txBox="1"/>
          <p:nvPr/>
        </p:nvSpPr>
        <p:spPr>
          <a:xfrm>
            <a:off x="371287" y="1963790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달력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1" name="Group 15"/>
          <p:cNvGrpSpPr/>
          <p:nvPr/>
        </p:nvGrpSpPr>
        <p:grpSpPr>
          <a:xfrm>
            <a:off x="2948715" y="1147745"/>
            <a:ext cx="1982016" cy="176117"/>
            <a:chOff x="4223944" y="1715997"/>
            <a:chExt cx="1982016" cy="176117"/>
          </a:xfrm>
        </p:grpSpPr>
        <p:sp>
          <p:nvSpPr>
            <p:cNvPr id="152" name="텍스트 상자 31"/>
            <p:cNvSpPr txBox="1"/>
            <p:nvPr/>
          </p:nvSpPr>
          <p:spPr>
            <a:xfrm>
              <a:off x="4935567" y="1715997"/>
              <a:ext cx="1270393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설비 </a:t>
              </a:r>
              <a:r>
                <a:rPr kumimoji="1" lang="ko-KR" altLang="en-US" sz="9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일정확인</a:t>
              </a:r>
              <a:endParaRPr kumimoji="1" lang="ko-KR" altLang="en-US" sz="9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53" name="Group 13"/>
            <p:cNvGrpSpPr/>
            <p:nvPr/>
          </p:nvGrpSpPr>
          <p:grpSpPr>
            <a:xfrm>
              <a:off x="4223944" y="1715997"/>
              <a:ext cx="612000" cy="176117"/>
              <a:chOff x="4223944" y="1715997"/>
              <a:chExt cx="612000" cy="176117"/>
            </a:xfrm>
          </p:grpSpPr>
          <p:sp>
            <p:nvSpPr>
              <p:cNvPr id="154" name="텍스트 상자 31"/>
              <p:cNvSpPr txBox="1"/>
              <p:nvPr/>
            </p:nvSpPr>
            <p:spPr>
              <a:xfrm>
                <a:off x="4223944" y="1715997"/>
                <a:ext cx="612000" cy="1384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kumimoji="1" lang="ko-KR" altLang="en-US" sz="900" b="1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일정 상세</a:t>
                </a:r>
                <a:endParaRPr kumimoji="1" lang="ko-KR" altLang="en-US" sz="900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155" name="직선 연결선[R] 7"/>
              <p:cNvCxnSpPr/>
              <p:nvPr/>
            </p:nvCxnSpPr>
            <p:spPr>
              <a:xfrm>
                <a:off x="4277944" y="1892114"/>
                <a:ext cx="504000" cy="0"/>
              </a:xfrm>
              <a:prstGeom prst="line">
                <a:avLst/>
              </a:prstGeom>
              <a:ln w="38100">
                <a:solidFill>
                  <a:schemeClr val="tx1">
                    <a:lumMod val="65000"/>
                    <a:lumOff val="35000"/>
                  </a:schemeClr>
                </a:solidFill>
                <a:miter lim="400000"/>
              </a:ln>
            </p:spPr>
          </p:cxnSp>
        </p:grpSp>
      </p:grpSp>
      <p:sp>
        <p:nvSpPr>
          <p:cNvPr id="156" name="텍스트 상자 31"/>
          <p:cNvSpPr txBox="1"/>
          <p:nvPr/>
        </p:nvSpPr>
        <p:spPr>
          <a:xfrm>
            <a:off x="371287" y="3723880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알림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9" name="텍스트 상자 31"/>
          <p:cNvSpPr txBox="1"/>
          <p:nvPr/>
        </p:nvSpPr>
        <p:spPr>
          <a:xfrm>
            <a:off x="371287" y="2376985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일시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0" name="Rounded Rectangle 939"/>
          <p:cNvSpPr/>
          <p:nvPr/>
        </p:nvSpPr>
        <p:spPr>
          <a:xfrm>
            <a:off x="4974324" y="2328192"/>
            <a:ext cx="648000" cy="290149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9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반복 설정</a:t>
            </a:r>
            <a:endParaRPr kumimoji="1" lang="ko-KR" altLang="en-US" sz="9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61" name="Group 67"/>
          <p:cNvGrpSpPr/>
          <p:nvPr/>
        </p:nvGrpSpPr>
        <p:grpSpPr>
          <a:xfrm>
            <a:off x="1381746" y="2328192"/>
            <a:ext cx="3555600" cy="290149"/>
            <a:chOff x="1135173" y="2884869"/>
            <a:chExt cx="3555600" cy="290149"/>
          </a:xfrm>
        </p:grpSpPr>
        <p:sp>
          <p:nvSpPr>
            <p:cNvPr id="162" name="Rounded Rectangle 939"/>
            <p:cNvSpPr/>
            <p:nvPr/>
          </p:nvSpPr>
          <p:spPr>
            <a:xfrm>
              <a:off x="1135173" y="2884869"/>
              <a:ext cx="792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kumimoji="1" lang="en-US" altLang="ko-KR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2017.09.20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3" name="Rounded Rectangle 939"/>
            <p:cNvSpPr/>
            <p:nvPr/>
          </p:nvSpPr>
          <p:spPr>
            <a:xfrm>
              <a:off x="1935273" y="2884869"/>
              <a:ext cx="864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72000" tIns="0" rIns="0" bIns="0" anchor="ctr"/>
            <a:lstStyle/>
            <a:p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오전 </a:t>
              </a:r>
              <a:r>
                <a:rPr kumimoji="1" lang="en-US" altLang="ko-KR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11:00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4" name="Triangle 942"/>
            <p:cNvSpPr>
              <a:spLocks noChangeAspect="1"/>
            </p:cNvSpPr>
            <p:nvPr/>
          </p:nvSpPr>
          <p:spPr>
            <a:xfrm flipV="1">
              <a:off x="2620251" y="2998992"/>
              <a:ext cx="108000" cy="61902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  <p:sp>
          <p:nvSpPr>
            <p:cNvPr id="165" name="Rounded Rectangle 939"/>
            <p:cNvSpPr/>
            <p:nvPr/>
          </p:nvSpPr>
          <p:spPr>
            <a:xfrm>
              <a:off x="3026673" y="2884869"/>
              <a:ext cx="792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kumimoji="1" lang="en-US" altLang="ko-KR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2017.09.20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6" name="Rounded Rectangle 939"/>
            <p:cNvSpPr/>
            <p:nvPr/>
          </p:nvSpPr>
          <p:spPr>
            <a:xfrm>
              <a:off x="3826773" y="2884869"/>
              <a:ext cx="864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72000" tIns="0" rIns="0" bIns="0" anchor="ctr"/>
            <a:lstStyle/>
            <a:p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오후 </a:t>
              </a:r>
              <a:r>
                <a:rPr kumimoji="1"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en-US" altLang="ko-KR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:00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7" name="Triangle 942"/>
            <p:cNvSpPr>
              <a:spLocks noChangeAspect="1"/>
            </p:cNvSpPr>
            <p:nvPr/>
          </p:nvSpPr>
          <p:spPr>
            <a:xfrm flipV="1">
              <a:off x="4511751" y="2998992"/>
              <a:ext cx="108000" cy="61902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  <p:grpSp>
        <p:nvGrpSpPr>
          <p:cNvPr id="168" name="Group 661"/>
          <p:cNvGrpSpPr/>
          <p:nvPr/>
        </p:nvGrpSpPr>
        <p:grpSpPr>
          <a:xfrm>
            <a:off x="371287" y="3324245"/>
            <a:ext cx="5501973" cy="199787"/>
            <a:chOff x="583051" y="2407589"/>
            <a:chExt cx="5501973" cy="199787"/>
          </a:xfrm>
        </p:grpSpPr>
        <p:sp>
          <p:nvSpPr>
            <p:cNvPr id="169" name="텍스트 상자 31"/>
            <p:cNvSpPr txBox="1"/>
            <p:nvPr/>
          </p:nvSpPr>
          <p:spPr>
            <a:xfrm>
              <a:off x="583051" y="2407589"/>
              <a:ext cx="454551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</a:t>
              </a:r>
              <a:endParaRPr kumimoji="1"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0" name="직선 연결선[R] 7"/>
            <p:cNvCxnSpPr/>
            <p:nvPr/>
          </p:nvCxnSpPr>
          <p:spPr>
            <a:xfrm>
              <a:off x="1122876" y="2607376"/>
              <a:ext cx="4962148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miter lim="400000"/>
            </a:ln>
          </p:spPr>
        </p:cxnSp>
      </p:grpSp>
      <p:sp>
        <p:nvSpPr>
          <p:cNvPr id="171" name="Rounded Rectangle 939"/>
          <p:cNvSpPr/>
          <p:nvPr/>
        </p:nvSpPr>
        <p:spPr>
          <a:xfrm>
            <a:off x="5939014" y="3299521"/>
            <a:ext cx="828000" cy="224511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설비 일정 확인</a:t>
            </a:r>
            <a:endParaRPr kumimoji="1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2" name="Rounded Rectangle 939"/>
          <p:cNvSpPr/>
          <p:nvPr/>
        </p:nvSpPr>
        <p:spPr>
          <a:xfrm>
            <a:off x="911112" y="3260195"/>
            <a:ext cx="612000" cy="22885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72000" tIns="0" rIns="0" bIns="0" anchor="ctr"/>
          <a:lstStyle/>
          <a:p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추가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73" name="Group 121"/>
          <p:cNvGrpSpPr/>
          <p:nvPr/>
        </p:nvGrpSpPr>
        <p:grpSpPr>
          <a:xfrm>
            <a:off x="5840062" y="2379510"/>
            <a:ext cx="365833" cy="187731"/>
            <a:chOff x="10669464" y="2798956"/>
            <a:chExt cx="365833" cy="187731"/>
          </a:xfrm>
        </p:grpSpPr>
        <p:sp>
          <p:nvSpPr>
            <p:cNvPr id="174" name="Rounded Rectangle 722"/>
            <p:cNvSpPr/>
            <p:nvPr/>
          </p:nvSpPr>
          <p:spPr>
            <a:xfrm>
              <a:off x="10819297" y="2798956"/>
              <a:ext cx="21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종일</a:t>
              </a: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5" name="Rounded Rectangle 723"/>
            <p:cNvSpPr/>
            <p:nvPr/>
          </p:nvSpPr>
          <p:spPr>
            <a:xfrm>
              <a:off x="10669464" y="283454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76" name="Triangle 942"/>
          <p:cNvSpPr>
            <a:spLocks noChangeAspect="1"/>
          </p:cNvSpPr>
          <p:nvPr/>
        </p:nvSpPr>
        <p:spPr>
          <a:xfrm flipV="1">
            <a:off x="1410971" y="3348347"/>
            <a:ext cx="91689" cy="52553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33">
              <a:solidFill>
                <a:schemeClr val="tx1"/>
              </a:solidFill>
              <a:latin typeface="+mn-ea"/>
              <a:ea typeface="+mn-ea"/>
              <a:cs typeface="ＭＳ Ｐゴシック" charset="0"/>
            </a:endParaRPr>
          </a:p>
        </p:txBody>
      </p:sp>
      <p:grpSp>
        <p:nvGrpSpPr>
          <p:cNvPr id="177" name="Group 1"/>
          <p:cNvGrpSpPr/>
          <p:nvPr/>
        </p:nvGrpSpPr>
        <p:grpSpPr>
          <a:xfrm>
            <a:off x="911112" y="2328197"/>
            <a:ext cx="432000" cy="286194"/>
            <a:chOff x="1122876" y="2916525"/>
            <a:chExt cx="432000" cy="251417"/>
          </a:xfrm>
        </p:grpSpPr>
        <p:sp>
          <p:nvSpPr>
            <p:cNvPr id="178" name="Rounded Rectangle 939"/>
            <p:cNvSpPr/>
            <p:nvPr/>
          </p:nvSpPr>
          <p:spPr>
            <a:xfrm>
              <a:off x="1122876" y="2916525"/>
              <a:ext cx="432000" cy="251417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72000" tIns="0" rIns="0" bIns="0" anchor="ctr"/>
            <a:lstStyle/>
            <a:p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양력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9" name="Triangle 942"/>
            <p:cNvSpPr>
              <a:spLocks noChangeAspect="1"/>
            </p:cNvSpPr>
            <p:nvPr/>
          </p:nvSpPr>
          <p:spPr>
            <a:xfrm flipV="1">
              <a:off x="1419199" y="3021952"/>
              <a:ext cx="91689" cy="52553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  <p:sp>
        <p:nvSpPr>
          <p:cNvPr id="180" name="텍스트 상자 31"/>
          <p:cNvSpPr txBox="1"/>
          <p:nvPr/>
        </p:nvSpPr>
        <p:spPr>
          <a:xfrm>
            <a:off x="893019" y="3756804"/>
            <a:ext cx="684000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en-US" altLang="ko-KR" sz="800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+</a:t>
            </a:r>
            <a:r>
              <a:rPr kumimoji="1" lang="ko-KR" altLang="en-US" sz="800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알림 추가</a:t>
            </a:r>
            <a:endParaRPr kumimoji="1" lang="ko-KR" altLang="en-US" sz="800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7" name="텍스트 상자 31"/>
          <p:cNvSpPr txBox="1"/>
          <p:nvPr/>
        </p:nvSpPr>
        <p:spPr>
          <a:xfrm>
            <a:off x="907882" y="1945843"/>
            <a:ext cx="198347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smtClean="0">
                <a:latin typeface="+mn-ea"/>
                <a:ea typeface="+mn-ea"/>
              </a:rPr>
              <a:t>■ </a:t>
            </a:r>
            <a:r>
              <a:rPr kumimoji="1" lang="en-US" altLang="ko-KR" sz="800" smtClean="0">
                <a:latin typeface="+mn-ea"/>
                <a:ea typeface="+mn-ea"/>
              </a:rPr>
              <a:t>A </a:t>
            </a:r>
            <a:r>
              <a:rPr kumimoji="1" lang="ko-KR" altLang="en-US" sz="800" dirty="0">
                <a:latin typeface="+mn-ea"/>
                <a:ea typeface="+mn-ea"/>
              </a:rPr>
              <a:t>통신사 서비스 </a:t>
            </a:r>
            <a:r>
              <a:rPr kumimoji="1" lang="en-US" altLang="ko-KR" sz="800" dirty="0">
                <a:latin typeface="+mn-ea"/>
                <a:ea typeface="+mn-ea"/>
              </a:rPr>
              <a:t>TF</a:t>
            </a:r>
            <a:endParaRPr kumimoji="1" lang="ko-KR" altLang="en-US" sz="800" dirty="0">
              <a:latin typeface="+mn-ea"/>
              <a:ea typeface="+mn-ea"/>
            </a:endParaRPr>
          </a:p>
        </p:txBody>
      </p:sp>
      <p:grpSp>
        <p:nvGrpSpPr>
          <p:cNvPr id="199" name="그룹 198"/>
          <p:cNvGrpSpPr/>
          <p:nvPr/>
        </p:nvGrpSpPr>
        <p:grpSpPr>
          <a:xfrm>
            <a:off x="191314" y="416864"/>
            <a:ext cx="7485559" cy="237744"/>
            <a:chOff x="191314" y="416864"/>
            <a:chExt cx="7485559" cy="237744"/>
          </a:xfrm>
        </p:grpSpPr>
        <p:sp>
          <p:nvSpPr>
            <p:cNvPr id="200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1"/>
              </p:custDataLst>
            </p:nvPr>
          </p:nvSpPr>
          <p:spPr>
            <a:xfrm>
              <a:off x="191314" y="416864"/>
              <a:ext cx="7485559" cy="2377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  <a:effectLst/>
          </p:spPr>
          <p:txBody>
            <a:bodyPr lIns="50800" tIns="50800" rIns="50800" bIns="50800" anchor="ctr"/>
            <a:lstStyle/>
            <a:p>
              <a:r>
                <a:rPr lang="en-US" sz="8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</a:rPr>
                <a:t>Window</a:t>
              </a:r>
            </a:p>
          </p:txBody>
        </p:sp>
        <p:sp>
          <p:nvSpPr>
            <p:cNvPr id="201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7491336" y="48960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2" name="TextBox 201"/>
          <p:cNvSpPr txBox="1"/>
          <p:nvPr/>
        </p:nvSpPr>
        <p:spPr>
          <a:xfrm>
            <a:off x="3106993" y="2362373"/>
            <a:ext cx="14483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5" name="타원 204"/>
          <p:cNvSpPr>
            <a:spLocks noChangeAspect="1"/>
          </p:cNvSpPr>
          <p:nvPr/>
        </p:nvSpPr>
        <p:spPr>
          <a:xfrm>
            <a:off x="162776" y="1937791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75" name="Cutout"/>
          <p:cNvGrpSpPr/>
          <p:nvPr/>
        </p:nvGrpSpPr>
        <p:grpSpPr>
          <a:xfrm rot="16200000">
            <a:off x="3760837" y="369937"/>
            <a:ext cx="208936" cy="7566540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76" name="Fill"/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order"/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5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상세 등록</a:t>
            </a:r>
            <a:r>
              <a:rPr kumimoji="0"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(1/2)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6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6808687" y="5507601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6137175" y="5507601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tx1">
              <a:lumMod val="75000"/>
              <a:lumOff val="25000"/>
            </a:schemeClr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lang="en-US" sz="8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0" name="직선 연결선[R] 7"/>
          <p:cNvCxnSpPr/>
          <p:nvPr/>
        </p:nvCxnSpPr>
        <p:spPr>
          <a:xfrm>
            <a:off x="190692" y="5380205"/>
            <a:ext cx="7486181" cy="0"/>
          </a:xfrm>
          <a:prstGeom prst="line">
            <a:avLst/>
          </a:prstGeom>
          <a:ln w="12700">
            <a:solidFill>
              <a:schemeClr val="bg1">
                <a:lumMod val="95000"/>
              </a:schemeClr>
            </a:solidFill>
            <a:miter lim="400000"/>
          </a:ln>
        </p:spPr>
      </p:cxnSp>
      <p:cxnSp>
        <p:nvCxnSpPr>
          <p:cNvPr id="204" name="직선 화살표 연결선 203"/>
          <p:cNvCxnSpPr/>
          <p:nvPr/>
        </p:nvCxnSpPr>
        <p:spPr>
          <a:xfrm>
            <a:off x="7538256" y="1399035"/>
            <a:ext cx="0" cy="4210911"/>
          </a:xfrm>
          <a:prstGeom prst="straightConnector1">
            <a:avLst/>
          </a:prstGeom>
          <a:ln w="28575">
            <a:solidFill>
              <a:schemeClr val="bg1">
                <a:lumMod val="85000"/>
              </a:schemeClr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06476" y="2671192"/>
            <a:ext cx="3339623" cy="481029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음력 ㅣ </a:t>
            </a:r>
            <a:r>
              <a:rPr kumimoji="1" lang="en-US" altLang="ko-KR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kumimoji="1" lang="en-US" altLang="ko-KR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kumimoji="1" lang="en-US" altLang="ko-KR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매일 반복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</a:endParaRPr>
          </a:p>
        </p:txBody>
      </p:sp>
      <p:grpSp>
        <p:nvGrpSpPr>
          <p:cNvPr id="92" name="그룹 91"/>
          <p:cNvGrpSpPr/>
          <p:nvPr/>
        </p:nvGrpSpPr>
        <p:grpSpPr>
          <a:xfrm>
            <a:off x="1517301" y="2934967"/>
            <a:ext cx="567788" cy="162000"/>
            <a:chOff x="2980341" y="3443602"/>
            <a:chExt cx="567788" cy="162000"/>
          </a:xfrm>
        </p:grpSpPr>
        <p:sp>
          <p:nvSpPr>
            <p:cNvPr id="93" name="Rounded Rectangle 861"/>
            <p:cNvSpPr/>
            <p:nvPr/>
          </p:nvSpPr>
          <p:spPr>
            <a:xfrm>
              <a:off x="2980341" y="3443602"/>
              <a:ext cx="271574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수정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4" name="Rounded Rectangle 861"/>
            <p:cNvSpPr/>
            <p:nvPr/>
          </p:nvSpPr>
          <p:spPr>
            <a:xfrm>
              <a:off x="3276555" y="3443602"/>
              <a:ext cx="271574" cy="16200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삭제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sp>
        <p:nvSpPr>
          <p:cNvPr id="96" name="직사각형 95"/>
          <p:cNvSpPr/>
          <p:nvPr/>
        </p:nvSpPr>
        <p:spPr>
          <a:xfrm>
            <a:off x="857250" y="2209800"/>
            <a:ext cx="6210300" cy="4572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97" name="직사각형 96"/>
          <p:cNvSpPr/>
          <p:nvPr/>
        </p:nvSpPr>
        <p:spPr>
          <a:xfrm>
            <a:off x="857250" y="2714625"/>
            <a:ext cx="6210300" cy="4572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98" name="왼쪽 중괄호 97"/>
          <p:cNvSpPr/>
          <p:nvPr/>
        </p:nvSpPr>
        <p:spPr>
          <a:xfrm>
            <a:off x="666750" y="2209800"/>
            <a:ext cx="133350" cy="962026"/>
          </a:xfrm>
          <a:prstGeom prst="leftBrace">
            <a:avLst>
              <a:gd name="adj1" fmla="val 48070"/>
              <a:gd name="adj2" fmla="val 50000"/>
            </a:avLst>
          </a:prstGeom>
          <a:ln w="3175">
            <a:solidFill>
              <a:srgbClr val="FF0000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>
            <a:spLocks noChangeAspect="1"/>
          </p:cNvSpPr>
          <p:nvPr/>
        </p:nvSpPr>
        <p:spPr>
          <a:xfrm>
            <a:off x="496151" y="2604541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타원 99"/>
          <p:cNvSpPr>
            <a:spLocks noChangeAspect="1"/>
          </p:cNvSpPr>
          <p:nvPr/>
        </p:nvSpPr>
        <p:spPr>
          <a:xfrm>
            <a:off x="820001" y="2118766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타원 100"/>
          <p:cNvSpPr>
            <a:spLocks noChangeAspect="1"/>
          </p:cNvSpPr>
          <p:nvPr/>
        </p:nvSpPr>
        <p:spPr>
          <a:xfrm>
            <a:off x="820001" y="3090316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02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031405"/>
              </p:ext>
            </p:extLst>
          </p:nvPr>
        </p:nvGraphicFramePr>
        <p:xfrm>
          <a:off x="9290533" y="786383"/>
          <a:ext cx="2880000" cy="184373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스퀘어 일정 상세 등록 팝업 화면으로 전체적인 구조는 일정 상세 등록 팝업과 동일하나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스퀘어 일정 등록시 제한되는 공유자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기념일 항목은 출력시키지 않음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ko-KR" altLang="en-US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688667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달력은 그룹 달력으로 기본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고정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세팅 처리</a:t>
                      </a:r>
                      <a:endParaRPr lang="ko-KR" altLang="en-US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일시 정보는 일반 일정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반복 일정에 따라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가지 타입으로 제공 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일반 일정 설정 항목으로 상세 기능은 일정과 동일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2-2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반복 설정으로 설정했을 경우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2-1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대신 출력되는 정보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수정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반복 설정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layer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가 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indent="-171450" algn="l" defTabSz="914400">
                        <a:lnSpc>
                          <a:spcPct val="100000"/>
                        </a:lnSpc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[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삭제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]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반복 설정 영역 삭제 후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2-1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으로 전환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" marR="508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0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6581857"/>
              </p:ext>
            </p:extLst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8931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"/>
          <p:cNvSpPr/>
          <p:nvPr/>
        </p:nvSpPr>
        <p:spPr>
          <a:xfrm>
            <a:off x="189335" y="416864"/>
            <a:ext cx="7487538" cy="486951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endParaRPr sz="240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3" name="Rectangle 212"/>
          <p:cNvSpPr/>
          <p:nvPr/>
        </p:nvSpPr>
        <p:spPr>
          <a:xfrm>
            <a:off x="202573" y="677714"/>
            <a:ext cx="7468227" cy="2916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일정 등록</a:t>
            </a:r>
            <a:endParaRPr lang="en-US" sz="800" b="1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</p:txBody>
      </p:sp>
      <p:cxnSp>
        <p:nvCxnSpPr>
          <p:cNvPr id="4" name="직선 연결선[R] 7"/>
          <p:cNvCxnSpPr/>
          <p:nvPr/>
        </p:nvCxnSpPr>
        <p:spPr>
          <a:xfrm>
            <a:off x="190692" y="1332080"/>
            <a:ext cx="7486181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" name="텍스트 상자 31"/>
          <p:cNvSpPr txBox="1"/>
          <p:nvPr/>
        </p:nvSpPr>
        <p:spPr>
          <a:xfrm>
            <a:off x="371287" y="1540946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일시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" name="Group 15"/>
          <p:cNvGrpSpPr/>
          <p:nvPr/>
        </p:nvGrpSpPr>
        <p:grpSpPr>
          <a:xfrm>
            <a:off x="2948715" y="1147745"/>
            <a:ext cx="1982016" cy="184222"/>
            <a:chOff x="4223944" y="1715997"/>
            <a:chExt cx="1982016" cy="184222"/>
          </a:xfrm>
        </p:grpSpPr>
        <p:sp>
          <p:nvSpPr>
            <p:cNvPr id="7" name="텍스트 상자 31"/>
            <p:cNvSpPr txBox="1"/>
            <p:nvPr/>
          </p:nvSpPr>
          <p:spPr>
            <a:xfrm>
              <a:off x="4935567" y="1715997"/>
              <a:ext cx="1270393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설비 </a:t>
              </a:r>
              <a:r>
                <a:rPr kumimoji="1" lang="ko-KR" altLang="en-US" sz="900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일정확인</a:t>
              </a:r>
              <a:endParaRPr kumimoji="1"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" name="Group 13"/>
            <p:cNvGrpSpPr/>
            <p:nvPr/>
          </p:nvGrpSpPr>
          <p:grpSpPr>
            <a:xfrm>
              <a:off x="4223944" y="1715997"/>
              <a:ext cx="1779464" cy="184222"/>
              <a:chOff x="4223944" y="1715997"/>
              <a:chExt cx="1779464" cy="184222"/>
            </a:xfrm>
          </p:grpSpPr>
          <p:sp>
            <p:nvSpPr>
              <p:cNvPr id="9" name="텍스트 상자 31"/>
              <p:cNvSpPr txBox="1"/>
              <p:nvPr/>
            </p:nvSpPr>
            <p:spPr>
              <a:xfrm>
                <a:off x="4223944" y="1715997"/>
                <a:ext cx="612000" cy="1384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rPr>
                  <a:t>일정 상세</a:t>
                </a:r>
              </a:p>
            </p:txBody>
          </p:sp>
          <p:cxnSp>
            <p:nvCxnSpPr>
              <p:cNvPr id="10" name="직선 연결선[R] 7"/>
              <p:cNvCxnSpPr/>
              <p:nvPr/>
            </p:nvCxnSpPr>
            <p:spPr>
              <a:xfrm>
                <a:off x="5191711" y="1900219"/>
                <a:ext cx="811697" cy="0"/>
              </a:xfrm>
              <a:prstGeom prst="line">
                <a:avLst/>
              </a:prstGeom>
              <a:ln w="38100">
                <a:solidFill>
                  <a:schemeClr val="tx1">
                    <a:lumMod val="65000"/>
                    <a:lumOff val="35000"/>
                  </a:schemeClr>
                </a:solidFill>
                <a:miter lim="400000"/>
              </a:ln>
            </p:spPr>
          </p:cxnSp>
        </p:grpSp>
      </p:grpSp>
      <p:sp>
        <p:nvSpPr>
          <p:cNvPr id="11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6808687" y="4764651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6137175" y="4764651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tx1">
              <a:lumMod val="75000"/>
              <a:lumOff val="25000"/>
            </a:schemeClr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lang="en-US" sz="8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" name="직선 연결선[R] 7"/>
          <p:cNvCxnSpPr/>
          <p:nvPr/>
        </p:nvCxnSpPr>
        <p:spPr>
          <a:xfrm>
            <a:off x="190692" y="4637255"/>
            <a:ext cx="7486181" cy="0"/>
          </a:xfrm>
          <a:prstGeom prst="line">
            <a:avLst/>
          </a:prstGeom>
          <a:ln w="12700">
            <a:solidFill>
              <a:schemeClr val="bg1">
                <a:lumMod val="95000"/>
              </a:schemeClr>
            </a:solidFill>
            <a:miter lim="400000"/>
          </a:ln>
        </p:spPr>
      </p:cxnSp>
      <p:grpSp>
        <p:nvGrpSpPr>
          <p:cNvPr id="14" name="그룹 13"/>
          <p:cNvGrpSpPr/>
          <p:nvPr/>
        </p:nvGrpSpPr>
        <p:grpSpPr>
          <a:xfrm>
            <a:off x="191314" y="416864"/>
            <a:ext cx="7485559" cy="237744"/>
            <a:chOff x="191314" y="416864"/>
            <a:chExt cx="7485559" cy="237744"/>
          </a:xfrm>
        </p:grpSpPr>
        <p:sp>
          <p:nvSpPr>
            <p:cNvPr id="15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1"/>
              </p:custDataLst>
            </p:nvPr>
          </p:nvSpPr>
          <p:spPr>
            <a:xfrm>
              <a:off x="191314" y="416864"/>
              <a:ext cx="7485559" cy="2377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  <a:effectLst/>
          </p:spPr>
          <p:txBody>
            <a:bodyPr lIns="50800" tIns="50800" rIns="50800" bIns="50800" anchor="ctr"/>
            <a:lstStyle/>
            <a:p>
              <a:r>
                <a:rPr lang="en-US" sz="8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</a:rPr>
                <a:t>Window</a:t>
              </a:r>
            </a:p>
          </p:txBody>
        </p:sp>
        <p:sp>
          <p:nvSpPr>
            <p:cNvPr id="16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7491336" y="48960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11112" y="1432842"/>
            <a:ext cx="4711212" cy="290149"/>
            <a:chOff x="911112" y="2328192"/>
            <a:chExt cx="4711212" cy="290149"/>
          </a:xfrm>
        </p:grpSpPr>
        <p:sp>
          <p:nvSpPr>
            <p:cNvPr id="18" name="Rounded Rectangle 939"/>
            <p:cNvSpPr/>
            <p:nvPr/>
          </p:nvSpPr>
          <p:spPr>
            <a:xfrm>
              <a:off x="4974324" y="2328192"/>
              <a:ext cx="648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kumimoji="1" lang="ko-KR" altLang="en-US" sz="90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반복 설정</a:t>
              </a:r>
              <a:endPara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9" name="Group 67"/>
            <p:cNvGrpSpPr/>
            <p:nvPr/>
          </p:nvGrpSpPr>
          <p:grpSpPr>
            <a:xfrm>
              <a:off x="1381746" y="2328192"/>
              <a:ext cx="3555600" cy="290149"/>
              <a:chOff x="1135173" y="2884869"/>
              <a:chExt cx="3555600" cy="290149"/>
            </a:xfrm>
          </p:grpSpPr>
          <p:sp>
            <p:nvSpPr>
              <p:cNvPr id="24" name="Rounded Rectangle 939"/>
              <p:cNvSpPr/>
              <p:nvPr/>
            </p:nvSpPr>
            <p:spPr>
              <a:xfrm>
                <a:off x="1135173" y="2884869"/>
                <a:ext cx="792000" cy="290149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kumimoji="1" lang="en-US" altLang="ko-KR" sz="9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2017.09.20</a:t>
                </a:r>
                <a:endParaRPr kumimoji="1"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5" name="Rounded Rectangle 939"/>
              <p:cNvSpPr/>
              <p:nvPr/>
            </p:nvSpPr>
            <p:spPr>
              <a:xfrm>
                <a:off x="1935273" y="2884869"/>
                <a:ext cx="864000" cy="290149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72000" tIns="0" rIns="0" bIns="0" anchor="ctr"/>
              <a:lstStyle/>
              <a:p>
                <a:r>
                  <a:rPr kumimoji="1" lang="ko-KR" altLang="en-US" sz="9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오전 </a:t>
                </a:r>
                <a:r>
                  <a:rPr kumimoji="1" lang="en-US" altLang="ko-KR" sz="9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11:00</a:t>
                </a:r>
                <a:endParaRPr kumimoji="1"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6" name="Triangle 942"/>
              <p:cNvSpPr>
                <a:spLocks noChangeAspect="1"/>
              </p:cNvSpPr>
              <p:nvPr/>
            </p:nvSpPr>
            <p:spPr>
              <a:xfrm flipV="1">
                <a:off x="2620251" y="2998992"/>
                <a:ext cx="108000" cy="61902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27" name="Rounded Rectangle 939"/>
              <p:cNvSpPr/>
              <p:nvPr/>
            </p:nvSpPr>
            <p:spPr>
              <a:xfrm>
                <a:off x="3026673" y="2884869"/>
                <a:ext cx="792000" cy="290149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kumimoji="1" lang="en-US" altLang="ko-KR" sz="9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2017.09.20</a:t>
                </a:r>
                <a:endParaRPr kumimoji="1"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8" name="Rounded Rectangle 939"/>
              <p:cNvSpPr/>
              <p:nvPr/>
            </p:nvSpPr>
            <p:spPr>
              <a:xfrm>
                <a:off x="3826773" y="2884869"/>
                <a:ext cx="864000" cy="290149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72000" tIns="0" rIns="0" bIns="0" anchor="ctr"/>
              <a:lstStyle/>
              <a:p>
                <a:r>
                  <a:rPr kumimoji="1" lang="ko-KR" altLang="en-US" sz="9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오후 </a:t>
                </a:r>
                <a:r>
                  <a:rPr kumimoji="1" lang="en-US" altLang="ko-KR" sz="9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3</a:t>
                </a:r>
                <a:r>
                  <a:rPr kumimoji="1" lang="en-US" altLang="ko-KR" sz="9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:00</a:t>
                </a:r>
                <a:endParaRPr kumimoji="1"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9" name="Triangle 942"/>
              <p:cNvSpPr>
                <a:spLocks noChangeAspect="1"/>
              </p:cNvSpPr>
              <p:nvPr/>
            </p:nvSpPr>
            <p:spPr>
              <a:xfrm flipV="1">
                <a:off x="4511751" y="2998992"/>
                <a:ext cx="108000" cy="61902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</p:grpSp>
        <p:grpSp>
          <p:nvGrpSpPr>
            <p:cNvPr id="20" name="Group 1"/>
            <p:cNvGrpSpPr/>
            <p:nvPr/>
          </p:nvGrpSpPr>
          <p:grpSpPr>
            <a:xfrm>
              <a:off x="911112" y="2328197"/>
              <a:ext cx="432000" cy="286194"/>
              <a:chOff x="1122876" y="2916525"/>
              <a:chExt cx="432000" cy="251417"/>
            </a:xfrm>
          </p:grpSpPr>
          <p:sp>
            <p:nvSpPr>
              <p:cNvPr id="22" name="Rounded Rectangle 939"/>
              <p:cNvSpPr/>
              <p:nvPr/>
            </p:nvSpPr>
            <p:spPr>
              <a:xfrm>
                <a:off x="1122876" y="2916525"/>
                <a:ext cx="432000" cy="251417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72000" tIns="0" rIns="0" bIns="0" anchor="ctr"/>
              <a:lstStyle/>
              <a:p>
                <a:r>
                  <a:rPr kumimoji="1" lang="ko-KR" altLang="en-US" sz="8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양력</a:t>
                </a:r>
                <a:endParaRPr kumimoji="1" lang="ko-KR" altLang="en-US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3" name="Triangle 942"/>
              <p:cNvSpPr>
                <a:spLocks noChangeAspect="1"/>
              </p:cNvSpPr>
              <p:nvPr/>
            </p:nvSpPr>
            <p:spPr>
              <a:xfrm flipV="1">
                <a:off x="1419199" y="3021952"/>
                <a:ext cx="91689" cy="52553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21" name="TextBox 20"/>
            <p:cNvSpPr txBox="1"/>
            <p:nvPr/>
          </p:nvSpPr>
          <p:spPr>
            <a:xfrm>
              <a:off x="3106993" y="2362373"/>
              <a:ext cx="144839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~</a:t>
              </a: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30" name="직선 연결선[R] 7"/>
          <p:cNvCxnSpPr/>
          <p:nvPr/>
        </p:nvCxnSpPr>
        <p:spPr>
          <a:xfrm>
            <a:off x="190692" y="1827380"/>
            <a:ext cx="7486181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31" name="직선 화살표 연결선 30"/>
          <p:cNvCxnSpPr/>
          <p:nvPr/>
        </p:nvCxnSpPr>
        <p:spPr>
          <a:xfrm>
            <a:off x="7538256" y="1379705"/>
            <a:ext cx="0" cy="3163720"/>
          </a:xfrm>
          <a:prstGeom prst="straightConnector1">
            <a:avLst/>
          </a:prstGeom>
          <a:ln w="28575">
            <a:solidFill>
              <a:schemeClr val="bg1">
                <a:lumMod val="85000"/>
              </a:schemeClr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텍스트 상자 31"/>
          <p:cNvSpPr txBox="1"/>
          <p:nvPr/>
        </p:nvSpPr>
        <p:spPr>
          <a:xfrm>
            <a:off x="342432" y="2642290"/>
            <a:ext cx="612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설비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3" name="Rectangle 220"/>
          <p:cNvSpPr/>
          <p:nvPr/>
        </p:nvSpPr>
        <p:spPr>
          <a:xfrm>
            <a:off x="335244" y="2272401"/>
            <a:ext cx="725626" cy="29000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pPr algn="ctr"/>
            <a:r>
              <a:rPr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1</a:t>
            </a:r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층 </a:t>
            </a:r>
            <a:r>
              <a:rPr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Bahama</a:t>
            </a:r>
            <a:endParaRPr lang="en-US" sz="8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4" name="Rectangle 221"/>
          <p:cNvSpPr/>
          <p:nvPr/>
        </p:nvSpPr>
        <p:spPr>
          <a:xfrm>
            <a:off x="335244" y="2652497"/>
            <a:ext cx="725626" cy="29000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pPr algn="ctr"/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빔프로젝터</a:t>
            </a:r>
            <a:r>
              <a:rPr lang="en-US" altLang="ko-KR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A</a:t>
            </a:r>
            <a:endParaRPr lang="en-US" sz="8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5" name="Rectangle 223"/>
          <p:cNvSpPr/>
          <p:nvPr/>
        </p:nvSpPr>
        <p:spPr>
          <a:xfrm>
            <a:off x="335244" y="3032593"/>
            <a:ext cx="725626" cy="29000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pPr algn="ctr"/>
            <a:r>
              <a:rPr 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ASUS</a:t>
            </a:r>
            <a:r>
              <a:rPr lang="ko-KR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노트북</a:t>
            </a:r>
            <a:endParaRPr lang="en-US" sz="8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6" name="직선 연결선[R] 7"/>
          <p:cNvCxnSpPr/>
          <p:nvPr/>
        </p:nvCxnSpPr>
        <p:spPr>
          <a:xfrm>
            <a:off x="1132091" y="2273538"/>
            <a:ext cx="629780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miter lim="400000"/>
          </a:ln>
        </p:spPr>
      </p:cxnSp>
      <p:cxnSp>
        <p:nvCxnSpPr>
          <p:cNvPr id="37" name="직선 연결선[R] 7"/>
          <p:cNvCxnSpPr/>
          <p:nvPr/>
        </p:nvCxnSpPr>
        <p:spPr>
          <a:xfrm>
            <a:off x="1132091" y="2652996"/>
            <a:ext cx="629780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miter lim="400000"/>
          </a:ln>
        </p:spPr>
      </p:cxnSp>
      <p:cxnSp>
        <p:nvCxnSpPr>
          <p:cNvPr id="38" name="직선 연결선[R] 7"/>
          <p:cNvCxnSpPr/>
          <p:nvPr/>
        </p:nvCxnSpPr>
        <p:spPr>
          <a:xfrm>
            <a:off x="1132091" y="3032454"/>
            <a:ext cx="629780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miter lim="400000"/>
          </a:ln>
        </p:spPr>
      </p:cxnSp>
      <p:grpSp>
        <p:nvGrpSpPr>
          <p:cNvPr id="39" name="Group 269"/>
          <p:cNvGrpSpPr/>
          <p:nvPr/>
        </p:nvGrpSpPr>
        <p:grpSpPr>
          <a:xfrm>
            <a:off x="1121789" y="2249693"/>
            <a:ext cx="6308105" cy="1065443"/>
            <a:chOff x="1367825" y="2350581"/>
            <a:chExt cx="6308105" cy="3481769"/>
          </a:xfrm>
        </p:grpSpPr>
        <p:cxnSp>
          <p:nvCxnSpPr>
            <p:cNvPr id="40" name="직선 연결선[R] 7"/>
            <p:cNvCxnSpPr/>
            <p:nvPr/>
          </p:nvCxnSpPr>
          <p:spPr>
            <a:xfrm>
              <a:off x="4798425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  <a:miter lim="400000"/>
            </a:ln>
          </p:spPr>
        </p:cxnSp>
        <p:cxnSp>
          <p:nvCxnSpPr>
            <p:cNvPr id="41" name="직선 연결선[R] 7"/>
            <p:cNvCxnSpPr/>
            <p:nvPr/>
          </p:nvCxnSpPr>
          <p:spPr>
            <a:xfrm>
              <a:off x="1367825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  <a:miter lim="400000"/>
            </a:ln>
          </p:spPr>
        </p:cxnSp>
        <p:cxnSp>
          <p:nvCxnSpPr>
            <p:cNvPr id="42" name="직선 연결선[R] 7"/>
            <p:cNvCxnSpPr/>
            <p:nvPr/>
          </p:nvCxnSpPr>
          <p:spPr>
            <a:xfrm>
              <a:off x="3655860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43" name="직선 연결선[R] 7"/>
            <p:cNvCxnSpPr/>
            <p:nvPr/>
          </p:nvCxnSpPr>
          <p:spPr>
            <a:xfrm>
              <a:off x="4227143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44" name="직선 연결선[R] 7"/>
            <p:cNvCxnSpPr/>
            <p:nvPr/>
          </p:nvCxnSpPr>
          <p:spPr>
            <a:xfrm>
              <a:off x="1942012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45" name="직선 연결선[R] 7"/>
            <p:cNvCxnSpPr/>
            <p:nvPr/>
          </p:nvCxnSpPr>
          <p:spPr>
            <a:xfrm>
              <a:off x="2513294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46" name="직선 연결선[R] 7"/>
            <p:cNvCxnSpPr/>
            <p:nvPr/>
          </p:nvCxnSpPr>
          <p:spPr>
            <a:xfrm>
              <a:off x="6512274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  <a:miter lim="400000"/>
            </a:ln>
          </p:spPr>
        </p:cxnSp>
        <p:cxnSp>
          <p:nvCxnSpPr>
            <p:cNvPr id="47" name="직선 연결선[R] 7"/>
            <p:cNvCxnSpPr/>
            <p:nvPr/>
          </p:nvCxnSpPr>
          <p:spPr>
            <a:xfrm>
              <a:off x="5369708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48" name="직선 연결선[R] 7"/>
            <p:cNvCxnSpPr/>
            <p:nvPr/>
          </p:nvCxnSpPr>
          <p:spPr>
            <a:xfrm>
              <a:off x="5940991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49" name="직선 연결선[R] 7"/>
            <p:cNvCxnSpPr/>
            <p:nvPr/>
          </p:nvCxnSpPr>
          <p:spPr>
            <a:xfrm>
              <a:off x="3088136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  <a:miter lim="400000"/>
            </a:ln>
          </p:spPr>
        </p:cxnSp>
        <p:cxnSp>
          <p:nvCxnSpPr>
            <p:cNvPr id="50" name="직선 연결선[R] 7"/>
            <p:cNvCxnSpPr/>
            <p:nvPr/>
          </p:nvCxnSpPr>
          <p:spPr>
            <a:xfrm>
              <a:off x="7091789" y="2383014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  <p:cxnSp>
          <p:nvCxnSpPr>
            <p:cNvPr id="51" name="직선 연결선[R] 7"/>
            <p:cNvCxnSpPr/>
            <p:nvPr/>
          </p:nvCxnSpPr>
          <p:spPr>
            <a:xfrm>
              <a:off x="7675930" y="2350581"/>
              <a:ext cx="0" cy="3449336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  <a:miter lim="400000"/>
            </a:ln>
          </p:spPr>
        </p:cxnSp>
      </p:grpSp>
      <p:sp>
        <p:nvSpPr>
          <p:cNvPr id="52" name="Rectangle 252"/>
          <p:cNvSpPr/>
          <p:nvPr/>
        </p:nvSpPr>
        <p:spPr>
          <a:xfrm>
            <a:off x="1376632" y="2272900"/>
            <a:ext cx="3398220" cy="380096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53" name="Rectangle 253"/>
          <p:cNvSpPr/>
          <p:nvPr/>
        </p:nvSpPr>
        <p:spPr>
          <a:xfrm>
            <a:off x="4220390" y="2652996"/>
            <a:ext cx="1503888" cy="380096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54" name="직선 연결선[R] 7"/>
          <p:cNvCxnSpPr/>
          <p:nvPr/>
        </p:nvCxnSpPr>
        <p:spPr>
          <a:xfrm>
            <a:off x="1121789" y="2272900"/>
            <a:ext cx="6308105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55" name="그룹 54"/>
          <p:cNvGrpSpPr/>
          <p:nvPr/>
        </p:nvGrpSpPr>
        <p:grpSpPr>
          <a:xfrm>
            <a:off x="2842100" y="2268545"/>
            <a:ext cx="1718522" cy="1036666"/>
            <a:chOff x="2842100" y="2123726"/>
            <a:chExt cx="1718522" cy="3135351"/>
          </a:xfrm>
        </p:grpSpPr>
        <p:cxnSp>
          <p:nvCxnSpPr>
            <p:cNvPr id="56" name="직선 연결선[R] 7"/>
            <p:cNvCxnSpPr/>
            <p:nvPr/>
          </p:nvCxnSpPr>
          <p:spPr>
            <a:xfrm>
              <a:off x="2842100" y="2127078"/>
              <a:ext cx="0" cy="3131999"/>
            </a:xfrm>
            <a:prstGeom prst="line">
              <a:avLst/>
            </a:prstGeom>
            <a:ln w="9525">
              <a:solidFill>
                <a:srgbClr val="FF0000"/>
              </a:solidFill>
              <a:miter lim="400000"/>
              <a:headEnd type="oval"/>
            </a:ln>
          </p:spPr>
        </p:cxnSp>
        <p:cxnSp>
          <p:nvCxnSpPr>
            <p:cNvPr id="57" name="직선 연결선[R] 7"/>
            <p:cNvCxnSpPr/>
            <p:nvPr/>
          </p:nvCxnSpPr>
          <p:spPr>
            <a:xfrm>
              <a:off x="4552389" y="2127078"/>
              <a:ext cx="0" cy="3131999"/>
            </a:xfrm>
            <a:prstGeom prst="line">
              <a:avLst/>
            </a:prstGeom>
            <a:ln w="9525">
              <a:solidFill>
                <a:srgbClr val="FF0000"/>
              </a:solidFill>
              <a:miter lim="400000"/>
              <a:headEnd type="oval"/>
            </a:ln>
          </p:spPr>
        </p:cxnSp>
        <p:sp>
          <p:nvSpPr>
            <p:cNvPr id="58" name="Rectangle 247"/>
            <p:cNvSpPr/>
            <p:nvPr/>
          </p:nvSpPr>
          <p:spPr>
            <a:xfrm>
              <a:off x="2846773" y="2123726"/>
              <a:ext cx="1713849" cy="3130128"/>
            </a:xfrm>
            <a:prstGeom prst="rect">
              <a:avLst/>
            </a:prstGeom>
            <a:solidFill>
              <a:srgbClr val="FF0000">
                <a:alpha val="10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sp>
        <p:nvSpPr>
          <p:cNvPr id="59" name="Rectangle 292"/>
          <p:cNvSpPr/>
          <p:nvPr/>
        </p:nvSpPr>
        <p:spPr>
          <a:xfrm>
            <a:off x="1683567" y="3048584"/>
            <a:ext cx="590417" cy="2764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964309" y="2065027"/>
            <a:ext cx="110608" cy="184666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200" b="1" dirty="0" smtClean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rPr>
              <a:t>+</a:t>
            </a:r>
            <a:endParaRPr lang="en-US" sz="1200" b="1" dirty="0">
              <a:solidFill>
                <a:prstClr val="white">
                  <a:lumMod val="50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61" name="텍스트 상자 31"/>
          <p:cNvSpPr txBox="1"/>
          <p:nvPr/>
        </p:nvSpPr>
        <p:spPr>
          <a:xfrm>
            <a:off x="342432" y="2115471"/>
            <a:ext cx="6120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설비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62" name="직선 연결선[R] 7"/>
          <p:cNvCxnSpPr/>
          <p:nvPr/>
        </p:nvCxnSpPr>
        <p:spPr>
          <a:xfrm>
            <a:off x="1121789" y="3311125"/>
            <a:ext cx="6308105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63" name="Group 121"/>
          <p:cNvGrpSpPr/>
          <p:nvPr/>
        </p:nvGrpSpPr>
        <p:grpSpPr>
          <a:xfrm>
            <a:off x="5744812" y="1493685"/>
            <a:ext cx="365833" cy="187731"/>
            <a:chOff x="10669464" y="2798956"/>
            <a:chExt cx="365833" cy="187731"/>
          </a:xfrm>
        </p:grpSpPr>
        <p:sp>
          <p:nvSpPr>
            <p:cNvPr id="64" name="Rounded Rectangle 722"/>
            <p:cNvSpPr/>
            <p:nvPr/>
          </p:nvSpPr>
          <p:spPr>
            <a:xfrm>
              <a:off x="10819297" y="2798956"/>
              <a:ext cx="21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종일</a:t>
              </a: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65" name="Rounded Rectangle 723"/>
            <p:cNvSpPr/>
            <p:nvPr/>
          </p:nvSpPr>
          <p:spPr>
            <a:xfrm>
              <a:off x="10669464" y="283454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66" name="Rounded Rectangle 939"/>
          <p:cNvSpPr/>
          <p:nvPr/>
        </p:nvSpPr>
        <p:spPr>
          <a:xfrm>
            <a:off x="6160695" y="1462824"/>
            <a:ext cx="506805" cy="242151"/>
          </a:xfrm>
          <a:prstGeom prst="roundRect">
            <a:avLst>
              <a:gd name="adj" fmla="val 8420"/>
            </a:avLst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  <a:endParaRPr lang="ko-KR" altLang="en-US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스퀘어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피드</a:t>
            </a:r>
          </a:p>
        </p:txBody>
      </p:sp>
      <p:sp>
        <p:nvSpPr>
          <p:cNvPr id="68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상세 등록</a:t>
            </a:r>
            <a:r>
              <a:rPr kumimoji="0"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(2/2)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371464" lvl="0" indent="-371464" eaLnBrk="0" hangingPunct="0">
              <a:spcBef>
                <a:spcPct val="20000"/>
              </a:spcBef>
            </a:pPr>
            <a:r>
              <a:rPr kumimoji="0" lang="en-US" altLang="ko-KR" sz="800" b="1" smtClean="0">
                <a:solidFill>
                  <a:srgbClr val="595959"/>
                </a:solidFill>
                <a:latin typeface="+mn-ea"/>
                <a:ea typeface="+mn-ea"/>
              </a:rPr>
              <a:t>SQ5.2.1.3.3.2</a:t>
            </a:r>
            <a:endParaRPr kumimoji="0" lang="ko-KR" altLang="en-US" sz="800" b="1" dirty="0">
              <a:solidFill>
                <a:srgbClr val="595959"/>
              </a:solidFill>
              <a:latin typeface="+mn-ea"/>
              <a:ea typeface="+mn-ea"/>
            </a:endParaRPr>
          </a:p>
        </p:txBody>
      </p:sp>
      <p:graphicFrame>
        <p:nvGraphicFramePr>
          <p:cNvPr id="72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817521"/>
              </p:ext>
            </p:extLst>
          </p:nvPr>
        </p:nvGraphicFramePr>
        <p:xfrm>
          <a:off x="9290533" y="786383"/>
          <a:ext cx="2880000" cy="71509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스퀘어 일정 상세 등록 팝업 화면으로 전체적인 구조는 일정 상세 등록 팝업과 동일하나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스퀘어 일정 등록시 제한되는 공유자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기념일 항목은 출력시키지 않음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6886674"/>
                  </a:ext>
                </a:extLst>
              </a:tr>
            </a:tbl>
          </a:graphicData>
        </a:graphic>
      </p:graphicFrame>
      <p:graphicFrame>
        <p:nvGraphicFramePr>
          <p:cNvPr id="7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205323"/>
              </p:ext>
            </p:extLst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3" name="Group 1"/>
          <p:cNvGrpSpPr/>
          <p:nvPr/>
        </p:nvGrpSpPr>
        <p:grpSpPr>
          <a:xfrm>
            <a:off x="3106993" y="1881045"/>
            <a:ext cx="1466367" cy="157533"/>
            <a:chOff x="3555340" y="2426388"/>
            <a:chExt cx="1466367" cy="157533"/>
          </a:xfrm>
        </p:grpSpPr>
        <p:sp>
          <p:nvSpPr>
            <p:cNvPr id="75" name="텍스트 상자 31"/>
            <p:cNvSpPr txBox="1"/>
            <p:nvPr/>
          </p:nvSpPr>
          <p:spPr>
            <a:xfrm>
              <a:off x="3555340" y="2430033"/>
              <a:ext cx="97736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en-US" altLang="ko-KR" sz="1000" b="1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2017-09-20</a:t>
              </a:r>
              <a:r>
                <a:rPr kumimoji="1" lang="en-US" altLang="ko-KR" sz="10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(</a:t>
              </a:r>
              <a:r>
                <a:rPr kumimoji="1" lang="ko-KR" altLang="en-US" sz="10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수</a:t>
              </a:r>
              <a:r>
                <a:rPr kumimoji="1" lang="en-US" altLang="ko-KR" sz="10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)</a:t>
              </a:r>
              <a:endParaRPr kumimoji="1" lang="ko-KR" altLang="en-US" sz="10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76" name="Group 120"/>
            <p:cNvGrpSpPr/>
            <p:nvPr/>
          </p:nvGrpSpPr>
          <p:grpSpPr>
            <a:xfrm>
              <a:off x="4481097" y="2426388"/>
              <a:ext cx="540610" cy="144000"/>
              <a:chOff x="3113961" y="1702107"/>
              <a:chExt cx="540610" cy="144000"/>
            </a:xfrm>
          </p:grpSpPr>
          <p:sp>
            <p:nvSpPr>
              <p:cNvPr id="77" name="Freeform 9"/>
              <p:cNvSpPr>
                <a:spLocks noChangeArrowheads="1"/>
              </p:cNvSpPr>
              <p:nvPr/>
            </p:nvSpPr>
            <p:spPr bwMode="auto">
              <a:xfrm>
                <a:off x="3113961" y="1741427"/>
                <a:ext cx="50409" cy="80656"/>
              </a:xfrm>
              <a:custGeom>
                <a:avLst/>
                <a:gdLst>
                  <a:gd name="T0" fmla="*/ 243 w 244"/>
                  <a:gd name="T1" fmla="*/ 44 h 387"/>
                  <a:gd name="T2" fmla="*/ 199 w 244"/>
                  <a:gd name="T3" fmla="*/ 0 h 387"/>
                  <a:gd name="T4" fmla="*/ 0 w 244"/>
                  <a:gd name="T5" fmla="*/ 193 h 387"/>
                  <a:gd name="T6" fmla="*/ 199 w 244"/>
                  <a:gd name="T7" fmla="*/ 386 h 387"/>
                  <a:gd name="T8" fmla="*/ 243 w 244"/>
                  <a:gd name="T9" fmla="*/ 343 h 387"/>
                  <a:gd name="T10" fmla="*/ 94 w 244"/>
                  <a:gd name="T11" fmla="*/ 193 h 387"/>
                  <a:gd name="T12" fmla="*/ 243 w 244"/>
                  <a:gd name="T13" fmla="*/ 44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4" h="387">
                    <a:moveTo>
                      <a:pt x="243" y="44"/>
                    </a:moveTo>
                    <a:lnTo>
                      <a:pt x="199" y="0"/>
                    </a:lnTo>
                    <a:lnTo>
                      <a:pt x="0" y="193"/>
                    </a:lnTo>
                    <a:lnTo>
                      <a:pt x="199" y="386"/>
                    </a:lnTo>
                    <a:lnTo>
                      <a:pt x="243" y="343"/>
                    </a:lnTo>
                    <a:lnTo>
                      <a:pt x="94" y="193"/>
                    </a:lnTo>
                    <a:lnTo>
                      <a:pt x="243" y="44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78" name="Freeform 10"/>
              <p:cNvSpPr>
                <a:spLocks noChangeArrowheads="1"/>
              </p:cNvSpPr>
              <p:nvPr/>
            </p:nvSpPr>
            <p:spPr bwMode="auto">
              <a:xfrm>
                <a:off x="3247594" y="1741427"/>
                <a:ext cx="49493" cy="80656"/>
              </a:xfrm>
              <a:custGeom>
                <a:avLst/>
                <a:gdLst>
                  <a:gd name="T0" fmla="*/ 44 w 238"/>
                  <a:gd name="T1" fmla="*/ 0 h 387"/>
                  <a:gd name="T2" fmla="*/ 0 w 238"/>
                  <a:gd name="T3" fmla="*/ 44 h 387"/>
                  <a:gd name="T4" fmla="*/ 150 w 238"/>
                  <a:gd name="T5" fmla="*/ 193 h 387"/>
                  <a:gd name="T6" fmla="*/ 0 w 238"/>
                  <a:gd name="T7" fmla="*/ 343 h 387"/>
                  <a:gd name="T8" fmla="*/ 44 w 238"/>
                  <a:gd name="T9" fmla="*/ 386 h 387"/>
                  <a:gd name="T10" fmla="*/ 237 w 238"/>
                  <a:gd name="T11" fmla="*/ 193 h 387"/>
                  <a:gd name="T12" fmla="*/ 44 w 238"/>
                  <a:gd name="T13" fmla="*/ 0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387">
                    <a:moveTo>
                      <a:pt x="44" y="0"/>
                    </a:moveTo>
                    <a:lnTo>
                      <a:pt x="0" y="44"/>
                    </a:lnTo>
                    <a:lnTo>
                      <a:pt x="150" y="193"/>
                    </a:lnTo>
                    <a:lnTo>
                      <a:pt x="0" y="343"/>
                    </a:lnTo>
                    <a:lnTo>
                      <a:pt x="44" y="386"/>
                    </a:lnTo>
                    <a:lnTo>
                      <a:pt x="237" y="193"/>
                    </a:lnTo>
                    <a:lnTo>
                      <a:pt x="44" y="0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79" name="Rounded Rectangle 123"/>
              <p:cNvSpPr/>
              <p:nvPr/>
            </p:nvSpPr>
            <p:spPr>
              <a:xfrm>
                <a:off x="3373429" y="1702107"/>
                <a:ext cx="281142" cy="144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오늘</a:t>
                </a:r>
                <a:endParaRPr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39321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5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4563111"/>
              </p:ext>
            </p:extLst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1/22_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6" name="TextBox 265"/>
          <p:cNvSpPr txBox="1"/>
          <p:nvPr/>
        </p:nvSpPr>
        <p:spPr>
          <a:xfrm>
            <a:off x="1247775" y="90024"/>
            <a:ext cx="1138701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#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반복설정 레이어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_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매일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9296400" y="2749892"/>
            <a:ext cx="283307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해당 화면은 일정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/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설비와 동일하므로 디자인 작업 필요 없음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24" name="직사각형"/>
          <p:cNvSpPr/>
          <p:nvPr/>
        </p:nvSpPr>
        <p:spPr>
          <a:xfrm>
            <a:off x="324041" y="3072385"/>
            <a:ext cx="3600570" cy="2175416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ysClr val="windowText" lastClr="000000">
                <a:lumMod val="65000"/>
                <a:lumOff val="35000"/>
              </a:sys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marL="0" marR="0" lvl="0" indent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25" name="텍스트 상자 31"/>
          <p:cNvSpPr txBox="1"/>
          <p:nvPr/>
        </p:nvSpPr>
        <p:spPr>
          <a:xfrm>
            <a:off x="464668" y="3196974"/>
            <a:ext cx="198347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10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반복설정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26" name="Rectangle 127"/>
          <p:cNvSpPr/>
          <p:nvPr/>
        </p:nvSpPr>
        <p:spPr>
          <a:xfrm>
            <a:off x="773262" y="3577557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매일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cxnSp>
        <p:nvCxnSpPr>
          <p:cNvPr id="127" name="직선 연결선 126"/>
          <p:cNvCxnSpPr/>
          <p:nvPr/>
        </p:nvCxnSpPr>
        <p:spPr>
          <a:xfrm>
            <a:off x="405310" y="3397619"/>
            <a:ext cx="3400002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455371" y="3450592"/>
            <a:ext cx="252239" cy="630942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빈도</a:t>
            </a:r>
            <a:endParaRPr lang="en-US" altLang="ko-KR" sz="7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범위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9" name="Freeform 11"/>
          <p:cNvSpPr>
            <a:spLocks noChangeAspect="1" noChangeArrowheads="1"/>
          </p:cNvSpPr>
          <p:nvPr/>
        </p:nvSpPr>
        <p:spPr bwMode="auto">
          <a:xfrm>
            <a:off x="3671107" y="3222508"/>
            <a:ext cx="97398" cy="97398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30" name="직사각형"/>
          <p:cNvSpPr/>
          <p:nvPr/>
        </p:nvSpPr>
        <p:spPr>
          <a:xfrm>
            <a:off x="336583" y="577308"/>
            <a:ext cx="3600570" cy="2175416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ysClr val="windowText" lastClr="000000">
                <a:lumMod val="65000"/>
                <a:lumOff val="35000"/>
              </a:sys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marL="0" marR="0" lvl="0" indent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31" name="텍스트 상자 31"/>
          <p:cNvSpPr txBox="1"/>
          <p:nvPr/>
        </p:nvSpPr>
        <p:spPr>
          <a:xfrm>
            <a:off x="477210" y="701897"/>
            <a:ext cx="198347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10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반복설정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134" name="Group 291"/>
          <p:cNvGrpSpPr/>
          <p:nvPr/>
        </p:nvGrpSpPr>
        <p:grpSpPr>
          <a:xfrm>
            <a:off x="1474821" y="2447111"/>
            <a:ext cx="1143107" cy="187731"/>
            <a:chOff x="519769" y="7004980"/>
            <a:chExt cx="1143107" cy="187731"/>
          </a:xfrm>
        </p:grpSpPr>
        <p:sp>
          <p:nvSpPr>
            <p:cNvPr id="136" name="Rounded Rectangle 292"/>
            <p:cNvSpPr/>
            <p:nvPr/>
          </p:nvSpPr>
          <p:spPr>
            <a:xfrm>
              <a:off x="1122876" y="7004980"/>
              <a:ext cx="540000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/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취소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7" name="Rounded Rectangle 313"/>
            <p:cNvSpPr/>
            <p:nvPr/>
          </p:nvSpPr>
          <p:spPr>
            <a:xfrm>
              <a:off x="519769" y="7004980"/>
              <a:ext cx="536766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>
                <a:lumMod val="85000"/>
              </a:sysClr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설정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138" name="Rectangle 127"/>
          <p:cNvSpPr/>
          <p:nvPr/>
        </p:nvSpPr>
        <p:spPr>
          <a:xfrm>
            <a:off x="785804" y="1082480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매일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41" name="Rectangle 127"/>
          <p:cNvSpPr/>
          <p:nvPr/>
        </p:nvSpPr>
        <p:spPr>
          <a:xfrm>
            <a:off x="775618" y="1571324"/>
            <a:ext cx="759858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11:00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cxnSp>
        <p:nvCxnSpPr>
          <p:cNvPr id="142" name="직선 연결선 141"/>
          <p:cNvCxnSpPr/>
          <p:nvPr/>
        </p:nvCxnSpPr>
        <p:spPr>
          <a:xfrm>
            <a:off x="417852" y="902542"/>
            <a:ext cx="3400002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467913" y="955515"/>
            <a:ext cx="252239" cy="630942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빈도</a:t>
            </a:r>
            <a:endParaRPr lang="en-US" altLang="ko-KR" sz="7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범위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467913" y="1806415"/>
            <a:ext cx="252239" cy="313868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요약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45" name="직선 연결선 144"/>
          <p:cNvCxnSpPr/>
          <p:nvPr/>
        </p:nvCxnSpPr>
        <p:spPr>
          <a:xfrm>
            <a:off x="417852" y="1848692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/>
          <p:cNvCxnSpPr/>
          <p:nvPr/>
        </p:nvCxnSpPr>
        <p:spPr>
          <a:xfrm>
            <a:off x="417852" y="2322402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TextBox 147"/>
          <p:cNvSpPr txBox="1"/>
          <p:nvPr/>
        </p:nvSpPr>
        <p:spPr>
          <a:xfrm>
            <a:off x="794081" y="1875282"/>
            <a:ext cx="2281641" cy="415498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lvl="0">
              <a:lnSpc>
                <a:spcPct val="150000"/>
              </a:lnSpc>
            </a:pP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매일 반복</a:t>
            </a:r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49" name="Freeform 11"/>
          <p:cNvSpPr>
            <a:spLocks noChangeAspect="1" noChangeArrowheads="1"/>
          </p:cNvSpPr>
          <p:nvPr/>
        </p:nvSpPr>
        <p:spPr bwMode="auto">
          <a:xfrm>
            <a:off x="3683649" y="727431"/>
            <a:ext cx="97398" cy="97398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50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1044720"/>
              </p:ext>
            </p:extLst>
          </p:nvPr>
        </p:nvGraphicFramePr>
        <p:xfrm>
          <a:off x="9290533" y="786383"/>
          <a:ext cx="2825267" cy="1870456"/>
        </p:xfrm>
        <a:graphic>
          <a:graphicData uri="http://schemas.openxmlformats.org/drawingml/2006/table">
            <a:tbl>
              <a:tblPr/>
              <a:tblGrid>
                <a:gridCol w="176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486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스퀘어 일정 등록 또는 수정화면에서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[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반복설정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] 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버튼 클릭시 출력되는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layer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반복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빈도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설정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select box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로 클릭시 다음과 같은 항목 출력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 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매일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매주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매월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매년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675371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기간 맟 시간 설정하는 항목으로 오늘 날짜 및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오늘 시간 기준으로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30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분단위로 출력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83647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②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~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③에서 설정된 정보를 기반으로 요약 정보 출력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37089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6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종일 체크시 시간 입력 항목 비활성화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71450" marR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요약정보의 시간 정보는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종일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로 출력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328316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7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날짜 기본 세팅 값은 시작일은 오늘 날짜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종료일은 한달 이후 날짜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622139"/>
                  </a:ext>
                </a:extLst>
              </a:tr>
            </a:tbl>
          </a:graphicData>
        </a:graphic>
      </p:graphicFrame>
      <p:sp>
        <p:nvSpPr>
          <p:cNvPr id="151" name="Rectangle 127"/>
          <p:cNvSpPr/>
          <p:nvPr/>
        </p:nvSpPr>
        <p:spPr>
          <a:xfrm>
            <a:off x="1668240" y="1571324"/>
            <a:ext cx="749672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11:30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532483" y="1559997"/>
            <a:ext cx="135221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3" name="Group 291"/>
          <p:cNvGrpSpPr/>
          <p:nvPr/>
        </p:nvGrpSpPr>
        <p:grpSpPr>
          <a:xfrm>
            <a:off x="1462071" y="4932692"/>
            <a:ext cx="1143107" cy="187731"/>
            <a:chOff x="519769" y="7004980"/>
            <a:chExt cx="1143107" cy="187731"/>
          </a:xfrm>
        </p:grpSpPr>
        <p:sp>
          <p:nvSpPr>
            <p:cNvPr id="154" name="Rounded Rectangle 292"/>
            <p:cNvSpPr/>
            <p:nvPr/>
          </p:nvSpPr>
          <p:spPr>
            <a:xfrm>
              <a:off x="1122876" y="7004980"/>
              <a:ext cx="540000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/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취소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5" name="Rounded Rectangle 313"/>
            <p:cNvSpPr/>
            <p:nvPr/>
          </p:nvSpPr>
          <p:spPr>
            <a:xfrm>
              <a:off x="519769" y="7004980"/>
              <a:ext cx="536766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>
                <a:lumMod val="85000"/>
              </a:sysClr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설정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156" name="Rectangle 127"/>
          <p:cNvSpPr/>
          <p:nvPr/>
        </p:nvSpPr>
        <p:spPr>
          <a:xfrm>
            <a:off x="762868" y="4056905"/>
            <a:ext cx="759858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11:00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455163" y="4291996"/>
            <a:ext cx="252239" cy="313868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요약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2" name="직선 연결선 161"/>
          <p:cNvCxnSpPr/>
          <p:nvPr/>
        </p:nvCxnSpPr>
        <p:spPr>
          <a:xfrm>
            <a:off x="405102" y="4334273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직선 연결선 162"/>
          <p:cNvCxnSpPr/>
          <p:nvPr/>
        </p:nvCxnSpPr>
        <p:spPr>
          <a:xfrm>
            <a:off x="405102" y="4807983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TextBox 174"/>
          <p:cNvSpPr txBox="1"/>
          <p:nvPr/>
        </p:nvSpPr>
        <p:spPr>
          <a:xfrm>
            <a:off x="781331" y="4371282"/>
            <a:ext cx="1475331" cy="39466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종일</a:t>
            </a:r>
            <a:endParaRPr lang="en-US" altLang="ko-KR" sz="700" smtClean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매일 반복</a:t>
            </a:r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0" name="Rectangle 127"/>
          <p:cNvSpPr/>
          <p:nvPr/>
        </p:nvSpPr>
        <p:spPr>
          <a:xfrm>
            <a:off x="1655490" y="4056905"/>
            <a:ext cx="749672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11:30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1519733" y="4045578"/>
            <a:ext cx="135221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2" name="타원 181"/>
          <p:cNvSpPr>
            <a:spLocks noChangeAspect="1"/>
          </p:cNvSpPr>
          <p:nvPr/>
        </p:nvSpPr>
        <p:spPr>
          <a:xfrm>
            <a:off x="293343" y="132707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3" name="타원 182"/>
          <p:cNvSpPr>
            <a:spLocks noChangeAspect="1"/>
          </p:cNvSpPr>
          <p:nvPr/>
        </p:nvSpPr>
        <p:spPr>
          <a:xfrm>
            <a:off x="293343" y="193667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4" name="타원 183"/>
          <p:cNvSpPr>
            <a:spLocks noChangeAspect="1"/>
          </p:cNvSpPr>
          <p:nvPr/>
        </p:nvSpPr>
        <p:spPr>
          <a:xfrm>
            <a:off x="1322043" y="99941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5" name="모서리가 둥근 직사각형 184"/>
          <p:cNvSpPr/>
          <p:nvPr/>
        </p:nvSpPr>
        <p:spPr>
          <a:xfrm>
            <a:off x="825029" y="2103366"/>
            <a:ext cx="196615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186" name="꺾인 연결선 185"/>
          <p:cNvCxnSpPr>
            <a:stCxn id="138" idx="1"/>
            <a:endCxn id="185" idx="1"/>
          </p:cNvCxnSpPr>
          <p:nvPr/>
        </p:nvCxnSpPr>
        <p:spPr>
          <a:xfrm rot="10800000" flipH="1" flipV="1">
            <a:off x="785803" y="1176180"/>
            <a:ext cx="39225" cy="1012793"/>
          </a:xfrm>
          <a:prstGeom prst="bentConnector3">
            <a:avLst>
              <a:gd name="adj1" fmla="val -582792"/>
            </a:avLst>
          </a:prstGeom>
          <a:ln w="3175">
            <a:solidFill>
              <a:srgbClr val="FF0000"/>
            </a:solidFill>
            <a:headEnd type="none" w="med" len="med"/>
            <a:tailEnd type="triangle" w="sm" len="sm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그룹 186"/>
          <p:cNvGrpSpPr/>
          <p:nvPr/>
        </p:nvGrpSpPr>
        <p:grpSpPr>
          <a:xfrm>
            <a:off x="2467431" y="1586097"/>
            <a:ext cx="546080" cy="187731"/>
            <a:chOff x="791030" y="1539338"/>
            <a:chExt cx="546080" cy="187731"/>
          </a:xfrm>
        </p:grpSpPr>
        <p:sp>
          <p:nvSpPr>
            <p:cNvPr id="188" name="Rounded Rectangle 265"/>
            <p:cNvSpPr/>
            <p:nvPr/>
          </p:nvSpPr>
          <p:spPr>
            <a:xfrm>
              <a:off x="941110" y="1539338"/>
              <a:ext cx="39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종일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89" name="Rounded Rectangle 238"/>
            <p:cNvSpPr/>
            <p:nvPr/>
          </p:nvSpPr>
          <p:spPr>
            <a:xfrm>
              <a:off x="791030" y="1579812"/>
              <a:ext cx="112049" cy="10909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90" name="Rounded Rectangle 265"/>
          <p:cNvSpPr/>
          <p:nvPr/>
        </p:nvSpPr>
        <p:spPr>
          <a:xfrm>
            <a:off x="2617511" y="4053072"/>
            <a:ext cx="396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종일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91" name="Freeform 317"/>
          <p:cNvSpPr>
            <a:spLocks noChangeAspect="1" noChangeArrowheads="1"/>
          </p:cNvSpPr>
          <p:nvPr/>
        </p:nvSpPr>
        <p:spPr bwMode="auto">
          <a:xfrm>
            <a:off x="2458730" y="4093712"/>
            <a:ext cx="108000" cy="108000"/>
          </a:xfrm>
          <a:custGeom>
            <a:avLst/>
            <a:gdLst>
              <a:gd name="T0" fmla="*/ 523 w 587"/>
              <a:gd name="T1" fmla="*/ 0 h 586"/>
              <a:gd name="T2" fmla="*/ 69 w 587"/>
              <a:gd name="T3" fmla="*/ 0 h 586"/>
              <a:gd name="T4" fmla="*/ 0 w 587"/>
              <a:gd name="T5" fmla="*/ 68 h 586"/>
              <a:gd name="T6" fmla="*/ 0 w 587"/>
              <a:gd name="T7" fmla="*/ 523 h 586"/>
              <a:gd name="T8" fmla="*/ 69 w 587"/>
              <a:gd name="T9" fmla="*/ 585 h 586"/>
              <a:gd name="T10" fmla="*/ 523 w 587"/>
              <a:gd name="T11" fmla="*/ 585 h 586"/>
              <a:gd name="T12" fmla="*/ 586 w 587"/>
              <a:gd name="T13" fmla="*/ 523 h 586"/>
              <a:gd name="T14" fmla="*/ 586 w 587"/>
              <a:gd name="T15" fmla="*/ 68 h 586"/>
              <a:gd name="T16" fmla="*/ 523 w 587"/>
              <a:gd name="T17" fmla="*/ 0 h 586"/>
              <a:gd name="T18" fmla="*/ 231 w 587"/>
              <a:gd name="T19" fmla="*/ 454 h 586"/>
              <a:gd name="T20" fmla="*/ 69 w 587"/>
              <a:gd name="T21" fmla="*/ 292 h 586"/>
              <a:gd name="T22" fmla="*/ 113 w 587"/>
              <a:gd name="T23" fmla="*/ 249 h 586"/>
              <a:gd name="T24" fmla="*/ 231 w 587"/>
              <a:gd name="T25" fmla="*/ 367 h 586"/>
              <a:gd name="T26" fmla="*/ 480 w 587"/>
              <a:gd name="T27" fmla="*/ 118 h 586"/>
              <a:gd name="T28" fmla="*/ 523 w 587"/>
              <a:gd name="T29" fmla="*/ 161 h 586"/>
              <a:gd name="T30" fmla="*/ 231 w 587"/>
              <a:gd name="T31" fmla="*/ 454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6">
                <a:moveTo>
                  <a:pt x="523" y="0"/>
                </a:moveTo>
                <a:lnTo>
                  <a:pt x="69" y="0"/>
                </a:lnTo>
                <a:cubicBezTo>
                  <a:pt x="32" y="0"/>
                  <a:pt x="0" y="31"/>
                  <a:pt x="0" y="68"/>
                </a:cubicBezTo>
                <a:lnTo>
                  <a:pt x="0" y="523"/>
                </a:lnTo>
                <a:cubicBezTo>
                  <a:pt x="0" y="554"/>
                  <a:pt x="32" y="585"/>
                  <a:pt x="69" y="585"/>
                </a:cubicBezTo>
                <a:lnTo>
                  <a:pt x="523" y="585"/>
                </a:lnTo>
                <a:cubicBezTo>
                  <a:pt x="561" y="585"/>
                  <a:pt x="586" y="554"/>
                  <a:pt x="586" y="523"/>
                </a:cubicBezTo>
                <a:lnTo>
                  <a:pt x="586" y="68"/>
                </a:lnTo>
                <a:cubicBezTo>
                  <a:pt x="586" y="31"/>
                  <a:pt x="561" y="0"/>
                  <a:pt x="523" y="0"/>
                </a:cubicBezTo>
                <a:close/>
                <a:moveTo>
                  <a:pt x="231" y="454"/>
                </a:moveTo>
                <a:lnTo>
                  <a:pt x="69" y="292"/>
                </a:lnTo>
                <a:lnTo>
                  <a:pt x="113" y="249"/>
                </a:lnTo>
                <a:lnTo>
                  <a:pt x="231" y="367"/>
                </a:lnTo>
                <a:lnTo>
                  <a:pt x="480" y="118"/>
                </a:lnTo>
                <a:lnTo>
                  <a:pt x="523" y="161"/>
                </a:lnTo>
                <a:lnTo>
                  <a:pt x="231" y="454"/>
                </a:lnTo>
                <a:close/>
              </a:path>
            </a:pathLst>
          </a:custGeom>
          <a:solidFill>
            <a:sysClr val="window" lastClr="FFFFFF">
              <a:lumMod val="50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576818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92" name="타원 191"/>
          <p:cNvSpPr>
            <a:spLocks noChangeAspect="1"/>
          </p:cNvSpPr>
          <p:nvPr/>
        </p:nvSpPr>
        <p:spPr>
          <a:xfrm>
            <a:off x="2818184" y="404464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3" name="Rectangle 127"/>
          <p:cNvSpPr/>
          <p:nvPr/>
        </p:nvSpPr>
        <p:spPr>
          <a:xfrm>
            <a:off x="764414" y="4060511"/>
            <a:ext cx="749672" cy="187401"/>
          </a:xfrm>
          <a:prstGeom prst="rect">
            <a:avLst/>
          </a:prstGeom>
          <a:solidFill>
            <a:schemeClr val="bg1">
              <a:lumMod val="85000"/>
              <a:alpha val="82000"/>
            </a:schemeClr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marR="0" lvl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94" name="Rectangle 127"/>
          <p:cNvSpPr/>
          <p:nvPr/>
        </p:nvSpPr>
        <p:spPr>
          <a:xfrm>
            <a:off x="1656751" y="4060511"/>
            <a:ext cx="749672" cy="187401"/>
          </a:xfrm>
          <a:prstGeom prst="rect">
            <a:avLst/>
          </a:prstGeom>
          <a:solidFill>
            <a:schemeClr val="bg1">
              <a:lumMod val="85000"/>
              <a:alpha val="82000"/>
            </a:schemeClr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marR="0" lvl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grpSp>
        <p:nvGrpSpPr>
          <p:cNvPr id="195" name="그룹 194"/>
          <p:cNvGrpSpPr/>
          <p:nvPr/>
        </p:nvGrpSpPr>
        <p:grpSpPr>
          <a:xfrm>
            <a:off x="775618" y="1322139"/>
            <a:ext cx="2089334" cy="206613"/>
            <a:chOff x="775618" y="1322139"/>
            <a:chExt cx="2089334" cy="206613"/>
          </a:xfrm>
        </p:grpSpPr>
        <p:grpSp>
          <p:nvGrpSpPr>
            <p:cNvPr id="196" name="그룹 195"/>
            <p:cNvGrpSpPr/>
            <p:nvPr/>
          </p:nvGrpSpPr>
          <p:grpSpPr>
            <a:xfrm>
              <a:off x="1232844" y="1322139"/>
              <a:ext cx="1632108" cy="206613"/>
              <a:chOff x="785804" y="1322139"/>
              <a:chExt cx="1632108" cy="206613"/>
            </a:xfrm>
          </p:grpSpPr>
          <p:sp>
            <p:nvSpPr>
              <p:cNvPr id="198" name="Rectangle 127"/>
              <p:cNvSpPr/>
              <p:nvPr/>
            </p:nvSpPr>
            <p:spPr>
              <a:xfrm>
                <a:off x="785804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2018-01-22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99" name="Rectangle 127"/>
              <p:cNvSpPr/>
              <p:nvPr/>
            </p:nvSpPr>
            <p:spPr>
              <a:xfrm>
                <a:off x="1668240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 2018-02-22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00" name="TextBox 199"/>
              <p:cNvSpPr txBox="1"/>
              <p:nvPr/>
            </p:nvSpPr>
            <p:spPr>
              <a:xfrm>
                <a:off x="1532483" y="1322139"/>
                <a:ext cx="135221" cy="200055"/>
              </a:xfrm>
              <a:prstGeom prst="rect">
                <a:avLst/>
              </a:prstGeom>
              <a:noFill/>
            </p:spPr>
            <p:txBody>
              <a:bodyPr wrap="none" lIns="36000" rIns="36000" rtlCol="0" anchor="ctr">
                <a:spAutoFit/>
              </a:bodyPr>
              <a:lstStyle/>
              <a:p>
                <a:r>
                  <a:rPr lang="en-US" altLang="ko-KR" sz="7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~</a:t>
                </a:r>
                <a:endPara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01" name="Freeform 33"/>
              <p:cNvSpPr>
                <a:spLocks noChangeAspect="1" noEditPoints="1"/>
              </p:cNvSpPr>
              <p:nvPr/>
            </p:nvSpPr>
            <p:spPr bwMode="auto">
              <a:xfrm>
                <a:off x="816633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Freeform 33"/>
              <p:cNvSpPr>
                <a:spLocks noChangeAspect="1" noEditPoints="1"/>
              </p:cNvSpPr>
              <p:nvPr/>
            </p:nvSpPr>
            <p:spPr bwMode="auto">
              <a:xfrm>
                <a:off x="1707644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7" name="Rectangle 127"/>
            <p:cNvSpPr/>
            <p:nvPr/>
          </p:nvSpPr>
          <p:spPr>
            <a:xfrm>
              <a:off x="775618" y="1341351"/>
              <a:ext cx="413076" cy="187401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36000" tIns="0" rIns="0" bIns="0" rtlCol="0" anchor="ctr"/>
            <a:lstStyle/>
            <a:p>
              <a:pPr marR="0" lvl="0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kern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양력 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203" name="그룹 202"/>
          <p:cNvGrpSpPr/>
          <p:nvPr/>
        </p:nvGrpSpPr>
        <p:grpSpPr>
          <a:xfrm>
            <a:off x="775618" y="3808164"/>
            <a:ext cx="2089334" cy="206613"/>
            <a:chOff x="775618" y="1322139"/>
            <a:chExt cx="2089334" cy="206613"/>
          </a:xfrm>
        </p:grpSpPr>
        <p:grpSp>
          <p:nvGrpSpPr>
            <p:cNvPr id="204" name="그룹 203"/>
            <p:cNvGrpSpPr/>
            <p:nvPr/>
          </p:nvGrpSpPr>
          <p:grpSpPr>
            <a:xfrm>
              <a:off x="1232844" y="1322139"/>
              <a:ext cx="1632108" cy="206613"/>
              <a:chOff x="785804" y="1322139"/>
              <a:chExt cx="1632108" cy="206613"/>
            </a:xfrm>
          </p:grpSpPr>
          <p:sp>
            <p:nvSpPr>
              <p:cNvPr id="206" name="Rectangle 127"/>
              <p:cNvSpPr/>
              <p:nvPr/>
            </p:nvSpPr>
            <p:spPr>
              <a:xfrm>
                <a:off x="785804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2018-01-22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07" name="Rectangle 127"/>
              <p:cNvSpPr/>
              <p:nvPr/>
            </p:nvSpPr>
            <p:spPr>
              <a:xfrm>
                <a:off x="1668240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 2018-01-22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08" name="TextBox 207"/>
              <p:cNvSpPr txBox="1"/>
              <p:nvPr/>
            </p:nvSpPr>
            <p:spPr>
              <a:xfrm>
                <a:off x="1532483" y="1322139"/>
                <a:ext cx="135221" cy="200055"/>
              </a:xfrm>
              <a:prstGeom prst="rect">
                <a:avLst/>
              </a:prstGeom>
              <a:noFill/>
            </p:spPr>
            <p:txBody>
              <a:bodyPr wrap="none" lIns="36000" rIns="36000" rtlCol="0" anchor="ctr">
                <a:spAutoFit/>
              </a:bodyPr>
              <a:lstStyle/>
              <a:p>
                <a:r>
                  <a:rPr lang="en-US" altLang="ko-KR" sz="7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~</a:t>
                </a:r>
                <a:endPara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09" name="Freeform 33"/>
              <p:cNvSpPr>
                <a:spLocks noChangeAspect="1" noEditPoints="1"/>
              </p:cNvSpPr>
              <p:nvPr/>
            </p:nvSpPr>
            <p:spPr bwMode="auto">
              <a:xfrm>
                <a:off x="816633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0" name="Freeform 33"/>
              <p:cNvSpPr>
                <a:spLocks noChangeAspect="1" noEditPoints="1"/>
              </p:cNvSpPr>
              <p:nvPr/>
            </p:nvSpPr>
            <p:spPr bwMode="auto">
              <a:xfrm>
                <a:off x="1707644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5" name="Rectangle 127"/>
            <p:cNvSpPr/>
            <p:nvPr/>
          </p:nvSpPr>
          <p:spPr>
            <a:xfrm>
              <a:off x="775618" y="1341351"/>
              <a:ext cx="413076" cy="187401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36000" tIns="0" rIns="0" bIns="0" rtlCol="0" anchor="ctr"/>
            <a:lstStyle/>
            <a:p>
              <a:pPr marR="0" lvl="0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kern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양력 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211" name="모서리가 둥근 직사각형 210"/>
          <p:cNvSpPr/>
          <p:nvPr/>
        </p:nvSpPr>
        <p:spPr>
          <a:xfrm>
            <a:off x="825029" y="1903341"/>
            <a:ext cx="1066473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2017232" y="1903341"/>
            <a:ext cx="1066473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3" name="모서리가 둥근 직사각형 212"/>
          <p:cNvSpPr/>
          <p:nvPr/>
        </p:nvSpPr>
        <p:spPr>
          <a:xfrm>
            <a:off x="2016876" y="4408904"/>
            <a:ext cx="196615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214" name="꺾인 연결선 213"/>
          <p:cNvCxnSpPr/>
          <p:nvPr/>
        </p:nvCxnSpPr>
        <p:spPr>
          <a:xfrm rot="5400000">
            <a:off x="2225817" y="4192350"/>
            <a:ext cx="289836" cy="298858"/>
          </a:xfrm>
          <a:prstGeom prst="bentConnector2">
            <a:avLst/>
          </a:prstGeom>
          <a:ln w="3175">
            <a:solidFill>
              <a:srgbClr val="FF0000"/>
            </a:solidFill>
            <a:headEnd type="none" w="med" len="med"/>
            <a:tailEnd type="triangle" w="sm" len="sm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TextBox 214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en-US" altLang="ko-KR" sz="80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CA6.2.1.1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</p:txBody>
      </p:sp>
      <p:sp>
        <p:nvSpPr>
          <p:cNvPr id="216" name="타원 215"/>
          <p:cNvSpPr>
            <a:spLocks noChangeAspect="1"/>
          </p:cNvSpPr>
          <p:nvPr/>
        </p:nvSpPr>
        <p:spPr>
          <a:xfrm>
            <a:off x="2809848" y="126040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10538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57" name="Group 3"/>
          <p:cNvGraphicFramePr>
            <a:graphicFrameLocks noGrp="1"/>
          </p:cNvGraphicFramePr>
          <p:nvPr>
            <p:extLst/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1/22_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6" name="TextBox 265"/>
          <p:cNvSpPr txBox="1"/>
          <p:nvPr/>
        </p:nvSpPr>
        <p:spPr>
          <a:xfrm>
            <a:off x="1247775" y="90024"/>
            <a:ext cx="16292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#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반복설정 레이어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_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매주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매월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매년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9296400" y="3226142"/>
            <a:ext cx="283307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해당 화면은 일정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/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설비와 동일하므로 디자인 작업 필요 없음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61" name="직사각형"/>
          <p:cNvSpPr/>
          <p:nvPr/>
        </p:nvSpPr>
        <p:spPr>
          <a:xfrm>
            <a:off x="336583" y="577308"/>
            <a:ext cx="3600570" cy="2920272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ysClr val="windowText" lastClr="000000">
                <a:lumMod val="65000"/>
                <a:lumOff val="35000"/>
              </a:sys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marL="0" marR="0" lvl="0" indent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62" name="텍스트 상자 31"/>
          <p:cNvSpPr txBox="1"/>
          <p:nvPr/>
        </p:nvSpPr>
        <p:spPr>
          <a:xfrm>
            <a:off x="477210" y="701897"/>
            <a:ext cx="198347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10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반복설정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263" name="Group 291"/>
          <p:cNvGrpSpPr/>
          <p:nvPr/>
        </p:nvGrpSpPr>
        <p:grpSpPr>
          <a:xfrm>
            <a:off x="1474821" y="3031946"/>
            <a:ext cx="1143107" cy="187731"/>
            <a:chOff x="519769" y="7004980"/>
            <a:chExt cx="1143107" cy="187731"/>
          </a:xfrm>
        </p:grpSpPr>
        <p:sp>
          <p:nvSpPr>
            <p:cNvPr id="264" name="Rounded Rectangle 292"/>
            <p:cNvSpPr/>
            <p:nvPr/>
          </p:nvSpPr>
          <p:spPr>
            <a:xfrm>
              <a:off x="1122876" y="7004980"/>
              <a:ext cx="540000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/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취소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65" name="Rounded Rectangle 313"/>
            <p:cNvSpPr/>
            <p:nvPr/>
          </p:nvSpPr>
          <p:spPr>
            <a:xfrm>
              <a:off x="519769" y="7004980"/>
              <a:ext cx="536766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>
                <a:lumMod val="85000"/>
              </a:sysClr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설정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269" name="Rectangle 127"/>
          <p:cNvSpPr/>
          <p:nvPr/>
        </p:nvSpPr>
        <p:spPr>
          <a:xfrm>
            <a:off x="785804" y="1082480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매주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cxnSp>
        <p:nvCxnSpPr>
          <p:cNvPr id="274" name="직선 연결선 273"/>
          <p:cNvCxnSpPr/>
          <p:nvPr/>
        </p:nvCxnSpPr>
        <p:spPr>
          <a:xfrm>
            <a:off x="417852" y="902542"/>
            <a:ext cx="3400002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/>
          <p:cNvSpPr txBox="1"/>
          <p:nvPr/>
        </p:nvSpPr>
        <p:spPr>
          <a:xfrm>
            <a:off x="467913" y="955515"/>
            <a:ext cx="252239" cy="630942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빈도</a:t>
            </a:r>
            <a:endParaRPr lang="en-US" altLang="ko-KR" sz="7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주기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467913" y="2391250"/>
            <a:ext cx="252239" cy="313868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요약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77" name="직선 연결선 276"/>
          <p:cNvCxnSpPr/>
          <p:nvPr/>
        </p:nvCxnSpPr>
        <p:spPr>
          <a:xfrm>
            <a:off x="417852" y="2433527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" name="직선 연결선 277"/>
          <p:cNvCxnSpPr/>
          <p:nvPr/>
        </p:nvCxnSpPr>
        <p:spPr>
          <a:xfrm>
            <a:off x="417852" y="2907237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9" name="TextBox 278"/>
          <p:cNvSpPr txBox="1"/>
          <p:nvPr/>
        </p:nvSpPr>
        <p:spPr>
          <a:xfrm>
            <a:off x="794081" y="2460117"/>
            <a:ext cx="2281641" cy="415498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마다 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일요일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반복</a:t>
            </a:r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80" name="Freeform 11"/>
          <p:cNvSpPr>
            <a:spLocks noChangeAspect="1" noChangeArrowheads="1"/>
          </p:cNvSpPr>
          <p:nvPr/>
        </p:nvSpPr>
        <p:spPr bwMode="auto">
          <a:xfrm>
            <a:off x="3683649" y="727431"/>
            <a:ext cx="97398" cy="97398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1" name="Rectangle 127"/>
          <p:cNvSpPr/>
          <p:nvPr/>
        </p:nvSpPr>
        <p:spPr>
          <a:xfrm>
            <a:off x="775618" y="2118059"/>
            <a:ext cx="759858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11:00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282" name="Rectangle 127"/>
          <p:cNvSpPr/>
          <p:nvPr/>
        </p:nvSpPr>
        <p:spPr>
          <a:xfrm>
            <a:off x="1668240" y="2118059"/>
            <a:ext cx="749672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11:30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283" name="TextBox 282"/>
          <p:cNvSpPr txBox="1"/>
          <p:nvPr/>
        </p:nvSpPr>
        <p:spPr>
          <a:xfrm>
            <a:off x="1532483" y="2106732"/>
            <a:ext cx="135221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4" name="Rectangle 127"/>
          <p:cNvSpPr/>
          <p:nvPr/>
        </p:nvSpPr>
        <p:spPr>
          <a:xfrm>
            <a:off x="785804" y="1349181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1</a:t>
            </a: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주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85" name="Rounded Rectangle 200"/>
          <p:cNvSpPr/>
          <p:nvPr/>
        </p:nvSpPr>
        <p:spPr>
          <a:xfrm>
            <a:off x="946596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86" name="Rounded Rectangle 201"/>
          <p:cNvSpPr/>
          <p:nvPr/>
        </p:nvSpPr>
        <p:spPr>
          <a:xfrm>
            <a:off x="796763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87" name="Rounded Rectangle 202"/>
          <p:cNvSpPr/>
          <p:nvPr/>
        </p:nvSpPr>
        <p:spPr>
          <a:xfrm>
            <a:off x="1255030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월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88" name="Rounded Rectangle 203"/>
          <p:cNvSpPr/>
          <p:nvPr/>
        </p:nvSpPr>
        <p:spPr>
          <a:xfrm>
            <a:off x="1105197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89" name="Rounded Rectangle 204"/>
          <p:cNvSpPr/>
          <p:nvPr/>
        </p:nvSpPr>
        <p:spPr>
          <a:xfrm>
            <a:off x="1563464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화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0" name="Rounded Rectangle 205"/>
          <p:cNvSpPr/>
          <p:nvPr/>
        </p:nvSpPr>
        <p:spPr>
          <a:xfrm>
            <a:off x="1413631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1" name="Rounded Rectangle 206"/>
          <p:cNvSpPr/>
          <p:nvPr/>
        </p:nvSpPr>
        <p:spPr>
          <a:xfrm>
            <a:off x="1871898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수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2" name="Rounded Rectangle 207"/>
          <p:cNvSpPr/>
          <p:nvPr/>
        </p:nvSpPr>
        <p:spPr>
          <a:xfrm>
            <a:off x="1722065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3" name="Rounded Rectangle 208"/>
          <p:cNvSpPr/>
          <p:nvPr/>
        </p:nvSpPr>
        <p:spPr>
          <a:xfrm>
            <a:off x="2180332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목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4" name="Rounded Rectangle 210"/>
          <p:cNvSpPr/>
          <p:nvPr/>
        </p:nvSpPr>
        <p:spPr>
          <a:xfrm>
            <a:off x="2030499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5" name="Rounded Rectangle 211"/>
          <p:cNvSpPr/>
          <p:nvPr/>
        </p:nvSpPr>
        <p:spPr>
          <a:xfrm>
            <a:off x="2488766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금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6" name="Rounded Rectangle 214"/>
          <p:cNvSpPr/>
          <p:nvPr/>
        </p:nvSpPr>
        <p:spPr>
          <a:xfrm>
            <a:off x="2338933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7" name="Rounded Rectangle 225"/>
          <p:cNvSpPr/>
          <p:nvPr/>
        </p:nvSpPr>
        <p:spPr>
          <a:xfrm>
            <a:off x="2797200" y="1585886"/>
            <a:ext cx="108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defTabSz="576818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토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8" name="Rounded Rectangle 227"/>
          <p:cNvSpPr/>
          <p:nvPr/>
        </p:nvSpPr>
        <p:spPr>
          <a:xfrm>
            <a:off x="2647367" y="1621475"/>
            <a:ext cx="108000" cy="108000"/>
          </a:xfrm>
          <a:prstGeom prst="roundRect">
            <a:avLst>
              <a:gd name="adj" fmla="val 8420"/>
            </a:avLst>
          </a:prstGeom>
          <a:solidFill>
            <a:sysClr val="window" lastClr="FFFFFF"/>
          </a:solidFill>
          <a:ln w="12700" cap="flat" cmpd="sng">
            <a:solidFill>
              <a:sysClr val="window" lastClr="FFFFFF">
                <a:lumMod val="50000"/>
              </a:sys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576818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9" name="Freeform 317"/>
          <p:cNvSpPr>
            <a:spLocks noChangeAspect="1" noChangeArrowheads="1"/>
          </p:cNvSpPr>
          <p:nvPr/>
        </p:nvSpPr>
        <p:spPr bwMode="auto">
          <a:xfrm>
            <a:off x="796763" y="1621475"/>
            <a:ext cx="108000" cy="108000"/>
          </a:xfrm>
          <a:custGeom>
            <a:avLst/>
            <a:gdLst>
              <a:gd name="T0" fmla="*/ 523 w 587"/>
              <a:gd name="T1" fmla="*/ 0 h 586"/>
              <a:gd name="T2" fmla="*/ 69 w 587"/>
              <a:gd name="T3" fmla="*/ 0 h 586"/>
              <a:gd name="T4" fmla="*/ 0 w 587"/>
              <a:gd name="T5" fmla="*/ 68 h 586"/>
              <a:gd name="T6" fmla="*/ 0 w 587"/>
              <a:gd name="T7" fmla="*/ 523 h 586"/>
              <a:gd name="T8" fmla="*/ 69 w 587"/>
              <a:gd name="T9" fmla="*/ 585 h 586"/>
              <a:gd name="T10" fmla="*/ 523 w 587"/>
              <a:gd name="T11" fmla="*/ 585 h 586"/>
              <a:gd name="T12" fmla="*/ 586 w 587"/>
              <a:gd name="T13" fmla="*/ 523 h 586"/>
              <a:gd name="T14" fmla="*/ 586 w 587"/>
              <a:gd name="T15" fmla="*/ 68 h 586"/>
              <a:gd name="T16" fmla="*/ 523 w 587"/>
              <a:gd name="T17" fmla="*/ 0 h 586"/>
              <a:gd name="T18" fmla="*/ 231 w 587"/>
              <a:gd name="T19" fmla="*/ 454 h 586"/>
              <a:gd name="T20" fmla="*/ 69 w 587"/>
              <a:gd name="T21" fmla="*/ 292 h 586"/>
              <a:gd name="T22" fmla="*/ 113 w 587"/>
              <a:gd name="T23" fmla="*/ 249 h 586"/>
              <a:gd name="T24" fmla="*/ 231 w 587"/>
              <a:gd name="T25" fmla="*/ 367 h 586"/>
              <a:gd name="T26" fmla="*/ 480 w 587"/>
              <a:gd name="T27" fmla="*/ 118 h 586"/>
              <a:gd name="T28" fmla="*/ 523 w 587"/>
              <a:gd name="T29" fmla="*/ 161 h 586"/>
              <a:gd name="T30" fmla="*/ 231 w 587"/>
              <a:gd name="T31" fmla="*/ 454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6">
                <a:moveTo>
                  <a:pt x="523" y="0"/>
                </a:moveTo>
                <a:lnTo>
                  <a:pt x="69" y="0"/>
                </a:lnTo>
                <a:cubicBezTo>
                  <a:pt x="32" y="0"/>
                  <a:pt x="0" y="31"/>
                  <a:pt x="0" y="68"/>
                </a:cubicBezTo>
                <a:lnTo>
                  <a:pt x="0" y="523"/>
                </a:lnTo>
                <a:cubicBezTo>
                  <a:pt x="0" y="554"/>
                  <a:pt x="32" y="585"/>
                  <a:pt x="69" y="585"/>
                </a:cubicBezTo>
                <a:lnTo>
                  <a:pt x="523" y="585"/>
                </a:lnTo>
                <a:cubicBezTo>
                  <a:pt x="561" y="585"/>
                  <a:pt x="586" y="554"/>
                  <a:pt x="586" y="523"/>
                </a:cubicBezTo>
                <a:lnTo>
                  <a:pt x="586" y="68"/>
                </a:lnTo>
                <a:cubicBezTo>
                  <a:pt x="586" y="31"/>
                  <a:pt x="561" y="0"/>
                  <a:pt x="523" y="0"/>
                </a:cubicBezTo>
                <a:close/>
                <a:moveTo>
                  <a:pt x="231" y="454"/>
                </a:moveTo>
                <a:lnTo>
                  <a:pt x="69" y="292"/>
                </a:lnTo>
                <a:lnTo>
                  <a:pt x="113" y="249"/>
                </a:lnTo>
                <a:lnTo>
                  <a:pt x="231" y="367"/>
                </a:lnTo>
                <a:lnTo>
                  <a:pt x="480" y="118"/>
                </a:lnTo>
                <a:lnTo>
                  <a:pt x="523" y="161"/>
                </a:lnTo>
                <a:lnTo>
                  <a:pt x="231" y="454"/>
                </a:lnTo>
                <a:close/>
              </a:path>
            </a:pathLst>
          </a:custGeom>
          <a:solidFill>
            <a:sysClr val="window" lastClr="FFFFFF">
              <a:lumMod val="50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576818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765762" y="1593615"/>
            <a:ext cx="2180638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01" name="TextBox 300"/>
          <p:cNvSpPr txBox="1"/>
          <p:nvPr/>
        </p:nvSpPr>
        <p:spPr>
          <a:xfrm>
            <a:off x="467913" y="1768564"/>
            <a:ext cx="252239" cy="361637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범위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2" name="직사각형"/>
          <p:cNvSpPr/>
          <p:nvPr/>
        </p:nvSpPr>
        <p:spPr>
          <a:xfrm>
            <a:off x="336583" y="3742682"/>
            <a:ext cx="3600570" cy="2920272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ysClr val="windowText" lastClr="000000">
                <a:lumMod val="65000"/>
                <a:lumOff val="35000"/>
              </a:sys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marL="0" marR="0" lvl="0" indent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03" name="텍스트 상자 31"/>
          <p:cNvSpPr txBox="1"/>
          <p:nvPr/>
        </p:nvSpPr>
        <p:spPr>
          <a:xfrm>
            <a:off x="477210" y="3867271"/>
            <a:ext cx="198347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10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반복설정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304" name="Group 291"/>
          <p:cNvGrpSpPr/>
          <p:nvPr/>
        </p:nvGrpSpPr>
        <p:grpSpPr>
          <a:xfrm>
            <a:off x="1474821" y="6197320"/>
            <a:ext cx="1143107" cy="187731"/>
            <a:chOff x="519769" y="7004980"/>
            <a:chExt cx="1143107" cy="187731"/>
          </a:xfrm>
        </p:grpSpPr>
        <p:sp>
          <p:nvSpPr>
            <p:cNvPr id="305" name="Rounded Rectangle 292"/>
            <p:cNvSpPr/>
            <p:nvPr/>
          </p:nvSpPr>
          <p:spPr>
            <a:xfrm>
              <a:off x="1122876" y="7004980"/>
              <a:ext cx="540000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/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취소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6" name="Rounded Rectangle 313"/>
            <p:cNvSpPr/>
            <p:nvPr/>
          </p:nvSpPr>
          <p:spPr>
            <a:xfrm>
              <a:off x="519769" y="7004980"/>
              <a:ext cx="536766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>
                <a:lumMod val="85000"/>
              </a:sysClr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설정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307" name="Rectangle 127"/>
          <p:cNvSpPr/>
          <p:nvPr/>
        </p:nvSpPr>
        <p:spPr>
          <a:xfrm>
            <a:off x="785804" y="4247854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매월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cxnSp>
        <p:nvCxnSpPr>
          <p:cNvPr id="308" name="직선 연결선 307"/>
          <p:cNvCxnSpPr/>
          <p:nvPr/>
        </p:nvCxnSpPr>
        <p:spPr>
          <a:xfrm>
            <a:off x="417852" y="4067916"/>
            <a:ext cx="3400002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9" name="TextBox 308"/>
          <p:cNvSpPr txBox="1"/>
          <p:nvPr/>
        </p:nvSpPr>
        <p:spPr>
          <a:xfrm>
            <a:off x="467913" y="4120889"/>
            <a:ext cx="252239" cy="630942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빈도</a:t>
            </a:r>
            <a:endParaRPr lang="en-US" altLang="ko-KR" sz="7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주기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467913" y="5556624"/>
            <a:ext cx="252239" cy="313868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요약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11" name="직선 연결선 310"/>
          <p:cNvCxnSpPr/>
          <p:nvPr/>
        </p:nvCxnSpPr>
        <p:spPr>
          <a:xfrm>
            <a:off x="417852" y="5598901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직선 연결선 311"/>
          <p:cNvCxnSpPr/>
          <p:nvPr/>
        </p:nvCxnSpPr>
        <p:spPr>
          <a:xfrm>
            <a:off x="417852" y="6072611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TextBox 312"/>
          <p:cNvSpPr txBox="1"/>
          <p:nvPr/>
        </p:nvSpPr>
        <p:spPr>
          <a:xfrm>
            <a:off x="794081" y="5625491"/>
            <a:ext cx="2281641" cy="415498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개월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마다 </a:t>
            </a:r>
            <a:r>
              <a:rPr lang="en-US" altLang="ko-KR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22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반복</a:t>
            </a:r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Freeform 11"/>
          <p:cNvSpPr>
            <a:spLocks noChangeAspect="1" noChangeArrowheads="1"/>
          </p:cNvSpPr>
          <p:nvPr/>
        </p:nvSpPr>
        <p:spPr bwMode="auto">
          <a:xfrm>
            <a:off x="3683649" y="3892805"/>
            <a:ext cx="97398" cy="97398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15" name="Rectangle 127"/>
          <p:cNvSpPr/>
          <p:nvPr/>
        </p:nvSpPr>
        <p:spPr>
          <a:xfrm>
            <a:off x="775618" y="5283433"/>
            <a:ext cx="759858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11:00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316" name="Rectangle 127"/>
          <p:cNvSpPr/>
          <p:nvPr/>
        </p:nvSpPr>
        <p:spPr>
          <a:xfrm>
            <a:off x="1668240" y="5283433"/>
            <a:ext cx="749672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11:30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1532483" y="5272106"/>
            <a:ext cx="135221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18" name="Rectangle 127"/>
          <p:cNvSpPr/>
          <p:nvPr/>
        </p:nvSpPr>
        <p:spPr>
          <a:xfrm>
            <a:off x="785804" y="4514555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1</a:t>
            </a:r>
            <a:r>
              <a:rPr kumimoji="0" lang="ko-KR" altLang="en-US" sz="700" kern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개월</a:t>
            </a: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467913" y="4933938"/>
            <a:ext cx="252239" cy="361637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범위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20" name="그룹 319"/>
          <p:cNvGrpSpPr/>
          <p:nvPr/>
        </p:nvGrpSpPr>
        <p:grpSpPr>
          <a:xfrm>
            <a:off x="784504" y="4751546"/>
            <a:ext cx="1387469" cy="187731"/>
            <a:chOff x="4310659" y="5220176"/>
            <a:chExt cx="1387469" cy="187731"/>
          </a:xfrm>
        </p:grpSpPr>
        <p:sp>
          <p:nvSpPr>
            <p:cNvPr id="321" name="Freeform 30"/>
            <p:cNvSpPr>
              <a:spLocks noChangeAspect="1" noChangeArrowheads="1"/>
            </p:cNvSpPr>
            <p:nvPr/>
          </p:nvSpPr>
          <p:spPr bwMode="auto">
            <a:xfrm>
              <a:off x="4310659" y="5242042"/>
              <a:ext cx="144000" cy="144000"/>
            </a:xfrm>
            <a:custGeom>
              <a:avLst/>
              <a:gdLst>
                <a:gd name="T0" fmla="*/ 259 w 514"/>
                <a:gd name="T1" fmla="*/ 132 h 514"/>
                <a:gd name="T2" fmla="*/ 127 w 514"/>
                <a:gd name="T3" fmla="*/ 259 h 514"/>
                <a:gd name="T4" fmla="*/ 259 w 514"/>
                <a:gd name="T5" fmla="*/ 386 h 514"/>
                <a:gd name="T6" fmla="*/ 386 w 514"/>
                <a:gd name="T7" fmla="*/ 259 h 514"/>
                <a:gd name="T8" fmla="*/ 259 w 514"/>
                <a:gd name="T9" fmla="*/ 132 h 514"/>
                <a:gd name="T10" fmla="*/ 259 w 514"/>
                <a:gd name="T11" fmla="*/ 0 h 514"/>
                <a:gd name="T12" fmla="*/ 0 w 514"/>
                <a:gd name="T13" fmla="*/ 259 h 514"/>
                <a:gd name="T14" fmla="*/ 259 w 514"/>
                <a:gd name="T15" fmla="*/ 513 h 514"/>
                <a:gd name="T16" fmla="*/ 513 w 514"/>
                <a:gd name="T17" fmla="*/ 259 h 514"/>
                <a:gd name="T18" fmla="*/ 259 w 514"/>
                <a:gd name="T19" fmla="*/ 0 h 514"/>
                <a:gd name="T20" fmla="*/ 259 w 514"/>
                <a:gd name="T21" fmla="*/ 464 h 514"/>
                <a:gd name="T22" fmla="*/ 54 w 514"/>
                <a:gd name="T23" fmla="*/ 259 h 514"/>
                <a:gd name="T24" fmla="*/ 259 w 514"/>
                <a:gd name="T25" fmla="*/ 54 h 514"/>
                <a:gd name="T26" fmla="*/ 459 w 514"/>
                <a:gd name="T27" fmla="*/ 259 h 514"/>
                <a:gd name="T28" fmla="*/ 259 w 514"/>
                <a:gd name="T29" fmla="*/ 464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4" h="514">
                  <a:moveTo>
                    <a:pt x="259" y="132"/>
                  </a:moveTo>
                  <a:cubicBezTo>
                    <a:pt x="186" y="132"/>
                    <a:pt x="127" y="188"/>
                    <a:pt x="127" y="259"/>
                  </a:cubicBezTo>
                  <a:cubicBezTo>
                    <a:pt x="127" y="330"/>
                    <a:pt x="188" y="386"/>
                    <a:pt x="259" y="386"/>
                  </a:cubicBezTo>
                  <a:cubicBezTo>
                    <a:pt x="330" y="386"/>
                    <a:pt x="386" y="330"/>
                    <a:pt x="386" y="259"/>
                  </a:cubicBezTo>
                  <a:cubicBezTo>
                    <a:pt x="386" y="188"/>
                    <a:pt x="327" y="132"/>
                    <a:pt x="259" y="132"/>
                  </a:cubicBezTo>
                  <a:close/>
                  <a:moveTo>
                    <a:pt x="259" y="0"/>
                  </a:moveTo>
                  <a:cubicBezTo>
                    <a:pt x="117" y="0"/>
                    <a:pt x="0" y="118"/>
                    <a:pt x="0" y="259"/>
                  </a:cubicBezTo>
                  <a:cubicBezTo>
                    <a:pt x="0" y="401"/>
                    <a:pt x="120" y="513"/>
                    <a:pt x="259" y="513"/>
                  </a:cubicBezTo>
                  <a:cubicBezTo>
                    <a:pt x="398" y="513"/>
                    <a:pt x="513" y="401"/>
                    <a:pt x="513" y="259"/>
                  </a:cubicBezTo>
                  <a:cubicBezTo>
                    <a:pt x="513" y="118"/>
                    <a:pt x="396" y="0"/>
                    <a:pt x="259" y="0"/>
                  </a:cubicBezTo>
                  <a:close/>
                  <a:moveTo>
                    <a:pt x="259" y="464"/>
                  </a:moveTo>
                  <a:cubicBezTo>
                    <a:pt x="146" y="464"/>
                    <a:pt x="54" y="372"/>
                    <a:pt x="54" y="259"/>
                  </a:cubicBezTo>
                  <a:cubicBezTo>
                    <a:pt x="54" y="147"/>
                    <a:pt x="146" y="54"/>
                    <a:pt x="259" y="54"/>
                  </a:cubicBezTo>
                  <a:cubicBezTo>
                    <a:pt x="371" y="54"/>
                    <a:pt x="459" y="147"/>
                    <a:pt x="459" y="259"/>
                  </a:cubicBezTo>
                  <a:cubicBezTo>
                    <a:pt x="459" y="372"/>
                    <a:pt x="371" y="464"/>
                    <a:pt x="259" y="464"/>
                  </a:cubicBezTo>
                  <a:close/>
                </a:path>
              </a:pathLst>
            </a:custGeom>
            <a:solidFill>
              <a:sysClr val="window" lastClr="FFFFFF">
                <a:lumMod val="50000"/>
              </a:sys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322" name="Freeform 29"/>
            <p:cNvSpPr>
              <a:spLocks noChangeAspect="1" noChangeArrowheads="1"/>
            </p:cNvSpPr>
            <p:nvPr/>
          </p:nvSpPr>
          <p:spPr bwMode="auto">
            <a:xfrm>
              <a:off x="4759006" y="5242042"/>
              <a:ext cx="141538" cy="144000"/>
            </a:xfrm>
            <a:custGeom>
              <a:avLst/>
              <a:gdLst>
                <a:gd name="T0" fmla="*/ 254 w 509"/>
                <a:gd name="T1" fmla="*/ 0 h 514"/>
                <a:gd name="T2" fmla="*/ 0 w 509"/>
                <a:gd name="T3" fmla="*/ 259 h 514"/>
                <a:gd name="T4" fmla="*/ 254 w 509"/>
                <a:gd name="T5" fmla="*/ 513 h 514"/>
                <a:gd name="T6" fmla="*/ 508 w 509"/>
                <a:gd name="T7" fmla="*/ 259 h 514"/>
                <a:gd name="T8" fmla="*/ 254 w 509"/>
                <a:gd name="T9" fmla="*/ 0 h 514"/>
                <a:gd name="T10" fmla="*/ 254 w 509"/>
                <a:gd name="T11" fmla="*/ 464 h 514"/>
                <a:gd name="T12" fmla="*/ 49 w 509"/>
                <a:gd name="T13" fmla="*/ 259 h 514"/>
                <a:gd name="T14" fmla="*/ 254 w 509"/>
                <a:gd name="T15" fmla="*/ 54 h 514"/>
                <a:gd name="T16" fmla="*/ 459 w 509"/>
                <a:gd name="T17" fmla="*/ 259 h 514"/>
                <a:gd name="T18" fmla="*/ 254 w 509"/>
                <a:gd name="T19" fmla="*/ 464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4">
                  <a:moveTo>
                    <a:pt x="254" y="0"/>
                  </a:moveTo>
                  <a:cubicBezTo>
                    <a:pt x="112" y="0"/>
                    <a:pt x="0" y="118"/>
                    <a:pt x="0" y="259"/>
                  </a:cubicBezTo>
                  <a:cubicBezTo>
                    <a:pt x="0" y="401"/>
                    <a:pt x="112" y="513"/>
                    <a:pt x="254" y="513"/>
                  </a:cubicBezTo>
                  <a:cubicBezTo>
                    <a:pt x="396" y="513"/>
                    <a:pt x="508" y="401"/>
                    <a:pt x="508" y="259"/>
                  </a:cubicBezTo>
                  <a:cubicBezTo>
                    <a:pt x="508" y="118"/>
                    <a:pt x="396" y="0"/>
                    <a:pt x="254" y="0"/>
                  </a:cubicBezTo>
                  <a:close/>
                  <a:moveTo>
                    <a:pt x="254" y="464"/>
                  </a:moveTo>
                  <a:cubicBezTo>
                    <a:pt x="142" y="464"/>
                    <a:pt x="49" y="372"/>
                    <a:pt x="49" y="259"/>
                  </a:cubicBezTo>
                  <a:cubicBezTo>
                    <a:pt x="49" y="147"/>
                    <a:pt x="142" y="54"/>
                    <a:pt x="254" y="54"/>
                  </a:cubicBezTo>
                  <a:cubicBezTo>
                    <a:pt x="366" y="54"/>
                    <a:pt x="459" y="147"/>
                    <a:pt x="459" y="259"/>
                  </a:cubicBezTo>
                  <a:cubicBezTo>
                    <a:pt x="459" y="372"/>
                    <a:pt x="366" y="464"/>
                    <a:pt x="254" y="464"/>
                  </a:cubicBezTo>
                  <a:close/>
                </a:path>
              </a:pathLst>
            </a:custGeom>
            <a:solidFill>
              <a:sysClr val="window" lastClr="FFFFFF">
                <a:lumMod val="50000"/>
              </a:sys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323" name="Rounded Rectangle 333"/>
            <p:cNvSpPr/>
            <p:nvPr/>
          </p:nvSpPr>
          <p:spPr>
            <a:xfrm>
              <a:off x="4490073" y="5220176"/>
              <a:ext cx="39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defTabSz="576818" fontAlgn="auto" latinLnBrk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22</a:t>
              </a:r>
              <a:r>
                <a:rPr kumimoji="0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일</a:t>
              </a:r>
              <a:endParaRPr kumimoji="0" 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endParaRPr>
            </a:p>
          </p:txBody>
        </p:sp>
        <p:sp>
          <p:nvSpPr>
            <p:cNvPr id="324" name="Rounded Rectangle 334"/>
            <p:cNvSpPr/>
            <p:nvPr/>
          </p:nvSpPr>
          <p:spPr>
            <a:xfrm>
              <a:off x="4942128" y="5220176"/>
              <a:ext cx="75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defTabSz="576818" fontAlgn="auto" latinLnBrk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4</a:t>
              </a:r>
              <a:r>
                <a:rPr kumimoji="0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번째 월요일</a:t>
              </a:r>
              <a:endParaRPr kumimoji="0" 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endParaRPr>
            </a:p>
          </p:txBody>
        </p:sp>
      </p:grpSp>
      <p:sp>
        <p:nvSpPr>
          <p:cNvPr id="325" name="직사각형"/>
          <p:cNvSpPr/>
          <p:nvPr/>
        </p:nvSpPr>
        <p:spPr>
          <a:xfrm>
            <a:off x="4734088" y="574616"/>
            <a:ext cx="3600570" cy="2920272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ysClr val="windowText" lastClr="000000">
                <a:lumMod val="65000"/>
                <a:lumOff val="35000"/>
              </a:sys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marL="0" marR="0" lvl="0" indent="0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26" name="텍스트 상자 31"/>
          <p:cNvSpPr txBox="1"/>
          <p:nvPr/>
        </p:nvSpPr>
        <p:spPr>
          <a:xfrm>
            <a:off x="4874715" y="699205"/>
            <a:ext cx="198347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</a:pPr>
            <a:r>
              <a:rPr lang="ko-KR" altLang="en-US" sz="10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반복설정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grpSp>
        <p:nvGrpSpPr>
          <p:cNvPr id="327" name="Group 291"/>
          <p:cNvGrpSpPr/>
          <p:nvPr/>
        </p:nvGrpSpPr>
        <p:grpSpPr>
          <a:xfrm>
            <a:off x="5872326" y="3029254"/>
            <a:ext cx="1143107" cy="187731"/>
            <a:chOff x="519769" y="7004980"/>
            <a:chExt cx="1143107" cy="187731"/>
          </a:xfrm>
        </p:grpSpPr>
        <p:sp>
          <p:nvSpPr>
            <p:cNvPr id="328" name="Rounded Rectangle 292"/>
            <p:cNvSpPr/>
            <p:nvPr/>
          </p:nvSpPr>
          <p:spPr>
            <a:xfrm>
              <a:off x="1122876" y="7004980"/>
              <a:ext cx="540000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/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취소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29" name="Rounded Rectangle 313"/>
            <p:cNvSpPr/>
            <p:nvPr/>
          </p:nvSpPr>
          <p:spPr>
            <a:xfrm>
              <a:off x="519769" y="7004980"/>
              <a:ext cx="536766" cy="187731"/>
            </a:xfrm>
            <a:prstGeom prst="roundRect">
              <a:avLst>
                <a:gd name="adj" fmla="val 8420"/>
              </a:avLst>
            </a:prstGeom>
            <a:solidFill>
              <a:sysClr val="window" lastClr="FFFFFF">
                <a:lumMod val="85000"/>
              </a:sysClr>
            </a:solidFill>
            <a:ln w="12700" cap="flat" cmpd="sng">
              <a:solidFill>
                <a:sysClr val="window" lastClr="FFFFFF">
                  <a:lumMod val="50000"/>
                </a:sys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설정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330" name="Rectangle 127"/>
          <p:cNvSpPr/>
          <p:nvPr/>
        </p:nvSpPr>
        <p:spPr>
          <a:xfrm>
            <a:off x="5183309" y="1079788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매년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cxnSp>
        <p:nvCxnSpPr>
          <p:cNvPr id="331" name="직선 연결선 330"/>
          <p:cNvCxnSpPr/>
          <p:nvPr/>
        </p:nvCxnSpPr>
        <p:spPr>
          <a:xfrm>
            <a:off x="4815357" y="899850"/>
            <a:ext cx="3400002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2" name="TextBox 331"/>
          <p:cNvSpPr txBox="1"/>
          <p:nvPr/>
        </p:nvSpPr>
        <p:spPr>
          <a:xfrm>
            <a:off x="4865418" y="952823"/>
            <a:ext cx="252239" cy="630942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빈도</a:t>
            </a:r>
            <a:endParaRPr lang="en-US" altLang="ko-KR" sz="7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주기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33" name="TextBox 332"/>
          <p:cNvSpPr txBox="1"/>
          <p:nvPr/>
        </p:nvSpPr>
        <p:spPr>
          <a:xfrm>
            <a:off x="4865418" y="2388558"/>
            <a:ext cx="252239" cy="313868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요약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34" name="직선 연결선 333"/>
          <p:cNvCxnSpPr/>
          <p:nvPr/>
        </p:nvCxnSpPr>
        <p:spPr>
          <a:xfrm>
            <a:off x="4815357" y="2430835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5" name="직선 연결선 334"/>
          <p:cNvCxnSpPr/>
          <p:nvPr/>
        </p:nvCxnSpPr>
        <p:spPr>
          <a:xfrm>
            <a:off x="4815357" y="2904545"/>
            <a:ext cx="340000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TextBox 335"/>
          <p:cNvSpPr txBox="1"/>
          <p:nvPr/>
        </p:nvSpPr>
        <p:spPr>
          <a:xfrm>
            <a:off x="5191586" y="2457425"/>
            <a:ext cx="2281641" cy="415498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lang="en-US" altLang="ko-KR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lvl="0">
              <a:lnSpc>
                <a:spcPct val="150000"/>
              </a:lnSpc>
            </a:pPr>
            <a:r>
              <a:rPr lang="en-US" altLang="ko-KR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마다 </a:t>
            </a:r>
            <a:r>
              <a:rPr lang="en-US" altLang="ko-KR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</a:t>
            </a:r>
            <a:r>
              <a:rPr lang="en-US" altLang="ko-KR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22</a:t>
            </a:r>
            <a:r>
              <a:rPr lang="ko-KR" altLang="en-US" sz="700" smtClean="0">
                <a:solidFill>
                  <a:srgbClr val="C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  <a:r>
              <a:rPr lang="ko-KR" altLang="en-US" sz="7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반복</a:t>
            </a:r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Freeform 11"/>
          <p:cNvSpPr>
            <a:spLocks noChangeAspect="1" noChangeArrowheads="1"/>
          </p:cNvSpPr>
          <p:nvPr/>
        </p:nvSpPr>
        <p:spPr bwMode="auto">
          <a:xfrm>
            <a:off x="8081154" y="724739"/>
            <a:ext cx="97398" cy="97398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38" name="Rectangle 127"/>
          <p:cNvSpPr/>
          <p:nvPr/>
        </p:nvSpPr>
        <p:spPr>
          <a:xfrm>
            <a:off x="5173123" y="2115367"/>
            <a:ext cx="759858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11:00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339" name="Rectangle 127"/>
          <p:cNvSpPr/>
          <p:nvPr/>
        </p:nvSpPr>
        <p:spPr>
          <a:xfrm>
            <a:off x="6065745" y="2115367"/>
            <a:ext cx="749672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36000" tIns="0" rIns="0" bIns="0" rtlCol="0" anchor="ctr"/>
          <a:lstStyle/>
          <a:p>
            <a:pPr defTabSz="57681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오전 </a:t>
            </a:r>
            <a:r>
              <a:rPr kumimoji="0" lang="en-US" altLang="ko-KR" sz="700" kern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11:30 </a:t>
            </a:r>
            <a:r>
              <a:rPr kumimoji="0" lang="ko-KR" altLang="en-US" sz="700" ker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  <a:ea typeface="맑은 고딕" panose="020B0503020000020004" pitchFamily="50" charset="-127"/>
              </a:rPr>
              <a:t>▼</a:t>
            </a:r>
            <a:endParaRPr kumimoji="0" lang="en-US" sz="700" kern="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  <a:ea typeface="맑은 고딕" panose="020B0503020000020004" pitchFamily="50" charset="-127"/>
            </a:endParaRPr>
          </a:p>
        </p:txBody>
      </p:sp>
      <p:sp>
        <p:nvSpPr>
          <p:cNvPr id="340" name="TextBox 339"/>
          <p:cNvSpPr txBox="1"/>
          <p:nvPr/>
        </p:nvSpPr>
        <p:spPr>
          <a:xfrm>
            <a:off x="5929988" y="2104040"/>
            <a:ext cx="135221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41" name="Rectangle 127"/>
          <p:cNvSpPr/>
          <p:nvPr/>
        </p:nvSpPr>
        <p:spPr>
          <a:xfrm>
            <a:off x="5183309" y="1346489"/>
            <a:ext cx="616611" cy="1874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R="0" lvl="0" indent="87313" defTabSz="57681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1</a:t>
            </a: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</a:rPr>
              <a:t>년 ▼</a:t>
            </a:r>
            <a:endParaRPr kumimoji="0" lang="en-US" sz="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42" name="TextBox 341"/>
          <p:cNvSpPr txBox="1"/>
          <p:nvPr/>
        </p:nvSpPr>
        <p:spPr>
          <a:xfrm>
            <a:off x="4865418" y="1765872"/>
            <a:ext cx="252239" cy="361637"/>
          </a:xfrm>
          <a:prstGeom prst="rect">
            <a:avLst/>
          </a:prstGeom>
          <a:noFill/>
        </p:spPr>
        <p:txBody>
          <a:bodyPr wrap="none" lIns="36000" rIns="36000" rtlCol="0" anchor="t">
            <a:spAutoFit/>
          </a:bodyPr>
          <a:lstStyle/>
          <a:p>
            <a:pPr>
              <a:lnSpc>
                <a:spcPct val="250000"/>
              </a:lnSpc>
            </a:pPr>
            <a:r>
              <a:rPr lang="ko-KR" altLang="en-US" sz="7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범위</a:t>
            </a:r>
            <a:endParaRPr lang="ko-KR" altLang="en-US" sz="7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43" name="Freeform 30"/>
          <p:cNvSpPr>
            <a:spLocks noChangeAspect="1" noChangeArrowheads="1"/>
          </p:cNvSpPr>
          <p:nvPr/>
        </p:nvSpPr>
        <p:spPr bwMode="auto">
          <a:xfrm>
            <a:off x="5183149" y="1620792"/>
            <a:ext cx="144000" cy="144000"/>
          </a:xfrm>
          <a:custGeom>
            <a:avLst/>
            <a:gdLst>
              <a:gd name="T0" fmla="*/ 259 w 514"/>
              <a:gd name="T1" fmla="*/ 132 h 514"/>
              <a:gd name="T2" fmla="*/ 127 w 514"/>
              <a:gd name="T3" fmla="*/ 259 h 514"/>
              <a:gd name="T4" fmla="*/ 259 w 514"/>
              <a:gd name="T5" fmla="*/ 386 h 514"/>
              <a:gd name="T6" fmla="*/ 386 w 514"/>
              <a:gd name="T7" fmla="*/ 259 h 514"/>
              <a:gd name="T8" fmla="*/ 259 w 514"/>
              <a:gd name="T9" fmla="*/ 132 h 514"/>
              <a:gd name="T10" fmla="*/ 259 w 514"/>
              <a:gd name="T11" fmla="*/ 0 h 514"/>
              <a:gd name="T12" fmla="*/ 0 w 514"/>
              <a:gd name="T13" fmla="*/ 259 h 514"/>
              <a:gd name="T14" fmla="*/ 259 w 514"/>
              <a:gd name="T15" fmla="*/ 513 h 514"/>
              <a:gd name="T16" fmla="*/ 513 w 514"/>
              <a:gd name="T17" fmla="*/ 259 h 514"/>
              <a:gd name="T18" fmla="*/ 259 w 514"/>
              <a:gd name="T19" fmla="*/ 0 h 514"/>
              <a:gd name="T20" fmla="*/ 259 w 514"/>
              <a:gd name="T21" fmla="*/ 464 h 514"/>
              <a:gd name="T22" fmla="*/ 54 w 514"/>
              <a:gd name="T23" fmla="*/ 259 h 514"/>
              <a:gd name="T24" fmla="*/ 259 w 514"/>
              <a:gd name="T25" fmla="*/ 54 h 514"/>
              <a:gd name="T26" fmla="*/ 459 w 514"/>
              <a:gd name="T27" fmla="*/ 259 h 514"/>
              <a:gd name="T28" fmla="*/ 259 w 514"/>
              <a:gd name="T29" fmla="*/ 46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4" h="514">
                <a:moveTo>
                  <a:pt x="259" y="132"/>
                </a:moveTo>
                <a:cubicBezTo>
                  <a:pt x="186" y="132"/>
                  <a:pt x="127" y="188"/>
                  <a:pt x="127" y="259"/>
                </a:cubicBezTo>
                <a:cubicBezTo>
                  <a:pt x="127" y="330"/>
                  <a:pt x="188" y="386"/>
                  <a:pt x="259" y="386"/>
                </a:cubicBezTo>
                <a:cubicBezTo>
                  <a:pt x="330" y="386"/>
                  <a:pt x="386" y="330"/>
                  <a:pt x="386" y="259"/>
                </a:cubicBezTo>
                <a:cubicBezTo>
                  <a:pt x="386" y="188"/>
                  <a:pt x="327" y="132"/>
                  <a:pt x="259" y="132"/>
                </a:cubicBezTo>
                <a:close/>
                <a:moveTo>
                  <a:pt x="259" y="0"/>
                </a:moveTo>
                <a:cubicBezTo>
                  <a:pt x="117" y="0"/>
                  <a:pt x="0" y="118"/>
                  <a:pt x="0" y="259"/>
                </a:cubicBezTo>
                <a:cubicBezTo>
                  <a:pt x="0" y="401"/>
                  <a:pt x="120" y="513"/>
                  <a:pt x="259" y="513"/>
                </a:cubicBezTo>
                <a:cubicBezTo>
                  <a:pt x="398" y="513"/>
                  <a:pt x="513" y="401"/>
                  <a:pt x="513" y="259"/>
                </a:cubicBezTo>
                <a:cubicBezTo>
                  <a:pt x="513" y="118"/>
                  <a:pt x="396" y="0"/>
                  <a:pt x="259" y="0"/>
                </a:cubicBezTo>
                <a:close/>
                <a:moveTo>
                  <a:pt x="259" y="464"/>
                </a:moveTo>
                <a:cubicBezTo>
                  <a:pt x="146" y="464"/>
                  <a:pt x="54" y="372"/>
                  <a:pt x="54" y="259"/>
                </a:cubicBezTo>
                <a:cubicBezTo>
                  <a:pt x="54" y="147"/>
                  <a:pt x="146" y="54"/>
                  <a:pt x="259" y="54"/>
                </a:cubicBezTo>
                <a:cubicBezTo>
                  <a:pt x="371" y="54"/>
                  <a:pt x="459" y="147"/>
                  <a:pt x="459" y="259"/>
                </a:cubicBezTo>
                <a:cubicBezTo>
                  <a:pt x="459" y="372"/>
                  <a:pt x="371" y="464"/>
                  <a:pt x="259" y="464"/>
                </a:cubicBezTo>
                <a:close/>
              </a:path>
            </a:pathLst>
          </a:custGeom>
          <a:solidFill>
            <a:sysClr val="window" lastClr="FFFFFF">
              <a:lumMod val="50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576818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344" name="Rounded Rectangle 333"/>
          <p:cNvSpPr/>
          <p:nvPr/>
        </p:nvSpPr>
        <p:spPr>
          <a:xfrm>
            <a:off x="5362563" y="1598926"/>
            <a:ext cx="396000" cy="187731"/>
          </a:xfrm>
          <a:prstGeom prst="roundRect">
            <a:avLst>
              <a:gd name="adj" fmla="val 8420"/>
            </a:avLst>
          </a:prstGeom>
          <a:noFill/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defTabSz="576818" fontAlgn="auto" latinLnBrk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1</a:t>
            </a:r>
            <a:r>
              <a:rPr kumimoji="0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월 </a:t>
            </a:r>
            <a:r>
              <a:rPr kumimoji="0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22</a:t>
            </a:r>
            <a:r>
              <a:rPr kumimoji="0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일</a:t>
            </a:r>
            <a:endParaRPr kumimoji="0" lang="en-US" sz="700" dirty="0">
              <a:solidFill>
                <a:prstClr val="black">
                  <a:lumMod val="75000"/>
                  <a:lumOff val="25000"/>
                </a:prstClr>
              </a:solidFill>
              <a:latin typeface="Calibri"/>
            </a:endParaRPr>
          </a:p>
        </p:txBody>
      </p:sp>
      <p:grpSp>
        <p:nvGrpSpPr>
          <p:cNvPr id="345" name="그룹 344"/>
          <p:cNvGrpSpPr/>
          <p:nvPr/>
        </p:nvGrpSpPr>
        <p:grpSpPr>
          <a:xfrm>
            <a:off x="5799136" y="1598926"/>
            <a:ext cx="939122" cy="187731"/>
            <a:chOff x="5898196" y="1598926"/>
            <a:chExt cx="939122" cy="187731"/>
          </a:xfrm>
        </p:grpSpPr>
        <p:sp>
          <p:nvSpPr>
            <p:cNvPr id="346" name="Freeform 29"/>
            <p:cNvSpPr>
              <a:spLocks noChangeAspect="1" noChangeArrowheads="1"/>
            </p:cNvSpPr>
            <p:nvPr/>
          </p:nvSpPr>
          <p:spPr bwMode="auto">
            <a:xfrm>
              <a:off x="5898196" y="1620792"/>
              <a:ext cx="141538" cy="144000"/>
            </a:xfrm>
            <a:custGeom>
              <a:avLst/>
              <a:gdLst>
                <a:gd name="T0" fmla="*/ 254 w 509"/>
                <a:gd name="T1" fmla="*/ 0 h 514"/>
                <a:gd name="T2" fmla="*/ 0 w 509"/>
                <a:gd name="T3" fmla="*/ 259 h 514"/>
                <a:gd name="T4" fmla="*/ 254 w 509"/>
                <a:gd name="T5" fmla="*/ 513 h 514"/>
                <a:gd name="T6" fmla="*/ 508 w 509"/>
                <a:gd name="T7" fmla="*/ 259 h 514"/>
                <a:gd name="T8" fmla="*/ 254 w 509"/>
                <a:gd name="T9" fmla="*/ 0 h 514"/>
                <a:gd name="T10" fmla="*/ 254 w 509"/>
                <a:gd name="T11" fmla="*/ 464 h 514"/>
                <a:gd name="T12" fmla="*/ 49 w 509"/>
                <a:gd name="T13" fmla="*/ 259 h 514"/>
                <a:gd name="T14" fmla="*/ 254 w 509"/>
                <a:gd name="T15" fmla="*/ 54 h 514"/>
                <a:gd name="T16" fmla="*/ 459 w 509"/>
                <a:gd name="T17" fmla="*/ 259 h 514"/>
                <a:gd name="T18" fmla="*/ 254 w 509"/>
                <a:gd name="T19" fmla="*/ 464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4">
                  <a:moveTo>
                    <a:pt x="254" y="0"/>
                  </a:moveTo>
                  <a:cubicBezTo>
                    <a:pt x="112" y="0"/>
                    <a:pt x="0" y="118"/>
                    <a:pt x="0" y="259"/>
                  </a:cubicBezTo>
                  <a:cubicBezTo>
                    <a:pt x="0" y="401"/>
                    <a:pt x="112" y="513"/>
                    <a:pt x="254" y="513"/>
                  </a:cubicBezTo>
                  <a:cubicBezTo>
                    <a:pt x="396" y="513"/>
                    <a:pt x="508" y="401"/>
                    <a:pt x="508" y="259"/>
                  </a:cubicBezTo>
                  <a:cubicBezTo>
                    <a:pt x="508" y="118"/>
                    <a:pt x="396" y="0"/>
                    <a:pt x="254" y="0"/>
                  </a:cubicBezTo>
                  <a:close/>
                  <a:moveTo>
                    <a:pt x="254" y="464"/>
                  </a:moveTo>
                  <a:cubicBezTo>
                    <a:pt x="142" y="464"/>
                    <a:pt x="49" y="372"/>
                    <a:pt x="49" y="259"/>
                  </a:cubicBezTo>
                  <a:cubicBezTo>
                    <a:pt x="49" y="147"/>
                    <a:pt x="142" y="54"/>
                    <a:pt x="254" y="54"/>
                  </a:cubicBezTo>
                  <a:cubicBezTo>
                    <a:pt x="366" y="54"/>
                    <a:pt x="459" y="147"/>
                    <a:pt x="459" y="259"/>
                  </a:cubicBezTo>
                  <a:cubicBezTo>
                    <a:pt x="459" y="372"/>
                    <a:pt x="366" y="464"/>
                    <a:pt x="254" y="464"/>
                  </a:cubicBezTo>
                  <a:close/>
                </a:path>
              </a:pathLst>
            </a:custGeom>
            <a:solidFill>
              <a:sysClr val="window" lastClr="FFFFFF">
                <a:lumMod val="50000"/>
              </a:sys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347" name="Rounded Rectangle 334"/>
            <p:cNvSpPr/>
            <p:nvPr/>
          </p:nvSpPr>
          <p:spPr>
            <a:xfrm>
              <a:off x="6081318" y="1598926"/>
              <a:ext cx="75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defTabSz="576818" fontAlgn="auto" latinLnBrk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1</a:t>
              </a:r>
              <a:r>
                <a:rPr kumimoji="0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월 </a:t>
              </a:r>
              <a:r>
                <a:rPr kumimoji="0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4</a:t>
              </a:r>
              <a:r>
                <a:rPr kumimoji="0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번째 월요일</a:t>
              </a:r>
              <a:endParaRPr kumimoji="0" 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endParaRPr>
            </a:p>
          </p:txBody>
        </p:sp>
      </p:grpSp>
      <p:grpSp>
        <p:nvGrpSpPr>
          <p:cNvPr id="348" name="그룹 347"/>
          <p:cNvGrpSpPr/>
          <p:nvPr/>
        </p:nvGrpSpPr>
        <p:grpSpPr>
          <a:xfrm>
            <a:off x="6797356" y="1598926"/>
            <a:ext cx="939122" cy="187731"/>
            <a:chOff x="5898196" y="1598926"/>
            <a:chExt cx="939122" cy="187731"/>
          </a:xfrm>
        </p:grpSpPr>
        <p:sp>
          <p:nvSpPr>
            <p:cNvPr id="349" name="Freeform 29"/>
            <p:cNvSpPr>
              <a:spLocks noChangeAspect="1" noChangeArrowheads="1"/>
            </p:cNvSpPr>
            <p:nvPr/>
          </p:nvSpPr>
          <p:spPr bwMode="auto">
            <a:xfrm>
              <a:off x="5898196" y="1620792"/>
              <a:ext cx="141538" cy="144000"/>
            </a:xfrm>
            <a:custGeom>
              <a:avLst/>
              <a:gdLst>
                <a:gd name="T0" fmla="*/ 254 w 509"/>
                <a:gd name="T1" fmla="*/ 0 h 514"/>
                <a:gd name="T2" fmla="*/ 0 w 509"/>
                <a:gd name="T3" fmla="*/ 259 h 514"/>
                <a:gd name="T4" fmla="*/ 254 w 509"/>
                <a:gd name="T5" fmla="*/ 513 h 514"/>
                <a:gd name="T6" fmla="*/ 508 w 509"/>
                <a:gd name="T7" fmla="*/ 259 h 514"/>
                <a:gd name="T8" fmla="*/ 254 w 509"/>
                <a:gd name="T9" fmla="*/ 0 h 514"/>
                <a:gd name="T10" fmla="*/ 254 w 509"/>
                <a:gd name="T11" fmla="*/ 464 h 514"/>
                <a:gd name="T12" fmla="*/ 49 w 509"/>
                <a:gd name="T13" fmla="*/ 259 h 514"/>
                <a:gd name="T14" fmla="*/ 254 w 509"/>
                <a:gd name="T15" fmla="*/ 54 h 514"/>
                <a:gd name="T16" fmla="*/ 459 w 509"/>
                <a:gd name="T17" fmla="*/ 259 h 514"/>
                <a:gd name="T18" fmla="*/ 254 w 509"/>
                <a:gd name="T19" fmla="*/ 464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4">
                  <a:moveTo>
                    <a:pt x="254" y="0"/>
                  </a:moveTo>
                  <a:cubicBezTo>
                    <a:pt x="112" y="0"/>
                    <a:pt x="0" y="118"/>
                    <a:pt x="0" y="259"/>
                  </a:cubicBezTo>
                  <a:cubicBezTo>
                    <a:pt x="0" y="401"/>
                    <a:pt x="112" y="513"/>
                    <a:pt x="254" y="513"/>
                  </a:cubicBezTo>
                  <a:cubicBezTo>
                    <a:pt x="396" y="513"/>
                    <a:pt x="508" y="401"/>
                    <a:pt x="508" y="259"/>
                  </a:cubicBezTo>
                  <a:cubicBezTo>
                    <a:pt x="508" y="118"/>
                    <a:pt x="396" y="0"/>
                    <a:pt x="254" y="0"/>
                  </a:cubicBezTo>
                  <a:close/>
                  <a:moveTo>
                    <a:pt x="254" y="464"/>
                  </a:moveTo>
                  <a:cubicBezTo>
                    <a:pt x="142" y="464"/>
                    <a:pt x="49" y="372"/>
                    <a:pt x="49" y="259"/>
                  </a:cubicBezTo>
                  <a:cubicBezTo>
                    <a:pt x="49" y="147"/>
                    <a:pt x="142" y="54"/>
                    <a:pt x="254" y="54"/>
                  </a:cubicBezTo>
                  <a:cubicBezTo>
                    <a:pt x="366" y="54"/>
                    <a:pt x="459" y="147"/>
                    <a:pt x="459" y="259"/>
                  </a:cubicBezTo>
                  <a:cubicBezTo>
                    <a:pt x="459" y="372"/>
                    <a:pt x="366" y="464"/>
                    <a:pt x="254" y="464"/>
                  </a:cubicBezTo>
                  <a:close/>
                </a:path>
              </a:pathLst>
            </a:custGeom>
            <a:solidFill>
              <a:sysClr val="window" lastClr="FFFFFF">
                <a:lumMod val="50000"/>
              </a:sys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576818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350" name="Rounded Rectangle 334"/>
            <p:cNvSpPr/>
            <p:nvPr/>
          </p:nvSpPr>
          <p:spPr>
            <a:xfrm>
              <a:off x="6081318" y="1598926"/>
              <a:ext cx="75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defTabSz="576818" fontAlgn="auto" latinLnBrk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1</a:t>
              </a:r>
              <a:r>
                <a:rPr kumimoji="0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월 마지막날</a:t>
              </a:r>
              <a:endParaRPr kumimoji="0" 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endParaRPr>
            </a:p>
          </p:txBody>
        </p:sp>
      </p:grpSp>
      <p:sp>
        <p:nvSpPr>
          <p:cNvPr id="351" name="모서리가 둥근 직사각형 350"/>
          <p:cNvSpPr/>
          <p:nvPr/>
        </p:nvSpPr>
        <p:spPr>
          <a:xfrm>
            <a:off x="5152977" y="1603140"/>
            <a:ext cx="2491788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52" name="모서리가 둥근 직사각형 351"/>
          <p:cNvSpPr/>
          <p:nvPr/>
        </p:nvSpPr>
        <p:spPr>
          <a:xfrm>
            <a:off x="765762" y="4746390"/>
            <a:ext cx="2491788" cy="171215"/>
          </a:xfrm>
          <a:prstGeom prst="roundRect">
            <a:avLst/>
          </a:prstGeom>
          <a:noFill/>
          <a:ln w="3175"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53" name="타원 352"/>
          <p:cNvSpPr>
            <a:spLocks noChangeAspect="1"/>
          </p:cNvSpPr>
          <p:nvPr/>
        </p:nvSpPr>
        <p:spPr>
          <a:xfrm>
            <a:off x="247623" y="48887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54" name="그룹 353"/>
          <p:cNvGrpSpPr/>
          <p:nvPr/>
        </p:nvGrpSpPr>
        <p:grpSpPr>
          <a:xfrm>
            <a:off x="816798" y="2688049"/>
            <a:ext cx="638329" cy="142993"/>
            <a:chOff x="797748" y="2430874"/>
            <a:chExt cx="638329" cy="142993"/>
          </a:xfrm>
        </p:grpSpPr>
        <p:sp>
          <p:nvSpPr>
            <p:cNvPr id="355" name="모서리가 둥근 직사각형 354"/>
            <p:cNvSpPr/>
            <p:nvPr/>
          </p:nvSpPr>
          <p:spPr>
            <a:xfrm>
              <a:off x="797748" y="2430874"/>
              <a:ext cx="161808" cy="142993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356" name="모서리가 둥근 직사각형 355"/>
            <p:cNvSpPr/>
            <p:nvPr/>
          </p:nvSpPr>
          <p:spPr>
            <a:xfrm>
              <a:off x="1177807" y="2430874"/>
              <a:ext cx="258270" cy="142993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grpSp>
        <p:nvGrpSpPr>
          <p:cNvPr id="357" name="그룹 356"/>
          <p:cNvGrpSpPr/>
          <p:nvPr/>
        </p:nvGrpSpPr>
        <p:grpSpPr>
          <a:xfrm>
            <a:off x="5229071" y="2688049"/>
            <a:ext cx="700917" cy="142993"/>
            <a:chOff x="797748" y="2430874"/>
            <a:chExt cx="700917" cy="142993"/>
          </a:xfrm>
        </p:grpSpPr>
        <p:sp>
          <p:nvSpPr>
            <p:cNvPr id="358" name="모서리가 둥근 직사각형 357"/>
            <p:cNvSpPr/>
            <p:nvPr/>
          </p:nvSpPr>
          <p:spPr>
            <a:xfrm>
              <a:off x="797748" y="2430874"/>
              <a:ext cx="161808" cy="142993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359" name="모서리가 둥근 직사각형 358"/>
            <p:cNvSpPr/>
            <p:nvPr/>
          </p:nvSpPr>
          <p:spPr>
            <a:xfrm>
              <a:off x="1143832" y="2430874"/>
              <a:ext cx="354833" cy="142993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grpSp>
        <p:nvGrpSpPr>
          <p:cNvPr id="360" name="그룹 359"/>
          <p:cNvGrpSpPr/>
          <p:nvPr/>
        </p:nvGrpSpPr>
        <p:grpSpPr>
          <a:xfrm>
            <a:off x="816798" y="5847621"/>
            <a:ext cx="638329" cy="142993"/>
            <a:chOff x="797748" y="2430874"/>
            <a:chExt cx="638329" cy="142993"/>
          </a:xfrm>
        </p:grpSpPr>
        <p:sp>
          <p:nvSpPr>
            <p:cNvPr id="361" name="모서리가 둥근 직사각형 360"/>
            <p:cNvSpPr/>
            <p:nvPr/>
          </p:nvSpPr>
          <p:spPr>
            <a:xfrm>
              <a:off x="797748" y="2430874"/>
              <a:ext cx="245672" cy="142993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362" name="모서리가 둥근 직사각형 361"/>
            <p:cNvSpPr/>
            <p:nvPr/>
          </p:nvSpPr>
          <p:spPr>
            <a:xfrm>
              <a:off x="1243445" y="2430874"/>
              <a:ext cx="192632" cy="142993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</p:grpSp>
      <p:sp>
        <p:nvSpPr>
          <p:cNvPr id="363" name="타원 362"/>
          <p:cNvSpPr>
            <a:spLocks noChangeAspect="1"/>
          </p:cNvSpPr>
          <p:nvPr/>
        </p:nvSpPr>
        <p:spPr>
          <a:xfrm>
            <a:off x="247623" y="363212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4" name="타원 363"/>
          <p:cNvSpPr>
            <a:spLocks noChangeAspect="1"/>
          </p:cNvSpPr>
          <p:nvPr/>
        </p:nvSpPr>
        <p:spPr>
          <a:xfrm>
            <a:off x="4648173" y="48887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36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5875083"/>
              </p:ext>
            </p:extLst>
          </p:nvPr>
        </p:nvGraphicFramePr>
        <p:xfrm>
          <a:off x="9290533" y="786383"/>
          <a:ext cx="2834792" cy="22722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4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빈도 항목의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매주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를 선택했을 경우 출력되는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입력 정보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주기 항목의 요일은 오늘 요일을 기본으로 선택 처리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선택된 주기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/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요일 정보 출력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675371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1-2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날짜 기본 세팅 값은 시작일은 오늘 날짜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종료일은 한달 이후 날짜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8245708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빈도 항목의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매월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을 선택했을 경우 출력되는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입력 정보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83647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2-1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날짜 기본 세팅 값은 시작일은 오늘 날짜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종료일은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년 이후 날짜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09286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빈도 항목의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매년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’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을 선택했을 경우 출력되는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입력 정보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37089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3-1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날짜 기본 세팅 값은 시작일은 오늘 날짜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종료일은 </a:t>
                      </a: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년 이후 날짜</a:t>
                      </a:r>
                      <a:endParaRPr lang="en-US" altLang="ko-KR" sz="800" kern="12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7746513"/>
                  </a:ext>
                </a:extLst>
              </a:tr>
            </a:tbl>
          </a:graphicData>
        </a:graphic>
      </p:graphicFrame>
      <p:sp>
        <p:nvSpPr>
          <p:cNvPr id="366" name="TextBox 365"/>
          <p:cNvSpPr txBox="1"/>
          <p:nvPr/>
        </p:nvSpPr>
        <p:spPr>
          <a:xfrm>
            <a:off x="1398586" y="1357297"/>
            <a:ext cx="870999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//1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주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(default)~10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주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67" name="TextBox 366"/>
          <p:cNvSpPr txBox="1"/>
          <p:nvPr/>
        </p:nvSpPr>
        <p:spPr>
          <a:xfrm>
            <a:off x="1427161" y="4519597"/>
            <a:ext cx="1050535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//1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개월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(default)~10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개월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68" name="타원 367"/>
          <p:cNvSpPr>
            <a:spLocks noChangeAspect="1"/>
          </p:cNvSpPr>
          <p:nvPr/>
        </p:nvSpPr>
        <p:spPr>
          <a:xfrm>
            <a:off x="1390623" y="275582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9" name="TextBox 368"/>
          <p:cNvSpPr txBox="1"/>
          <p:nvPr/>
        </p:nvSpPr>
        <p:spPr>
          <a:xfrm>
            <a:off x="3320138" y="4730534"/>
            <a:ext cx="890235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출력 기준 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as-is 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동일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70" name="TextBox 369"/>
          <p:cNvSpPr txBox="1"/>
          <p:nvPr/>
        </p:nvSpPr>
        <p:spPr>
          <a:xfrm>
            <a:off x="7673063" y="1568234"/>
            <a:ext cx="890235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출력 기준 </a:t>
            </a:r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as-is </a:t>
            </a:r>
            <a:r>
              <a:rPr lang="ko-KR" altLang="en-US" sz="700" smtClean="0">
                <a:solidFill>
                  <a:srgbClr val="FF0000"/>
                </a:solidFill>
                <a:latin typeface="+mn-ea"/>
                <a:ea typeface="+mn-ea"/>
              </a:rPr>
              <a:t>동일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grpSp>
        <p:nvGrpSpPr>
          <p:cNvPr id="371" name="그룹 370"/>
          <p:cNvGrpSpPr/>
          <p:nvPr/>
        </p:nvGrpSpPr>
        <p:grpSpPr>
          <a:xfrm>
            <a:off x="2467431" y="2129022"/>
            <a:ext cx="546080" cy="187731"/>
            <a:chOff x="791030" y="1539338"/>
            <a:chExt cx="546080" cy="187731"/>
          </a:xfrm>
        </p:grpSpPr>
        <p:sp>
          <p:nvSpPr>
            <p:cNvPr id="372" name="Rounded Rectangle 265"/>
            <p:cNvSpPr/>
            <p:nvPr/>
          </p:nvSpPr>
          <p:spPr>
            <a:xfrm>
              <a:off x="941110" y="1539338"/>
              <a:ext cx="39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종일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3" name="Rounded Rectangle 238"/>
            <p:cNvSpPr/>
            <p:nvPr/>
          </p:nvSpPr>
          <p:spPr>
            <a:xfrm>
              <a:off x="791030" y="1579812"/>
              <a:ext cx="112049" cy="10909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374" name="그룹 373"/>
          <p:cNvGrpSpPr/>
          <p:nvPr/>
        </p:nvGrpSpPr>
        <p:grpSpPr>
          <a:xfrm>
            <a:off x="2467431" y="5281797"/>
            <a:ext cx="546080" cy="187731"/>
            <a:chOff x="791030" y="1539338"/>
            <a:chExt cx="546080" cy="187731"/>
          </a:xfrm>
        </p:grpSpPr>
        <p:sp>
          <p:nvSpPr>
            <p:cNvPr id="375" name="Rounded Rectangle 265"/>
            <p:cNvSpPr/>
            <p:nvPr/>
          </p:nvSpPr>
          <p:spPr>
            <a:xfrm>
              <a:off x="941110" y="1539338"/>
              <a:ext cx="39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종일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6" name="Rounded Rectangle 238"/>
            <p:cNvSpPr/>
            <p:nvPr/>
          </p:nvSpPr>
          <p:spPr>
            <a:xfrm>
              <a:off x="791030" y="1579812"/>
              <a:ext cx="112049" cy="10909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377" name="그룹 376"/>
          <p:cNvGrpSpPr/>
          <p:nvPr/>
        </p:nvGrpSpPr>
        <p:grpSpPr>
          <a:xfrm>
            <a:off x="6877506" y="2109972"/>
            <a:ext cx="546080" cy="187731"/>
            <a:chOff x="791030" y="1539338"/>
            <a:chExt cx="546080" cy="187731"/>
          </a:xfrm>
        </p:grpSpPr>
        <p:sp>
          <p:nvSpPr>
            <p:cNvPr id="378" name="Rounded Rectangle 265"/>
            <p:cNvSpPr/>
            <p:nvPr/>
          </p:nvSpPr>
          <p:spPr>
            <a:xfrm>
              <a:off x="941110" y="1539338"/>
              <a:ext cx="39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defTabSz="576818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rPr>
                <a:t>종일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9" name="Rounded Rectangle 238"/>
            <p:cNvSpPr/>
            <p:nvPr/>
          </p:nvSpPr>
          <p:spPr>
            <a:xfrm>
              <a:off x="791030" y="1579812"/>
              <a:ext cx="112049" cy="10909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380" name="그룹 379"/>
          <p:cNvGrpSpPr/>
          <p:nvPr/>
        </p:nvGrpSpPr>
        <p:grpSpPr>
          <a:xfrm>
            <a:off x="775618" y="1846014"/>
            <a:ext cx="2089334" cy="206613"/>
            <a:chOff x="775618" y="1322139"/>
            <a:chExt cx="2089334" cy="206613"/>
          </a:xfrm>
        </p:grpSpPr>
        <p:grpSp>
          <p:nvGrpSpPr>
            <p:cNvPr id="381" name="그룹 380"/>
            <p:cNvGrpSpPr/>
            <p:nvPr/>
          </p:nvGrpSpPr>
          <p:grpSpPr>
            <a:xfrm>
              <a:off x="1232844" y="1322139"/>
              <a:ext cx="1632108" cy="206613"/>
              <a:chOff x="785804" y="1322139"/>
              <a:chExt cx="1632108" cy="206613"/>
            </a:xfrm>
          </p:grpSpPr>
          <p:sp>
            <p:nvSpPr>
              <p:cNvPr id="383" name="Rectangle 127"/>
              <p:cNvSpPr/>
              <p:nvPr/>
            </p:nvSpPr>
            <p:spPr>
              <a:xfrm>
                <a:off x="785804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2018-01-22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84" name="Rectangle 127"/>
              <p:cNvSpPr/>
              <p:nvPr/>
            </p:nvSpPr>
            <p:spPr>
              <a:xfrm>
                <a:off x="1668240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 2018-02-22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85" name="TextBox 384"/>
              <p:cNvSpPr txBox="1"/>
              <p:nvPr/>
            </p:nvSpPr>
            <p:spPr>
              <a:xfrm>
                <a:off x="1532483" y="1322139"/>
                <a:ext cx="135221" cy="200055"/>
              </a:xfrm>
              <a:prstGeom prst="rect">
                <a:avLst/>
              </a:prstGeom>
              <a:noFill/>
            </p:spPr>
            <p:txBody>
              <a:bodyPr wrap="none" lIns="36000" rIns="36000" rtlCol="0" anchor="ctr">
                <a:spAutoFit/>
              </a:bodyPr>
              <a:lstStyle/>
              <a:p>
                <a:r>
                  <a:rPr lang="en-US" altLang="ko-KR" sz="7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~</a:t>
                </a:r>
                <a:endPara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86" name="Freeform 33"/>
              <p:cNvSpPr>
                <a:spLocks noChangeAspect="1" noEditPoints="1"/>
              </p:cNvSpPr>
              <p:nvPr/>
            </p:nvSpPr>
            <p:spPr bwMode="auto">
              <a:xfrm>
                <a:off x="816633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7" name="Freeform 33"/>
              <p:cNvSpPr>
                <a:spLocks noChangeAspect="1" noEditPoints="1"/>
              </p:cNvSpPr>
              <p:nvPr/>
            </p:nvSpPr>
            <p:spPr bwMode="auto">
              <a:xfrm>
                <a:off x="1707644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2" name="Rectangle 127"/>
            <p:cNvSpPr/>
            <p:nvPr/>
          </p:nvSpPr>
          <p:spPr>
            <a:xfrm>
              <a:off x="775618" y="1341351"/>
              <a:ext cx="413076" cy="187401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36000" tIns="0" rIns="0" bIns="0" rtlCol="0" anchor="ctr"/>
            <a:lstStyle/>
            <a:p>
              <a:pPr marR="0" lvl="0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kern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양력 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cxnSp>
        <p:nvCxnSpPr>
          <p:cNvPr id="388" name="꺾인 연결선 387"/>
          <p:cNvCxnSpPr>
            <a:stCxn id="284" idx="1"/>
            <a:endCxn id="355" idx="1"/>
          </p:cNvCxnSpPr>
          <p:nvPr/>
        </p:nvCxnSpPr>
        <p:spPr>
          <a:xfrm rot="10800000" flipH="1" flipV="1">
            <a:off x="785804" y="1442882"/>
            <a:ext cx="30994" cy="1316664"/>
          </a:xfrm>
          <a:prstGeom prst="bentConnector3">
            <a:avLst>
              <a:gd name="adj1" fmla="val -215122"/>
            </a:avLst>
          </a:prstGeom>
          <a:ln w="3175">
            <a:solidFill>
              <a:srgbClr val="FF0000"/>
            </a:solidFill>
            <a:headEnd type="none" w="med" len="med"/>
            <a:tailEnd type="triangle" w="sm" len="sm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화살표 연결선 388"/>
          <p:cNvCxnSpPr/>
          <p:nvPr/>
        </p:nvCxnSpPr>
        <p:spPr>
          <a:xfrm>
            <a:off x="1304925" y="1766353"/>
            <a:ext cx="0" cy="916001"/>
          </a:xfrm>
          <a:prstGeom prst="straightConnector1">
            <a:avLst/>
          </a:prstGeom>
          <a:ln w="3175">
            <a:solidFill>
              <a:srgbClr val="FF0000"/>
            </a:solidFill>
            <a:headEnd type="none" w="med" len="med"/>
            <a:tailEnd type="triangle" w="sm" len="sm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0" name="그룹 389"/>
          <p:cNvGrpSpPr/>
          <p:nvPr/>
        </p:nvGrpSpPr>
        <p:grpSpPr>
          <a:xfrm>
            <a:off x="775618" y="5036889"/>
            <a:ext cx="2089334" cy="206613"/>
            <a:chOff x="775618" y="1322139"/>
            <a:chExt cx="2089334" cy="206613"/>
          </a:xfrm>
        </p:grpSpPr>
        <p:grpSp>
          <p:nvGrpSpPr>
            <p:cNvPr id="391" name="그룹 390"/>
            <p:cNvGrpSpPr/>
            <p:nvPr/>
          </p:nvGrpSpPr>
          <p:grpSpPr>
            <a:xfrm>
              <a:off x="1232844" y="1322139"/>
              <a:ext cx="1632108" cy="206613"/>
              <a:chOff x="785804" y="1322139"/>
              <a:chExt cx="1632108" cy="206613"/>
            </a:xfrm>
          </p:grpSpPr>
          <p:sp>
            <p:nvSpPr>
              <p:cNvPr id="393" name="Rectangle 127"/>
              <p:cNvSpPr/>
              <p:nvPr/>
            </p:nvSpPr>
            <p:spPr>
              <a:xfrm>
                <a:off x="785804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2018-01-22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94" name="Rectangle 127"/>
              <p:cNvSpPr/>
              <p:nvPr/>
            </p:nvSpPr>
            <p:spPr>
              <a:xfrm>
                <a:off x="1668240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 2019-01-22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95" name="TextBox 394"/>
              <p:cNvSpPr txBox="1"/>
              <p:nvPr/>
            </p:nvSpPr>
            <p:spPr>
              <a:xfrm>
                <a:off x="1532483" y="1322139"/>
                <a:ext cx="135221" cy="200055"/>
              </a:xfrm>
              <a:prstGeom prst="rect">
                <a:avLst/>
              </a:prstGeom>
              <a:noFill/>
            </p:spPr>
            <p:txBody>
              <a:bodyPr wrap="none" lIns="36000" rIns="36000" rtlCol="0" anchor="ctr">
                <a:spAutoFit/>
              </a:bodyPr>
              <a:lstStyle/>
              <a:p>
                <a:r>
                  <a:rPr lang="en-US" altLang="ko-KR" sz="7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~</a:t>
                </a:r>
                <a:endPara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96" name="Freeform 33"/>
              <p:cNvSpPr>
                <a:spLocks noChangeAspect="1" noEditPoints="1"/>
              </p:cNvSpPr>
              <p:nvPr/>
            </p:nvSpPr>
            <p:spPr bwMode="auto">
              <a:xfrm>
                <a:off x="816633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Freeform 33"/>
              <p:cNvSpPr>
                <a:spLocks noChangeAspect="1" noEditPoints="1"/>
              </p:cNvSpPr>
              <p:nvPr/>
            </p:nvSpPr>
            <p:spPr bwMode="auto">
              <a:xfrm>
                <a:off x="1707644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92" name="Rectangle 127"/>
            <p:cNvSpPr/>
            <p:nvPr/>
          </p:nvSpPr>
          <p:spPr>
            <a:xfrm>
              <a:off x="775618" y="1341351"/>
              <a:ext cx="413076" cy="187401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36000" tIns="0" rIns="0" bIns="0" rtlCol="0" anchor="ctr"/>
            <a:lstStyle/>
            <a:p>
              <a:pPr marR="0" lvl="0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kern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양력 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398" name="그룹 397"/>
          <p:cNvGrpSpPr/>
          <p:nvPr/>
        </p:nvGrpSpPr>
        <p:grpSpPr>
          <a:xfrm>
            <a:off x="793424" y="4597562"/>
            <a:ext cx="519121" cy="1316664"/>
            <a:chOff x="785804" y="1442882"/>
            <a:chExt cx="519121" cy="1316664"/>
          </a:xfrm>
        </p:grpSpPr>
        <p:cxnSp>
          <p:nvCxnSpPr>
            <p:cNvPr id="399" name="꺾인 연결선 398"/>
            <p:cNvCxnSpPr/>
            <p:nvPr/>
          </p:nvCxnSpPr>
          <p:spPr>
            <a:xfrm rot="10800000" flipH="1" flipV="1">
              <a:off x="785804" y="1442882"/>
              <a:ext cx="30994" cy="1316664"/>
            </a:xfrm>
            <a:prstGeom prst="bentConnector3">
              <a:avLst>
                <a:gd name="adj1" fmla="val -215122"/>
              </a:avLst>
            </a:prstGeom>
            <a:ln w="3175">
              <a:solidFill>
                <a:srgbClr val="FF0000"/>
              </a:solidFill>
              <a:headEnd type="none" w="med" len="med"/>
              <a:tailEnd type="triangle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직선 화살표 연결선 399"/>
            <p:cNvCxnSpPr/>
            <p:nvPr/>
          </p:nvCxnSpPr>
          <p:spPr>
            <a:xfrm>
              <a:off x="1304925" y="1766353"/>
              <a:ext cx="0" cy="916001"/>
            </a:xfrm>
            <a:prstGeom prst="straightConnector1">
              <a:avLst/>
            </a:prstGeom>
            <a:ln w="3175">
              <a:solidFill>
                <a:srgbClr val="FF0000"/>
              </a:solidFill>
              <a:headEnd type="none" w="med" len="med"/>
              <a:tailEnd type="triangle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1" name="그룹 400"/>
          <p:cNvGrpSpPr/>
          <p:nvPr/>
        </p:nvGrpSpPr>
        <p:grpSpPr>
          <a:xfrm>
            <a:off x="5176168" y="1846014"/>
            <a:ext cx="2089334" cy="206613"/>
            <a:chOff x="775618" y="1322139"/>
            <a:chExt cx="2089334" cy="206613"/>
          </a:xfrm>
        </p:grpSpPr>
        <p:grpSp>
          <p:nvGrpSpPr>
            <p:cNvPr id="402" name="그룹 401"/>
            <p:cNvGrpSpPr/>
            <p:nvPr/>
          </p:nvGrpSpPr>
          <p:grpSpPr>
            <a:xfrm>
              <a:off x="1232844" y="1322139"/>
              <a:ext cx="1632108" cy="206613"/>
              <a:chOff x="785804" y="1322139"/>
              <a:chExt cx="1632108" cy="206613"/>
            </a:xfrm>
          </p:grpSpPr>
          <p:sp>
            <p:nvSpPr>
              <p:cNvPr id="404" name="Rectangle 127"/>
              <p:cNvSpPr/>
              <p:nvPr/>
            </p:nvSpPr>
            <p:spPr>
              <a:xfrm>
                <a:off x="785804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2018-01-22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05" name="Rectangle 127"/>
              <p:cNvSpPr/>
              <p:nvPr/>
            </p:nvSpPr>
            <p:spPr>
              <a:xfrm>
                <a:off x="1668240" y="1341351"/>
                <a:ext cx="749672" cy="187401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lIns="36000" tIns="0" rIns="0" bIns="0" rtlCol="0" anchor="ctr"/>
              <a:lstStyle/>
              <a:p>
                <a:pPr marR="0" lvl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Calibri"/>
                    <a:ea typeface="맑은 고딕" panose="020B0503020000020004" pitchFamily="50" charset="-127"/>
                  </a:rPr>
                  <a:t>       2019-01-22 </a:t>
                </a:r>
                <a:endParaRPr kumimoji="0" 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06" name="TextBox 405"/>
              <p:cNvSpPr txBox="1"/>
              <p:nvPr/>
            </p:nvSpPr>
            <p:spPr>
              <a:xfrm>
                <a:off x="1532483" y="1322139"/>
                <a:ext cx="135221" cy="200055"/>
              </a:xfrm>
              <a:prstGeom prst="rect">
                <a:avLst/>
              </a:prstGeom>
              <a:noFill/>
            </p:spPr>
            <p:txBody>
              <a:bodyPr wrap="none" lIns="36000" rIns="36000" rtlCol="0" anchor="ctr">
                <a:spAutoFit/>
              </a:bodyPr>
              <a:lstStyle/>
              <a:p>
                <a:r>
                  <a:rPr lang="en-US" altLang="ko-KR" sz="7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~</a:t>
                </a:r>
                <a:endPara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07" name="Freeform 33"/>
              <p:cNvSpPr>
                <a:spLocks noChangeAspect="1" noEditPoints="1"/>
              </p:cNvSpPr>
              <p:nvPr/>
            </p:nvSpPr>
            <p:spPr bwMode="auto">
              <a:xfrm>
                <a:off x="816633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8" name="Freeform 33"/>
              <p:cNvSpPr>
                <a:spLocks noChangeAspect="1" noEditPoints="1"/>
              </p:cNvSpPr>
              <p:nvPr/>
            </p:nvSpPr>
            <p:spPr bwMode="auto">
              <a:xfrm>
                <a:off x="1707644" y="1372856"/>
                <a:ext cx="109378" cy="121714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57681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3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3" name="Rectangle 127"/>
            <p:cNvSpPr/>
            <p:nvPr/>
          </p:nvSpPr>
          <p:spPr>
            <a:xfrm>
              <a:off x="775618" y="1341351"/>
              <a:ext cx="413076" cy="187401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36000" tIns="0" rIns="0" bIns="0" rtlCol="0" anchor="ctr"/>
            <a:lstStyle/>
            <a:p>
              <a:pPr marR="0" lvl="0" defTabSz="57681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kern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Calibri"/>
                  <a:ea typeface="맑은 고딕" panose="020B0503020000020004" pitchFamily="50" charset="-127"/>
                </a:rPr>
                <a:t>양력 ▼</a:t>
              </a:r>
              <a:endParaRPr kumimoji="0" 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409" name="그룹 408"/>
          <p:cNvGrpSpPr/>
          <p:nvPr/>
        </p:nvGrpSpPr>
        <p:grpSpPr>
          <a:xfrm>
            <a:off x="5182544" y="1427642"/>
            <a:ext cx="519121" cy="1316664"/>
            <a:chOff x="785804" y="1442882"/>
            <a:chExt cx="519121" cy="1316664"/>
          </a:xfrm>
        </p:grpSpPr>
        <p:cxnSp>
          <p:nvCxnSpPr>
            <p:cNvPr id="410" name="꺾인 연결선 409"/>
            <p:cNvCxnSpPr/>
            <p:nvPr/>
          </p:nvCxnSpPr>
          <p:spPr>
            <a:xfrm rot="10800000" flipH="1" flipV="1">
              <a:off x="785804" y="1442882"/>
              <a:ext cx="30994" cy="1316664"/>
            </a:xfrm>
            <a:prstGeom prst="bentConnector3">
              <a:avLst>
                <a:gd name="adj1" fmla="val -215122"/>
              </a:avLst>
            </a:prstGeom>
            <a:ln w="3175">
              <a:solidFill>
                <a:srgbClr val="FF0000"/>
              </a:solidFill>
              <a:headEnd type="none" w="med" len="med"/>
              <a:tailEnd type="triangle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직선 화살표 연결선 410"/>
            <p:cNvCxnSpPr/>
            <p:nvPr/>
          </p:nvCxnSpPr>
          <p:spPr>
            <a:xfrm>
              <a:off x="1304925" y="1766353"/>
              <a:ext cx="0" cy="916001"/>
            </a:xfrm>
            <a:prstGeom prst="straightConnector1">
              <a:avLst/>
            </a:prstGeom>
            <a:ln w="3175">
              <a:solidFill>
                <a:srgbClr val="FF0000"/>
              </a:solidFill>
              <a:headEnd type="none" w="med" len="med"/>
              <a:tailEnd type="triangle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2" name="직사각형 411"/>
          <p:cNvSpPr/>
          <p:nvPr/>
        </p:nvSpPr>
        <p:spPr>
          <a:xfrm>
            <a:off x="2550186" y="482084"/>
            <a:ext cx="688009" cy="215444"/>
          </a:xfrm>
          <a:prstGeom prst="rect">
            <a:avLst/>
          </a:prstGeom>
          <a:solidFill>
            <a:srgbClr val="0000FF"/>
          </a:solidFill>
        </p:spPr>
        <p:txBody>
          <a:bodyPr wrap="none">
            <a:spAutoFit/>
          </a:bodyPr>
          <a:lstStyle/>
          <a:p>
            <a:r>
              <a:rPr lang="ko-KR" altLang="en-US" sz="800">
                <a:solidFill>
                  <a:schemeClr val="bg1"/>
                </a:solidFill>
                <a:latin typeface="+mn-ea"/>
                <a:ea typeface="+mn-ea"/>
              </a:rPr>
              <a:t>CA6.2.1.1.1</a:t>
            </a:r>
          </a:p>
        </p:txBody>
      </p:sp>
      <p:sp>
        <p:nvSpPr>
          <p:cNvPr id="413" name="직사각형 412"/>
          <p:cNvSpPr/>
          <p:nvPr/>
        </p:nvSpPr>
        <p:spPr>
          <a:xfrm>
            <a:off x="2550186" y="3625334"/>
            <a:ext cx="688009" cy="215444"/>
          </a:xfrm>
          <a:prstGeom prst="rect">
            <a:avLst/>
          </a:prstGeom>
          <a:solidFill>
            <a:srgbClr val="0000FF"/>
          </a:solidFill>
        </p:spPr>
        <p:txBody>
          <a:bodyPr wrap="none">
            <a:spAutoFit/>
          </a:bodyPr>
          <a:lstStyle/>
          <a:p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CA6.2.1.1.</a:t>
            </a: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2</a:t>
            </a:r>
            <a:endParaRPr lang="ko-KR" altLang="en-US" sz="80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414" name="직사각형 413"/>
          <p:cNvSpPr/>
          <p:nvPr/>
        </p:nvSpPr>
        <p:spPr>
          <a:xfrm>
            <a:off x="7036461" y="482084"/>
            <a:ext cx="688009" cy="215444"/>
          </a:xfrm>
          <a:prstGeom prst="rect">
            <a:avLst/>
          </a:prstGeom>
          <a:solidFill>
            <a:srgbClr val="0000FF"/>
          </a:solidFill>
        </p:spPr>
        <p:txBody>
          <a:bodyPr wrap="none">
            <a:spAutoFit/>
          </a:bodyPr>
          <a:lstStyle/>
          <a:p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CA6.2.1.1.</a:t>
            </a:r>
            <a:r>
              <a:rPr lang="en-US" altLang="ko-KR" sz="800">
                <a:solidFill>
                  <a:schemeClr val="bg1"/>
                </a:solidFill>
                <a:latin typeface="+mn-ea"/>
                <a:ea typeface="+mn-ea"/>
              </a:rPr>
              <a:t>3</a:t>
            </a:r>
            <a:endParaRPr lang="ko-KR" altLang="en-US" sz="80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415" name="타원 414"/>
          <p:cNvSpPr>
            <a:spLocks noChangeAspect="1"/>
          </p:cNvSpPr>
          <p:nvPr/>
        </p:nvSpPr>
        <p:spPr>
          <a:xfrm>
            <a:off x="2914623" y="187000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1-2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6" name="타원 415"/>
          <p:cNvSpPr>
            <a:spLocks noChangeAspect="1"/>
          </p:cNvSpPr>
          <p:nvPr/>
        </p:nvSpPr>
        <p:spPr>
          <a:xfrm>
            <a:off x="2914623" y="507040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7" name="타원 416"/>
          <p:cNvSpPr>
            <a:spLocks noChangeAspect="1"/>
          </p:cNvSpPr>
          <p:nvPr/>
        </p:nvSpPr>
        <p:spPr>
          <a:xfrm>
            <a:off x="7334223" y="187952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3-1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8" name="TextBox 417"/>
          <p:cNvSpPr txBox="1"/>
          <p:nvPr/>
        </p:nvSpPr>
        <p:spPr>
          <a:xfrm>
            <a:off x="1017376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본문 참조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75102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직사각형"/>
          <p:cNvSpPr/>
          <p:nvPr/>
        </p:nvSpPr>
        <p:spPr>
          <a:xfrm>
            <a:off x="189335" y="416863"/>
            <a:ext cx="7487538" cy="503143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endParaRPr sz="240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146" name="Rectangle 212"/>
          <p:cNvSpPr/>
          <p:nvPr/>
        </p:nvSpPr>
        <p:spPr>
          <a:xfrm>
            <a:off x="202573" y="677714"/>
            <a:ext cx="7468227" cy="2916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일정 정보</a:t>
            </a:r>
            <a:endParaRPr lang="en-US" sz="800" b="1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</p:txBody>
      </p:sp>
      <p:cxnSp>
        <p:nvCxnSpPr>
          <p:cNvPr id="147" name="직선 연결선[R] 7"/>
          <p:cNvCxnSpPr/>
          <p:nvPr/>
        </p:nvCxnSpPr>
        <p:spPr>
          <a:xfrm>
            <a:off x="190692" y="1332080"/>
            <a:ext cx="7486181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48" name="텍스트 상자 31"/>
          <p:cNvSpPr txBox="1"/>
          <p:nvPr/>
        </p:nvSpPr>
        <p:spPr>
          <a:xfrm>
            <a:off x="371287" y="1540946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제목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49" name="직선 연결선[R] 7"/>
          <p:cNvCxnSpPr/>
          <p:nvPr/>
        </p:nvCxnSpPr>
        <p:spPr>
          <a:xfrm>
            <a:off x="911112" y="1721683"/>
            <a:ext cx="4962148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150" name="텍스트 상자 31"/>
          <p:cNvSpPr txBox="1"/>
          <p:nvPr/>
        </p:nvSpPr>
        <p:spPr>
          <a:xfrm>
            <a:off x="371287" y="1963790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달력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1" name="Group 15"/>
          <p:cNvGrpSpPr/>
          <p:nvPr/>
        </p:nvGrpSpPr>
        <p:grpSpPr>
          <a:xfrm>
            <a:off x="2948715" y="1147745"/>
            <a:ext cx="1982016" cy="176117"/>
            <a:chOff x="4223944" y="1715997"/>
            <a:chExt cx="1982016" cy="176117"/>
          </a:xfrm>
        </p:grpSpPr>
        <p:sp>
          <p:nvSpPr>
            <p:cNvPr id="152" name="텍스트 상자 31"/>
            <p:cNvSpPr txBox="1"/>
            <p:nvPr/>
          </p:nvSpPr>
          <p:spPr>
            <a:xfrm>
              <a:off x="4935567" y="1715997"/>
              <a:ext cx="1270393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설비 </a:t>
              </a:r>
              <a:r>
                <a:rPr kumimoji="1" lang="ko-KR" altLang="en-US" sz="9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일정확인</a:t>
              </a:r>
              <a:endParaRPr kumimoji="1" lang="ko-KR" altLang="en-US" sz="9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53" name="Group 13"/>
            <p:cNvGrpSpPr/>
            <p:nvPr/>
          </p:nvGrpSpPr>
          <p:grpSpPr>
            <a:xfrm>
              <a:off x="4223944" y="1715997"/>
              <a:ext cx="612000" cy="176117"/>
              <a:chOff x="4223944" y="1715997"/>
              <a:chExt cx="612000" cy="176117"/>
            </a:xfrm>
          </p:grpSpPr>
          <p:sp>
            <p:nvSpPr>
              <p:cNvPr id="154" name="텍스트 상자 31"/>
              <p:cNvSpPr txBox="1"/>
              <p:nvPr/>
            </p:nvSpPr>
            <p:spPr>
              <a:xfrm>
                <a:off x="4223944" y="1715997"/>
                <a:ext cx="612000" cy="1384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kumimoji="1" lang="ko-KR" altLang="en-US" sz="900" b="1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일정 상세</a:t>
                </a:r>
                <a:endParaRPr kumimoji="1" lang="ko-KR" altLang="en-US" sz="900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155" name="직선 연결선[R] 7"/>
              <p:cNvCxnSpPr/>
              <p:nvPr/>
            </p:nvCxnSpPr>
            <p:spPr>
              <a:xfrm>
                <a:off x="4277944" y="1892114"/>
                <a:ext cx="504000" cy="0"/>
              </a:xfrm>
              <a:prstGeom prst="line">
                <a:avLst/>
              </a:prstGeom>
              <a:ln w="38100">
                <a:solidFill>
                  <a:schemeClr val="tx1">
                    <a:lumMod val="65000"/>
                    <a:lumOff val="35000"/>
                  </a:schemeClr>
                </a:solidFill>
                <a:miter lim="400000"/>
              </a:ln>
            </p:spPr>
          </p:cxnSp>
        </p:grpSp>
      </p:grpSp>
      <p:sp>
        <p:nvSpPr>
          <p:cNvPr id="156" name="텍스트 상자 31"/>
          <p:cNvSpPr txBox="1"/>
          <p:nvPr/>
        </p:nvSpPr>
        <p:spPr>
          <a:xfrm>
            <a:off x="371287" y="4019155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알림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9" name="텍스트 상자 31"/>
          <p:cNvSpPr txBox="1"/>
          <p:nvPr/>
        </p:nvSpPr>
        <p:spPr>
          <a:xfrm>
            <a:off x="371287" y="2376985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일시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0" name="Rounded Rectangle 939"/>
          <p:cNvSpPr/>
          <p:nvPr/>
        </p:nvSpPr>
        <p:spPr>
          <a:xfrm>
            <a:off x="4974324" y="2328192"/>
            <a:ext cx="648000" cy="290149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9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반복 설정</a:t>
            </a:r>
            <a:endParaRPr kumimoji="1" lang="ko-KR" altLang="en-US" sz="9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61" name="Group 67"/>
          <p:cNvGrpSpPr/>
          <p:nvPr/>
        </p:nvGrpSpPr>
        <p:grpSpPr>
          <a:xfrm>
            <a:off x="1381746" y="2328192"/>
            <a:ext cx="3555600" cy="290149"/>
            <a:chOff x="1135173" y="2884869"/>
            <a:chExt cx="3555600" cy="290149"/>
          </a:xfrm>
        </p:grpSpPr>
        <p:sp>
          <p:nvSpPr>
            <p:cNvPr id="162" name="Rounded Rectangle 939"/>
            <p:cNvSpPr/>
            <p:nvPr/>
          </p:nvSpPr>
          <p:spPr>
            <a:xfrm>
              <a:off x="1135173" y="2884869"/>
              <a:ext cx="792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kumimoji="1" lang="en-US" altLang="ko-KR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2017.09.20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3" name="Rounded Rectangle 939"/>
            <p:cNvSpPr/>
            <p:nvPr/>
          </p:nvSpPr>
          <p:spPr>
            <a:xfrm>
              <a:off x="1935273" y="2884869"/>
              <a:ext cx="864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72000" tIns="0" rIns="0" bIns="0" anchor="ctr"/>
            <a:lstStyle/>
            <a:p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오전 </a:t>
              </a:r>
              <a:r>
                <a:rPr kumimoji="1" lang="en-US" altLang="ko-KR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11:00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4" name="Triangle 942"/>
            <p:cNvSpPr>
              <a:spLocks noChangeAspect="1"/>
            </p:cNvSpPr>
            <p:nvPr/>
          </p:nvSpPr>
          <p:spPr>
            <a:xfrm flipV="1">
              <a:off x="2620251" y="2998992"/>
              <a:ext cx="108000" cy="61902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  <p:sp>
          <p:nvSpPr>
            <p:cNvPr id="165" name="Rounded Rectangle 939"/>
            <p:cNvSpPr/>
            <p:nvPr/>
          </p:nvSpPr>
          <p:spPr>
            <a:xfrm>
              <a:off x="3026673" y="2884869"/>
              <a:ext cx="792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kumimoji="1" lang="en-US" altLang="ko-KR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2017.09.20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6" name="Rounded Rectangle 939"/>
            <p:cNvSpPr/>
            <p:nvPr/>
          </p:nvSpPr>
          <p:spPr>
            <a:xfrm>
              <a:off x="3826773" y="2884869"/>
              <a:ext cx="864000" cy="29014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72000" tIns="0" rIns="0" bIns="0" anchor="ctr"/>
            <a:lstStyle/>
            <a:p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오후 </a:t>
              </a:r>
              <a:r>
                <a:rPr kumimoji="1"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en-US" altLang="ko-KR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:00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7" name="Triangle 942"/>
            <p:cNvSpPr>
              <a:spLocks noChangeAspect="1"/>
            </p:cNvSpPr>
            <p:nvPr/>
          </p:nvSpPr>
          <p:spPr>
            <a:xfrm flipV="1">
              <a:off x="4511751" y="2998992"/>
              <a:ext cx="108000" cy="61902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  <p:grpSp>
        <p:nvGrpSpPr>
          <p:cNvPr id="168" name="Group 661"/>
          <p:cNvGrpSpPr/>
          <p:nvPr/>
        </p:nvGrpSpPr>
        <p:grpSpPr>
          <a:xfrm>
            <a:off x="371287" y="3600470"/>
            <a:ext cx="5501973" cy="199787"/>
            <a:chOff x="583051" y="2407589"/>
            <a:chExt cx="5501973" cy="199787"/>
          </a:xfrm>
        </p:grpSpPr>
        <p:sp>
          <p:nvSpPr>
            <p:cNvPr id="169" name="텍스트 상자 31"/>
            <p:cNvSpPr txBox="1"/>
            <p:nvPr/>
          </p:nvSpPr>
          <p:spPr>
            <a:xfrm>
              <a:off x="583051" y="2407589"/>
              <a:ext cx="454551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</a:t>
              </a:r>
              <a:endParaRPr kumimoji="1"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0" name="직선 연결선[R] 7"/>
            <p:cNvCxnSpPr/>
            <p:nvPr/>
          </p:nvCxnSpPr>
          <p:spPr>
            <a:xfrm>
              <a:off x="1122876" y="2607376"/>
              <a:ext cx="4962148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miter lim="400000"/>
            </a:ln>
          </p:spPr>
        </p:cxnSp>
      </p:grpSp>
      <p:sp>
        <p:nvSpPr>
          <p:cNvPr id="171" name="Rounded Rectangle 939"/>
          <p:cNvSpPr/>
          <p:nvPr/>
        </p:nvSpPr>
        <p:spPr>
          <a:xfrm>
            <a:off x="5939014" y="3575746"/>
            <a:ext cx="828000" cy="224511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8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설비 일정 확인</a:t>
            </a:r>
            <a:endParaRPr kumimoji="1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2" name="Rounded Rectangle 939"/>
          <p:cNvSpPr/>
          <p:nvPr/>
        </p:nvSpPr>
        <p:spPr>
          <a:xfrm>
            <a:off x="911112" y="3526895"/>
            <a:ext cx="612000" cy="22885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72000" tIns="0" rIns="0" bIns="0" anchor="ctr"/>
          <a:lstStyle/>
          <a:p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추가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73" name="Group 121"/>
          <p:cNvGrpSpPr/>
          <p:nvPr/>
        </p:nvGrpSpPr>
        <p:grpSpPr>
          <a:xfrm>
            <a:off x="5840062" y="2379510"/>
            <a:ext cx="365833" cy="187731"/>
            <a:chOff x="10669464" y="2798956"/>
            <a:chExt cx="365833" cy="187731"/>
          </a:xfrm>
        </p:grpSpPr>
        <p:sp>
          <p:nvSpPr>
            <p:cNvPr id="174" name="Rounded Rectangle 722"/>
            <p:cNvSpPr/>
            <p:nvPr/>
          </p:nvSpPr>
          <p:spPr>
            <a:xfrm>
              <a:off x="10819297" y="2798956"/>
              <a:ext cx="216000" cy="187731"/>
            </a:xfrm>
            <a:prstGeom prst="roundRect">
              <a:avLst>
                <a:gd name="adj" fmla="val 8420"/>
              </a:avLst>
            </a:prstGeom>
            <a:noFill/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종일</a:t>
              </a: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5" name="Rounded Rectangle 723"/>
            <p:cNvSpPr/>
            <p:nvPr/>
          </p:nvSpPr>
          <p:spPr>
            <a:xfrm>
              <a:off x="10669464" y="283454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76" name="Triangle 942"/>
          <p:cNvSpPr>
            <a:spLocks noChangeAspect="1"/>
          </p:cNvSpPr>
          <p:nvPr/>
        </p:nvSpPr>
        <p:spPr>
          <a:xfrm flipV="1">
            <a:off x="1410971" y="3624572"/>
            <a:ext cx="91689" cy="52553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33">
              <a:solidFill>
                <a:schemeClr val="tx1"/>
              </a:solidFill>
              <a:latin typeface="+mn-ea"/>
              <a:ea typeface="+mn-ea"/>
              <a:cs typeface="ＭＳ Ｐゴシック" charset="0"/>
            </a:endParaRPr>
          </a:p>
        </p:txBody>
      </p:sp>
      <p:grpSp>
        <p:nvGrpSpPr>
          <p:cNvPr id="177" name="Group 1"/>
          <p:cNvGrpSpPr/>
          <p:nvPr/>
        </p:nvGrpSpPr>
        <p:grpSpPr>
          <a:xfrm>
            <a:off x="911112" y="2328197"/>
            <a:ext cx="432000" cy="286194"/>
            <a:chOff x="1122876" y="2916525"/>
            <a:chExt cx="432000" cy="251417"/>
          </a:xfrm>
        </p:grpSpPr>
        <p:sp>
          <p:nvSpPr>
            <p:cNvPr id="178" name="Rounded Rectangle 939"/>
            <p:cNvSpPr/>
            <p:nvPr/>
          </p:nvSpPr>
          <p:spPr>
            <a:xfrm>
              <a:off x="1122876" y="2916525"/>
              <a:ext cx="432000" cy="251417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72000" tIns="0" rIns="0" bIns="0" anchor="ctr"/>
            <a:lstStyle/>
            <a:p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양력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9" name="Triangle 942"/>
            <p:cNvSpPr>
              <a:spLocks noChangeAspect="1"/>
            </p:cNvSpPr>
            <p:nvPr/>
          </p:nvSpPr>
          <p:spPr>
            <a:xfrm flipV="1">
              <a:off x="1419199" y="3021952"/>
              <a:ext cx="91689" cy="52553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</p:grpSp>
      <p:sp>
        <p:nvSpPr>
          <p:cNvPr id="180" name="텍스트 상자 31"/>
          <p:cNvSpPr txBox="1"/>
          <p:nvPr/>
        </p:nvSpPr>
        <p:spPr>
          <a:xfrm>
            <a:off x="893019" y="4052079"/>
            <a:ext cx="684000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en-US" altLang="ko-KR" sz="800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+</a:t>
            </a:r>
            <a:r>
              <a:rPr kumimoji="1" lang="ko-KR" altLang="en-US" sz="800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알림 추가</a:t>
            </a:r>
            <a:endParaRPr kumimoji="1" lang="ko-KR" altLang="en-US" sz="800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7" name="텍스트 상자 31"/>
          <p:cNvSpPr txBox="1"/>
          <p:nvPr/>
        </p:nvSpPr>
        <p:spPr>
          <a:xfrm>
            <a:off x="907882" y="1945843"/>
            <a:ext cx="198347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smtClean="0">
                <a:latin typeface="+mn-ea"/>
                <a:ea typeface="+mn-ea"/>
              </a:rPr>
              <a:t>■ </a:t>
            </a:r>
            <a:r>
              <a:rPr kumimoji="1" lang="en-US" altLang="ko-KR" sz="800" smtClean="0">
                <a:latin typeface="+mn-ea"/>
                <a:ea typeface="+mn-ea"/>
              </a:rPr>
              <a:t>A </a:t>
            </a:r>
            <a:r>
              <a:rPr kumimoji="1" lang="ko-KR" altLang="en-US" sz="800" dirty="0">
                <a:latin typeface="+mn-ea"/>
                <a:ea typeface="+mn-ea"/>
              </a:rPr>
              <a:t>통신사 서비스 </a:t>
            </a:r>
            <a:r>
              <a:rPr kumimoji="1" lang="en-US" altLang="ko-KR" sz="800" dirty="0">
                <a:latin typeface="+mn-ea"/>
                <a:ea typeface="+mn-ea"/>
              </a:rPr>
              <a:t>TF</a:t>
            </a:r>
            <a:endParaRPr kumimoji="1" lang="ko-KR" altLang="en-US" sz="800" dirty="0">
              <a:latin typeface="+mn-ea"/>
              <a:ea typeface="+mn-ea"/>
            </a:endParaRPr>
          </a:p>
        </p:txBody>
      </p:sp>
      <p:grpSp>
        <p:nvGrpSpPr>
          <p:cNvPr id="199" name="그룹 198"/>
          <p:cNvGrpSpPr/>
          <p:nvPr/>
        </p:nvGrpSpPr>
        <p:grpSpPr>
          <a:xfrm>
            <a:off x="191314" y="416864"/>
            <a:ext cx="7485559" cy="237744"/>
            <a:chOff x="191314" y="416864"/>
            <a:chExt cx="7485559" cy="237744"/>
          </a:xfrm>
        </p:grpSpPr>
        <p:sp>
          <p:nvSpPr>
            <p:cNvPr id="200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1"/>
              </p:custDataLst>
            </p:nvPr>
          </p:nvSpPr>
          <p:spPr>
            <a:xfrm>
              <a:off x="191314" y="416864"/>
              <a:ext cx="7485559" cy="2377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  <a:effectLst/>
          </p:spPr>
          <p:txBody>
            <a:bodyPr lIns="50800" tIns="50800" rIns="50800" bIns="50800" anchor="ctr"/>
            <a:lstStyle/>
            <a:p>
              <a:r>
                <a:rPr lang="en-US" sz="8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</a:rPr>
                <a:t>Window</a:t>
              </a:r>
            </a:p>
          </p:txBody>
        </p:sp>
        <p:sp>
          <p:nvSpPr>
            <p:cNvPr id="201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7491336" y="48960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2" name="TextBox 201"/>
          <p:cNvSpPr txBox="1"/>
          <p:nvPr/>
        </p:nvSpPr>
        <p:spPr>
          <a:xfrm>
            <a:off x="3106993" y="2362373"/>
            <a:ext cx="14483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75" name="Cutout"/>
          <p:cNvGrpSpPr/>
          <p:nvPr/>
        </p:nvGrpSpPr>
        <p:grpSpPr>
          <a:xfrm rot="16200000">
            <a:off x="3768493" y="628979"/>
            <a:ext cx="298397" cy="7671315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76" name="Fill"/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order"/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5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#</a:t>
            </a:r>
            <a:r>
              <a:rPr kumimoji="0"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상세 수정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58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987" y="154755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1104900" y="1517595"/>
            <a:ext cx="1117861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/>
            <a:r>
              <a:rPr lang="ko-KR" altLang="en-US" sz="8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서비스 </a:t>
            </a:r>
            <a:r>
              <a:rPr lang="en-US" altLang="ko-KR" sz="8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TF</a:t>
            </a:r>
            <a:r>
              <a:rPr lang="ko-KR" altLang="en-US" sz="8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 팀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/>
                <a:ea typeface="맑은 고딕"/>
              </a:rPr>
              <a:t>중간회식</a:t>
            </a:r>
            <a:endParaRPr lang="en-US" altLang="ko-KR" sz="800" b="1">
              <a:solidFill>
                <a:schemeClr val="tx1">
                  <a:lumMod val="95000"/>
                  <a:lumOff val="5000"/>
                </a:schemeClr>
              </a:solidFill>
              <a:latin typeface="맑은 고딕"/>
              <a:ea typeface="맑은 고딕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906476" y="2756917"/>
            <a:ext cx="3339623" cy="481029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음력 ㅣ </a:t>
            </a:r>
            <a:r>
              <a:rPr kumimoji="1" lang="en-US" altLang="ko-KR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2018-01-22 ~ 2018-01-22 </a:t>
            </a: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ㅣ </a:t>
            </a: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kumimoji="1" lang="en-US" altLang="ko-KR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11:00 ~ </a:t>
            </a: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오전 </a:t>
            </a:r>
            <a:r>
              <a:rPr kumimoji="1" lang="en-US" altLang="ko-KR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11:30</a:t>
            </a: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매일 반복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1517301" y="3020692"/>
            <a:ext cx="567788" cy="162000"/>
            <a:chOff x="2980341" y="3443602"/>
            <a:chExt cx="567788" cy="162000"/>
          </a:xfrm>
        </p:grpSpPr>
        <p:sp>
          <p:nvSpPr>
            <p:cNvPr id="62" name="Rounded Rectangle 861"/>
            <p:cNvSpPr/>
            <p:nvPr/>
          </p:nvSpPr>
          <p:spPr>
            <a:xfrm>
              <a:off x="2980341" y="3443602"/>
              <a:ext cx="271574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수정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3" name="Rounded Rectangle 861"/>
            <p:cNvSpPr/>
            <p:nvPr/>
          </p:nvSpPr>
          <p:spPr>
            <a:xfrm>
              <a:off x="3276555" y="3443602"/>
              <a:ext cx="271574" cy="16200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삭제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sp>
        <p:nvSpPr>
          <p:cNvPr id="67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5275162" y="4921050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tx1">
              <a:lumMod val="75000"/>
              <a:lumOff val="25000"/>
            </a:schemeClr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6618187" y="4921050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5946675" y="4921050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>
              <a:defRPr/>
            </a:pPr>
            <a:r>
              <a:rPr lang="en-US" altLang="ko-KR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CA6.1.1.5</a:t>
            </a:r>
            <a:endParaRPr lang="ko-KR" altLang="en-US" sz="800" b="1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스퀘어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피드</a:t>
            </a:r>
          </a:p>
        </p:txBody>
      </p:sp>
      <p:graphicFrame>
        <p:nvGraphicFramePr>
          <p:cNvPr id="7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9314297"/>
              </p:ext>
            </p:extLst>
          </p:nvPr>
        </p:nvGraphicFramePr>
        <p:xfrm>
          <a:off x="9290533" y="786383"/>
          <a:ext cx="2834792" cy="5275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4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※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일정 상세 등록</a:t>
                      </a:r>
                      <a:r>
                        <a:rPr kumimoji="0" lang="en-US" altLang="ko-KR" sz="800" b="1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(SQ5.2.1.3.3.1) </a:t>
                      </a:r>
                      <a:r>
                        <a:rPr kumimoji="0" lang="ko-KR" altLang="en-US" sz="800" b="1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팝업 화면에서 팝업 타이틀 및 하단 버튼 다르고 그외 정보는 동일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graphicFrame>
        <p:nvGraphicFramePr>
          <p:cNvPr id="80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205323"/>
              </p:ext>
            </p:extLst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7" name="TextBox 86"/>
          <p:cNvSpPr txBox="1"/>
          <p:nvPr/>
        </p:nvSpPr>
        <p:spPr>
          <a:xfrm>
            <a:off x="9296400" y="1364362"/>
            <a:ext cx="2624684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해당 화면은 일정 상세 등록 화면과 동일한 구조이므로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/>
            </a:r>
            <a:b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</a:b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디자인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/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퍼블 작업 필요 없음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92" name="Rectangle 202"/>
          <p:cNvSpPr/>
          <p:nvPr/>
        </p:nvSpPr>
        <p:spPr>
          <a:xfrm>
            <a:off x="8351342" y="3090093"/>
            <a:ext cx="3437310" cy="152374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텍스트 상자 31"/>
          <p:cNvSpPr txBox="1"/>
          <p:nvPr/>
        </p:nvSpPr>
        <p:spPr>
          <a:xfrm>
            <a:off x="8809001" y="3203412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김민수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|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UX/UI 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팀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4" name="텍스트 상자 31"/>
          <p:cNvSpPr txBox="1"/>
          <p:nvPr/>
        </p:nvSpPr>
        <p:spPr>
          <a:xfrm>
            <a:off x="8809001" y="3352588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방금전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Rectangle 177"/>
          <p:cNvSpPr/>
          <p:nvPr/>
        </p:nvSpPr>
        <p:spPr>
          <a:xfrm>
            <a:off x="8455073" y="3774646"/>
            <a:ext cx="3262132" cy="45887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96" name="Group 221"/>
          <p:cNvGrpSpPr/>
          <p:nvPr/>
        </p:nvGrpSpPr>
        <p:grpSpPr>
          <a:xfrm>
            <a:off x="8872316" y="3839374"/>
            <a:ext cx="2626900" cy="384238"/>
            <a:chOff x="2887384" y="5635480"/>
            <a:chExt cx="2626900" cy="384238"/>
          </a:xfrm>
        </p:grpSpPr>
        <p:sp>
          <p:nvSpPr>
            <p:cNvPr id="117" name="텍스트 상자 31"/>
            <p:cNvSpPr txBox="1"/>
            <p:nvPr/>
          </p:nvSpPr>
          <p:spPr>
            <a:xfrm>
              <a:off x="2892510" y="5635480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A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서비스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TF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팀 중간회식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텍스트 상자 31"/>
            <p:cNvSpPr txBox="1"/>
            <p:nvPr/>
          </p:nvSpPr>
          <p:spPr>
            <a:xfrm>
              <a:off x="2887384" y="5742719"/>
              <a:ext cx="26269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>
                <a:lnSpc>
                  <a:spcPct val="150000"/>
                </a:lnSpc>
                <a:defRPr/>
              </a:pPr>
              <a:r>
                <a:rPr lang="en-US" altLang="ko-KR" sz="600" smtClean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2018-01-22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~ </a:t>
              </a:r>
              <a:r>
                <a:rPr lang="en-US" altLang="ko-KR" sz="600" smtClean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2018-01-23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ㅣ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오전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11:00 ~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오전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11:30</a:t>
              </a:r>
            </a:p>
            <a:p>
              <a:pPr lvl="0">
                <a:lnSpc>
                  <a:spcPct val="150000"/>
                </a:lnSpc>
                <a:defRPr/>
              </a:pP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매일 반복</a:t>
              </a:r>
              <a:endParaRPr lang="ko-KR" altLang="en-US" sz="6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97" name="Freeform 33"/>
          <p:cNvSpPr>
            <a:spLocks noEditPoints="1"/>
          </p:cNvSpPr>
          <p:nvPr/>
        </p:nvSpPr>
        <p:spPr bwMode="auto">
          <a:xfrm>
            <a:off x="8581725" y="3901250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98" name="직선 연결선[R] 33"/>
          <p:cNvCxnSpPr/>
          <p:nvPr/>
        </p:nvCxnSpPr>
        <p:spPr>
          <a:xfrm>
            <a:off x="8440004" y="4321848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reeform 227"/>
          <p:cNvSpPr>
            <a:spLocks noChangeArrowheads="1"/>
          </p:cNvSpPr>
          <p:nvPr/>
        </p:nvSpPr>
        <p:spPr bwMode="auto">
          <a:xfrm rot="5400000">
            <a:off x="11534947" y="396888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00" name="Freeform 26"/>
          <p:cNvSpPr>
            <a:spLocks noChangeAspect="1" noChangeArrowheads="1"/>
          </p:cNvSpPr>
          <p:nvPr/>
        </p:nvSpPr>
        <p:spPr bwMode="auto">
          <a:xfrm flipH="1">
            <a:off x="11634304" y="3215388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01" name="Freeform 25"/>
          <p:cNvSpPr>
            <a:spLocks noChangeAspect="1" noEditPoints="1"/>
          </p:cNvSpPr>
          <p:nvPr/>
        </p:nvSpPr>
        <p:spPr bwMode="auto">
          <a:xfrm>
            <a:off x="11442782" y="3210967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2" name="Picture 3" descr="C:\Users\Administrator\Downloads\round-account-button-with-user-inside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80301" y="3199756"/>
            <a:ext cx="205200" cy="2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/>
          <p:cNvGrpSpPr/>
          <p:nvPr/>
        </p:nvGrpSpPr>
        <p:grpSpPr>
          <a:xfrm>
            <a:off x="8442294" y="4379224"/>
            <a:ext cx="930081" cy="115755"/>
            <a:chOff x="4297396" y="1127703"/>
            <a:chExt cx="930081" cy="115755"/>
          </a:xfrm>
        </p:grpSpPr>
        <p:grpSp>
          <p:nvGrpSpPr>
            <p:cNvPr id="104" name="그룹 103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106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08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15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en-US" sz="1633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Roboto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6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0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109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10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0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grpSp>
                <p:nvGrpSpPr>
                  <p:cNvPr id="111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12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113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114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</p:grpSp>
          </p:grpSp>
          <p:pic>
            <p:nvPicPr>
              <p:cNvPr id="107" name="그림 106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05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cxnSp>
        <p:nvCxnSpPr>
          <p:cNvPr id="6" name="직선 화살표 연결선 5"/>
          <p:cNvCxnSpPr/>
          <p:nvPr/>
        </p:nvCxnSpPr>
        <p:spPr>
          <a:xfrm flipH="1">
            <a:off x="7762850" y="3998760"/>
            <a:ext cx="668715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Rectangle 177"/>
          <p:cNvSpPr/>
          <p:nvPr/>
        </p:nvSpPr>
        <p:spPr>
          <a:xfrm>
            <a:off x="8455073" y="3774646"/>
            <a:ext cx="3262132" cy="458876"/>
          </a:xfrm>
          <a:prstGeom prst="rect">
            <a:avLst/>
          </a:prstGeom>
          <a:solidFill>
            <a:srgbClr val="0070C0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8324850" y="4675573"/>
            <a:ext cx="2037985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해당 영역 클릭시 내가 작성한 정보일 경우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화면으로 출력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8477250" y="3541642"/>
            <a:ext cx="168211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30310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직사각형"/>
          <p:cNvSpPr/>
          <p:nvPr/>
        </p:nvSpPr>
        <p:spPr>
          <a:xfrm>
            <a:off x="189335" y="416863"/>
            <a:ext cx="7487538" cy="503143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endParaRPr sz="240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146" name="Rectangle 212"/>
          <p:cNvSpPr/>
          <p:nvPr/>
        </p:nvSpPr>
        <p:spPr>
          <a:xfrm>
            <a:off x="202573" y="677714"/>
            <a:ext cx="7468227" cy="2916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일정 정보</a:t>
            </a:r>
            <a:endParaRPr lang="en-US" sz="800" b="1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</p:txBody>
      </p:sp>
      <p:grpSp>
        <p:nvGrpSpPr>
          <p:cNvPr id="199" name="그룹 198"/>
          <p:cNvGrpSpPr/>
          <p:nvPr/>
        </p:nvGrpSpPr>
        <p:grpSpPr>
          <a:xfrm>
            <a:off x="191314" y="416864"/>
            <a:ext cx="7485559" cy="237744"/>
            <a:chOff x="191314" y="416864"/>
            <a:chExt cx="7485559" cy="237744"/>
          </a:xfrm>
        </p:grpSpPr>
        <p:sp>
          <p:nvSpPr>
            <p:cNvPr id="200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1"/>
              </p:custDataLst>
            </p:nvPr>
          </p:nvSpPr>
          <p:spPr>
            <a:xfrm>
              <a:off x="191314" y="416864"/>
              <a:ext cx="7485559" cy="2377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  <a:effectLst/>
          </p:spPr>
          <p:txBody>
            <a:bodyPr lIns="50800" tIns="50800" rIns="50800" bIns="50800" anchor="ctr"/>
            <a:lstStyle/>
            <a:p>
              <a:r>
                <a:rPr lang="en-US" sz="8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</a:rPr>
                <a:t>Window</a:t>
              </a:r>
            </a:p>
          </p:txBody>
        </p:sp>
        <p:sp>
          <p:nvSpPr>
            <p:cNvPr id="201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7491336" y="48960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5" name="Cutout"/>
          <p:cNvGrpSpPr/>
          <p:nvPr/>
        </p:nvGrpSpPr>
        <p:grpSpPr>
          <a:xfrm rot="16200000">
            <a:off x="3768493" y="628979"/>
            <a:ext cx="298397" cy="7671315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76" name="Fill"/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order"/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5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#</a:t>
            </a:r>
            <a:r>
              <a:rPr kumimoji="0"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상세 보기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8" name="Rounded Rectangle 939">
            <a:extLst>
              <a:ext uri="{FF2B5EF4-FFF2-40B4-BE49-F238E27FC236}">
                <a16:creationId xmlns:a16="http://schemas.microsoft.com/office/drawing/2014/main" id="{06E28BB8-90D3-4A06-ABEF-48084301FC19}"/>
              </a:ext>
            </a:extLst>
          </p:cNvPr>
          <p:cNvSpPr/>
          <p:nvPr/>
        </p:nvSpPr>
        <p:spPr>
          <a:xfrm>
            <a:off x="6618187" y="4921050"/>
            <a:ext cx="605744" cy="243381"/>
          </a:xfrm>
          <a:prstGeom prst="roundRect">
            <a:avLst>
              <a:gd name="adj" fmla="val 8420"/>
            </a:avLst>
          </a:prstGeom>
          <a:solidFill>
            <a:schemeClr val="tx1">
              <a:lumMod val="75000"/>
              <a:lumOff val="25000"/>
            </a:schemeClr>
          </a:solidFill>
          <a:ln w="6350" cap="flat" cmpd="sng">
            <a:solidFill>
              <a:schemeClr val="tx1">
                <a:lumMod val="95000"/>
                <a:lumOff val="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lang="ko-KR" altLang="en-US" sz="8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sz="8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0192816" y="305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>
              <a:defRPr/>
            </a:pPr>
            <a:r>
              <a:rPr lang="en-US" altLang="ko-KR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CA6.1.1.3</a:t>
            </a:r>
            <a:endParaRPr lang="ko-KR" altLang="en-US" sz="800" b="1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5420791" y="773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lvl="0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스퀘어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</a:t>
            </a:r>
            <a:r>
              <a:rPr lang="en-US" altLang="ko-KR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피드</a:t>
            </a:r>
          </a:p>
        </p:txBody>
      </p:sp>
      <p:graphicFrame>
        <p:nvGraphicFramePr>
          <p:cNvPr id="7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8683790"/>
              </p:ext>
            </p:extLst>
          </p:nvPr>
        </p:nvGraphicFramePr>
        <p:xfrm>
          <a:off x="9290533" y="786383"/>
          <a:ext cx="2834792" cy="771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4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※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0" marR="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해당 그룹내 작성된 일정 확인시 출력되는 화면으로 내가 등록된 일정이 아닐 경우 보기화면으로 제공</a:t>
                      </a:r>
                      <a:endParaRPr kumimoji="0" lang="en-US" altLang="ko-KR" sz="800" b="0" smtClean="0">
                        <a:solidFill>
                          <a:srgbClr val="595959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스퀘어 일정인 경우 </a:t>
                      </a:r>
                      <a:r>
                        <a:rPr kumimoji="0" lang="en-US" altLang="ko-KR" sz="800" b="0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800" b="0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내 일정에 복사</a:t>
                      </a:r>
                      <a:r>
                        <a:rPr kumimoji="0" lang="en-US" altLang="ko-KR" sz="800" b="0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kumimoji="0" lang="ko-KR" altLang="en-US" sz="800" b="0" smtClean="0">
                          <a:solidFill>
                            <a:srgbClr val="595959"/>
                          </a:solidFill>
                          <a:latin typeface="+mn-ea"/>
                          <a:ea typeface="+mn-ea"/>
                        </a:rPr>
                        <a:t>기능은 제공하지 않음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graphicFrame>
        <p:nvGraphicFramePr>
          <p:cNvPr id="80" name="Group 3"/>
          <p:cNvGraphicFramePr>
            <a:graphicFrameLocks noGrp="1"/>
          </p:cNvGraphicFramePr>
          <p:nvPr>
            <p:extLst/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7" name="TextBox 86"/>
          <p:cNvSpPr txBox="1"/>
          <p:nvPr/>
        </p:nvSpPr>
        <p:spPr>
          <a:xfrm>
            <a:off x="9296400" y="1707262"/>
            <a:ext cx="2624684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해당 화면은 일정 상세 보기 화면과 동일한 구조이므로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/>
            </a:r>
            <a:b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</a:b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디자인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/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퍼블 작업 필요 없음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91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62992063"/>
              </p:ext>
            </p:extLst>
          </p:nvPr>
        </p:nvGraphicFramePr>
        <p:xfrm>
          <a:off x="343839" y="1083432"/>
          <a:ext cx="6414029" cy="26049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4496">
                  <a:extLst>
                    <a:ext uri="{9D8B030D-6E8A-4147-A177-3AD203B41FA5}">
                      <a16:colId xmlns:a16="http://schemas.microsoft.com/office/drawing/2014/main" val="2744069476"/>
                    </a:ext>
                  </a:extLst>
                </a:gridCol>
                <a:gridCol w="5579533">
                  <a:extLst>
                    <a:ext uri="{9D8B030D-6E8A-4147-A177-3AD203B41FA5}">
                      <a16:colId xmlns:a16="http://schemas.microsoft.com/office/drawing/2014/main" val="2490272663"/>
                    </a:ext>
                  </a:extLst>
                </a:gridCol>
              </a:tblGrid>
              <a:tr h="309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제목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EGW </a:t>
                      </a:r>
                      <a:r>
                        <a:rPr kumimoji="1"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프로젝트 업무회의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676769"/>
                  </a:ext>
                </a:extLst>
              </a:tr>
              <a:tr h="309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작성자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u="sng" smtClean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0127724"/>
                  </a:ext>
                </a:extLst>
              </a:tr>
              <a:tr h="309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달력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smtClean="0">
                          <a:latin typeface="+mn-ea"/>
                          <a:ea typeface="+mn-ea"/>
                        </a:rPr>
                        <a:t>■ </a:t>
                      </a:r>
                      <a:r>
                        <a:rPr kumimoji="1" lang="en-US" altLang="ko-KR" sz="800" smtClean="0">
                          <a:latin typeface="+mn-ea"/>
                          <a:ea typeface="+mn-ea"/>
                        </a:rPr>
                        <a:t>A </a:t>
                      </a:r>
                      <a:r>
                        <a:rPr kumimoji="1" lang="ko-KR" altLang="en-US" sz="800" smtClean="0">
                          <a:latin typeface="+mn-ea"/>
                          <a:ea typeface="+mn-ea"/>
                        </a:rPr>
                        <a:t>통신사 서비스 </a:t>
                      </a:r>
                      <a:r>
                        <a:rPr kumimoji="1" lang="en-US" altLang="ko-KR" sz="800" smtClean="0"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80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0975024"/>
                  </a:ext>
                </a:extLst>
              </a:tr>
              <a:tr h="436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일시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2017-09-20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오전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11:00 ~ 2017-09-22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오후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3:00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ㅣ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종일</a:t>
                      </a:r>
                      <a:endParaRPr lang="en-US" altLang="ko-KR" sz="80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음력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2017-09-21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오전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11:00 ~ 2017-09-22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오후 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3:00</a:t>
                      </a: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364343"/>
                  </a:ext>
                </a:extLst>
              </a:tr>
              <a:tr h="309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설비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Bahama,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노트북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1,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노트북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0753376"/>
                  </a:ext>
                </a:extLst>
              </a:tr>
              <a:tr h="309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알림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10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분전 알림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메일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7738479"/>
                  </a:ext>
                </a:extLst>
              </a:tr>
              <a:tr h="309739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기타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기타제목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1, </a:t>
                      </a: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기타내용</a:t>
                      </a:r>
                      <a:r>
                        <a:rPr lang="en-US" altLang="ko-KR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2</a:t>
                      </a: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9127556"/>
                  </a:ext>
                </a:extLst>
              </a:tr>
              <a:tr h="30973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내용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EGW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개발 리뷰를 위한 업무 회의 입니다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140816"/>
                  </a:ext>
                </a:extLst>
              </a:tr>
            </a:tbl>
          </a:graphicData>
        </a:graphic>
      </p:graphicFrame>
      <p:pic>
        <p:nvPicPr>
          <p:cNvPr id="11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3437" y="1176076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Rectangle 202"/>
          <p:cNvSpPr/>
          <p:nvPr/>
        </p:nvSpPr>
        <p:spPr>
          <a:xfrm>
            <a:off x="8351342" y="3090093"/>
            <a:ext cx="3437310" cy="152374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21" name="텍스트 상자 31"/>
          <p:cNvSpPr txBox="1"/>
          <p:nvPr/>
        </p:nvSpPr>
        <p:spPr>
          <a:xfrm>
            <a:off x="8809001" y="3203412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김민수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|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UX/UI 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팀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텍스트 상자 31"/>
          <p:cNvSpPr txBox="1"/>
          <p:nvPr/>
        </p:nvSpPr>
        <p:spPr>
          <a:xfrm>
            <a:off x="8809001" y="3352588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방금전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4" name="Rectangle 177"/>
          <p:cNvSpPr/>
          <p:nvPr/>
        </p:nvSpPr>
        <p:spPr>
          <a:xfrm>
            <a:off x="8455073" y="3774646"/>
            <a:ext cx="3262132" cy="45887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25" name="Group 221"/>
          <p:cNvGrpSpPr/>
          <p:nvPr/>
        </p:nvGrpSpPr>
        <p:grpSpPr>
          <a:xfrm>
            <a:off x="8872316" y="3839374"/>
            <a:ext cx="2626900" cy="384238"/>
            <a:chOff x="2887384" y="5635480"/>
            <a:chExt cx="2626900" cy="384238"/>
          </a:xfrm>
        </p:grpSpPr>
        <p:sp>
          <p:nvSpPr>
            <p:cNvPr id="126" name="텍스트 상자 31"/>
            <p:cNvSpPr txBox="1"/>
            <p:nvPr/>
          </p:nvSpPr>
          <p:spPr>
            <a:xfrm>
              <a:off x="2892510" y="5635480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A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서비스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TF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팀 중간회식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텍스트 상자 31"/>
            <p:cNvSpPr txBox="1"/>
            <p:nvPr/>
          </p:nvSpPr>
          <p:spPr>
            <a:xfrm>
              <a:off x="2887384" y="5742719"/>
              <a:ext cx="26269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>
                <a:lnSpc>
                  <a:spcPct val="150000"/>
                </a:lnSpc>
                <a:defRPr/>
              </a:pPr>
              <a:r>
                <a:rPr lang="en-US" altLang="ko-KR" sz="600" smtClean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2018-01-22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~ </a:t>
              </a:r>
              <a:r>
                <a:rPr lang="en-US" altLang="ko-KR" sz="600" smtClean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2018-01-23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ㅣ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오전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11:00 ~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오전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11:30</a:t>
              </a:r>
            </a:p>
            <a:p>
              <a:pPr lvl="0">
                <a:lnSpc>
                  <a:spcPct val="150000"/>
                </a:lnSpc>
                <a:defRPr/>
              </a:pP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매일 반복</a:t>
              </a:r>
              <a:endParaRPr lang="ko-KR" altLang="en-US" sz="6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28" name="Freeform 33"/>
          <p:cNvSpPr>
            <a:spLocks noEditPoints="1"/>
          </p:cNvSpPr>
          <p:nvPr/>
        </p:nvSpPr>
        <p:spPr bwMode="auto">
          <a:xfrm>
            <a:off x="8581725" y="3901250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29" name="직선 연결선[R] 33"/>
          <p:cNvCxnSpPr/>
          <p:nvPr/>
        </p:nvCxnSpPr>
        <p:spPr>
          <a:xfrm>
            <a:off x="8440004" y="4321848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0" name="Freeform 227"/>
          <p:cNvSpPr>
            <a:spLocks noChangeArrowheads="1"/>
          </p:cNvSpPr>
          <p:nvPr/>
        </p:nvSpPr>
        <p:spPr bwMode="auto">
          <a:xfrm rot="5400000">
            <a:off x="11534947" y="396888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31" name="Freeform 26"/>
          <p:cNvSpPr>
            <a:spLocks noChangeAspect="1" noChangeArrowheads="1"/>
          </p:cNvSpPr>
          <p:nvPr/>
        </p:nvSpPr>
        <p:spPr bwMode="auto">
          <a:xfrm flipH="1">
            <a:off x="11634304" y="3215388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32" name="Freeform 25"/>
          <p:cNvSpPr>
            <a:spLocks noChangeAspect="1" noEditPoints="1"/>
          </p:cNvSpPr>
          <p:nvPr/>
        </p:nvSpPr>
        <p:spPr bwMode="auto">
          <a:xfrm>
            <a:off x="11442782" y="3210967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3" name="Picture 3" descr="C:\Users\Administrator\Downloads\round-account-button-with-user-inside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80301" y="3199756"/>
            <a:ext cx="205200" cy="2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4" name="그룹 133"/>
          <p:cNvGrpSpPr/>
          <p:nvPr/>
        </p:nvGrpSpPr>
        <p:grpSpPr>
          <a:xfrm>
            <a:off x="8442294" y="4379224"/>
            <a:ext cx="930081" cy="115755"/>
            <a:chOff x="4297396" y="1127703"/>
            <a:chExt cx="930081" cy="115755"/>
          </a:xfrm>
        </p:grpSpPr>
        <p:grpSp>
          <p:nvGrpSpPr>
            <p:cNvPr id="135" name="그룹 134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137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39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58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en-US" sz="1633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Roboto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81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0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140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41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0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grpSp>
                <p:nvGrpSpPr>
                  <p:cNvPr id="142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43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144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157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</p:grpSp>
          </p:grpSp>
          <p:pic>
            <p:nvPicPr>
              <p:cNvPr id="138" name="그림 137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36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182" name="Rectangle 177"/>
          <p:cNvSpPr/>
          <p:nvPr/>
        </p:nvSpPr>
        <p:spPr>
          <a:xfrm>
            <a:off x="8455073" y="3774646"/>
            <a:ext cx="3262132" cy="458876"/>
          </a:xfrm>
          <a:prstGeom prst="rect">
            <a:avLst/>
          </a:prstGeom>
          <a:solidFill>
            <a:srgbClr val="0070C0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8324850" y="4675573"/>
            <a:ext cx="2280039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해당 영역 클릭시 내가 작성한 정보가 아닐 경우</a:t>
            </a:r>
            <a:endParaRPr lang="en-US" altLang="ko-KR" sz="80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lvl="0"/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보기 화면으로 출력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8477250" y="3541642"/>
            <a:ext cx="168211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85" name="직선 화살표 연결선 184"/>
          <p:cNvCxnSpPr/>
          <p:nvPr/>
        </p:nvCxnSpPr>
        <p:spPr>
          <a:xfrm flipH="1">
            <a:off x="7762850" y="3998760"/>
            <a:ext cx="668715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9200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그룹 7"/>
          <p:cNvGrpSpPr/>
          <p:nvPr/>
        </p:nvGrpSpPr>
        <p:grpSpPr>
          <a:xfrm>
            <a:off x="332419" y="627925"/>
            <a:ext cx="3437310" cy="1266975"/>
            <a:chOff x="294323" y="617070"/>
            <a:chExt cx="3437310" cy="1266975"/>
          </a:xfrm>
        </p:grpSpPr>
        <p:sp>
          <p:nvSpPr>
            <p:cNvPr id="9" name="Rectangle 202"/>
            <p:cNvSpPr/>
            <p:nvPr/>
          </p:nvSpPr>
          <p:spPr>
            <a:xfrm>
              <a:off x="294323" y="617070"/>
              <a:ext cx="3437310" cy="12669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0" name="텍스트 상자 31"/>
            <p:cNvSpPr txBox="1"/>
            <p:nvPr/>
          </p:nvSpPr>
          <p:spPr>
            <a:xfrm>
              <a:off x="751982" y="730389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김민수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|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UX/UI 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Rectangle 177"/>
            <p:cNvSpPr/>
            <p:nvPr/>
          </p:nvSpPr>
          <p:spPr>
            <a:xfrm>
              <a:off x="398054" y="1073023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grpSp>
          <p:nvGrpSpPr>
            <p:cNvPr id="13" name="Group 221"/>
            <p:cNvGrpSpPr/>
            <p:nvPr/>
          </p:nvGrpSpPr>
          <p:grpSpPr>
            <a:xfrm>
              <a:off x="815297" y="1137751"/>
              <a:ext cx="2626900" cy="384238"/>
              <a:chOff x="2887384" y="5635480"/>
              <a:chExt cx="2626900" cy="384238"/>
            </a:xfrm>
          </p:grpSpPr>
          <p:sp>
            <p:nvSpPr>
              <p:cNvPr id="34" name="텍스트 상자 31"/>
              <p:cNvSpPr txBox="1"/>
              <p:nvPr/>
            </p:nvSpPr>
            <p:spPr>
              <a:xfrm>
                <a:off x="2892510" y="5635480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A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서비스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TF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팀 중간회식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5" name="텍스트 상자 31"/>
              <p:cNvSpPr txBox="1"/>
              <p:nvPr/>
            </p:nvSpPr>
            <p:spPr>
              <a:xfrm>
                <a:off x="2887384" y="5742719"/>
                <a:ext cx="2626900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600" smtClean="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2018-01-22 </a:t>
                </a:r>
                <a:r>
                  <a:rPr lang="en-US" altLang="ko-KR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~ </a:t>
                </a:r>
                <a:r>
                  <a:rPr lang="en-US" altLang="ko-KR" sz="600" smtClean="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2018-01-23 </a:t>
                </a: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ㅣ </a:t>
                </a: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오전 </a:t>
                </a:r>
                <a:r>
                  <a:rPr lang="en-US" altLang="ko-KR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11:00 ~ </a:t>
                </a: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오전 </a:t>
                </a:r>
                <a:r>
                  <a:rPr lang="en-US" altLang="ko-KR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11:30</a:t>
                </a:r>
              </a:p>
              <a:p>
                <a:pPr lvl="0">
                  <a:lnSpc>
                    <a:spcPct val="150000"/>
                  </a:lnSpc>
                  <a:defRPr/>
                </a:pP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매일 반복</a:t>
                </a:r>
                <a:endPara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</a:endParaRPr>
              </a:p>
            </p:txBody>
          </p:sp>
        </p:grpSp>
        <p:sp>
          <p:nvSpPr>
            <p:cNvPr id="14" name="Freeform 33"/>
            <p:cNvSpPr>
              <a:spLocks noEditPoints="1"/>
            </p:cNvSpPr>
            <p:nvPr/>
          </p:nvSpPr>
          <p:spPr bwMode="auto">
            <a:xfrm>
              <a:off x="524706" y="1199627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5" name="직선 연결선[R] 33"/>
            <p:cNvCxnSpPr/>
            <p:nvPr/>
          </p:nvCxnSpPr>
          <p:spPr>
            <a:xfrm>
              <a:off x="382985" y="1620225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Freeform 227"/>
            <p:cNvSpPr>
              <a:spLocks noChangeArrowheads="1"/>
            </p:cNvSpPr>
            <p:nvPr/>
          </p:nvSpPr>
          <p:spPr bwMode="auto">
            <a:xfrm rot="5400000">
              <a:off x="3477928" y="1267266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7" name="Freeform 26"/>
            <p:cNvSpPr>
              <a:spLocks noChangeAspect="1" noChangeArrowheads="1"/>
            </p:cNvSpPr>
            <p:nvPr/>
          </p:nvSpPr>
          <p:spPr bwMode="auto">
            <a:xfrm flipH="1">
              <a:off x="3577285" y="742365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8" name="Freeform 25"/>
            <p:cNvSpPr>
              <a:spLocks noChangeAspect="1" noEditPoints="1"/>
            </p:cNvSpPr>
            <p:nvPr/>
          </p:nvSpPr>
          <p:spPr bwMode="auto">
            <a:xfrm>
              <a:off x="3385763" y="737944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9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3282" y="726733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0" name="그룹 19"/>
            <p:cNvGrpSpPr/>
            <p:nvPr/>
          </p:nvGrpSpPr>
          <p:grpSpPr>
            <a:xfrm>
              <a:off x="385275" y="1677601"/>
              <a:ext cx="930081" cy="115755"/>
              <a:chOff x="4297396" y="1127703"/>
              <a:chExt cx="930081" cy="115755"/>
            </a:xfrm>
          </p:grpSpPr>
          <p:grpSp>
            <p:nvGrpSpPr>
              <p:cNvPr id="21" name="그룹 20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23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25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32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sz="1633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33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27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grpSp>
                  <p:nvGrpSpPr>
                    <p:cNvPr id="28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29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30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31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24" name="그림 23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22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sp>
        <p:nvSpPr>
          <p:cNvPr id="130" name="TextBox 129"/>
          <p:cNvSpPr txBox="1"/>
          <p:nvPr/>
        </p:nvSpPr>
        <p:spPr>
          <a:xfrm>
            <a:off x="196718" y="171450"/>
            <a:ext cx="3257870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컨텐츠 피드내 일정 수정 가이드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1058" y="590867"/>
            <a:ext cx="3472100" cy="1415579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84437" y="1095342"/>
            <a:ext cx="3149938" cy="492794"/>
          </a:xfrm>
          <a:prstGeom prst="rect">
            <a:avLst/>
          </a:prstGeom>
        </p:spPr>
      </p:pic>
      <p:pic>
        <p:nvPicPr>
          <p:cNvPr id="207" name="그림 20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10894" y="666751"/>
            <a:ext cx="832757" cy="685800"/>
          </a:xfrm>
          <a:prstGeom prst="rect">
            <a:avLst/>
          </a:prstGeom>
        </p:spPr>
      </p:pic>
      <p:sp>
        <p:nvSpPr>
          <p:cNvPr id="40" name="타원 39"/>
          <p:cNvSpPr/>
          <p:nvPr/>
        </p:nvSpPr>
        <p:spPr>
          <a:xfrm>
            <a:off x="3524250" y="695325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화살표 연결선 214"/>
          <p:cNvCxnSpPr/>
          <p:nvPr/>
        </p:nvCxnSpPr>
        <p:spPr>
          <a:xfrm>
            <a:off x="4581525" y="872381"/>
            <a:ext cx="390525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7" name="그림 26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66843" y="2898055"/>
            <a:ext cx="3152775" cy="2116864"/>
          </a:xfrm>
          <a:prstGeom prst="rect">
            <a:avLst/>
          </a:prstGeom>
        </p:spPr>
      </p:pic>
      <p:sp>
        <p:nvSpPr>
          <p:cNvPr id="270" name="타원 269"/>
          <p:cNvSpPr/>
          <p:nvPr/>
        </p:nvSpPr>
        <p:spPr>
          <a:xfrm>
            <a:off x="7924800" y="1085850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74" name="그림 27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77300" y="590868"/>
            <a:ext cx="3152775" cy="2116864"/>
          </a:xfrm>
          <a:prstGeom prst="rect">
            <a:avLst/>
          </a:prstGeom>
        </p:spPr>
      </p:pic>
      <p:cxnSp>
        <p:nvCxnSpPr>
          <p:cNvPr id="283" name="직선 화살표 연결선 282"/>
          <p:cNvCxnSpPr/>
          <p:nvPr/>
        </p:nvCxnSpPr>
        <p:spPr>
          <a:xfrm>
            <a:off x="8515350" y="1005731"/>
            <a:ext cx="390525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290"/>
          <p:cNvCxnSpPr/>
          <p:nvPr/>
        </p:nvCxnSpPr>
        <p:spPr>
          <a:xfrm rot="10800000" flipV="1">
            <a:off x="10460348" y="2482695"/>
            <a:ext cx="566737" cy="204787"/>
          </a:xfrm>
          <a:prstGeom prst="bentConnector2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292"/>
          <p:cNvCxnSpPr>
            <a:stCxn id="274" idx="2"/>
            <a:endCxn id="6" idx="3"/>
          </p:cNvCxnSpPr>
          <p:nvPr/>
        </p:nvCxnSpPr>
        <p:spPr>
          <a:xfrm rot="5400000" flipH="1">
            <a:off x="8773885" y="1027930"/>
            <a:ext cx="1409075" cy="1950530"/>
          </a:xfrm>
          <a:prstGeom prst="bentConnector4">
            <a:avLst>
              <a:gd name="adj1" fmla="val -16223"/>
              <a:gd name="adj2" fmla="val 87967"/>
            </a:avLst>
          </a:prstGeom>
          <a:ln w="31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" name="꺾인 연결선 296"/>
          <p:cNvCxnSpPr>
            <a:stCxn id="270" idx="0"/>
          </p:cNvCxnSpPr>
          <p:nvPr/>
        </p:nvCxnSpPr>
        <p:spPr>
          <a:xfrm rot="5400000" flipH="1" flipV="1">
            <a:off x="8215735" y="814810"/>
            <a:ext cx="80119" cy="461962"/>
          </a:xfrm>
          <a:prstGeom prst="bentConnector2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타원 285"/>
          <p:cNvSpPr/>
          <p:nvPr/>
        </p:nvSpPr>
        <p:spPr>
          <a:xfrm>
            <a:off x="11010900" y="2390775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00" name="직선 화살표 연결선 299"/>
          <p:cNvCxnSpPr/>
          <p:nvPr/>
        </p:nvCxnSpPr>
        <p:spPr>
          <a:xfrm flipH="1">
            <a:off x="3857625" y="1383430"/>
            <a:ext cx="1057275" cy="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1" name="타원 300"/>
          <p:cNvSpPr/>
          <p:nvPr/>
        </p:nvSpPr>
        <p:spPr>
          <a:xfrm>
            <a:off x="7696200" y="1781175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08" name="꺾인 연결선 307"/>
          <p:cNvCxnSpPr>
            <a:stCxn id="301" idx="4"/>
          </p:cNvCxnSpPr>
          <p:nvPr/>
        </p:nvCxnSpPr>
        <p:spPr>
          <a:xfrm rot="5400000" flipH="1">
            <a:off x="6053138" y="238126"/>
            <a:ext cx="604837" cy="2881313"/>
          </a:xfrm>
          <a:prstGeom prst="bentConnector4">
            <a:avLst>
              <a:gd name="adj1" fmla="val -37795"/>
              <a:gd name="adj2" fmla="val 97356"/>
            </a:avLst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1" name="직선 화살표 연결선 310"/>
          <p:cNvCxnSpPr/>
          <p:nvPr/>
        </p:nvCxnSpPr>
        <p:spPr>
          <a:xfrm>
            <a:off x="2644643" y="1557393"/>
            <a:ext cx="0" cy="123455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직선 화살표 연결선 311"/>
          <p:cNvCxnSpPr/>
          <p:nvPr/>
        </p:nvCxnSpPr>
        <p:spPr>
          <a:xfrm>
            <a:off x="2435093" y="1566918"/>
            <a:ext cx="0" cy="123455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타원 312"/>
          <p:cNvSpPr/>
          <p:nvPr/>
        </p:nvSpPr>
        <p:spPr>
          <a:xfrm>
            <a:off x="4286250" y="4705350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16" name="꺾인 연결선 315"/>
          <p:cNvCxnSpPr>
            <a:stCxn id="313" idx="2"/>
          </p:cNvCxnSpPr>
          <p:nvPr/>
        </p:nvCxnSpPr>
        <p:spPr>
          <a:xfrm rot="10800000">
            <a:off x="2433638" y="2800351"/>
            <a:ext cx="1852612" cy="2005013"/>
          </a:xfrm>
          <a:prstGeom prst="bentConnector2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텍스트 상자 31"/>
          <p:cNvSpPr txBox="1"/>
          <p:nvPr/>
        </p:nvSpPr>
        <p:spPr>
          <a:xfrm>
            <a:off x="818653" y="865877"/>
            <a:ext cx="1269604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방금전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447675" y="920436"/>
            <a:ext cx="1452889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6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6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0" name="TextBox 319"/>
          <p:cNvSpPr txBox="1"/>
          <p:nvPr/>
        </p:nvSpPr>
        <p:spPr>
          <a:xfrm>
            <a:off x="5172075" y="676448"/>
            <a:ext cx="1912950" cy="21544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321" name="Group 3"/>
          <p:cNvGraphicFramePr>
            <a:graphicFrameLocks noGrp="1"/>
          </p:cNvGraphicFramePr>
          <p:nvPr>
            <p:extLst/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745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그룹 7"/>
          <p:cNvGrpSpPr/>
          <p:nvPr/>
        </p:nvGrpSpPr>
        <p:grpSpPr>
          <a:xfrm>
            <a:off x="332419" y="627925"/>
            <a:ext cx="3437310" cy="1266975"/>
            <a:chOff x="294323" y="617070"/>
            <a:chExt cx="3437310" cy="1266975"/>
          </a:xfrm>
        </p:grpSpPr>
        <p:sp>
          <p:nvSpPr>
            <p:cNvPr id="9" name="Rectangle 202"/>
            <p:cNvSpPr/>
            <p:nvPr/>
          </p:nvSpPr>
          <p:spPr>
            <a:xfrm>
              <a:off x="294323" y="617070"/>
              <a:ext cx="3437310" cy="12669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0" name="텍스트 상자 31"/>
            <p:cNvSpPr txBox="1"/>
            <p:nvPr/>
          </p:nvSpPr>
          <p:spPr>
            <a:xfrm>
              <a:off x="751982" y="730389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김민수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|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UX/UI 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Rectangle 177"/>
            <p:cNvSpPr/>
            <p:nvPr/>
          </p:nvSpPr>
          <p:spPr>
            <a:xfrm>
              <a:off x="398054" y="1073023"/>
              <a:ext cx="3262132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grpSp>
          <p:nvGrpSpPr>
            <p:cNvPr id="13" name="Group 221"/>
            <p:cNvGrpSpPr/>
            <p:nvPr/>
          </p:nvGrpSpPr>
          <p:grpSpPr>
            <a:xfrm>
              <a:off x="815297" y="1137751"/>
              <a:ext cx="2626900" cy="384238"/>
              <a:chOff x="2887384" y="5635480"/>
              <a:chExt cx="2626900" cy="384238"/>
            </a:xfrm>
          </p:grpSpPr>
          <p:sp>
            <p:nvSpPr>
              <p:cNvPr id="34" name="텍스트 상자 31"/>
              <p:cNvSpPr txBox="1"/>
              <p:nvPr/>
            </p:nvSpPr>
            <p:spPr>
              <a:xfrm>
                <a:off x="2892510" y="5635480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A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서비스 </a:t>
                </a:r>
                <a:r>
                  <a:rPr kumimoji="1" lang="en-US" altLang="ko-KR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TF</a:t>
                </a: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팀 중간회식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5" name="텍스트 상자 31"/>
              <p:cNvSpPr txBox="1"/>
              <p:nvPr/>
            </p:nvSpPr>
            <p:spPr>
              <a:xfrm>
                <a:off x="2887384" y="5742719"/>
                <a:ext cx="2626900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600" smtClean="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2018-01-22 </a:t>
                </a:r>
                <a:r>
                  <a:rPr lang="en-US" altLang="ko-KR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~ </a:t>
                </a:r>
                <a:r>
                  <a:rPr lang="en-US" altLang="ko-KR" sz="600" smtClean="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2018-01-23 </a:t>
                </a: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Malgun Gothic" charset="0"/>
                  </a:rPr>
                  <a:t>ㅣ </a:t>
                </a: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오전 </a:t>
                </a:r>
                <a:r>
                  <a:rPr lang="en-US" altLang="ko-KR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11:00 ~ </a:t>
                </a: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오전 </a:t>
                </a:r>
                <a:r>
                  <a:rPr lang="en-US" altLang="ko-KR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11:30</a:t>
                </a:r>
              </a:p>
              <a:p>
                <a:pPr lvl="0">
                  <a:lnSpc>
                    <a:spcPct val="150000"/>
                  </a:lnSpc>
                  <a:defRPr/>
                </a:pPr>
                <a:r>
                  <a:rPr lang="ko-KR" altLang="en-US" sz="60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매일 반복</a:t>
                </a:r>
                <a:endPara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</a:endParaRPr>
              </a:p>
            </p:txBody>
          </p:sp>
        </p:grpSp>
        <p:sp>
          <p:nvSpPr>
            <p:cNvPr id="14" name="Freeform 33"/>
            <p:cNvSpPr>
              <a:spLocks noEditPoints="1"/>
            </p:cNvSpPr>
            <p:nvPr/>
          </p:nvSpPr>
          <p:spPr bwMode="auto">
            <a:xfrm>
              <a:off x="524706" y="1199627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5" name="직선 연결선[R] 33"/>
            <p:cNvCxnSpPr/>
            <p:nvPr/>
          </p:nvCxnSpPr>
          <p:spPr>
            <a:xfrm>
              <a:off x="382985" y="1620225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Freeform 227"/>
            <p:cNvSpPr>
              <a:spLocks noChangeArrowheads="1"/>
            </p:cNvSpPr>
            <p:nvPr/>
          </p:nvSpPr>
          <p:spPr bwMode="auto">
            <a:xfrm rot="5400000">
              <a:off x="3477928" y="1267266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7" name="Freeform 26"/>
            <p:cNvSpPr>
              <a:spLocks noChangeAspect="1" noChangeArrowheads="1"/>
            </p:cNvSpPr>
            <p:nvPr/>
          </p:nvSpPr>
          <p:spPr bwMode="auto">
            <a:xfrm flipH="1">
              <a:off x="3577285" y="742365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8" name="Freeform 25"/>
            <p:cNvSpPr>
              <a:spLocks noChangeAspect="1" noEditPoints="1"/>
            </p:cNvSpPr>
            <p:nvPr/>
          </p:nvSpPr>
          <p:spPr bwMode="auto">
            <a:xfrm>
              <a:off x="3385763" y="737944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9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3282" y="726733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0" name="그룹 19"/>
            <p:cNvGrpSpPr/>
            <p:nvPr/>
          </p:nvGrpSpPr>
          <p:grpSpPr>
            <a:xfrm>
              <a:off x="385275" y="1677601"/>
              <a:ext cx="930081" cy="115755"/>
              <a:chOff x="4297396" y="1127703"/>
              <a:chExt cx="930081" cy="115755"/>
            </a:xfrm>
          </p:grpSpPr>
          <p:grpSp>
            <p:nvGrpSpPr>
              <p:cNvPr id="21" name="그룹 20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23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25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32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sz="1633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33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27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grpSp>
                  <p:nvGrpSpPr>
                    <p:cNvPr id="28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29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30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31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24" name="그림 23"/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22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sp>
        <p:nvSpPr>
          <p:cNvPr id="39" name="Rectangle 14"/>
          <p:cNvSpPr>
            <a:spLocks/>
          </p:cNvSpPr>
          <p:nvPr/>
        </p:nvSpPr>
        <p:spPr bwMode="auto">
          <a:xfrm>
            <a:off x="2794583" y="937228"/>
            <a:ext cx="918000" cy="735032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lIns="108000" tIns="0" rIns="0" bIns="0" anchor="ctr"/>
          <a:lstStyle/>
          <a:p>
            <a:pPr marL="0" marR="0" lvl="0" indent="0" algn="l" defTabSz="914400" rtl="0" eaLnBrk="1" fontAlgn="base" latinLnBrk="1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복사</a:t>
            </a:r>
          </a:p>
          <a:p>
            <a:pPr marL="0" marR="0" lvl="0" indent="0" algn="l" defTabSz="914400" rtl="0" eaLnBrk="1" fontAlgn="base" latinLnBrk="1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</a:p>
          <a:p>
            <a:pPr marL="0" marR="0" lvl="0" indent="0" algn="l" defTabSz="914400" rtl="0" eaLnBrk="1" fontAlgn="base" latinLnBrk="1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</a:t>
            </a:r>
          </a:p>
          <a:p>
            <a:pPr marL="0" marR="0" lvl="0" indent="0" algn="l" defTabSz="914400" rtl="0" eaLnBrk="1" fontAlgn="base" latinLnBrk="1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이미지 모두저장</a:t>
            </a:r>
          </a:p>
          <a:p>
            <a:pPr marL="0" marR="0" lvl="0" indent="0" algn="l" defTabSz="914400" rtl="0" eaLnBrk="1" fontAlgn="base" latinLnBrk="1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</a:t>
            </a: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모두저장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3533775" y="695325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Rectangle 14"/>
          <p:cNvSpPr>
            <a:spLocks/>
          </p:cNvSpPr>
          <p:nvPr/>
        </p:nvSpPr>
        <p:spPr bwMode="auto">
          <a:xfrm>
            <a:off x="2794583" y="1232504"/>
            <a:ext cx="918000" cy="129572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108000" tIns="0" rIns="0" bIns="0" anchor="ctr"/>
          <a:lstStyle/>
          <a:p>
            <a:pPr marL="0" marR="0" lvl="0" indent="0" algn="l" defTabSz="914400" rtl="0" eaLnBrk="1" fontAlgn="base" latinLnBrk="1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88" name="직선 화살표 연결선 87"/>
          <p:cNvCxnSpPr/>
          <p:nvPr/>
        </p:nvCxnSpPr>
        <p:spPr>
          <a:xfrm>
            <a:off x="3926582" y="1346719"/>
            <a:ext cx="344854" cy="0"/>
          </a:xfrm>
          <a:prstGeom prst="straightConnector1">
            <a:avLst/>
          </a:prstGeom>
          <a:ln w="12700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TextBox 129"/>
          <p:cNvSpPr txBox="1"/>
          <p:nvPr/>
        </p:nvSpPr>
        <p:spPr>
          <a:xfrm>
            <a:off x="196718" y="171450"/>
            <a:ext cx="3607325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컨텐츠 피드내 일정 삭제 가이드 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1/2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4517039" y="624508"/>
            <a:ext cx="3222246" cy="1507358"/>
            <a:chOff x="5164443" y="4336601"/>
            <a:chExt cx="3222246" cy="1507358"/>
          </a:xfrm>
        </p:grpSpPr>
        <p:sp>
          <p:nvSpPr>
            <p:cNvPr id="52" name="Window Body" descr="&lt;SmartSettings&gt;&lt;SmartResize anchorLeft=&quot;Absolute&quot; anchorTop=&quot;Absolute&quot; anchorRight=&quot;Absolute&quot; anchorBottom=&quot;Absolute&quot; /&gt;&lt;/SmartSettings&gt;"/>
            <p:cNvSpPr/>
            <p:nvPr>
              <p:custDataLst>
                <p:tags r:id="rId1"/>
              </p:custDataLst>
            </p:nvPr>
          </p:nvSpPr>
          <p:spPr>
            <a:xfrm>
              <a:off x="5164443" y="4574345"/>
              <a:ext cx="3222246" cy="126961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Text" descr="&lt;SmartSettings&gt;&lt;SmartResize anchorLeft=&quot;Absolute&quot; anchorTop=&quot;Absolute&quot; anchorRight=&quot;Absolute&quot; anchorBottom=&quot;Absolute&quot; /&gt;&lt;/SmartSettings&gt;"/>
            <p:cNvSpPr txBox="1"/>
            <p:nvPr>
              <p:custDataLst>
                <p:tags r:id="rId2"/>
              </p:custDataLst>
            </p:nvPr>
          </p:nvSpPr>
          <p:spPr>
            <a:xfrm>
              <a:off x="5904314" y="4711178"/>
              <a:ext cx="2294511" cy="688281"/>
            </a:xfrm>
            <a:prstGeom prst="rect">
              <a:avLst/>
            </a:prstGeom>
            <a:noFill/>
          </p:spPr>
          <p:txBody>
            <a:bodyPr wrap="square" lIns="73152" tIns="36576" rIns="73152" bIns="36576" rtlCol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noProof="1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작성글 및 일정을 모두 삭제하겠습니까</a:t>
              </a:r>
              <a:r>
                <a:rPr lang="en-US" altLang="ko-KR" sz="800" noProof="1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?</a:t>
              </a:r>
              <a:endParaRPr lang="en-US" sz="800" noProof="1" smtClean="0">
                <a:solidFill>
                  <a:schemeClr val="tx1">
                    <a:lumMod val="95000"/>
                    <a:lumOff val="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Title Bar" descr="&lt;SmartSettings&gt;&lt;SmartResize anchorLeft=&quot;Absolute&quot; anchorTop=&quot;Absolute&quot; anchorRight=&quot;Absolute&quot; anchorBottom=&quot;None&quot; /&gt;&lt;/SmartSettings&gt;"/>
            <p:cNvSpPr/>
            <p:nvPr>
              <p:custDataLst>
                <p:tags r:id="rId3"/>
              </p:custDataLst>
            </p:nvPr>
          </p:nvSpPr>
          <p:spPr>
            <a:xfrm>
              <a:off x="5164443" y="4336601"/>
              <a:ext cx="3222246" cy="2377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Alert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8175805" y="4407848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" name="Icons"/>
            <p:cNvGrpSpPr/>
            <p:nvPr/>
          </p:nvGrpSpPr>
          <p:grpSpPr>
            <a:xfrm>
              <a:off x="5342291" y="4745072"/>
              <a:ext cx="457200" cy="396875"/>
              <a:chOff x="773534" y="1669713"/>
              <a:chExt cx="457200" cy="396875"/>
            </a:xfrm>
          </p:grpSpPr>
          <p:sp>
            <p:nvSpPr>
              <p:cNvPr id="57" name="Info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Warning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Error Icon" descr="&lt;Tags&gt;&lt;SMARTRESIZEANCHORS&gt;Absolute,None,Absolute,None&lt;/SMARTRESIZEANCHORS&gt;&lt;/Tags&gt;" hidden="1"/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Question Icon" descr="&lt;Tags&gt;&lt;SMARTRESIZEANCHORS&gt;Absolute,None,Absolute,None&lt;/SMARTRESIZEANCHORS&gt;&lt;/Tags&gt;"/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" name="Button 1" descr="&lt;SmartSettings&gt;&lt;SmartResize anchorLeft=&quot;None&quot; anchorTop=&quot;None&quot; anchorRight=&quot;Absolute&quot; anchorBottom=&quot;Absolute&quot; /&gt;&lt;/SmartSettings&gt;"/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7373753" y="5461830"/>
              <a:ext cx="850895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일정은 그대로 유지</a:t>
              </a:r>
              <a:endParaRPr lang="en-US" sz="600" dirty="0">
                <a:solidFill>
                  <a:schemeClr val="tx1">
                    <a:lumMod val="95000"/>
                    <a:lumOff val="5000"/>
                  </a:schemeClr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 2" descr="&lt;SmartSettings&gt;&lt;SmartResize anchorLeft=&quot;None&quot; anchorTop=&quot;None&quot; anchorRight=&quot;Absolute&quot; anchorBottom=&quot;Absolute&quot; /&gt;&lt;/SmartSettings&gt;"/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327498" y="5461830"/>
              <a:ext cx="994909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모두 삭제</a:t>
              </a:r>
              <a:endParaRPr lang="en-US" sz="800" dirty="0">
                <a:solidFill>
                  <a:schemeClr val="tx1">
                    <a:lumMod val="95000"/>
                    <a:lumOff val="5000"/>
                  </a:schemeClr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4499391" y="2271703"/>
            <a:ext cx="3068716" cy="62670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‘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모두 삭제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’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선택시 컨텐츠 및 일정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반복 일정 포함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)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삭제 처리</a:t>
            </a:r>
            <a:endParaRPr lang="en-US" altLang="ko-KR" sz="8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‘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일정은 그대로 유지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’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선택시 피드내 컨텐츠는 삭제 하되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, </a:t>
            </a:r>
            <a:b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</a:b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해당 일정은 일정 캘린더에 유지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6" name="텍스트 상자 31"/>
          <p:cNvSpPr txBox="1"/>
          <p:nvPr/>
        </p:nvSpPr>
        <p:spPr>
          <a:xfrm>
            <a:off x="818653" y="865877"/>
            <a:ext cx="1269604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방금전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447675" y="920436"/>
            <a:ext cx="1452889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6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6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68" name="Group 3"/>
          <p:cNvGraphicFramePr>
            <a:graphicFrameLocks noGrp="1"/>
          </p:cNvGraphicFramePr>
          <p:nvPr>
            <p:extLst/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6636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02"/>
          <p:cNvSpPr/>
          <p:nvPr/>
        </p:nvSpPr>
        <p:spPr>
          <a:xfrm>
            <a:off x="332419" y="627925"/>
            <a:ext cx="3437310" cy="12669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0" name="텍스트 상자 31"/>
          <p:cNvSpPr txBox="1"/>
          <p:nvPr/>
        </p:nvSpPr>
        <p:spPr>
          <a:xfrm>
            <a:off x="790078" y="741244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김민수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|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UX/UI 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팀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텍스트 상자 31"/>
          <p:cNvSpPr txBox="1"/>
          <p:nvPr/>
        </p:nvSpPr>
        <p:spPr>
          <a:xfrm>
            <a:off x="818653" y="865877"/>
            <a:ext cx="1269604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5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방금전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Rectangle 177"/>
          <p:cNvSpPr/>
          <p:nvPr/>
        </p:nvSpPr>
        <p:spPr>
          <a:xfrm>
            <a:off x="436150" y="1083878"/>
            <a:ext cx="3262132" cy="458876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3" name="Group 221"/>
          <p:cNvGrpSpPr/>
          <p:nvPr/>
        </p:nvGrpSpPr>
        <p:grpSpPr>
          <a:xfrm>
            <a:off x="853393" y="1148606"/>
            <a:ext cx="2626900" cy="384238"/>
            <a:chOff x="2887384" y="5635480"/>
            <a:chExt cx="2626900" cy="384238"/>
          </a:xfrm>
        </p:grpSpPr>
        <p:sp>
          <p:nvSpPr>
            <p:cNvPr id="34" name="텍스트 상자 31"/>
            <p:cNvSpPr txBox="1"/>
            <p:nvPr/>
          </p:nvSpPr>
          <p:spPr>
            <a:xfrm>
              <a:off x="2892510" y="5635480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A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서비스 </a:t>
              </a:r>
              <a:r>
                <a:rPr kumimoji="1" lang="en-US" altLang="ko-KR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TF</a:t>
              </a: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팀 중간회식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텍스트 상자 31"/>
            <p:cNvSpPr txBox="1"/>
            <p:nvPr/>
          </p:nvSpPr>
          <p:spPr>
            <a:xfrm>
              <a:off x="2887384" y="5742719"/>
              <a:ext cx="26269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>
                <a:lnSpc>
                  <a:spcPct val="150000"/>
                </a:lnSpc>
                <a:defRPr/>
              </a:pPr>
              <a:r>
                <a:rPr lang="en-US" altLang="ko-KR" sz="600" smtClean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2018-01-22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~ </a:t>
              </a:r>
              <a:r>
                <a:rPr lang="en-US" altLang="ko-KR" sz="600" smtClean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2018-01-23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" charset="0"/>
                </a:rPr>
                <a:t>ㅣ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오전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11:00 ~ </a:t>
              </a: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오전 </a:t>
              </a:r>
              <a:r>
                <a:rPr lang="en-US" altLang="ko-KR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11:30</a:t>
              </a:r>
            </a:p>
            <a:p>
              <a:pPr lvl="0">
                <a:lnSpc>
                  <a:spcPct val="150000"/>
                </a:lnSpc>
                <a:defRPr/>
              </a:pPr>
              <a:r>
                <a:rPr lang="ko-KR" altLang="en-US" sz="60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매일 반복</a:t>
              </a:r>
              <a:endParaRPr lang="ko-KR" altLang="en-US" sz="6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4" name="Freeform 33"/>
          <p:cNvSpPr>
            <a:spLocks noEditPoints="1"/>
          </p:cNvSpPr>
          <p:nvPr/>
        </p:nvSpPr>
        <p:spPr bwMode="auto">
          <a:xfrm>
            <a:off x="562802" y="1210482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5" name="직선 연결선[R] 33"/>
          <p:cNvCxnSpPr/>
          <p:nvPr/>
        </p:nvCxnSpPr>
        <p:spPr>
          <a:xfrm>
            <a:off x="421081" y="1631080"/>
            <a:ext cx="3277201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Freeform 227"/>
          <p:cNvSpPr>
            <a:spLocks noChangeArrowheads="1"/>
          </p:cNvSpPr>
          <p:nvPr/>
        </p:nvSpPr>
        <p:spPr bwMode="auto">
          <a:xfrm rot="5400000">
            <a:off x="3516024" y="127812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7" name="Freeform 26"/>
          <p:cNvSpPr>
            <a:spLocks noChangeAspect="1" noChangeArrowheads="1"/>
          </p:cNvSpPr>
          <p:nvPr/>
        </p:nvSpPr>
        <p:spPr bwMode="auto">
          <a:xfrm flipH="1">
            <a:off x="3615381" y="753220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18" name="Freeform 25"/>
          <p:cNvSpPr>
            <a:spLocks noChangeAspect="1" noEditPoints="1"/>
          </p:cNvSpPr>
          <p:nvPr/>
        </p:nvSpPr>
        <p:spPr bwMode="auto">
          <a:xfrm>
            <a:off x="3423859" y="74879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9" name="Picture 3" descr="C:\Users\Administrator\Downloads\round-account-button-with-user-inside (1)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378" y="737588"/>
            <a:ext cx="205200" cy="2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" name="그룹 19"/>
          <p:cNvGrpSpPr/>
          <p:nvPr/>
        </p:nvGrpSpPr>
        <p:grpSpPr>
          <a:xfrm>
            <a:off x="423371" y="1688456"/>
            <a:ext cx="930081" cy="115755"/>
            <a:chOff x="4297396" y="1127703"/>
            <a:chExt cx="930081" cy="115755"/>
          </a:xfrm>
        </p:grpSpPr>
        <p:grpSp>
          <p:nvGrpSpPr>
            <p:cNvPr id="21" name="그룹 20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23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5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2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en-US" sz="1633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Roboto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0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26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7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marL="0" marR="0" lvl="0" indent="0" algn="l" defTabSz="914400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rPr>
                      <a:t>0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grpSp>
                <p:nvGrpSpPr>
                  <p:cNvPr id="28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9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30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sp>
                  <p:nvSpPr>
                    <p:cNvPr id="31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</p:grpSp>
          </p:grpSp>
          <p:pic>
            <p:nvPicPr>
              <p:cNvPr id="24" name="그림 23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2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130" name="TextBox 129"/>
          <p:cNvSpPr txBox="1"/>
          <p:nvPr/>
        </p:nvSpPr>
        <p:spPr>
          <a:xfrm>
            <a:off x="196718" y="171450"/>
            <a:ext cx="3607325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컨텐츠 피드내 일정 삭제 가이드 </a:t>
            </a:r>
            <a:r>
              <a:rPr lang="en-US" altLang="ko-K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2/2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31058" y="590867"/>
            <a:ext cx="3472100" cy="1415579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84437" y="1095342"/>
            <a:ext cx="3149938" cy="492794"/>
          </a:xfrm>
          <a:prstGeom prst="rect">
            <a:avLst/>
          </a:prstGeom>
        </p:spPr>
      </p:pic>
      <p:sp>
        <p:nvSpPr>
          <p:cNvPr id="40" name="타원 39"/>
          <p:cNvSpPr/>
          <p:nvPr/>
        </p:nvSpPr>
        <p:spPr>
          <a:xfrm>
            <a:off x="3524250" y="695325"/>
            <a:ext cx="200025" cy="2000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화살표 연결선 214"/>
          <p:cNvCxnSpPr/>
          <p:nvPr/>
        </p:nvCxnSpPr>
        <p:spPr>
          <a:xfrm>
            <a:off x="4581525" y="872381"/>
            <a:ext cx="390525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7" name="그림 26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90893" y="3117130"/>
            <a:ext cx="3152775" cy="2116864"/>
          </a:xfrm>
          <a:prstGeom prst="rect">
            <a:avLst/>
          </a:prstGeom>
        </p:spPr>
      </p:pic>
      <p:sp>
        <p:nvSpPr>
          <p:cNvPr id="270" name="타원 269"/>
          <p:cNvSpPr/>
          <p:nvPr/>
        </p:nvSpPr>
        <p:spPr>
          <a:xfrm>
            <a:off x="8124825" y="1085850"/>
            <a:ext cx="200025" cy="200025"/>
          </a:xfrm>
          <a:prstGeom prst="ellipse">
            <a:avLst/>
          </a:prstGeom>
          <a:noFill/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97" name="꺾인 연결선 296"/>
          <p:cNvCxnSpPr>
            <a:stCxn id="270" idx="0"/>
          </p:cNvCxnSpPr>
          <p:nvPr/>
        </p:nvCxnSpPr>
        <p:spPr>
          <a:xfrm rot="5400000" flipH="1" flipV="1">
            <a:off x="8415760" y="814810"/>
            <a:ext cx="80119" cy="461962"/>
          </a:xfrm>
          <a:prstGeom prst="bentConnector2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타원 312"/>
          <p:cNvSpPr/>
          <p:nvPr/>
        </p:nvSpPr>
        <p:spPr>
          <a:xfrm>
            <a:off x="6524625" y="4924425"/>
            <a:ext cx="200025" cy="200025"/>
          </a:xfrm>
          <a:prstGeom prst="ellipse">
            <a:avLst/>
          </a:prstGeom>
          <a:noFill/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/>
          <p:cNvSpPr txBox="1"/>
          <p:nvPr/>
        </p:nvSpPr>
        <p:spPr>
          <a:xfrm>
            <a:off x="5172075" y="676448"/>
            <a:ext cx="1912950" cy="21544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73" name="그림 7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710894" y="666751"/>
            <a:ext cx="832757" cy="685800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909545" y="625155"/>
            <a:ext cx="2291855" cy="1072415"/>
          </a:xfrm>
          <a:prstGeom prst="rect">
            <a:avLst/>
          </a:prstGeom>
        </p:spPr>
      </p:pic>
      <p:cxnSp>
        <p:nvCxnSpPr>
          <p:cNvPr id="87" name="직선 화살표 연결선 86"/>
          <p:cNvCxnSpPr/>
          <p:nvPr/>
        </p:nvCxnSpPr>
        <p:spPr>
          <a:xfrm>
            <a:off x="8549238" y="1005731"/>
            <a:ext cx="322748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9401175" y="885998"/>
            <a:ext cx="1526627" cy="21544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등록된 일정을 삭제하겠습니까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?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7" name="직선 화살표 연결선 36"/>
          <p:cNvCxnSpPr/>
          <p:nvPr/>
        </p:nvCxnSpPr>
        <p:spPr>
          <a:xfrm>
            <a:off x="10103097" y="1613882"/>
            <a:ext cx="0" cy="457536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8" name="그림 37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2037" y="3709761"/>
            <a:ext cx="3468925" cy="829128"/>
          </a:xfrm>
          <a:prstGeom prst="rect">
            <a:avLst/>
          </a:prstGeom>
        </p:spPr>
      </p:pic>
      <p:pic>
        <p:nvPicPr>
          <p:cNvPr id="102" name="그림 10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909545" y="2099724"/>
            <a:ext cx="2291855" cy="1072415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9401175" y="2343323"/>
            <a:ext cx="1157937" cy="21544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일정이 삭제되었습니다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9" name="모서리가 둥근 직사각형 38"/>
          <p:cNvSpPr/>
          <p:nvPr/>
        </p:nvSpPr>
        <p:spPr>
          <a:xfrm>
            <a:off x="9639300" y="2857500"/>
            <a:ext cx="1495425" cy="2667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Button 2" descr="&lt;SmartSettings&gt;&lt;SmartResize anchorLeft=&quot;None&quot; anchorTop=&quot;None&quot; anchorRight=&quot;Absolute&quot; anchorBottom=&quot;Absolute&quot; /&gt;&lt;/SmartSettings&gt;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9777008" y="2749862"/>
            <a:ext cx="652867" cy="231463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  <a:endParaRPr lang="en-US" sz="800" dirty="0">
              <a:solidFill>
                <a:srgbClr val="5F5F5F"/>
              </a:solidFill>
              <a:effectLst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06" name="직선 화살표 연결선 105"/>
          <p:cNvCxnSpPr/>
          <p:nvPr/>
        </p:nvCxnSpPr>
        <p:spPr>
          <a:xfrm>
            <a:off x="10103097" y="3214082"/>
            <a:ext cx="0" cy="457536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7" name="그림 10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555697" y="5625856"/>
            <a:ext cx="2291855" cy="1072415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7047327" y="5886699"/>
            <a:ext cx="1526627" cy="21544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등록된 일정을 삭제하겠습니까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?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3781716" y="5625856"/>
            <a:ext cx="2291855" cy="1072415"/>
            <a:chOff x="9061945" y="2252124"/>
            <a:chExt cx="2291855" cy="1072415"/>
          </a:xfrm>
        </p:grpSpPr>
        <p:pic>
          <p:nvPicPr>
            <p:cNvPr id="109" name="그림 108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9061945" y="2252124"/>
              <a:ext cx="2291855" cy="1072415"/>
            </a:xfrm>
            <a:prstGeom prst="rect">
              <a:avLst/>
            </a:prstGeom>
          </p:spPr>
        </p:pic>
        <p:sp>
          <p:nvSpPr>
            <p:cNvPr id="110" name="TextBox 109"/>
            <p:cNvSpPr txBox="1"/>
            <p:nvPr/>
          </p:nvSpPr>
          <p:spPr>
            <a:xfrm>
              <a:off x="9553575" y="2495723"/>
              <a:ext cx="1157937" cy="215444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rIns="36000" rtlCol="0" anchor="ctr">
              <a:spAutoFit/>
            </a:bodyPr>
            <a:lstStyle/>
            <a:p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일정이 삭제되었습니다</a:t>
              </a:r>
              <a:r>
                <a:rPr lang="en-US" altLang="ko-KR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9791700" y="3009900"/>
              <a:ext cx="1495425" cy="266700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Button 2" descr="&lt;SmartSettings&gt;&lt;SmartResize anchorLeft=&quot;None&quot; anchorTop=&quot;None&quot; anchorRight=&quot;Absolute&quot; anchorBottom=&quot;Absolute&quot; /&gt;&lt;/SmartSettings&gt;"/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9929408" y="2902262"/>
              <a:ext cx="652867" cy="231463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smtClean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sz="800" dirty="0">
                <a:solidFill>
                  <a:srgbClr val="5F5F5F"/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43" name="꺾인 연결선 42"/>
          <p:cNvCxnSpPr>
            <a:stCxn id="313" idx="6"/>
            <a:endCxn id="107" idx="0"/>
          </p:cNvCxnSpPr>
          <p:nvPr/>
        </p:nvCxnSpPr>
        <p:spPr>
          <a:xfrm>
            <a:off x="6724650" y="5024438"/>
            <a:ext cx="976975" cy="601418"/>
          </a:xfrm>
          <a:prstGeom prst="bentConnector2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화살표 연결선 46"/>
          <p:cNvCxnSpPr/>
          <p:nvPr/>
        </p:nvCxnSpPr>
        <p:spPr>
          <a:xfrm flipH="1">
            <a:off x="6197431" y="6200775"/>
            <a:ext cx="325619" cy="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TextBox 149"/>
          <p:cNvSpPr txBox="1"/>
          <p:nvPr/>
        </p:nvSpPr>
        <p:spPr>
          <a:xfrm>
            <a:off x="447675" y="920436"/>
            <a:ext cx="1452889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회식일정이 등록되었으니 확인해주세요</a:t>
            </a:r>
            <a:r>
              <a:rPr lang="en-US" altLang="ko-KR" sz="6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6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327347" y="3139849"/>
            <a:ext cx="3437310" cy="1266975"/>
            <a:chOff x="-539040" y="3214082"/>
            <a:chExt cx="3437310" cy="1266975"/>
          </a:xfrm>
        </p:grpSpPr>
        <p:sp>
          <p:nvSpPr>
            <p:cNvPr id="121" name="Rectangle 202"/>
            <p:cNvSpPr/>
            <p:nvPr/>
          </p:nvSpPr>
          <p:spPr>
            <a:xfrm>
              <a:off x="-539040" y="3214082"/>
              <a:ext cx="3437310" cy="12669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2" name="텍스트 상자 31"/>
            <p:cNvSpPr txBox="1"/>
            <p:nvPr/>
          </p:nvSpPr>
          <p:spPr>
            <a:xfrm>
              <a:off x="-81381" y="3327401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김민수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|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UX/UI 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텍스트 상자 31"/>
            <p:cNvSpPr txBox="1"/>
            <p:nvPr/>
          </p:nvSpPr>
          <p:spPr>
            <a:xfrm>
              <a:off x="-71856" y="345386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방금전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27" name="직선 연결선[R] 33"/>
            <p:cNvCxnSpPr/>
            <p:nvPr/>
          </p:nvCxnSpPr>
          <p:spPr>
            <a:xfrm>
              <a:off x="-450378" y="4217237"/>
              <a:ext cx="32772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Freeform 26"/>
            <p:cNvSpPr>
              <a:spLocks noChangeAspect="1" noChangeArrowheads="1"/>
            </p:cNvSpPr>
            <p:nvPr/>
          </p:nvSpPr>
          <p:spPr bwMode="auto">
            <a:xfrm flipH="1">
              <a:off x="2743922" y="3339377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131" name="Freeform 25"/>
            <p:cNvSpPr>
              <a:spLocks noChangeAspect="1" noEditPoints="1"/>
            </p:cNvSpPr>
            <p:nvPr/>
          </p:nvSpPr>
          <p:spPr bwMode="auto">
            <a:xfrm>
              <a:off x="2552400" y="3334956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32" name="Picture 3" descr="C:\Users\Administrator\Downloads\round-account-button-with-user-inside (1)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10081" y="3323745"/>
              <a:ext cx="205200" cy="205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33" name="그룹 132"/>
            <p:cNvGrpSpPr/>
            <p:nvPr/>
          </p:nvGrpSpPr>
          <p:grpSpPr>
            <a:xfrm>
              <a:off x="-448088" y="4274613"/>
              <a:ext cx="930081" cy="115755"/>
              <a:chOff x="4297396" y="1127703"/>
              <a:chExt cx="930081" cy="115755"/>
            </a:xfrm>
          </p:grpSpPr>
          <p:grpSp>
            <p:nvGrpSpPr>
              <p:cNvPr id="134" name="그룹 133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136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138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145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sz="1633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Roboto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6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9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140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p:txBody>
                </p:sp>
                <p:grpSp>
                  <p:nvGrpSpPr>
                    <p:cNvPr id="141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142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143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  <p:sp>
                    <p:nvSpPr>
                      <p:cNvPr id="144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base" latinLnBrk="1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1" lang="ko-KR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137" name="그림 136"/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135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179" name="TextBox 178"/>
            <p:cNvSpPr txBox="1"/>
            <p:nvPr/>
          </p:nvSpPr>
          <p:spPr>
            <a:xfrm>
              <a:off x="-428625" y="3625536"/>
              <a:ext cx="1452889" cy="184666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회식일정이 등록되었으니 확인해주세요</a:t>
              </a:r>
              <a:r>
                <a:rPr lang="en-US" altLang="ko-KR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600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0" name="꺾인 연결선 49"/>
          <p:cNvCxnSpPr>
            <a:stCxn id="112" idx="1"/>
            <a:endCxn id="121" idx="2"/>
          </p:cNvCxnSpPr>
          <p:nvPr/>
        </p:nvCxnSpPr>
        <p:spPr>
          <a:xfrm rot="10800000">
            <a:off x="2046003" y="4406824"/>
            <a:ext cx="2603177" cy="1984902"/>
          </a:xfrm>
          <a:prstGeom prst="bentConnector2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/>
          <p:nvPr/>
        </p:nvCxnSpPr>
        <p:spPr>
          <a:xfrm>
            <a:off x="3533727" y="1542754"/>
            <a:ext cx="557166" cy="1574376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84" name="Group 3"/>
          <p:cNvGraphicFramePr>
            <a:graphicFrameLocks noGrp="1"/>
          </p:cNvGraphicFramePr>
          <p:nvPr>
            <p:extLst/>
          </p:nvPr>
        </p:nvGraphicFramePr>
        <p:xfrm>
          <a:off x="9290533" y="6422397"/>
          <a:ext cx="2880000" cy="247736"/>
        </p:xfrm>
        <a:graphic>
          <a:graphicData uri="http://schemas.openxmlformats.org/drawingml/2006/table">
            <a:tbl>
              <a:tblPr/>
              <a:tblGrid>
                <a:gridCol w="28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1/29_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추가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8000" marR="13858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2990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내용 개체 틀 187"/>
          <p:cNvGraphicFramePr>
            <a:graphicFrameLocks/>
          </p:cNvGraphicFramePr>
          <p:nvPr>
            <p:extLst/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  </a:t>
              </a:r>
              <a:r>
                <a:rPr kumimoji="1" lang="en-US" altLang="ko-KR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7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" name="Rectangle 477"/>
          <p:cNvSpPr/>
          <p:nvPr/>
        </p:nvSpPr>
        <p:spPr>
          <a:xfrm>
            <a:off x="6925831" y="5484435"/>
            <a:ext cx="2169137" cy="111484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42127" y="86576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6" name="타원 65"/>
          <p:cNvSpPr>
            <a:spLocks noChangeAspect="1"/>
          </p:cNvSpPr>
          <p:nvPr/>
        </p:nvSpPr>
        <p:spPr>
          <a:xfrm>
            <a:off x="6887667" y="96907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950447"/>
            <a:chOff x="5995939" y="5903574"/>
            <a:chExt cx="2088322" cy="95044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  <a:endParaRPr lang="en-US" altLang="ko-KR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06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8" name="Freeform 9"/>
          <p:cNvSpPr>
            <a:spLocks noChangeAspect="1" noChangeArrowheads="1"/>
          </p:cNvSpPr>
          <p:nvPr/>
        </p:nvSpPr>
        <p:spPr bwMode="auto">
          <a:xfrm>
            <a:off x="6535161" y="1262456"/>
            <a:ext cx="120648" cy="108000"/>
          </a:xfrm>
          <a:custGeom>
            <a:avLst/>
            <a:gdLst>
              <a:gd name="T0" fmla="*/ 0 w 545"/>
              <a:gd name="T1" fmla="*/ 383 h 488"/>
              <a:gd name="T2" fmla="*/ 0 w 545"/>
              <a:gd name="T3" fmla="*/ 487 h 488"/>
              <a:gd name="T4" fmla="*/ 103 w 545"/>
              <a:gd name="T5" fmla="*/ 487 h 488"/>
              <a:gd name="T6" fmla="*/ 404 w 545"/>
              <a:gd name="T7" fmla="*/ 186 h 488"/>
              <a:gd name="T8" fmla="*/ 300 w 545"/>
              <a:gd name="T9" fmla="*/ 83 h 488"/>
              <a:gd name="T10" fmla="*/ 0 w 545"/>
              <a:gd name="T11" fmla="*/ 383 h 488"/>
              <a:gd name="T12" fmla="*/ 482 w 545"/>
              <a:gd name="T13" fmla="*/ 109 h 488"/>
              <a:gd name="T14" fmla="*/ 482 w 545"/>
              <a:gd name="T15" fmla="*/ 72 h 488"/>
              <a:gd name="T16" fmla="*/ 420 w 545"/>
              <a:gd name="T17" fmla="*/ 10 h 488"/>
              <a:gd name="T18" fmla="*/ 383 w 545"/>
              <a:gd name="T19" fmla="*/ 10 h 488"/>
              <a:gd name="T20" fmla="*/ 331 w 545"/>
              <a:gd name="T21" fmla="*/ 57 h 488"/>
              <a:gd name="T22" fmla="*/ 435 w 545"/>
              <a:gd name="T23" fmla="*/ 160 h 488"/>
              <a:gd name="T24" fmla="*/ 482 w 545"/>
              <a:gd name="T25" fmla="*/ 109 h 488"/>
              <a:gd name="T26" fmla="*/ 248 w 545"/>
              <a:gd name="T27" fmla="*/ 435 h 488"/>
              <a:gd name="T28" fmla="*/ 191 w 545"/>
              <a:gd name="T29" fmla="*/ 487 h 488"/>
              <a:gd name="T30" fmla="*/ 544 w 545"/>
              <a:gd name="T31" fmla="*/ 487 h 488"/>
              <a:gd name="T32" fmla="*/ 544 w 545"/>
              <a:gd name="T33" fmla="*/ 435 h 488"/>
              <a:gd name="T34" fmla="*/ 248 w 545"/>
              <a:gd name="T35" fmla="*/ 435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45" h="488">
                <a:moveTo>
                  <a:pt x="0" y="383"/>
                </a:moveTo>
                <a:lnTo>
                  <a:pt x="0" y="487"/>
                </a:lnTo>
                <a:lnTo>
                  <a:pt x="103" y="487"/>
                </a:lnTo>
                <a:lnTo>
                  <a:pt x="404" y="186"/>
                </a:lnTo>
                <a:lnTo>
                  <a:pt x="300" y="83"/>
                </a:lnTo>
                <a:lnTo>
                  <a:pt x="0" y="383"/>
                </a:lnTo>
                <a:close/>
                <a:moveTo>
                  <a:pt x="482" y="109"/>
                </a:moveTo>
                <a:cubicBezTo>
                  <a:pt x="492" y="98"/>
                  <a:pt x="492" y="83"/>
                  <a:pt x="482" y="72"/>
                </a:cubicBezTo>
                <a:lnTo>
                  <a:pt x="420" y="10"/>
                </a:lnTo>
                <a:cubicBezTo>
                  <a:pt x="409" y="0"/>
                  <a:pt x="394" y="0"/>
                  <a:pt x="383" y="10"/>
                </a:cubicBezTo>
                <a:lnTo>
                  <a:pt x="331" y="57"/>
                </a:lnTo>
                <a:lnTo>
                  <a:pt x="435" y="160"/>
                </a:lnTo>
                <a:lnTo>
                  <a:pt x="482" y="109"/>
                </a:lnTo>
                <a:close/>
                <a:moveTo>
                  <a:pt x="248" y="435"/>
                </a:moveTo>
                <a:lnTo>
                  <a:pt x="191" y="487"/>
                </a:lnTo>
                <a:lnTo>
                  <a:pt x="544" y="487"/>
                </a:lnTo>
                <a:lnTo>
                  <a:pt x="544" y="435"/>
                </a:lnTo>
                <a:lnTo>
                  <a:pt x="248" y="4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6223982"/>
              </p:ext>
            </p:extLst>
          </p:nvPr>
        </p:nvGraphicFramePr>
        <p:xfrm>
          <a:off x="9290533" y="786383"/>
          <a:ext cx="2892502" cy="372245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보고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 버튼 클릭 시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보고일과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보고 제목을 입력할 수 있는 항목 디스플레이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 필수 입력 항목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보고일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제목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내용 입력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내용 미 입력 시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내용을 입력하여 주십시오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”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라는 안내메시지를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모달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레이어 팝업 창으로 표시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 콘텐츠 등록 시 이미지 또는 파일 첨부는 등록 창의 이미지 또는 파일 버튼을 클릭하여 추가할 수 있음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 버튼 클릭 시 일정 및 공지 버튼 비활성화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 버튼 클릭 시 선택 버튼 이외 나머지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 버튼 비활성화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endParaRPr lang="ko-KR" altLang="en-US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보고일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디폴트로 금일 날짜를 표시하고 사용자가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보일일자를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과거 또는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현재일을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선택할 수 있음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제목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 제목을 최대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자까지 입력 가능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입력 시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자가 넘을 경우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자까지 입력할 수 있습니다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라는 안내 메시지를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모달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레이어 팝업 창으로 표시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업무보고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default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제목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노출하여 별도 제목을 입력하지 않을 경우 등록 시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업무보고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표시</a:t>
                      </a:r>
                      <a:endParaRPr kumimoji="1" lang="en-US" altLang="ko-KR" sz="8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시 표시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보고일을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2017.09.20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선택하고 제목을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EGW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주간업무보고로 입력 시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[EGW 10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주차 주간업무보고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2017.09.20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표시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Rectangle 185"/>
          <p:cNvSpPr/>
          <p:nvPr/>
        </p:nvSpPr>
        <p:spPr>
          <a:xfrm>
            <a:off x="1963755" y="5482604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0" name="텍스트 상자 31"/>
          <p:cNvSpPr txBox="1"/>
          <p:nvPr/>
        </p:nvSpPr>
        <p:spPr>
          <a:xfrm>
            <a:off x="2421414" y="5613946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91" name="그룹 400"/>
          <p:cNvGrpSpPr/>
          <p:nvPr/>
        </p:nvGrpSpPr>
        <p:grpSpPr>
          <a:xfrm>
            <a:off x="2078622" y="5603477"/>
            <a:ext cx="229236" cy="229194"/>
            <a:chOff x="2625629" y="3735853"/>
            <a:chExt cx="276891" cy="276839"/>
          </a:xfrm>
        </p:grpSpPr>
        <p:sp>
          <p:nvSpPr>
            <p:cNvPr id="19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9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92" name="텍스트 상자 31"/>
          <p:cNvSpPr txBox="1"/>
          <p:nvPr/>
        </p:nvSpPr>
        <p:spPr>
          <a:xfrm>
            <a:off x="2421414" y="5751803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3" name="텍스트 상자 31"/>
          <p:cNvSpPr txBox="1"/>
          <p:nvPr/>
        </p:nvSpPr>
        <p:spPr>
          <a:xfrm>
            <a:off x="2078622" y="5936557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6" name="Rectangle 279"/>
          <p:cNvSpPr/>
          <p:nvPr/>
        </p:nvSpPr>
        <p:spPr>
          <a:xfrm>
            <a:off x="1963754" y="3848939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8" name="Rectangle 202"/>
          <p:cNvSpPr/>
          <p:nvPr/>
        </p:nvSpPr>
        <p:spPr>
          <a:xfrm>
            <a:off x="1963754" y="1722802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2421414" y="1852981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00" name="그룹 400"/>
          <p:cNvGrpSpPr/>
          <p:nvPr/>
        </p:nvGrpSpPr>
        <p:grpSpPr>
          <a:xfrm>
            <a:off x="2078622" y="1842605"/>
            <a:ext cx="229236" cy="227167"/>
            <a:chOff x="2625629" y="3735853"/>
            <a:chExt cx="276891" cy="276839"/>
          </a:xfrm>
        </p:grpSpPr>
        <p:sp>
          <p:nvSpPr>
            <p:cNvPr id="23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2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01" name="텍스트 상자 31"/>
          <p:cNvSpPr txBox="1"/>
          <p:nvPr/>
        </p:nvSpPr>
        <p:spPr>
          <a:xfrm>
            <a:off x="2421414" y="1989619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2078622" y="2192878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3" name="Rectangle 231"/>
          <p:cNvSpPr/>
          <p:nvPr/>
        </p:nvSpPr>
        <p:spPr>
          <a:xfrm>
            <a:off x="1963754" y="2825708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04" name="Rounded Rectangle 245"/>
          <p:cNvSpPr/>
          <p:nvPr/>
        </p:nvSpPr>
        <p:spPr>
          <a:xfrm>
            <a:off x="2078622" y="2398054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5" name="Rounded Rectangle 246"/>
          <p:cNvSpPr/>
          <p:nvPr/>
        </p:nvSpPr>
        <p:spPr>
          <a:xfrm>
            <a:off x="2564063" y="2398054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06" name="Rounded Rectangle 247"/>
          <p:cNvSpPr/>
          <p:nvPr/>
        </p:nvSpPr>
        <p:spPr>
          <a:xfrm>
            <a:off x="2923619" y="2398054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07" name="직선 연결선[R] 33"/>
          <p:cNvCxnSpPr/>
          <p:nvPr/>
        </p:nvCxnSpPr>
        <p:spPr>
          <a:xfrm>
            <a:off x="2052416" y="262811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8" name="Oval 52"/>
          <p:cNvSpPr>
            <a:spLocks noChangeArrowheads="1"/>
          </p:cNvSpPr>
          <p:nvPr/>
        </p:nvSpPr>
        <p:spPr bwMode="auto">
          <a:xfrm>
            <a:off x="2136324" y="2703141"/>
            <a:ext cx="13355" cy="13237"/>
          </a:xfrm>
          <a:prstGeom prst="ellipse">
            <a:avLst/>
          </a:prstGeom>
          <a:solidFill>
            <a:schemeClr val="bg1">
              <a:lumMod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grpSp>
        <p:nvGrpSpPr>
          <p:cNvPr id="209" name="Group 7"/>
          <p:cNvGrpSpPr/>
          <p:nvPr/>
        </p:nvGrpSpPr>
        <p:grpSpPr>
          <a:xfrm>
            <a:off x="2078622" y="3238963"/>
            <a:ext cx="1612396" cy="227167"/>
            <a:chOff x="2478168" y="4026446"/>
            <a:chExt cx="1612396" cy="229194"/>
          </a:xfrm>
        </p:grpSpPr>
        <p:sp>
          <p:nvSpPr>
            <p:cNvPr id="226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27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2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30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28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17" name="Rectangle 237"/>
          <p:cNvSpPr/>
          <p:nvPr/>
        </p:nvSpPr>
        <p:spPr>
          <a:xfrm>
            <a:off x="2371518" y="2900940"/>
            <a:ext cx="4428596" cy="1804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8" name="텍스트 상자 31"/>
          <p:cNvSpPr txBox="1"/>
          <p:nvPr/>
        </p:nvSpPr>
        <p:spPr>
          <a:xfrm>
            <a:off x="2421412" y="2952190"/>
            <a:ext cx="2510551" cy="7626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500" b="1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댓글 </a:t>
            </a:r>
            <a:r>
              <a:rPr kumimoji="1" lang="ko-KR" altLang="en-US" sz="5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남기기</a:t>
            </a:r>
            <a:endParaRPr kumimoji="1" lang="ko-KR" altLang="en-US" sz="5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19" name="Group 50"/>
          <p:cNvGrpSpPr>
            <a:grpSpLocks noChangeAspect="1"/>
          </p:cNvGrpSpPr>
          <p:nvPr/>
        </p:nvGrpSpPr>
        <p:grpSpPr bwMode="auto">
          <a:xfrm>
            <a:off x="6546832" y="2937073"/>
            <a:ext cx="108260" cy="108000"/>
            <a:chOff x="2178" y="1307"/>
            <a:chExt cx="154" cy="155"/>
          </a:xfrm>
          <a:solidFill>
            <a:schemeClr val="bg1">
              <a:lumMod val="50000"/>
            </a:schemeClr>
          </a:solidFill>
        </p:grpSpPr>
        <p:sp>
          <p:nvSpPr>
            <p:cNvPr id="223" name="Oval 51"/>
            <p:cNvSpPr>
              <a:spLocks noChangeArrowheads="1"/>
            </p:cNvSpPr>
            <p:nvPr/>
          </p:nvSpPr>
          <p:spPr bwMode="auto">
            <a:xfrm>
              <a:off x="2271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24" name="Oval 52"/>
            <p:cNvSpPr>
              <a:spLocks noChangeArrowheads="1"/>
            </p:cNvSpPr>
            <p:nvPr/>
          </p:nvSpPr>
          <p:spPr bwMode="auto">
            <a:xfrm>
              <a:off x="2217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25" name="Freeform 53"/>
            <p:cNvSpPr>
              <a:spLocks noEditPoints="1"/>
            </p:cNvSpPr>
            <p:nvPr/>
          </p:nvSpPr>
          <p:spPr bwMode="auto">
            <a:xfrm>
              <a:off x="2178" y="1307"/>
              <a:ext cx="154" cy="155"/>
            </a:xfrm>
            <a:custGeom>
              <a:avLst/>
              <a:gdLst>
                <a:gd name="T0" fmla="*/ 250 w 500"/>
                <a:gd name="T1" fmla="*/ 0 h 500"/>
                <a:gd name="T2" fmla="*/ 0 w 500"/>
                <a:gd name="T3" fmla="*/ 250 h 500"/>
                <a:gd name="T4" fmla="*/ 250 w 500"/>
                <a:gd name="T5" fmla="*/ 500 h 500"/>
                <a:gd name="T6" fmla="*/ 500 w 500"/>
                <a:gd name="T7" fmla="*/ 250 h 500"/>
                <a:gd name="T8" fmla="*/ 250 w 500"/>
                <a:gd name="T9" fmla="*/ 0 h 500"/>
                <a:gd name="T10" fmla="*/ 250 w 500"/>
                <a:gd name="T11" fmla="*/ 450 h 500"/>
                <a:gd name="T12" fmla="*/ 50 w 500"/>
                <a:gd name="T13" fmla="*/ 250 h 500"/>
                <a:gd name="T14" fmla="*/ 250 w 500"/>
                <a:gd name="T15" fmla="*/ 50 h 500"/>
                <a:gd name="T16" fmla="*/ 450 w 500"/>
                <a:gd name="T17" fmla="*/ 250 h 500"/>
                <a:gd name="T18" fmla="*/ 250 w 500"/>
                <a:gd name="T19" fmla="*/ 450 h 500"/>
                <a:gd name="T20" fmla="*/ 250 w 500"/>
                <a:gd name="T21" fmla="*/ 350 h 500"/>
                <a:gd name="T22" fmla="*/ 164 w 500"/>
                <a:gd name="T23" fmla="*/ 300 h 500"/>
                <a:gd name="T24" fmla="*/ 122 w 500"/>
                <a:gd name="T25" fmla="*/ 300 h 500"/>
                <a:gd name="T26" fmla="*/ 250 w 500"/>
                <a:gd name="T27" fmla="*/ 388 h 500"/>
                <a:gd name="T28" fmla="*/ 378 w 500"/>
                <a:gd name="T29" fmla="*/ 300 h 500"/>
                <a:gd name="T30" fmla="*/ 336 w 500"/>
                <a:gd name="T31" fmla="*/ 300 h 500"/>
                <a:gd name="T32" fmla="*/ 250 w 500"/>
                <a:gd name="T33" fmla="*/ 3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0" h="500">
                  <a:moveTo>
                    <a:pt x="250" y="0"/>
                  </a:moveTo>
                  <a:cubicBezTo>
                    <a:pt x="112" y="0"/>
                    <a:pt x="0" y="112"/>
                    <a:pt x="0" y="250"/>
                  </a:cubicBezTo>
                  <a:cubicBezTo>
                    <a:pt x="0" y="388"/>
                    <a:pt x="112" y="500"/>
                    <a:pt x="250" y="500"/>
                  </a:cubicBezTo>
                  <a:cubicBezTo>
                    <a:pt x="388" y="500"/>
                    <a:pt x="500" y="388"/>
                    <a:pt x="500" y="250"/>
                  </a:cubicBezTo>
                  <a:cubicBezTo>
                    <a:pt x="500" y="112"/>
                    <a:pt x="388" y="0"/>
                    <a:pt x="250" y="0"/>
                  </a:cubicBezTo>
                  <a:close/>
                  <a:moveTo>
                    <a:pt x="250" y="450"/>
                  </a:moveTo>
                  <a:cubicBezTo>
                    <a:pt x="140" y="450"/>
                    <a:pt x="50" y="361"/>
                    <a:pt x="50" y="250"/>
                  </a:cubicBezTo>
                  <a:cubicBezTo>
                    <a:pt x="50" y="139"/>
                    <a:pt x="140" y="50"/>
                    <a:pt x="250" y="50"/>
                  </a:cubicBezTo>
                  <a:cubicBezTo>
                    <a:pt x="361" y="50"/>
                    <a:pt x="450" y="140"/>
                    <a:pt x="450" y="250"/>
                  </a:cubicBezTo>
                  <a:cubicBezTo>
                    <a:pt x="450" y="361"/>
                    <a:pt x="361" y="450"/>
                    <a:pt x="250" y="450"/>
                  </a:cubicBezTo>
                  <a:close/>
                  <a:moveTo>
                    <a:pt x="250" y="350"/>
                  </a:moveTo>
                  <a:cubicBezTo>
                    <a:pt x="213" y="350"/>
                    <a:pt x="181" y="330"/>
                    <a:pt x="164" y="300"/>
                  </a:cubicBezTo>
                  <a:lnTo>
                    <a:pt x="122" y="300"/>
                  </a:lnTo>
                  <a:cubicBezTo>
                    <a:pt x="142" y="351"/>
                    <a:pt x="192" y="388"/>
                    <a:pt x="250" y="388"/>
                  </a:cubicBezTo>
                  <a:cubicBezTo>
                    <a:pt x="308" y="388"/>
                    <a:pt x="358" y="351"/>
                    <a:pt x="378" y="300"/>
                  </a:cubicBezTo>
                  <a:lnTo>
                    <a:pt x="336" y="300"/>
                  </a:lnTo>
                  <a:cubicBezTo>
                    <a:pt x="319" y="330"/>
                    <a:pt x="287" y="350"/>
                    <a:pt x="250" y="3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grpSp>
        <p:nvGrpSpPr>
          <p:cNvPr id="220" name="그룹 400"/>
          <p:cNvGrpSpPr/>
          <p:nvPr/>
        </p:nvGrpSpPr>
        <p:grpSpPr>
          <a:xfrm>
            <a:off x="2078622" y="2877910"/>
            <a:ext cx="229236" cy="227167"/>
            <a:chOff x="2625629" y="3735853"/>
            <a:chExt cx="276891" cy="276839"/>
          </a:xfrm>
        </p:grpSpPr>
        <p:sp>
          <p:nvSpPr>
            <p:cNvPr id="22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22" name="Picture 266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11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2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13" name="직선 연결선[R] 33"/>
          <p:cNvCxnSpPr/>
          <p:nvPr/>
        </p:nvCxnSpPr>
        <p:spPr>
          <a:xfrm>
            <a:off x="2052416" y="3152106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Rectangle 313"/>
          <p:cNvSpPr/>
          <p:nvPr/>
        </p:nvSpPr>
        <p:spPr>
          <a:xfrm>
            <a:off x="1963755" y="3543670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5" name="텍스트 상자 31"/>
          <p:cNvSpPr txBox="1"/>
          <p:nvPr/>
        </p:nvSpPr>
        <p:spPr>
          <a:xfrm>
            <a:off x="4141390" y="3557466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전체 댓글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pic>
        <p:nvPicPr>
          <p:cNvPr id="216" name="Picture 280"/>
          <p:cNvPicPr>
            <a:picLocks noChangeAspect="1"/>
          </p:cNvPicPr>
          <p:nvPr/>
        </p:nvPicPr>
        <p:blipFill rotWithShape="1">
          <a:blip r:embed="rId4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233" name="텍스트 상자 31"/>
          <p:cNvSpPr txBox="1"/>
          <p:nvPr/>
        </p:nvSpPr>
        <p:spPr>
          <a:xfrm>
            <a:off x="2421414" y="396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34" name="그룹 400"/>
          <p:cNvGrpSpPr/>
          <p:nvPr/>
        </p:nvGrpSpPr>
        <p:grpSpPr>
          <a:xfrm>
            <a:off x="2078622" y="3959483"/>
            <a:ext cx="229236" cy="229194"/>
            <a:chOff x="2625629" y="3735853"/>
            <a:chExt cx="276891" cy="276839"/>
          </a:xfrm>
        </p:grpSpPr>
        <p:sp>
          <p:nvSpPr>
            <p:cNvPr id="23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37" name="텍스트 상자 31"/>
          <p:cNvSpPr txBox="1"/>
          <p:nvPr/>
        </p:nvSpPr>
        <p:spPr>
          <a:xfrm>
            <a:off x="2421414" y="4107809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8" name="Rectangle 177"/>
          <p:cNvSpPr/>
          <p:nvPr/>
        </p:nvSpPr>
        <p:spPr>
          <a:xfrm>
            <a:off x="2067486" y="4472532"/>
            <a:ext cx="4700930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39" name="Group 11"/>
          <p:cNvGrpSpPr/>
          <p:nvPr/>
        </p:nvGrpSpPr>
        <p:grpSpPr>
          <a:xfrm>
            <a:off x="2484729" y="4565835"/>
            <a:ext cx="1791250" cy="272271"/>
            <a:chOff x="2887384" y="5664055"/>
            <a:chExt cx="1791250" cy="272271"/>
          </a:xfrm>
        </p:grpSpPr>
        <p:sp>
          <p:nvSpPr>
            <p:cNvPr id="240" name="텍스트 상자 31"/>
            <p:cNvSpPr txBox="1"/>
            <p:nvPr/>
          </p:nvSpPr>
          <p:spPr>
            <a:xfrm>
              <a:off x="2892510" y="5664055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팀 중간회식</a:t>
              </a:r>
              <a:endParaRPr kumimoji="1" lang="ko-KR" altLang="en-US" sz="7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41" name="텍스트 상자 31"/>
            <p:cNvSpPr txBox="1"/>
            <p:nvPr/>
          </p:nvSpPr>
          <p:spPr>
            <a:xfrm>
              <a:off x="2887384" y="5807060"/>
              <a:ext cx="1621213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2017.09.30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(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금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)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오후 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7:00-8:00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42" name="Freeform 33"/>
          <p:cNvSpPr>
            <a:spLocks noEditPoints="1"/>
          </p:cNvSpPr>
          <p:nvPr/>
        </p:nvSpPr>
        <p:spPr bwMode="auto">
          <a:xfrm>
            <a:off x="2194138" y="4599136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cxnSp>
        <p:nvCxnSpPr>
          <p:cNvPr id="243" name="직선 연결선[R] 33"/>
          <p:cNvCxnSpPr/>
          <p:nvPr/>
        </p:nvCxnSpPr>
        <p:spPr>
          <a:xfrm>
            <a:off x="2052416" y="501973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4" name="텍스트 상자 31"/>
          <p:cNvSpPr txBox="1"/>
          <p:nvPr/>
        </p:nvSpPr>
        <p:spPr>
          <a:xfrm>
            <a:off x="2078622" y="4286437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서비스 </a:t>
            </a: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팀 중간회식</a:t>
            </a:r>
            <a:r>
              <a: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일정을 등록했습니다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5" name="Freeform 14"/>
          <p:cNvSpPr>
            <a:spLocks noChangeArrowheads="1"/>
          </p:cNvSpPr>
          <p:nvPr/>
        </p:nvSpPr>
        <p:spPr bwMode="auto">
          <a:xfrm rot="5400000">
            <a:off x="5147360" y="4666775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248" name="Straight Connector 21"/>
          <p:cNvCxnSpPr/>
          <p:nvPr/>
        </p:nvCxnSpPr>
        <p:spPr>
          <a:xfrm>
            <a:off x="1933588" y="535004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9" name="Straight Connector 422"/>
          <p:cNvCxnSpPr/>
          <p:nvPr/>
        </p:nvCxnSpPr>
        <p:spPr>
          <a:xfrm>
            <a:off x="1933588" y="5383408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" name="Freeform 26"/>
          <p:cNvSpPr>
            <a:spLocks noChangeAspect="1" noChangeArrowheads="1"/>
          </p:cNvSpPr>
          <p:nvPr/>
        </p:nvSpPr>
        <p:spPr bwMode="auto">
          <a:xfrm flipH="1">
            <a:off x="6726683" y="185144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3" name="Freeform 26"/>
          <p:cNvSpPr>
            <a:spLocks noChangeAspect="1" noChangeArrowheads="1"/>
          </p:cNvSpPr>
          <p:nvPr/>
        </p:nvSpPr>
        <p:spPr bwMode="auto">
          <a:xfrm flipH="1">
            <a:off x="6726683" y="397423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4" name="Freeform 26"/>
          <p:cNvSpPr>
            <a:spLocks noChangeAspect="1" noChangeArrowheads="1"/>
          </p:cNvSpPr>
          <p:nvPr/>
        </p:nvSpPr>
        <p:spPr bwMode="auto">
          <a:xfrm flipH="1">
            <a:off x="6726683" y="5616516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259" name="Group 365"/>
          <p:cNvGrpSpPr/>
          <p:nvPr/>
        </p:nvGrpSpPr>
        <p:grpSpPr>
          <a:xfrm>
            <a:off x="2064211" y="2680981"/>
            <a:ext cx="651018" cy="107722"/>
            <a:chOff x="2463757" y="3788208"/>
            <a:chExt cx="651018" cy="107722"/>
          </a:xfrm>
        </p:grpSpPr>
        <p:grpSp>
          <p:nvGrpSpPr>
            <p:cNvPr id="260" name="Group 366"/>
            <p:cNvGrpSpPr/>
            <p:nvPr/>
          </p:nvGrpSpPr>
          <p:grpSpPr>
            <a:xfrm>
              <a:off x="2850938" y="3788208"/>
              <a:ext cx="263837" cy="107722"/>
              <a:chOff x="4817820" y="3121801"/>
              <a:chExt cx="263837" cy="107722"/>
            </a:xfrm>
          </p:grpSpPr>
          <p:sp>
            <p:nvSpPr>
              <p:cNvPr id="268" name="Freeform 24"/>
              <p:cNvSpPr>
                <a:spLocks noChangeAspect="1" noChangeArrowheads="1"/>
              </p:cNvSpPr>
              <p:nvPr/>
            </p:nvSpPr>
            <p:spPr bwMode="auto">
              <a:xfrm>
                <a:off x="4817820" y="3136639"/>
                <a:ext cx="90000" cy="89388"/>
              </a:xfrm>
              <a:custGeom>
                <a:avLst/>
                <a:gdLst>
                  <a:gd name="T0" fmla="*/ 587 w 650"/>
                  <a:gd name="T1" fmla="*/ 0 h 644"/>
                  <a:gd name="T2" fmla="*/ 68 w 650"/>
                  <a:gd name="T3" fmla="*/ 0 h 644"/>
                  <a:gd name="T4" fmla="*/ 0 w 650"/>
                  <a:gd name="T5" fmla="*/ 62 h 644"/>
                  <a:gd name="T6" fmla="*/ 0 w 650"/>
                  <a:gd name="T7" fmla="*/ 643 h 644"/>
                  <a:gd name="T8" fmla="*/ 130 w 650"/>
                  <a:gd name="T9" fmla="*/ 513 h 644"/>
                  <a:gd name="T10" fmla="*/ 587 w 650"/>
                  <a:gd name="T11" fmla="*/ 513 h 644"/>
                  <a:gd name="T12" fmla="*/ 649 w 650"/>
                  <a:gd name="T13" fmla="*/ 451 h 644"/>
                  <a:gd name="T14" fmla="*/ 649 w 650"/>
                  <a:gd name="T15" fmla="*/ 62 h 644"/>
                  <a:gd name="T16" fmla="*/ 587 w 650"/>
                  <a:gd name="T17" fmla="*/ 0 h 644"/>
                  <a:gd name="T18" fmla="*/ 229 w 650"/>
                  <a:gd name="T19" fmla="*/ 290 h 644"/>
                  <a:gd name="T20" fmla="*/ 167 w 650"/>
                  <a:gd name="T21" fmla="*/ 290 h 644"/>
                  <a:gd name="T22" fmla="*/ 167 w 650"/>
                  <a:gd name="T23" fmla="*/ 222 h 644"/>
                  <a:gd name="T24" fmla="*/ 229 w 650"/>
                  <a:gd name="T25" fmla="*/ 222 h 644"/>
                  <a:gd name="T26" fmla="*/ 229 w 650"/>
                  <a:gd name="T27" fmla="*/ 290 h 644"/>
                  <a:gd name="T28" fmla="*/ 359 w 650"/>
                  <a:gd name="T29" fmla="*/ 290 h 644"/>
                  <a:gd name="T30" fmla="*/ 297 w 650"/>
                  <a:gd name="T31" fmla="*/ 290 h 644"/>
                  <a:gd name="T32" fmla="*/ 297 w 650"/>
                  <a:gd name="T33" fmla="*/ 222 h 644"/>
                  <a:gd name="T34" fmla="*/ 359 w 650"/>
                  <a:gd name="T35" fmla="*/ 222 h 644"/>
                  <a:gd name="T36" fmla="*/ 359 w 650"/>
                  <a:gd name="T37" fmla="*/ 290 h 644"/>
                  <a:gd name="T38" fmla="*/ 488 w 650"/>
                  <a:gd name="T39" fmla="*/ 290 h 644"/>
                  <a:gd name="T40" fmla="*/ 420 w 650"/>
                  <a:gd name="T41" fmla="*/ 290 h 644"/>
                  <a:gd name="T42" fmla="*/ 420 w 650"/>
                  <a:gd name="T43" fmla="*/ 222 h 644"/>
                  <a:gd name="T44" fmla="*/ 488 w 650"/>
                  <a:gd name="T45" fmla="*/ 222 h 644"/>
                  <a:gd name="T46" fmla="*/ 488 w 650"/>
                  <a:gd name="T47" fmla="*/ 29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0" h="644">
                    <a:moveTo>
                      <a:pt x="587" y="0"/>
                    </a:moveTo>
                    <a:lnTo>
                      <a:pt x="68" y="0"/>
                    </a:lnTo>
                    <a:cubicBezTo>
                      <a:pt x="31" y="0"/>
                      <a:pt x="0" y="24"/>
                      <a:pt x="0" y="62"/>
                    </a:cubicBezTo>
                    <a:lnTo>
                      <a:pt x="0" y="643"/>
                    </a:lnTo>
                    <a:lnTo>
                      <a:pt x="130" y="513"/>
                    </a:lnTo>
                    <a:lnTo>
                      <a:pt x="587" y="513"/>
                    </a:lnTo>
                    <a:cubicBezTo>
                      <a:pt x="618" y="513"/>
                      <a:pt x="649" y="482"/>
                      <a:pt x="649" y="451"/>
                    </a:cubicBezTo>
                    <a:lnTo>
                      <a:pt x="649" y="62"/>
                    </a:lnTo>
                    <a:cubicBezTo>
                      <a:pt x="649" y="24"/>
                      <a:pt x="618" y="0"/>
                      <a:pt x="587" y="0"/>
                    </a:cubicBezTo>
                    <a:close/>
                    <a:moveTo>
                      <a:pt x="229" y="290"/>
                    </a:moveTo>
                    <a:lnTo>
                      <a:pt x="167" y="290"/>
                    </a:lnTo>
                    <a:lnTo>
                      <a:pt x="167" y="222"/>
                    </a:lnTo>
                    <a:lnTo>
                      <a:pt x="229" y="222"/>
                    </a:lnTo>
                    <a:lnTo>
                      <a:pt x="229" y="290"/>
                    </a:lnTo>
                    <a:close/>
                    <a:moveTo>
                      <a:pt x="359" y="290"/>
                    </a:moveTo>
                    <a:lnTo>
                      <a:pt x="297" y="290"/>
                    </a:lnTo>
                    <a:lnTo>
                      <a:pt x="297" y="222"/>
                    </a:lnTo>
                    <a:lnTo>
                      <a:pt x="359" y="222"/>
                    </a:lnTo>
                    <a:lnTo>
                      <a:pt x="359" y="290"/>
                    </a:lnTo>
                    <a:close/>
                    <a:moveTo>
                      <a:pt x="488" y="290"/>
                    </a:moveTo>
                    <a:lnTo>
                      <a:pt x="420" y="290"/>
                    </a:lnTo>
                    <a:lnTo>
                      <a:pt x="420" y="222"/>
                    </a:lnTo>
                    <a:lnTo>
                      <a:pt x="488" y="222"/>
                    </a:lnTo>
                    <a:lnTo>
                      <a:pt x="488" y="2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69" name="텍스트 상자 31"/>
              <p:cNvSpPr txBox="1"/>
              <p:nvPr/>
            </p:nvSpPr>
            <p:spPr>
              <a:xfrm>
                <a:off x="4963998" y="3121801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4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61" name="Group 367"/>
            <p:cNvGrpSpPr/>
            <p:nvPr/>
          </p:nvGrpSpPr>
          <p:grpSpPr>
            <a:xfrm>
              <a:off x="2594860" y="3788208"/>
              <a:ext cx="257860" cy="107722"/>
              <a:chOff x="4269857" y="3799412"/>
              <a:chExt cx="257860" cy="107722"/>
            </a:xfrm>
          </p:grpSpPr>
          <p:sp>
            <p:nvSpPr>
              <p:cNvPr id="263" name="텍스트 상자 31"/>
              <p:cNvSpPr txBox="1"/>
              <p:nvPr/>
            </p:nvSpPr>
            <p:spPr>
              <a:xfrm>
                <a:off x="4410058" y="3799412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3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64" name="Group 50"/>
              <p:cNvGrpSpPr>
                <a:grpSpLocks noChangeAspect="1"/>
              </p:cNvGrpSpPr>
              <p:nvPr/>
            </p:nvGrpSpPr>
            <p:grpSpPr bwMode="auto">
              <a:xfrm>
                <a:off x="4269857" y="3808273"/>
                <a:ext cx="89419" cy="90000"/>
                <a:chOff x="2178" y="1307"/>
                <a:chExt cx="154" cy="155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265" name="Oval 51"/>
                <p:cNvSpPr>
                  <a:spLocks noChangeArrowheads="1"/>
                </p:cNvSpPr>
                <p:nvPr/>
              </p:nvSpPr>
              <p:spPr bwMode="auto">
                <a:xfrm>
                  <a:off x="2271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66" name="Oval 52"/>
                <p:cNvSpPr>
                  <a:spLocks noChangeArrowheads="1"/>
                </p:cNvSpPr>
                <p:nvPr/>
              </p:nvSpPr>
              <p:spPr bwMode="auto">
                <a:xfrm>
                  <a:off x="2217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67" name="Freeform 53"/>
                <p:cNvSpPr>
                  <a:spLocks noEditPoints="1"/>
                </p:cNvSpPr>
                <p:nvPr/>
              </p:nvSpPr>
              <p:spPr bwMode="auto">
                <a:xfrm>
                  <a:off x="2178" y="1307"/>
                  <a:ext cx="154" cy="155"/>
                </a:xfrm>
                <a:custGeom>
                  <a:avLst/>
                  <a:gdLst>
                    <a:gd name="T0" fmla="*/ 250 w 500"/>
                    <a:gd name="T1" fmla="*/ 0 h 500"/>
                    <a:gd name="T2" fmla="*/ 0 w 500"/>
                    <a:gd name="T3" fmla="*/ 250 h 500"/>
                    <a:gd name="T4" fmla="*/ 250 w 500"/>
                    <a:gd name="T5" fmla="*/ 500 h 500"/>
                    <a:gd name="T6" fmla="*/ 500 w 500"/>
                    <a:gd name="T7" fmla="*/ 250 h 500"/>
                    <a:gd name="T8" fmla="*/ 250 w 500"/>
                    <a:gd name="T9" fmla="*/ 0 h 500"/>
                    <a:gd name="T10" fmla="*/ 250 w 500"/>
                    <a:gd name="T11" fmla="*/ 450 h 500"/>
                    <a:gd name="T12" fmla="*/ 50 w 500"/>
                    <a:gd name="T13" fmla="*/ 250 h 500"/>
                    <a:gd name="T14" fmla="*/ 250 w 500"/>
                    <a:gd name="T15" fmla="*/ 50 h 500"/>
                    <a:gd name="T16" fmla="*/ 450 w 500"/>
                    <a:gd name="T17" fmla="*/ 250 h 500"/>
                    <a:gd name="T18" fmla="*/ 250 w 500"/>
                    <a:gd name="T19" fmla="*/ 450 h 500"/>
                    <a:gd name="T20" fmla="*/ 250 w 500"/>
                    <a:gd name="T21" fmla="*/ 350 h 500"/>
                    <a:gd name="T22" fmla="*/ 164 w 500"/>
                    <a:gd name="T23" fmla="*/ 300 h 500"/>
                    <a:gd name="T24" fmla="*/ 122 w 500"/>
                    <a:gd name="T25" fmla="*/ 300 h 500"/>
                    <a:gd name="T26" fmla="*/ 250 w 500"/>
                    <a:gd name="T27" fmla="*/ 388 h 500"/>
                    <a:gd name="T28" fmla="*/ 378 w 500"/>
                    <a:gd name="T29" fmla="*/ 300 h 500"/>
                    <a:gd name="T30" fmla="*/ 336 w 500"/>
                    <a:gd name="T31" fmla="*/ 300 h 500"/>
                    <a:gd name="T32" fmla="*/ 250 w 500"/>
                    <a:gd name="T33" fmla="*/ 350 h 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00" h="500">
                      <a:moveTo>
                        <a:pt x="250" y="0"/>
                      </a:moveTo>
                      <a:cubicBezTo>
                        <a:pt x="112" y="0"/>
                        <a:pt x="0" y="112"/>
                        <a:pt x="0" y="250"/>
                      </a:cubicBezTo>
                      <a:cubicBezTo>
                        <a:pt x="0" y="388"/>
                        <a:pt x="112" y="500"/>
                        <a:pt x="250" y="500"/>
                      </a:cubicBezTo>
                      <a:cubicBezTo>
                        <a:pt x="388" y="500"/>
                        <a:pt x="500" y="388"/>
                        <a:pt x="500" y="250"/>
                      </a:cubicBezTo>
                      <a:cubicBezTo>
                        <a:pt x="500" y="112"/>
                        <a:pt x="388" y="0"/>
                        <a:pt x="250" y="0"/>
                      </a:cubicBezTo>
                      <a:close/>
                      <a:moveTo>
                        <a:pt x="250" y="450"/>
                      </a:moveTo>
                      <a:cubicBezTo>
                        <a:pt x="140" y="450"/>
                        <a:pt x="50" y="361"/>
                        <a:pt x="50" y="250"/>
                      </a:cubicBezTo>
                      <a:cubicBezTo>
                        <a:pt x="50" y="139"/>
                        <a:pt x="140" y="50"/>
                        <a:pt x="250" y="50"/>
                      </a:cubicBezTo>
                      <a:cubicBezTo>
                        <a:pt x="361" y="50"/>
                        <a:pt x="450" y="140"/>
                        <a:pt x="450" y="250"/>
                      </a:cubicBezTo>
                      <a:cubicBezTo>
                        <a:pt x="450" y="361"/>
                        <a:pt x="361" y="450"/>
                        <a:pt x="250" y="450"/>
                      </a:cubicBezTo>
                      <a:close/>
                      <a:moveTo>
                        <a:pt x="250" y="350"/>
                      </a:moveTo>
                      <a:cubicBezTo>
                        <a:pt x="213" y="350"/>
                        <a:pt x="181" y="330"/>
                        <a:pt x="164" y="300"/>
                      </a:cubicBezTo>
                      <a:lnTo>
                        <a:pt x="122" y="300"/>
                      </a:lnTo>
                      <a:cubicBezTo>
                        <a:pt x="142" y="351"/>
                        <a:pt x="192" y="388"/>
                        <a:pt x="250" y="388"/>
                      </a:cubicBezTo>
                      <a:cubicBezTo>
                        <a:pt x="308" y="388"/>
                        <a:pt x="358" y="351"/>
                        <a:pt x="378" y="300"/>
                      </a:cubicBezTo>
                      <a:lnTo>
                        <a:pt x="336" y="300"/>
                      </a:lnTo>
                      <a:cubicBezTo>
                        <a:pt x="319" y="330"/>
                        <a:pt x="287" y="350"/>
                        <a:pt x="250" y="35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262" name="Freeform 375"/>
            <p:cNvSpPr>
              <a:spLocks noChangeAspect="1"/>
            </p:cNvSpPr>
            <p:nvPr/>
          </p:nvSpPr>
          <p:spPr>
            <a:xfrm>
              <a:off x="2463757" y="3802263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grpSp>
        <p:nvGrpSpPr>
          <p:cNvPr id="270" name="Group 399"/>
          <p:cNvGrpSpPr/>
          <p:nvPr/>
        </p:nvGrpSpPr>
        <p:grpSpPr>
          <a:xfrm>
            <a:off x="2064211" y="5083100"/>
            <a:ext cx="651018" cy="107722"/>
            <a:chOff x="2463757" y="3788208"/>
            <a:chExt cx="651018" cy="107722"/>
          </a:xfrm>
        </p:grpSpPr>
        <p:grpSp>
          <p:nvGrpSpPr>
            <p:cNvPr id="271" name="Group 400"/>
            <p:cNvGrpSpPr/>
            <p:nvPr/>
          </p:nvGrpSpPr>
          <p:grpSpPr>
            <a:xfrm>
              <a:off x="2850938" y="3788208"/>
              <a:ext cx="263837" cy="107722"/>
              <a:chOff x="4817820" y="3121801"/>
              <a:chExt cx="263837" cy="107722"/>
            </a:xfrm>
          </p:grpSpPr>
          <p:sp>
            <p:nvSpPr>
              <p:cNvPr id="279" name="Freeform 24"/>
              <p:cNvSpPr>
                <a:spLocks noChangeAspect="1" noChangeArrowheads="1"/>
              </p:cNvSpPr>
              <p:nvPr/>
            </p:nvSpPr>
            <p:spPr bwMode="auto">
              <a:xfrm>
                <a:off x="4817820" y="3136639"/>
                <a:ext cx="90000" cy="89388"/>
              </a:xfrm>
              <a:custGeom>
                <a:avLst/>
                <a:gdLst>
                  <a:gd name="T0" fmla="*/ 587 w 650"/>
                  <a:gd name="T1" fmla="*/ 0 h 644"/>
                  <a:gd name="T2" fmla="*/ 68 w 650"/>
                  <a:gd name="T3" fmla="*/ 0 h 644"/>
                  <a:gd name="T4" fmla="*/ 0 w 650"/>
                  <a:gd name="T5" fmla="*/ 62 h 644"/>
                  <a:gd name="T6" fmla="*/ 0 w 650"/>
                  <a:gd name="T7" fmla="*/ 643 h 644"/>
                  <a:gd name="T8" fmla="*/ 130 w 650"/>
                  <a:gd name="T9" fmla="*/ 513 h 644"/>
                  <a:gd name="T10" fmla="*/ 587 w 650"/>
                  <a:gd name="T11" fmla="*/ 513 h 644"/>
                  <a:gd name="T12" fmla="*/ 649 w 650"/>
                  <a:gd name="T13" fmla="*/ 451 h 644"/>
                  <a:gd name="T14" fmla="*/ 649 w 650"/>
                  <a:gd name="T15" fmla="*/ 62 h 644"/>
                  <a:gd name="T16" fmla="*/ 587 w 650"/>
                  <a:gd name="T17" fmla="*/ 0 h 644"/>
                  <a:gd name="T18" fmla="*/ 229 w 650"/>
                  <a:gd name="T19" fmla="*/ 290 h 644"/>
                  <a:gd name="T20" fmla="*/ 167 w 650"/>
                  <a:gd name="T21" fmla="*/ 290 h 644"/>
                  <a:gd name="T22" fmla="*/ 167 w 650"/>
                  <a:gd name="T23" fmla="*/ 222 h 644"/>
                  <a:gd name="T24" fmla="*/ 229 w 650"/>
                  <a:gd name="T25" fmla="*/ 222 h 644"/>
                  <a:gd name="T26" fmla="*/ 229 w 650"/>
                  <a:gd name="T27" fmla="*/ 290 h 644"/>
                  <a:gd name="T28" fmla="*/ 359 w 650"/>
                  <a:gd name="T29" fmla="*/ 290 h 644"/>
                  <a:gd name="T30" fmla="*/ 297 w 650"/>
                  <a:gd name="T31" fmla="*/ 290 h 644"/>
                  <a:gd name="T32" fmla="*/ 297 w 650"/>
                  <a:gd name="T33" fmla="*/ 222 h 644"/>
                  <a:gd name="T34" fmla="*/ 359 w 650"/>
                  <a:gd name="T35" fmla="*/ 222 h 644"/>
                  <a:gd name="T36" fmla="*/ 359 w 650"/>
                  <a:gd name="T37" fmla="*/ 290 h 644"/>
                  <a:gd name="T38" fmla="*/ 488 w 650"/>
                  <a:gd name="T39" fmla="*/ 290 h 644"/>
                  <a:gd name="T40" fmla="*/ 420 w 650"/>
                  <a:gd name="T41" fmla="*/ 290 h 644"/>
                  <a:gd name="T42" fmla="*/ 420 w 650"/>
                  <a:gd name="T43" fmla="*/ 222 h 644"/>
                  <a:gd name="T44" fmla="*/ 488 w 650"/>
                  <a:gd name="T45" fmla="*/ 222 h 644"/>
                  <a:gd name="T46" fmla="*/ 488 w 650"/>
                  <a:gd name="T47" fmla="*/ 29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0" h="644">
                    <a:moveTo>
                      <a:pt x="587" y="0"/>
                    </a:moveTo>
                    <a:lnTo>
                      <a:pt x="68" y="0"/>
                    </a:lnTo>
                    <a:cubicBezTo>
                      <a:pt x="31" y="0"/>
                      <a:pt x="0" y="24"/>
                      <a:pt x="0" y="62"/>
                    </a:cubicBezTo>
                    <a:lnTo>
                      <a:pt x="0" y="643"/>
                    </a:lnTo>
                    <a:lnTo>
                      <a:pt x="130" y="513"/>
                    </a:lnTo>
                    <a:lnTo>
                      <a:pt x="587" y="513"/>
                    </a:lnTo>
                    <a:cubicBezTo>
                      <a:pt x="618" y="513"/>
                      <a:pt x="649" y="482"/>
                      <a:pt x="649" y="451"/>
                    </a:cubicBezTo>
                    <a:lnTo>
                      <a:pt x="649" y="62"/>
                    </a:lnTo>
                    <a:cubicBezTo>
                      <a:pt x="649" y="24"/>
                      <a:pt x="618" y="0"/>
                      <a:pt x="587" y="0"/>
                    </a:cubicBezTo>
                    <a:close/>
                    <a:moveTo>
                      <a:pt x="229" y="290"/>
                    </a:moveTo>
                    <a:lnTo>
                      <a:pt x="167" y="290"/>
                    </a:lnTo>
                    <a:lnTo>
                      <a:pt x="167" y="222"/>
                    </a:lnTo>
                    <a:lnTo>
                      <a:pt x="229" y="222"/>
                    </a:lnTo>
                    <a:lnTo>
                      <a:pt x="229" y="290"/>
                    </a:lnTo>
                    <a:close/>
                    <a:moveTo>
                      <a:pt x="359" y="290"/>
                    </a:moveTo>
                    <a:lnTo>
                      <a:pt x="297" y="290"/>
                    </a:lnTo>
                    <a:lnTo>
                      <a:pt x="297" y="222"/>
                    </a:lnTo>
                    <a:lnTo>
                      <a:pt x="359" y="222"/>
                    </a:lnTo>
                    <a:lnTo>
                      <a:pt x="359" y="290"/>
                    </a:lnTo>
                    <a:close/>
                    <a:moveTo>
                      <a:pt x="488" y="290"/>
                    </a:moveTo>
                    <a:lnTo>
                      <a:pt x="420" y="290"/>
                    </a:lnTo>
                    <a:lnTo>
                      <a:pt x="420" y="222"/>
                    </a:lnTo>
                    <a:lnTo>
                      <a:pt x="488" y="222"/>
                    </a:lnTo>
                    <a:lnTo>
                      <a:pt x="488" y="2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80" name="텍스트 상자 31"/>
              <p:cNvSpPr txBox="1"/>
              <p:nvPr/>
            </p:nvSpPr>
            <p:spPr>
              <a:xfrm>
                <a:off x="4963998" y="3121801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4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72" name="Group 401"/>
            <p:cNvGrpSpPr/>
            <p:nvPr/>
          </p:nvGrpSpPr>
          <p:grpSpPr>
            <a:xfrm>
              <a:off x="2594860" y="3788208"/>
              <a:ext cx="257860" cy="107722"/>
              <a:chOff x="4269857" y="3799412"/>
              <a:chExt cx="257860" cy="107722"/>
            </a:xfrm>
          </p:grpSpPr>
          <p:sp>
            <p:nvSpPr>
              <p:cNvPr id="274" name="텍스트 상자 31"/>
              <p:cNvSpPr txBox="1"/>
              <p:nvPr/>
            </p:nvSpPr>
            <p:spPr>
              <a:xfrm>
                <a:off x="4410058" y="3799412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3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75" name="Group 50"/>
              <p:cNvGrpSpPr>
                <a:grpSpLocks noChangeAspect="1"/>
              </p:cNvGrpSpPr>
              <p:nvPr/>
            </p:nvGrpSpPr>
            <p:grpSpPr bwMode="auto">
              <a:xfrm>
                <a:off x="4269857" y="3808273"/>
                <a:ext cx="89419" cy="90000"/>
                <a:chOff x="2178" y="1307"/>
                <a:chExt cx="154" cy="155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276" name="Oval 51"/>
                <p:cNvSpPr>
                  <a:spLocks noChangeArrowheads="1"/>
                </p:cNvSpPr>
                <p:nvPr/>
              </p:nvSpPr>
              <p:spPr bwMode="auto">
                <a:xfrm>
                  <a:off x="2271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77" name="Oval 52"/>
                <p:cNvSpPr>
                  <a:spLocks noChangeArrowheads="1"/>
                </p:cNvSpPr>
                <p:nvPr/>
              </p:nvSpPr>
              <p:spPr bwMode="auto">
                <a:xfrm>
                  <a:off x="2217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78" name="Freeform 53"/>
                <p:cNvSpPr>
                  <a:spLocks noEditPoints="1"/>
                </p:cNvSpPr>
                <p:nvPr/>
              </p:nvSpPr>
              <p:spPr bwMode="auto">
                <a:xfrm>
                  <a:off x="2178" y="1307"/>
                  <a:ext cx="154" cy="155"/>
                </a:xfrm>
                <a:custGeom>
                  <a:avLst/>
                  <a:gdLst>
                    <a:gd name="T0" fmla="*/ 250 w 500"/>
                    <a:gd name="T1" fmla="*/ 0 h 500"/>
                    <a:gd name="T2" fmla="*/ 0 w 500"/>
                    <a:gd name="T3" fmla="*/ 250 h 500"/>
                    <a:gd name="T4" fmla="*/ 250 w 500"/>
                    <a:gd name="T5" fmla="*/ 500 h 500"/>
                    <a:gd name="T6" fmla="*/ 500 w 500"/>
                    <a:gd name="T7" fmla="*/ 250 h 500"/>
                    <a:gd name="T8" fmla="*/ 250 w 500"/>
                    <a:gd name="T9" fmla="*/ 0 h 500"/>
                    <a:gd name="T10" fmla="*/ 250 w 500"/>
                    <a:gd name="T11" fmla="*/ 450 h 500"/>
                    <a:gd name="T12" fmla="*/ 50 w 500"/>
                    <a:gd name="T13" fmla="*/ 250 h 500"/>
                    <a:gd name="T14" fmla="*/ 250 w 500"/>
                    <a:gd name="T15" fmla="*/ 50 h 500"/>
                    <a:gd name="T16" fmla="*/ 450 w 500"/>
                    <a:gd name="T17" fmla="*/ 250 h 500"/>
                    <a:gd name="T18" fmla="*/ 250 w 500"/>
                    <a:gd name="T19" fmla="*/ 450 h 500"/>
                    <a:gd name="T20" fmla="*/ 250 w 500"/>
                    <a:gd name="T21" fmla="*/ 350 h 500"/>
                    <a:gd name="T22" fmla="*/ 164 w 500"/>
                    <a:gd name="T23" fmla="*/ 300 h 500"/>
                    <a:gd name="T24" fmla="*/ 122 w 500"/>
                    <a:gd name="T25" fmla="*/ 300 h 500"/>
                    <a:gd name="T26" fmla="*/ 250 w 500"/>
                    <a:gd name="T27" fmla="*/ 388 h 500"/>
                    <a:gd name="T28" fmla="*/ 378 w 500"/>
                    <a:gd name="T29" fmla="*/ 300 h 500"/>
                    <a:gd name="T30" fmla="*/ 336 w 500"/>
                    <a:gd name="T31" fmla="*/ 300 h 500"/>
                    <a:gd name="T32" fmla="*/ 250 w 500"/>
                    <a:gd name="T33" fmla="*/ 350 h 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00" h="500">
                      <a:moveTo>
                        <a:pt x="250" y="0"/>
                      </a:moveTo>
                      <a:cubicBezTo>
                        <a:pt x="112" y="0"/>
                        <a:pt x="0" y="112"/>
                        <a:pt x="0" y="250"/>
                      </a:cubicBezTo>
                      <a:cubicBezTo>
                        <a:pt x="0" y="388"/>
                        <a:pt x="112" y="500"/>
                        <a:pt x="250" y="500"/>
                      </a:cubicBezTo>
                      <a:cubicBezTo>
                        <a:pt x="388" y="500"/>
                        <a:pt x="500" y="388"/>
                        <a:pt x="500" y="250"/>
                      </a:cubicBezTo>
                      <a:cubicBezTo>
                        <a:pt x="500" y="112"/>
                        <a:pt x="388" y="0"/>
                        <a:pt x="250" y="0"/>
                      </a:cubicBezTo>
                      <a:close/>
                      <a:moveTo>
                        <a:pt x="250" y="450"/>
                      </a:moveTo>
                      <a:cubicBezTo>
                        <a:pt x="140" y="450"/>
                        <a:pt x="50" y="361"/>
                        <a:pt x="50" y="250"/>
                      </a:cubicBezTo>
                      <a:cubicBezTo>
                        <a:pt x="50" y="139"/>
                        <a:pt x="140" y="50"/>
                        <a:pt x="250" y="50"/>
                      </a:cubicBezTo>
                      <a:cubicBezTo>
                        <a:pt x="361" y="50"/>
                        <a:pt x="450" y="140"/>
                        <a:pt x="450" y="250"/>
                      </a:cubicBezTo>
                      <a:cubicBezTo>
                        <a:pt x="450" y="361"/>
                        <a:pt x="361" y="450"/>
                        <a:pt x="250" y="450"/>
                      </a:cubicBezTo>
                      <a:close/>
                      <a:moveTo>
                        <a:pt x="250" y="350"/>
                      </a:moveTo>
                      <a:cubicBezTo>
                        <a:pt x="213" y="350"/>
                        <a:pt x="181" y="330"/>
                        <a:pt x="164" y="300"/>
                      </a:cubicBezTo>
                      <a:lnTo>
                        <a:pt x="122" y="300"/>
                      </a:lnTo>
                      <a:cubicBezTo>
                        <a:pt x="142" y="351"/>
                        <a:pt x="192" y="388"/>
                        <a:pt x="250" y="388"/>
                      </a:cubicBezTo>
                      <a:cubicBezTo>
                        <a:pt x="308" y="388"/>
                        <a:pt x="358" y="351"/>
                        <a:pt x="378" y="300"/>
                      </a:cubicBezTo>
                      <a:lnTo>
                        <a:pt x="336" y="300"/>
                      </a:lnTo>
                      <a:cubicBezTo>
                        <a:pt x="319" y="330"/>
                        <a:pt x="287" y="350"/>
                        <a:pt x="250" y="35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273" name="Freeform 402"/>
            <p:cNvSpPr>
              <a:spLocks noChangeAspect="1"/>
            </p:cNvSpPr>
            <p:nvPr/>
          </p:nvSpPr>
          <p:spPr>
            <a:xfrm>
              <a:off x="2463757" y="3802263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sp>
        <p:nvSpPr>
          <p:cNvPr id="281" name="Freeform 25"/>
          <p:cNvSpPr>
            <a:spLocks noChangeAspect="1" noEditPoints="1"/>
          </p:cNvSpPr>
          <p:nvPr/>
        </p:nvSpPr>
        <p:spPr bwMode="auto">
          <a:xfrm>
            <a:off x="6535161" y="184443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2" name="Freeform 25"/>
          <p:cNvSpPr>
            <a:spLocks noChangeAspect="1" noEditPoints="1"/>
          </p:cNvSpPr>
          <p:nvPr/>
        </p:nvSpPr>
        <p:spPr bwMode="auto">
          <a:xfrm>
            <a:off x="6535161" y="396981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3" name="Freeform 25"/>
          <p:cNvSpPr>
            <a:spLocks noChangeAspect="1" noEditPoints="1"/>
          </p:cNvSpPr>
          <p:nvPr/>
        </p:nvSpPr>
        <p:spPr bwMode="auto">
          <a:xfrm>
            <a:off x="6535161" y="561727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8" name="텍스트 상자 31"/>
          <p:cNvSpPr txBox="1"/>
          <p:nvPr/>
        </p:nvSpPr>
        <p:spPr>
          <a:xfrm>
            <a:off x="3785591" y="5303634"/>
            <a:ext cx="1269604" cy="107722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kumimoji="1" lang="ko-KR" altLang="en-US" sz="700" b="1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여기까지 읽었습니다</a:t>
            </a:r>
            <a:r>
              <a:rPr kumimoji="1" lang="en-US" altLang="ko-KR" sz="700" b="1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b="1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325" name="그룹 324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26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7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28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29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0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1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2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3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34" name="직사각형 333"/>
          <p:cNvSpPr/>
          <p:nvPr/>
        </p:nvSpPr>
        <p:spPr>
          <a:xfrm>
            <a:off x="430400" y="681266"/>
            <a:ext cx="8788551" cy="6011634"/>
          </a:xfrm>
          <a:prstGeom prst="rect">
            <a:avLst/>
          </a:prstGeom>
          <a:solidFill>
            <a:schemeClr val="tx1">
              <a:lumMod val="50000"/>
              <a:lumOff val="50000"/>
              <a:alpha val="50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336" name="그룹 335"/>
          <p:cNvGrpSpPr/>
          <p:nvPr/>
        </p:nvGrpSpPr>
        <p:grpSpPr>
          <a:xfrm>
            <a:off x="1793763" y="1553980"/>
            <a:ext cx="5320640" cy="1700866"/>
            <a:chOff x="4540990" y="4109994"/>
            <a:chExt cx="5320640" cy="1700866"/>
          </a:xfrm>
        </p:grpSpPr>
        <p:sp>
          <p:nvSpPr>
            <p:cNvPr id="338" name="Rectangle 14"/>
            <p:cNvSpPr>
              <a:spLocks/>
            </p:cNvSpPr>
            <p:nvPr/>
          </p:nvSpPr>
          <p:spPr bwMode="auto">
            <a:xfrm>
              <a:off x="4540990" y="4109994"/>
              <a:ext cx="5320640" cy="1700866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>
              <a:outerShdw blurRad="50800" dist="38100" dir="2700000" sx="99000" sy="99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50800" tIns="18000" rIns="50800" bIns="50800" anchor="t"/>
            <a:lstStyle/>
            <a:p>
              <a:pPr>
                <a:lnSpc>
                  <a:spcPct val="130000"/>
                </a:lnSpc>
              </a:pPr>
              <a:endParaRPr lang="x-none" altLang="x-none" sz="600" u="sng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4743779" y="4235775"/>
              <a:ext cx="1824786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defTabSz="990570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멤버들에게 새로운 소식을 전해보세요</a:t>
              </a:r>
              <a:endParaRPr kumimoji="0"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0" name="직사각형 339"/>
            <p:cNvSpPr/>
            <p:nvPr/>
          </p:nvSpPr>
          <p:spPr>
            <a:xfrm>
              <a:off x="4553194" y="5107528"/>
              <a:ext cx="5302800" cy="6957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1" name="직선 연결선 340"/>
            <p:cNvCxnSpPr/>
            <p:nvPr/>
          </p:nvCxnSpPr>
          <p:spPr>
            <a:xfrm flipH="1">
              <a:off x="4555233" y="5107611"/>
              <a:ext cx="530639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2" name="Rounded Rectangle 861"/>
            <p:cNvSpPr/>
            <p:nvPr/>
          </p:nvSpPr>
          <p:spPr>
            <a:xfrm>
              <a:off x="9140738" y="5180734"/>
              <a:ext cx="396000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저장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43" name="Rounded Rectangle 861"/>
            <p:cNvSpPr/>
            <p:nvPr/>
          </p:nvSpPr>
          <p:spPr>
            <a:xfrm>
              <a:off x="8674120" y="5180734"/>
              <a:ext cx="396000" cy="16200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취소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44" name="Freeform 17"/>
            <p:cNvSpPr>
              <a:spLocks noChangeArrowheads="1"/>
            </p:cNvSpPr>
            <p:nvPr/>
          </p:nvSpPr>
          <p:spPr bwMode="auto">
            <a:xfrm>
              <a:off x="4770616" y="5170694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45" name="Freeform 33"/>
            <p:cNvSpPr>
              <a:spLocks noEditPoints="1"/>
            </p:cNvSpPr>
            <p:nvPr/>
          </p:nvSpPr>
          <p:spPr bwMode="auto">
            <a:xfrm>
              <a:off x="5378561" y="5170694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46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5617" y="5170694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7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12687" y="5152694"/>
              <a:ext cx="180000" cy="18000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8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artisticPhotocopy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0144" y="5160333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0" name="텍스트 상자 31"/>
          <p:cNvSpPr txBox="1"/>
          <p:nvPr/>
        </p:nvSpPr>
        <p:spPr>
          <a:xfrm>
            <a:off x="2002668" y="2947054"/>
            <a:ext cx="31286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보고일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56" name="Rounded Rectangle 939"/>
          <p:cNvSpPr/>
          <p:nvPr/>
        </p:nvSpPr>
        <p:spPr>
          <a:xfrm>
            <a:off x="3819949" y="2903841"/>
            <a:ext cx="3060000" cy="21600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108000"/>
            <a:r>
              <a:rPr lang="ko-KR" altLang="en-US" sz="8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업무보고</a:t>
            </a:r>
            <a:endParaRPr kumimoji="1" lang="ko-KR" altLang="en-US" sz="8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2429630" y="2896863"/>
            <a:ext cx="900000" cy="216000"/>
            <a:chOff x="2365068" y="2978448"/>
            <a:chExt cx="900000" cy="216000"/>
          </a:xfrm>
        </p:grpSpPr>
        <p:sp>
          <p:nvSpPr>
            <p:cNvPr id="251" name="Rounded Rectangle 939"/>
            <p:cNvSpPr/>
            <p:nvPr/>
          </p:nvSpPr>
          <p:spPr>
            <a:xfrm>
              <a:off x="2365068" y="2978448"/>
              <a:ext cx="900000" cy="216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6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r>
                <a:rPr kumimoji="1" lang="en-US" altLang="ko-KR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2017.09.20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pic>
          <p:nvPicPr>
            <p:cNvPr id="55" name="그림 54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069263" y="3018045"/>
              <a:ext cx="152421" cy="152421"/>
            </a:xfrm>
            <a:prstGeom prst="rect">
              <a:avLst/>
            </a:prstGeom>
          </p:spPr>
        </p:pic>
      </p:grpSp>
      <p:sp>
        <p:nvSpPr>
          <p:cNvPr id="296" name="타원 295"/>
          <p:cNvSpPr>
            <a:spLocks noChangeAspect="1"/>
          </p:cNvSpPr>
          <p:nvPr/>
        </p:nvSpPr>
        <p:spPr>
          <a:xfrm>
            <a:off x="1704948" y="146995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7" name="타원 256"/>
          <p:cNvSpPr>
            <a:spLocks noChangeAspect="1"/>
          </p:cNvSpPr>
          <p:nvPr/>
        </p:nvSpPr>
        <p:spPr>
          <a:xfrm>
            <a:off x="1803801" y="290888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8" name="타원 257"/>
          <p:cNvSpPr>
            <a:spLocks noChangeAspect="1"/>
          </p:cNvSpPr>
          <p:nvPr/>
        </p:nvSpPr>
        <p:spPr>
          <a:xfrm>
            <a:off x="4900746" y="291796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4" name="텍스트 상자 31"/>
          <p:cNvSpPr txBox="1"/>
          <p:nvPr/>
        </p:nvSpPr>
        <p:spPr>
          <a:xfrm>
            <a:off x="3550811" y="2938001"/>
            <a:ext cx="31286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제목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6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smtClean="0"/>
              <a:t>글쓰기</a:t>
            </a:r>
            <a:r>
              <a:rPr kumimoji="1" lang="en-US" altLang="ko-KR" smtClean="0"/>
              <a:t>_</a:t>
            </a:r>
            <a:r>
              <a:rPr kumimoji="1" lang="ko-KR" altLang="en-US" smtClean="0"/>
              <a:t>보고서 등록</a:t>
            </a:r>
            <a:endParaRPr lang="ko-KR" altLang="en-US" dirty="0"/>
          </a:p>
        </p:txBody>
      </p:sp>
      <p:sp>
        <p:nvSpPr>
          <p:cNvPr id="255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SQ5.2.1.3.3</a:t>
            </a:r>
            <a:endParaRPr lang="ko-KR" altLang="en-US" dirty="0"/>
          </a:p>
        </p:txBody>
      </p:sp>
      <p:sp>
        <p:nvSpPr>
          <p:cNvPr id="285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스퀘어 홈</a:t>
            </a:r>
            <a:r>
              <a:rPr lang="en-US" altLang="ko-KR" dirty="0"/>
              <a:t>&gt; </a:t>
            </a:r>
            <a:r>
              <a:rPr lang="ko-KR" altLang="en-US" dirty="0"/>
              <a:t>그룹</a:t>
            </a:r>
          </a:p>
        </p:txBody>
      </p:sp>
      <p:sp>
        <p:nvSpPr>
          <p:cNvPr id="286" name="Rounded Rectangle 861"/>
          <p:cNvSpPr/>
          <p:nvPr/>
        </p:nvSpPr>
        <p:spPr>
          <a:xfrm>
            <a:off x="1907262" y="2337302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#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태그를 입력하세요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</a:t>
            </a:r>
            <a:endParaRPr 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480743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내용 개체 틀 187"/>
          <p:cNvGraphicFramePr>
            <a:graphicFrameLocks/>
          </p:cNvGraphicFramePr>
          <p:nvPr>
            <p:extLst/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  </a:t>
              </a:r>
              <a:r>
                <a:rPr kumimoji="1" lang="en-US" altLang="ko-KR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7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" name="Rectangle 477"/>
          <p:cNvSpPr/>
          <p:nvPr/>
        </p:nvSpPr>
        <p:spPr>
          <a:xfrm>
            <a:off x="6925831" y="5484435"/>
            <a:ext cx="2169137" cy="111484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42127" y="86576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6" name="타원 65"/>
          <p:cNvSpPr>
            <a:spLocks noChangeAspect="1"/>
          </p:cNvSpPr>
          <p:nvPr/>
        </p:nvSpPr>
        <p:spPr>
          <a:xfrm>
            <a:off x="6887667" y="96907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950447"/>
            <a:chOff x="5995939" y="5903574"/>
            <a:chExt cx="2088322" cy="95044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  <a:endParaRPr lang="en-US" altLang="ko-KR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1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2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4 #</a:t>
              </a:r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5 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06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8" name="Freeform 9"/>
          <p:cNvSpPr>
            <a:spLocks noChangeAspect="1" noChangeArrowheads="1"/>
          </p:cNvSpPr>
          <p:nvPr/>
        </p:nvSpPr>
        <p:spPr bwMode="auto">
          <a:xfrm>
            <a:off x="6535161" y="1262456"/>
            <a:ext cx="120648" cy="108000"/>
          </a:xfrm>
          <a:custGeom>
            <a:avLst/>
            <a:gdLst>
              <a:gd name="T0" fmla="*/ 0 w 545"/>
              <a:gd name="T1" fmla="*/ 383 h 488"/>
              <a:gd name="T2" fmla="*/ 0 w 545"/>
              <a:gd name="T3" fmla="*/ 487 h 488"/>
              <a:gd name="T4" fmla="*/ 103 w 545"/>
              <a:gd name="T5" fmla="*/ 487 h 488"/>
              <a:gd name="T6" fmla="*/ 404 w 545"/>
              <a:gd name="T7" fmla="*/ 186 h 488"/>
              <a:gd name="T8" fmla="*/ 300 w 545"/>
              <a:gd name="T9" fmla="*/ 83 h 488"/>
              <a:gd name="T10" fmla="*/ 0 w 545"/>
              <a:gd name="T11" fmla="*/ 383 h 488"/>
              <a:gd name="T12" fmla="*/ 482 w 545"/>
              <a:gd name="T13" fmla="*/ 109 h 488"/>
              <a:gd name="T14" fmla="*/ 482 w 545"/>
              <a:gd name="T15" fmla="*/ 72 h 488"/>
              <a:gd name="T16" fmla="*/ 420 w 545"/>
              <a:gd name="T17" fmla="*/ 10 h 488"/>
              <a:gd name="T18" fmla="*/ 383 w 545"/>
              <a:gd name="T19" fmla="*/ 10 h 488"/>
              <a:gd name="T20" fmla="*/ 331 w 545"/>
              <a:gd name="T21" fmla="*/ 57 h 488"/>
              <a:gd name="T22" fmla="*/ 435 w 545"/>
              <a:gd name="T23" fmla="*/ 160 h 488"/>
              <a:gd name="T24" fmla="*/ 482 w 545"/>
              <a:gd name="T25" fmla="*/ 109 h 488"/>
              <a:gd name="T26" fmla="*/ 248 w 545"/>
              <a:gd name="T27" fmla="*/ 435 h 488"/>
              <a:gd name="T28" fmla="*/ 191 w 545"/>
              <a:gd name="T29" fmla="*/ 487 h 488"/>
              <a:gd name="T30" fmla="*/ 544 w 545"/>
              <a:gd name="T31" fmla="*/ 487 h 488"/>
              <a:gd name="T32" fmla="*/ 544 w 545"/>
              <a:gd name="T33" fmla="*/ 435 h 488"/>
              <a:gd name="T34" fmla="*/ 248 w 545"/>
              <a:gd name="T35" fmla="*/ 435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45" h="488">
                <a:moveTo>
                  <a:pt x="0" y="383"/>
                </a:moveTo>
                <a:lnTo>
                  <a:pt x="0" y="487"/>
                </a:lnTo>
                <a:lnTo>
                  <a:pt x="103" y="487"/>
                </a:lnTo>
                <a:lnTo>
                  <a:pt x="404" y="186"/>
                </a:lnTo>
                <a:lnTo>
                  <a:pt x="300" y="83"/>
                </a:lnTo>
                <a:lnTo>
                  <a:pt x="0" y="383"/>
                </a:lnTo>
                <a:close/>
                <a:moveTo>
                  <a:pt x="482" y="109"/>
                </a:moveTo>
                <a:cubicBezTo>
                  <a:pt x="492" y="98"/>
                  <a:pt x="492" y="83"/>
                  <a:pt x="482" y="72"/>
                </a:cubicBezTo>
                <a:lnTo>
                  <a:pt x="420" y="10"/>
                </a:lnTo>
                <a:cubicBezTo>
                  <a:pt x="409" y="0"/>
                  <a:pt x="394" y="0"/>
                  <a:pt x="383" y="10"/>
                </a:cubicBezTo>
                <a:lnTo>
                  <a:pt x="331" y="57"/>
                </a:lnTo>
                <a:lnTo>
                  <a:pt x="435" y="160"/>
                </a:lnTo>
                <a:lnTo>
                  <a:pt x="482" y="109"/>
                </a:lnTo>
                <a:close/>
                <a:moveTo>
                  <a:pt x="248" y="435"/>
                </a:moveTo>
                <a:lnTo>
                  <a:pt x="191" y="487"/>
                </a:lnTo>
                <a:lnTo>
                  <a:pt x="544" y="487"/>
                </a:lnTo>
                <a:lnTo>
                  <a:pt x="544" y="435"/>
                </a:lnTo>
                <a:lnTo>
                  <a:pt x="248" y="4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792960"/>
              </p:ext>
            </p:extLst>
          </p:nvPr>
        </p:nvGraphicFramePr>
        <p:xfrm>
          <a:off x="9290533" y="786383"/>
          <a:ext cx="2892502" cy="311285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공지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 버튼 클릭 시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게재기간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시작일과 종료일 설정을 할 수 있는 항목 디스플레이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공지사항은 디폴트로 관리자만 게재 가능 </a:t>
                      </a: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설정 메뉴에서 사용 권한  설정 추가 검토</a:t>
                      </a:r>
                      <a:r>
                        <a:rPr lang="en-US" altLang="ko-KR" sz="8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 필수 입력 항목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글쓰기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내용 미 입력 시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내용을 입력하여 주십시오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”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라는 안내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 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메시지를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모달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레이어 팝업 창으로 표시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게재 기간 미 입력 시 게재 기간 표시하지 않음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 콘텐츠 등록 시 이미지 또는 파일 첨부는 등록 창의 이미지 또는 파일 버튼을 클릭하여 추가할 수 있음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 버튼 클릭 시 일정 및 보고 버튼 비활성화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일정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보고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공지 버튼 클릭 시 선택 버튼 이외 나머지 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개 버튼 비활성화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endParaRPr lang="ko-KR" altLang="en-US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게재 기간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폼에 시작일과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종요일을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텍스트로 표시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폼 원 클릭 시 공통으로 사용하는 달력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레이어창을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오픈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저장 및 취소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시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피드에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공시사항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콘텐츠 양식으로 표시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시 해당 창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Closed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Rectangle 185"/>
          <p:cNvSpPr/>
          <p:nvPr/>
        </p:nvSpPr>
        <p:spPr>
          <a:xfrm>
            <a:off x="1963755" y="5482604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0" name="텍스트 상자 31"/>
          <p:cNvSpPr txBox="1"/>
          <p:nvPr/>
        </p:nvSpPr>
        <p:spPr>
          <a:xfrm>
            <a:off x="2421414" y="5613946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91" name="그룹 400"/>
          <p:cNvGrpSpPr/>
          <p:nvPr/>
        </p:nvGrpSpPr>
        <p:grpSpPr>
          <a:xfrm>
            <a:off x="2078622" y="5603477"/>
            <a:ext cx="229236" cy="229194"/>
            <a:chOff x="2625629" y="3735853"/>
            <a:chExt cx="276891" cy="276839"/>
          </a:xfrm>
        </p:grpSpPr>
        <p:sp>
          <p:nvSpPr>
            <p:cNvPr id="19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9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92" name="텍스트 상자 31"/>
          <p:cNvSpPr txBox="1"/>
          <p:nvPr/>
        </p:nvSpPr>
        <p:spPr>
          <a:xfrm>
            <a:off x="2421414" y="5751803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3" name="텍스트 상자 31"/>
          <p:cNvSpPr txBox="1"/>
          <p:nvPr/>
        </p:nvSpPr>
        <p:spPr>
          <a:xfrm>
            <a:off x="2078622" y="5936557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6" name="Rectangle 279"/>
          <p:cNvSpPr/>
          <p:nvPr/>
        </p:nvSpPr>
        <p:spPr>
          <a:xfrm>
            <a:off x="1963754" y="3848939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98" name="Rectangle 202"/>
          <p:cNvSpPr/>
          <p:nvPr/>
        </p:nvSpPr>
        <p:spPr>
          <a:xfrm>
            <a:off x="1963754" y="1722802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2421414" y="1852981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00" name="그룹 400"/>
          <p:cNvGrpSpPr/>
          <p:nvPr/>
        </p:nvGrpSpPr>
        <p:grpSpPr>
          <a:xfrm>
            <a:off x="2078622" y="1842605"/>
            <a:ext cx="229236" cy="227167"/>
            <a:chOff x="2625629" y="3735853"/>
            <a:chExt cx="276891" cy="276839"/>
          </a:xfrm>
        </p:grpSpPr>
        <p:sp>
          <p:nvSpPr>
            <p:cNvPr id="23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2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01" name="텍스트 상자 31"/>
          <p:cNvSpPr txBox="1"/>
          <p:nvPr/>
        </p:nvSpPr>
        <p:spPr>
          <a:xfrm>
            <a:off x="2421414" y="1989619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2078622" y="2192878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3" name="Rectangle 231"/>
          <p:cNvSpPr/>
          <p:nvPr/>
        </p:nvSpPr>
        <p:spPr>
          <a:xfrm>
            <a:off x="1963754" y="2825708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04" name="Rounded Rectangle 245"/>
          <p:cNvSpPr/>
          <p:nvPr/>
        </p:nvSpPr>
        <p:spPr>
          <a:xfrm>
            <a:off x="2078622" y="2398054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5" name="Rounded Rectangle 246"/>
          <p:cNvSpPr/>
          <p:nvPr/>
        </p:nvSpPr>
        <p:spPr>
          <a:xfrm>
            <a:off x="2564063" y="2398054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06" name="Rounded Rectangle 247"/>
          <p:cNvSpPr/>
          <p:nvPr/>
        </p:nvSpPr>
        <p:spPr>
          <a:xfrm>
            <a:off x="2923619" y="2398054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07" name="직선 연결선[R] 33"/>
          <p:cNvCxnSpPr/>
          <p:nvPr/>
        </p:nvCxnSpPr>
        <p:spPr>
          <a:xfrm>
            <a:off x="2052416" y="262811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8" name="Oval 52"/>
          <p:cNvSpPr>
            <a:spLocks noChangeArrowheads="1"/>
          </p:cNvSpPr>
          <p:nvPr/>
        </p:nvSpPr>
        <p:spPr bwMode="auto">
          <a:xfrm>
            <a:off x="2136324" y="2703141"/>
            <a:ext cx="13355" cy="13237"/>
          </a:xfrm>
          <a:prstGeom prst="ellipse">
            <a:avLst/>
          </a:prstGeom>
          <a:solidFill>
            <a:schemeClr val="bg1">
              <a:lumMod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grpSp>
        <p:nvGrpSpPr>
          <p:cNvPr id="209" name="Group 7"/>
          <p:cNvGrpSpPr/>
          <p:nvPr/>
        </p:nvGrpSpPr>
        <p:grpSpPr>
          <a:xfrm>
            <a:off x="2078622" y="3238963"/>
            <a:ext cx="1612396" cy="227167"/>
            <a:chOff x="2478168" y="4026446"/>
            <a:chExt cx="1612396" cy="229194"/>
          </a:xfrm>
        </p:grpSpPr>
        <p:sp>
          <p:nvSpPr>
            <p:cNvPr id="226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27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2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30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28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17" name="Rectangle 237"/>
          <p:cNvSpPr/>
          <p:nvPr/>
        </p:nvSpPr>
        <p:spPr>
          <a:xfrm>
            <a:off x="2371518" y="2900940"/>
            <a:ext cx="4428596" cy="1804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8" name="텍스트 상자 31"/>
          <p:cNvSpPr txBox="1"/>
          <p:nvPr/>
        </p:nvSpPr>
        <p:spPr>
          <a:xfrm>
            <a:off x="2421412" y="2952190"/>
            <a:ext cx="2510551" cy="7626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500" b="1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댓글 </a:t>
            </a:r>
            <a:r>
              <a:rPr kumimoji="1" lang="ko-KR" altLang="en-US" sz="5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남기기</a:t>
            </a:r>
            <a:endParaRPr kumimoji="1" lang="ko-KR" altLang="en-US" sz="5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19" name="Group 50"/>
          <p:cNvGrpSpPr>
            <a:grpSpLocks noChangeAspect="1"/>
          </p:cNvGrpSpPr>
          <p:nvPr/>
        </p:nvGrpSpPr>
        <p:grpSpPr bwMode="auto">
          <a:xfrm>
            <a:off x="6546832" y="2937073"/>
            <a:ext cx="108260" cy="108000"/>
            <a:chOff x="2178" y="1307"/>
            <a:chExt cx="154" cy="155"/>
          </a:xfrm>
          <a:solidFill>
            <a:schemeClr val="bg1">
              <a:lumMod val="50000"/>
            </a:schemeClr>
          </a:solidFill>
        </p:grpSpPr>
        <p:sp>
          <p:nvSpPr>
            <p:cNvPr id="223" name="Oval 51"/>
            <p:cNvSpPr>
              <a:spLocks noChangeArrowheads="1"/>
            </p:cNvSpPr>
            <p:nvPr/>
          </p:nvSpPr>
          <p:spPr bwMode="auto">
            <a:xfrm>
              <a:off x="2271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24" name="Oval 52"/>
            <p:cNvSpPr>
              <a:spLocks noChangeArrowheads="1"/>
            </p:cNvSpPr>
            <p:nvPr/>
          </p:nvSpPr>
          <p:spPr bwMode="auto">
            <a:xfrm>
              <a:off x="2217" y="1354"/>
              <a:ext cx="23" cy="23"/>
            </a:xfrm>
            <a:prstGeom prst="ellipse">
              <a:avLst/>
            </a:pr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25" name="Freeform 53"/>
            <p:cNvSpPr>
              <a:spLocks noEditPoints="1"/>
            </p:cNvSpPr>
            <p:nvPr/>
          </p:nvSpPr>
          <p:spPr bwMode="auto">
            <a:xfrm>
              <a:off x="2178" y="1307"/>
              <a:ext cx="154" cy="155"/>
            </a:xfrm>
            <a:custGeom>
              <a:avLst/>
              <a:gdLst>
                <a:gd name="T0" fmla="*/ 250 w 500"/>
                <a:gd name="T1" fmla="*/ 0 h 500"/>
                <a:gd name="T2" fmla="*/ 0 w 500"/>
                <a:gd name="T3" fmla="*/ 250 h 500"/>
                <a:gd name="T4" fmla="*/ 250 w 500"/>
                <a:gd name="T5" fmla="*/ 500 h 500"/>
                <a:gd name="T6" fmla="*/ 500 w 500"/>
                <a:gd name="T7" fmla="*/ 250 h 500"/>
                <a:gd name="T8" fmla="*/ 250 w 500"/>
                <a:gd name="T9" fmla="*/ 0 h 500"/>
                <a:gd name="T10" fmla="*/ 250 w 500"/>
                <a:gd name="T11" fmla="*/ 450 h 500"/>
                <a:gd name="T12" fmla="*/ 50 w 500"/>
                <a:gd name="T13" fmla="*/ 250 h 500"/>
                <a:gd name="T14" fmla="*/ 250 w 500"/>
                <a:gd name="T15" fmla="*/ 50 h 500"/>
                <a:gd name="T16" fmla="*/ 450 w 500"/>
                <a:gd name="T17" fmla="*/ 250 h 500"/>
                <a:gd name="T18" fmla="*/ 250 w 500"/>
                <a:gd name="T19" fmla="*/ 450 h 500"/>
                <a:gd name="T20" fmla="*/ 250 w 500"/>
                <a:gd name="T21" fmla="*/ 350 h 500"/>
                <a:gd name="T22" fmla="*/ 164 w 500"/>
                <a:gd name="T23" fmla="*/ 300 h 500"/>
                <a:gd name="T24" fmla="*/ 122 w 500"/>
                <a:gd name="T25" fmla="*/ 300 h 500"/>
                <a:gd name="T26" fmla="*/ 250 w 500"/>
                <a:gd name="T27" fmla="*/ 388 h 500"/>
                <a:gd name="T28" fmla="*/ 378 w 500"/>
                <a:gd name="T29" fmla="*/ 300 h 500"/>
                <a:gd name="T30" fmla="*/ 336 w 500"/>
                <a:gd name="T31" fmla="*/ 300 h 500"/>
                <a:gd name="T32" fmla="*/ 250 w 500"/>
                <a:gd name="T33" fmla="*/ 3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0" h="500">
                  <a:moveTo>
                    <a:pt x="250" y="0"/>
                  </a:moveTo>
                  <a:cubicBezTo>
                    <a:pt x="112" y="0"/>
                    <a:pt x="0" y="112"/>
                    <a:pt x="0" y="250"/>
                  </a:cubicBezTo>
                  <a:cubicBezTo>
                    <a:pt x="0" y="388"/>
                    <a:pt x="112" y="500"/>
                    <a:pt x="250" y="500"/>
                  </a:cubicBezTo>
                  <a:cubicBezTo>
                    <a:pt x="388" y="500"/>
                    <a:pt x="500" y="388"/>
                    <a:pt x="500" y="250"/>
                  </a:cubicBezTo>
                  <a:cubicBezTo>
                    <a:pt x="500" y="112"/>
                    <a:pt x="388" y="0"/>
                    <a:pt x="250" y="0"/>
                  </a:cubicBezTo>
                  <a:close/>
                  <a:moveTo>
                    <a:pt x="250" y="450"/>
                  </a:moveTo>
                  <a:cubicBezTo>
                    <a:pt x="140" y="450"/>
                    <a:pt x="50" y="361"/>
                    <a:pt x="50" y="250"/>
                  </a:cubicBezTo>
                  <a:cubicBezTo>
                    <a:pt x="50" y="139"/>
                    <a:pt x="140" y="50"/>
                    <a:pt x="250" y="50"/>
                  </a:cubicBezTo>
                  <a:cubicBezTo>
                    <a:pt x="361" y="50"/>
                    <a:pt x="450" y="140"/>
                    <a:pt x="450" y="250"/>
                  </a:cubicBezTo>
                  <a:cubicBezTo>
                    <a:pt x="450" y="361"/>
                    <a:pt x="361" y="450"/>
                    <a:pt x="250" y="450"/>
                  </a:cubicBezTo>
                  <a:close/>
                  <a:moveTo>
                    <a:pt x="250" y="350"/>
                  </a:moveTo>
                  <a:cubicBezTo>
                    <a:pt x="213" y="350"/>
                    <a:pt x="181" y="330"/>
                    <a:pt x="164" y="300"/>
                  </a:cubicBezTo>
                  <a:lnTo>
                    <a:pt x="122" y="300"/>
                  </a:lnTo>
                  <a:cubicBezTo>
                    <a:pt x="142" y="351"/>
                    <a:pt x="192" y="388"/>
                    <a:pt x="250" y="388"/>
                  </a:cubicBezTo>
                  <a:cubicBezTo>
                    <a:pt x="308" y="388"/>
                    <a:pt x="358" y="351"/>
                    <a:pt x="378" y="300"/>
                  </a:cubicBezTo>
                  <a:lnTo>
                    <a:pt x="336" y="300"/>
                  </a:lnTo>
                  <a:cubicBezTo>
                    <a:pt x="319" y="330"/>
                    <a:pt x="287" y="350"/>
                    <a:pt x="250" y="3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grpSp>
        <p:nvGrpSpPr>
          <p:cNvPr id="220" name="그룹 400"/>
          <p:cNvGrpSpPr/>
          <p:nvPr/>
        </p:nvGrpSpPr>
        <p:grpSpPr>
          <a:xfrm>
            <a:off x="2078622" y="2877910"/>
            <a:ext cx="229236" cy="227167"/>
            <a:chOff x="2625629" y="3735853"/>
            <a:chExt cx="276891" cy="276839"/>
          </a:xfrm>
        </p:grpSpPr>
        <p:sp>
          <p:nvSpPr>
            <p:cNvPr id="22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22" name="Picture 266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11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2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13" name="직선 연결선[R] 33"/>
          <p:cNvCxnSpPr/>
          <p:nvPr/>
        </p:nvCxnSpPr>
        <p:spPr>
          <a:xfrm>
            <a:off x="2052416" y="3152106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Rectangle 313"/>
          <p:cNvSpPr/>
          <p:nvPr/>
        </p:nvSpPr>
        <p:spPr>
          <a:xfrm>
            <a:off x="1963755" y="3543670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5" name="텍스트 상자 31"/>
          <p:cNvSpPr txBox="1"/>
          <p:nvPr/>
        </p:nvSpPr>
        <p:spPr>
          <a:xfrm>
            <a:off x="4141390" y="3557466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전체 댓글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pic>
        <p:nvPicPr>
          <p:cNvPr id="216" name="Picture 280"/>
          <p:cNvPicPr>
            <a:picLocks noChangeAspect="1"/>
          </p:cNvPicPr>
          <p:nvPr/>
        </p:nvPicPr>
        <p:blipFill rotWithShape="1">
          <a:blip r:embed="rId4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233" name="텍스트 상자 31"/>
          <p:cNvSpPr txBox="1"/>
          <p:nvPr/>
        </p:nvSpPr>
        <p:spPr>
          <a:xfrm>
            <a:off x="2421414" y="396995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34" name="그룹 400"/>
          <p:cNvGrpSpPr/>
          <p:nvPr/>
        </p:nvGrpSpPr>
        <p:grpSpPr>
          <a:xfrm>
            <a:off x="2078622" y="3959483"/>
            <a:ext cx="229236" cy="229194"/>
            <a:chOff x="2625629" y="3735853"/>
            <a:chExt cx="276891" cy="276839"/>
          </a:xfrm>
        </p:grpSpPr>
        <p:sp>
          <p:nvSpPr>
            <p:cNvPr id="23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37" name="텍스트 상자 31"/>
          <p:cNvSpPr txBox="1"/>
          <p:nvPr/>
        </p:nvSpPr>
        <p:spPr>
          <a:xfrm>
            <a:off x="2421414" y="4107809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8" name="Rectangle 177"/>
          <p:cNvSpPr/>
          <p:nvPr/>
        </p:nvSpPr>
        <p:spPr>
          <a:xfrm>
            <a:off x="2067486" y="4472532"/>
            <a:ext cx="4700930" cy="45887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39" name="Group 11"/>
          <p:cNvGrpSpPr/>
          <p:nvPr/>
        </p:nvGrpSpPr>
        <p:grpSpPr>
          <a:xfrm>
            <a:off x="2484729" y="4565835"/>
            <a:ext cx="1791250" cy="272271"/>
            <a:chOff x="2887384" y="5664055"/>
            <a:chExt cx="1791250" cy="272271"/>
          </a:xfrm>
        </p:grpSpPr>
        <p:sp>
          <p:nvSpPr>
            <p:cNvPr id="240" name="텍스트 상자 31"/>
            <p:cNvSpPr txBox="1"/>
            <p:nvPr/>
          </p:nvSpPr>
          <p:spPr>
            <a:xfrm>
              <a:off x="2892510" y="5664055"/>
              <a:ext cx="1786124" cy="10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팀 중간회식</a:t>
              </a:r>
              <a:endParaRPr kumimoji="1" lang="ko-KR" altLang="en-US" sz="7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41" name="텍스트 상자 31"/>
            <p:cNvSpPr txBox="1"/>
            <p:nvPr/>
          </p:nvSpPr>
          <p:spPr>
            <a:xfrm>
              <a:off x="2887384" y="5807060"/>
              <a:ext cx="1621213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2017.09.30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(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금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)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오후 </a:t>
              </a: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7:00-8:00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42" name="Freeform 33"/>
          <p:cNvSpPr>
            <a:spLocks noEditPoints="1"/>
          </p:cNvSpPr>
          <p:nvPr/>
        </p:nvSpPr>
        <p:spPr bwMode="auto">
          <a:xfrm>
            <a:off x="2194138" y="4599136"/>
            <a:ext cx="182894" cy="203520"/>
          </a:xfrm>
          <a:custGeom>
            <a:avLst/>
            <a:gdLst>
              <a:gd name="T0" fmla="*/ 338 w 450"/>
              <a:gd name="T1" fmla="*/ 252 h 500"/>
              <a:gd name="T2" fmla="*/ 312 w 450"/>
              <a:gd name="T3" fmla="*/ 225 h 500"/>
              <a:gd name="T4" fmla="*/ 190 w 450"/>
              <a:gd name="T5" fmla="*/ 347 h 500"/>
              <a:gd name="T6" fmla="*/ 137 w 450"/>
              <a:gd name="T7" fmla="*/ 294 h 500"/>
              <a:gd name="T8" fmla="*/ 110 w 450"/>
              <a:gd name="T9" fmla="*/ 320 h 500"/>
              <a:gd name="T10" fmla="*/ 190 w 450"/>
              <a:gd name="T11" fmla="*/ 400 h 500"/>
              <a:gd name="T12" fmla="*/ 338 w 450"/>
              <a:gd name="T13" fmla="*/ 252 h 500"/>
              <a:gd name="T14" fmla="*/ 400 w 450"/>
              <a:gd name="T15" fmla="*/ 50 h 500"/>
              <a:gd name="T16" fmla="*/ 375 w 450"/>
              <a:gd name="T17" fmla="*/ 50 h 500"/>
              <a:gd name="T18" fmla="*/ 375 w 450"/>
              <a:gd name="T19" fmla="*/ 0 h 500"/>
              <a:gd name="T20" fmla="*/ 325 w 450"/>
              <a:gd name="T21" fmla="*/ 0 h 500"/>
              <a:gd name="T22" fmla="*/ 325 w 450"/>
              <a:gd name="T23" fmla="*/ 50 h 500"/>
              <a:gd name="T24" fmla="*/ 125 w 450"/>
              <a:gd name="T25" fmla="*/ 50 h 500"/>
              <a:gd name="T26" fmla="*/ 125 w 450"/>
              <a:gd name="T27" fmla="*/ 0 h 500"/>
              <a:gd name="T28" fmla="*/ 75 w 450"/>
              <a:gd name="T29" fmla="*/ 0 h 500"/>
              <a:gd name="T30" fmla="*/ 75 w 450"/>
              <a:gd name="T31" fmla="*/ 50 h 500"/>
              <a:gd name="T32" fmla="*/ 50 w 450"/>
              <a:gd name="T33" fmla="*/ 50 h 500"/>
              <a:gd name="T34" fmla="*/ 0 w 450"/>
              <a:gd name="T35" fmla="*/ 100 h 500"/>
              <a:gd name="T36" fmla="*/ 0 w 450"/>
              <a:gd name="T37" fmla="*/ 450 h 500"/>
              <a:gd name="T38" fmla="*/ 50 w 450"/>
              <a:gd name="T39" fmla="*/ 500 h 500"/>
              <a:gd name="T40" fmla="*/ 400 w 450"/>
              <a:gd name="T41" fmla="*/ 500 h 500"/>
              <a:gd name="T42" fmla="*/ 450 w 450"/>
              <a:gd name="T43" fmla="*/ 450 h 500"/>
              <a:gd name="T44" fmla="*/ 450 w 450"/>
              <a:gd name="T45" fmla="*/ 100 h 500"/>
              <a:gd name="T46" fmla="*/ 400 w 450"/>
              <a:gd name="T47" fmla="*/ 50 h 500"/>
              <a:gd name="T48" fmla="*/ 400 w 450"/>
              <a:gd name="T49" fmla="*/ 450 h 500"/>
              <a:gd name="T50" fmla="*/ 50 w 450"/>
              <a:gd name="T51" fmla="*/ 450 h 500"/>
              <a:gd name="T52" fmla="*/ 50 w 450"/>
              <a:gd name="T53" fmla="*/ 175 h 500"/>
              <a:gd name="T54" fmla="*/ 400 w 450"/>
              <a:gd name="T55" fmla="*/ 175 h 500"/>
              <a:gd name="T56" fmla="*/ 400 w 450"/>
              <a:gd name="T57" fmla="*/ 45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0" h="500">
                <a:moveTo>
                  <a:pt x="338" y="252"/>
                </a:moveTo>
                <a:lnTo>
                  <a:pt x="312" y="225"/>
                </a:lnTo>
                <a:lnTo>
                  <a:pt x="190" y="347"/>
                </a:lnTo>
                <a:lnTo>
                  <a:pt x="137" y="294"/>
                </a:lnTo>
                <a:lnTo>
                  <a:pt x="110" y="320"/>
                </a:lnTo>
                <a:lnTo>
                  <a:pt x="190" y="400"/>
                </a:lnTo>
                <a:lnTo>
                  <a:pt x="338" y="252"/>
                </a:lnTo>
                <a:close/>
                <a:moveTo>
                  <a:pt x="400" y="50"/>
                </a:moveTo>
                <a:lnTo>
                  <a:pt x="375" y="50"/>
                </a:lnTo>
                <a:lnTo>
                  <a:pt x="375" y="0"/>
                </a:lnTo>
                <a:lnTo>
                  <a:pt x="325" y="0"/>
                </a:lnTo>
                <a:lnTo>
                  <a:pt x="325" y="50"/>
                </a:lnTo>
                <a:lnTo>
                  <a:pt x="125" y="50"/>
                </a:lnTo>
                <a:lnTo>
                  <a:pt x="125" y="0"/>
                </a:lnTo>
                <a:lnTo>
                  <a:pt x="75" y="0"/>
                </a:lnTo>
                <a:lnTo>
                  <a:pt x="75" y="50"/>
                </a:lnTo>
                <a:lnTo>
                  <a:pt x="50" y="50"/>
                </a:lnTo>
                <a:cubicBezTo>
                  <a:pt x="22" y="50"/>
                  <a:pt x="0" y="73"/>
                  <a:pt x="0" y="100"/>
                </a:cubicBezTo>
                <a:lnTo>
                  <a:pt x="0" y="450"/>
                </a:lnTo>
                <a:cubicBezTo>
                  <a:pt x="0" y="478"/>
                  <a:pt x="22" y="500"/>
                  <a:pt x="50" y="500"/>
                </a:cubicBezTo>
                <a:lnTo>
                  <a:pt x="400" y="500"/>
                </a:lnTo>
                <a:cubicBezTo>
                  <a:pt x="428" y="500"/>
                  <a:pt x="450" y="478"/>
                  <a:pt x="450" y="450"/>
                </a:cubicBezTo>
                <a:lnTo>
                  <a:pt x="450" y="100"/>
                </a:lnTo>
                <a:cubicBezTo>
                  <a:pt x="450" y="73"/>
                  <a:pt x="428" y="50"/>
                  <a:pt x="400" y="50"/>
                </a:cubicBezTo>
                <a:close/>
                <a:moveTo>
                  <a:pt x="400" y="450"/>
                </a:moveTo>
                <a:lnTo>
                  <a:pt x="50" y="450"/>
                </a:lnTo>
                <a:lnTo>
                  <a:pt x="50" y="175"/>
                </a:lnTo>
                <a:lnTo>
                  <a:pt x="400" y="175"/>
                </a:lnTo>
                <a:lnTo>
                  <a:pt x="400" y="45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cxnSp>
        <p:nvCxnSpPr>
          <p:cNvPr id="243" name="직선 연결선[R] 33"/>
          <p:cNvCxnSpPr/>
          <p:nvPr/>
        </p:nvCxnSpPr>
        <p:spPr>
          <a:xfrm>
            <a:off x="2052416" y="501973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4" name="텍스트 상자 31"/>
          <p:cNvSpPr txBox="1"/>
          <p:nvPr/>
        </p:nvSpPr>
        <p:spPr>
          <a:xfrm>
            <a:off x="2078622" y="4286437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서비스 </a:t>
            </a:r>
            <a:r>
              <a:rPr kumimoji="1"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팀 중간회식</a:t>
            </a:r>
            <a:r>
              <a: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일정을 등록했습니다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45" name="Freeform 14"/>
          <p:cNvSpPr>
            <a:spLocks noChangeArrowheads="1"/>
          </p:cNvSpPr>
          <p:nvPr/>
        </p:nvSpPr>
        <p:spPr bwMode="auto">
          <a:xfrm rot="5400000">
            <a:off x="5147360" y="4666775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248" name="Straight Connector 21"/>
          <p:cNvCxnSpPr/>
          <p:nvPr/>
        </p:nvCxnSpPr>
        <p:spPr>
          <a:xfrm>
            <a:off x="1933588" y="535004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9" name="Straight Connector 422"/>
          <p:cNvCxnSpPr/>
          <p:nvPr/>
        </p:nvCxnSpPr>
        <p:spPr>
          <a:xfrm>
            <a:off x="1933588" y="5383408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" name="Freeform 26"/>
          <p:cNvSpPr>
            <a:spLocks noChangeAspect="1" noChangeArrowheads="1"/>
          </p:cNvSpPr>
          <p:nvPr/>
        </p:nvSpPr>
        <p:spPr bwMode="auto">
          <a:xfrm flipH="1">
            <a:off x="6726683" y="185144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3" name="Freeform 26"/>
          <p:cNvSpPr>
            <a:spLocks noChangeAspect="1" noChangeArrowheads="1"/>
          </p:cNvSpPr>
          <p:nvPr/>
        </p:nvSpPr>
        <p:spPr bwMode="auto">
          <a:xfrm flipH="1">
            <a:off x="6726683" y="3974234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54" name="Freeform 26"/>
          <p:cNvSpPr>
            <a:spLocks noChangeAspect="1" noChangeArrowheads="1"/>
          </p:cNvSpPr>
          <p:nvPr/>
        </p:nvSpPr>
        <p:spPr bwMode="auto">
          <a:xfrm flipH="1">
            <a:off x="6726683" y="5616516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259" name="Group 365"/>
          <p:cNvGrpSpPr/>
          <p:nvPr/>
        </p:nvGrpSpPr>
        <p:grpSpPr>
          <a:xfrm>
            <a:off x="2064211" y="2680981"/>
            <a:ext cx="651018" cy="107722"/>
            <a:chOff x="2463757" y="3788208"/>
            <a:chExt cx="651018" cy="107722"/>
          </a:xfrm>
        </p:grpSpPr>
        <p:grpSp>
          <p:nvGrpSpPr>
            <p:cNvPr id="260" name="Group 366"/>
            <p:cNvGrpSpPr/>
            <p:nvPr/>
          </p:nvGrpSpPr>
          <p:grpSpPr>
            <a:xfrm>
              <a:off x="2850938" y="3788208"/>
              <a:ext cx="263837" cy="107722"/>
              <a:chOff x="4817820" y="3121801"/>
              <a:chExt cx="263837" cy="107722"/>
            </a:xfrm>
          </p:grpSpPr>
          <p:sp>
            <p:nvSpPr>
              <p:cNvPr id="268" name="Freeform 24"/>
              <p:cNvSpPr>
                <a:spLocks noChangeAspect="1" noChangeArrowheads="1"/>
              </p:cNvSpPr>
              <p:nvPr/>
            </p:nvSpPr>
            <p:spPr bwMode="auto">
              <a:xfrm>
                <a:off x="4817820" y="3136639"/>
                <a:ext cx="90000" cy="89388"/>
              </a:xfrm>
              <a:custGeom>
                <a:avLst/>
                <a:gdLst>
                  <a:gd name="T0" fmla="*/ 587 w 650"/>
                  <a:gd name="T1" fmla="*/ 0 h 644"/>
                  <a:gd name="T2" fmla="*/ 68 w 650"/>
                  <a:gd name="T3" fmla="*/ 0 h 644"/>
                  <a:gd name="T4" fmla="*/ 0 w 650"/>
                  <a:gd name="T5" fmla="*/ 62 h 644"/>
                  <a:gd name="T6" fmla="*/ 0 w 650"/>
                  <a:gd name="T7" fmla="*/ 643 h 644"/>
                  <a:gd name="T8" fmla="*/ 130 w 650"/>
                  <a:gd name="T9" fmla="*/ 513 h 644"/>
                  <a:gd name="T10" fmla="*/ 587 w 650"/>
                  <a:gd name="T11" fmla="*/ 513 h 644"/>
                  <a:gd name="T12" fmla="*/ 649 w 650"/>
                  <a:gd name="T13" fmla="*/ 451 h 644"/>
                  <a:gd name="T14" fmla="*/ 649 w 650"/>
                  <a:gd name="T15" fmla="*/ 62 h 644"/>
                  <a:gd name="T16" fmla="*/ 587 w 650"/>
                  <a:gd name="T17" fmla="*/ 0 h 644"/>
                  <a:gd name="T18" fmla="*/ 229 w 650"/>
                  <a:gd name="T19" fmla="*/ 290 h 644"/>
                  <a:gd name="T20" fmla="*/ 167 w 650"/>
                  <a:gd name="T21" fmla="*/ 290 h 644"/>
                  <a:gd name="T22" fmla="*/ 167 w 650"/>
                  <a:gd name="T23" fmla="*/ 222 h 644"/>
                  <a:gd name="T24" fmla="*/ 229 w 650"/>
                  <a:gd name="T25" fmla="*/ 222 h 644"/>
                  <a:gd name="T26" fmla="*/ 229 w 650"/>
                  <a:gd name="T27" fmla="*/ 290 h 644"/>
                  <a:gd name="T28" fmla="*/ 359 w 650"/>
                  <a:gd name="T29" fmla="*/ 290 h 644"/>
                  <a:gd name="T30" fmla="*/ 297 w 650"/>
                  <a:gd name="T31" fmla="*/ 290 h 644"/>
                  <a:gd name="T32" fmla="*/ 297 w 650"/>
                  <a:gd name="T33" fmla="*/ 222 h 644"/>
                  <a:gd name="T34" fmla="*/ 359 w 650"/>
                  <a:gd name="T35" fmla="*/ 222 h 644"/>
                  <a:gd name="T36" fmla="*/ 359 w 650"/>
                  <a:gd name="T37" fmla="*/ 290 h 644"/>
                  <a:gd name="T38" fmla="*/ 488 w 650"/>
                  <a:gd name="T39" fmla="*/ 290 h 644"/>
                  <a:gd name="T40" fmla="*/ 420 w 650"/>
                  <a:gd name="T41" fmla="*/ 290 h 644"/>
                  <a:gd name="T42" fmla="*/ 420 w 650"/>
                  <a:gd name="T43" fmla="*/ 222 h 644"/>
                  <a:gd name="T44" fmla="*/ 488 w 650"/>
                  <a:gd name="T45" fmla="*/ 222 h 644"/>
                  <a:gd name="T46" fmla="*/ 488 w 650"/>
                  <a:gd name="T47" fmla="*/ 29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0" h="644">
                    <a:moveTo>
                      <a:pt x="587" y="0"/>
                    </a:moveTo>
                    <a:lnTo>
                      <a:pt x="68" y="0"/>
                    </a:lnTo>
                    <a:cubicBezTo>
                      <a:pt x="31" y="0"/>
                      <a:pt x="0" y="24"/>
                      <a:pt x="0" y="62"/>
                    </a:cubicBezTo>
                    <a:lnTo>
                      <a:pt x="0" y="643"/>
                    </a:lnTo>
                    <a:lnTo>
                      <a:pt x="130" y="513"/>
                    </a:lnTo>
                    <a:lnTo>
                      <a:pt x="587" y="513"/>
                    </a:lnTo>
                    <a:cubicBezTo>
                      <a:pt x="618" y="513"/>
                      <a:pt x="649" y="482"/>
                      <a:pt x="649" y="451"/>
                    </a:cubicBezTo>
                    <a:lnTo>
                      <a:pt x="649" y="62"/>
                    </a:lnTo>
                    <a:cubicBezTo>
                      <a:pt x="649" y="24"/>
                      <a:pt x="618" y="0"/>
                      <a:pt x="587" y="0"/>
                    </a:cubicBezTo>
                    <a:close/>
                    <a:moveTo>
                      <a:pt x="229" y="290"/>
                    </a:moveTo>
                    <a:lnTo>
                      <a:pt x="167" y="290"/>
                    </a:lnTo>
                    <a:lnTo>
                      <a:pt x="167" y="222"/>
                    </a:lnTo>
                    <a:lnTo>
                      <a:pt x="229" y="222"/>
                    </a:lnTo>
                    <a:lnTo>
                      <a:pt x="229" y="290"/>
                    </a:lnTo>
                    <a:close/>
                    <a:moveTo>
                      <a:pt x="359" y="290"/>
                    </a:moveTo>
                    <a:lnTo>
                      <a:pt x="297" y="290"/>
                    </a:lnTo>
                    <a:lnTo>
                      <a:pt x="297" y="222"/>
                    </a:lnTo>
                    <a:lnTo>
                      <a:pt x="359" y="222"/>
                    </a:lnTo>
                    <a:lnTo>
                      <a:pt x="359" y="290"/>
                    </a:lnTo>
                    <a:close/>
                    <a:moveTo>
                      <a:pt x="488" y="290"/>
                    </a:moveTo>
                    <a:lnTo>
                      <a:pt x="420" y="290"/>
                    </a:lnTo>
                    <a:lnTo>
                      <a:pt x="420" y="222"/>
                    </a:lnTo>
                    <a:lnTo>
                      <a:pt x="488" y="222"/>
                    </a:lnTo>
                    <a:lnTo>
                      <a:pt x="488" y="2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69" name="텍스트 상자 31"/>
              <p:cNvSpPr txBox="1"/>
              <p:nvPr/>
            </p:nvSpPr>
            <p:spPr>
              <a:xfrm>
                <a:off x="4963998" y="3121801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4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61" name="Group 367"/>
            <p:cNvGrpSpPr/>
            <p:nvPr/>
          </p:nvGrpSpPr>
          <p:grpSpPr>
            <a:xfrm>
              <a:off x="2594860" y="3788208"/>
              <a:ext cx="257860" cy="107722"/>
              <a:chOff x="4269857" y="3799412"/>
              <a:chExt cx="257860" cy="107722"/>
            </a:xfrm>
          </p:grpSpPr>
          <p:sp>
            <p:nvSpPr>
              <p:cNvPr id="263" name="텍스트 상자 31"/>
              <p:cNvSpPr txBox="1"/>
              <p:nvPr/>
            </p:nvSpPr>
            <p:spPr>
              <a:xfrm>
                <a:off x="4410058" y="3799412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3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64" name="Group 50"/>
              <p:cNvGrpSpPr>
                <a:grpSpLocks noChangeAspect="1"/>
              </p:cNvGrpSpPr>
              <p:nvPr/>
            </p:nvGrpSpPr>
            <p:grpSpPr bwMode="auto">
              <a:xfrm>
                <a:off x="4269857" y="3808273"/>
                <a:ext cx="89419" cy="90000"/>
                <a:chOff x="2178" y="1307"/>
                <a:chExt cx="154" cy="155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265" name="Oval 51"/>
                <p:cNvSpPr>
                  <a:spLocks noChangeArrowheads="1"/>
                </p:cNvSpPr>
                <p:nvPr/>
              </p:nvSpPr>
              <p:spPr bwMode="auto">
                <a:xfrm>
                  <a:off x="2271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66" name="Oval 52"/>
                <p:cNvSpPr>
                  <a:spLocks noChangeArrowheads="1"/>
                </p:cNvSpPr>
                <p:nvPr/>
              </p:nvSpPr>
              <p:spPr bwMode="auto">
                <a:xfrm>
                  <a:off x="2217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67" name="Freeform 53"/>
                <p:cNvSpPr>
                  <a:spLocks noEditPoints="1"/>
                </p:cNvSpPr>
                <p:nvPr/>
              </p:nvSpPr>
              <p:spPr bwMode="auto">
                <a:xfrm>
                  <a:off x="2178" y="1307"/>
                  <a:ext cx="154" cy="155"/>
                </a:xfrm>
                <a:custGeom>
                  <a:avLst/>
                  <a:gdLst>
                    <a:gd name="T0" fmla="*/ 250 w 500"/>
                    <a:gd name="T1" fmla="*/ 0 h 500"/>
                    <a:gd name="T2" fmla="*/ 0 w 500"/>
                    <a:gd name="T3" fmla="*/ 250 h 500"/>
                    <a:gd name="T4" fmla="*/ 250 w 500"/>
                    <a:gd name="T5" fmla="*/ 500 h 500"/>
                    <a:gd name="T6" fmla="*/ 500 w 500"/>
                    <a:gd name="T7" fmla="*/ 250 h 500"/>
                    <a:gd name="T8" fmla="*/ 250 w 500"/>
                    <a:gd name="T9" fmla="*/ 0 h 500"/>
                    <a:gd name="T10" fmla="*/ 250 w 500"/>
                    <a:gd name="T11" fmla="*/ 450 h 500"/>
                    <a:gd name="T12" fmla="*/ 50 w 500"/>
                    <a:gd name="T13" fmla="*/ 250 h 500"/>
                    <a:gd name="T14" fmla="*/ 250 w 500"/>
                    <a:gd name="T15" fmla="*/ 50 h 500"/>
                    <a:gd name="T16" fmla="*/ 450 w 500"/>
                    <a:gd name="T17" fmla="*/ 250 h 500"/>
                    <a:gd name="T18" fmla="*/ 250 w 500"/>
                    <a:gd name="T19" fmla="*/ 450 h 500"/>
                    <a:gd name="T20" fmla="*/ 250 w 500"/>
                    <a:gd name="T21" fmla="*/ 350 h 500"/>
                    <a:gd name="T22" fmla="*/ 164 w 500"/>
                    <a:gd name="T23" fmla="*/ 300 h 500"/>
                    <a:gd name="T24" fmla="*/ 122 w 500"/>
                    <a:gd name="T25" fmla="*/ 300 h 500"/>
                    <a:gd name="T26" fmla="*/ 250 w 500"/>
                    <a:gd name="T27" fmla="*/ 388 h 500"/>
                    <a:gd name="T28" fmla="*/ 378 w 500"/>
                    <a:gd name="T29" fmla="*/ 300 h 500"/>
                    <a:gd name="T30" fmla="*/ 336 w 500"/>
                    <a:gd name="T31" fmla="*/ 300 h 500"/>
                    <a:gd name="T32" fmla="*/ 250 w 500"/>
                    <a:gd name="T33" fmla="*/ 350 h 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00" h="500">
                      <a:moveTo>
                        <a:pt x="250" y="0"/>
                      </a:moveTo>
                      <a:cubicBezTo>
                        <a:pt x="112" y="0"/>
                        <a:pt x="0" y="112"/>
                        <a:pt x="0" y="250"/>
                      </a:cubicBezTo>
                      <a:cubicBezTo>
                        <a:pt x="0" y="388"/>
                        <a:pt x="112" y="500"/>
                        <a:pt x="250" y="500"/>
                      </a:cubicBezTo>
                      <a:cubicBezTo>
                        <a:pt x="388" y="500"/>
                        <a:pt x="500" y="388"/>
                        <a:pt x="500" y="250"/>
                      </a:cubicBezTo>
                      <a:cubicBezTo>
                        <a:pt x="500" y="112"/>
                        <a:pt x="388" y="0"/>
                        <a:pt x="250" y="0"/>
                      </a:cubicBezTo>
                      <a:close/>
                      <a:moveTo>
                        <a:pt x="250" y="450"/>
                      </a:moveTo>
                      <a:cubicBezTo>
                        <a:pt x="140" y="450"/>
                        <a:pt x="50" y="361"/>
                        <a:pt x="50" y="250"/>
                      </a:cubicBezTo>
                      <a:cubicBezTo>
                        <a:pt x="50" y="139"/>
                        <a:pt x="140" y="50"/>
                        <a:pt x="250" y="50"/>
                      </a:cubicBezTo>
                      <a:cubicBezTo>
                        <a:pt x="361" y="50"/>
                        <a:pt x="450" y="140"/>
                        <a:pt x="450" y="250"/>
                      </a:cubicBezTo>
                      <a:cubicBezTo>
                        <a:pt x="450" y="361"/>
                        <a:pt x="361" y="450"/>
                        <a:pt x="250" y="450"/>
                      </a:cubicBezTo>
                      <a:close/>
                      <a:moveTo>
                        <a:pt x="250" y="350"/>
                      </a:moveTo>
                      <a:cubicBezTo>
                        <a:pt x="213" y="350"/>
                        <a:pt x="181" y="330"/>
                        <a:pt x="164" y="300"/>
                      </a:cubicBezTo>
                      <a:lnTo>
                        <a:pt x="122" y="300"/>
                      </a:lnTo>
                      <a:cubicBezTo>
                        <a:pt x="142" y="351"/>
                        <a:pt x="192" y="388"/>
                        <a:pt x="250" y="388"/>
                      </a:cubicBezTo>
                      <a:cubicBezTo>
                        <a:pt x="308" y="388"/>
                        <a:pt x="358" y="351"/>
                        <a:pt x="378" y="300"/>
                      </a:cubicBezTo>
                      <a:lnTo>
                        <a:pt x="336" y="300"/>
                      </a:lnTo>
                      <a:cubicBezTo>
                        <a:pt x="319" y="330"/>
                        <a:pt x="287" y="350"/>
                        <a:pt x="250" y="35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262" name="Freeform 375"/>
            <p:cNvSpPr>
              <a:spLocks noChangeAspect="1"/>
            </p:cNvSpPr>
            <p:nvPr/>
          </p:nvSpPr>
          <p:spPr>
            <a:xfrm>
              <a:off x="2463757" y="3802263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grpSp>
        <p:nvGrpSpPr>
          <p:cNvPr id="270" name="Group 399"/>
          <p:cNvGrpSpPr/>
          <p:nvPr/>
        </p:nvGrpSpPr>
        <p:grpSpPr>
          <a:xfrm>
            <a:off x="2064211" y="5083100"/>
            <a:ext cx="651018" cy="107722"/>
            <a:chOff x="2463757" y="3788208"/>
            <a:chExt cx="651018" cy="107722"/>
          </a:xfrm>
        </p:grpSpPr>
        <p:grpSp>
          <p:nvGrpSpPr>
            <p:cNvPr id="271" name="Group 400"/>
            <p:cNvGrpSpPr/>
            <p:nvPr/>
          </p:nvGrpSpPr>
          <p:grpSpPr>
            <a:xfrm>
              <a:off x="2850938" y="3788208"/>
              <a:ext cx="263837" cy="107722"/>
              <a:chOff x="4817820" y="3121801"/>
              <a:chExt cx="263837" cy="107722"/>
            </a:xfrm>
          </p:grpSpPr>
          <p:sp>
            <p:nvSpPr>
              <p:cNvPr id="279" name="Freeform 24"/>
              <p:cNvSpPr>
                <a:spLocks noChangeAspect="1" noChangeArrowheads="1"/>
              </p:cNvSpPr>
              <p:nvPr/>
            </p:nvSpPr>
            <p:spPr bwMode="auto">
              <a:xfrm>
                <a:off x="4817820" y="3136639"/>
                <a:ext cx="90000" cy="89388"/>
              </a:xfrm>
              <a:custGeom>
                <a:avLst/>
                <a:gdLst>
                  <a:gd name="T0" fmla="*/ 587 w 650"/>
                  <a:gd name="T1" fmla="*/ 0 h 644"/>
                  <a:gd name="T2" fmla="*/ 68 w 650"/>
                  <a:gd name="T3" fmla="*/ 0 h 644"/>
                  <a:gd name="T4" fmla="*/ 0 w 650"/>
                  <a:gd name="T5" fmla="*/ 62 h 644"/>
                  <a:gd name="T6" fmla="*/ 0 w 650"/>
                  <a:gd name="T7" fmla="*/ 643 h 644"/>
                  <a:gd name="T8" fmla="*/ 130 w 650"/>
                  <a:gd name="T9" fmla="*/ 513 h 644"/>
                  <a:gd name="T10" fmla="*/ 587 w 650"/>
                  <a:gd name="T11" fmla="*/ 513 h 644"/>
                  <a:gd name="T12" fmla="*/ 649 w 650"/>
                  <a:gd name="T13" fmla="*/ 451 h 644"/>
                  <a:gd name="T14" fmla="*/ 649 w 650"/>
                  <a:gd name="T15" fmla="*/ 62 h 644"/>
                  <a:gd name="T16" fmla="*/ 587 w 650"/>
                  <a:gd name="T17" fmla="*/ 0 h 644"/>
                  <a:gd name="T18" fmla="*/ 229 w 650"/>
                  <a:gd name="T19" fmla="*/ 290 h 644"/>
                  <a:gd name="T20" fmla="*/ 167 w 650"/>
                  <a:gd name="T21" fmla="*/ 290 h 644"/>
                  <a:gd name="T22" fmla="*/ 167 w 650"/>
                  <a:gd name="T23" fmla="*/ 222 h 644"/>
                  <a:gd name="T24" fmla="*/ 229 w 650"/>
                  <a:gd name="T25" fmla="*/ 222 h 644"/>
                  <a:gd name="T26" fmla="*/ 229 w 650"/>
                  <a:gd name="T27" fmla="*/ 290 h 644"/>
                  <a:gd name="T28" fmla="*/ 359 w 650"/>
                  <a:gd name="T29" fmla="*/ 290 h 644"/>
                  <a:gd name="T30" fmla="*/ 297 w 650"/>
                  <a:gd name="T31" fmla="*/ 290 h 644"/>
                  <a:gd name="T32" fmla="*/ 297 w 650"/>
                  <a:gd name="T33" fmla="*/ 222 h 644"/>
                  <a:gd name="T34" fmla="*/ 359 w 650"/>
                  <a:gd name="T35" fmla="*/ 222 h 644"/>
                  <a:gd name="T36" fmla="*/ 359 w 650"/>
                  <a:gd name="T37" fmla="*/ 290 h 644"/>
                  <a:gd name="T38" fmla="*/ 488 w 650"/>
                  <a:gd name="T39" fmla="*/ 290 h 644"/>
                  <a:gd name="T40" fmla="*/ 420 w 650"/>
                  <a:gd name="T41" fmla="*/ 290 h 644"/>
                  <a:gd name="T42" fmla="*/ 420 w 650"/>
                  <a:gd name="T43" fmla="*/ 222 h 644"/>
                  <a:gd name="T44" fmla="*/ 488 w 650"/>
                  <a:gd name="T45" fmla="*/ 222 h 644"/>
                  <a:gd name="T46" fmla="*/ 488 w 650"/>
                  <a:gd name="T47" fmla="*/ 29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0" h="644">
                    <a:moveTo>
                      <a:pt x="587" y="0"/>
                    </a:moveTo>
                    <a:lnTo>
                      <a:pt x="68" y="0"/>
                    </a:lnTo>
                    <a:cubicBezTo>
                      <a:pt x="31" y="0"/>
                      <a:pt x="0" y="24"/>
                      <a:pt x="0" y="62"/>
                    </a:cubicBezTo>
                    <a:lnTo>
                      <a:pt x="0" y="643"/>
                    </a:lnTo>
                    <a:lnTo>
                      <a:pt x="130" y="513"/>
                    </a:lnTo>
                    <a:lnTo>
                      <a:pt x="587" y="513"/>
                    </a:lnTo>
                    <a:cubicBezTo>
                      <a:pt x="618" y="513"/>
                      <a:pt x="649" y="482"/>
                      <a:pt x="649" y="451"/>
                    </a:cubicBezTo>
                    <a:lnTo>
                      <a:pt x="649" y="62"/>
                    </a:lnTo>
                    <a:cubicBezTo>
                      <a:pt x="649" y="24"/>
                      <a:pt x="618" y="0"/>
                      <a:pt x="587" y="0"/>
                    </a:cubicBezTo>
                    <a:close/>
                    <a:moveTo>
                      <a:pt x="229" y="290"/>
                    </a:moveTo>
                    <a:lnTo>
                      <a:pt x="167" y="290"/>
                    </a:lnTo>
                    <a:lnTo>
                      <a:pt x="167" y="222"/>
                    </a:lnTo>
                    <a:lnTo>
                      <a:pt x="229" y="222"/>
                    </a:lnTo>
                    <a:lnTo>
                      <a:pt x="229" y="290"/>
                    </a:lnTo>
                    <a:close/>
                    <a:moveTo>
                      <a:pt x="359" y="290"/>
                    </a:moveTo>
                    <a:lnTo>
                      <a:pt x="297" y="290"/>
                    </a:lnTo>
                    <a:lnTo>
                      <a:pt x="297" y="222"/>
                    </a:lnTo>
                    <a:lnTo>
                      <a:pt x="359" y="222"/>
                    </a:lnTo>
                    <a:lnTo>
                      <a:pt x="359" y="290"/>
                    </a:lnTo>
                    <a:close/>
                    <a:moveTo>
                      <a:pt x="488" y="290"/>
                    </a:moveTo>
                    <a:lnTo>
                      <a:pt x="420" y="290"/>
                    </a:lnTo>
                    <a:lnTo>
                      <a:pt x="420" y="222"/>
                    </a:lnTo>
                    <a:lnTo>
                      <a:pt x="488" y="222"/>
                    </a:lnTo>
                    <a:lnTo>
                      <a:pt x="488" y="2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80" name="텍스트 상자 31"/>
              <p:cNvSpPr txBox="1"/>
              <p:nvPr/>
            </p:nvSpPr>
            <p:spPr>
              <a:xfrm>
                <a:off x="4963998" y="3121801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4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72" name="Group 401"/>
            <p:cNvGrpSpPr/>
            <p:nvPr/>
          </p:nvGrpSpPr>
          <p:grpSpPr>
            <a:xfrm>
              <a:off x="2594860" y="3788208"/>
              <a:ext cx="257860" cy="107722"/>
              <a:chOff x="4269857" y="3799412"/>
              <a:chExt cx="257860" cy="107722"/>
            </a:xfrm>
          </p:grpSpPr>
          <p:sp>
            <p:nvSpPr>
              <p:cNvPr id="274" name="텍스트 상자 31"/>
              <p:cNvSpPr txBox="1"/>
              <p:nvPr/>
            </p:nvSpPr>
            <p:spPr>
              <a:xfrm>
                <a:off x="4410058" y="3799412"/>
                <a:ext cx="11765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3</a:t>
                </a:r>
                <a:endPara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75" name="Group 50"/>
              <p:cNvGrpSpPr>
                <a:grpSpLocks noChangeAspect="1"/>
              </p:cNvGrpSpPr>
              <p:nvPr/>
            </p:nvGrpSpPr>
            <p:grpSpPr bwMode="auto">
              <a:xfrm>
                <a:off x="4269857" y="3808273"/>
                <a:ext cx="89419" cy="90000"/>
                <a:chOff x="2178" y="1307"/>
                <a:chExt cx="154" cy="155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276" name="Oval 51"/>
                <p:cNvSpPr>
                  <a:spLocks noChangeArrowheads="1"/>
                </p:cNvSpPr>
                <p:nvPr/>
              </p:nvSpPr>
              <p:spPr bwMode="auto">
                <a:xfrm>
                  <a:off x="2271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77" name="Oval 52"/>
                <p:cNvSpPr>
                  <a:spLocks noChangeArrowheads="1"/>
                </p:cNvSpPr>
                <p:nvPr/>
              </p:nvSpPr>
              <p:spPr bwMode="auto">
                <a:xfrm>
                  <a:off x="2217" y="1354"/>
                  <a:ext cx="23" cy="23"/>
                </a:xfrm>
                <a:prstGeom prst="ellipse">
                  <a:avLst/>
                </a:pr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sp>
              <p:nvSpPr>
                <p:cNvPr id="278" name="Freeform 53"/>
                <p:cNvSpPr>
                  <a:spLocks noEditPoints="1"/>
                </p:cNvSpPr>
                <p:nvPr/>
              </p:nvSpPr>
              <p:spPr bwMode="auto">
                <a:xfrm>
                  <a:off x="2178" y="1307"/>
                  <a:ext cx="154" cy="155"/>
                </a:xfrm>
                <a:custGeom>
                  <a:avLst/>
                  <a:gdLst>
                    <a:gd name="T0" fmla="*/ 250 w 500"/>
                    <a:gd name="T1" fmla="*/ 0 h 500"/>
                    <a:gd name="T2" fmla="*/ 0 w 500"/>
                    <a:gd name="T3" fmla="*/ 250 h 500"/>
                    <a:gd name="T4" fmla="*/ 250 w 500"/>
                    <a:gd name="T5" fmla="*/ 500 h 500"/>
                    <a:gd name="T6" fmla="*/ 500 w 500"/>
                    <a:gd name="T7" fmla="*/ 250 h 500"/>
                    <a:gd name="T8" fmla="*/ 250 w 500"/>
                    <a:gd name="T9" fmla="*/ 0 h 500"/>
                    <a:gd name="T10" fmla="*/ 250 w 500"/>
                    <a:gd name="T11" fmla="*/ 450 h 500"/>
                    <a:gd name="T12" fmla="*/ 50 w 500"/>
                    <a:gd name="T13" fmla="*/ 250 h 500"/>
                    <a:gd name="T14" fmla="*/ 250 w 500"/>
                    <a:gd name="T15" fmla="*/ 50 h 500"/>
                    <a:gd name="T16" fmla="*/ 450 w 500"/>
                    <a:gd name="T17" fmla="*/ 250 h 500"/>
                    <a:gd name="T18" fmla="*/ 250 w 500"/>
                    <a:gd name="T19" fmla="*/ 450 h 500"/>
                    <a:gd name="T20" fmla="*/ 250 w 500"/>
                    <a:gd name="T21" fmla="*/ 350 h 500"/>
                    <a:gd name="T22" fmla="*/ 164 w 500"/>
                    <a:gd name="T23" fmla="*/ 300 h 500"/>
                    <a:gd name="T24" fmla="*/ 122 w 500"/>
                    <a:gd name="T25" fmla="*/ 300 h 500"/>
                    <a:gd name="T26" fmla="*/ 250 w 500"/>
                    <a:gd name="T27" fmla="*/ 388 h 500"/>
                    <a:gd name="T28" fmla="*/ 378 w 500"/>
                    <a:gd name="T29" fmla="*/ 300 h 500"/>
                    <a:gd name="T30" fmla="*/ 336 w 500"/>
                    <a:gd name="T31" fmla="*/ 300 h 500"/>
                    <a:gd name="T32" fmla="*/ 250 w 500"/>
                    <a:gd name="T33" fmla="*/ 350 h 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00" h="500">
                      <a:moveTo>
                        <a:pt x="250" y="0"/>
                      </a:moveTo>
                      <a:cubicBezTo>
                        <a:pt x="112" y="0"/>
                        <a:pt x="0" y="112"/>
                        <a:pt x="0" y="250"/>
                      </a:cubicBezTo>
                      <a:cubicBezTo>
                        <a:pt x="0" y="388"/>
                        <a:pt x="112" y="500"/>
                        <a:pt x="250" y="500"/>
                      </a:cubicBezTo>
                      <a:cubicBezTo>
                        <a:pt x="388" y="500"/>
                        <a:pt x="500" y="388"/>
                        <a:pt x="500" y="250"/>
                      </a:cubicBezTo>
                      <a:cubicBezTo>
                        <a:pt x="500" y="112"/>
                        <a:pt x="388" y="0"/>
                        <a:pt x="250" y="0"/>
                      </a:cubicBezTo>
                      <a:close/>
                      <a:moveTo>
                        <a:pt x="250" y="450"/>
                      </a:moveTo>
                      <a:cubicBezTo>
                        <a:pt x="140" y="450"/>
                        <a:pt x="50" y="361"/>
                        <a:pt x="50" y="250"/>
                      </a:cubicBezTo>
                      <a:cubicBezTo>
                        <a:pt x="50" y="139"/>
                        <a:pt x="140" y="50"/>
                        <a:pt x="250" y="50"/>
                      </a:cubicBezTo>
                      <a:cubicBezTo>
                        <a:pt x="361" y="50"/>
                        <a:pt x="450" y="140"/>
                        <a:pt x="450" y="250"/>
                      </a:cubicBezTo>
                      <a:cubicBezTo>
                        <a:pt x="450" y="361"/>
                        <a:pt x="361" y="450"/>
                        <a:pt x="250" y="450"/>
                      </a:cubicBezTo>
                      <a:close/>
                      <a:moveTo>
                        <a:pt x="250" y="350"/>
                      </a:moveTo>
                      <a:cubicBezTo>
                        <a:pt x="213" y="350"/>
                        <a:pt x="181" y="330"/>
                        <a:pt x="164" y="300"/>
                      </a:cubicBezTo>
                      <a:lnTo>
                        <a:pt x="122" y="300"/>
                      </a:lnTo>
                      <a:cubicBezTo>
                        <a:pt x="142" y="351"/>
                        <a:pt x="192" y="388"/>
                        <a:pt x="250" y="388"/>
                      </a:cubicBezTo>
                      <a:cubicBezTo>
                        <a:pt x="308" y="388"/>
                        <a:pt x="358" y="351"/>
                        <a:pt x="378" y="300"/>
                      </a:cubicBezTo>
                      <a:lnTo>
                        <a:pt x="336" y="300"/>
                      </a:lnTo>
                      <a:cubicBezTo>
                        <a:pt x="319" y="330"/>
                        <a:pt x="287" y="350"/>
                        <a:pt x="250" y="35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273" name="Freeform 402"/>
            <p:cNvSpPr>
              <a:spLocks noChangeAspect="1"/>
            </p:cNvSpPr>
            <p:nvPr/>
          </p:nvSpPr>
          <p:spPr>
            <a:xfrm>
              <a:off x="2463757" y="3802263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sp>
        <p:nvSpPr>
          <p:cNvPr id="281" name="Freeform 25"/>
          <p:cNvSpPr>
            <a:spLocks noChangeAspect="1" noEditPoints="1"/>
          </p:cNvSpPr>
          <p:nvPr/>
        </p:nvSpPr>
        <p:spPr bwMode="auto">
          <a:xfrm>
            <a:off x="6535161" y="184443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2" name="Freeform 25"/>
          <p:cNvSpPr>
            <a:spLocks noChangeAspect="1" noEditPoints="1"/>
          </p:cNvSpPr>
          <p:nvPr/>
        </p:nvSpPr>
        <p:spPr bwMode="auto">
          <a:xfrm>
            <a:off x="6535161" y="396981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3" name="Freeform 25"/>
          <p:cNvSpPr>
            <a:spLocks noChangeAspect="1" noEditPoints="1"/>
          </p:cNvSpPr>
          <p:nvPr/>
        </p:nvSpPr>
        <p:spPr bwMode="auto">
          <a:xfrm>
            <a:off x="6535161" y="5617273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88" name="텍스트 상자 31"/>
          <p:cNvSpPr txBox="1"/>
          <p:nvPr/>
        </p:nvSpPr>
        <p:spPr>
          <a:xfrm>
            <a:off x="3785591" y="5303634"/>
            <a:ext cx="1269604" cy="107722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kumimoji="1" lang="ko-KR" altLang="en-US" sz="700" b="1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여기까지 읽었습니다</a:t>
            </a:r>
            <a:r>
              <a:rPr kumimoji="1" lang="en-US" altLang="ko-KR" sz="700" b="1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b="1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325" name="그룹 324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26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7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28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29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0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1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2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33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34" name="직사각형 333"/>
          <p:cNvSpPr/>
          <p:nvPr/>
        </p:nvSpPr>
        <p:spPr>
          <a:xfrm>
            <a:off x="430401" y="681266"/>
            <a:ext cx="8788550" cy="6005284"/>
          </a:xfrm>
          <a:prstGeom prst="rect">
            <a:avLst/>
          </a:prstGeom>
          <a:solidFill>
            <a:schemeClr val="tx1">
              <a:lumMod val="50000"/>
              <a:lumOff val="50000"/>
              <a:alpha val="50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336" name="그룹 335"/>
          <p:cNvGrpSpPr/>
          <p:nvPr/>
        </p:nvGrpSpPr>
        <p:grpSpPr>
          <a:xfrm>
            <a:off x="1793763" y="1553980"/>
            <a:ext cx="5320640" cy="1690990"/>
            <a:chOff x="4540990" y="4109994"/>
            <a:chExt cx="5320640" cy="1690990"/>
          </a:xfrm>
        </p:grpSpPr>
        <p:sp>
          <p:nvSpPr>
            <p:cNvPr id="338" name="Rectangle 14"/>
            <p:cNvSpPr>
              <a:spLocks/>
            </p:cNvSpPr>
            <p:nvPr/>
          </p:nvSpPr>
          <p:spPr bwMode="auto">
            <a:xfrm>
              <a:off x="4540990" y="4109994"/>
              <a:ext cx="5320640" cy="169099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>
              <a:outerShdw blurRad="50800" dist="38100" dir="2700000" sx="99000" sy="99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50800" tIns="18000" rIns="50800" bIns="50800" anchor="t"/>
            <a:lstStyle/>
            <a:p>
              <a:pPr>
                <a:lnSpc>
                  <a:spcPct val="130000"/>
                </a:lnSpc>
              </a:pPr>
              <a:endParaRPr lang="x-none" altLang="x-none" sz="600" u="sng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4733906" y="4225483"/>
              <a:ext cx="1824786" cy="215444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pPr defTabSz="990570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멤버들에게 새로운 소식을 전해보세요</a:t>
              </a:r>
              <a:endParaRPr kumimoji="0"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0" name="직사각형 339"/>
            <p:cNvSpPr/>
            <p:nvPr/>
          </p:nvSpPr>
          <p:spPr>
            <a:xfrm>
              <a:off x="4553194" y="5107528"/>
              <a:ext cx="5302800" cy="689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1" name="직선 연결선 340"/>
            <p:cNvCxnSpPr/>
            <p:nvPr/>
          </p:nvCxnSpPr>
          <p:spPr>
            <a:xfrm flipH="1">
              <a:off x="4555233" y="5107611"/>
              <a:ext cx="530639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2" name="Rounded Rectangle 861"/>
            <p:cNvSpPr/>
            <p:nvPr/>
          </p:nvSpPr>
          <p:spPr>
            <a:xfrm>
              <a:off x="9140738" y="5180734"/>
              <a:ext cx="396000" cy="162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저장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43" name="Rounded Rectangle 861"/>
            <p:cNvSpPr/>
            <p:nvPr/>
          </p:nvSpPr>
          <p:spPr>
            <a:xfrm>
              <a:off x="8674120" y="5180734"/>
              <a:ext cx="396000" cy="16200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취소</a:t>
              </a:r>
              <a:endParaRPr 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344" name="Freeform 17"/>
            <p:cNvSpPr>
              <a:spLocks noChangeArrowheads="1"/>
            </p:cNvSpPr>
            <p:nvPr/>
          </p:nvSpPr>
          <p:spPr bwMode="auto">
            <a:xfrm>
              <a:off x="4770616" y="5170694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45" name="Freeform 33"/>
            <p:cNvSpPr>
              <a:spLocks noEditPoints="1"/>
            </p:cNvSpPr>
            <p:nvPr/>
          </p:nvSpPr>
          <p:spPr bwMode="auto">
            <a:xfrm>
              <a:off x="5378561" y="5170694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46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5617" y="5170694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7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12687" y="5152694"/>
              <a:ext cx="180000" cy="18000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8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7" cstate="print">
              <a:duotone>
                <a:prstClr val="black"/>
                <a:schemeClr val="accent1">
                  <a:tint val="45000"/>
                  <a:satMod val="400000"/>
                </a:schemeClr>
              </a:duotone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artisticPhotocopy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0144" y="5160333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0" name="텍스트 상자 31"/>
          <p:cNvSpPr txBox="1"/>
          <p:nvPr/>
        </p:nvSpPr>
        <p:spPr>
          <a:xfrm>
            <a:off x="2002668" y="2956107"/>
            <a:ext cx="7289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게재 기간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6" name="타원 295"/>
          <p:cNvSpPr>
            <a:spLocks noChangeAspect="1"/>
          </p:cNvSpPr>
          <p:nvPr/>
        </p:nvSpPr>
        <p:spPr>
          <a:xfrm>
            <a:off x="1704948" y="146995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7" name="타원 256"/>
          <p:cNvSpPr>
            <a:spLocks noChangeAspect="1"/>
          </p:cNvSpPr>
          <p:nvPr/>
        </p:nvSpPr>
        <p:spPr>
          <a:xfrm>
            <a:off x="1794982" y="2945027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2541392" y="2905430"/>
            <a:ext cx="2338432" cy="216000"/>
            <a:chOff x="1993942" y="3105077"/>
            <a:chExt cx="2338432" cy="216000"/>
          </a:xfrm>
        </p:grpSpPr>
        <p:grpSp>
          <p:nvGrpSpPr>
            <p:cNvPr id="57" name="그룹 56"/>
            <p:cNvGrpSpPr/>
            <p:nvPr/>
          </p:nvGrpSpPr>
          <p:grpSpPr>
            <a:xfrm>
              <a:off x="1993942" y="3105077"/>
              <a:ext cx="1080000" cy="216000"/>
              <a:chOff x="2365068" y="2978448"/>
              <a:chExt cx="1080000" cy="216000"/>
            </a:xfrm>
          </p:grpSpPr>
          <p:sp>
            <p:nvSpPr>
              <p:cNvPr id="251" name="Rounded Rectangle 939"/>
              <p:cNvSpPr/>
              <p:nvPr/>
            </p:nvSpPr>
            <p:spPr>
              <a:xfrm>
                <a:off x="2365068" y="2978448"/>
                <a:ext cx="1080000" cy="216000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r>
                  <a:rPr kumimoji="1" lang="en-US" altLang="ko-KR" sz="9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 </a:t>
                </a:r>
                <a:r>
                  <a:rPr kumimoji="1" lang="ko-KR" altLang="en-US" sz="800" dirty="0" smtClean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rPr>
                  <a:t>시작일</a:t>
                </a:r>
                <a:endParaRPr kumimoji="1"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55" name="그림 54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250332" y="3018045"/>
                <a:ext cx="152421" cy="152421"/>
              </a:xfrm>
              <a:prstGeom prst="rect">
                <a:avLst/>
              </a:prstGeom>
            </p:spPr>
          </p:pic>
        </p:grpSp>
        <p:sp>
          <p:nvSpPr>
            <p:cNvPr id="246" name="텍스트 상자 31"/>
            <p:cNvSpPr txBox="1"/>
            <p:nvPr/>
          </p:nvSpPr>
          <p:spPr>
            <a:xfrm>
              <a:off x="3122243" y="3154889"/>
              <a:ext cx="192043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~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55" name="그룹 254"/>
            <p:cNvGrpSpPr/>
            <p:nvPr/>
          </p:nvGrpSpPr>
          <p:grpSpPr>
            <a:xfrm>
              <a:off x="3252374" y="3105077"/>
              <a:ext cx="1080000" cy="216000"/>
              <a:chOff x="2365068" y="2978448"/>
              <a:chExt cx="1080000" cy="216000"/>
            </a:xfrm>
          </p:grpSpPr>
          <p:sp>
            <p:nvSpPr>
              <p:cNvPr id="285" name="Rounded Rectangle 939"/>
              <p:cNvSpPr/>
              <p:nvPr/>
            </p:nvSpPr>
            <p:spPr>
              <a:xfrm>
                <a:off x="2365068" y="2978448"/>
                <a:ext cx="1080000" cy="216000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r>
                  <a:rPr kumimoji="1" lang="ko-KR" altLang="en-US" sz="900" dirty="0" smtClean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rPr>
                  <a:t>  </a:t>
                </a:r>
                <a:r>
                  <a:rPr kumimoji="1" lang="ko-KR" altLang="en-US" sz="800" dirty="0" smtClean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rPr>
                  <a:t>종료일</a:t>
                </a:r>
                <a:endParaRPr kumimoji="1"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86" name="그림 285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250332" y="3018045"/>
                <a:ext cx="152421" cy="152421"/>
              </a:xfrm>
              <a:prstGeom prst="rect">
                <a:avLst/>
              </a:prstGeom>
            </p:spPr>
          </p:pic>
        </p:grpSp>
      </p:grpSp>
      <p:sp>
        <p:nvSpPr>
          <p:cNvPr id="256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1" lang="ko-KR" altLang="en-US" smtClean="0"/>
              <a:t>글쓰기</a:t>
            </a:r>
            <a:r>
              <a:rPr kumimoji="1" lang="en-US" altLang="ko-KR" smtClean="0"/>
              <a:t>_</a:t>
            </a:r>
            <a:r>
              <a:rPr kumimoji="1" lang="ko-KR" altLang="en-US" smtClean="0"/>
              <a:t>공지사항 등록</a:t>
            </a:r>
            <a:endParaRPr kumimoji="0" lang="ko-KR" altLang="en-US" dirty="0"/>
          </a:p>
        </p:txBody>
      </p:sp>
      <p:sp>
        <p:nvSpPr>
          <p:cNvPr id="258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SQ5.2.1.3.4</a:t>
            </a:r>
            <a:endParaRPr kumimoji="0" lang="ko-KR" altLang="en-US" dirty="0"/>
          </a:p>
        </p:txBody>
      </p:sp>
      <p:sp>
        <p:nvSpPr>
          <p:cNvPr id="284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워크피드</a:t>
            </a:r>
            <a:endParaRPr kumimoji="0" lang="ko-KR" altLang="en-US" dirty="0"/>
          </a:p>
        </p:txBody>
      </p:sp>
      <p:sp>
        <p:nvSpPr>
          <p:cNvPr id="287" name="Rounded Rectangle 861"/>
          <p:cNvSpPr/>
          <p:nvPr/>
        </p:nvSpPr>
        <p:spPr>
          <a:xfrm>
            <a:off x="1907262" y="2337302"/>
            <a:ext cx="1005944" cy="162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#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태그를 입력하세요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</a:t>
            </a:r>
            <a:endParaRPr 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392" name="Rounded Rectangle 360"/>
          <p:cNvSpPr/>
          <p:nvPr/>
        </p:nvSpPr>
        <p:spPr>
          <a:xfrm>
            <a:off x="2262669" y="3181849"/>
            <a:ext cx="2968601" cy="133926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393" name="Table 3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3157686"/>
              </p:ext>
            </p:extLst>
          </p:nvPr>
        </p:nvGraphicFramePr>
        <p:xfrm>
          <a:off x="2300443" y="3217400"/>
          <a:ext cx="1444198" cy="109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63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08770">
                <a:tc gridSpan="7">
                  <a:txBody>
                    <a:bodyPr/>
                    <a:lstStyle/>
                    <a:p>
                      <a:pPr algn="ctr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2017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년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8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월 </a:t>
                      </a:r>
                      <a:endParaRPr lang="en-US" sz="80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sz="60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08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월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화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수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목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금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토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일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31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0432FF"/>
                          </a:solidFill>
                        </a:rPr>
                        <a:t>5</a:t>
                      </a:r>
                      <a:endParaRPr lang="en-US" sz="600" dirty="0">
                        <a:solidFill>
                          <a:srgbClr val="0432FF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6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0432FF"/>
                          </a:solidFill>
                        </a:rPr>
                        <a:t>12</a:t>
                      </a:r>
                      <a:endParaRPr lang="en-US" sz="600" dirty="0">
                        <a:solidFill>
                          <a:srgbClr val="0432FF"/>
                        </a:solidFill>
                      </a:endParaRPr>
                    </a:p>
                  </a:txBody>
                  <a:tcPr marL="0" marR="0" marT="0" marB="0" anchor="ctr"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13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14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15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16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17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18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R w="12700" cmpd="sng">
                      <a:noFill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0432FF"/>
                          </a:solidFill>
                        </a:rPr>
                        <a:t>19</a:t>
                      </a:r>
                      <a:endParaRPr lang="en-US" sz="600" dirty="0">
                        <a:solidFill>
                          <a:srgbClr val="0432FF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20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23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24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25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26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27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28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29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31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1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2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3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394" name="그룹 393"/>
          <p:cNvGrpSpPr/>
          <p:nvPr/>
        </p:nvGrpSpPr>
        <p:grpSpPr>
          <a:xfrm>
            <a:off x="2650658" y="3286536"/>
            <a:ext cx="727270" cy="76530"/>
            <a:chOff x="9858108" y="4382817"/>
            <a:chExt cx="727270" cy="76530"/>
          </a:xfrm>
        </p:grpSpPr>
        <p:sp>
          <p:nvSpPr>
            <p:cNvPr id="395" name="Freeform 9"/>
            <p:cNvSpPr>
              <a:spLocks noChangeArrowheads="1"/>
            </p:cNvSpPr>
            <p:nvPr/>
          </p:nvSpPr>
          <p:spPr bwMode="auto">
            <a:xfrm>
              <a:off x="9858108" y="4382817"/>
              <a:ext cx="47832" cy="76530"/>
            </a:xfrm>
            <a:custGeom>
              <a:avLst/>
              <a:gdLst>
                <a:gd name="T0" fmla="*/ 243 w 244"/>
                <a:gd name="T1" fmla="*/ 44 h 387"/>
                <a:gd name="T2" fmla="*/ 199 w 244"/>
                <a:gd name="T3" fmla="*/ 0 h 387"/>
                <a:gd name="T4" fmla="*/ 0 w 244"/>
                <a:gd name="T5" fmla="*/ 193 h 387"/>
                <a:gd name="T6" fmla="*/ 199 w 244"/>
                <a:gd name="T7" fmla="*/ 386 h 387"/>
                <a:gd name="T8" fmla="*/ 243 w 244"/>
                <a:gd name="T9" fmla="*/ 343 h 387"/>
                <a:gd name="T10" fmla="*/ 94 w 244"/>
                <a:gd name="T11" fmla="*/ 193 h 387"/>
                <a:gd name="T12" fmla="*/ 243 w 244"/>
                <a:gd name="T13" fmla="*/ 44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387">
                  <a:moveTo>
                    <a:pt x="243" y="44"/>
                  </a:moveTo>
                  <a:lnTo>
                    <a:pt x="199" y="0"/>
                  </a:lnTo>
                  <a:lnTo>
                    <a:pt x="0" y="193"/>
                  </a:lnTo>
                  <a:lnTo>
                    <a:pt x="199" y="386"/>
                  </a:lnTo>
                  <a:lnTo>
                    <a:pt x="243" y="343"/>
                  </a:lnTo>
                  <a:lnTo>
                    <a:pt x="94" y="193"/>
                  </a:lnTo>
                  <a:lnTo>
                    <a:pt x="243" y="44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  <p:sp>
          <p:nvSpPr>
            <p:cNvPr id="396" name="Freeform 10"/>
            <p:cNvSpPr>
              <a:spLocks noChangeArrowheads="1"/>
            </p:cNvSpPr>
            <p:nvPr/>
          </p:nvSpPr>
          <p:spPr bwMode="auto">
            <a:xfrm>
              <a:off x="10538416" y="4382817"/>
              <a:ext cx="46962" cy="76530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404" name="직사각형 403"/>
          <p:cNvSpPr/>
          <p:nvPr/>
        </p:nvSpPr>
        <p:spPr>
          <a:xfrm>
            <a:off x="2534765" y="3872741"/>
            <a:ext cx="148604" cy="112521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1" lang="en-US" altLang="ko-KR" sz="600" dirty="0" smtClean="0"/>
              <a:t>15</a:t>
            </a:r>
            <a:endParaRPr kumimoji="1" lang="ko-KR" altLang="en-US" sz="600" dirty="0"/>
          </a:p>
        </p:txBody>
      </p:sp>
      <p:graphicFrame>
        <p:nvGraphicFramePr>
          <p:cNvPr id="429" name="Table 3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0335647"/>
              </p:ext>
            </p:extLst>
          </p:nvPr>
        </p:nvGraphicFramePr>
        <p:xfrm>
          <a:off x="3744641" y="3217400"/>
          <a:ext cx="1444198" cy="109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63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063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08770">
                <a:tc gridSpan="7">
                  <a:txBody>
                    <a:bodyPr/>
                    <a:lstStyle/>
                    <a:p>
                      <a:pPr algn="ctr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2017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년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9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월 </a:t>
                      </a:r>
                      <a:endParaRPr lang="en-US" sz="80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sz="60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08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월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화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수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목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금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토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400" dirty="0" smtClean="0">
                          <a:solidFill>
                            <a:schemeClr val="tx1"/>
                          </a:solidFill>
                        </a:rPr>
                        <a:t>일</a:t>
                      </a:r>
                      <a:endParaRPr lang="en-US" sz="4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31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0432FF"/>
                          </a:solidFill>
                        </a:rPr>
                        <a:t>5</a:t>
                      </a:r>
                      <a:endParaRPr lang="en-US" sz="600" dirty="0">
                        <a:solidFill>
                          <a:srgbClr val="0432FF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6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0432FF"/>
                          </a:solidFill>
                        </a:rPr>
                        <a:t>12</a:t>
                      </a:r>
                      <a:endParaRPr lang="en-US" sz="600" dirty="0">
                        <a:solidFill>
                          <a:srgbClr val="0432FF"/>
                        </a:solidFill>
                      </a:endParaRPr>
                    </a:p>
                  </a:txBody>
                  <a:tcPr marL="0" marR="0" marT="0" marB="0" anchor="ctr"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13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14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15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16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17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18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R w="12700" cmpd="sng">
                      <a:noFill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0432FF"/>
                          </a:solidFill>
                        </a:rPr>
                        <a:t>19</a:t>
                      </a:r>
                      <a:endParaRPr lang="en-US" sz="600" dirty="0">
                        <a:solidFill>
                          <a:srgbClr val="0432FF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20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23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24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25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26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rgbClr val="F03E3E"/>
                          </a:solidFill>
                        </a:rPr>
                        <a:t>27</a:t>
                      </a:r>
                      <a:endParaRPr lang="en-US" sz="600" dirty="0">
                        <a:solidFill>
                          <a:srgbClr val="F03E3E"/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616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28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29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</a:rPr>
                        <a:t>31</a:t>
                      </a:r>
                      <a:endParaRPr 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1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2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0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3</a:t>
                      </a:r>
                      <a:endParaRPr lang="en-US" sz="6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430" name="그룹 429"/>
          <p:cNvGrpSpPr/>
          <p:nvPr/>
        </p:nvGrpSpPr>
        <p:grpSpPr>
          <a:xfrm>
            <a:off x="4094856" y="3286536"/>
            <a:ext cx="727270" cy="76530"/>
            <a:chOff x="9858108" y="4382817"/>
            <a:chExt cx="727270" cy="76530"/>
          </a:xfrm>
        </p:grpSpPr>
        <p:sp>
          <p:nvSpPr>
            <p:cNvPr id="431" name="Freeform 9"/>
            <p:cNvSpPr>
              <a:spLocks noChangeArrowheads="1"/>
            </p:cNvSpPr>
            <p:nvPr/>
          </p:nvSpPr>
          <p:spPr bwMode="auto">
            <a:xfrm>
              <a:off x="9858108" y="4382817"/>
              <a:ext cx="47832" cy="76530"/>
            </a:xfrm>
            <a:custGeom>
              <a:avLst/>
              <a:gdLst>
                <a:gd name="T0" fmla="*/ 243 w 244"/>
                <a:gd name="T1" fmla="*/ 44 h 387"/>
                <a:gd name="T2" fmla="*/ 199 w 244"/>
                <a:gd name="T3" fmla="*/ 0 h 387"/>
                <a:gd name="T4" fmla="*/ 0 w 244"/>
                <a:gd name="T5" fmla="*/ 193 h 387"/>
                <a:gd name="T6" fmla="*/ 199 w 244"/>
                <a:gd name="T7" fmla="*/ 386 h 387"/>
                <a:gd name="T8" fmla="*/ 243 w 244"/>
                <a:gd name="T9" fmla="*/ 343 h 387"/>
                <a:gd name="T10" fmla="*/ 94 w 244"/>
                <a:gd name="T11" fmla="*/ 193 h 387"/>
                <a:gd name="T12" fmla="*/ 243 w 244"/>
                <a:gd name="T13" fmla="*/ 44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387">
                  <a:moveTo>
                    <a:pt x="243" y="44"/>
                  </a:moveTo>
                  <a:lnTo>
                    <a:pt x="199" y="0"/>
                  </a:lnTo>
                  <a:lnTo>
                    <a:pt x="0" y="193"/>
                  </a:lnTo>
                  <a:lnTo>
                    <a:pt x="199" y="386"/>
                  </a:lnTo>
                  <a:lnTo>
                    <a:pt x="243" y="343"/>
                  </a:lnTo>
                  <a:lnTo>
                    <a:pt x="94" y="193"/>
                  </a:lnTo>
                  <a:lnTo>
                    <a:pt x="243" y="44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  <p:sp>
          <p:nvSpPr>
            <p:cNvPr id="432" name="Freeform 10"/>
            <p:cNvSpPr>
              <a:spLocks noChangeArrowheads="1"/>
            </p:cNvSpPr>
            <p:nvPr/>
          </p:nvSpPr>
          <p:spPr bwMode="auto">
            <a:xfrm>
              <a:off x="10538416" y="4382817"/>
              <a:ext cx="46962" cy="76530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433" name="직사각형 432"/>
          <p:cNvSpPr/>
          <p:nvPr/>
        </p:nvSpPr>
        <p:spPr>
          <a:xfrm>
            <a:off x="4598003" y="3560649"/>
            <a:ext cx="148604" cy="112521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1" lang="en-US" altLang="ko-KR" sz="600" dirty="0" smtClean="0"/>
              <a:t>4</a:t>
            </a:r>
            <a:endParaRPr kumimoji="1" lang="ko-KR" altLang="en-US" sz="600" dirty="0"/>
          </a:p>
        </p:txBody>
      </p:sp>
      <p:sp>
        <p:nvSpPr>
          <p:cNvPr id="2" name="TextBox 1"/>
          <p:cNvSpPr txBox="1"/>
          <p:nvPr/>
        </p:nvSpPr>
        <p:spPr>
          <a:xfrm>
            <a:off x="2649554" y="4327590"/>
            <a:ext cx="2105311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시작일이 선택되었습니다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종료일을 선택해 주세요</a:t>
            </a:r>
          </a:p>
        </p:txBody>
      </p:sp>
      <p:sp>
        <p:nvSpPr>
          <p:cNvPr id="3" name="이등변 삼각형 2"/>
          <p:cNvSpPr/>
          <p:nvPr/>
        </p:nvSpPr>
        <p:spPr>
          <a:xfrm rot="5400000">
            <a:off x="2503827" y="3909216"/>
            <a:ext cx="109436" cy="45719"/>
          </a:xfrm>
          <a:prstGeom prst="triangle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35" name="직사각형 434"/>
          <p:cNvSpPr/>
          <p:nvPr/>
        </p:nvSpPr>
        <p:spPr>
          <a:xfrm>
            <a:off x="2683369" y="3872741"/>
            <a:ext cx="1046150" cy="112521"/>
          </a:xfrm>
          <a:prstGeom prst="rect">
            <a:avLst/>
          </a:prstGeom>
          <a:solidFill>
            <a:schemeClr val="accent1">
              <a:alpha val="3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ko-KR" altLang="en-US" sz="600" dirty="0"/>
          </a:p>
        </p:txBody>
      </p:sp>
      <p:sp>
        <p:nvSpPr>
          <p:cNvPr id="436" name="직사각형 435"/>
          <p:cNvSpPr/>
          <p:nvPr/>
        </p:nvSpPr>
        <p:spPr>
          <a:xfrm>
            <a:off x="2329660" y="4024563"/>
            <a:ext cx="1399859" cy="112521"/>
          </a:xfrm>
          <a:prstGeom prst="rect">
            <a:avLst/>
          </a:prstGeom>
          <a:solidFill>
            <a:schemeClr val="accent1">
              <a:alpha val="3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ko-KR" altLang="en-US" sz="600" dirty="0"/>
          </a:p>
        </p:txBody>
      </p:sp>
      <p:sp>
        <p:nvSpPr>
          <p:cNvPr id="437" name="직사각형 436"/>
          <p:cNvSpPr/>
          <p:nvPr/>
        </p:nvSpPr>
        <p:spPr>
          <a:xfrm>
            <a:off x="2329660" y="4183528"/>
            <a:ext cx="1399859" cy="112521"/>
          </a:xfrm>
          <a:prstGeom prst="rect">
            <a:avLst/>
          </a:prstGeom>
          <a:solidFill>
            <a:schemeClr val="accent1">
              <a:alpha val="3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ko-KR" altLang="en-US" sz="600" dirty="0"/>
          </a:p>
        </p:txBody>
      </p:sp>
      <p:sp>
        <p:nvSpPr>
          <p:cNvPr id="438" name="이등변 삼각형 437"/>
          <p:cNvSpPr/>
          <p:nvPr/>
        </p:nvSpPr>
        <p:spPr>
          <a:xfrm rot="16200000">
            <a:off x="4666759" y="3594138"/>
            <a:ext cx="109436" cy="45719"/>
          </a:xfrm>
          <a:prstGeom prst="triangle">
            <a:avLst/>
          </a:prstGeom>
          <a:solidFill>
            <a:schemeClr val="bg1">
              <a:lumMod val="9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39" name="직사각형 438"/>
          <p:cNvSpPr/>
          <p:nvPr/>
        </p:nvSpPr>
        <p:spPr>
          <a:xfrm>
            <a:off x="3782416" y="3559951"/>
            <a:ext cx="815588" cy="112521"/>
          </a:xfrm>
          <a:prstGeom prst="rect">
            <a:avLst/>
          </a:prstGeom>
          <a:solidFill>
            <a:schemeClr val="accent1">
              <a:alpha val="3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ko-KR" altLang="en-US" sz="600" dirty="0"/>
          </a:p>
        </p:txBody>
      </p:sp>
    </p:spTree>
    <p:extLst>
      <p:ext uri="{BB962C8B-B14F-4D97-AF65-F5344CB8AC3E}">
        <p14:creationId xmlns:p14="http://schemas.microsoft.com/office/powerpoint/2010/main" val="613710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0951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사진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9356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247313" y="298450"/>
            <a:ext cx="1944687" cy="2159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SQ5.2.2.1</a:t>
            </a:r>
            <a:endParaRPr lang="ko-KR" altLang="en-US" dirty="0"/>
          </a:p>
        </p:txBody>
      </p:sp>
      <p:graphicFrame>
        <p:nvGraphicFramePr>
          <p:cNvPr id="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924356"/>
              </p:ext>
            </p:extLst>
          </p:nvPr>
        </p:nvGraphicFramePr>
        <p:xfrm>
          <a:off x="9290533" y="786383"/>
          <a:ext cx="2892502" cy="234069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피드에 등록된 컨텐츠중 본문내 사진이미지가 등록됐을 경우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해당 이미지만 추출하여 보여주는 화면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목록에서 사진이 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개이상 선택된 상태에서 클릭시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메일쓰기창이 출력되며 선택된 사진은 첨부파일 형태로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현재 목록에서 출력되는 전체 사진 갯수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사진에 마우스 오버시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해당 컨텐츠 등록자 정보 출력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85725" indent="-74613" algn="l" defTabSz="914400"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정보 구성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프로필 사진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+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사용자명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+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부서명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+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등록날짜</a:t>
                      </a:r>
                      <a:endParaRPr kumimoji="1"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85725" indent="-74613" algn="l" defTabSz="914400"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스퀘어 그룹별 사진 탭에서는 그룹 정보는 제공하지 않음</a:t>
                      </a:r>
                      <a:endParaRPr kumimoji="1"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82563" indent="-171450" algn="l" defTabSz="914400">
                        <a:buSzPct val="75000"/>
                        <a:buFontTx/>
                        <a:buChar char="-"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18226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플래그 체크시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LNB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기준 플래그 글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&gt;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사진 메뉴에서 확인 가능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043439"/>
                  </a:ext>
                </a:extLst>
              </a:tr>
            </a:tbl>
          </a:graphicData>
        </a:graphic>
      </p:graphicFrame>
      <p:cxnSp>
        <p:nvCxnSpPr>
          <p:cNvPr id="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7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8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18" name="그룹 17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19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0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1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2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62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3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64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5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6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7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9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1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3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4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60" name="TextBox 59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4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5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5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5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5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58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59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284" name="직선 연결선[R] 7"/>
          <p:cNvCxnSpPr/>
          <p:nvPr/>
        </p:nvCxnSpPr>
        <p:spPr>
          <a:xfrm>
            <a:off x="1868022" y="6353225"/>
            <a:ext cx="723441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301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"/>
            </p:custDataLst>
          </p:nvPr>
        </p:nvSpPr>
        <p:spPr>
          <a:xfrm>
            <a:off x="2105020" y="1160605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4" name="Rectangle 219"/>
          <p:cNvSpPr/>
          <p:nvPr/>
        </p:nvSpPr>
        <p:spPr>
          <a:xfrm>
            <a:off x="341594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95" name="Group 8"/>
          <p:cNvGrpSpPr/>
          <p:nvPr/>
        </p:nvGrpSpPr>
        <p:grpSpPr>
          <a:xfrm>
            <a:off x="3411586" y="1693373"/>
            <a:ext cx="1243746" cy="875719"/>
            <a:chOff x="4724020" y="5478057"/>
            <a:chExt cx="6056162" cy="548658"/>
          </a:xfrm>
        </p:grpSpPr>
        <p:cxnSp>
          <p:nvCxnSpPr>
            <p:cNvPr id="96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0" name="Rectangle 219"/>
          <p:cNvSpPr/>
          <p:nvPr/>
        </p:nvSpPr>
        <p:spPr>
          <a:xfrm>
            <a:off x="4740545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91" name="Group 8"/>
          <p:cNvGrpSpPr/>
          <p:nvPr/>
        </p:nvGrpSpPr>
        <p:grpSpPr>
          <a:xfrm>
            <a:off x="4736184" y="1693373"/>
            <a:ext cx="1243746" cy="875719"/>
            <a:chOff x="4724020" y="5478057"/>
            <a:chExt cx="6056162" cy="548658"/>
          </a:xfrm>
        </p:grpSpPr>
        <p:cxnSp>
          <p:nvCxnSpPr>
            <p:cNvPr id="92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6" name="Rectangle 219"/>
          <p:cNvSpPr/>
          <p:nvPr/>
        </p:nvSpPr>
        <p:spPr>
          <a:xfrm>
            <a:off x="605659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87" name="Group 8"/>
          <p:cNvGrpSpPr/>
          <p:nvPr/>
        </p:nvGrpSpPr>
        <p:grpSpPr>
          <a:xfrm>
            <a:off x="6052236" y="1693373"/>
            <a:ext cx="1243746" cy="875719"/>
            <a:chOff x="4724020" y="5478057"/>
            <a:chExt cx="6056162" cy="548658"/>
          </a:xfrm>
        </p:grpSpPr>
        <p:cxnSp>
          <p:nvCxnSpPr>
            <p:cNvPr id="88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2" name="그룹 413"/>
          <p:cNvGrpSpPr/>
          <p:nvPr/>
        </p:nvGrpSpPr>
        <p:grpSpPr>
          <a:xfrm>
            <a:off x="7368571" y="1689034"/>
            <a:ext cx="1252842" cy="880058"/>
            <a:chOff x="2503918" y="3068243"/>
            <a:chExt cx="1067259" cy="749695"/>
          </a:xfrm>
        </p:grpSpPr>
        <p:sp>
          <p:nvSpPr>
            <p:cNvPr id="173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174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175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6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6" name="그룹 413"/>
          <p:cNvGrpSpPr/>
          <p:nvPr/>
        </p:nvGrpSpPr>
        <p:grpSpPr>
          <a:xfrm>
            <a:off x="2078442" y="2652944"/>
            <a:ext cx="1252842" cy="880058"/>
            <a:chOff x="2503918" y="3068243"/>
            <a:chExt cx="1067259" cy="749695"/>
          </a:xfrm>
        </p:grpSpPr>
        <p:sp>
          <p:nvSpPr>
            <p:cNvPr id="342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43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44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45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7" name="그룹 413"/>
          <p:cNvGrpSpPr/>
          <p:nvPr/>
        </p:nvGrpSpPr>
        <p:grpSpPr>
          <a:xfrm>
            <a:off x="3411586" y="2652944"/>
            <a:ext cx="1252842" cy="880058"/>
            <a:chOff x="2503918" y="3068243"/>
            <a:chExt cx="1067259" cy="749695"/>
          </a:xfrm>
        </p:grpSpPr>
        <p:sp>
          <p:nvSpPr>
            <p:cNvPr id="338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39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40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41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8" name="그룹 413"/>
          <p:cNvGrpSpPr/>
          <p:nvPr/>
        </p:nvGrpSpPr>
        <p:grpSpPr>
          <a:xfrm>
            <a:off x="4736184" y="2652944"/>
            <a:ext cx="1252842" cy="880058"/>
            <a:chOff x="2503918" y="3068243"/>
            <a:chExt cx="1067259" cy="749695"/>
          </a:xfrm>
        </p:grpSpPr>
        <p:sp>
          <p:nvSpPr>
            <p:cNvPr id="334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35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36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7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9" name="그룹 413"/>
          <p:cNvGrpSpPr/>
          <p:nvPr/>
        </p:nvGrpSpPr>
        <p:grpSpPr>
          <a:xfrm>
            <a:off x="6052236" y="2652944"/>
            <a:ext cx="1252842" cy="880058"/>
            <a:chOff x="2503918" y="3068243"/>
            <a:chExt cx="1067259" cy="749695"/>
          </a:xfrm>
        </p:grpSpPr>
        <p:sp>
          <p:nvSpPr>
            <p:cNvPr id="330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31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32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3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20" name="그룹 413"/>
          <p:cNvGrpSpPr/>
          <p:nvPr/>
        </p:nvGrpSpPr>
        <p:grpSpPr>
          <a:xfrm>
            <a:off x="7368571" y="2652944"/>
            <a:ext cx="1252842" cy="880058"/>
            <a:chOff x="2503918" y="3068243"/>
            <a:chExt cx="1067259" cy="749695"/>
          </a:xfrm>
        </p:grpSpPr>
        <p:sp>
          <p:nvSpPr>
            <p:cNvPr id="326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27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28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9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46" name="그룹 345"/>
          <p:cNvGrpSpPr/>
          <p:nvPr/>
        </p:nvGrpSpPr>
        <p:grpSpPr>
          <a:xfrm>
            <a:off x="2078442" y="3618581"/>
            <a:ext cx="6542971" cy="880058"/>
            <a:chOff x="2078442" y="1689034"/>
            <a:chExt cx="6542971" cy="880058"/>
          </a:xfrm>
        </p:grpSpPr>
        <p:grpSp>
          <p:nvGrpSpPr>
            <p:cNvPr id="347" name="그룹 413"/>
            <p:cNvGrpSpPr/>
            <p:nvPr/>
          </p:nvGrpSpPr>
          <p:grpSpPr>
            <a:xfrm>
              <a:off x="2078442" y="1689034"/>
              <a:ext cx="1252842" cy="880058"/>
              <a:chOff x="2503918" y="3068243"/>
              <a:chExt cx="1067259" cy="749695"/>
            </a:xfrm>
          </p:grpSpPr>
          <p:sp>
            <p:nvSpPr>
              <p:cNvPr id="373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74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75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76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48" name="그룹 413"/>
            <p:cNvGrpSpPr/>
            <p:nvPr/>
          </p:nvGrpSpPr>
          <p:grpSpPr>
            <a:xfrm>
              <a:off x="3411586" y="1689034"/>
              <a:ext cx="1252842" cy="880058"/>
              <a:chOff x="2503918" y="3068243"/>
              <a:chExt cx="1067259" cy="749695"/>
            </a:xfrm>
          </p:grpSpPr>
          <p:sp>
            <p:nvSpPr>
              <p:cNvPr id="369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70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71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72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49" name="그룹 413"/>
            <p:cNvGrpSpPr/>
            <p:nvPr/>
          </p:nvGrpSpPr>
          <p:grpSpPr>
            <a:xfrm>
              <a:off x="4736184" y="1689034"/>
              <a:ext cx="1252842" cy="880058"/>
              <a:chOff x="2503918" y="3068243"/>
              <a:chExt cx="1067259" cy="749695"/>
            </a:xfrm>
          </p:grpSpPr>
          <p:sp>
            <p:nvSpPr>
              <p:cNvPr id="365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66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67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68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50" name="그룹 413"/>
            <p:cNvGrpSpPr/>
            <p:nvPr/>
          </p:nvGrpSpPr>
          <p:grpSpPr>
            <a:xfrm>
              <a:off x="6052236" y="1689034"/>
              <a:ext cx="1252842" cy="880058"/>
              <a:chOff x="2503918" y="3068243"/>
              <a:chExt cx="1067259" cy="749695"/>
            </a:xfrm>
          </p:grpSpPr>
          <p:sp>
            <p:nvSpPr>
              <p:cNvPr id="361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62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63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64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51" name="그룹 413"/>
            <p:cNvGrpSpPr/>
            <p:nvPr/>
          </p:nvGrpSpPr>
          <p:grpSpPr>
            <a:xfrm>
              <a:off x="7368571" y="1689034"/>
              <a:ext cx="1252842" cy="880058"/>
              <a:chOff x="2503918" y="3068243"/>
              <a:chExt cx="1067259" cy="749695"/>
            </a:xfrm>
          </p:grpSpPr>
          <p:sp>
            <p:nvSpPr>
              <p:cNvPr id="357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58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59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60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</p:grpSp>
      <p:grpSp>
        <p:nvGrpSpPr>
          <p:cNvPr id="377" name="그룹 376"/>
          <p:cNvGrpSpPr/>
          <p:nvPr/>
        </p:nvGrpSpPr>
        <p:grpSpPr>
          <a:xfrm>
            <a:off x="2078442" y="4582491"/>
            <a:ext cx="6542971" cy="880058"/>
            <a:chOff x="2078442" y="1689034"/>
            <a:chExt cx="6542971" cy="880058"/>
          </a:xfrm>
        </p:grpSpPr>
        <p:grpSp>
          <p:nvGrpSpPr>
            <p:cNvPr id="378" name="그룹 413"/>
            <p:cNvGrpSpPr/>
            <p:nvPr/>
          </p:nvGrpSpPr>
          <p:grpSpPr>
            <a:xfrm>
              <a:off x="2078442" y="1689034"/>
              <a:ext cx="1252842" cy="880058"/>
              <a:chOff x="2503918" y="3068243"/>
              <a:chExt cx="1067259" cy="749695"/>
            </a:xfrm>
          </p:grpSpPr>
          <p:sp>
            <p:nvSpPr>
              <p:cNvPr id="404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05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06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07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79" name="그룹 413"/>
            <p:cNvGrpSpPr/>
            <p:nvPr/>
          </p:nvGrpSpPr>
          <p:grpSpPr>
            <a:xfrm>
              <a:off x="3411586" y="1689034"/>
              <a:ext cx="1252842" cy="880058"/>
              <a:chOff x="2503918" y="3068243"/>
              <a:chExt cx="1067259" cy="749695"/>
            </a:xfrm>
          </p:grpSpPr>
          <p:sp>
            <p:nvSpPr>
              <p:cNvPr id="400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01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02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03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80" name="그룹 413"/>
            <p:cNvGrpSpPr/>
            <p:nvPr/>
          </p:nvGrpSpPr>
          <p:grpSpPr>
            <a:xfrm>
              <a:off x="4736184" y="1689034"/>
              <a:ext cx="1252842" cy="880058"/>
              <a:chOff x="2503918" y="3068243"/>
              <a:chExt cx="1067259" cy="749695"/>
            </a:xfrm>
          </p:grpSpPr>
          <p:sp>
            <p:nvSpPr>
              <p:cNvPr id="396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97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98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99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81" name="그룹 413"/>
            <p:cNvGrpSpPr/>
            <p:nvPr/>
          </p:nvGrpSpPr>
          <p:grpSpPr>
            <a:xfrm>
              <a:off x="6052236" y="1689034"/>
              <a:ext cx="1252842" cy="880058"/>
              <a:chOff x="2503918" y="3068243"/>
              <a:chExt cx="1067259" cy="749695"/>
            </a:xfrm>
          </p:grpSpPr>
          <p:sp>
            <p:nvSpPr>
              <p:cNvPr id="392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93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94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95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82" name="그룹 413"/>
            <p:cNvGrpSpPr/>
            <p:nvPr/>
          </p:nvGrpSpPr>
          <p:grpSpPr>
            <a:xfrm>
              <a:off x="7368571" y="1689034"/>
              <a:ext cx="1252842" cy="880058"/>
              <a:chOff x="2503918" y="3068243"/>
              <a:chExt cx="1067259" cy="749695"/>
            </a:xfrm>
          </p:grpSpPr>
          <p:sp>
            <p:nvSpPr>
              <p:cNvPr id="388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89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90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91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</p:grpSp>
      <p:sp>
        <p:nvSpPr>
          <p:cNvPr id="443" name="타원 442"/>
          <p:cNvSpPr>
            <a:spLocks noChangeAspect="1"/>
          </p:cNvSpPr>
          <p:nvPr/>
        </p:nvSpPr>
        <p:spPr>
          <a:xfrm>
            <a:off x="4438992" y="76145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47" name="그룹 44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44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4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50" name="직선 연결선[R] 7"/>
            <p:cNvCxnSpPr/>
            <p:nvPr/>
          </p:nvCxnSpPr>
          <p:spPr>
            <a:xfrm>
              <a:off x="475819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451" name="텍스트 상자 31"/>
            <p:cNvSpPr txBox="1"/>
            <p:nvPr/>
          </p:nvSpPr>
          <p:spPr>
            <a:xfrm>
              <a:off x="5148719" y="874786"/>
              <a:ext cx="64339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0" name="위로 굽은 화살표 9"/>
          <p:cNvSpPr/>
          <p:nvPr/>
        </p:nvSpPr>
        <p:spPr>
          <a:xfrm rot="16200000" flipH="1">
            <a:off x="2526744" y="2006019"/>
            <a:ext cx="281985" cy="250119"/>
          </a:xfrm>
          <a:prstGeom prst="bentUpArrow">
            <a:avLst/>
          </a:prstGeom>
          <a:solidFill>
            <a:schemeClr val="bg1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04" name="타원 203"/>
          <p:cNvSpPr>
            <a:spLocks noChangeAspect="1"/>
          </p:cNvSpPr>
          <p:nvPr/>
        </p:nvSpPr>
        <p:spPr>
          <a:xfrm>
            <a:off x="1903663" y="143123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0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20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20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198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00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사진</a:t>
            </a:r>
            <a:endParaRPr kumimoji="0" lang="ko-KR" altLang="en-US" dirty="0"/>
          </a:p>
        </p:txBody>
      </p:sp>
      <p:sp>
        <p:nvSpPr>
          <p:cNvPr id="201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사진</a:t>
            </a:r>
            <a:endParaRPr kumimoji="0" lang="ko-KR" altLang="en-US" dirty="0"/>
          </a:p>
        </p:txBody>
      </p:sp>
      <p:sp>
        <p:nvSpPr>
          <p:cNvPr id="202" name="직사각형 201"/>
          <p:cNvSpPr/>
          <p:nvPr/>
        </p:nvSpPr>
        <p:spPr>
          <a:xfrm>
            <a:off x="1895475" y="361950"/>
            <a:ext cx="3371850" cy="2857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203" name="그룹 413"/>
          <p:cNvGrpSpPr/>
          <p:nvPr/>
        </p:nvGrpSpPr>
        <p:grpSpPr>
          <a:xfrm>
            <a:off x="2078442" y="1689034"/>
            <a:ext cx="1252842" cy="880058"/>
            <a:chOff x="2503918" y="3068243"/>
            <a:chExt cx="1067259" cy="749695"/>
          </a:xfrm>
        </p:grpSpPr>
        <p:sp>
          <p:nvSpPr>
            <p:cNvPr id="208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209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210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11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70" name="TextBox 69"/>
          <p:cNvSpPr txBox="1"/>
          <p:nvPr/>
        </p:nvSpPr>
        <p:spPr>
          <a:xfrm>
            <a:off x="2025681" y="1441892"/>
            <a:ext cx="8899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smtClean="0">
                <a:latin typeface="+mn-ea"/>
                <a:ea typeface="+mn-ea"/>
              </a:rPr>
              <a:t>전체 </a:t>
            </a:r>
            <a:r>
              <a:rPr lang="ko-KR" altLang="en-US" sz="800" b="1" smtClean="0">
                <a:latin typeface="+mn-ea"/>
                <a:ea typeface="+mn-ea"/>
              </a:rPr>
              <a:t>사진 </a:t>
            </a:r>
            <a:r>
              <a:rPr lang="en-US" altLang="ko-KR" sz="800" b="1" smtClean="0">
                <a:solidFill>
                  <a:srgbClr val="E46C0A"/>
                </a:solidFill>
                <a:latin typeface="+mn-ea"/>
                <a:ea typeface="+mn-ea"/>
              </a:rPr>
              <a:t>56</a:t>
            </a:r>
            <a:r>
              <a:rPr lang="ko-KR" altLang="en-US" sz="800" b="1" smtClean="0">
                <a:solidFill>
                  <a:srgbClr val="E46C0A"/>
                </a:solidFill>
                <a:latin typeface="+mn-ea"/>
                <a:ea typeface="+mn-ea"/>
              </a:rPr>
              <a:t>건</a:t>
            </a:r>
            <a:endParaRPr lang="ko-KR" altLang="en-US" sz="800" b="1" dirty="0">
              <a:solidFill>
                <a:srgbClr val="E46C0A"/>
              </a:solidFill>
              <a:latin typeface="+mn-ea"/>
              <a:ea typeface="+mn-ea"/>
            </a:endParaRPr>
          </a:p>
        </p:txBody>
      </p:sp>
      <p:cxnSp>
        <p:nvCxnSpPr>
          <p:cNvPr id="212" name="직선 연결선[R] 7"/>
          <p:cNvCxnSpPr/>
          <p:nvPr/>
        </p:nvCxnSpPr>
        <p:spPr>
          <a:xfrm>
            <a:off x="1913287" y="1395822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13" name="직선 화살표 연결선 12"/>
          <p:cNvCxnSpPr/>
          <p:nvPr/>
        </p:nvCxnSpPr>
        <p:spPr>
          <a:xfrm>
            <a:off x="8974944" y="1436685"/>
            <a:ext cx="0" cy="4916540"/>
          </a:xfrm>
          <a:prstGeom prst="straightConnector1">
            <a:avLst/>
          </a:prstGeom>
          <a:ln w="3175">
            <a:solidFill>
              <a:srgbClr val="FF00FF"/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 rot="5400000">
            <a:off x="8763000" y="3813138"/>
            <a:ext cx="560016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rgbClr val="FF33CC"/>
                </a:solidFill>
                <a:latin typeface="+mn-ea"/>
                <a:ea typeface="+mn-ea"/>
              </a:rPr>
              <a:t>Scroll area</a:t>
            </a:r>
            <a:endParaRPr lang="ko-KR" altLang="en-US" sz="800" dirty="0" smtClean="0">
              <a:solidFill>
                <a:srgbClr val="FF33CC"/>
              </a:solidFill>
              <a:latin typeface="+mn-ea"/>
              <a:ea typeface="+mn-ea"/>
            </a:endParaRPr>
          </a:p>
        </p:txBody>
      </p:sp>
      <p:sp>
        <p:nvSpPr>
          <p:cNvPr id="192" name="TextBox 191"/>
          <p:cNvSpPr txBox="1"/>
          <p:nvPr/>
        </p:nvSpPr>
        <p:spPr bwMode="auto">
          <a:xfrm>
            <a:off x="5034858" y="3167665"/>
            <a:ext cx="978153" cy="32316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홍길동 </a:t>
            </a:r>
            <a:r>
              <a:rPr lang="ko-KR" altLang="en-US" sz="700" smtClean="0">
                <a:solidFill>
                  <a:schemeClr val="bg1"/>
                </a:solidFill>
                <a:latin typeface="+mn-ea"/>
                <a:ea typeface="+mn-ea"/>
              </a:rPr>
              <a:t>제품기획팀</a:t>
            </a:r>
            <a:endParaRPr lang="en-US" altLang="ko-KR" sz="700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defRPr/>
            </a:pPr>
            <a:r>
              <a:rPr lang="en-US" altLang="ko-KR" sz="700">
                <a:solidFill>
                  <a:schemeClr val="bg1"/>
                </a:solidFill>
                <a:latin typeface="+mn-ea"/>
              </a:rPr>
              <a:t>03-17 </a:t>
            </a:r>
            <a:r>
              <a:rPr lang="en-US" altLang="ko-KR" sz="700" smtClean="0">
                <a:solidFill>
                  <a:schemeClr val="bg1"/>
                </a:solidFill>
                <a:latin typeface="+mn-ea"/>
              </a:rPr>
              <a:t>11:24</a:t>
            </a:r>
            <a:endParaRPr lang="ko-KR" altLang="en-US" sz="7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3" name="User"/>
          <p:cNvSpPr>
            <a:spLocks noChangeAspect="1" noEditPoints="1"/>
          </p:cNvSpPr>
          <p:nvPr/>
        </p:nvSpPr>
        <p:spPr bwMode="auto">
          <a:xfrm>
            <a:off x="4839232" y="3217114"/>
            <a:ext cx="198060" cy="210138"/>
          </a:xfrm>
          <a:custGeom>
            <a:avLst/>
            <a:gdLst>
              <a:gd name="T0" fmla="*/ 146 w 535"/>
              <a:gd name="T1" fmla="*/ 66 h 568"/>
              <a:gd name="T2" fmla="*/ 136 w 535"/>
              <a:gd name="T3" fmla="*/ 231 h 568"/>
              <a:gd name="T4" fmla="*/ 161 w 535"/>
              <a:gd name="T5" fmla="*/ 274 h 568"/>
              <a:gd name="T6" fmla="*/ 184 w 535"/>
              <a:gd name="T7" fmla="*/ 332 h 568"/>
              <a:gd name="T8" fmla="*/ 189 w 535"/>
              <a:gd name="T9" fmla="*/ 385 h 568"/>
              <a:gd name="T10" fmla="*/ 97 w 535"/>
              <a:gd name="T11" fmla="*/ 437 h 568"/>
              <a:gd name="T12" fmla="*/ 0 w 535"/>
              <a:gd name="T13" fmla="*/ 554 h 568"/>
              <a:gd name="T14" fmla="*/ 535 w 535"/>
              <a:gd name="T15" fmla="*/ 568 h 568"/>
              <a:gd name="T16" fmla="*/ 501 w 535"/>
              <a:gd name="T17" fmla="*/ 477 h 568"/>
              <a:gd name="T18" fmla="*/ 377 w 535"/>
              <a:gd name="T19" fmla="*/ 412 h 568"/>
              <a:gd name="T20" fmla="*/ 345 w 535"/>
              <a:gd name="T21" fmla="*/ 337 h 568"/>
              <a:gd name="T22" fmla="*/ 361 w 535"/>
              <a:gd name="T23" fmla="*/ 314 h 568"/>
              <a:gd name="T24" fmla="*/ 385 w 535"/>
              <a:gd name="T25" fmla="*/ 267 h 568"/>
              <a:gd name="T26" fmla="*/ 389 w 535"/>
              <a:gd name="T27" fmla="*/ 199 h 568"/>
              <a:gd name="T28" fmla="*/ 383 w 535"/>
              <a:gd name="T29" fmla="*/ 54 h 568"/>
              <a:gd name="T30" fmla="*/ 266 w 535"/>
              <a:gd name="T31" fmla="*/ 0 h 568"/>
              <a:gd name="T32" fmla="*/ 266 w 535"/>
              <a:gd name="T33" fmla="*/ 27 h 568"/>
              <a:gd name="T34" fmla="*/ 319 w 535"/>
              <a:gd name="T35" fmla="*/ 49 h 568"/>
              <a:gd name="T36" fmla="*/ 362 w 535"/>
              <a:gd name="T37" fmla="*/ 70 h 568"/>
              <a:gd name="T38" fmla="*/ 362 w 535"/>
              <a:gd name="T39" fmla="*/ 198 h 568"/>
              <a:gd name="T40" fmla="*/ 368 w 535"/>
              <a:gd name="T41" fmla="*/ 213 h 568"/>
              <a:gd name="T42" fmla="*/ 364 w 535"/>
              <a:gd name="T43" fmla="*/ 251 h 568"/>
              <a:gd name="T44" fmla="*/ 350 w 535"/>
              <a:gd name="T45" fmla="*/ 255 h 568"/>
              <a:gd name="T46" fmla="*/ 337 w 535"/>
              <a:gd name="T47" fmla="*/ 302 h 568"/>
              <a:gd name="T48" fmla="*/ 325 w 535"/>
              <a:gd name="T49" fmla="*/ 320 h 568"/>
              <a:gd name="T50" fmla="*/ 318 w 535"/>
              <a:gd name="T51" fmla="*/ 332 h 568"/>
              <a:gd name="T52" fmla="*/ 320 w 535"/>
              <a:gd name="T53" fmla="*/ 391 h 568"/>
              <a:gd name="T54" fmla="*/ 365 w 535"/>
              <a:gd name="T55" fmla="*/ 436 h 568"/>
              <a:gd name="T56" fmla="*/ 482 w 535"/>
              <a:gd name="T57" fmla="*/ 496 h 568"/>
              <a:gd name="T58" fmla="*/ 30 w 535"/>
              <a:gd name="T59" fmla="*/ 541 h 568"/>
              <a:gd name="T60" fmla="*/ 107 w 535"/>
              <a:gd name="T61" fmla="*/ 462 h 568"/>
              <a:gd name="T62" fmla="*/ 214 w 535"/>
              <a:gd name="T63" fmla="*/ 393 h 568"/>
              <a:gd name="T64" fmla="*/ 215 w 535"/>
              <a:gd name="T65" fmla="*/ 390 h 568"/>
              <a:gd name="T66" fmla="*/ 217 w 535"/>
              <a:gd name="T67" fmla="*/ 324 h 568"/>
              <a:gd name="T68" fmla="*/ 205 w 535"/>
              <a:gd name="T69" fmla="*/ 316 h 568"/>
              <a:gd name="T70" fmla="*/ 186 w 535"/>
              <a:gd name="T71" fmla="*/ 266 h 568"/>
              <a:gd name="T72" fmla="*/ 173 w 535"/>
              <a:gd name="T73" fmla="*/ 254 h 568"/>
              <a:gd name="T74" fmla="*/ 162 w 535"/>
              <a:gd name="T75" fmla="*/ 228 h 568"/>
              <a:gd name="T76" fmla="*/ 175 w 535"/>
              <a:gd name="T77" fmla="*/ 208 h 568"/>
              <a:gd name="T78" fmla="*/ 171 w 535"/>
              <a:gd name="T79" fmla="*/ 76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35" h="568">
                <a:moveTo>
                  <a:pt x="266" y="0"/>
                </a:moveTo>
                <a:cubicBezTo>
                  <a:pt x="203" y="1"/>
                  <a:pt x="163" y="27"/>
                  <a:pt x="146" y="66"/>
                </a:cubicBezTo>
                <a:cubicBezTo>
                  <a:pt x="130" y="103"/>
                  <a:pt x="134" y="150"/>
                  <a:pt x="145" y="199"/>
                </a:cubicBezTo>
                <a:cubicBezTo>
                  <a:pt x="139" y="206"/>
                  <a:pt x="134" y="216"/>
                  <a:pt x="136" y="231"/>
                </a:cubicBezTo>
                <a:cubicBezTo>
                  <a:pt x="137" y="245"/>
                  <a:pt x="143" y="257"/>
                  <a:pt x="149" y="267"/>
                </a:cubicBezTo>
                <a:cubicBezTo>
                  <a:pt x="152" y="272"/>
                  <a:pt x="157" y="272"/>
                  <a:pt x="161" y="274"/>
                </a:cubicBezTo>
                <a:cubicBezTo>
                  <a:pt x="163" y="288"/>
                  <a:pt x="167" y="302"/>
                  <a:pt x="173" y="314"/>
                </a:cubicBezTo>
                <a:cubicBezTo>
                  <a:pt x="177" y="321"/>
                  <a:pt x="180" y="327"/>
                  <a:pt x="184" y="332"/>
                </a:cubicBezTo>
                <a:cubicBezTo>
                  <a:pt x="186" y="334"/>
                  <a:pt x="188" y="335"/>
                  <a:pt x="190" y="337"/>
                </a:cubicBezTo>
                <a:cubicBezTo>
                  <a:pt x="190" y="354"/>
                  <a:pt x="190" y="367"/>
                  <a:pt x="189" y="385"/>
                </a:cubicBezTo>
                <a:cubicBezTo>
                  <a:pt x="184" y="395"/>
                  <a:pt x="174" y="404"/>
                  <a:pt x="158" y="412"/>
                </a:cubicBezTo>
                <a:cubicBezTo>
                  <a:pt x="141" y="420"/>
                  <a:pt x="119" y="428"/>
                  <a:pt x="97" y="437"/>
                </a:cubicBezTo>
                <a:cubicBezTo>
                  <a:pt x="74" y="447"/>
                  <a:pt x="52" y="459"/>
                  <a:pt x="33" y="477"/>
                </a:cubicBezTo>
                <a:cubicBezTo>
                  <a:pt x="15" y="495"/>
                  <a:pt x="2" y="521"/>
                  <a:pt x="0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4" y="554"/>
                </a:lnTo>
                <a:cubicBezTo>
                  <a:pt x="532" y="521"/>
                  <a:pt x="519" y="495"/>
                  <a:pt x="501" y="477"/>
                </a:cubicBezTo>
                <a:cubicBezTo>
                  <a:pt x="483" y="459"/>
                  <a:pt x="460" y="447"/>
                  <a:pt x="438" y="437"/>
                </a:cubicBezTo>
                <a:cubicBezTo>
                  <a:pt x="416" y="428"/>
                  <a:pt x="394" y="420"/>
                  <a:pt x="377" y="412"/>
                </a:cubicBezTo>
                <a:cubicBezTo>
                  <a:pt x="361" y="404"/>
                  <a:pt x="350" y="395"/>
                  <a:pt x="346" y="385"/>
                </a:cubicBezTo>
                <a:cubicBezTo>
                  <a:pt x="345" y="367"/>
                  <a:pt x="345" y="354"/>
                  <a:pt x="345" y="337"/>
                </a:cubicBezTo>
                <a:cubicBezTo>
                  <a:pt x="347" y="335"/>
                  <a:pt x="349" y="334"/>
                  <a:pt x="351" y="332"/>
                </a:cubicBezTo>
                <a:cubicBezTo>
                  <a:pt x="354" y="327"/>
                  <a:pt x="358" y="321"/>
                  <a:pt x="361" y="314"/>
                </a:cubicBezTo>
                <a:cubicBezTo>
                  <a:pt x="367" y="302"/>
                  <a:pt x="371" y="288"/>
                  <a:pt x="373" y="274"/>
                </a:cubicBezTo>
                <a:cubicBezTo>
                  <a:pt x="377" y="272"/>
                  <a:pt x="382" y="272"/>
                  <a:pt x="385" y="267"/>
                </a:cubicBezTo>
                <a:cubicBezTo>
                  <a:pt x="392" y="259"/>
                  <a:pt x="396" y="247"/>
                  <a:pt x="398" y="231"/>
                </a:cubicBezTo>
                <a:cubicBezTo>
                  <a:pt x="400" y="216"/>
                  <a:pt x="395" y="207"/>
                  <a:pt x="389" y="199"/>
                </a:cubicBezTo>
                <a:cubicBezTo>
                  <a:pt x="396" y="178"/>
                  <a:pt x="404" y="144"/>
                  <a:pt x="401" y="109"/>
                </a:cubicBezTo>
                <a:cubicBezTo>
                  <a:pt x="400" y="90"/>
                  <a:pt x="395" y="70"/>
                  <a:pt x="383" y="54"/>
                </a:cubicBezTo>
                <a:cubicBezTo>
                  <a:pt x="373" y="40"/>
                  <a:pt x="356" y="30"/>
                  <a:pt x="334" y="25"/>
                </a:cubicBezTo>
                <a:cubicBezTo>
                  <a:pt x="320" y="7"/>
                  <a:pt x="295" y="0"/>
                  <a:pt x="266" y="0"/>
                </a:cubicBezTo>
                <a:lnTo>
                  <a:pt x="266" y="0"/>
                </a:lnTo>
                <a:close/>
                <a:moveTo>
                  <a:pt x="266" y="27"/>
                </a:moveTo>
                <a:cubicBezTo>
                  <a:pt x="293" y="27"/>
                  <a:pt x="310" y="35"/>
                  <a:pt x="315" y="43"/>
                </a:cubicBezTo>
                <a:lnTo>
                  <a:pt x="319" y="49"/>
                </a:lnTo>
                <a:lnTo>
                  <a:pt x="325" y="50"/>
                </a:lnTo>
                <a:cubicBezTo>
                  <a:pt x="344" y="52"/>
                  <a:pt x="354" y="60"/>
                  <a:pt x="362" y="70"/>
                </a:cubicBezTo>
                <a:cubicBezTo>
                  <a:pt x="369" y="80"/>
                  <a:pt x="373" y="95"/>
                  <a:pt x="374" y="111"/>
                </a:cubicBezTo>
                <a:cubicBezTo>
                  <a:pt x="377" y="143"/>
                  <a:pt x="368" y="180"/>
                  <a:pt x="362" y="198"/>
                </a:cubicBezTo>
                <a:lnTo>
                  <a:pt x="359" y="208"/>
                </a:lnTo>
                <a:lnTo>
                  <a:pt x="368" y="213"/>
                </a:lnTo>
                <a:cubicBezTo>
                  <a:pt x="367" y="213"/>
                  <a:pt x="373" y="217"/>
                  <a:pt x="372" y="228"/>
                </a:cubicBezTo>
                <a:cubicBezTo>
                  <a:pt x="370" y="241"/>
                  <a:pt x="367" y="248"/>
                  <a:pt x="364" y="251"/>
                </a:cubicBezTo>
                <a:cubicBezTo>
                  <a:pt x="362" y="254"/>
                  <a:pt x="361" y="254"/>
                  <a:pt x="361" y="254"/>
                </a:cubicBezTo>
                <a:lnTo>
                  <a:pt x="350" y="255"/>
                </a:lnTo>
                <a:lnTo>
                  <a:pt x="348" y="266"/>
                </a:lnTo>
                <a:cubicBezTo>
                  <a:pt x="347" y="277"/>
                  <a:pt x="343" y="291"/>
                  <a:pt x="337" y="302"/>
                </a:cubicBezTo>
                <a:cubicBezTo>
                  <a:pt x="335" y="308"/>
                  <a:pt x="332" y="313"/>
                  <a:pt x="329" y="316"/>
                </a:cubicBezTo>
                <a:cubicBezTo>
                  <a:pt x="327" y="319"/>
                  <a:pt x="324" y="321"/>
                  <a:pt x="325" y="320"/>
                </a:cubicBezTo>
                <a:lnTo>
                  <a:pt x="318" y="324"/>
                </a:lnTo>
                <a:lnTo>
                  <a:pt x="318" y="332"/>
                </a:lnTo>
                <a:cubicBezTo>
                  <a:pt x="318" y="352"/>
                  <a:pt x="318" y="367"/>
                  <a:pt x="320" y="390"/>
                </a:cubicBezTo>
                <a:lnTo>
                  <a:pt x="320" y="391"/>
                </a:lnTo>
                <a:lnTo>
                  <a:pt x="320" y="393"/>
                </a:lnTo>
                <a:cubicBezTo>
                  <a:pt x="328" y="413"/>
                  <a:pt x="346" y="426"/>
                  <a:pt x="365" y="436"/>
                </a:cubicBezTo>
                <a:cubicBezTo>
                  <a:pt x="384" y="445"/>
                  <a:pt x="406" y="453"/>
                  <a:pt x="427" y="462"/>
                </a:cubicBezTo>
                <a:cubicBezTo>
                  <a:pt x="448" y="471"/>
                  <a:pt x="468" y="481"/>
                  <a:pt x="482" y="496"/>
                </a:cubicBezTo>
                <a:cubicBezTo>
                  <a:pt x="493" y="507"/>
                  <a:pt x="500" y="522"/>
                  <a:pt x="504" y="541"/>
                </a:cubicBezTo>
                <a:lnTo>
                  <a:pt x="30" y="541"/>
                </a:lnTo>
                <a:cubicBezTo>
                  <a:pt x="34" y="522"/>
                  <a:pt x="41" y="507"/>
                  <a:pt x="52" y="496"/>
                </a:cubicBezTo>
                <a:cubicBezTo>
                  <a:pt x="67" y="481"/>
                  <a:pt x="86" y="471"/>
                  <a:pt x="107" y="462"/>
                </a:cubicBezTo>
                <a:cubicBezTo>
                  <a:pt x="128" y="453"/>
                  <a:pt x="150" y="445"/>
                  <a:pt x="170" y="436"/>
                </a:cubicBezTo>
                <a:cubicBezTo>
                  <a:pt x="189" y="426"/>
                  <a:pt x="207" y="413"/>
                  <a:pt x="214" y="393"/>
                </a:cubicBezTo>
                <a:lnTo>
                  <a:pt x="215" y="391"/>
                </a:lnTo>
                <a:lnTo>
                  <a:pt x="215" y="390"/>
                </a:lnTo>
                <a:cubicBezTo>
                  <a:pt x="217" y="367"/>
                  <a:pt x="217" y="352"/>
                  <a:pt x="217" y="332"/>
                </a:cubicBezTo>
                <a:lnTo>
                  <a:pt x="217" y="324"/>
                </a:lnTo>
                <a:lnTo>
                  <a:pt x="209" y="320"/>
                </a:lnTo>
                <a:cubicBezTo>
                  <a:pt x="211" y="321"/>
                  <a:pt x="208" y="319"/>
                  <a:pt x="205" y="316"/>
                </a:cubicBezTo>
                <a:cubicBezTo>
                  <a:pt x="203" y="312"/>
                  <a:pt x="200" y="308"/>
                  <a:pt x="197" y="302"/>
                </a:cubicBezTo>
                <a:cubicBezTo>
                  <a:pt x="192" y="291"/>
                  <a:pt x="187" y="277"/>
                  <a:pt x="186" y="266"/>
                </a:cubicBezTo>
                <a:lnTo>
                  <a:pt x="184" y="255"/>
                </a:lnTo>
                <a:lnTo>
                  <a:pt x="173" y="254"/>
                </a:lnTo>
                <a:cubicBezTo>
                  <a:pt x="173" y="254"/>
                  <a:pt x="172" y="254"/>
                  <a:pt x="170" y="251"/>
                </a:cubicBezTo>
                <a:cubicBezTo>
                  <a:pt x="167" y="248"/>
                  <a:pt x="164" y="241"/>
                  <a:pt x="162" y="228"/>
                </a:cubicBezTo>
                <a:cubicBezTo>
                  <a:pt x="160" y="222"/>
                  <a:pt x="165" y="217"/>
                  <a:pt x="166" y="213"/>
                </a:cubicBezTo>
                <a:lnTo>
                  <a:pt x="175" y="208"/>
                </a:lnTo>
                <a:lnTo>
                  <a:pt x="172" y="199"/>
                </a:lnTo>
                <a:cubicBezTo>
                  <a:pt x="160" y="150"/>
                  <a:pt x="158" y="106"/>
                  <a:pt x="171" y="76"/>
                </a:cubicBezTo>
                <a:cubicBezTo>
                  <a:pt x="184" y="47"/>
                  <a:pt x="210" y="28"/>
                  <a:pt x="266" y="2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" name="그룹 15"/>
          <p:cNvGrpSpPr/>
          <p:nvPr/>
        </p:nvGrpSpPr>
        <p:grpSpPr>
          <a:xfrm>
            <a:off x="2150141" y="1738597"/>
            <a:ext cx="269058" cy="3024128"/>
            <a:chOff x="2150141" y="1738597"/>
            <a:chExt cx="269058" cy="3024128"/>
          </a:xfrm>
        </p:grpSpPr>
        <p:grpSp>
          <p:nvGrpSpPr>
            <p:cNvPr id="15" name="그룹 14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15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21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7" name="그룹 216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18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9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20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0" name="그룹 219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21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2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9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3" name="그룹 222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25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8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29" name="그룹 228"/>
          <p:cNvGrpSpPr/>
          <p:nvPr/>
        </p:nvGrpSpPr>
        <p:grpSpPr>
          <a:xfrm>
            <a:off x="3479588" y="1738597"/>
            <a:ext cx="269058" cy="3024128"/>
            <a:chOff x="2150141" y="1738597"/>
            <a:chExt cx="269058" cy="3024128"/>
          </a:xfrm>
        </p:grpSpPr>
        <p:grpSp>
          <p:nvGrpSpPr>
            <p:cNvPr id="230" name="그룹 229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40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1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7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1" name="그룹 230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38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9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6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2" name="그룹 231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36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7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5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34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5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4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42" name="그룹 241"/>
          <p:cNvGrpSpPr/>
          <p:nvPr/>
        </p:nvGrpSpPr>
        <p:grpSpPr>
          <a:xfrm>
            <a:off x="4841460" y="1738597"/>
            <a:ext cx="269058" cy="3024128"/>
            <a:chOff x="2150141" y="1738597"/>
            <a:chExt cx="269058" cy="3024128"/>
          </a:xfrm>
        </p:grpSpPr>
        <p:grpSp>
          <p:nvGrpSpPr>
            <p:cNvPr id="243" name="그룹 242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54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5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3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4" name="그룹 243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51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3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2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5" name="그룹 244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49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0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1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6" name="그룹 245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47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8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0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56" name="그룹 255"/>
          <p:cNvGrpSpPr/>
          <p:nvPr/>
        </p:nvGrpSpPr>
        <p:grpSpPr>
          <a:xfrm>
            <a:off x="6135238" y="1738597"/>
            <a:ext cx="269058" cy="3024128"/>
            <a:chOff x="2150141" y="1738597"/>
            <a:chExt cx="269058" cy="3024128"/>
          </a:xfrm>
        </p:grpSpPr>
        <p:grpSp>
          <p:nvGrpSpPr>
            <p:cNvPr id="257" name="그룹 256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67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8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9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58" name="그룹 257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65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6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8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59" name="그룹 258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63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4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7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60" name="그룹 259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61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6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69" name="그룹 268"/>
          <p:cNvGrpSpPr/>
          <p:nvPr/>
        </p:nvGrpSpPr>
        <p:grpSpPr>
          <a:xfrm>
            <a:off x="7467928" y="1738597"/>
            <a:ext cx="269058" cy="3024128"/>
            <a:chOff x="2150141" y="1738597"/>
            <a:chExt cx="269058" cy="3024128"/>
          </a:xfrm>
        </p:grpSpPr>
        <p:grpSp>
          <p:nvGrpSpPr>
            <p:cNvPr id="270" name="그룹 269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80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1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5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1" name="그룹 270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78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9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4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2" name="그룹 271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76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7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3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74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2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83" name="Rounded Rectangle 939"/>
          <p:cNvSpPr/>
          <p:nvPr/>
        </p:nvSpPr>
        <p:spPr>
          <a:xfrm>
            <a:off x="2305050" y="1114425"/>
            <a:ext cx="659971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12700" dist="38100" dir="2700000" algn="tl" rotWithShape="0">
              <a:schemeClr val="bg1">
                <a:lumMod val="65000"/>
                <a:alpha val="47000"/>
              </a:schemeClr>
            </a:outerShdw>
          </a:effectLst>
        </p:spPr>
        <p:txBody>
          <a:bodyPr lIns="0" tIns="0" rIns="0" bIns="0" anchor="ctr"/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메일로 전송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6" name="TextBox 285"/>
          <p:cNvSpPr txBox="1"/>
          <p:nvPr/>
        </p:nvSpPr>
        <p:spPr>
          <a:xfrm>
            <a:off x="9396932" y="5905500"/>
            <a:ext cx="2642667" cy="914400"/>
          </a:xfrm>
          <a:prstGeom prst="rect">
            <a:avLst/>
          </a:prstGeom>
          <a:noFill/>
        </p:spPr>
        <p:txBody>
          <a:bodyPr wrap="none" lIns="72000" rIns="72000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[12/21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내역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사진 메뉴내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삭제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기능 삭제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메일로 전송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 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기능 정의</a:t>
            </a:r>
          </a:p>
        </p:txBody>
      </p:sp>
      <p:sp>
        <p:nvSpPr>
          <p:cNvPr id="287" name="직각 삼각형 286"/>
          <p:cNvSpPr/>
          <p:nvPr/>
        </p:nvSpPr>
        <p:spPr>
          <a:xfrm flipH="1">
            <a:off x="11353800" y="5819775"/>
            <a:ext cx="771874" cy="849585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12/21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수정</a:t>
            </a:r>
            <a:endParaRPr lang="en-US" altLang="ko-KR" sz="80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409" name="타원 408"/>
          <p:cNvSpPr>
            <a:spLocks noChangeAspect="1"/>
          </p:cNvSpPr>
          <p:nvPr/>
        </p:nvSpPr>
        <p:spPr>
          <a:xfrm>
            <a:off x="2198938" y="1022697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타원 16"/>
          <p:cNvSpPr/>
          <p:nvPr/>
        </p:nvSpPr>
        <p:spPr>
          <a:xfrm>
            <a:off x="4953000" y="1666875"/>
            <a:ext cx="257175" cy="24765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89" name="타원 288"/>
          <p:cNvSpPr>
            <a:spLocks noChangeAspect="1"/>
          </p:cNvSpPr>
          <p:nvPr/>
        </p:nvSpPr>
        <p:spPr>
          <a:xfrm>
            <a:off x="5116678" y="158935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5" name="모서리가 둥근 직사각형 294"/>
          <p:cNvSpPr/>
          <p:nvPr/>
        </p:nvSpPr>
        <p:spPr>
          <a:xfrm>
            <a:off x="4736185" y="3276601"/>
            <a:ext cx="1252842" cy="252790"/>
          </a:xfrm>
          <a:prstGeom prst="roundRect">
            <a:avLst>
              <a:gd name="adj" fmla="val 4014"/>
            </a:avLst>
          </a:prstGeom>
          <a:solidFill>
            <a:srgbClr val="0D0D0D">
              <a:alpha val="69804"/>
            </a:srgb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indent="266700">
              <a:lnSpc>
                <a:spcPct val="150000"/>
              </a:lnSpc>
              <a:defRPr/>
            </a:pPr>
            <a:r>
              <a:rPr lang="ko-KR" altLang="en-US" sz="600" b="1">
                <a:solidFill>
                  <a:schemeClr val="bg1"/>
                </a:solidFill>
                <a:latin typeface="+mn-ea"/>
              </a:rPr>
              <a:t>홍길동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제품기획팀</a:t>
            </a:r>
            <a:endParaRPr lang="en-US" altLang="ko-KR" sz="600">
              <a:solidFill>
                <a:schemeClr val="bg1"/>
              </a:solidFill>
              <a:latin typeface="+mn-ea"/>
            </a:endParaRPr>
          </a:p>
          <a:p>
            <a:pPr indent="266700">
              <a:lnSpc>
                <a:spcPct val="150000"/>
              </a:lnSpc>
              <a:defRPr/>
            </a:pPr>
            <a:r>
              <a:rPr lang="en-US" altLang="ko-KR" sz="600">
                <a:solidFill>
                  <a:schemeClr val="bg1"/>
                </a:solidFill>
                <a:latin typeface="+mn-ea"/>
              </a:rPr>
              <a:t>03-17 11:24</a:t>
            </a:r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4" name="타원 193"/>
          <p:cNvSpPr>
            <a:spLocks noChangeAspect="1"/>
          </p:cNvSpPr>
          <p:nvPr/>
        </p:nvSpPr>
        <p:spPr>
          <a:xfrm>
            <a:off x="4639807" y="315002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9" name="User"/>
          <p:cNvSpPr>
            <a:spLocks noChangeAspect="1" noEditPoints="1"/>
          </p:cNvSpPr>
          <p:nvPr/>
        </p:nvSpPr>
        <p:spPr bwMode="auto">
          <a:xfrm>
            <a:off x="4846894" y="3311549"/>
            <a:ext cx="163686" cy="173668"/>
          </a:xfrm>
          <a:custGeom>
            <a:avLst/>
            <a:gdLst>
              <a:gd name="T0" fmla="*/ 146 w 535"/>
              <a:gd name="T1" fmla="*/ 66 h 568"/>
              <a:gd name="T2" fmla="*/ 136 w 535"/>
              <a:gd name="T3" fmla="*/ 231 h 568"/>
              <a:gd name="T4" fmla="*/ 161 w 535"/>
              <a:gd name="T5" fmla="*/ 274 h 568"/>
              <a:gd name="T6" fmla="*/ 184 w 535"/>
              <a:gd name="T7" fmla="*/ 332 h 568"/>
              <a:gd name="T8" fmla="*/ 189 w 535"/>
              <a:gd name="T9" fmla="*/ 385 h 568"/>
              <a:gd name="T10" fmla="*/ 97 w 535"/>
              <a:gd name="T11" fmla="*/ 437 h 568"/>
              <a:gd name="T12" fmla="*/ 0 w 535"/>
              <a:gd name="T13" fmla="*/ 554 h 568"/>
              <a:gd name="T14" fmla="*/ 535 w 535"/>
              <a:gd name="T15" fmla="*/ 568 h 568"/>
              <a:gd name="T16" fmla="*/ 501 w 535"/>
              <a:gd name="T17" fmla="*/ 477 h 568"/>
              <a:gd name="T18" fmla="*/ 377 w 535"/>
              <a:gd name="T19" fmla="*/ 412 h 568"/>
              <a:gd name="T20" fmla="*/ 345 w 535"/>
              <a:gd name="T21" fmla="*/ 337 h 568"/>
              <a:gd name="T22" fmla="*/ 361 w 535"/>
              <a:gd name="T23" fmla="*/ 314 h 568"/>
              <a:gd name="T24" fmla="*/ 385 w 535"/>
              <a:gd name="T25" fmla="*/ 267 h 568"/>
              <a:gd name="T26" fmla="*/ 389 w 535"/>
              <a:gd name="T27" fmla="*/ 199 h 568"/>
              <a:gd name="T28" fmla="*/ 383 w 535"/>
              <a:gd name="T29" fmla="*/ 54 h 568"/>
              <a:gd name="T30" fmla="*/ 266 w 535"/>
              <a:gd name="T31" fmla="*/ 0 h 568"/>
              <a:gd name="T32" fmla="*/ 266 w 535"/>
              <a:gd name="T33" fmla="*/ 27 h 568"/>
              <a:gd name="T34" fmla="*/ 319 w 535"/>
              <a:gd name="T35" fmla="*/ 49 h 568"/>
              <a:gd name="T36" fmla="*/ 362 w 535"/>
              <a:gd name="T37" fmla="*/ 70 h 568"/>
              <a:gd name="T38" fmla="*/ 362 w 535"/>
              <a:gd name="T39" fmla="*/ 198 h 568"/>
              <a:gd name="T40" fmla="*/ 368 w 535"/>
              <a:gd name="T41" fmla="*/ 213 h 568"/>
              <a:gd name="T42" fmla="*/ 364 w 535"/>
              <a:gd name="T43" fmla="*/ 251 h 568"/>
              <a:gd name="T44" fmla="*/ 350 w 535"/>
              <a:gd name="T45" fmla="*/ 255 h 568"/>
              <a:gd name="T46" fmla="*/ 337 w 535"/>
              <a:gd name="T47" fmla="*/ 302 h 568"/>
              <a:gd name="T48" fmla="*/ 325 w 535"/>
              <a:gd name="T49" fmla="*/ 320 h 568"/>
              <a:gd name="T50" fmla="*/ 318 w 535"/>
              <a:gd name="T51" fmla="*/ 332 h 568"/>
              <a:gd name="T52" fmla="*/ 320 w 535"/>
              <a:gd name="T53" fmla="*/ 391 h 568"/>
              <a:gd name="T54" fmla="*/ 365 w 535"/>
              <a:gd name="T55" fmla="*/ 436 h 568"/>
              <a:gd name="T56" fmla="*/ 482 w 535"/>
              <a:gd name="T57" fmla="*/ 496 h 568"/>
              <a:gd name="T58" fmla="*/ 30 w 535"/>
              <a:gd name="T59" fmla="*/ 541 h 568"/>
              <a:gd name="T60" fmla="*/ 107 w 535"/>
              <a:gd name="T61" fmla="*/ 462 h 568"/>
              <a:gd name="T62" fmla="*/ 214 w 535"/>
              <a:gd name="T63" fmla="*/ 393 h 568"/>
              <a:gd name="T64" fmla="*/ 215 w 535"/>
              <a:gd name="T65" fmla="*/ 390 h 568"/>
              <a:gd name="T66" fmla="*/ 217 w 535"/>
              <a:gd name="T67" fmla="*/ 324 h 568"/>
              <a:gd name="T68" fmla="*/ 205 w 535"/>
              <a:gd name="T69" fmla="*/ 316 h 568"/>
              <a:gd name="T70" fmla="*/ 186 w 535"/>
              <a:gd name="T71" fmla="*/ 266 h 568"/>
              <a:gd name="T72" fmla="*/ 173 w 535"/>
              <a:gd name="T73" fmla="*/ 254 h 568"/>
              <a:gd name="T74" fmla="*/ 162 w 535"/>
              <a:gd name="T75" fmla="*/ 228 h 568"/>
              <a:gd name="T76" fmla="*/ 175 w 535"/>
              <a:gd name="T77" fmla="*/ 208 h 568"/>
              <a:gd name="T78" fmla="*/ 171 w 535"/>
              <a:gd name="T79" fmla="*/ 76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35" h="568">
                <a:moveTo>
                  <a:pt x="266" y="0"/>
                </a:moveTo>
                <a:cubicBezTo>
                  <a:pt x="203" y="1"/>
                  <a:pt x="163" y="27"/>
                  <a:pt x="146" y="66"/>
                </a:cubicBezTo>
                <a:cubicBezTo>
                  <a:pt x="130" y="103"/>
                  <a:pt x="134" y="150"/>
                  <a:pt x="145" y="199"/>
                </a:cubicBezTo>
                <a:cubicBezTo>
                  <a:pt x="139" y="206"/>
                  <a:pt x="134" y="216"/>
                  <a:pt x="136" y="231"/>
                </a:cubicBezTo>
                <a:cubicBezTo>
                  <a:pt x="137" y="245"/>
                  <a:pt x="143" y="257"/>
                  <a:pt x="149" y="267"/>
                </a:cubicBezTo>
                <a:cubicBezTo>
                  <a:pt x="152" y="272"/>
                  <a:pt x="157" y="272"/>
                  <a:pt x="161" y="274"/>
                </a:cubicBezTo>
                <a:cubicBezTo>
                  <a:pt x="163" y="288"/>
                  <a:pt x="167" y="302"/>
                  <a:pt x="173" y="314"/>
                </a:cubicBezTo>
                <a:cubicBezTo>
                  <a:pt x="177" y="321"/>
                  <a:pt x="180" y="327"/>
                  <a:pt x="184" y="332"/>
                </a:cubicBezTo>
                <a:cubicBezTo>
                  <a:pt x="186" y="334"/>
                  <a:pt x="188" y="335"/>
                  <a:pt x="190" y="337"/>
                </a:cubicBezTo>
                <a:cubicBezTo>
                  <a:pt x="190" y="354"/>
                  <a:pt x="190" y="367"/>
                  <a:pt x="189" y="385"/>
                </a:cubicBezTo>
                <a:cubicBezTo>
                  <a:pt x="184" y="395"/>
                  <a:pt x="174" y="404"/>
                  <a:pt x="158" y="412"/>
                </a:cubicBezTo>
                <a:cubicBezTo>
                  <a:pt x="141" y="420"/>
                  <a:pt x="119" y="428"/>
                  <a:pt x="97" y="437"/>
                </a:cubicBezTo>
                <a:cubicBezTo>
                  <a:pt x="74" y="447"/>
                  <a:pt x="52" y="459"/>
                  <a:pt x="33" y="477"/>
                </a:cubicBezTo>
                <a:cubicBezTo>
                  <a:pt x="15" y="495"/>
                  <a:pt x="2" y="521"/>
                  <a:pt x="0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4" y="554"/>
                </a:lnTo>
                <a:cubicBezTo>
                  <a:pt x="532" y="521"/>
                  <a:pt x="519" y="495"/>
                  <a:pt x="501" y="477"/>
                </a:cubicBezTo>
                <a:cubicBezTo>
                  <a:pt x="483" y="459"/>
                  <a:pt x="460" y="447"/>
                  <a:pt x="438" y="437"/>
                </a:cubicBezTo>
                <a:cubicBezTo>
                  <a:pt x="416" y="428"/>
                  <a:pt x="394" y="420"/>
                  <a:pt x="377" y="412"/>
                </a:cubicBezTo>
                <a:cubicBezTo>
                  <a:pt x="361" y="404"/>
                  <a:pt x="350" y="395"/>
                  <a:pt x="346" y="385"/>
                </a:cubicBezTo>
                <a:cubicBezTo>
                  <a:pt x="345" y="367"/>
                  <a:pt x="345" y="354"/>
                  <a:pt x="345" y="337"/>
                </a:cubicBezTo>
                <a:cubicBezTo>
                  <a:pt x="347" y="335"/>
                  <a:pt x="349" y="334"/>
                  <a:pt x="351" y="332"/>
                </a:cubicBezTo>
                <a:cubicBezTo>
                  <a:pt x="354" y="327"/>
                  <a:pt x="358" y="321"/>
                  <a:pt x="361" y="314"/>
                </a:cubicBezTo>
                <a:cubicBezTo>
                  <a:pt x="367" y="302"/>
                  <a:pt x="371" y="288"/>
                  <a:pt x="373" y="274"/>
                </a:cubicBezTo>
                <a:cubicBezTo>
                  <a:pt x="377" y="272"/>
                  <a:pt x="382" y="272"/>
                  <a:pt x="385" y="267"/>
                </a:cubicBezTo>
                <a:cubicBezTo>
                  <a:pt x="392" y="259"/>
                  <a:pt x="396" y="247"/>
                  <a:pt x="398" y="231"/>
                </a:cubicBezTo>
                <a:cubicBezTo>
                  <a:pt x="400" y="216"/>
                  <a:pt x="395" y="207"/>
                  <a:pt x="389" y="199"/>
                </a:cubicBezTo>
                <a:cubicBezTo>
                  <a:pt x="396" y="178"/>
                  <a:pt x="404" y="144"/>
                  <a:pt x="401" y="109"/>
                </a:cubicBezTo>
                <a:cubicBezTo>
                  <a:pt x="400" y="90"/>
                  <a:pt x="395" y="70"/>
                  <a:pt x="383" y="54"/>
                </a:cubicBezTo>
                <a:cubicBezTo>
                  <a:pt x="373" y="40"/>
                  <a:pt x="356" y="30"/>
                  <a:pt x="334" y="25"/>
                </a:cubicBezTo>
                <a:cubicBezTo>
                  <a:pt x="320" y="7"/>
                  <a:pt x="295" y="0"/>
                  <a:pt x="266" y="0"/>
                </a:cubicBezTo>
                <a:lnTo>
                  <a:pt x="266" y="0"/>
                </a:lnTo>
                <a:close/>
                <a:moveTo>
                  <a:pt x="266" y="27"/>
                </a:moveTo>
                <a:cubicBezTo>
                  <a:pt x="293" y="27"/>
                  <a:pt x="310" y="35"/>
                  <a:pt x="315" y="43"/>
                </a:cubicBezTo>
                <a:lnTo>
                  <a:pt x="319" y="49"/>
                </a:lnTo>
                <a:lnTo>
                  <a:pt x="325" y="50"/>
                </a:lnTo>
                <a:cubicBezTo>
                  <a:pt x="344" y="52"/>
                  <a:pt x="354" y="60"/>
                  <a:pt x="362" y="70"/>
                </a:cubicBezTo>
                <a:cubicBezTo>
                  <a:pt x="369" y="80"/>
                  <a:pt x="373" y="95"/>
                  <a:pt x="374" y="111"/>
                </a:cubicBezTo>
                <a:cubicBezTo>
                  <a:pt x="377" y="143"/>
                  <a:pt x="368" y="180"/>
                  <a:pt x="362" y="198"/>
                </a:cubicBezTo>
                <a:lnTo>
                  <a:pt x="359" y="208"/>
                </a:lnTo>
                <a:lnTo>
                  <a:pt x="368" y="213"/>
                </a:lnTo>
                <a:cubicBezTo>
                  <a:pt x="367" y="213"/>
                  <a:pt x="373" y="217"/>
                  <a:pt x="372" y="228"/>
                </a:cubicBezTo>
                <a:cubicBezTo>
                  <a:pt x="370" y="241"/>
                  <a:pt x="367" y="248"/>
                  <a:pt x="364" y="251"/>
                </a:cubicBezTo>
                <a:cubicBezTo>
                  <a:pt x="362" y="254"/>
                  <a:pt x="361" y="254"/>
                  <a:pt x="361" y="254"/>
                </a:cubicBezTo>
                <a:lnTo>
                  <a:pt x="350" y="255"/>
                </a:lnTo>
                <a:lnTo>
                  <a:pt x="348" y="266"/>
                </a:lnTo>
                <a:cubicBezTo>
                  <a:pt x="347" y="277"/>
                  <a:pt x="343" y="291"/>
                  <a:pt x="337" y="302"/>
                </a:cubicBezTo>
                <a:cubicBezTo>
                  <a:pt x="335" y="308"/>
                  <a:pt x="332" y="313"/>
                  <a:pt x="329" y="316"/>
                </a:cubicBezTo>
                <a:cubicBezTo>
                  <a:pt x="327" y="319"/>
                  <a:pt x="324" y="321"/>
                  <a:pt x="325" y="320"/>
                </a:cubicBezTo>
                <a:lnTo>
                  <a:pt x="318" y="324"/>
                </a:lnTo>
                <a:lnTo>
                  <a:pt x="318" y="332"/>
                </a:lnTo>
                <a:cubicBezTo>
                  <a:pt x="318" y="352"/>
                  <a:pt x="318" y="367"/>
                  <a:pt x="320" y="390"/>
                </a:cubicBezTo>
                <a:lnTo>
                  <a:pt x="320" y="391"/>
                </a:lnTo>
                <a:lnTo>
                  <a:pt x="320" y="393"/>
                </a:lnTo>
                <a:cubicBezTo>
                  <a:pt x="328" y="413"/>
                  <a:pt x="346" y="426"/>
                  <a:pt x="365" y="436"/>
                </a:cubicBezTo>
                <a:cubicBezTo>
                  <a:pt x="384" y="445"/>
                  <a:pt x="406" y="453"/>
                  <a:pt x="427" y="462"/>
                </a:cubicBezTo>
                <a:cubicBezTo>
                  <a:pt x="448" y="471"/>
                  <a:pt x="468" y="481"/>
                  <a:pt x="482" y="496"/>
                </a:cubicBezTo>
                <a:cubicBezTo>
                  <a:pt x="493" y="507"/>
                  <a:pt x="500" y="522"/>
                  <a:pt x="504" y="541"/>
                </a:cubicBezTo>
                <a:lnTo>
                  <a:pt x="30" y="541"/>
                </a:lnTo>
                <a:cubicBezTo>
                  <a:pt x="34" y="522"/>
                  <a:pt x="41" y="507"/>
                  <a:pt x="52" y="496"/>
                </a:cubicBezTo>
                <a:cubicBezTo>
                  <a:pt x="67" y="481"/>
                  <a:pt x="86" y="471"/>
                  <a:pt x="107" y="462"/>
                </a:cubicBezTo>
                <a:cubicBezTo>
                  <a:pt x="128" y="453"/>
                  <a:pt x="150" y="445"/>
                  <a:pt x="170" y="436"/>
                </a:cubicBezTo>
                <a:cubicBezTo>
                  <a:pt x="189" y="426"/>
                  <a:pt x="207" y="413"/>
                  <a:pt x="214" y="393"/>
                </a:cubicBezTo>
                <a:lnTo>
                  <a:pt x="215" y="391"/>
                </a:lnTo>
                <a:lnTo>
                  <a:pt x="215" y="390"/>
                </a:lnTo>
                <a:cubicBezTo>
                  <a:pt x="217" y="367"/>
                  <a:pt x="217" y="352"/>
                  <a:pt x="217" y="332"/>
                </a:cubicBezTo>
                <a:lnTo>
                  <a:pt x="217" y="324"/>
                </a:lnTo>
                <a:lnTo>
                  <a:pt x="209" y="320"/>
                </a:lnTo>
                <a:cubicBezTo>
                  <a:pt x="211" y="321"/>
                  <a:pt x="208" y="319"/>
                  <a:pt x="205" y="316"/>
                </a:cubicBezTo>
                <a:cubicBezTo>
                  <a:pt x="203" y="312"/>
                  <a:pt x="200" y="308"/>
                  <a:pt x="197" y="302"/>
                </a:cubicBezTo>
                <a:cubicBezTo>
                  <a:pt x="192" y="291"/>
                  <a:pt x="187" y="277"/>
                  <a:pt x="186" y="266"/>
                </a:cubicBezTo>
                <a:lnTo>
                  <a:pt x="184" y="255"/>
                </a:lnTo>
                <a:lnTo>
                  <a:pt x="173" y="254"/>
                </a:lnTo>
                <a:cubicBezTo>
                  <a:pt x="173" y="254"/>
                  <a:pt x="172" y="254"/>
                  <a:pt x="170" y="251"/>
                </a:cubicBezTo>
                <a:cubicBezTo>
                  <a:pt x="167" y="248"/>
                  <a:pt x="164" y="241"/>
                  <a:pt x="162" y="228"/>
                </a:cubicBezTo>
                <a:cubicBezTo>
                  <a:pt x="160" y="222"/>
                  <a:pt x="165" y="217"/>
                  <a:pt x="166" y="213"/>
                </a:cubicBezTo>
                <a:lnTo>
                  <a:pt x="175" y="208"/>
                </a:lnTo>
                <a:lnTo>
                  <a:pt x="172" y="199"/>
                </a:lnTo>
                <a:cubicBezTo>
                  <a:pt x="160" y="150"/>
                  <a:pt x="158" y="106"/>
                  <a:pt x="171" y="76"/>
                </a:cubicBezTo>
                <a:cubicBezTo>
                  <a:pt x="184" y="47"/>
                  <a:pt x="210" y="28"/>
                  <a:pt x="266" y="2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3657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sz="800" smtClean="0"/>
              <a:t>이미지 뷰어</a:t>
            </a:r>
            <a:endParaRPr lang="ko-KR" altLang="en-US" sz="800" dirty="0"/>
          </a:p>
        </p:txBody>
      </p:sp>
      <p:sp>
        <p:nvSpPr>
          <p:cNvPr id="3" name="내용 개체 틀 2"/>
          <p:cNvSpPr>
            <a:spLocks noGrp="1"/>
          </p:cNvSpPr>
          <p:nvPr>
            <p:ph sz="quarter" idx="4294967295"/>
          </p:nvPr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스퀘어 홈</a:t>
            </a:r>
            <a:r>
              <a:rPr lang="en-US" altLang="ko-KR"/>
              <a:t>&gt; </a:t>
            </a:r>
            <a:r>
              <a:rPr lang="ko-KR" altLang="en-US"/>
              <a:t>그룹 </a:t>
            </a:r>
            <a:r>
              <a:rPr lang="en-US" altLang="ko-KR"/>
              <a:t>&gt; </a:t>
            </a:r>
            <a:r>
              <a:rPr lang="ko-KR" altLang="en-US"/>
              <a:t>사진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SQ5.2.2.3</a:t>
            </a:r>
            <a:endParaRPr lang="ko-KR" altLang="en-US" dirty="0"/>
          </a:p>
        </p:txBody>
      </p:sp>
      <p:sp>
        <p:nvSpPr>
          <p:cNvPr id="16" name="직사각형 15"/>
          <p:cNvSpPr/>
          <p:nvPr/>
        </p:nvSpPr>
        <p:spPr>
          <a:xfrm>
            <a:off x="51690" y="372714"/>
            <a:ext cx="9186314" cy="6310097"/>
          </a:xfrm>
          <a:prstGeom prst="rect">
            <a:avLst/>
          </a:prstGeom>
          <a:solidFill>
            <a:srgbClr val="0D0D0D">
              <a:alpha val="78039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smtClean="0"/>
          </a:p>
        </p:txBody>
      </p:sp>
      <p:sp>
        <p:nvSpPr>
          <p:cNvPr id="19" name="직사각형 18"/>
          <p:cNvSpPr/>
          <p:nvPr/>
        </p:nvSpPr>
        <p:spPr>
          <a:xfrm>
            <a:off x="51690" y="372715"/>
            <a:ext cx="9186314" cy="355908"/>
          </a:xfrm>
          <a:prstGeom prst="rect">
            <a:avLst/>
          </a:prstGeom>
          <a:solidFill>
            <a:srgbClr val="0D0D0D">
              <a:alpha val="78039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smtClean="0"/>
          </a:p>
        </p:txBody>
      </p:sp>
      <p:sp>
        <p:nvSpPr>
          <p:cNvPr id="20" name="TextBox 19"/>
          <p:cNvSpPr txBox="1"/>
          <p:nvPr/>
        </p:nvSpPr>
        <p:spPr>
          <a:xfrm>
            <a:off x="108057" y="428783"/>
            <a:ext cx="96853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 err="1" smtClean="0">
                <a:solidFill>
                  <a:schemeClr val="bg1"/>
                </a:solidFill>
              </a:rPr>
              <a:t>이미지제목</a:t>
            </a:r>
            <a:r>
              <a:rPr lang="en-US" altLang="ko-KR" sz="900" b="1" dirty="0" smtClean="0">
                <a:solidFill>
                  <a:schemeClr val="bg1"/>
                </a:solidFill>
              </a:rPr>
              <a:t>.jpg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2">
            <a:duotone>
              <a:prstClr val="black"/>
              <a:schemeClr val="bg1">
                <a:lumMod val="50000"/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8955" y="442916"/>
            <a:ext cx="216000" cy="216000"/>
          </a:xfrm>
          <a:prstGeom prst="rect">
            <a:avLst/>
          </a:prstGeom>
        </p:spPr>
      </p:pic>
      <p:grpSp>
        <p:nvGrpSpPr>
          <p:cNvPr id="23" name="그룹 22"/>
          <p:cNvGrpSpPr/>
          <p:nvPr/>
        </p:nvGrpSpPr>
        <p:grpSpPr>
          <a:xfrm>
            <a:off x="7995253" y="419258"/>
            <a:ext cx="490989" cy="230832"/>
            <a:chOff x="7798062" y="1171288"/>
            <a:chExt cx="490989" cy="230832"/>
          </a:xfrm>
        </p:grpSpPr>
        <p:sp>
          <p:nvSpPr>
            <p:cNvPr id="24" name="TextBox 23"/>
            <p:cNvSpPr txBox="1"/>
            <p:nvPr/>
          </p:nvSpPr>
          <p:spPr>
            <a:xfrm>
              <a:off x="7873553" y="1171288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u="sng" dirty="0" smtClean="0">
                  <a:solidFill>
                    <a:schemeClr val="bg1">
                      <a:lumMod val="75000"/>
                    </a:schemeClr>
                  </a:solidFill>
                </a:rPr>
                <a:t>삭제</a:t>
              </a:r>
              <a:endParaRPr lang="ko-KR" altLang="en-US" sz="900" u="sng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pic>
          <p:nvPicPr>
            <p:cNvPr id="25" name="그림 24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98062" y="1214704"/>
              <a:ext cx="158400" cy="158400"/>
            </a:xfrm>
            <a:prstGeom prst="rect">
              <a:avLst/>
            </a:prstGeom>
          </p:spPr>
        </p:pic>
      </p:grpSp>
      <p:graphicFrame>
        <p:nvGraphicFramePr>
          <p:cNvPr id="2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9806299"/>
              </p:ext>
            </p:extLst>
          </p:nvPr>
        </p:nvGraphicFramePr>
        <p:xfrm>
          <a:off x="9290533" y="786383"/>
          <a:ext cx="2892502" cy="481973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이미지 제목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선택한 이미지의 이름과 파일명을 표시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다운로드</a:t>
                      </a:r>
                      <a:endParaRPr lang="en-US" altLang="ko-KR" sz="800" b="1" dirty="0" smtClean="0"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현재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상세보는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이미지를 로컬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PC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에 저장하는 기능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전체 다운로드</a:t>
                      </a:r>
                      <a:endParaRPr lang="en-US" altLang="ko-KR" sz="800" b="1" dirty="0" smtClean="0"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업로드된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모든 이미지를 압축 파일로 로컬로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저장하는 기능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919964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err="1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창닫기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버튼 클릭 시 창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Closed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상세</a:t>
                      </a:r>
                      <a:r>
                        <a:rPr kumimoji="0" lang="en-US" altLang="ko-KR" sz="800" b="1" baseline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 </a:t>
                      </a:r>
                      <a:r>
                        <a:rPr kumimoji="0" lang="ko-KR" altLang="en-US" sz="800" b="1" baseline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이미지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상세 이미지를 표시하는 영역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이미지 크기는 디자인 시 적정 크기로 표시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6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 </a:t>
                      </a: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현재 이미지 순번</a:t>
                      </a:r>
                      <a:r>
                        <a:rPr kumimoji="1" lang="en-US" altLang="ko-KR" sz="8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/</a:t>
                      </a: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전체 이미지 개수 확인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dirty="0" smtClean="0"/>
                        <a:t>현재 상세 확인중인 이미지의 순서를 표시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현재 순번은 볼드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또는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다릉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칼라를 적용하여 강조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)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현재 확인중인 이미지 순서는 이미지 등록 시 순서와 동일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238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7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이미지 </a:t>
                      </a:r>
                      <a:r>
                        <a:rPr kumimoji="1" lang="ko-KR" altLang="en-US" sz="8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페이지네이션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이미지 등록 시 첨부한 순서대로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썸네일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이미지를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표시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마우스 오버 시 오버 아이콘 표시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쎔네일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이미지 표시 개수는 디자인 화면을 고려하여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개수 설정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34646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7-1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이전 이미지 보기</a:t>
                      </a:r>
                      <a:endParaRPr kumimoji="0" lang="en-US" altLang="ko-KR" sz="800" b="1" dirty="0" smtClean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클릭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5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번영역에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이전 이미지를 표시 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더 이상 이전 이미지가 없을 경우 비활성화 처리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40658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7-2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다음 이미지 보기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클릭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5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번영역에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이전 이미지를 표시 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더 이상 다음 이미지가 없을 경우 비활성화 표시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0131859"/>
                  </a:ext>
                </a:extLst>
              </a:tr>
            </a:tbl>
          </a:graphicData>
        </a:graphic>
      </p:graphicFrame>
      <p:sp>
        <p:nvSpPr>
          <p:cNvPr id="17" name="직사각형 16"/>
          <p:cNvSpPr/>
          <p:nvPr/>
        </p:nvSpPr>
        <p:spPr>
          <a:xfrm>
            <a:off x="1616339" y="1132040"/>
            <a:ext cx="6030748" cy="3947139"/>
          </a:xfrm>
          <a:prstGeom prst="rect">
            <a:avLst/>
          </a:prstGeom>
          <a:solidFill>
            <a:srgbClr val="4670A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smtClean="0"/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7481" y="5656543"/>
            <a:ext cx="940189" cy="986959"/>
          </a:xfrm>
          <a:prstGeom prst="rect">
            <a:avLst/>
          </a:prstGeom>
        </p:spPr>
      </p:pic>
      <p:sp>
        <p:nvSpPr>
          <p:cNvPr id="31" name="직사각형 30"/>
          <p:cNvSpPr/>
          <p:nvPr/>
        </p:nvSpPr>
        <p:spPr>
          <a:xfrm>
            <a:off x="51690" y="5506244"/>
            <a:ext cx="9186314" cy="1171302"/>
          </a:xfrm>
          <a:prstGeom prst="rect">
            <a:avLst/>
          </a:prstGeom>
          <a:solidFill>
            <a:schemeClr val="tx1">
              <a:lumMod val="85000"/>
              <a:lumOff val="15000"/>
              <a:alpha val="78039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smtClean="0"/>
          </a:p>
        </p:txBody>
      </p:sp>
      <p:grpSp>
        <p:nvGrpSpPr>
          <p:cNvPr id="32" name="그룹 31"/>
          <p:cNvGrpSpPr/>
          <p:nvPr/>
        </p:nvGrpSpPr>
        <p:grpSpPr>
          <a:xfrm>
            <a:off x="1616339" y="5607933"/>
            <a:ext cx="6030748" cy="938145"/>
            <a:chOff x="1666206" y="5607934"/>
            <a:chExt cx="5737281" cy="869066"/>
          </a:xfrm>
        </p:grpSpPr>
        <p:sp>
          <p:nvSpPr>
            <p:cNvPr id="33" name="직사각형 32"/>
            <p:cNvSpPr/>
            <p:nvPr/>
          </p:nvSpPr>
          <p:spPr>
            <a:xfrm>
              <a:off x="1666206" y="5607934"/>
              <a:ext cx="1393881" cy="869066"/>
            </a:xfrm>
            <a:prstGeom prst="rect">
              <a:avLst/>
            </a:prstGeom>
            <a:solidFill>
              <a:srgbClr val="4670A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smtClean="0"/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3114006" y="5607934"/>
              <a:ext cx="1393881" cy="869066"/>
            </a:xfrm>
            <a:prstGeom prst="rect">
              <a:avLst/>
            </a:prstGeom>
            <a:solidFill>
              <a:srgbClr val="4670A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smtClean="0"/>
            </a:p>
          </p:txBody>
        </p:sp>
        <p:sp>
          <p:nvSpPr>
            <p:cNvPr id="35" name="직사각형 34"/>
            <p:cNvSpPr/>
            <p:nvPr/>
          </p:nvSpPr>
          <p:spPr>
            <a:xfrm>
              <a:off x="4561806" y="5607934"/>
              <a:ext cx="1393881" cy="869066"/>
            </a:xfrm>
            <a:prstGeom prst="rect">
              <a:avLst/>
            </a:prstGeom>
            <a:solidFill>
              <a:srgbClr val="4670A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smtClean="0"/>
            </a:p>
          </p:txBody>
        </p:sp>
        <p:sp>
          <p:nvSpPr>
            <p:cNvPr id="36" name="직사각형 35"/>
            <p:cNvSpPr/>
            <p:nvPr/>
          </p:nvSpPr>
          <p:spPr>
            <a:xfrm>
              <a:off x="6009606" y="5607934"/>
              <a:ext cx="1393881" cy="869066"/>
            </a:xfrm>
            <a:prstGeom prst="rect">
              <a:avLst/>
            </a:prstGeom>
            <a:solidFill>
              <a:srgbClr val="4670A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smtClean="0"/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6369609" y="433822"/>
            <a:ext cx="1598277" cy="230832"/>
            <a:chOff x="6384033" y="1161763"/>
            <a:chExt cx="1598277" cy="230832"/>
          </a:xfrm>
        </p:grpSpPr>
        <p:pic>
          <p:nvPicPr>
            <p:cNvPr id="38" name="그림 37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84033" y="1207902"/>
              <a:ext cx="157604" cy="157604"/>
            </a:xfrm>
            <a:prstGeom prst="rect">
              <a:avLst/>
            </a:prstGeom>
          </p:spPr>
        </p:pic>
        <p:sp>
          <p:nvSpPr>
            <p:cNvPr id="39" name="TextBox 38"/>
            <p:cNvSpPr txBox="1"/>
            <p:nvPr/>
          </p:nvSpPr>
          <p:spPr>
            <a:xfrm>
              <a:off x="6454328" y="1161763"/>
              <a:ext cx="1527982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u="sng" dirty="0" smtClean="0">
                  <a:solidFill>
                    <a:schemeClr val="bg1">
                      <a:lumMod val="75000"/>
                    </a:schemeClr>
                  </a:solidFill>
                </a:rPr>
                <a:t>다운로드 </a:t>
              </a:r>
              <a:r>
                <a:rPr lang="en-US" altLang="ko-KR" sz="900" dirty="0" smtClean="0">
                  <a:solidFill>
                    <a:schemeClr val="bg1">
                      <a:lumMod val="50000"/>
                    </a:schemeClr>
                  </a:solidFill>
                </a:rPr>
                <a:t>l </a:t>
              </a:r>
              <a:r>
                <a:rPr lang="ko-KR" altLang="en-US" sz="900" u="sng" dirty="0" smtClean="0">
                  <a:solidFill>
                    <a:schemeClr val="bg1">
                      <a:lumMod val="75000"/>
                    </a:schemeClr>
                  </a:solidFill>
                </a:rPr>
                <a:t>전체</a:t>
              </a:r>
              <a:r>
                <a:rPr lang="en-US" altLang="ko-KR" sz="900" u="sng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r>
                <a:rPr lang="ko-KR" altLang="en-US" sz="900" u="sng" dirty="0" smtClean="0">
                  <a:solidFill>
                    <a:schemeClr val="bg1">
                      <a:lumMod val="75000"/>
                    </a:schemeClr>
                  </a:solidFill>
                </a:rPr>
                <a:t>다운로드</a:t>
              </a:r>
              <a:endParaRPr lang="ko-KR" altLang="en-US" sz="900" u="sng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40" name="TextBox 39"/>
          <p:cNvSpPr txBox="1"/>
          <p:nvPr/>
        </p:nvSpPr>
        <p:spPr>
          <a:xfrm>
            <a:off x="4341542" y="443347"/>
            <a:ext cx="45076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 smtClean="0">
                <a:solidFill>
                  <a:schemeClr val="bg1"/>
                </a:solidFill>
              </a:rPr>
              <a:t>1 </a:t>
            </a:r>
            <a:r>
              <a:rPr lang="en-US" altLang="ko-KR" sz="900" dirty="0" smtClean="0">
                <a:solidFill>
                  <a:schemeClr val="bg1">
                    <a:lumMod val="75000"/>
                  </a:schemeClr>
                </a:solidFill>
              </a:rPr>
              <a:t>/ 4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41" name="그룹 143"/>
          <p:cNvGrpSpPr/>
          <p:nvPr/>
        </p:nvGrpSpPr>
        <p:grpSpPr>
          <a:xfrm>
            <a:off x="-10126" y="426674"/>
            <a:ext cx="180000" cy="216000"/>
            <a:chOff x="2704212" y="2825113"/>
            <a:chExt cx="216000" cy="252000"/>
          </a:xfrm>
        </p:grpSpPr>
        <p:sp>
          <p:nvSpPr>
            <p:cNvPr id="42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43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1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44" name="그룹 143"/>
          <p:cNvGrpSpPr/>
          <p:nvPr/>
        </p:nvGrpSpPr>
        <p:grpSpPr>
          <a:xfrm>
            <a:off x="7296788" y="275990"/>
            <a:ext cx="180000" cy="216000"/>
            <a:chOff x="2704212" y="2825113"/>
            <a:chExt cx="216000" cy="252000"/>
          </a:xfrm>
        </p:grpSpPr>
        <p:sp>
          <p:nvSpPr>
            <p:cNvPr id="45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46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2-1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50" name="그룹 143"/>
          <p:cNvGrpSpPr/>
          <p:nvPr/>
        </p:nvGrpSpPr>
        <p:grpSpPr>
          <a:xfrm>
            <a:off x="8929362" y="275990"/>
            <a:ext cx="180000" cy="216000"/>
            <a:chOff x="2704212" y="2825113"/>
            <a:chExt cx="216000" cy="252000"/>
          </a:xfrm>
        </p:grpSpPr>
        <p:sp>
          <p:nvSpPr>
            <p:cNvPr id="51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52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4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53" name="그룹 143"/>
          <p:cNvGrpSpPr/>
          <p:nvPr/>
        </p:nvGrpSpPr>
        <p:grpSpPr>
          <a:xfrm>
            <a:off x="4784651" y="3138831"/>
            <a:ext cx="180000" cy="216000"/>
            <a:chOff x="2704212" y="2825113"/>
            <a:chExt cx="216000" cy="252000"/>
          </a:xfrm>
        </p:grpSpPr>
        <p:sp>
          <p:nvSpPr>
            <p:cNvPr id="54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55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5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56" name="그룹 143"/>
          <p:cNvGrpSpPr/>
          <p:nvPr/>
        </p:nvGrpSpPr>
        <p:grpSpPr>
          <a:xfrm>
            <a:off x="4194992" y="463997"/>
            <a:ext cx="180000" cy="216000"/>
            <a:chOff x="2704212" y="2825113"/>
            <a:chExt cx="216000" cy="252000"/>
          </a:xfrm>
        </p:grpSpPr>
        <p:sp>
          <p:nvSpPr>
            <p:cNvPr id="57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58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6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59" name="그룹 143"/>
          <p:cNvGrpSpPr/>
          <p:nvPr/>
        </p:nvGrpSpPr>
        <p:grpSpPr>
          <a:xfrm>
            <a:off x="545483" y="6073582"/>
            <a:ext cx="180000" cy="216000"/>
            <a:chOff x="2704212" y="2825113"/>
            <a:chExt cx="216000" cy="252000"/>
          </a:xfrm>
        </p:grpSpPr>
        <p:sp>
          <p:nvSpPr>
            <p:cNvPr id="60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61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7-1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65" name="그룹 143"/>
          <p:cNvGrpSpPr/>
          <p:nvPr/>
        </p:nvGrpSpPr>
        <p:grpSpPr>
          <a:xfrm>
            <a:off x="2258927" y="5489554"/>
            <a:ext cx="180000" cy="216000"/>
            <a:chOff x="2704212" y="2825113"/>
            <a:chExt cx="216000" cy="252000"/>
          </a:xfrm>
        </p:grpSpPr>
        <p:sp>
          <p:nvSpPr>
            <p:cNvPr id="66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67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7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68" name="그룹 143"/>
          <p:cNvGrpSpPr/>
          <p:nvPr/>
        </p:nvGrpSpPr>
        <p:grpSpPr>
          <a:xfrm>
            <a:off x="6613452" y="275990"/>
            <a:ext cx="180000" cy="216000"/>
            <a:chOff x="2704212" y="2825113"/>
            <a:chExt cx="216000" cy="252000"/>
          </a:xfrm>
        </p:grpSpPr>
        <p:sp>
          <p:nvSpPr>
            <p:cNvPr id="69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70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2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pic>
        <p:nvPicPr>
          <p:cNvPr id="71" name="Picture 160" descr="1442995944_cursor.png"/>
          <p:cNvPicPr>
            <a:picLocks noChangeAspect="1"/>
          </p:cNvPicPr>
          <p:nvPr/>
        </p:nvPicPr>
        <p:blipFill>
          <a:blip r:embed="rId5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4455" y="6091894"/>
            <a:ext cx="208945" cy="208945"/>
          </a:xfrm>
          <a:prstGeom prst="rect">
            <a:avLst/>
          </a:prstGeom>
        </p:spPr>
      </p:pic>
      <p:pic>
        <p:nvPicPr>
          <p:cNvPr id="30" name="그림 2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98267" y="5622359"/>
            <a:ext cx="940189" cy="986959"/>
          </a:xfrm>
          <a:prstGeom prst="rect">
            <a:avLst/>
          </a:prstGeom>
        </p:spPr>
      </p:pic>
      <p:grpSp>
        <p:nvGrpSpPr>
          <p:cNvPr id="62" name="그룹 143"/>
          <p:cNvGrpSpPr/>
          <p:nvPr/>
        </p:nvGrpSpPr>
        <p:grpSpPr>
          <a:xfrm>
            <a:off x="8540798" y="6042022"/>
            <a:ext cx="180000" cy="216000"/>
            <a:chOff x="2704212" y="2825113"/>
            <a:chExt cx="216000" cy="252000"/>
          </a:xfrm>
        </p:grpSpPr>
        <p:sp>
          <p:nvSpPr>
            <p:cNvPr id="63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600">
                <a:latin typeface="+mn-ea"/>
                <a:ea typeface="+mn-ea"/>
              </a:endParaRPr>
            </a:p>
          </p:txBody>
        </p:sp>
        <p:sp>
          <p:nvSpPr>
            <p:cNvPr id="64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6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7-2</a:t>
              </a:r>
              <a:endParaRPr sz="6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7930725" y="392105"/>
            <a:ext cx="587569" cy="336518"/>
          </a:xfrm>
          <a:prstGeom prst="rect">
            <a:avLst/>
          </a:prstGeom>
          <a:solidFill>
            <a:srgbClr val="0000FF">
              <a:alpha val="54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1000" b="1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삭제</a:t>
            </a:r>
            <a:endParaRPr lang="ko-KR" altLang="en-US" sz="1000" b="1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6370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0951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파일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04263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내용 개체 틀 70"/>
          <p:cNvPicPr>
            <a:picLocks noGrp="1" noChangeAspect="1"/>
          </p:cNvPicPr>
          <p:nvPr>
            <p:ph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9312" y="85725"/>
            <a:ext cx="190500" cy="190500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글 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716145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aphicFrame>
        <p:nvGraphicFramePr>
          <p:cNvPr id="50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1096593"/>
              </p:ext>
            </p:extLst>
          </p:nvPr>
        </p:nvGraphicFramePr>
        <p:xfrm>
          <a:off x="9290533" y="786383"/>
          <a:ext cx="2892502" cy="538869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모든</a:t>
                      </a:r>
                      <a:r>
                        <a:rPr kumimoji="0" lang="en-US" altLang="ko-KR" sz="800" b="1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 </a:t>
                      </a:r>
                      <a:r>
                        <a:rPr kumimoji="0" lang="ko-KR" altLang="en-US" sz="800" b="1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멤버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등록자 정보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디폴트로 모든 멤버로 표시되며 클릭 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모든 멤버 네임을 가나다순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디폴트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)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또는 최근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등록순으로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표시된 멤버 리스트를 레이어 팝업으로 오픈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멥버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리스트에서 멤버 선택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모든 멤버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＂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에서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선택한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멤버 이름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＂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을 표시하고 목록은 선택한 멤버의 파일 정보를 최근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등록순으로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표시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멤버 레이어 팝업에는 최대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5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명까지 표시하고 그 이상일 경우 스크롤 생성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파일 목록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해당 그룹에 등록된 파일 목록 제공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순서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최근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등록순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(Default)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으로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좌에서 우로 정렬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예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가장 최근은 좌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두번째는 우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세번째는촤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순서로 지그재그로 표시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)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표시 정보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등록 파일 아이콘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파일명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파일 크기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이름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소속부서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등록일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플래그 아이콘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더보기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아이콘을 표시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  -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등록일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금일 등록된 파일은 시간 정보만 표시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하루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   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이상 지나면 월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-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일 정보 표시 </a:t>
                      </a:r>
                      <a:endParaRPr kumimoji="1" lang="en-US" altLang="ko-KR" sz="800" baseline="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플래그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마우스 오버 시 플래그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버트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오버 시 오버 칼라 적용 및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튤팁을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표시하고 클릭 시 플래그 표시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.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플래그된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아이콘 클릭 시 플래그 해제 처리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더보기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버튼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PC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저장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스토리지에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저장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삭제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217724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2-2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플래그</a:t>
                      </a:r>
                      <a:endParaRPr kumimoji="0" lang="en-US" altLang="ko-KR" sz="800" b="1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</a:endParaRPr>
                    </a:p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파일 뷰에서 등록 파일에 대한 플래그 처리 가능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플래그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사용자가 적용한 플래그 상태를 표시하고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플러그 해제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플래그된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아이콘을 클릭 시 플래그 해제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. 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마우스 오버 시 오버 칼라 적용 및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튤팁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373879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파입</a:t>
                      </a: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</a:rPr>
                        <a:t> 타입 </a:t>
                      </a:r>
                      <a:r>
                        <a:rPr kumimoji="1" lang="en-US" altLang="ko-KR" sz="800" b="1" dirty="0" smtClean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확인필요</a:t>
                      </a:r>
                      <a:r>
                        <a:rPr kumimoji="1" lang="en-US" altLang="ko-KR" sz="800" b="1" dirty="0" smtClean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파일 타입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모든 파일 타입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(Default),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워드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파워포인트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엑셀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PDF,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한글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이미지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비디오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오디오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기타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파일 타입 클릭 시 위의 파일 타입 레이어 팝업이 표시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되고 선택 시 선택한 파일 타입으로 타이틀 명이 바뀌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고 선택한 파일 타입의 파일과 건 수를 표시 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네비게이션</a:t>
                      </a:r>
                      <a:endParaRPr lang="en-US" altLang="ko-KR" sz="800" b="1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멤버 정보가 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20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개 이상이거나 메인 콘텐츠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콘텐츠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영역 보다 많을 경우 스크롤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생성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0" name="타원 239"/>
          <p:cNvSpPr>
            <a:spLocks noChangeAspect="1"/>
          </p:cNvSpPr>
          <p:nvPr/>
        </p:nvSpPr>
        <p:spPr>
          <a:xfrm>
            <a:off x="2847164" y="154518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38" name="그룹 437"/>
          <p:cNvGrpSpPr/>
          <p:nvPr/>
        </p:nvGrpSpPr>
        <p:grpSpPr>
          <a:xfrm>
            <a:off x="3082245" y="874668"/>
            <a:ext cx="3603039" cy="176117"/>
            <a:chOff x="4079770" y="874786"/>
            <a:chExt cx="3603039" cy="176117"/>
          </a:xfrm>
        </p:grpSpPr>
        <p:sp>
          <p:nvSpPr>
            <p:cNvPr id="454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5" name="텍스트 상자 31"/>
            <p:cNvSpPr txBox="1"/>
            <p:nvPr/>
          </p:nvSpPr>
          <p:spPr>
            <a:xfrm>
              <a:off x="4079770" y="879488"/>
              <a:ext cx="89571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56" name="직선 연결선[R] 7"/>
            <p:cNvCxnSpPr/>
            <p:nvPr/>
          </p:nvCxnSpPr>
          <p:spPr>
            <a:xfrm>
              <a:off x="5209358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457" name="텍스트 상자 31"/>
            <p:cNvSpPr txBox="1"/>
            <p:nvPr/>
          </p:nvSpPr>
          <p:spPr>
            <a:xfrm>
              <a:off x="4986756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8" name="텍스트 상자 31"/>
            <p:cNvSpPr txBox="1"/>
            <p:nvPr/>
          </p:nvSpPr>
          <p:spPr>
            <a:xfrm>
              <a:off x="5437922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9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60" name="텍스트 상자 31"/>
            <p:cNvSpPr txBox="1"/>
            <p:nvPr/>
          </p:nvSpPr>
          <p:spPr>
            <a:xfrm>
              <a:off x="6781701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61" name="텍스트 상자 31"/>
            <p:cNvSpPr txBox="1"/>
            <p:nvPr/>
          </p:nvSpPr>
          <p:spPr>
            <a:xfrm>
              <a:off x="6338538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475" name="TextBox 474"/>
          <p:cNvSpPr txBox="1"/>
          <p:nvPr/>
        </p:nvSpPr>
        <p:spPr>
          <a:xfrm>
            <a:off x="1950985" y="1562366"/>
            <a:ext cx="9126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 파일 타입 </a:t>
            </a:r>
            <a:r>
              <a:rPr lang="ko-KR" altLang="en-US" sz="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▼</a:t>
            </a:r>
            <a:endParaRPr lang="ko-KR" altLang="en-US" sz="6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68" name="모서리가 둥근 직사각형 667"/>
          <p:cNvSpPr/>
          <p:nvPr/>
        </p:nvSpPr>
        <p:spPr>
          <a:xfrm>
            <a:off x="1927187" y="1165556"/>
            <a:ext cx="796857" cy="20360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모든 멤버  </a:t>
            </a:r>
            <a:r>
              <a:rPr lang="ko-KR" altLang="en-US" sz="600" dirty="0" smtClean="0">
                <a:solidFill>
                  <a:schemeClr val="tx1"/>
                </a:solidFill>
              </a:rPr>
              <a:t>▼</a:t>
            </a:r>
          </a:p>
        </p:txBody>
      </p:sp>
      <p:cxnSp>
        <p:nvCxnSpPr>
          <p:cNvPr id="669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465" name="타원 464"/>
          <p:cNvSpPr>
            <a:spLocks noChangeAspect="1"/>
          </p:cNvSpPr>
          <p:nvPr/>
        </p:nvSpPr>
        <p:spPr>
          <a:xfrm>
            <a:off x="1843490" y="1106027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01" name="Rectangle 314"/>
          <p:cNvSpPr/>
          <p:nvPr/>
        </p:nvSpPr>
        <p:spPr>
          <a:xfrm flipV="1">
            <a:off x="1922896" y="1497885"/>
            <a:ext cx="7221620" cy="510196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81" name="타원 180"/>
          <p:cNvSpPr>
            <a:spLocks noChangeAspect="1"/>
          </p:cNvSpPr>
          <p:nvPr/>
        </p:nvSpPr>
        <p:spPr>
          <a:xfrm>
            <a:off x="1774382" y="1400927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3305320" y="1562367"/>
            <a:ext cx="335729" cy="195814"/>
            <a:chOff x="3305320" y="1562367"/>
            <a:chExt cx="335729" cy="195814"/>
          </a:xfrm>
        </p:grpSpPr>
        <p:sp>
          <p:nvSpPr>
            <p:cNvPr id="477" name="TextBox 476"/>
            <p:cNvSpPr txBox="1"/>
            <p:nvPr/>
          </p:nvSpPr>
          <p:spPr>
            <a:xfrm>
              <a:off x="3390412" y="1562367"/>
              <a:ext cx="250637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256</a:t>
              </a:r>
              <a:endPara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pic>
          <p:nvPicPr>
            <p:cNvPr id="3" name="그림 2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05320" y="1596258"/>
              <a:ext cx="85092" cy="109674"/>
            </a:xfrm>
            <a:prstGeom prst="rect">
              <a:avLst/>
            </a:prstGeom>
          </p:spPr>
        </p:pic>
      </p:grpSp>
      <p:grpSp>
        <p:nvGrpSpPr>
          <p:cNvPr id="69" name="그룹 68"/>
          <p:cNvGrpSpPr/>
          <p:nvPr/>
        </p:nvGrpSpPr>
        <p:grpSpPr>
          <a:xfrm>
            <a:off x="1932818" y="1822154"/>
            <a:ext cx="3453828" cy="513721"/>
            <a:chOff x="1932818" y="1822154"/>
            <a:chExt cx="3453828" cy="513721"/>
          </a:xfrm>
        </p:grpSpPr>
        <p:sp>
          <p:nvSpPr>
            <p:cNvPr id="245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24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17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51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8" name="그룹 57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19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19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80" name="그룹 79"/>
          <p:cNvGrpSpPr/>
          <p:nvPr/>
        </p:nvGrpSpPr>
        <p:grpSpPr>
          <a:xfrm>
            <a:off x="1932818" y="2337543"/>
            <a:ext cx="3453828" cy="513721"/>
            <a:chOff x="1932818" y="2337543"/>
            <a:chExt cx="3453828" cy="513721"/>
          </a:xfrm>
        </p:grpSpPr>
        <p:sp>
          <p:nvSpPr>
            <p:cNvPr id="524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25" name="그룹 524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539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40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28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197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198" name="그룹 1197"/>
          <p:cNvGrpSpPr/>
          <p:nvPr/>
        </p:nvGrpSpPr>
        <p:grpSpPr>
          <a:xfrm>
            <a:off x="3336060" y="2471117"/>
            <a:ext cx="1098404" cy="258332"/>
            <a:chOff x="3535531" y="1947415"/>
            <a:chExt cx="1098404" cy="258332"/>
          </a:xfrm>
        </p:grpSpPr>
        <p:sp>
          <p:nvSpPr>
            <p:cNvPr id="1199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0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7" name="그룹 76"/>
          <p:cNvGrpSpPr/>
          <p:nvPr/>
        </p:nvGrpSpPr>
        <p:grpSpPr>
          <a:xfrm>
            <a:off x="1932818" y="2852928"/>
            <a:ext cx="3453828" cy="513721"/>
            <a:chOff x="1932818" y="2852928"/>
            <a:chExt cx="3453828" cy="513721"/>
          </a:xfrm>
        </p:grpSpPr>
        <p:sp>
          <p:nvSpPr>
            <p:cNvPr id="120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10" name="그룹 120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22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2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205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06" name="그룹 1205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207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08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631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1932818" y="4399095"/>
            <a:ext cx="3453828" cy="513721"/>
            <a:chOff x="1932818" y="4399095"/>
            <a:chExt cx="3453828" cy="513721"/>
          </a:xfrm>
        </p:grpSpPr>
        <p:sp>
          <p:nvSpPr>
            <p:cNvPr id="1232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33" name="그룹 1232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1244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45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26" name="그룹 1225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122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29" name="그룹 1228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1230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31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632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1932818" y="3368317"/>
            <a:ext cx="3453828" cy="513721"/>
            <a:chOff x="1932818" y="3368317"/>
            <a:chExt cx="3453828" cy="513721"/>
          </a:xfrm>
        </p:grpSpPr>
        <p:sp>
          <p:nvSpPr>
            <p:cNvPr id="1254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55" name="그룹 1254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1266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67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48" name="그룹 1247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1250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51" name="그룹 1250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1252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53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268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1932818" y="3883709"/>
            <a:ext cx="3453828" cy="513721"/>
            <a:chOff x="1932818" y="3883709"/>
            <a:chExt cx="3453828" cy="513721"/>
          </a:xfrm>
        </p:grpSpPr>
        <p:sp>
          <p:nvSpPr>
            <p:cNvPr id="1277" name="Rectangle 432"/>
            <p:cNvSpPr/>
            <p:nvPr/>
          </p:nvSpPr>
          <p:spPr>
            <a:xfrm>
              <a:off x="1932818" y="3883709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78" name="그룹 1277"/>
            <p:cNvGrpSpPr/>
            <p:nvPr/>
          </p:nvGrpSpPr>
          <p:grpSpPr>
            <a:xfrm>
              <a:off x="2483223" y="3997693"/>
              <a:ext cx="2250631" cy="272624"/>
              <a:chOff x="2625094" y="2085772"/>
              <a:chExt cx="2250631" cy="272624"/>
            </a:xfrm>
          </p:grpSpPr>
          <p:sp>
            <p:nvSpPr>
              <p:cNvPr id="129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9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280" name="Rounded Rectangle 594"/>
            <p:cNvSpPr>
              <a:spLocks noChangeAspect="1"/>
            </p:cNvSpPr>
            <p:nvPr/>
          </p:nvSpPr>
          <p:spPr>
            <a:xfrm>
              <a:off x="2002991" y="3953384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273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4083814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274" name="그룹 1273"/>
          <p:cNvGrpSpPr/>
          <p:nvPr/>
        </p:nvGrpSpPr>
        <p:grpSpPr>
          <a:xfrm>
            <a:off x="3175529" y="4017283"/>
            <a:ext cx="1258935" cy="262179"/>
            <a:chOff x="3375000" y="1947415"/>
            <a:chExt cx="1258935" cy="262179"/>
          </a:xfrm>
        </p:grpSpPr>
        <p:sp>
          <p:nvSpPr>
            <p:cNvPr id="1275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76" name="텍스트 상자 31"/>
            <p:cNvSpPr txBox="1"/>
            <p:nvPr/>
          </p:nvSpPr>
          <p:spPr>
            <a:xfrm>
              <a:off x="3375000" y="2117261"/>
              <a:ext cx="1067403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 algn="r"/>
              <a:r>
                <a:rPr lang="de-DE" altLang="ko-KR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08- 22  10: 39 AM  (3MB)</a:t>
              </a:r>
            </a:p>
          </p:txBody>
        </p:sp>
      </p:grpSp>
      <p:grpSp>
        <p:nvGrpSpPr>
          <p:cNvPr id="72" name="그룹 71"/>
          <p:cNvGrpSpPr/>
          <p:nvPr/>
        </p:nvGrpSpPr>
        <p:grpSpPr>
          <a:xfrm>
            <a:off x="1932818" y="4914488"/>
            <a:ext cx="3453828" cy="513721"/>
            <a:chOff x="1932818" y="4914488"/>
            <a:chExt cx="3453828" cy="513721"/>
          </a:xfrm>
        </p:grpSpPr>
        <p:sp>
          <p:nvSpPr>
            <p:cNvPr id="1300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301" name="그룹 1300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31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31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303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294" name="그룹 1293"/>
            <p:cNvGrpSpPr/>
            <p:nvPr/>
          </p:nvGrpSpPr>
          <p:grpSpPr>
            <a:xfrm>
              <a:off x="3202058" y="5048062"/>
              <a:ext cx="2084936" cy="262179"/>
              <a:chOff x="3210371" y="1947415"/>
              <a:chExt cx="2084936" cy="262179"/>
            </a:xfrm>
          </p:grpSpPr>
          <p:sp>
            <p:nvSpPr>
              <p:cNvPr id="129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97" name="그룹 1296"/>
              <p:cNvGrpSpPr/>
              <p:nvPr/>
            </p:nvGrpSpPr>
            <p:grpSpPr>
              <a:xfrm>
                <a:off x="3210371" y="1947415"/>
                <a:ext cx="1232406" cy="262179"/>
                <a:chOff x="3276834" y="1947415"/>
                <a:chExt cx="1232406" cy="262179"/>
              </a:xfrm>
            </p:grpSpPr>
            <p:sp>
              <p:nvSpPr>
                <p:cNvPr id="1298" name="텍스트 상자 31"/>
                <p:cNvSpPr txBox="1"/>
                <p:nvPr/>
              </p:nvSpPr>
              <p:spPr>
                <a:xfrm>
                  <a:off x="4070631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99" name="텍스트 상자 31"/>
                <p:cNvSpPr txBox="1"/>
                <p:nvPr/>
              </p:nvSpPr>
              <p:spPr>
                <a:xfrm>
                  <a:off x="327683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grpSp>
        <p:nvGrpSpPr>
          <p:cNvPr id="70" name="그룹 69"/>
          <p:cNvGrpSpPr/>
          <p:nvPr/>
        </p:nvGrpSpPr>
        <p:grpSpPr>
          <a:xfrm>
            <a:off x="1932818" y="5429877"/>
            <a:ext cx="3453828" cy="513721"/>
            <a:chOff x="1932818" y="5429877"/>
            <a:chExt cx="3453828" cy="513721"/>
          </a:xfrm>
        </p:grpSpPr>
        <p:sp>
          <p:nvSpPr>
            <p:cNvPr id="1323" name="Rectangle 432"/>
            <p:cNvSpPr/>
            <p:nvPr/>
          </p:nvSpPr>
          <p:spPr>
            <a:xfrm>
              <a:off x="1932818" y="542987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8" name="그룹 67"/>
            <p:cNvGrpSpPr/>
            <p:nvPr/>
          </p:nvGrpSpPr>
          <p:grpSpPr>
            <a:xfrm>
              <a:off x="2002991" y="5499552"/>
              <a:ext cx="3284003" cy="369233"/>
              <a:chOff x="2127686" y="5499552"/>
              <a:chExt cx="3284003" cy="369233"/>
            </a:xfrm>
          </p:grpSpPr>
          <p:grpSp>
            <p:nvGrpSpPr>
              <p:cNvPr id="1324" name="그룹 1323"/>
              <p:cNvGrpSpPr/>
              <p:nvPr/>
            </p:nvGrpSpPr>
            <p:grpSpPr>
              <a:xfrm>
                <a:off x="2607918" y="5543861"/>
                <a:ext cx="2250631" cy="272624"/>
                <a:chOff x="2625094" y="2085772"/>
                <a:chExt cx="2250631" cy="272624"/>
              </a:xfrm>
            </p:grpSpPr>
            <p:sp>
              <p:nvSpPr>
                <p:cNvPr id="1336" name="텍스트 상자 31"/>
                <p:cNvSpPr txBox="1"/>
                <p:nvPr/>
              </p:nvSpPr>
              <p:spPr>
                <a:xfrm>
                  <a:off x="2625094" y="2250674"/>
                  <a:ext cx="1669851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ko-KR" altLang="en-US" sz="700" dirty="0" err="1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강미나</a:t>
                  </a:r>
                  <a:r>
                    <a:rPr kumimoji="1" lang="ko-KR" altLang="en-US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  </a:t>
                  </a:r>
                  <a:r>
                    <a:rPr lang="ko-KR" altLang="en-US" sz="700" dirty="0" err="1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  <a:ea typeface="+mn-ea"/>
                    </a:rPr>
                    <a:t>제품기획팀</a:t>
                  </a:r>
                  <a:r>
                    <a:rPr lang="ko-KR" altLang="en-US" sz="700" dirty="0" smtClean="0">
                      <a:solidFill>
                        <a:schemeClr val="bg1">
                          <a:lumMod val="7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endPara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337" name="텍스트 상자 31"/>
                <p:cNvSpPr txBox="1"/>
                <p:nvPr/>
              </p:nvSpPr>
              <p:spPr>
                <a:xfrm>
                  <a:off x="2625094" y="2085772"/>
                  <a:ext cx="2250631" cy="123111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EGW_</a:t>
                  </a:r>
                  <a:r>
                    <a:rPr lang="ko-KR" altLang="en-US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스퀘어플러스 </a:t>
                  </a:r>
                  <a:r>
                    <a:rPr lang="ko-KR" altLang="en-US" sz="800" b="1" dirty="0" err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화면설계서</a:t>
                  </a:r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_v1.0</a:t>
                  </a:r>
                  <a:endParaRPr kumimoji="1" lang="ko-KR" altLang="en-US" sz="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326" name="Rounded Rectangle 594"/>
              <p:cNvSpPr>
                <a:spLocks noChangeAspect="1"/>
              </p:cNvSpPr>
              <p:nvPr/>
            </p:nvSpPr>
            <p:spPr>
              <a:xfrm>
                <a:off x="2127686" y="5499552"/>
                <a:ext cx="369233" cy="369233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lang="en-US" sz="24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P</a:t>
                </a:r>
                <a:endParaRPr kumimoji="1" lang="en-US" sz="24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1317" name="그룹 1316"/>
              <p:cNvGrpSpPr/>
              <p:nvPr/>
            </p:nvGrpSpPr>
            <p:grpSpPr>
              <a:xfrm>
                <a:off x="3306883" y="5563451"/>
                <a:ext cx="2104806" cy="262179"/>
                <a:chOff x="3315196" y="1947415"/>
                <a:chExt cx="2104806" cy="262179"/>
              </a:xfrm>
            </p:grpSpPr>
            <p:sp>
              <p:nvSpPr>
                <p:cNvPr id="1319" name="Freeform 26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5382841" y="2013946"/>
                  <a:ext cx="37161" cy="144000"/>
                </a:xfrm>
                <a:custGeom>
                  <a:avLst/>
                  <a:gdLst>
                    <a:gd name="T0" fmla="*/ 49 w 104"/>
                    <a:gd name="T1" fmla="*/ 103 h 411"/>
                    <a:gd name="T2" fmla="*/ 103 w 104"/>
                    <a:gd name="T3" fmla="*/ 49 h 411"/>
                    <a:gd name="T4" fmla="*/ 49 w 104"/>
                    <a:gd name="T5" fmla="*/ 0 h 411"/>
                    <a:gd name="T6" fmla="*/ 0 w 104"/>
                    <a:gd name="T7" fmla="*/ 49 h 411"/>
                    <a:gd name="T8" fmla="*/ 49 w 104"/>
                    <a:gd name="T9" fmla="*/ 103 h 411"/>
                    <a:gd name="T10" fmla="*/ 49 w 104"/>
                    <a:gd name="T11" fmla="*/ 152 h 411"/>
                    <a:gd name="T12" fmla="*/ 0 w 104"/>
                    <a:gd name="T13" fmla="*/ 205 h 411"/>
                    <a:gd name="T14" fmla="*/ 49 w 104"/>
                    <a:gd name="T15" fmla="*/ 254 h 411"/>
                    <a:gd name="T16" fmla="*/ 103 w 104"/>
                    <a:gd name="T17" fmla="*/ 205 h 411"/>
                    <a:gd name="T18" fmla="*/ 49 w 104"/>
                    <a:gd name="T19" fmla="*/ 152 h 411"/>
                    <a:gd name="T20" fmla="*/ 49 w 104"/>
                    <a:gd name="T21" fmla="*/ 308 h 411"/>
                    <a:gd name="T22" fmla="*/ 0 w 104"/>
                    <a:gd name="T23" fmla="*/ 357 h 411"/>
                    <a:gd name="T24" fmla="*/ 49 w 104"/>
                    <a:gd name="T25" fmla="*/ 410 h 411"/>
                    <a:gd name="T26" fmla="*/ 103 w 104"/>
                    <a:gd name="T27" fmla="*/ 357 h 411"/>
                    <a:gd name="T28" fmla="*/ 49 w 104"/>
                    <a:gd name="T29" fmla="*/ 308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4" h="411">
                      <a:moveTo>
                        <a:pt x="49" y="103"/>
                      </a:moveTo>
                      <a:cubicBezTo>
                        <a:pt x="78" y="103"/>
                        <a:pt x="103" y="76"/>
                        <a:pt x="103" y="49"/>
                      </a:cubicBezTo>
                      <a:cubicBezTo>
                        <a:pt x="103" y="22"/>
                        <a:pt x="76" y="0"/>
                        <a:pt x="49" y="0"/>
                      </a:cubicBezTo>
                      <a:cubicBezTo>
                        <a:pt x="22" y="0"/>
                        <a:pt x="0" y="22"/>
                        <a:pt x="0" y="49"/>
                      </a:cubicBezTo>
                      <a:cubicBezTo>
                        <a:pt x="0" y="76"/>
                        <a:pt x="25" y="103"/>
                        <a:pt x="49" y="103"/>
                      </a:cubicBezTo>
                      <a:close/>
                      <a:moveTo>
                        <a:pt x="49" y="152"/>
                      </a:moveTo>
                      <a:cubicBezTo>
                        <a:pt x="25" y="152"/>
                        <a:pt x="0" y="176"/>
                        <a:pt x="0" y="205"/>
                      </a:cubicBezTo>
                      <a:cubicBezTo>
                        <a:pt x="0" y="235"/>
                        <a:pt x="22" y="254"/>
                        <a:pt x="49" y="254"/>
                      </a:cubicBezTo>
                      <a:cubicBezTo>
                        <a:pt x="76" y="254"/>
                        <a:pt x="103" y="235"/>
                        <a:pt x="103" y="205"/>
                      </a:cubicBezTo>
                      <a:cubicBezTo>
                        <a:pt x="103" y="176"/>
                        <a:pt x="78" y="152"/>
                        <a:pt x="49" y="152"/>
                      </a:cubicBezTo>
                      <a:close/>
                      <a:moveTo>
                        <a:pt x="49" y="308"/>
                      </a:moveTo>
                      <a:cubicBezTo>
                        <a:pt x="25" y="308"/>
                        <a:pt x="0" y="327"/>
                        <a:pt x="0" y="357"/>
                      </a:cubicBezTo>
                      <a:cubicBezTo>
                        <a:pt x="0" y="386"/>
                        <a:pt x="22" y="410"/>
                        <a:pt x="49" y="410"/>
                      </a:cubicBezTo>
                      <a:cubicBezTo>
                        <a:pt x="76" y="410"/>
                        <a:pt x="103" y="386"/>
                        <a:pt x="103" y="357"/>
                      </a:cubicBezTo>
                      <a:cubicBezTo>
                        <a:pt x="103" y="327"/>
                        <a:pt x="78" y="308"/>
                        <a:pt x="49" y="30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320" name="그룹 1319"/>
                <p:cNvGrpSpPr/>
                <p:nvPr/>
              </p:nvGrpSpPr>
              <p:grpSpPr>
                <a:xfrm>
                  <a:off x="3315196" y="1947415"/>
                  <a:ext cx="1252276" cy="262179"/>
                  <a:chOff x="3381659" y="1947415"/>
                  <a:chExt cx="1252276" cy="262179"/>
                </a:xfrm>
              </p:grpSpPr>
              <p:sp>
                <p:nvSpPr>
                  <p:cNvPr id="1321" name="텍스트 상자 31"/>
                  <p:cNvSpPr txBox="1"/>
                  <p:nvPr/>
                </p:nvSpPr>
                <p:spPr>
                  <a:xfrm>
                    <a:off x="4195326" y="1947415"/>
                    <a:ext cx="438609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algn="r"/>
                    <a:r>
                      <a:rPr kumimoji="1" lang="en-US" altLang="ko-KR" sz="6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rPr>
                      <a:t>5.3 KB</a:t>
                    </a:r>
                    <a:endParaRPr kumimoji="1" lang="ko-KR" altLang="en-US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322" name="텍스트 상자 31"/>
                  <p:cNvSpPr txBox="1"/>
                  <p:nvPr/>
                </p:nvSpPr>
                <p:spPr>
                  <a:xfrm>
                    <a:off x="3381659" y="2117261"/>
                    <a:ext cx="1067403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lvl="0" algn="r"/>
                    <a:r>
                      <a:rPr lang="de-DE" altLang="ko-KR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rPr>
                      <a:t> 08- 22  10: 39 AM  (3MB)</a:t>
                    </a:r>
                  </a:p>
                </p:txBody>
              </p:sp>
            </p:grpSp>
          </p:grpSp>
        </p:grpSp>
      </p:grpSp>
      <p:sp>
        <p:nvSpPr>
          <p:cNvPr id="1523" name="직사각형 1522"/>
          <p:cNvSpPr/>
          <p:nvPr/>
        </p:nvSpPr>
        <p:spPr>
          <a:xfrm>
            <a:off x="4834218" y="1807944"/>
            <a:ext cx="479245" cy="19215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+mn-ea"/>
                <a:ea typeface="+mn-ea"/>
              </a:rPr>
              <a:t>Flag</a:t>
            </a:r>
            <a:endParaRPr lang="ko-KR" altLang="en-US" sz="8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grpSp>
        <p:nvGrpSpPr>
          <p:cNvPr id="653" name="그룹 652"/>
          <p:cNvGrpSpPr/>
          <p:nvPr/>
        </p:nvGrpSpPr>
        <p:grpSpPr>
          <a:xfrm>
            <a:off x="5061116" y="2123702"/>
            <a:ext cx="230889" cy="271299"/>
            <a:chOff x="4867199" y="5870498"/>
            <a:chExt cx="230889" cy="271299"/>
          </a:xfrm>
        </p:grpSpPr>
        <p:sp>
          <p:nvSpPr>
            <p:cNvPr id="654" name="AutoShape 133"/>
            <p:cNvSpPr>
              <a:spLocks/>
            </p:cNvSpPr>
            <p:nvPr/>
          </p:nvSpPr>
          <p:spPr bwMode="auto">
            <a:xfrm>
              <a:off x="4876546" y="5870498"/>
              <a:ext cx="107647" cy="107738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endParaRPr lang="en-US" sz="1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pic>
          <p:nvPicPr>
            <p:cNvPr id="655" name="Picture 4" descr="1442995944_cursor.png"/>
            <p:cNvPicPr>
              <a:picLocks noChangeAspect="1"/>
            </p:cNvPicPr>
            <p:nvPr/>
          </p:nvPicPr>
          <p:blipFill>
            <a:blip r:embed="rId4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67199" y="5910907"/>
              <a:ext cx="230889" cy="230890"/>
            </a:xfrm>
            <a:prstGeom prst="rect">
              <a:avLst/>
            </a:prstGeom>
          </p:spPr>
        </p:pic>
      </p:grpSp>
      <p:grpSp>
        <p:nvGrpSpPr>
          <p:cNvPr id="1524" name="그룹 1523"/>
          <p:cNvGrpSpPr/>
          <p:nvPr/>
        </p:nvGrpSpPr>
        <p:grpSpPr>
          <a:xfrm>
            <a:off x="5214582" y="3161733"/>
            <a:ext cx="230889" cy="271299"/>
            <a:chOff x="4867199" y="5870498"/>
            <a:chExt cx="230889" cy="271299"/>
          </a:xfrm>
        </p:grpSpPr>
        <p:sp>
          <p:nvSpPr>
            <p:cNvPr id="1525" name="AutoShape 133"/>
            <p:cNvSpPr>
              <a:spLocks/>
            </p:cNvSpPr>
            <p:nvPr/>
          </p:nvSpPr>
          <p:spPr bwMode="auto">
            <a:xfrm>
              <a:off x="4876546" y="5870498"/>
              <a:ext cx="107647" cy="107738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endParaRPr lang="en-US" sz="1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pic>
          <p:nvPicPr>
            <p:cNvPr id="1526" name="Picture 4" descr="1442995944_cursor.png"/>
            <p:cNvPicPr>
              <a:picLocks noChangeAspect="1"/>
            </p:cNvPicPr>
            <p:nvPr/>
          </p:nvPicPr>
          <p:blipFill>
            <a:blip r:embed="rId4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67199" y="5910907"/>
              <a:ext cx="230889" cy="230890"/>
            </a:xfrm>
            <a:prstGeom prst="rect">
              <a:avLst/>
            </a:prstGeom>
          </p:spPr>
        </p:pic>
      </p:grpSp>
      <p:sp>
        <p:nvSpPr>
          <p:cNvPr id="1527" name="직사각형 1526"/>
          <p:cNvSpPr/>
          <p:nvPr/>
        </p:nvSpPr>
        <p:spPr>
          <a:xfrm>
            <a:off x="5008785" y="2805472"/>
            <a:ext cx="479245" cy="19215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+mn-ea"/>
                <a:ea typeface="+mn-ea"/>
              </a:rPr>
              <a:t>Move</a:t>
            </a:r>
            <a:endParaRPr lang="ko-KR" altLang="en-US" sz="8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grpSp>
        <p:nvGrpSpPr>
          <p:cNvPr id="1528" name="그룹 1527"/>
          <p:cNvGrpSpPr/>
          <p:nvPr/>
        </p:nvGrpSpPr>
        <p:grpSpPr>
          <a:xfrm>
            <a:off x="1932818" y="5945266"/>
            <a:ext cx="3453828" cy="513721"/>
            <a:chOff x="1932818" y="4914488"/>
            <a:chExt cx="3453828" cy="513721"/>
          </a:xfrm>
        </p:grpSpPr>
        <p:sp>
          <p:nvSpPr>
            <p:cNvPr id="1529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530" name="그룹 1529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53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53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531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532" name="그룹 1531"/>
            <p:cNvGrpSpPr/>
            <p:nvPr/>
          </p:nvGrpSpPr>
          <p:grpSpPr>
            <a:xfrm>
              <a:off x="3182188" y="5048062"/>
              <a:ext cx="2104806" cy="262179"/>
              <a:chOff x="3190501" y="1947415"/>
              <a:chExt cx="2104806" cy="262179"/>
            </a:xfrm>
          </p:grpSpPr>
          <p:sp>
            <p:nvSpPr>
              <p:cNvPr id="153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535" name="그룹 1534"/>
              <p:cNvGrpSpPr/>
              <p:nvPr/>
            </p:nvGrpSpPr>
            <p:grpSpPr>
              <a:xfrm>
                <a:off x="3190501" y="1947415"/>
                <a:ext cx="1260763" cy="262179"/>
                <a:chOff x="3256964" y="1947415"/>
                <a:chExt cx="1260763" cy="262179"/>
              </a:xfrm>
            </p:grpSpPr>
            <p:sp>
              <p:nvSpPr>
                <p:cNvPr id="1536" name="텍스트 상자 31"/>
                <p:cNvSpPr txBox="1"/>
                <p:nvPr/>
              </p:nvSpPr>
              <p:spPr>
                <a:xfrm>
                  <a:off x="407911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537" name="텍스트 상자 31"/>
                <p:cNvSpPr txBox="1"/>
                <p:nvPr/>
              </p:nvSpPr>
              <p:spPr>
                <a:xfrm>
                  <a:off x="325696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sp>
        <p:nvSpPr>
          <p:cNvPr id="1673" name="Rounded Rectangle 392"/>
          <p:cNvSpPr/>
          <p:nvPr/>
        </p:nvSpPr>
        <p:spPr>
          <a:xfrm rot="5400000">
            <a:off x="7730725" y="3238881"/>
            <a:ext cx="2851121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74" name="타원 1673"/>
          <p:cNvSpPr>
            <a:spLocks noChangeAspect="1"/>
          </p:cNvSpPr>
          <p:nvPr/>
        </p:nvSpPr>
        <p:spPr>
          <a:xfrm>
            <a:off x="9123273" y="170312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675" name="그룹 1674"/>
          <p:cNvGrpSpPr/>
          <p:nvPr/>
        </p:nvGrpSpPr>
        <p:grpSpPr>
          <a:xfrm>
            <a:off x="5515604" y="1822154"/>
            <a:ext cx="3453828" cy="513721"/>
            <a:chOff x="1932818" y="1822154"/>
            <a:chExt cx="3453828" cy="513721"/>
          </a:xfrm>
        </p:grpSpPr>
        <p:sp>
          <p:nvSpPr>
            <p:cNvPr id="1676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77" name="그룹 1676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168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8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78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679" name="그룹 167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168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682" name="그룹 1681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68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68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687" name="그룹 1686"/>
          <p:cNvGrpSpPr/>
          <p:nvPr/>
        </p:nvGrpSpPr>
        <p:grpSpPr>
          <a:xfrm>
            <a:off x="5515604" y="2337543"/>
            <a:ext cx="3453828" cy="513721"/>
            <a:chOff x="1932818" y="2337543"/>
            <a:chExt cx="3453828" cy="513721"/>
          </a:xfrm>
        </p:grpSpPr>
        <p:sp>
          <p:nvSpPr>
            <p:cNvPr id="1688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89" name="그룹 1688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169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9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90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692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695" name="그룹 1694"/>
          <p:cNvGrpSpPr/>
          <p:nvPr/>
        </p:nvGrpSpPr>
        <p:grpSpPr>
          <a:xfrm>
            <a:off x="6918846" y="2471117"/>
            <a:ext cx="1098404" cy="258332"/>
            <a:chOff x="3535531" y="1947415"/>
            <a:chExt cx="1098404" cy="258332"/>
          </a:xfrm>
        </p:grpSpPr>
        <p:sp>
          <p:nvSpPr>
            <p:cNvPr id="1696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97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98" name="그룹 1697"/>
          <p:cNvGrpSpPr/>
          <p:nvPr/>
        </p:nvGrpSpPr>
        <p:grpSpPr>
          <a:xfrm>
            <a:off x="5515604" y="2852928"/>
            <a:ext cx="3453828" cy="513721"/>
            <a:chOff x="1932818" y="2852928"/>
            <a:chExt cx="3453828" cy="513721"/>
          </a:xfrm>
        </p:grpSpPr>
        <p:sp>
          <p:nvSpPr>
            <p:cNvPr id="169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00" name="그룹 169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70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0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70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05" name="그룹 1704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706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07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02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10" name="그룹 1709"/>
          <p:cNvGrpSpPr/>
          <p:nvPr/>
        </p:nvGrpSpPr>
        <p:grpSpPr>
          <a:xfrm>
            <a:off x="5515604" y="4399095"/>
            <a:ext cx="3453828" cy="513721"/>
            <a:chOff x="1932818" y="4399095"/>
            <a:chExt cx="3453828" cy="513721"/>
          </a:xfrm>
        </p:grpSpPr>
        <p:sp>
          <p:nvSpPr>
            <p:cNvPr id="1711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12" name="그룹 1711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172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2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13" name="그룹 1712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171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17" name="그룹 1716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1718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19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1714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22" name="그룹 1721"/>
          <p:cNvGrpSpPr/>
          <p:nvPr/>
        </p:nvGrpSpPr>
        <p:grpSpPr>
          <a:xfrm>
            <a:off x="5515604" y="3368317"/>
            <a:ext cx="3453828" cy="513721"/>
            <a:chOff x="1932818" y="3368317"/>
            <a:chExt cx="3453828" cy="513721"/>
          </a:xfrm>
        </p:grpSpPr>
        <p:sp>
          <p:nvSpPr>
            <p:cNvPr id="1723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24" name="그룹 1723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173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3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25" name="그룹 1724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172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29" name="그룹 1728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1730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31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26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34" name="그룹 1733"/>
          <p:cNvGrpSpPr/>
          <p:nvPr/>
        </p:nvGrpSpPr>
        <p:grpSpPr>
          <a:xfrm>
            <a:off x="5515604" y="3883709"/>
            <a:ext cx="3453828" cy="513721"/>
            <a:chOff x="1932818" y="3883709"/>
            <a:chExt cx="3453828" cy="513721"/>
          </a:xfrm>
        </p:grpSpPr>
        <p:sp>
          <p:nvSpPr>
            <p:cNvPr id="1735" name="Rectangle 432"/>
            <p:cNvSpPr/>
            <p:nvPr/>
          </p:nvSpPr>
          <p:spPr>
            <a:xfrm>
              <a:off x="1932818" y="3883709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36" name="그룹 1735"/>
            <p:cNvGrpSpPr/>
            <p:nvPr/>
          </p:nvGrpSpPr>
          <p:grpSpPr>
            <a:xfrm>
              <a:off x="2483223" y="3997693"/>
              <a:ext cx="2250631" cy="272624"/>
              <a:chOff x="2625094" y="2085772"/>
              <a:chExt cx="2250631" cy="272624"/>
            </a:xfrm>
          </p:grpSpPr>
          <p:sp>
            <p:nvSpPr>
              <p:cNvPr id="174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4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37" name="Rounded Rectangle 594"/>
            <p:cNvSpPr>
              <a:spLocks noChangeAspect="1"/>
            </p:cNvSpPr>
            <p:nvPr/>
          </p:nvSpPr>
          <p:spPr>
            <a:xfrm>
              <a:off x="2002991" y="3953384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739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4083814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42" name="그룹 1741"/>
          <p:cNvGrpSpPr/>
          <p:nvPr/>
        </p:nvGrpSpPr>
        <p:grpSpPr>
          <a:xfrm>
            <a:off x="6758315" y="4017283"/>
            <a:ext cx="1258935" cy="262179"/>
            <a:chOff x="3375000" y="1947415"/>
            <a:chExt cx="1258935" cy="262179"/>
          </a:xfrm>
        </p:grpSpPr>
        <p:sp>
          <p:nvSpPr>
            <p:cNvPr id="1743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44" name="텍스트 상자 31"/>
            <p:cNvSpPr txBox="1"/>
            <p:nvPr/>
          </p:nvSpPr>
          <p:spPr>
            <a:xfrm>
              <a:off x="3375000" y="2117261"/>
              <a:ext cx="1067403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 algn="r"/>
              <a:r>
                <a:rPr lang="de-DE" altLang="ko-KR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08- 22  10: 39 AM  (3MB)</a:t>
              </a:r>
            </a:p>
          </p:txBody>
        </p:sp>
      </p:grpSp>
      <p:grpSp>
        <p:nvGrpSpPr>
          <p:cNvPr id="1745" name="그룹 1744"/>
          <p:cNvGrpSpPr/>
          <p:nvPr/>
        </p:nvGrpSpPr>
        <p:grpSpPr>
          <a:xfrm>
            <a:off x="5515604" y="4914488"/>
            <a:ext cx="3453828" cy="513721"/>
            <a:chOff x="1932818" y="4914488"/>
            <a:chExt cx="3453828" cy="513721"/>
          </a:xfrm>
        </p:grpSpPr>
        <p:sp>
          <p:nvSpPr>
            <p:cNvPr id="1746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47" name="그룹 1746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75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5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48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749" name="그룹 1748"/>
            <p:cNvGrpSpPr/>
            <p:nvPr/>
          </p:nvGrpSpPr>
          <p:grpSpPr>
            <a:xfrm>
              <a:off x="3202058" y="5048062"/>
              <a:ext cx="2084936" cy="262179"/>
              <a:chOff x="3210371" y="1947415"/>
              <a:chExt cx="2084936" cy="262179"/>
            </a:xfrm>
          </p:grpSpPr>
          <p:sp>
            <p:nvSpPr>
              <p:cNvPr id="175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52" name="그룹 1751"/>
              <p:cNvGrpSpPr/>
              <p:nvPr/>
            </p:nvGrpSpPr>
            <p:grpSpPr>
              <a:xfrm>
                <a:off x="3210371" y="1947415"/>
                <a:ext cx="1232406" cy="262179"/>
                <a:chOff x="3276834" y="1947415"/>
                <a:chExt cx="1232406" cy="262179"/>
              </a:xfrm>
            </p:grpSpPr>
            <p:sp>
              <p:nvSpPr>
                <p:cNvPr id="1753" name="텍스트 상자 31"/>
                <p:cNvSpPr txBox="1"/>
                <p:nvPr/>
              </p:nvSpPr>
              <p:spPr>
                <a:xfrm>
                  <a:off x="4070631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54" name="텍스트 상자 31"/>
                <p:cNvSpPr txBox="1"/>
                <p:nvPr/>
              </p:nvSpPr>
              <p:spPr>
                <a:xfrm>
                  <a:off x="327683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grpSp>
        <p:nvGrpSpPr>
          <p:cNvPr id="1757" name="그룹 1756"/>
          <p:cNvGrpSpPr/>
          <p:nvPr/>
        </p:nvGrpSpPr>
        <p:grpSpPr>
          <a:xfrm>
            <a:off x="5515604" y="5429877"/>
            <a:ext cx="3453828" cy="513721"/>
            <a:chOff x="1932818" y="5429877"/>
            <a:chExt cx="3453828" cy="513721"/>
          </a:xfrm>
        </p:grpSpPr>
        <p:sp>
          <p:nvSpPr>
            <p:cNvPr id="1758" name="Rectangle 432"/>
            <p:cNvSpPr/>
            <p:nvPr/>
          </p:nvSpPr>
          <p:spPr>
            <a:xfrm>
              <a:off x="1932818" y="542987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59" name="그룹 1758"/>
            <p:cNvGrpSpPr/>
            <p:nvPr/>
          </p:nvGrpSpPr>
          <p:grpSpPr>
            <a:xfrm>
              <a:off x="2002991" y="5499552"/>
              <a:ext cx="3284003" cy="369233"/>
              <a:chOff x="2127686" y="5499552"/>
              <a:chExt cx="3284003" cy="369233"/>
            </a:xfrm>
          </p:grpSpPr>
          <p:grpSp>
            <p:nvGrpSpPr>
              <p:cNvPr id="1760" name="그룹 1759"/>
              <p:cNvGrpSpPr/>
              <p:nvPr/>
            </p:nvGrpSpPr>
            <p:grpSpPr>
              <a:xfrm>
                <a:off x="2607918" y="5543861"/>
                <a:ext cx="2250631" cy="272624"/>
                <a:chOff x="2625094" y="2085772"/>
                <a:chExt cx="2250631" cy="272624"/>
              </a:xfrm>
            </p:grpSpPr>
            <p:sp>
              <p:nvSpPr>
                <p:cNvPr id="1768" name="텍스트 상자 31"/>
                <p:cNvSpPr txBox="1"/>
                <p:nvPr/>
              </p:nvSpPr>
              <p:spPr>
                <a:xfrm>
                  <a:off x="2625094" y="2250674"/>
                  <a:ext cx="1669851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ko-KR" altLang="en-US" sz="700" dirty="0" err="1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강미나</a:t>
                  </a:r>
                  <a:r>
                    <a:rPr kumimoji="1" lang="ko-KR" altLang="en-US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  </a:t>
                  </a:r>
                  <a:r>
                    <a:rPr lang="ko-KR" altLang="en-US" sz="700" dirty="0" err="1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  <a:ea typeface="+mn-ea"/>
                    </a:rPr>
                    <a:t>제품기획팀</a:t>
                  </a:r>
                  <a:r>
                    <a:rPr lang="ko-KR" altLang="en-US" sz="700" dirty="0" smtClean="0">
                      <a:solidFill>
                        <a:schemeClr val="bg1">
                          <a:lumMod val="7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endPara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69" name="텍스트 상자 31"/>
                <p:cNvSpPr txBox="1"/>
                <p:nvPr/>
              </p:nvSpPr>
              <p:spPr>
                <a:xfrm>
                  <a:off x="2625094" y="2085772"/>
                  <a:ext cx="2250631" cy="123111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EGW_</a:t>
                  </a:r>
                  <a:r>
                    <a:rPr lang="ko-KR" altLang="en-US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스퀘어플러스 </a:t>
                  </a:r>
                  <a:r>
                    <a:rPr lang="ko-KR" altLang="en-US" sz="800" b="1" dirty="0" err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화면설계서</a:t>
                  </a:r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_v1.0</a:t>
                  </a:r>
                  <a:endParaRPr kumimoji="1" lang="ko-KR" altLang="en-US" sz="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761" name="Rounded Rectangle 594"/>
              <p:cNvSpPr>
                <a:spLocks noChangeAspect="1"/>
              </p:cNvSpPr>
              <p:nvPr/>
            </p:nvSpPr>
            <p:spPr>
              <a:xfrm>
                <a:off x="2127686" y="5499552"/>
                <a:ext cx="369233" cy="369233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lang="en-US" sz="24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P</a:t>
                </a:r>
                <a:endParaRPr kumimoji="1" lang="en-US" sz="24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1762" name="그룹 1761"/>
              <p:cNvGrpSpPr/>
              <p:nvPr/>
            </p:nvGrpSpPr>
            <p:grpSpPr>
              <a:xfrm>
                <a:off x="3306883" y="5563451"/>
                <a:ext cx="2104806" cy="262179"/>
                <a:chOff x="3315196" y="1947415"/>
                <a:chExt cx="2104806" cy="262179"/>
              </a:xfrm>
            </p:grpSpPr>
            <p:sp>
              <p:nvSpPr>
                <p:cNvPr id="1764" name="Freeform 26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5382841" y="2013946"/>
                  <a:ext cx="37161" cy="144000"/>
                </a:xfrm>
                <a:custGeom>
                  <a:avLst/>
                  <a:gdLst>
                    <a:gd name="T0" fmla="*/ 49 w 104"/>
                    <a:gd name="T1" fmla="*/ 103 h 411"/>
                    <a:gd name="T2" fmla="*/ 103 w 104"/>
                    <a:gd name="T3" fmla="*/ 49 h 411"/>
                    <a:gd name="T4" fmla="*/ 49 w 104"/>
                    <a:gd name="T5" fmla="*/ 0 h 411"/>
                    <a:gd name="T6" fmla="*/ 0 w 104"/>
                    <a:gd name="T7" fmla="*/ 49 h 411"/>
                    <a:gd name="T8" fmla="*/ 49 w 104"/>
                    <a:gd name="T9" fmla="*/ 103 h 411"/>
                    <a:gd name="T10" fmla="*/ 49 w 104"/>
                    <a:gd name="T11" fmla="*/ 152 h 411"/>
                    <a:gd name="T12" fmla="*/ 0 w 104"/>
                    <a:gd name="T13" fmla="*/ 205 h 411"/>
                    <a:gd name="T14" fmla="*/ 49 w 104"/>
                    <a:gd name="T15" fmla="*/ 254 h 411"/>
                    <a:gd name="T16" fmla="*/ 103 w 104"/>
                    <a:gd name="T17" fmla="*/ 205 h 411"/>
                    <a:gd name="T18" fmla="*/ 49 w 104"/>
                    <a:gd name="T19" fmla="*/ 152 h 411"/>
                    <a:gd name="T20" fmla="*/ 49 w 104"/>
                    <a:gd name="T21" fmla="*/ 308 h 411"/>
                    <a:gd name="T22" fmla="*/ 0 w 104"/>
                    <a:gd name="T23" fmla="*/ 357 h 411"/>
                    <a:gd name="T24" fmla="*/ 49 w 104"/>
                    <a:gd name="T25" fmla="*/ 410 h 411"/>
                    <a:gd name="T26" fmla="*/ 103 w 104"/>
                    <a:gd name="T27" fmla="*/ 357 h 411"/>
                    <a:gd name="T28" fmla="*/ 49 w 104"/>
                    <a:gd name="T29" fmla="*/ 308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4" h="411">
                      <a:moveTo>
                        <a:pt x="49" y="103"/>
                      </a:moveTo>
                      <a:cubicBezTo>
                        <a:pt x="78" y="103"/>
                        <a:pt x="103" y="76"/>
                        <a:pt x="103" y="49"/>
                      </a:cubicBezTo>
                      <a:cubicBezTo>
                        <a:pt x="103" y="22"/>
                        <a:pt x="76" y="0"/>
                        <a:pt x="49" y="0"/>
                      </a:cubicBezTo>
                      <a:cubicBezTo>
                        <a:pt x="22" y="0"/>
                        <a:pt x="0" y="22"/>
                        <a:pt x="0" y="49"/>
                      </a:cubicBezTo>
                      <a:cubicBezTo>
                        <a:pt x="0" y="76"/>
                        <a:pt x="25" y="103"/>
                        <a:pt x="49" y="103"/>
                      </a:cubicBezTo>
                      <a:close/>
                      <a:moveTo>
                        <a:pt x="49" y="152"/>
                      </a:moveTo>
                      <a:cubicBezTo>
                        <a:pt x="25" y="152"/>
                        <a:pt x="0" y="176"/>
                        <a:pt x="0" y="205"/>
                      </a:cubicBezTo>
                      <a:cubicBezTo>
                        <a:pt x="0" y="235"/>
                        <a:pt x="22" y="254"/>
                        <a:pt x="49" y="254"/>
                      </a:cubicBezTo>
                      <a:cubicBezTo>
                        <a:pt x="76" y="254"/>
                        <a:pt x="103" y="235"/>
                        <a:pt x="103" y="205"/>
                      </a:cubicBezTo>
                      <a:cubicBezTo>
                        <a:pt x="103" y="176"/>
                        <a:pt x="78" y="152"/>
                        <a:pt x="49" y="152"/>
                      </a:cubicBezTo>
                      <a:close/>
                      <a:moveTo>
                        <a:pt x="49" y="308"/>
                      </a:moveTo>
                      <a:cubicBezTo>
                        <a:pt x="25" y="308"/>
                        <a:pt x="0" y="327"/>
                        <a:pt x="0" y="357"/>
                      </a:cubicBezTo>
                      <a:cubicBezTo>
                        <a:pt x="0" y="386"/>
                        <a:pt x="22" y="410"/>
                        <a:pt x="49" y="410"/>
                      </a:cubicBezTo>
                      <a:cubicBezTo>
                        <a:pt x="76" y="410"/>
                        <a:pt x="103" y="386"/>
                        <a:pt x="103" y="357"/>
                      </a:cubicBezTo>
                      <a:cubicBezTo>
                        <a:pt x="103" y="327"/>
                        <a:pt x="78" y="308"/>
                        <a:pt x="49" y="30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765" name="그룹 1764"/>
                <p:cNvGrpSpPr/>
                <p:nvPr/>
              </p:nvGrpSpPr>
              <p:grpSpPr>
                <a:xfrm>
                  <a:off x="3315196" y="1947415"/>
                  <a:ext cx="1252276" cy="262179"/>
                  <a:chOff x="3381659" y="1947415"/>
                  <a:chExt cx="1252276" cy="262179"/>
                </a:xfrm>
              </p:grpSpPr>
              <p:sp>
                <p:nvSpPr>
                  <p:cNvPr id="1766" name="텍스트 상자 31"/>
                  <p:cNvSpPr txBox="1"/>
                  <p:nvPr/>
                </p:nvSpPr>
                <p:spPr>
                  <a:xfrm>
                    <a:off x="4195326" y="1947415"/>
                    <a:ext cx="438609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algn="r"/>
                    <a:r>
                      <a:rPr kumimoji="1" lang="en-US" altLang="ko-KR" sz="6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rPr>
                      <a:t>5.3 KB</a:t>
                    </a:r>
                    <a:endParaRPr kumimoji="1" lang="ko-KR" altLang="en-US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767" name="텍스트 상자 31"/>
                  <p:cNvSpPr txBox="1"/>
                  <p:nvPr/>
                </p:nvSpPr>
                <p:spPr>
                  <a:xfrm>
                    <a:off x="3381659" y="2117261"/>
                    <a:ext cx="1067403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lvl="0" algn="r"/>
                    <a:r>
                      <a:rPr lang="de-DE" altLang="ko-KR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rPr>
                      <a:t> 08- 22  10: 39 AM  (3MB)</a:t>
                    </a:r>
                  </a:p>
                </p:txBody>
              </p:sp>
            </p:grpSp>
          </p:grpSp>
        </p:grpSp>
      </p:grpSp>
      <p:grpSp>
        <p:nvGrpSpPr>
          <p:cNvPr id="1778" name="그룹 1777"/>
          <p:cNvGrpSpPr/>
          <p:nvPr/>
        </p:nvGrpSpPr>
        <p:grpSpPr>
          <a:xfrm>
            <a:off x="5515604" y="5945266"/>
            <a:ext cx="3453828" cy="513721"/>
            <a:chOff x="1932818" y="4914488"/>
            <a:chExt cx="3453828" cy="513721"/>
          </a:xfrm>
        </p:grpSpPr>
        <p:sp>
          <p:nvSpPr>
            <p:cNvPr id="1779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80" name="그룹 1779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78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8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81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782" name="그룹 1781"/>
            <p:cNvGrpSpPr/>
            <p:nvPr/>
          </p:nvGrpSpPr>
          <p:grpSpPr>
            <a:xfrm>
              <a:off x="3182188" y="5048062"/>
              <a:ext cx="2104806" cy="262179"/>
              <a:chOff x="3190501" y="1947415"/>
              <a:chExt cx="2104806" cy="262179"/>
            </a:xfrm>
          </p:grpSpPr>
          <p:sp>
            <p:nvSpPr>
              <p:cNvPr id="178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85" name="그룹 1784"/>
              <p:cNvGrpSpPr/>
              <p:nvPr/>
            </p:nvGrpSpPr>
            <p:grpSpPr>
              <a:xfrm>
                <a:off x="3190501" y="1947415"/>
                <a:ext cx="1260763" cy="262179"/>
                <a:chOff x="3256964" y="1947415"/>
                <a:chExt cx="1260763" cy="262179"/>
              </a:xfrm>
            </p:grpSpPr>
            <p:sp>
              <p:nvSpPr>
                <p:cNvPr id="1786" name="텍스트 상자 31"/>
                <p:cNvSpPr txBox="1"/>
                <p:nvPr/>
              </p:nvSpPr>
              <p:spPr>
                <a:xfrm>
                  <a:off x="407911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87" name="텍스트 상자 31"/>
                <p:cNvSpPr txBox="1"/>
                <p:nvPr/>
              </p:nvSpPr>
              <p:spPr>
                <a:xfrm>
                  <a:off x="325696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sp>
        <p:nvSpPr>
          <p:cNvPr id="1790" name="타원 1789"/>
          <p:cNvSpPr>
            <a:spLocks noChangeAspect="1"/>
          </p:cNvSpPr>
          <p:nvPr/>
        </p:nvSpPr>
        <p:spPr>
          <a:xfrm>
            <a:off x="4808968" y="204394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91" name="타원 1790"/>
          <p:cNvSpPr>
            <a:spLocks noChangeAspect="1"/>
          </p:cNvSpPr>
          <p:nvPr/>
        </p:nvSpPr>
        <p:spPr>
          <a:xfrm>
            <a:off x="4990255" y="314953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0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614930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561862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51213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45906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4085555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357353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2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614930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561862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7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51213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8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45906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4085555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0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57353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1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4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파일</a:t>
            </a:r>
            <a:r>
              <a:rPr kumimoji="0" lang="en-US" altLang="ko-KR" smtClean="0"/>
              <a:t>(1/3)</a:t>
            </a:r>
            <a:endParaRPr kumimoji="0" lang="ko-KR" altLang="en-US" dirty="0"/>
          </a:p>
        </p:txBody>
      </p:sp>
      <p:sp>
        <p:nvSpPr>
          <p:cNvPr id="325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파일</a:t>
            </a:r>
            <a:endParaRPr kumimoji="0" lang="ko-KR" altLang="en-US" dirty="0"/>
          </a:p>
        </p:txBody>
      </p:sp>
      <p:sp>
        <p:nvSpPr>
          <p:cNvPr id="326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SQ5.2.3</a:t>
            </a:r>
            <a:endParaRPr kumimoji="0" lang="ko-KR" altLang="en-US" dirty="0"/>
          </a:p>
        </p:txBody>
      </p:sp>
      <p:sp>
        <p:nvSpPr>
          <p:cNvPr id="305" name="TextBox 304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29340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내용 개체 틀 70"/>
          <p:cNvPicPr>
            <a:picLocks noGrp="1" noChangeAspect="1"/>
          </p:cNvPicPr>
          <p:nvPr>
            <p:ph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9312" y="85725"/>
            <a:ext cx="190500" cy="190500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글 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716145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aphicFrame>
        <p:nvGraphicFramePr>
          <p:cNvPr id="50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7255983"/>
              </p:ext>
            </p:extLst>
          </p:nvPr>
        </p:nvGraphicFramePr>
        <p:xfrm>
          <a:off x="9290533" y="786383"/>
          <a:ext cx="2892502" cy="242197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kern="1200" dirty="0" err="1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더보기</a:t>
                      </a:r>
                      <a:r>
                        <a:rPr kumimoji="0"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 메뉴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레이어 팝업 메뉴 표시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다운로드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스토리지에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저장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플래그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플래그 해제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) /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삭제 메뉴를 표시함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다운로드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PC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에 저장하는 기능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스토리지에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저장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스토리지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&gt;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파일함에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저장하는 기능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-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스토리지에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저장 버튼 클릭 시 스토리지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&gt;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파일함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선택 창 오픈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플래그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플래그 처리된 경우 플러그 해제 메뉴가 표시되며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플래근 안된 파일인 경우 플래그로 표시됨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삭제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등록된 파일을 삭제하는 기능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.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b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-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클릭 시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삭제 메뉴의 경우 등록자에게만 표시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-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클릭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정말로 이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파일을 삭제하시겠습니까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?</a:t>
                      </a:r>
                      <a:b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            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등록된 메시지와 댓글은 삭제되지 않습니다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.”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라는 안내 메시지를 오픈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.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안내 메시지의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예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버튼 클릭 시 안내 메시지 창은 닫히고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해당 파일 정보 목록에서 삭제 처리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75" name="TextBox 474"/>
          <p:cNvSpPr txBox="1"/>
          <p:nvPr/>
        </p:nvSpPr>
        <p:spPr>
          <a:xfrm>
            <a:off x="1950985" y="1562366"/>
            <a:ext cx="9126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 파일 타입 </a:t>
            </a:r>
            <a:r>
              <a:rPr lang="ko-KR" altLang="en-US" sz="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▼</a:t>
            </a:r>
            <a:endParaRPr lang="ko-KR" altLang="en-US" sz="6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68" name="모서리가 둥근 직사각형 667"/>
          <p:cNvSpPr/>
          <p:nvPr/>
        </p:nvSpPr>
        <p:spPr>
          <a:xfrm>
            <a:off x="1927187" y="1165556"/>
            <a:ext cx="796857" cy="20360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모든 멤버  </a:t>
            </a:r>
            <a:r>
              <a:rPr lang="ko-KR" altLang="en-US" sz="600" dirty="0" smtClean="0">
                <a:solidFill>
                  <a:schemeClr val="tx1"/>
                </a:solidFill>
              </a:rPr>
              <a:t>▼</a:t>
            </a:r>
          </a:p>
        </p:txBody>
      </p:sp>
      <p:cxnSp>
        <p:nvCxnSpPr>
          <p:cNvPr id="669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1101" name="Rectangle 314"/>
          <p:cNvSpPr/>
          <p:nvPr/>
        </p:nvSpPr>
        <p:spPr>
          <a:xfrm flipV="1">
            <a:off x="4850101" y="2763553"/>
            <a:ext cx="529264" cy="582614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3305320" y="1562367"/>
            <a:ext cx="335729" cy="195814"/>
            <a:chOff x="3305320" y="1562367"/>
            <a:chExt cx="335729" cy="195814"/>
          </a:xfrm>
        </p:grpSpPr>
        <p:sp>
          <p:nvSpPr>
            <p:cNvPr id="477" name="TextBox 476"/>
            <p:cNvSpPr txBox="1"/>
            <p:nvPr/>
          </p:nvSpPr>
          <p:spPr>
            <a:xfrm>
              <a:off x="3390412" y="1562367"/>
              <a:ext cx="250637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256</a:t>
              </a:r>
              <a:endPara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pic>
          <p:nvPicPr>
            <p:cNvPr id="3" name="그림 2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05320" y="1596258"/>
              <a:ext cx="85092" cy="109674"/>
            </a:xfrm>
            <a:prstGeom prst="rect">
              <a:avLst/>
            </a:prstGeom>
          </p:spPr>
        </p:pic>
      </p:grpSp>
      <p:grpSp>
        <p:nvGrpSpPr>
          <p:cNvPr id="69" name="그룹 68"/>
          <p:cNvGrpSpPr/>
          <p:nvPr/>
        </p:nvGrpSpPr>
        <p:grpSpPr>
          <a:xfrm>
            <a:off x="1932818" y="1822154"/>
            <a:ext cx="3453828" cy="513721"/>
            <a:chOff x="1932818" y="1822154"/>
            <a:chExt cx="3453828" cy="513721"/>
          </a:xfrm>
        </p:grpSpPr>
        <p:sp>
          <p:nvSpPr>
            <p:cNvPr id="245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24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17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51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8" name="그룹 57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19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19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80" name="그룹 79"/>
          <p:cNvGrpSpPr/>
          <p:nvPr/>
        </p:nvGrpSpPr>
        <p:grpSpPr>
          <a:xfrm>
            <a:off x="1932818" y="2337543"/>
            <a:ext cx="3453828" cy="513721"/>
            <a:chOff x="1932818" y="2337543"/>
            <a:chExt cx="3453828" cy="513721"/>
          </a:xfrm>
        </p:grpSpPr>
        <p:sp>
          <p:nvSpPr>
            <p:cNvPr id="524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25" name="그룹 524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539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40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28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197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198" name="그룹 1197"/>
          <p:cNvGrpSpPr/>
          <p:nvPr/>
        </p:nvGrpSpPr>
        <p:grpSpPr>
          <a:xfrm>
            <a:off x="3336060" y="2471117"/>
            <a:ext cx="1098404" cy="258332"/>
            <a:chOff x="3535531" y="1947415"/>
            <a:chExt cx="1098404" cy="258332"/>
          </a:xfrm>
        </p:grpSpPr>
        <p:sp>
          <p:nvSpPr>
            <p:cNvPr id="1199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0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7" name="그룹 76"/>
          <p:cNvGrpSpPr/>
          <p:nvPr/>
        </p:nvGrpSpPr>
        <p:grpSpPr>
          <a:xfrm>
            <a:off x="1932818" y="2852928"/>
            <a:ext cx="3453828" cy="513721"/>
            <a:chOff x="1932818" y="2852928"/>
            <a:chExt cx="3453828" cy="513721"/>
          </a:xfrm>
        </p:grpSpPr>
        <p:sp>
          <p:nvSpPr>
            <p:cNvPr id="120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10" name="그룹 120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22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2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205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06" name="그룹 1205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207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08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631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1932818" y="4399095"/>
            <a:ext cx="3453828" cy="513721"/>
            <a:chOff x="1932818" y="4399095"/>
            <a:chExt cx="3453828" cy="513721"/>
          </a:xfrm>
        </p:grpSpPr>
        <p:sp>
          <p:nvSpPr>
            <p:cNvPr id="1232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33" name="그룹 1232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1244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45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26" name="그룹 1225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122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29" name="그룹 1228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1230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31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632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1932818" y="3368317"/>
            <a:ext cx="3453828" cy="513721"/>
            <a:chOff x="1932818" y="3368317"/>
            <a:chExt cx="3453828" cy="513721"/>
          </a:xfrm>
        </p:grpSpPr>
        <p:sp>
          <p:nvSpPr>
            <p:cNvPr id="1254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55" name="그룹 1254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1266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67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48" name="그룹 1247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pic>
            <p:nvPicPr>
              <p:cNvPr id="1249" name="Picture 3" descr="C:\Users\Administrator\Downloads\flag (1)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artisticPhotocopy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49595" y="2031767"/>
                <a:ext cx="123157" cy="12315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50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51" name="그룹 1250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1252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53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268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1932818" y="3883709"/>
            <a:ext cx="3453828" cy="513721"/>
            <a:chOff x="1932818" y="3883709"/>
            <a:chExt cx="3453828" cy="513721"/>
          </a:xfrm>
        </p:grpSpPr>
        <p:sp>
          <p:nvSpPr>
            <p:cNvPr id="1277" name="Rectangle 432"/>
            <p:cNvSpPr/>
            <p:nvPr/>
          </p:nvSpPr>
          <p:spPr>
            <a:xfrm>
              <a:off x="1932818" y="3883709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78" name="그룹 1277"/>
            <p:cNvGrpSpPr/>
            <p:nvPr/>
          </p:nvGrpSpPr>
          <p:grpSpPr>
            <a:xfrm>
              <a:off x="2483223" y="3997693"/>
              <a:ext cx="2250631" cy="272624"/>
              <a:chOff x="2625094" y="2085772"/>
              <a:chExt cx="2250631" cy="272624"/>
            </a:xfrm>
          </p:grpSpPr>
          <p:sp>
            <p:nvSpPr>
              <p:cNvPr id="129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9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280" name="Rounded Rectangle 594"/>
            <p:cNvSpPr>
              <a:spLocks noChangeAspect="1"/>
            </p:cNvSpPr>
            <p:nvPr/>
          </p:nvSpPr>
          <p:spPr>
            <a:xfrm>
              <a:off x="2002991" y="3953384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pic>
          <p:nvPicPr>
            <p:cNvPr id="1272" name="Picture 3" descr="C:\Users\Administrator\Downloads\flag (1)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Photocopy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1282" y="4101635"/>
              <a:ext cx="123157" cy="12315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73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4083814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274" name="그룹 1273"/>
          <p:cNvGrpSpPr/>
          <p:nvPr/>
        </p:nvGrpSpPr>
        <p:grpSpPr>
          <a:xfrm>
            <a:off x="3175529" y="4017283"/>
            <a:ext cx="1258935" cy="262179"/>
            <a:chOff x="3375000" y="1947415"/>
            <a:chExt cx="1258935" cy="262179"/>
          </a:xfrm>
        </p:grpSpPr>
        <p:sp>
          <p:nvSpPr>
            <p:cNvPr id="1275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76" name="텍스트 상자 31"/>
            <p:cNvSpPr txBox="1"/>
            <p:nvPr/>
          </p:nvSpPr>
          <p:spPr>
            <a:xfrm>
              <a:off x="3375000" y="2117261"/>
              <a:ext cx="1067403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 algn="r"/>
              <a:r>
                <a:rPr lang="de-DE" altLang="ko-KR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08- 22  10: 39 AM  (3MB)</a:t>
              </a:r>
            </a:p>
          </p:txBody>
        </p:sp>
      </p:grpSp>
      <p:grpSp>
        <p:nvGrpSpPr>
          <p:cNvPr id="72" name="그룹 71"/>
          <p:cNvGrpSpPr/>
          <p:nvPr/>
        </p:nvGrpSpPr>
        <p:grpSpPr>
          <a:xfrm>
            <a:off x="1932818" y="4914488"/>
            <a:ext cx="3453828" cy="513721"/>
            <a:chOff x="1932818" y="4914488"/>
            <a:chExt cx="3453828" cy="513721"/>
          </a:xfrm>
        </p:grpSpPr>
        <p:sp>
          <p:nvSpPr>
            <p:cNvPr id="1300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301" name="그룹 1300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31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31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303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294" name="그룹 1293"/>
            <p:cNvGrpSpPr/>
            <p:nvPr/>
          </p:nvGrpSpPr>
          <p:grpSpPr>
            <a:xfrm>
              <a:off x="3202058" y="5048062"/>
              <a:ext cx="2084936" cy="262179"/>
              <a:chOff x="3210371" y="1947415"/>
              <a:chExt cx="2084936" cy="262179"/>
            </a:xfrm>
          </p:grpSpPr>
          <p:sp>
            <p:nvSpPr>
              <p:cNvPr id="129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97" name="그룹 1296"/>
              <p:cNvGrpSpPr/>
              <p:nvPr/>
            </p:nvGrpSpPr>
            <p:grpSpPr>
              <a:xfrm>
                <a:off x="3210371" y="1947415"/>
                <a:ext cx="1232406" cy="262179"/>
                <a:chOff x="3276834" y="1947415"/>
                <a:chExt cx="1232406" cy="262179"/>
              </a:xfrm>
            </p:grpSpPr>
            <p:sp>
              <p:nvSpPr>
                <p:cNvPr id="1298" name="텍스트 상자 31"/>
                <p:cNvSpPr txBox="1"/>
                <p:nvPr/>
              </p:nvSpPr>
              <p:spPr>
                <a:xfrm>
                  <a:off x="4070631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99" name="텍스트 상자 31"/>
                <p:cNvSpPr txBox="1"/>
                <p:nvPr/>
              </p:nvSpPr>
              <p:spPr>
                <a:xfrm>
                  <a:off x="327683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grpSp>
        <p:nvGrpSpPr>
          <p:cNvPr id="70" name="그룹 69"/>
          <p:cNvGrpSpPr/>
          <p:nvPr/>
        </p:nvGrpSpPr>
        <p:grpSpPr>
          <a:xfrm>
            <a:off x="1932818" y="5429877"/>
            <a:ext cx="3453828" cy="513721"/>
            <a:chOff x="1932818" y="5429877"/>
            <a:chExt cx="3453828" cy="513721"/>
          </a:xfrm>
        </p:grpSpPr>
        <p:sp>
          <p:nvSpPr>
            <p:cNvPr id="1323" name="Rectangle 432"/>
            <p:cNvSpPr/>
            <p:nvPr/>
          </p:nvSpPr>
          <p:spPr>
            <a:xfrm>
              <a:off x="1932818" y="542987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8" name="그룹 67"/>
            <p:cNvGrpSpPr/>
            <p:nvPr/>
          </p:nvGrpSpPr>
          <p:grpSpPr>
            <a:xfrm>
              <a:off x="2002991" y="5499552"/>
              <a:ext cx="3284003" cy="369233"/>
              <a:chOff x="2127686" y="5499552"/>
              <a:chExt cx="3284003" cy="369233"/>
            </a:xfrm>
          </p:grpSpPr>
          <p:grpSp>
            <p:nvGrpSpPr>
              <p:cNvPr id="1324" name="그룹 1323"/>
              <p:cNvGrpSpPr/>
              <p:nvPr/>
            </p:nvGrpSpPr>
            <p:grpSpPr>
              <a:xfrm>
                <a:off x="2607918" y="5543861"/>
                <a:ext cx="2250631" cy="272624"/>
                <a:chOff x="2625094" y="2085772"/>
                <a:chExt cx="2250631" cy="272624"/>
              </a:xfrm>
            </p:grpSpPr>
            <p:sp>
              <p:nvSpPr>
                <p:cNvPr id="1336" name="텍스트 상자 31"/>
                <p:cNvSpPr txBox="1"/>
                <p:nvPr/>
              </p:nvSpPr>
              <p:spPr>
                <a:xfrm>
                  <a:off x="2625094" y="2250674"/>
                  <a:ext cx="1669851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ko-KR" altLang="en-US" sz="700" dirty="0" err="1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강미나</a:t>
                  </a:r>
                  <a:r>
                    <a:rPr kumimoji="1" lang="ko-KR" altLang="en-US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  </a:t>
                  </a:r>
                  <a:r>
                    <a:rPr lang="ko-KR" altLang="en-US" sz="700" dirty="0" err="1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  <a:ea typeface="+mn-ea"/>
                    </a:rPr>
                    <a:t>제품기획팀</a:t>
                  </a:r>
                  <a:r>
                    <a:rPr lang="ko-KR" altLang="en-US" sz="700" dirty="0" smtClean="0">
                      <a:solidFill>
                        <a:schemeClr val="bg1">
                          <a:lumMod val="7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endPara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337" name="텍스트 상자 31"/>
                <p:cNvSpPr txBox="1"/>
                <p:nvPr/>
              </p:nvSpPr>
              <p:spPr>
                <a:xfrm>
                  <a:off x="2625094" y="2085772"/>
                  <a:ext cx="2250631" cy="123111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EGW_</a:t>
                  </a:r>
                  <a:r>
                    <a:rPr lang="ko-KR" altLang="en-US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스퀘어플러스 </a:t>
                  </a:r>
                  <a:r>
                    <a:rPr lang="ko-KR" altLang="en-US" sz="800" b="1" dirty="0" err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화면설계서</a:t>
                  </a:r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_v1.0</a:t>
                  </a:r>
                  <a:endParaRPr kumimoji="1" lang="ko-KR" altLang="en-US" sz="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326" name="Rounded Rectangle 594"/>
              <p:cNvSpPr>
                <a:spLocks noChangeAspect="1"/>
              </p:cNvSpPr>
              <p:nvPr/>
            </p:nvSpPr>
            <p:spPr>
              <a:xfrm>
                <a:off x="2127686" y="5499552"/>
                <a:ext cx="369233" cy="369233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lang="en-US" sz="24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P</a:t>
                </a:r>
                <a:endParaRPr kumimoji="1" lang="en-US" sz="24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1317" name="그룹 1316"/>
              <p:cNvGrpSpPr/>
              <p:nvPr/>
            </p:nvGrpSpPr>
            <p:grpSpPr>
              <a:xfrm>
                <a:off x="3306883" y="5563451"/>
                <a:ext cx="2104806" cy="262179"/>
                <a:chOff x="3315196" y="1947415"/>
                <a:chExt cx="2104806" cy="262179"/>
              </a:xfrm>
            </p:grpSpPr>
            <p:sp>
              <p:nvSpPr>
                <p:cNvPr id="1319" name="Freeform 26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5382841" y="2013946"/>
                  <a:ext cx="37161" cy="144000"/>
                </a:xfrm>
                <a:custGeom>
                  <a:avLst/>
                  <a:gdLst>
                    <a:gd name="T0" fmla="*/ 49 w 104"/>
                    <a:gd name="T1" fmla="*/ 103 h 411"/>
                    <a:gd name="T2" fmla="*/ 103 w 104"/>
                    <a:gd name="T3" fmla="*/ 49 h 411"/>
                    <a:gd name="T4" fmla="*/ 49 w 104"/>
                    <a:gd name="T5" fmla="*/ 0 h 411"/>
                    <a:gd name="T6" fmla="*/ 0 w 104"/>
                    <a:gd name="T7" fmla="*/ 49 h 411"/>
                    <a:gd name="T8" fmla="*/ 49 w 104"/>
                    <a:gd name="T9" fmla="*/ 103 h 411"/>
                    <a:gd name="T10" fmla="*/ 49 w 104"/>
                    <a:gd name="T11" fmla="*/ 152 h 411"/>
                    <a:gd name="T12" fmla="*/ 0 w 104"/>
                    <a:gd name="T13" fmla="*/ 205 h 411"/>
                    <a:gd name="T14" fmla="*/ 49 w 104"/>
                    <a:gd name="T15" fmla="*/ 254 h 411"/>
                    <a:gd name="T16" fmla="*/ 103 w 104"/>
                    <a:gd name="T17" fmla="*/ 205 h 411"/>
                    <a:gd name="T18" fmla="*/ 49 w 104"/>
                    <a:gd name="T19" fmla="*/ 152 h 411"/>
                    <a:gd name="T20" fmla="*/ 49 w 104"/>
                    <a:gd name="T21" fmla="*/ 308 h 411"/>
                    <a:gd name="T22" fmla="*/ 0 w 104"/>
                    <a:gd name="T23" fmla="*/ 357 h 411"/>
                    <a:gd name="T24" fmla="*/ 49 w 104"/>
                    <a:gd name="T25" fmla="*/ 410 h 411"/>
                    <a:gd name="T26" fmla="*/ 103 w 104"/>
                    <a:gd name="T27" fmla="*/ 357 h 411"/>
                    <a:gd name="T28" fmla="*/ 49 w 104"/>
                    <a:gd name="T29" fmla="*/ 308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4" h="411">
                      <a:moveTo>
                        <a:pt x="49" y="103"/>
                      </a:moveTo>
                      <a:cubicBezTo>
                        <a:pt x="78" y="103"/>
                        <a:pt x="103" y="76"/>
                        <a:pt x="103" y="49"/>
                      </a:cubicBezTo>
                      <a:cubicBezTo>
                        <a:pt x="103" y="22"/>
                        <a:pt x="76" y="0"/>
                        <a:pt x="49" y="0"/>
                      </a:cubicBezTo>
                      <a:cubicBezTo>
                        <a:pt x="22" y="0"/>
                        <a:pt x="0" y="22"/>
                        <a:pt x="0" y="49"/>
                      </a:cubicBezTo>
                      <a:cubicBezTo>
                        <a:pt x="0" y="76"/>
                        <a:pt x="25" y="103"/>
                        <a:pt x="49" y="103"/>
                      </a:cubicBezTo>
                      <a:close/>
                      <a:moveTo>
                        <a:pt x="49" y="152"/>
                      </a:moveTo>
                      <a:cubicBezTo>
                        <a:pt x="25" y="152"/>
                        <a:pt x="0" y="176"/>
                        <a:pt x="0" y="205"/>
                      </a:cubicBezTo>
                      <a:cubicBezTo>
                        <a:pt x="0" y="235"/>
                        <a:pt x="22" y="254"/>
                        <a:pt x="49" y="254"/>
                      </a:cubicBezTo>
                      <a:cubicBezTo>
                        <a:pt x="76" y="254"/>
                        <a:pt x="103" y="235"/>
                        <a:pt x="103" y="205"/>
                      </a:cubicBezTo>
                      <a:cubicBezTo>
                        <a:pt x="103" y="176"/>
                        <a:pt x="78" y="152"/>
                        <a:pt x="49" y="152"/>
                      </a:cubicBezTo>
                      <a:close/>
                      <a:moveTo>
                        <a:pt x="49" y="308"/>
                      </a:moveTo>
                      <a:cubicBezTo>
                        <a:pt x="25" y="308"/>
                        <a:pt x="0" y="327"/>
                        <a:pt x="0" y="357"/>
                      </a:cubicBezTo>
                      <a:cubicBezTo>
                        <a:pt x="0" y="386"/>
                        <a:pt x="22" y="410"/>
                        <a:pt x="49" y="410"/>
                      </a:cubicBezTo>
                      <a:cubicBezTo>
                        <a:pt x="76" y="410"/>
                        <a:pt x="103" y="386"/>
                        <a:pt x="103" y="357"/>
                      </a:cubicBezTo>
                      <a:cubicBezTo>
                        <a:pt x="103" y="327"/>
                        <a:pt x="78" y="308"/>
                        <a:pt x="49" y="30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320" name="그룹 1319"/>
                <p:cNvGrpSpPr/>
                <p:nvPr/>
              </p:nvGrpSpPr>
              <p:grpSpPr>
                <a:xfrm>
                  <a:off x="3315196" y="1947415"/>
                  <a:ext cx="1252276" cy="262179"/>
                  <a:chOff x="3381659" y="1947415"/>
                  <a:chExt cx="1252276" cy="262179"/>
                </a:xfrm>
              </p:grpSpPr>
              <p:sp>
                <p:nvSpPr>
                  <p:cNvPr id="1321" name="텍스트 상자 31"/>
                  <p:cNvSpPr txBox="1"/>
                  <p:nvPr/>
                </p:nvSpPr>
                <p:spPr>
                  <a:xfrm>
                    <a:off x="4195326" y="1947415"/>
                    <a:ext cx="438609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algn="r"/>
                    <a:r>
                      <a:rPr kumimoji="1" lang="en-US" altLang="ko-KR" sz="6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rPr>
                      <a:t>5.3 KB</a:t>
                    </a:r>
                    <a:endParaRPr kumimoji="1" lang="ko-KR" altLang="en-US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322" name="텍스트 상자 31"/>
                  <p:cNvSpPr txBox="1"/>
                  <p:nvPr/>
                </p:nvSpPr>
                <p:spPr>
                  <a:xfrm>
                    <a:off x="3381659" y="2117261"/>
                    <a:ext cx="1067403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lvl="0" algn="r"/>
                    <a:r>
                      <a:rPr lang="de-DE" altLang="ko-KR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rPr>
                      <a:t> 08- 22  10: 39 AM  (3MB)</a:t>
                    </a:r>
                  </a:p>
                </p:txBody>
              </p:sp>
            </p:grpSp>
          </p:grpSp>
        </p:grpSp>
      </p:grpSp>
      <p:grpSp>
        <p:nvGrpSpPr>
          <p:cNvPr id="1528" name="그룹 1527"/>
          <p:cNvGrpSpPr/>
          <p:nvPr/>
        </p:nvGrpSpPr>
        <p:grpSpPr>
          <a:xfrm>
            <a:off x="1932818" y="5945266"/>
            <a:ext cx="3453828" cy="513721"/>
            <a:chOff x="1932818" y="4914488"/>
            <a:chExt cx="3453828" cy="513721"/>
          </a:xfrm>
        </p:grpSpPr>
        <p:sp>
          <p:nvSpPr>
            <p:cNvPr id="1529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530" name="그룹 1529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53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53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531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532" name="그룹 1531"/>
            <p:cNvGrpSpPr/>
            <p:nvPr/>
          </p:nvGrpSpPr>
          <p:grpSpPr>
            <a:xfrm>
              <a:off x="3182188" y="5048062"/>
              <a:ext cx="2104806" cy="262179"/>
              <a:chOff x="3190501" y="1947415"/>
              <a:chExt cx="2104806" cy="262179"/>
            </a:xfrm>
          </p:grpSpPr>
          <p:sp>
            <p:nvSpPr>
              <p:cNvPr id="153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535" name="그룹 1534"/>
              <p:cNvGrpSpPr/>
              <p:nvPr/>
            </p:nvGrpSpPr>
            <p:grpSpPr>
              <a:xfrm>
                <a:off x="3190501" y="1947415"/>
                <a:ext cx="1260763" cy="262179"/>
                <a:chOff x="3256964" y="1947415"/>
                <a:chExt cx="1260763" cy="262179"/>
              </a:xfrm>
            </p:grpSpPr>
            <p:sp>
              <p:nvSpPr>
                <p:cNvPr id="1536" name="텍스트 상자 31"/>
                <p:cNvSpPr txBox="1"/>
                <p:nvPr/>
              </p:nvSpPr>
              <p:spPr>
                <a:xfrm>
                  <a:off x="407911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537" name="텍스트 상자 31"/>
                <p:cNvSpPr txBox="1"/>
                <p:nvPr/>
              </p:nvSpPr>
              <p:spPr>
                <a:xfrm>
                  <a:off x="325696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sp>
        <p:nvSpPr>
          <p:cNvPr id="1673" name="Rounded Rectangle 392"/>
          <p:cNvSpPr/>
          <p:nvPr/>
        </p:nvSpPr>
        <p:spPr>
          <a:xfrm rot="5400000">
            <a:off x="7730725" y="3238881"/>
            <a:ext cx="2851121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675" name="그룹 1674"/>
          <p:cNvGrpSpPr/>
          <p:nvPr/>
        </p:nvGrpSpPr>
        <p:grpSpPr>
          <a:xfrm>
            <a:off x="5515604" y="1822154"/>
            <a:ext cx="3453828" cy="513721"/>
            <a:chOff x="1932818" y="1822154"/>
            <a:chExt cx="3453828" cy="513721"/>
          </a:xfrm>
        </p:grpSpPr>
        <p:sp>
          <p:nvSpPr>
            <p:cNvPr id="1676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77" name="그룹 1676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168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8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78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679" name="그룹 167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168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682" name="그룹 1681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68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68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687" name="그룹 1686"/>
          <p:cNvGrpSpPr/>
          <p:nvPr/>
        </p:nvGrpSpPr>
        <p:grpSpPr>
          <a:xfrm>
            <a:off x="5515604" y="2337543"/>
            <a:ext cx="3453828" cy="513721"/>
            <a:chOff x="1932818" y="2337543"/>
            <a:chExt cx="3453828" cy="513721"/>
          </a:xfrm>
        </p:grpSpPr>
        <p:sp>
          <p:nvSpPr>
            <p:cNvPr id="1688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89" name="그룹 1688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169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9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90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692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695" name="그룹 1694"/>
          <p:cNvGrpSpPr/>
          <p:nvPr/>
        </p:nvGrpSpPr>
        <p:grpSpPr>
          <a:xfrm>
            <a:off x="6918846" y="2471117"/>
            <a:ext cx="1098404" cy="258332"/>
            <a:chOff x="3535531" y="1947415"/>
            <a:chExt cx="1098404" cy="258332"/>
          </a:xfrm>
        </p:grpSpPr>
        <p:sp>
          <p:nvSpPr>
            <p:cNvPr id="1696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97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98" name="그룹 1697"/>
          <p:cNvGrpSpPr/>
          <p:nvPr/>
        </p:nvGrpSpPr>
        <p:grpSpPr>
          <a:xfrm>
            <a:off x="5515604" y="2852928"/>
            <a:ext cx="3453828" cy="513721"/>
            <a:chOff x="1932818" y="2852928"/>
            <a:chExt cx="3453828" cy="513721"/>
          </a:xfrm>
        </p:grpSpPr>
        <p:sp>
          <p:nvSpPr>
            <p:cNvPr id="169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00" name="그룹 169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70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0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70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05" name="그룹 1704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706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07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02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10" name="그룹 1709"/>
          <p:cNvGrpSpPr/>
          <p:nvPr/>
        </p:nvGrpSpPr>
        <p:grpSpPr>
          <a:xfrm>
            <a:off x="5515604" y="4399095"/>
            <a:ext cx="3453828" cy="513721"/>
            <a:chOff x="1932818" y="4399095"/>
            <a:chExt cx="3453828" cy="513721"/>
          </a:xfrm>
        </p:grpSpPr>
        <p:sp>
          <p:nvSpPr>
            <p:cNvPr id="1711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12" name="그룹 1711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172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2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13" name="그룹 1712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171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17" name="그룹 1716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1718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19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1714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22" name="그룹 1721"/>
          <p:cNvGrpSpPr/>
          <p:nvPr/>
        </p:nvGrpSpPr>
        <p:grpSpPr>
          <a:xfrm>
            <a:off x="5515604" y="3368317"/>
            <a:ext cx="3453828" cy="513721"/>
            <a:chOff x="1932818" y="3368317"/>
            <a:chExt cx="3453828" cy="513721"/>
          </a:xfrm>
        </p:grpSpPr>
        <p:sp>
          <p:nvSpPr>
            <p:cNvPr id="1723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24" name="그룹 1723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173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3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25" name="그룹 1724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172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29" name="그룹 1728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1730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31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26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34" name="그룹 1733"/>
          <p:cNvGrpSpPr/>
          <p:nvPr/>
        </p:nvGrpSpPr>
        <p:grpSpPr>
          <a:xfrm>
            <a:off x="5515604" y="3883709"/>
            <a:ext cx="3453828" cy="513721"/>
            <a:chOff x="1932818" y="3883709"/>
            <a:chExt cx="3453828" cy="513721"/>
          </a:xfrm>
        </p:grpSpPr>
        <p:sp>
          <p:nvSpPr>
            <p:cNvPr id="1735" name="Rectangle 432"/>
            <p:cNvSpPr/>
            <p:nvPr/>
          </p:nvSpPr>
          <p:spPr>
            <a:xfrm>
              <a:off x="1932818" y="3883709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36" name="그룹 1735"/>
            <p:cNvGrpSpPr/>
            <p:nvPr/>
          </p:nvGrpSpPr>
          <p:grpSpPr>
            <a:xfrm>
              <a:off x="2483223" y="3997693"/>
              <a:ext cx="2250631" cy="272624"/>
              <a:chOff x="2625094" y="2085772"/>
              <a:chExt cx="2250631" cy="272624"/>
            </a:xfrm>
          </p:grpSpPr>
          <p:sp>
            <p:nvSpPr>
              <p:cNvPr id="174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4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37" name="Rounded Rectangle 594"/>
            <p:cNvSpPr>
              <a:spLocks noChangeAspect="1"/>
            </p:cNvSpPr>
            <p:nvPr/>
          </p:nvSpPr>
          <p:spPr>
            <a:xfrm>
              <a:off x="2002991" y="3953384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739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4083814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42" name="그룹 1741"/>
          <p:cNvGrpSpPr/>
          <p:nvPr/>
        </p:nvGrpSpPr>
        <p:grpSpPr>
          <a:xfrm>
            <a:off x="6758315" y="4017283"/>
            <a:ext cx="1258935" cy="262179"/>
            <a:chOff x="3375000" y="1947415"/>
            <a:chExt cx="1258935" cy="262179"/>
          </a:xfrm>
        </p:grpSpPr>
        <p:sp>
          <p:nvSpPr>
            <p:cNvPr id="1743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44" name="텍스트 상자 31"/>
            <p:cNvSpPr txBox="1"/>
            <p:nvPr/>
          </p:nvSpPr>
          <p:spPr>
            <a:xfrm>
              <a:off x="3375000" y="2117261"/>
              <a:ext cx="1067403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 algn="r"/>
              <a:r>
                <a:rPr lang="de-DE" altLang="ko-KR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08- 22  10: 39 AM  (3MB)</a:t>
              </a:r>
            </a:p>
          </p:txBody>
        </p:sp>
      </p:grpSp>
      <p:grpSp>
        <p:nvGrpSpPr>
          <p:cNvPr id="1745" name="그룹 1744"/>
          <p:cNvGrpSpPr/>
          <p:nvPr/>
        </p:nvGrpSpPr>
        <p:grpSpPr>
          <a:xfrm>
            <a:off x="5515604" y="4914488"/>
            <a:ext cx="3453828" cy="513721"/>
            <a:chOff x="1932818" y="4914488"/>
            <a:chExt cx="3453828" cy="513721"/>
          </a:xfrm>
        </p:grpSpPr>
        <p:sp>
          <p:nvSpPr>
            <p:cNvPr id="1746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47" name="그룹 1746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75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5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48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749" name="그룹 1748"/>
            <p:cNvGrpSpPr/>
            <p:nvPr/>
          </p:nvGrpSpPr>
          <p:grpSpPr>
            <a:xfrm>
              <a:off x="3202058" y="5048062"/>
              <a:ext cx="2084936" cy="262179"/>
              <a:chOff x="3210371" y="1947415"/>
              <a:chExt cx="2084936" cy="262179"/>
            </a:xfrm>
          </p:grpSpPr>
          <p:sp>
            <p:nvSpPr>
              <p:cNvPr id="175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52" name="그룹 1751"/>
              <p:cNvGrpSpPr/>
              <p:nvPr/>
            </p:nvGrpSpPr>
            <p:grpSpPr>
              <a:xfrm>
                <a:off x="3210371" y="1947415"/>
                <a:ext cx="1232406" cy="262179"/>
                <a:chOff x="3276834" y="1947415"/>
                <a:chExt cx="1232406" cy="262179"/>
              </a:xfrm>
            </p:grpSpPr>
            <p:sp>
              <p:nvSpPr>
                <p:cNvPr id="1753" name="텍스트 상자 31"/>
                <p:cNvSpPr txBox="1"/>
                <p:nvPr/>
              </p:nvSpPr>
              <p:spPr>
                <a:xfrm>
                  <a:off x="4070631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54" name="텍스트 상자 31"/>
                <p:cNvSpPr txBox="1"/>
                <p:nvPr/>
              </p:nvSpPr>
              <p:spPr>
                <a:xfrm>
                  <a:off x="327683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grpSp>
        <p:nvGrpSpPr>
          <p:cNvPr id="1757" name="그룹 1756"/>
          <p:cNvGrpSpPr/>
          <p:nvPr/>
        </p:nvGrpSpPr>
        <p:grpSpPr>
          <a:xfrm>
            <a:off x="5515604" y="5429877"/>
            <a:ext cx="3453828" cy="513721"/>
            <a:chOff x="1932818" y="5429877"/>
            <a:chExt cx="3453828" cy="513721"/>
          </a:xfrm>
        </p:grpSpPr>
        <p:sp>
          <p:nvSpPr>
            <p:cNvPr id="1758" name="Rectangle 432"/>
            <p:cNvSpPr/>
            <p:nvPr/>
          </p:nvSpPr>
          <p:spPr>
            <a:xfrm>
              <a:off x="1932818" y="542987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59" name="그룹 1758"/>
            <p:cNvGrpSpPr/>
            <p:nvPr/>
          </p:nvGrpSpPr>
          <p:grpSpPr>
            <a:xfrm>
              <a:off x="2002991" y="5499552"/>
              <a:ext cx="3284003" cy="369233"/>
              <a:chOff x="2127686" y="5499552"/>
              <a:chExt cx="3284003" cy="369233"/>
            </a:xfrm>
          </p:grpSpPr>
          <p:grpSp>
            <p:nvGrpSpPr>
              <p:cNvPr id="1760" name="그룹 1759"/>
              <p:cNvGrpSpPr/>
              <p:nvPr/>
            </p:nvGrpSpPr>
            <p:grpSpPr>
              <a:xfrm>
                <a:off x="2607918" y="5543861"/>
                <a:ext cx="2250631" cy="272624"/>
                <a:chOff x="2625094" y="2085772"/>
                <a:chExt cx="2250631" cy="272624"/>
              </a:xfrm>
            </p:grpSpPr>
            <p:sp>
              <p:nvSpPr>
                <p:cNvPr id="1768" name="텍스트 상자 31"/>
                <p:cNvSpPr txBox="1"/>
                <p:nvPr/>
              </p:nvSpPr>
              <p:spPr>
                <a:xfrm>
                  <a:off x="2625094" y="2250674"/>
                  <a:ext cx="1669851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ko-KR" altLang="en-US" sz="700" dirty="0" err="1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강미나</a:t>
                  </a:r>
                  <a:r>
                    <a:rPr kumimoji="1" lang="ko-KR" altLang="en-US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  </a:t>
                  </a:r>
                  <a:r>
                    <a:rPr lang="ko-KR" altLang="en-US" sz="700" dirty="0" err="1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  <a:ea typeface="+mn-ea"/>
                    </a:rPr>
                    <a:t>제품기획팀</a:t>
                  </a:r>
                  <a:r>
                    <a:rPr lang="ko-KR" altLang="en-US" sz="700" dirty="0" smtClean="0">
                      <a:solidFill>
                        <a:schemeClr val="bg1">
                          <a:lumMod val="7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endPara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69" name="텍스트 상자 31"/>
                <p:cNvSpPr txBox="1"/>
                <p:nvPr/>
              </p:nvSpPr>
              <p:spPr>
                <a:xfrm>
                  <a:off x="2625094" y="2085772"/>
                  <a:ext cx="2250631" cy="123111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EGW_</a:t>
                  </a:r>
                  <a:r>
                    <a:rPr lang="ko-KR" altLang="en-US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스퀘어플러스 </a:t>
                  </a:r>
                  <a:r>
                    <a:rPr lang="ko-KR" altLang="en-US" sz="800" b="1" dirty="0" err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화면설계서</a:t>
                  </a:r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_v1.0</a:t>
                  </a:r>
                  <a:endParaRPr kumimoji="1" lang="ko-KR" altLang="en-US" sz="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761" name="Rounded Rectangle 594"/>
              <p:cNvSpPr>
                <a:spLocks noChangeAspect="1"/>
              </p:cNvSpPr>
              <p:nvPr/>
            </p:nvSpPr>
            <p:spPr>
              <a:xfrm>
                <a:off x="2127686" y="5499552"/>
                <a:ext cx="369233" cy="369233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lang="en-US" sz="24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P</a:t>
                </a:r>
                <a:endParaRPr kumimoji="1" lang="en-US" sz="24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1762" name="그룹 1761"/>
              <p:cNvGrpSpPr/>
              <p:nvPr/>
            </p:nvGrpSpPr>
            <p:grpSpPr>
              <a:xfrm>
                <a:off x="3306883" y="5563451"/>
                <a:ext cx="2104806" cy="262179"/>
                <a:chOff x="3315196" y="1947415"/>
                <a:chExt cx="2104806" cy="262179"/>
              </a:xfrm>
            </p:grpSpPr>
            <p:sp>
              <p:nvSpPr>
                <p:cNvPr id="1764" name="Freeform 26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5382841" y="2013946"/>
                  <a:ext cx="37161" cy="144000"/>
                </a:xfrm>
                <a:custGeom>
                  <a:avLst/>
                  <a:gdLst>
                    <a:gd name="T0" fmla="*/ 49 w 104"/>
                    <a:gd name="T1" fmla="*/ 103 h 411"/>
                    <a:gd name="T2" fmla="*/ 103 w 104"/>
                    <a:gd name="T3" fmla="*/ 49 h 411"/>
                    <a:gd name="T4" fmla="*/ 49 w 104"/>
                    <a:gd name="T5" fmla="*/ 0 h 411"/>
                    <a:gd name="T6" fmla="*/ 0 w 104"/>
                    <a:gd name="T7" fmla="*/ 49 h 411"/>
                    <a:gd name="T8" fmla="*/ 49 w 104"/>
                    <a:gd name="T9" fmla="*/ 103 h 411"/>
                    <a:gd name="T10" fmla="*/ 49 w 104"/>
                    <a:gd name="T11" fmla="*/ 152 h 411"/>
                    <a:gd name="T12" fmla="*/ 0 w 104"/>
                    <a:gd name="T13" fmla="*/ 205 h 411"/>
                    <a:gd name="T14" fmla="*/ 49 w 104"/>
                    <a:gd name="T15" fmla="*/ 254 h 411"/>
                    <a:gd name="T16" fmla="*/ 103 w 104"/>
                    <a:gd name="T17" fmla="*/ 205 h 411"/>
                    <a:gd name="T18" fmla="*/ 49 w 104"/>
                    <a:gd name="T19" fmla="*/ 152 h 411"/>
                    <a:gd name="T20" fmla="*/ 49 w 104"/>
                    <a:gd name="T21" fmla="*/ 308 h 411"/>
                    <a:gd name="T22" fmla="*/ 0 w 104"/>
                    <a:gd name="T23" fmla="*/ 357 h 411"/>
                    <a:gd name="T24" fmla="*/ 49 w 104"/>
                    <a:gd name="T25" fmla="*/ 410 h 411"/>
                    <a:gd name="T26" fmla="*/ 103 w 104"/>
                    <a:gd name="T27" fmla="*/ 357 h 411"/>
                    <a:gd name="T28" fmla="*/ 49 w 104"/>
                    <a:gd name="T29" fmla="*/ 308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4" h="411">
                      <a:moveTo>
                        <a:pt x="49" y="103"/>
                      </a:moveTo>
                      <a:cubicBezTo>
                        <a:pt x="78" y="103"/>
                        <a:pt x="103" y="76"/>
                        <a:pt x="103" y="49"/>
                      </a:cubicBezTo>
                      <a:cubicBezTo>
                        <a:pt x="103" y="22"/>
                        <a:pt x="76" y="0"/>
                        <a:pt x="49" y="0"/>
                      </a:cubicBezTo>
                      <a:cubicBezTo>
                        <a:pt x="22" y="0"/>
                        <a:pt x="0" y="22"/>
                        <a:pt x="0" y="49"/>
                      </a:cubicBezTo>
                      <a:cubicBezTo>
                        <a:pt x="0" y="76"/>
                        <a:pt x="25" y="103"/>
                        <a:pt x="49" y="103"/>
                      </a:cubicBezTo>
                      <a:close/>
                      <a:moveTo>
                        <a:pt x="49" y="152"/>
                      </a:moveTo>
                      <a:cubicBezTo>
                        <a:pt x="25" y="152"/>
                        <a:pt x="0" y="176"/>
                        <a:pt x="0" y="205"/>
                      </a:cubicBezTo>
                      <a:cubicBezTo>
                        <a:pt x="0" y="235"/>
                        <a:pt x="22" y="254"/>
                        <a:pt x="49" y="254"/>
                      </a:cubicBezTo>
                      <a:cubicBezTo>
                        <a:pt x="76" y="254"/>
                        <a:pt x="103" y="235"/>
                        <a:pt x="103" y="205"/>
                      </a:cubicBezTo>
                      <a:cubicBezTo>
                        <a:pt x="103" y="176"/>
                        <a:pt x="78" y="152"/>
                        <a:pt x="49" y="152"/>
                      </a:cubicBezTo>
                      <a:close/>
                      <a:moveTo>
                        <a:pt x="49" y="308"/>
                      </a:moveTo>
                      <a:cubicBezTo>
                        <a:pt x="25" y="308"/>
                        <a:pt x="0" y="327"/>
                        <a:pt x="0" y="357"/>
                      </a:cubicBezTo>
                      <a:cubicBezTo>
                        <a:pt x="0" y="386"/>
                        <a:pt x="22" y="410"/>
                        <a:pt x="49" y="410"/>
                      </a:cubicBezTo>
                      <a:cubicBezTo>
                        <a:pt x="76" y="410"/>
                        <a:pt x="103" y="386"/>
                        <a:pt x="103" y="357"/>
                      </a:cubicBezTo>
                      <a:cubicBezTo>
                        <a:pt x="103" y="327"/>
                        <a:pt x="78" y="308"/>
                        <a:pt x="49" y="30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765" name="그룹 1764"/>
                <p:cNvGrpSpPr/>
                <p:nvPr/>
              </p:nvGrpSpPr>
              <p:grpSpPr>
                <a:xfrm>
                  <a:off x="3315196" y="1947415"/>
                  <a:ext cx="1252276" cy="262179"/>
                  <a:chOff x="3381659" y="1947415"/>
                  <a:chExt cx="1252276" cy="262179"/>
                </a:xfrm>
              </p:grpSpPr>
              <p:sp>
                <p:nvSpPr>
                  <p:cNvPr id="1766" name="텍스트 상자 31"/>
                  <p:cNvSpPr txBox="1"/>
                  <p:nvPr/>
                </p:nvSpPr>
                <p:spPr>
                  <a:xfrm>
                    <a:off x="4195326" y="1947415"/>
                    <a:ext cx="438609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algn="r"/>
                    <a:r>
                      <a:rPr kumimoji="1" lang="en-US" altLang="ko-KR" sz="6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rPr>
                      <a:t>5.3 KB</a:t>
                    </a:r>
                    <a:endParaRPr kumimoji="1" lang="ko-KR" altLang="en-US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767" name="텍스트 상자 31"/>
                  <p:cNvSpPr txBox="1"/>
                  <p:nvPr/>
                </p:nvSpPr>
                <p:spPr>
                  <a:xfrm>
                    <a:off x="3381659" y="2117261"/>
                    <a:ext cx="1067403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lvl="0" algn="r"/>
                    <a:r>
                      <a:rPr lang="de-DE" altLang="ko-KR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rPr>
                      <a:t> 08- 22  10: 39 AM  (3MB)</a:t>
                    </a:r>
                  </a:p>
                </p:txBody>
              </p:sp>
            </p:grpSp>
          </p:grpSp>
        </p:grpSp>
      </p:grpSp>
      <p:grpSp>
        <p:nvGrpSpPr>
          <p:cNvPr id="1778" name="그룹 1777"/>
          <p:cNvGrpSpPr/>
          <p:nvPr/>
        </p:nvGrpSpPr>
        <p:grpSpPr>
          <a:xfrm>
            <a:off x="5515604" y="5945266"/>
            <a:ext cx="3453828" cy="513721"/>
            <a:chOff x="1932818" y="4914488"/>
            <a:chExt cx="3453828" cy="513721"/>
          </a:xfrm>
        </p:grpSpPr>
        <p:sp>
          <p:nvSpPr>
            <p:cNvPr id="1779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80" name="그룹 1779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78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8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81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782" name="그룹 1781"/>
            <p:cNvGrpSpPr/>
            <p:nvPr/>
          </p:nvGrpSpPr>
          <p:grpSpPr>
            <a:xfrm>
              <a:off x="3182188" y="5048062"/>
              <a:ext cx="2104806" cy="262179"/>
              <a:chOff x="3190501" y="1947415"/>
              <a:chExt cx="2104806" cy="262179"/>
            </a:xfrm>
          </p:grpSpPr>
          <p:sp>
            <p:nvSpPr>
              <p:cNvPr id="178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85" name="그룹 1784"/>
              <p:cNvGrpSpPr/>
              <p:nvPr/>
            </p:nvGrpSpPr>
            <p:grpSpPr>
              <a:xfrm>
                <a:off x="3190501" y="1947415"/>
                <a:ext cx="1260763" cy="262179"/>
                <a:chOff x="3256964" y="1947415"/>
                <a:chExt cx="1260763" cy="262179"/>
              </a:xfrm>
            </p:grpSpPr>
            <p:sp>
              <p:nvSpPr>
                <p:cNvPr id="1786" name="텍스트 상자 31"/>
                <p:cNvSpPr txBox="1"/>
                <p:nvPr/>
              </p:nvSpPr>
              <p:spPr>
                <a:xfrm>
                  <a:off x="407911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87" name="텍스트 상자 31"/>
                <p:cNvSpPr txBox="1"/>
                <p:nvPr/>
              </p:nvSpPr>
              <p:spPr>
                <a:xfrm>
                  <a:off x="325696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sp>
        <p:nvSpPr>
          <p:cNvPr id="1791" name="타원 1790"/>
          <p:cNvSpPr>
            <a:spLocks noChangeAspect="1"/>
          </p:cNvSpPr>
          <p:nvPr/>
        </p:nvSpPr>
        <p:spPr>
          <a:xfrm>
            <a:off x="5100045" y="288460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06" name="그룹 305"/>
          <p:cNvGrpSpPr/>
          <p:nvPr/>
        </p:nvGrpSpPr>
        <p:grpSpPr>
          <a:xfrm>
            <a:off x="4905522" y="3208697"/>
            <a:ext cx="1075093" cy="1188038"/>
            <a:chOff x="3079760" y="2350778"/>
            <a:chExt cx="1075093" cy="1188038"/>
          </a:xfrm>
        </p:grpSpPr>
        <p:sp>
          <p:nvSpPr>
            <p:cNvPr id="307" name="직사각형 306"/>
            <p:cNvSpPr/>
            <p:nvPr/>
          </p:nvSpPr>
          <p:spPr>
            <a:xfrm>
              <a:off x="3079760" y="2350778"/>
              <a:ext cx="1075093" cy="11880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65000"/>
                </a:schemeClr>
              </a:solidFill>
            </a:ln>
          </p:spPr>
          <p:txBody>
            <a:bodyPr wrap="none" lIns="144000" tIns="36000" rIns="36000" bIns="36000" rtlCol="0" anchor="ctr">
              <a:noAutofit/>
            </a:bodyPr>
            <a:lstStyle/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다운로드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관리자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플래그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trike="sngStrike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삭제</a:t>
              </a:r>
              <a:endParaRPr lang="en-US" altLang="ko-KR" sz="800" strike="sngStrik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308" name="직사각형 307"/>
            <p:cNvSpPr/>
            <p:nvPr/>
          </p:nvSpPr>
          <p:spPr>
            <a:xfrm>
              <a:off x="3106255" y="2683595"/>
              <a:ext cx="1017745" cy="24295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108000" indent="-216000">
                <a:lnSpc>
                  <a:spcPts val="1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 </a:t>
              </a:r>
              <a:r>
                <a:rPr lang="ko-KR" altLang="en-US" sz="800" b="1" smtClean="0">
                  <a:solidFill>
                    <a:srgbClr val="0000FF"/>
                  </a:solidFill>
                  <a:latin typeface="나눔고딕" pitchFamily="50" charset="-127"/>
                  <a:ea typeface="나눔고딕" pitchFamily="50" charset="-127"/>
                </a:rPr>
                <a:t>내파일에 </a:t>
              </a:r>
              <a:r>
                <a:rPr lang="ko-KR" altLang="en-US" sz="800" b="1" dirty="0" smtClean="0">
                  <a:solidFill>
                    <a:srgbClr val="0000FF"/>
                  </a:solidFill>
                  <a:latin typeface="나눔고딕" pitchFamily="50" charset="-127"/>
                  <a:ea typeface="나눔고딕" pitchFamily="50" charset="-127"/>
                </a:rPr>
                <a:t>저장</a:t>
              </a:r>
            </a:p>
          </p:txBody>
        </p:sp>
      </p:grpSp>
      <p:pic>
        <p:nvPicPr>
          <p:cNvPr id="29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614930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7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561862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8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51213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45906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0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4085555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1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57353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2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614930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561862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51213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45906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7" name="그룹 316"/>
          <p:cNvGrpSpPr/>
          <p:nvPr/>
        </p:nvGrpSpPr>
        <p:grpSpPr>
          <a:xfrm>
            <a:off x="3147490" y="883997"/>
            <a:ext cx="3603039" cy="176117"/>
            <a:chOff x="4079770" y="874786"/>
            <a:chExt cx="3603039" cy="176117"/>
          </a:xfrm>
        </p:grpSpPr>
        <p:sp>
          <p:nvSpPr>
            <p:cNvPr id="31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9" name="텍스트 상자 31"/>
            <p:cNvSpPr txBox="1"/>
            <p:nvPr/>
          </p:nvSpPr>
          <p:spPr>
            <a:xfrm>
              <a:off x="4079770" y="879488"/>
              <a:ext cx="89571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20" name="직선 연결선[R] 7"/>
            <p:cNvCxnSpPr/>
            <p:nvPr/>
          </p:nvCxnSpPr>
          <p:spPr>
            <a:xfrm>
              <a:off x="5209358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21" name="텍스트 상자 31"/>
            <p:cNvSpPr txBox="1"/>
            <p:nvPr/>
          </p:nvSpPr>
          <p:spPr>
            <a:xfrm>
              <a:off x="4986756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2" name="텍스트 상자 31"/>
            <p:cNvSpPr txBox="1"/>
            <p:nvPr/>
          </p:nvSpPr>
          <p:spPr>
            <a:xfrm>
              <a:off x="5437922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4" name="텍스트 상자 31"/>
            <p:cNvSpPr txBox="1"/>
            <p:nvPr/>
          </p:nvSpPr>
          <p:spPr>
            <a:xfrm>
              <a:off x="6781701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25" name="텍스트 상자 31"/>
            <p:cNvSpPr txBox="1"/>
            <p:nvPr/>
          </p:nvSpPr>
          <p:spPr>
            <a:xfrm>
              <a:off x="6338538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12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/>
              <a:t>파일</a:t>
            </a:r>
            <a:r>
              <a:rPr kumimoji="0" lang="en-US" altLang="ko-KR" smtClean="0"/>
              <a:t>(2/3</a:t>
            </a:r>
            <a:r>
              <a:rPr kumimoji="0" lang="en-US" altLang="ko-KR"/>
              <a:t>)</a:t>
            </a:r>
            <a:endParaRPr kumimoji="0" lang="ko-KR" altLang="en-US" dirty="0"/>
          </a:p>
        </p:txBody>
      </p:sp>
      <p:sp>
        <p:nvSpPr>
          <p:cNvPr id="313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파일</a:t>
            </a:r>
            <a:endParaRPr kumimoji="0" lang="ko-KR" altLang="en-US" dirty="0"/>
          </a:p>
        </p:txBody>
      </p:sp>
      <p:sp>
        <p:nvSpPr>
          <p:cNvPr id="326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SQ5.2.3</a:t>
            </a:r>
            <a:endParaRPr kumimoji="0" lang="ko-KR" altLang="en-US" dirty="0"/>
          </a:p>
        </p:txBody>
      </p:sp>
      <p:sp>
        <p:nvSpPr>
          <p:cNvPr id="295" name="TextBox 294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27" name="TextBox 326"/>
          <p:cNvSpPr txBox="1"/>
          <p:nvPr/>
        </p:nvSpPr>
        <p:spPr>
          <a:xfrm>
            <a:off x="9396932" y="5905500"/>
            <a:ext cx="2642667" cy="914400"/>
          </a:xfrm>
          <a:prstGeom prst="rect">
            <a:avLst/>
          </a:prstGeom>
          <a:noFill/>
        </p:spPr>
        <p:txBody>
          <a:bodyPr wrap="none" lIns="72000" rIns="72000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[12/21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내역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[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삭제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]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기능 삭제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8" name="직각 삼각형 327"/>
          <p:cNvSpPr/>
          <p:nvPr/>
        </p:nvSpPr>
        <p:spPr>
          <a:xfrm flipH="1">
            <a:off x="11353800" y="5819775"/>
            <a:ext cx="771874" cy="849585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12/21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수정</a:t>
            </a:r>
            <a:endParaRPr lang="en-US" altLang="ko-KR" sz="80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88806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/>
        </p:nvSpPr>
        <p:spPr>
          <a:xfrm>
            <a:off x="1457809" y="914942"/>
            <a:ext cx="3258038" cy="255178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직사각형 152"/>
          <p:cNvSpPr/>
          <p:nvPr/>
        </p:nvSpPr>
        <p:spPr>
          <a:xfrm>
            <a:off x="1482238" y="1304354"/>
            <a:ext cx="3095208" cy="428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4863482" y="914943"/>
            <a:ext cx="3258038" cy="15869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TextBox 27"/>
          <p:cNvSpPr txBox="1"/>
          <p:nvPr/>
        </p:nvSpPr>
        <p:spPr>
          <a:xfrm>
            <a:off x="1899486" y="1428256"/>
            <a:ext cx="51994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멤버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1469539" y="949519"/>
            <a:ext cx="3246308" cy="3309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그룹 10"/>
          <p:cNvGrpSpPr/>
          <p:nvPr/>
        </p:nvGrpSpPr>
        <p:grpSpPr>
          <a:xfrm>
            <a:off x="1517408" y="999132"/>
            <a:ext cx="3146275" cy="216000"/>
            <a:chOff x="9531342" y="3492615"/>
            <a:chExt cx="3146275" cy="216000"/>
          </a:xfrm>
        </p:grpSpPr>
        <p:sp>
          <p:nvSpPr>
            <p:cNvPr id="15" name="모서리가 둥근 직사각형 14"/>
            <p:cNvSpPr/>
            <p:nvPr/>
          </p:nvSpPr>
          <p:spPr>
            <a:xfrm>
              <a:off x="9531342" y="3492615"/>
              <a:ext cx="3146275" cy="2160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16" name="그룹 15"/>
            <p:cNvGrpSpPr/>
            <p:nvPr/>
          </p:nvGrpSpPr>
          <p:grpSpPr>
            <a:xfrm>
              <a:off x="9675401" y="3492615"/>
              <a:ext cx="2936188" cy="216000"/>
              <a:chOff x="2431066" y="4877311"/>
              <a:chExt cx="2936188" cy="216000"/>
            </a:xfrm>
          </p:grpSpPr>
          <p:sp>
            <p:nvSpPr>
              <p:cNvPr id="17" name="Freeform 10"/>
              <p:cNvSpPr>
                <a:spLocks noChangeAspect="1" noChangeArrowheads="1"/>
              </p:cNvSpPr>
              <p:nvPr/>
            </p:nvSpPr>
            <p:spPr bwMode="auto">
              <a:xfrm>
                <a:off x="5259057" y="4936306"/>
                <a:ext cx="108197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18" name="텍스트 상자 31"/>
              <p:cNvSpPr txBox="1"/>
              <p:nvPr/>
            </p:nvSpPr>
            <p:spPr>
              <a:xfrm>
                <a:off x="2431066" y="4877311"/>
                <a:ext cx="937423" cy="216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사람 이름으로 검색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7" name="Rounded Rectangle 22"/>
          <p:cNvSpPr/>
          <p:nvPr/>
        </p:nvSpPr>
        <p:spPr>
          <a:xfrm>
            <a:off x="4627053" y="1294789"/>
            <a:ext cx="50376" cy="623519"/>
          </a:xfrm>
          <a:prstGeom prst="roundRect">
            <a:avLst>
              <a:gd name="adj" fmla="val 50000"/>
            </a:avLst>
          </a:prstGeom>
          <a:solidFill>
            <a:schemeClr val="bg1">
              <a:lumMod val="6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1661467" y="1856009"/>
            <a:ext cx="2865463" cy="1485023"/>
            <a:chOff x="2512232" y="2646135"/>
            <a:chExt cx="2865463" cy="1485023"/>
          </a:xfrm>
        </p:grpSpPr>
        <p:grpSp>
          <p:nvGrpSpPr>
            <p:cNvPr id="36" name="그룹 35"/>
            <p:cNvGrpSpPr/>
            <p:nvPr/>
          </p:nvGrpSpPr>
          <p:grpSpPr>
            <a:xfrm>
              <a:off x="4882802" y="2660817"/>
              <a:ext cx="488199" cy="233616"/>
              <a:chOff x="5824118" y="4753212"/>
              <a:chExt cx="488199" cy="233616"/>
            </a:xfrm>
          </p:grpSpPr>
          <p:sp>
            <p:nvSpPr>
              <p:cNvPr id="33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34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관리자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39" name="그룹 38"/>
            <p:cNvGrpSpPr/>
            <p:nvPr/>
          </p:nvGrpSpPr>
          <p:grpSpPr>
            <a:xfrm>
              <a:off x="2512232" y="2646135"/>
              <a:ext cx="1616123" cy="279678"/>
              <a:chOff x="2486985" y="2679387"/>
              <a:chExt cx="1616123" cy="279678"/>
            </a:xfrm>
          </p:grpSpPr>
          <p:sp>
            <p:nvSpPr>
              <p:cNvPr id="31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2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38" name="그룹 37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30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35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42" name="그룹 41"/>
            <p:cNvGrpSpPr/>
            <p:nvPr/>
          </p:nvGrpSpPr>
          <p:grpSpPr>
            <a:xfrm>
              <a:off x="4882802" y="3068141"/>
              <a:ext cx="494893" cy="233616"/>
              <a:chOff x="5824118" y="4753212"/>
              <a:chExt cx="494893" cy="233616"/>
            </a:xfrm>
          </p:grpSpPr>
          <p:sp>
            <p:nvSpPr>
              <p:cNvPr id="43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44" name="텍스트 상자 31"/>
              <p:cNvSpPr txBox="1"/>
              <p:nvPr/>
            </p:nvSpPr>
            <p:spPr>
              <a:xfrm>
                <a:off x="600340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멤버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45" name="그룹 44"/>
            <p:cNvGrpSpPr/>
            <p:nvPr/>
          </p:nvGrpSpPr>
          <p:grpSpPr>
            <a:xfrm>
              <a:off x="2512232" y="3053459"/>
              <a:ext cx="1616123" cy="279678"/>
              <a:chOff x="2486985" y="2679387"/>
              <a:chExt cx="1616123" cy="279678"/>
            </a:xfrm>
          </p:grpSpPr>
          <p:sp>
            <p:nvSpPr>
              <p:cNvPr id="46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홍길동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7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48" name="그룹 47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49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50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51" name="그룹 50"/>
            <p:cNvGrpSpPr/>
            <p:nvPr/>
          </p:nvGrpSpPr>
          <p:grpSpPr>
            <a:xfrm>
              <a:off x="4882802" y="3467151"/>
              <a:ext cx="488199" cy="233616"/>
              <a:chOff x="5824118" y="4753212"/>
              <a:chExt cx="488199" cy="233616"/>
            </a:xfrm>
          </p:grpSpPr>
          <p:sp>
            <p:nvSpPr>
              <p:cNvPr id="52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53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참관인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54" name="그룹 53"/>
            <p:cNvGrpSpPr/>
            <p:nvPr/>
          </p:nvGrpSpPr>
          <p:grpSpPr>
            <a:xfrm>
              <a:off x="2512232" y="3452469"/>
              <a:ext cx="1616123" cy="279678"/>
              <a:chOff x="2486985" y="2679387"/>
              <a:chExt cx="1616123" cy="279678"/>
            </a:xfrm>
          </p:grpSpPr>
          <p:sp>
            <p:nvSpPr>
              <p:cNvPr id="55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강감찬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6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57" name="그룹 56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58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59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60" name="그룹 59"/>
            <p:cNvGrpSpPr/>
            <p:nvPr/>
          </p:nvGrpSpPr>
          <p:grpSpPr>
            <a:xfrm>
              <a:off x="4882802" y="3866162"/>
              <a:ext cx="488199" cy="233616"/>
              <a:chOff x="5824118" y="4753212"/>
              <a:chExt cx="488199" cy="233616"/>
            </a:xfrm>
          </p:grpSpPr>
          <p:sp>
            <p:nvSpPr>
              <p:cNvPr id="61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62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관리자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63" name="그룹 62"/>
            <p:cNvGrpSpPr/>
            <p:nvPr/>
          </p:nvGrpSpPr>
          <p:grpSpPr>
            <a:xfrm>
              <a:off x="2512232" y="3851480"/>
              <a:ext cx="1616123" cy="279678"/>
              <a:chOff x="2486985" y="2679387"/>
              <a:chExt cx="1616123" cy="279678"/>
            </a:xfrm>
          </p:grpSpPr>
          <p:sp>
            <p:nvSpPr>
              <p:cNvPr id="64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5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사업</a:t>
                </a:r>
                <a:r>
                  <a:rPr kumimoji="1"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기획팀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66" name="그룹 65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67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68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</p:grpSp>
      <p:graphicFrame>
        <p:nvGraphicFramePr>
          <p:cNvPr id="7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7026983"/>
              </p:ext>
            </p:extLst>
          </p:nvPr>
        </p:nvGraphicFramePr>
        <p:xfrm>
          <a:off x="9290533" y="786383"/>
          <a:ext cx="2892502" cy="509405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모든 멤버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모든 멤버 또는 선택된 멤버 이름을 표시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클릭 시 레이어 팝업으로 멤버 리스트 표시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모든 멤버 리스트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디폴트로 모든 멤버가 선택되어 있으며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</a:rPr>
                        <a:t>그 아래에 해당 그룹의 멤버 정보를 표시</a:t>
                      </a:r>
                      <a:endParaRPr lang="en-US" altLang="ko-KR" sz="700" kern="1200" baseline="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멤버 정보</a:t>
                      </a:r>
                      <a:r>
                        <a:rPr lang="ko-KR" altLang="en-US" sz="75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5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프로필 사진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정보를 표시 </a:t>
                      </a:r>
                      <a:endParaRPr lang="en-US" altLang="ko-KR" sz="75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정보</a:t>
                      </a:r>
                      <a:r>
                        <a:rPr lang="ko-KR" altLang="en-US" sz="75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5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관리자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참관인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멤버</a:t>
                      </a:r>
                      <a:endParaRPr lang="en-US" altLang="ko-KR" sz="75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정보 수정은 불가</a:t>
                      </a:r>
                      <a:endParaRPr lang="en-US" altLang="ko-KR" sz="75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멤버</a:t>
                      </a:r>
                      <a:r>
                        <a:rPr lang="ko-KR" altLang="en-US" sz="75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 </a:t>
                      </a:r>
                      <a:r>
                        <a:rPr lang="ko-KR" altLang="en-US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정렬은 관리자</a:t>
                      </a:r>
                      <a:r>
                        <a:rPr lang="en-US" altLang="ko-KR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멤버 </a:t>
                      </a:r>
                      <a:r>
                        <a:rPr lang="en-US" altLang="ko-KR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참관인 </a:t>
                      </a:r>
                      <a:r>
                        <a:rPr lang="en-US" altLang="ko-KR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가나다</a:t>
                      </a:r>
                      <a:r>
                        <a:rPr lang="en-US" altLang="ko-KR" sz="75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en-US" altLang="ko-KR" sz="75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리스트에 모든 멤버에 포커스 활성화 및 현재 선택 아이콘 표시</a:t>
                      </a:r>
                      <a:endParaRPr lang="en-US" altLang="ko-KR" sz="75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멤버 리스트 영역 외 마우스 클릭 시 창 </a:t>
                      </a:r>
                      <a:r>
                        <a:rPr lang="en-US" altLang="ko-KR" sz="75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Closed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멤버 검색</a:t>
                      </a:r>
                      <a:endParaRPr lang="en-US" altLang="ko-KR" sz="750" b="1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초성 입력 시</a:t>
                      </a:r>
                      <a:r>
                        <a:rPr lang="ko-KR" altLang="en-US" sz="750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초성이 포함된 멤버를 검색 결과로 표시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검색된 멤버 정보 상단에 검색 결과 건 수 표기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검색된 멤버 정보는 프로필 사진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이름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부서명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직급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권한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멤버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관리자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참관인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정보를 표시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 창에 키워드 입력 후 </a:t>
                      </a:r>
                      <a:r>
                        <a:rPr lang="ko-KR" altLang="en-US" sz="750" kern="12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엔터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버튼 클릭 시 검색 결과 창 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Close</a:t>
                      </a:r>
                      <a:b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-</a:t>
                      </a:r>
                      <a:r>
                        <a:rPr lang="en-US" altLang="ko-KR" sz="750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50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키워드 입력 시 검색 결과가 </a:t>
                      </a:r>
                      <a:r>
                        <a:rPr lang="en-US" altLang="ko-KR" sz="750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750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명 이상 있을 경우  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="1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멤버 선택</a:t>
                      </a:r>
                      <a:endParaRPr lang="en-US" altLang="ko-KR" sz="750" b="1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2075" marR="0" lvl="0" indent="-92075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멤버 리스트에 마우스 오버 시 선택 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BG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활성화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2075" marR="0" lvl="0" indent="-92075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원 클릭 또는 키보드 </a:t>
                      </a:r>
                      <a:r>
                        <a:rPr lang="ko-KR" altLang="en-US" sz="750" kern="12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엔터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시 </a:t>
                      </a:r>
                      <a:r>
                        <a:rPr lang="ko-KR" altLang="en-US" sz="750" kern="12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검책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창 </a:t>
                      </a:r>
                      <a:r>
                        <a:rPr lang="en-US" altLang="ko-KR" sz="750" kern="12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Cloded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및 검색 결과</a:t>
                      </a:r>
                      <a:r>
                        <a:rPr lang="en-US" altLang="ko-KR" sz="750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적용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2075" marR="0" lvl="0" indent="-92075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2-2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="1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</a:t>
                      </a:r>
                      <a:r>
                        <a:rPr lang="en-US" altLang="ko-KR" sz="750" b="1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50" b="1" kern="12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결과가 없는 경우</a:t>
                      </a:r>
                      <a:endParaRPr lang="en-US" altLang="ko-KR" sz="750" b="1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2075" marR="0" lvl="0" indent="-92075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 결과가 없는 경우 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“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 결과가 없습니다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. “ 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라는 텍스트 메시지 출력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  <a:p>
                      <a:pPr marL="92075" marR="0" lvl="0" indent="-92075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검색 결과가 없는 상태에서 키보드 </a:t>
                      </a:r>
                      <a:r>
                        <a:rPr lang="ko-KR" altLang="en-US" sz="750" kern="12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엔터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시  검색 결과 창은 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Closed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되고 멤버 선택은 디폴트 정보인 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“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모든 멤버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”</a:t>
                      </a: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로</a:t>
                      </a:r>
                      <a: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750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표시</a:t>
                      </a:r>
                      <a:endParaRPr lang="en-US" altLang="ko-KR" sz="750" kern="12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="1" kern="12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현재 선택된 멤버 정보 표시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5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마우스 오버 시 </a:t>
                      </a:r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BG </a:t>
                      </a:r>
                      <a:r>
                        <a:rPr lang="ko-KR" altLang="en-US" sz="750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칼라 및 현재 선택</a:t>
                      </a:r>
                      <a:r>
                        <a:rPr lang="ko-KR" altLang="en-US" sz="750" kern="1200" baseline="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아이콘 정보를 함께 표시</a:t>
                      </a:r>
                      <a:endParaRPr lang="ko-KR" altLang="en-US" sz="750" kern="120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0" name="TextBox 79"/>
          <p:cNvSpPr txBox="1"/>
          <p:nvPr/>
        </p:nvSpPr>
        <p:spPr>
          <a:xfrm>
            <a:off x="5014214" y="1328634"/>
            <a:ext cx="71871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 </a:t>
            </a:r>
            <a:r>
              <a:rPr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2</a:t>
            </a:r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명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1" name="직사각형 80"/>
          <p:cNvSpPr/>
          <p:nvPr/>
        </p:nvSpPr>
        <p:spPr>
          <a:xfrm>
            <a:off x="4875212" y="949519"/>
            <a:ext cx="3246308" cy="3309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2" name="그룹 81"/>
          <p:cNvGrpSpPr/>
          <p:nvPr/>
        </p:nvGrpSpPr>
        <p:grpSpPr>
          <a:xfrm>
            <a:off x="4923081" y="999132"/>
            <a:ext cx="3146275" cy="216000"/>
            <a:chOff x="9531342" y="3492615"/>
            <a:chExt cx="3146275" cy="216000"/>
          </a:xfrm>
        </p:grpSpPr>
        <p:sp>
          <p:nvSpPr>
            <p:cNvPr id="83" name="모서리가 둥근 직사각형 82"/>
            <p:cNvSpPr/>
            <p:nvPr/>
          </p:nvSpPr>
          <p:spPr>
            <a:xfrm>
              <a:off x="9531342" y="3492615"/>
              <a:ext cx="3146275" cy="2160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>
              <a:off x="9675401" y="3492615"/>
              <a:ext cx="2936188" cy="216000"/>
              <a:chOff x="2431066" y="4877311"/>
              <a:chExt cx="2936188" cy="216000"/>
            </a:xfrm>
          </p:grpSpPr>
          <p:sp>
            <p:nvSpPr>
              <p:cNvPr id="85" name="Freeform 10"/>
              <p:cNvSpPr>
                <a:spLocks noChangeAspect="1" noChangeArrowheads="1"/>
              </p:cNvSpPr>
              <p:nvPr/>
            </p:nvSpPr>
            <p:spPr bwMode="auto">
              <a:xfrm>
                <a:off x="5259057" y="4936306"/>
                <a:ext cx="108197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86" name="텍스트 상자 31"/>
              <p:cNvSpPr txBox="1"/>
              <p:nvPr/>
            </p:nvSpPr>
            <p:spPr>
              <a:xfrm>
                <a:off x="2431066" y="4877311"/>
                <a:ext cx="937423" cy="216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r>
                  <a:rPr lang="ko-KR" altLang="en-US" sz="8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강미나</a:t>
                </a:r>
                <a:endParaRPr kumimoji="1"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grpSp>
        <p:nvGrpSpPr>
          <p:cNvPr id="96" name="그룹 95"/>
          <p:cNvGrpSpPr/>
          <p:nvPr/>
        </p:nvGrpSpPr>
        <p:grpSpPr>
          <a:xfrm>
            <a:off x="7437710" y="2080376"/>
            <a:ext cx="494893" cy="233616"/>
            <a:chOff x="5824118" y="4753212"/>
            <a:chExt cx="494893" cy="233616"/>
          </a:xfrm>
        </p:grpSpPr>
        <p:sp>
          <p:nvSpPr>
            <p:cNvPr id="97" name="Rounded Rectangle 939"/>
            <p:cNvSpPr/>
            <p:nvPr/>
          </p:nvSpPr>
          <p:spPr>
            <a:xfrm>
              <a:off x="5824118" y="475321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98" name="텍스트 상자 31"/>
            <p:cNvSpPr txBox="1"/>
            <p:nvPr/>
          </p:nvSpPr>
          <p:spPr>
            <a:xfrm>
              <a:off x="6003405" y="4818012"/>
              <a:ext cx="315606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5067140" y="2065694"/>
            <a:ext cx="1616123" cy="279678"/>
            <a:chOff x="2486985" y="2679387"/>
            <a:chExt cx="1616123" cy="279678"/>
          </a:xfrm>
        </p:grpSpPr>
        <p:sp>
          <p:nvSpPr>
            <p:cNvPr id="100" name="텍스트 상자 31"/>
            <p:cNvSpPr txBox="1"/>
            <p:nvPr/>
          </p:nvSpPr>
          <p:spPr>
            <a:xfrm>
              <a:off x="2833504" y="2680688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강미나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01" name="텍스트 상자 31"/>
            <p:cNvSpPr txBox="1"/>
            <p:nvPr/>
          </p:nvSpPr>
          <p:spPr>
            <a:xfrm>
              <a:off x="2833504" y="2823165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사업</a:t>
              </a:r>
              <a:r>
                <a:rPr kumimoji="1" lang="ko-KR" altLang="en-US" sz="7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기획팀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02" name="그룹 101"/>
            <p:cNvGrpSpPr/>
            <p:nvPr/>
          </p:nvGrpSpPr>
          <p:grpSpPr>
            <a:xfrm>
              <a:off x="2486985" y="2679387"/>
              <a:ext cx="279730" cy="279678"/>
              <a:chOff x="2512232" y="2679957"/>
              <a:chExt cx="229236" cy="229194"/>
            </a:xfrm>
          </p:grpSpPr>
          <p:sp>
            <p:nvSpPr>
              <p:cNvPr id="103" name="Oval 121"/>
              <p:cNvSpPr>
                <a:spLocks noChangeAspect="1"/>
              </p:cNvSpPr>
              <p:nvPr/>
            </p:nvSpPr>
            <p:spPr bwMode="auto">
              <a:xfrm>
                <a:off x="2512232" y="2679957"/>
                <a:ext cx="229236" cy="229194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104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54908" y="2733938"/>
                <a:ext cx="148398" cy="14837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</p:grpSp>
      <p:sp>
        <p:nvSpPr>
          <p:cNvPr id="130" name="Rectangle 119"/>
          <p:cNvSpPr/>
          <p:nvPr/>
        </p:nvSpPr>
        <p:spPr>
          <a:xfrm>
            <a:off x="1411241" y="875084"/>
            <a:ext cx="3345692" cy="2650962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38" name="직사각형 137"/>
          <p:cNvSpPr/>
          <p:nvPr/>
        </p:nvSpPr>
        <p:spPr>
          <a:xfrm>
            <a:off x="4903205" y="1577540"/>
            <a:ext cx="3194144" cy="42928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139" name="그룹 138"/>
          <p:cNvGrpSpPr/>
          <p:nvPr/>
        </p:nvGrpSpPr>
        <p:grpSpPr>
          <a:xfrm>
            <a:off x="5067140" y="1658370"/>
            <a:ext cx="2858769" cy="279678"/>
            <a:chOff x="5917905" y="2646135"/>
            <a:chExt cx="2858769" cy="279678"/>
          </a:xfrm>
        </p:grpSpPr>
        <p:grpSp>
          <p:nvGrpSpPr>
            <p:cNvPr id="87" name="그룹 86"/>
            <p:cNvGrpSpPr/>
            <p:nvPr/>
          </p:nvGrpSpPr>
          <p:grpSpPr>
            <a:xfrm>
              <a:off x="8288475" y="2660817"/>
              <a:ext cx="488199" cy="233616"/>
              <a:chOff x="5824118" y="4753212"/>
              <a:chExt cx="488199" cy="233616"/>
            </a:xfrm>
          </p:grpSpPr>
          <p:sp>
            <p:nvSpPr>
              <p:cNvPr id="88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89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관리자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>
              <a:off x="5917905" y="2646135"/>
              <a:ext cx="1616123" cy="279678"/>
              <a:chOff x="2486985" y="2679387"/>
              <a:chExt cx="1616123" cy="279678"/>
            </a:xfrm>
          </p:grpSpPr>
          <p:sp>
            <p:nvSpPr>
              <p:cNvPr id="91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92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93" name="그룹 92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94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95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</p:grpSp>
      <p:sp>
        <p:nvSpPr>
          <p:cNvPr id="140" name="모서리가 둥근 직사각형 139"/>
          <p:cNvSpPr/>
          <p:nvPr/>
        </p:nvSpPr>
        <p:spPr>
          <a:xfrm>
            <a:off x="1448563" y="529640"/>
            <a:ext cx="1034124" cy="246081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rPr>
              <a:t> 모든 멤버     ▼</a:t>
            </a:r>
          </a:p>
        </p:txBody>
      </p:sp>
      <p:sp>
        <p:nvSpPr>
          <p:cNvPr id="141" name="모서리가 둥근 직사각형 140"/>
          <p:cNvSpPr/>
          <p:nvPr/>
        </p:nvSpPr>
        <p:spPr>
          <a:xfrm>
            <a:off x="4854237" y="529640"/>
            <a:ext cx="1034124" cy="246081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rPr>
              <a:t> 모든 멤버     ▼</a:t>
            </a:r>
          </a:p>
        </p:txBody>
      </p:sp>
      <p:grpSp>
        <p:nvGrpSpPr>
          <p:cNvPr id="152" name="그룹 151"/>
          <p:cNvGrpSpPr/>
          <p:nvPr/>
        </p:nvGrpSpPr>
        <p:grpSpPr>
          <a:xfrm>
            <a:off x="1661581" y="1447120"/>
            <a:ext cx="233048" cy="141468"/>
            <a:chOff x="2693324" y="5452264"/>
            <a:chExt cx="299087" cy="181556"/>
          </a:xfrm>
        </p:grpSpPr>
        <p:pic>
          <p:nvPicPr>
            <p:cNvPr id="148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3324" y="5475907"/>
              <a:ext cx="141146" cy="14112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15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3632" y="5452264"/>
              <a:ext cx="181590" cy="181556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151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51265" y="5475907"/>
              <a:ext cx="141146" cy="14112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cxnSp>
        <p:nvCxnSpPr>
          <p:cNvPr id="156" name="직선 연결선 155"/>
          <p:cNvCxnSpPr/>
          <p:nvPr/>
        </p:nvCxnSpPr>
        <p:spPr>
          <a:xfrm>
            <a:off x="1522182" y="1765806"/>
            <a:ext cx="3020038" cy="0"/>
          </a:xfrm>
          <a:prstGeom prst="line">
            <a:avLst/>
          </a:prstGeom>
          <a:ln w="3175">
            <a:solidFill>
              <a:schemeClr val="bg1">
                <a:lumMod val="9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Rectangle 119"/>
          <p:cNvSpPr/>
          <p:nvPr/>
        </p:nvSpPr>
        <p:spPr>
          <a:xfrm>
            <a:off x="1413894" y="477413"/>
            <a:ext cx="1118621" cy="33614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69" name="Rectangle 119"/>
          <p:cNvSpPr/>
          <p:nvPr/>
        </p:nvSpPr>
        <p:spPr>
          <a:xfrm>
            <a:off x="4827772" y="875084"/>
            <a:ext cx="3345692" cy="166792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70" name="직사각형 169"/>
          <p:cNvSpPr/>
          <p:nvPr/>
        </p:nvSpPr>
        <p:spPr>
          <a:xfrm>
            <a:off x="4863482" y="3061354"/>
            <a:ext cx="3258038" cy="797797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/>
          <p:cNvSpPr txBox="1"/>
          <p:nvPr/>
        </p:nvSpPr>
        <p:spPr>
          <a:xfrm>
            <a:off x="5014214" y="3516610"/>
            <a:ext cx="1097023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결과가 없습니다</a:t>
            </a:r>
            <a:r>
              <a:rPr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2" name="직사각형 171"/>
          <p:cNvSpPr/>
          <p:nvPr/>
        </p:nvSpPr>
        <p:spPr>
          <a:xfrm>
            <a:off x="4875212" y="3095930"/>
            <a:ext cx="3246308" cy="3309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3" name="그룹 172"/>
          <p:cNvGrpSpPr/>
          <p:nvPr/>
        </p:nvGrpSpPr>
        <p:grpSpPr>
          <a:xfrm>
            <a:off x="4923081" y="3145543"/>
            <a:ext cx="3146275" cy="216000"/>
            <a:chOff x="9531342" y="3492615"/>
            <a:chExt cx="3146275" cy="216000"/>
          </a:xfrm>
        </p:grpSpPr>
        <p:sp>
          <p:nvSpPr>
            <p:cNvPr id="174" name="모서리가 둥근 직사각형 173"/>
            <p:cNvSpPr/>
            <p:nvPr/>
          </p:nvSpPr>
          <p:spPr>
            <a:xfrm>
              <a:off x="9531342" y="3492615"/>
              <a:ext cx="3146275" cy="2160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9675401" y="3492615"/>
              <a:ext cx="2936188" cy="216000"/>
              <a:chOff x="2431066" y="4877311"/>
              <a:chExt cx="2936188" cy="216000"/>
            </a:xfrm>
          </p:grpSpPr>
          <p:sp>
            <p:nvSpPr>
              <p:cNvPr id="176" name="Freeform 10"/>
              <p:cNvSpPr>
                <a:spLocks noChangeAspect="1" noChangeArrowheads="1"/>
              </p:cNvSpPr>
              <p:nvPr/>
            </p:nvSpPr>
            <p:spPr bwMode="auto">
              <a:xfrm>
                <a:off x="5259057" y="4936306"/>
                <a:ext cx="108197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177" name="텍스트 상자 31"/>
              <p:cNvSpPr txBox="1"/>
              <p:nvPr/>
            </p:nvSpPr>
            <p:spPr>
              <a:xfrm>
                <a:off x="2431066" y="4877311"/>
                <a:ext cx="937423" cy="216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r>
                  <a:rPr lang="ko-KR" altLang="en-US" sz="8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꾹</a:t>
                </a:r>
                <a:endParaRPr kumimoji="1"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198" name="Rectangle 119"/>
          <p:cNvSpPr/>
          <p:nvPr/>
        </p:nvSpPr>
        <p:spPr>
          <a:xfrm>
            <a:off x="4827772" y="2629069"/>
            <a:ext cx="3345692" cy="129482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00" name="직사각형 199"/>
          <p:cNvSpPr/>
          <p:nvPr/>
        </p:nvSpPr>
        <p:spPr>
          <a:xfrm>
            <a:off x="1457809" y="4007276"/>
            <a:ext cx="3258038" cy="255178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직사각형 200"/>
          <p:cNvSpPr/>
          <p:nvPr/>
        </p:nvSpPr>
        <p:spPr>
          <a:xfrm>
            <a:off x="1482238" y="4870513"/>
            <a:ext cx="3095208" cy="428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1899486" y="4520590"/>
            <a:ext cx="51994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멤버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3" name="직사각형 202"/>
          <p:cNvSpPr/>
          <p:nvPr/>
        </p:nvSpPr>
        <p:spPr>
          <a:xfrm>
            <a:off x="1469539" y="4041853"/>
            <a:ext cx="3246308" cy="3309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4" name="그룹 203"/>
          <p:cNvGrpSpPr/>
          <p:nvPr/>
        </p:nvGrpSpPr>
        <p:grpSpPr>
          <a:xfrm>
            <a:off x="1517408" y="4091466"/>
            <a:ext cx="3146275" cy="216000"/>
            <a:chOff x="9531342" y="3492615"/>
            <a:chExt cx="3146275" cy="2160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531342" y="3492615"/>
              <a:ext cx="3146275" cy="2160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206" name="그룹 205"/>
            <p:cNvGrpSpPr/>
            <p:nvPr/>
          </p:nvGrpSpPr>
          <p:grpSpPr>
            <a:xfrm>
              <a:off x="9675401" y="3492615"/>
              <a:ext cx="2936188" cy="216000"/>
              <a:chOff x="2431066" y="4877311"/>
              <a:chExt cx="2936188" cy="216000"/>
            </a:xfrm>
          </p:grpSpPr>
          <p:sp>
            <p:nvSpPr>
              <p:cNvPr id="207" name="Freeform 10"/>
              <p:cNvSpPr>
                <a:spLocks noChangeAspect="1" noChangeArrowheads="1"/>
              </p:cNvSpPr>
              <p:nvPr/>
            </p:nvSpPr>
            <p:spPr bwMode="auto">
              <a:xfrm>
                <a:off x="5259057" y="4936306"/>
                <a:ext cx="108197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sp>
            <p:nvSpPr>
              <p:cNvPr id="208" name="텍스트 상자 31"/>
              <p:cNvSpPr txBox="1"/>
              <p:nvPr/>
            </p:nvSpPr>
            <p:spPr>
              <a:xfrm>
                <a:off x="2431066" y="4877311"/>
                <a:ext cx="937423" cy="216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사람 이름으로 검색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209" name="Rounded Rectangle 22"/>
          <p:cNvSpPr/>
          <p:nvPr/>
        </p:nvSpPr>
        <p:spPr>
          <a:xfrm>
            <a:off x="4627053" y="4387123"/>
            <a:ext cx="50376" cy="623519"/>
          </a:xfrm>
          <a:prstGeom prst="roundRect">
            <a:avLst>
              <a:gd name="adj" fmla="val 50000"/>
            </a:avLst>
          </a:prstGeom>
          <a:solidFill>
            <a:schemeClr val="bg1">
              <a:lumMod val="6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10" name="그룹 209"/>
          <p:cNvGrpSpPr/>
          <p:nvPr/>
        </p:nvGrpSpPr>
        <p:grpSpPr>
          <a:xfrm>
            <a:off x="1661467" y="4948343"/>
            <a:ext cx="2865463" cy="1485023"/>
            <a:chOff x="2512232" y="2646135"/>
            <a:chExt cx="2865463" cy="1485023"/>
          </a:xfrm>
        </p:grpSpPr>
        <p:grpSp>
          <p:nvGrpSpPr>
            <p:cNvPr id="211" name="그룹 210"/>
            <p:cNvGrpSpPr/>
            <p:nvPr/>
          </p:nvGrpSpPr>
          <p:grpSpPr>
            <a:xfrm>
              <a:off x="4882802" y="2660817"/>
              <a:ext cx="488199" cy="233616"/>
              <a:chOff x="5824118" y="4753212"/>
              <a:chExt cx="488199" cy="233616"/>
            </a:xfrm>
          </p:grpSpPr>
          <p:sp>
            <p:nvSpPr>
              <p:cNvPr id="245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246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관리자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12" name="그룹 211"/>
            <p:cNvGrpSpPr/>
            <p:nvPr/>
          </p:nvGrpSpPr>
          <p:grpSpPr>
            <a:xfrm>
              <a:off x="2512232" y="2646135"/>
              <a:ext cx="1616123" cy="279678"/>
              <a:chOff x="2486985" y="2679387"/>
              <a:chExt cx="1616123" cy="279678"/>
            </a:xfrm>
          </p:grpSpPr>
          <p:sp>
            <p:nvSpPr>
              <p:cNvPr id="240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1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42" name="그룹 241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243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244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213" name="그룹 212"/>
            <p:cNvGrpSpPr/>
            <p:nvPr/>
          </p:nvGrpSpPr>
          <p:grpSpPr>
            <a:xfrm>
              <a:off x="4882802" y="3068141"/>
              <a:ext cx="494893" cy="233616"/>
              <a:chOff x="5824118" y="4753212"/>
              <a:chExt cx="494893" cy="233616"/>
            </a:xfrm>
          </p:grpSpPr>
          <p:sp>
            <p:nvSpPr>
              <p:cNvPr id="238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239" name="텍스트 상자 31"/>
              <p:cNvSpPr txBox="1"/>
              <p:nvPr/>
            </p:nvSpPr>
            <p:spPr>
              <a:xfrm>
                <a:off x="600340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멤버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14" name="그룹 213"/>
            <p:cNvGrpSpPr/>
            <p:nvPr/>
          </p:nvGrpSpPr>
          <p:grpSpPr>
            <a:xfrm>
              <a:off x="2512232" y="3053459"/>
              <a:ext cx="1616123" cy="279678"/>
              <a:chOff x="2486985" y="2679387"/>
              <a:chExt cx="1616123" cy="279678"/>
            </a:xfrm>
          </p:grpSpPr>
          <p:sp>
            <p:nvSpPr>
              <p:cNvPr id="233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홍길동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34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35" name="그룹 234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236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237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215" name="그룹 214"/>
            <p:cNvGrpSpPr/>
            <p:nvPr/>
          </p:nvGrpSpPr>
          <p:grpSpPr>
            <a:xfrm>
              <a:off x="4882802" y="3467151"/>
              <a:ext cx="488199" cy="233616"/>
              <a:chOff x="5824118" y="4753212"/>
              <a:chExt cx="488199" cy="233616"/>
            </a:xfrm>
          </p:grpSpPr>
          <p:sp>
            <p:nvSpPr>
              <p:cNvPr id="231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232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참관인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16" name="그룹 215"/>
            <p:cNvGrpSpPr/>
            <p:nvPr/>
          </p:nvGrpSpPr>
          <p:grpSpPr>
            <a:xfrm>
              <a:off x="2512232" y="3452469"/>
              <a:ext cx="1616123" cy="279678"/>
              <a:chOff x="2486985" y="2679387"/>
              <a:chExt cx="1616123" cy="279678"/>
            </a:xfrm>
          </p:grpSpPr>
          <p:sp>
            <p:nvSpPr>
              <p:cNvPr id="226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강감찬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27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28" name="그룹 227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229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230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217" name="그룹 216"/>
            <p:cNvGrpSpPr/>
            <p:nvPr/>
          </p:nvGrpSpPr>
          <p:grpSpPr>
            <a:xfrm>
              <a:off x="4882802" y="3866162"/>
              <a:ext cx="488199" cy="233616"/>
              <a:chOff x="5824118" y="4753212"/>
              <a:chExt cx="488199" cy="233616"/>
            </a:xfrm>
          </p:grpSpPr>
          <p:sp>
            <p:nvSpPr>
              <p:cNvPr id="224" name="Rounded Rectangle 939"/>
              <p:cNvSpPr/>
              <p:nvPr/>
            </p:nvSpPr>
            <p:spPr>
              <a:xfrm>
                <a:off x="5824118" y="475321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/>
              </a:p>
            </p:txBody>
          </p:sp>
          <p:sp>
            <p:nvSpPr>
              <p:cNvPr id="225" name="텍스트 상자 31"/>
              <p:cNvSpPr txBox="1"/>
              <p:nvPr/>
            </p:nvSpPr>
            <p:spPr>
              <a:xfrm>
                <a:off x="5935565" y="4818012"/>
                <a:ext cx="31560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관리자</a:t>
                </a:r>
                <a:endPara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218" name="그룹 217"/>
            <p:cNvGrpSpPr/>
            <p:nvPr/>
          </p:nvGrpSpPr>
          <p:grpSpPr>
            <a:xfrm>
              <a:off x="2512232" y="3851480"/>
              <a:ext cx="1616123" cy="279678"/>
              <a:chOff x="2486985" y="2679387"/>
              <a:chExt cx="1616123" cy="279678"/>
            </a:xfrm>
          </p:grpSpPr>
          <p:sp>
            <p:nvSpPr>
              <p:cNvPr id="219" name="텍스트 상자 31"/>
              <p:cNvSpPr txBox="1"/>
              <p:nvPr/>
            </p:nvSpPr>
            <p:spPr>
              <a:xfrm>
                <a:off x="2833504" y="2680688"/>
                <a:ext cx="126960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8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endParaRPr kumimoji="1" lang="ko-KR" altLang="en-US" sz="8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20" name="텍스트 상자 31"/>
              <p:cNvSpPr txBox="1"/>
              <p:nvPr/>
            </p:nvSpPr>
            <p:spPr>
              <a:xfrm>
                <a:off x="2833504" y="2823165"/>
                <a:ext cx="126960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사업</a:t>
                </a:r>
                <a:r>
                  <a:rPr kumimoji="1"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기획팀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|</a:t>
                </a:r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 연구원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21" name="그룹 220"/>
              <p:cNvGrpSpPr/>
              <p:nvPr/>
            </p:nvGrpSpPr>
            <p:grpSpPr>
              <a:xfrm>
                <a:off x="2486985" y="2679387"/>
                <a:ext cx="279730" cy="279678"/>
                <a:chOff x="2512232" y="2679957"/>
                <a:chExt cx="229236" cy="229194"/>
              </a:xfrm>
            </p:grpSpPr>
            <p:sp>
              <p:nvSpPr>
                <p:cNvPr id="222" name="Oval 121"/>
                <p:cNvSpPr>
                  <a:spLocks noChangeAspect="1"/>
                </p:cNvSpPr>
                <p:nvPr/>
              </p:nvSpPr>
              <p:spPr bwMode="auto">
                <a:xfrm>
                  <a:off x="2512232" y="2679957"/>
                  <a:ext cx="229236" cy="229194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</a:endParaRPr>
                </a:p>
              </p:txBody>
            </p:sp>
            <p:pic>
              <p:nvPicPr>
                <p:cNvPr id="223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54908" y="2733938"/>
                  <a:ext cx="148398" cy="14837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</p:grpSp>
      </p:grpSp>
      <p:sp>
        <p:nvSpPr>
          <p:cNvPr id="254" name="모서리가 둥근 직사각형 253"/>
          <p:cNvSpPr/>
          <p:nvPr/>
        </p:nvSpPr>
        <p:spPr>
          <a:xfrm>
            <a:off x="1448563" y="3621974"/>
            <a:ext cx="1034124" cy="246081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rPr>
              <a:t> </a:t>
            </a:r>
            <a:r>
              <a:rPr lang="ko-KR" altLang="en-US" sz="8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rPr>
              <a:t>강미나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rPr>
              <a:t>        ▼</a:t>
            </a:r>
          </a:p>
        </p:txBody>
      </p:sp>
      <p:grpSp>
        <p:nvGrpSpPr>
          <p:cNvPr id="255" name="그룹 254"/>
          <p:cNvGrpSpPr/>
          <p:nvPr/>
        </p:nvGrpSpPr>
        <p:grpSpPr>
          <a:xfrm>
            <a:off x="1661581" y="4539454"/>
            <a:ext cx="233048" cy="141468"/>
            <a:chOff x="2693324" y="5452264"/>
            <a:chExt cx="299087" cy="181556"/>
          </a:xfrm>
        </p:grpSpPr>
        <p:pic>
          <p:nvPicPr>
            <p:cNvPr id="256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3324" y="5475907"/>
              <a:ext cx="141146" cy="14112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57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3632" y="5452264"/>
              <a:ext cx="181590" cy="181556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58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51265" y="5475907"/>
              <a:ext cx="141146" cy="14112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cxnSp>
        <p:nvCxnSpPr>
          <p:cNvPr id="259" name="직선 연결선 258"/>
          <p:cNvCxnSpPr/>
          <p:nvPr/>
        </p:nvCxnSpPr>
        <p:spPr>
          <a:xfrm>
            <a:off x="1522182" y="4833201"/>
            <a:ext cx="3020038" cy="0"/>
          </a:xfrm>
          <a:prstGeom prst="line">
            <a:avLst/>
          </a:prstGeom>
          <a:ln w="3175">
            <a:solidFill>
              <a:schemeClr val="bg1">
                <a:lumMod val="9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Rectangle 119"/>
          <p:cNvSpPr/>
          <p:nvPr/>
        </p:nvSpPr>
        <p:spPr>
          <a:xfrm>
            <a:off x="1413894" y="3569747"/>
            <a:ext cx="1118621" cy="33614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61" name="Freeform 429"/>
          <p:cNvSpPr>
            <a:spLocks noChangeArrowheads="1"/>
          </p:cNvSpPr>
          <p:nvPr/>
        </p:nvSpPr>
        <p:spPr bwMode="auto">
          <a:xfrm>
            <a:off x="3815603" y="5047816"/>
            <a:ext cx="110114" cy="83948"/>
          </a:xfrm>
          <a:custGeom>
            <a:avLst/>
            <a:gdLst>
              <a:gd name="T0" fmla="*/ 145 w 446"/>
              <a:gd name="T1" fmla="*/ 266 h 340"/>
              <a:gd name="T2" fmla="*/ 39 w 446"/>
              <a:gd name="T3" fmla="*/ 160 h 340"/>
              <a:gd name="T4" fmla="*/ 0 w 446"/>
              <a:gd name="T5" fmla="*/ 194 h 340"/>
              <a:gd name="T6" fmla="*/ 145 w 446"/>
              <a:gd name="T7" fmla="*/ 339 h 340"/>
              <a:gd name="T8" fmla="*/ 445 w 446"/>
              <a:gd name="T9" fmla="*/ 34 h 340"/>
              <a:gd name="T10" fmla="*/ 411 w 446"/>
              <a:gd name="T11" fmla="*/ 0 h 340"/>
              <a:gd name="T12" fmla="*/ 145 w 446"/>
              <a:gd name="T13" fmla="*/ 266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46" h="340">
                <a:moveTo>
                  <a:pt x="145" y="266"/>
                </a:moveTo>
                <a:lnTo>
                  <a:pt x="39" y="160"/>
                </a:lnTo>
                <a:lnTo>
                  <a:pt x="0" y="194"/>
                </a:lnTo>
                <a:lnTo>
                  <a:pt x="145" y="339"/>
                </a:lnTo>
                <a:lnTo>
                  <a:pt x="445" y="34"/>
                </a:lnTo>
                <a:lnTo>
                  <a:pt x="411" y="0"/>
                </a:lnTo>
                <a:lnTo>
                  <a:pt x="145" y="266"/>
                </a:ln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accent5"/>
            </a:solidFill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68" name="모서리가 둥근 직사각형 267"/>
          <p:cNvSpPr/>
          <p:nvPr/>
        </p:nvSpPr>
        <p:spPr>
          <a:xfrm>
            <a:off x="4854237" y="2757451"/>
            <a:ext cx="1034124" cy="246081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rPr>
              <a:t>강미나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69" name="Freeform 429"/>
          <p:cNvSpPr>
            <a:spLocks noChangeArrowheads="1"/>
          </p:cNvSpPr>
          <p:nvPr/>
        </p:nvSpPr>
        <p:spPr bwMode="auto">
          <a:xfrm>
            <a:off x="2482687" y="1473343"/>
            <a:ext cx="110114" cy="83948"/>
          </a:xfrm>
          <a:custGeom>
            <a:avLst/>
            <a:gdLst>
              <a:gd name="T0" fmla="*/ 145 w 446"/>
              <a:gd name="T1" fmla="*/ 266 h 340"/>
              <a:gd name="T2" fmla="*/ 39 w 446"/>
              <a:gd name="T3" fmla="*/ 160 h 340"/>
              <a:gd name="T4" fmla="*/ 0 w 446"/>
              <a:gd name="T5" fmla="*/ 194 h 340"/>
              <a:gd name="T6" fmla="*/ 145 w 446"/>
              <a:gd name="T7" fmla="*/ 339 h 340"/>
              <a:gd name="T8" fmla="*/ 445 w 446"/>
              <a:gd name="T9" fmla="*/ 34 h 340"/>
              <a:gd name="T10" fmla="*/ 411 w 446"/>
              <a:gd name="T11" fmla="*/ 0 h 340"/>
              <a:gd name="T12" fmla="*/ 145 w 446"/>
              <a:gd name="T13" fmla="*/ 266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46" h="340">
                <a:moveTo>
                  <a:pt x="145" y="266"/>
                </a:moveTo>
                <a:lnTo>
                  <a:pt x="39" y="160"/>
                </a:lnTo>
                <a:lnTo>
                  <a:pt x="0" y="194"/>
                </a:lnTo>
                <a:lnTo>
                  <a:pt x="145" y="339"/>
                </a:lnTo>
                <a:lnTo>
                  <a:pt x="445" y="34"/>
                </a:lnTo>
                <a:lnTo>
                  <a:pt x="411" y="0"/>
                </a:lnTo>
                <a:lnTo>
                  <a:pt x="145" y="266"/>
                </a:ln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accent5"/>
            </a:solidFill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47" name="Rectangle 119"/>
          <p:cNvSpPr/>
          <p:nvPr/>
        </p:nvSpPr>
        <p:spPr>
          <a:xfrm>
            <a:off x="1411241" y="4833201"/>
            <a:ext cx="3345692" cy="489712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1264708" y="41925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4774153" y="79270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6844715" y="169883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6844715" y="315855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2-2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1320896" y="859519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2431193" y="410366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dirty="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7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/>
              <a:t>파일</a:t>
            </a:r>
            <a:r>
              <a:rPr kumimoji="0" lang="en-US" altLang="ko-KR" smtClean="0"/>
              <a:t>(3/3</a:t>
            </a:r>
            <a:r>
              <a:rPr kumimoji="0" lang="en-US" altLang="ko-KR"/>
              <a:t>)</a:t>
            </a:r>
            <a:endParaRPr kumimoji="0" lang="ko-KR" altLang="en-US" dirty="0"/>
          </a:p>
        </p:txBody>
      </p:sp>
      <p:sp>
        <p:nvSpPr>
          <p:cNvPr id="168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파일</a:t>
            </a:r>
            <a:endParaRPr kumimoji="0" lang="ko-KR" altLang="en-US" dirty="0"/>
          </a:p>
        </p:txBody>
      </p:sp>
      <p:sp>
        <p:nvSpPr>
          <p:cNvPr id="184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SQ5.2.3</a:t>
            </a:r>
            <a:endParaRPr kumimoji="0"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5936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1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9185113"/>
              </p:ext>
            </p:extLst>
          </p:nvPr>
        </p:nvGraphicFramePr>
        <p:xfrm>
          <a:off x="9290533" y="786383"/>
          <a:ext cx="2892502" cy="59317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‘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내 파일에 저장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’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클릭시 출력되는 팝업으로</a:t>
                      </a:r>
                      <a:endParaRPr kumimoji="1" lang="en-US" altLang="ko-KR" sz="800" baseline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내 파일에서 사용하는 위치 선택 팝업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ST8.1.3.1.2) </a:t>
                      </a: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출력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1" name="모서리가 둥근 직사각형 90"/>
          <p:cNvSpPr/>
          <p:nvPr/>
        </p:nvSpPr>
        <p:spPr>
          <a:xfrm>
            <a:off x="746774" y="5584985"/>
            <a:ext cx="2415920" cy="331763"/>
          </a:xfrm>
          <a:prstGeom prst="roundRect">
            <a:avLst>
              <a:gd name="adj" fmla="val 50000"/>
            </a:avLst>
          </a:prstGeom>
          <a:solidFill>
            <a:srgbClr val="FEFBD8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800" smtClean="0">
                <a:solidFill>
                  <a:schemeClr val="tx1"/>
                </a:solidFill>
              </a:rPr>
              <a:t>폴더명 </a:t>
            </a:r>
            <a:r>
              <a:rPr kumimoji="1" lang="en-US" altLang="ko-KR" sz="800" dirty="0" smtClean="0">
                <a:solidFill>
                  <a:schemeClr val="tx1"/>
                </a:solidFill>
              </a:rPr>
              <a:t>D</a:t>
            </a:r>
            <a:r>
              <a:rPr kumimoji="1" lang="ko-KR" altLang="en-US" sz="800" dirty="0" smtClean="0">
                <a:solidFill>
                  <a:schemeClr val="tx1"/>
                </a:solidFill>
              </a:rPr>
              <a:t>에 성공적으로 저장하였습니다</a:t>
            </a:r>
            <a:r>
              <a:rPr kumimoji="1" lang="en-US" altLang="ko-KR" sz="800" dirty="0" smtClean="0">
                <a:solidFill>
                  <a:schemeClr val="tx1"/>
                </a:solidFill>
              </a:rPr>
              <a:t>. </a:t>
            </a:r>
            <a:endParaRPr kumimoji="1" lang="ko-KR" altLang="en-US" sz="800" u="sng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7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en-US" altLang="ko-KR" smtClean="0"/>
              <a:t>#</a:t>
            </a:r>
            <a:r>
              <a:rPr kumimoji="0" lang="ko-KR" altLang="en-US" smtClean="0"/>
              <a:t>파일함 폴더 선택</a:t>
            </a:r>
            <a:endParaRPr kumimoji="0" lang="ko-KR" altLang="en-US" dirty="0"/>
          </a:p>
        </p:txBody>
      </p:sp>
      <p:sp>
        <p:nvSpPr>
          <p:cNvPr id="98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파일</a:t>
            </a:r>
            <a:endParaRPr kumimoji="0" lang="ko-KR" altLang="en-US" dirty="0"/>
          </a:p>
        </p:txBody>
      </p:sp>
      <p:sp>
        <p:nvSpPr>
          <p:cNvPr id="99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smtClean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</a:rPr>
              <a:t>ST8.1.3.1.2 </a:t>
            </a:r>
            <a:endParaRPr kumimoji="0" lang="ko-KR" altLang="en-US" dirty="0"/>
          </a:p>
        </p:txBody>
      </p:sp>
      <p:grpSp>
        <p:nvGrpSpPr>
          <p:cNvPr id="134" name="그룹 133"/>
          <p:cNvGrpSpPr/>
          <p:nvPr/>
        </p:nvGrpSpPr>
        <p:grpSpPr>
          <a:xfrm>
            <a:off x="4485518" y="662178"/>
            <a:ext cx="3453828" cy="513721"/>
            <a:chOff x="1932818" y="2852928"/>
            <a:chExt cx="3453828" cy="513721"/>
          </a:xfrm>
        </p:grpSpPr>
        <p:sp>
          <p:nvSpPr>
            <p:cNvPr id="135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36" name="그룹 135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4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4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37" name="그룹 136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39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40" name="그룹 139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41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42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38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45" name="그룹 144"/>
          <p:cNvGrpSpPr/>
          <p:nvPr/>
        </p:nvGrpSpPr>
        <p:grpSpPr>
          <a:xfrm>
            <a:off x="7458222" y="1017947"/>
            <a:ext cx="1075093" cy="1188038"/>
            <a:chOff x="3079760" y="2350778"/>
            <a:chExt cx="1075093" cy="1188038"/>
          </a:xfrm>
        </p:grpSpPr>
        <p:sp>
          <p:nvSpPr>
            <p:cNvPr id="146" name="직사각형 145"/>
            <p:cNvSpPr/>
            <p:nvPr/>
          </p:nvSpPr>
          <p:spPr>
            <a:xfrm>
              <a:off x="3079760" y="2350778"/>
              <a:ext cx="1075093" cy="11880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65000"/>
                </a:schemeClr>
              </a:solidFill>
            </a:ln>
          </p:spPr>
          <p:txBody>
            <a:bodyPr wrap="none" lIns="144000" tIns="36000" rIns="36000" bIns="36000" rtlCol="0" anchor="ctr">
              <a:noAutofit/>
            </a:bodyPr>
            <a:lstStyle/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다운로드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관리자</a:t>
              </a:r>
              <a:endPara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플래그</a:t>
              </a:r>
            </a:p>
            <a:p>
              <a:pPr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schemeClr val="bg1"/>
                  </a:solidFill>
                  <a:latin typeface="나눔고딕" pitchFamily="50" charset="-127"/>
                  <a:ea typeface="나눔고딕" pitchFamily="50" charset="-127"/>
                </a:rPr>
                <a:t>삭제</a:t>
              </a:r>
              <a:endParaRPr lang="en-US" altLang="ko-KR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3106255" y="2683595"/>
              <a:ext cx="1017745" cy="24295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108000" indent="-216000">
                <a:lnSpc>
                  <a:spcPts val="1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rPr>
                <a:t> </a:t>
              </a:r>
              <a:r>
                <a:rPr lang="ko-KR" altLang="en-US" sz="800" b="1" smtClean="0">
                  <a:solidFill>
                    <a:srgbClr val="0000FF"/>
                  </a:solidFill>
                  <a:latin typeface="나눔고딕" pitchFamily="50" charset="-127"/>
                  <a:ea typeface="나눔고딕" pitchFamily="50" charset="-127"/>
                </a:rPr>
                <a:t>내 파일에 </a:t>
              </a:r>
              <a:r>
                <a:rPr lang="ko-KR" altLang="en-US" sz="800" b="1" dirty="0" smtClean="0">
                  <a:solidFill>
                    <a:srgbClr val="0000FF"/>
                  </a:solidFill>
                  <a:latin typeface="나눔고딕" pitchFamily="50" charset="-127"/>
                  <a:ea typeface="나눔고딕" pitchFamily="50" charset="-127"/>
                </a:rPr>
                <a:t>저장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438399" y="638577"/>
            <a:ext cx="3201767" cy="4549985"/>
            <a:chOff x="532033" y="645653"/>
            <a:chExt cx="3201767" cy="4549985"/>
          </a:xfrm>
        </p:grpSpPr>
        <p:grpSp>
          <p:nvGrpSpPr>
            <p:cNvPr id="100" name="그룹 99"/>
            <p:cNvGrpSpPr/>
            <p:nvPr/>
          </p:nvGrpSpPr>
          <p:grpSpPr>
            <a:xfrm>
              <a:off x="532033" y="645653"/>
              <a:ext cx="3201767" cy="4549985"/>
              <a:chOff x="532033" y="645653"/>
              <a:chExt cx="4536504" cy="4549985"/>
            </a:xfrm>
          </p:grpSpPr>
          <p:sp>
            <p:nvSpPr>
              <p:cNvPr id="101" name="Title Bar" descr="&lt;SmartSettings&gt;&lt;SmartResize anchorLeft=&quot;Absolute&quot; anchorTop=&quot;Absolute&quot; anchorRight=&quot;Absolute&quot; anchorBottom=&quot;None&quot; /&gt;&lt;/SmartSettings&gt;"/>
              <p:cNvSpPr/>
              <p:nvPr>
                <p:custDataLst>
                  <p:tags r:id="rId2"/>
                </p:custDataLst>
              </p:nvPr>
            </p:nvSpPr>
            <p:spPr>
              <a:xfrm>
                <a:off x="532033" y="645653"/>
                <a:ext cx="4536504" cy="454998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2286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cxnSp>
            <p:nvCxnSpPr>
              <p:cNvPr id="102" name="직선 연결선 101"/>
              <p:cNvCxnSpPr/>
              <p:nvPr/>
            </p:nvCxnSpPr>
            <p:spPr>
              <a:xfrm>
                <a:off x="616279" y="1031862"/>
                <a:ext cx="4394062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3" name="TextBox 102"/>
            <p:cNvSpPr txBox="1"/>
            <p:nvPr/>
          </p:nvSpPr>
          <p:spPr>
            <a:xfrm>
              <a:off x="705043" y="752448"/>
              <a:ext cx="661742" cy="195956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위치 선택</a:t>
              </a:r>
              <a:endPara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Close Button" descr="&lt;SmartSettings&gt;&lt;SmartResize anchorLeft=&quot;None&quot; anchorTop=&quot;Absolute&quot; anchorRight=&quot;Absolute&quot; anchorBottom=&quot;None&quot; /&gt;&lt;/SmartSettings&gt;"/>
            <p:cNvSpPr>
              <a:spLocks noEditPoints="1"/>
            </p:cNvSpPr>
            <p:nvPr>
              <p:custDataLst>
                <p:tags r:id="rId1"/>
              </p:custDataLst>
            </p:nvPr>
          </p:nvSpPr>
          <p:spPr bwMode="auto">
            <a:xfrm>
              <a:off x="3449013" y="799496"/>
              <a:ext cx="123053" cy="116625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5" name="직사각형 104"/>
            <p:cNvSpPr/>
            <p:nvPr/>
          </p:nvSpPr>
          <p:spPr>
            <a:xfrm>
              <a:off x="747911" y="1215802"/>
              <a:ext cx="2757289" cy="314930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2255429" y="4628427"/>
              <a:ext cx="1126484" cy="277391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12700" dist="38100" dir="2700000" algn="tl" rotWithShape="0">
                <a:schemeClr val="bg1">
                  <a:lumMod val="75000"/>
                  <a:alpha val="40000"/>
                </a:schemeClr>
              </a:outerShdw>
            </a:effectLst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15000"/>
                </a:lnSpc>
                <a:spcBef>
                  <a:spcPct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취소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949287" y="4628427"/>
              <a:ext cx="1126484" cy="277391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12700" dist="38100" dir="2700000" algn="tl" rotWithShape="0">
                <a:schemeClr val="bg1">
                  <a:lumMod val="75000"/>
                  <a:alpha val="40000"/>
                </a:schemeClr>
              </a:outerShdw>
            </a:effectLst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900" smtClean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9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8" name="모서리가 둥근 직사각형 107"/>
            <p:cNvSpPr/>
            <p:nvPr/>
          </p:nvSpPr>
          <p:spPr>
            <a:xfrm>
              <a:off x="3359696" y="1340043"/>
              <a:ext cx="45719" cy="1969526"/>
            </a:xfrm>
            <a:prstGeom prst="roundRect">
              <a:avLst>
                <a:gd name="adj" fmla="val 38585"/>
              </a:avLst>
            </a:prstGeom>
            <a:solidFill>
              <a:schemeClr val="bg1">
                <a:lumMod val="65000"/>
              </a:scheme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1259205" y="1430949"/>
              <a:ext cx="1292341" cy="13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전체 파일</a:t>
              </a:r>
              <a:endParaRPr lang="en-US" altLang="ko-KR" sz="800" smtClean="0">
                <a:latin typeface="+mn-ea"/>
                <a:ea typeface="+mn-ea"/>
              </a:endParaRPr>
            </a:p>
            <a:p>
              <a:pPr indent="177800"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    생성폴더</a:t>
              </a:r>
              <a:r>
                <a:rPr lang="en-US" altLang="ko-KR" sz="800" smtClean="0">
                  <a:latin typeface="+mn-ea"/>
                  <a:ea typeface="+mn-ea"/>
                </a:rPr>
                <a:t>1</a:t>
              </a:r>
            </a:p>
            <a:p>
              <a:pPr indent="355600"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     생성폴더</a:t>
              </a:r>
              <a:r>
                <a:rPr lang="en-US" altLang="ko-KR" sz="800" smtClean="0">
                  <a:latin typeface="+mn-ea"/>
                  <a:ea typeface="+mn-ea"/>
                </a:rPr>
                <a:t>1-1</a:t>
              </a:r>
            </a:p>
            <a:p>
              <a:pPr indent="177800">
                <a:lnSpc>
                  <a:spcPct val="250000"/>
                </a:lnSpc>
              </a:pPr>
              <a:r>
                <a:rPr lang="ko-KR" altLang="en-US" sz="800" smtClean="0">
                  <a:latin typeface="+mn-ea"/>
                  <a:ea typeface="+mn-ea"/>
                </a:rPr>
                <a:t>    생성폴더</a:t>
              </a:r>
              <a:r>
                <a:rPr lang="en-US" altLang="ko-KR" sz="800" smtClean="0">
                  <a:latin typeface="+mn-ea"/>
                  <a:ea typeface="+mn-ea"/>
                </a:rPr>
                <a:t>2</a:t>
              </a:r>
            </a:p>
          </p:txBody>
        </p:sp>
        <p:sp>
          <p:nvSpPr>
            <p:cNvPr id="110" name="Rounded Rectangle 346"/>
            <p:cNvSpPr/>
            <p:nvPr/>
          </p:nvSpPr>
          <p:spPr>
            <a:xfrm>
              <a:off x="2181804" y="2518513"/>
              <a:ext cx="239090" cy="124817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bg1"/>
                  </a:solidFill>
                  <a:latin typeface="+mj-lt"/>
                </a:rPr>
                <a:t>공유</a:t>
              </a:r>
              <a:endParaRPr lang="en-US" sz="600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913259" y="1298848"/>
              <a:ext cx="906016" cy="206102"/>
            </a:xfrm>
            <a:prstGeom prst="rect">
              <a:avLst/>
            </a:prstGeom>
            <a:noFill/>
          </p:spPr>
          <p:txBody>
            <a:bodyPr wrap="none" lIns="72000" rIns="72000" rtlCol="0" anchor="ctr">
              <a:noAutofit/>
            </a:bodyPr>
            <a:lstStyle/>
            <a:p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내 폴더</a:t>
              </a:r>
            </a:p>
          </p:txBody>
        </p:sp>
        <p:pic>
          <p:nvPicPr>
            <p:cNvPr id="112" name="그림 11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4484" y="1337272"/>
              <a:ext cx="120427" cy="120427"/>
            </a:xfrm>
            <a:prstGeom prst="rect">
              <a:avLst/>
            </a:prstGeom>
          </p:spPr>
        </p:pic>
        <p:grpSp>
          <p:nvGrpSpPr>
            <p:cNvPr id="113" name="그룹 112"/>
            <p:cNvGrpSpPr/>
            <p:nvPr/>
          </p:nvGrpSpPr>
          <p:grpSpPr>
            <a:xfrm>
              <a:off x="1045937" y="1610127"/>
              <a:ext cx="278937" cy="120427"/>
              <a:chOff x="1045937" y="1610127"/>
              <a:chExt cx="278937" cy="120427"/>
            </a:xfrm>
          </p:grpSpPr>
          <p:pic>
            <p:nvPicPr>
              <p:cNvPr id="114" name="그림 113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115" name="타원 114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1374184" y="1914928"/>
              <a:ext cx="278937" cy="120427"/>
              <a:chOff x="1045937" y="1610127"/>
              <a:chExt cx="278937" cy="120427"/>
            </a:xfrm>
          </p:grpSpPr>
          <p:pic>
            <p:nvPicPr>
              <p:cNvPr id="117" name="그림 116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118" name="타원 117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grpSp>
          <p:nvGrpSpPr>
            <p:cNvPr id="119" name="그룹 118"/>
            <p:cNvGrpSpPr/>
            <p:nvPr/>
          </p:nvGrpSpPr>
          <p:grpSpPr>
            <a:xfrm>
              <a:off x="1573476" y="2219729"/>
              <a:ext cx="278937" cy="120427"/>
              <a:chOff x="1045937" y="1610127"/>
              <a:chExt cx="278937" cy="120427"/>
            </a:xfrm>
          </p:grpSpPr>
          <p:pic>
            <p:nvPicPr>
              <p:cNvPr id="120" name="그림 119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121" name="타원 120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1374184" y="2512806"/>
              <a:ext cx="278937" cy="120427"/>
              <a:chOff x="1045937" y="1610127"/>
              <a:chExt cx="278937" cy="120427"/>
            </a:xfrm>
          </p:grpSpPr>
          <p:pic>
            <p:nvPicPr>
              <p:cNvPr id="123" name="그림 122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5937" y="1610127"/>
                <a:ext cx="120427" cy="120427"/>
              </a:xfrm>
              <a:prstGeom prst="rect">
                <a:avLst/>
              </a:prstGeom>
            </p:spPr>
          </p:pic>
          <p:sp>
            <p:nvSpPr>
              <p:cNvPr id="124" name="타원 123"/>
              <p:cNvSpPr/>
              <p:nvPr/>
            </p:nvSpPr>
            <p:spPr>
              <a:xfrm>
                <a:off x="1212543" y="1615353"/>
                <a:ext cx="112331" cy="11233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innerShdw blurRad="63500" dist="50800" dir="18900000">
                  <a:schemeClr val="bg1">
                    <a:lumMod val="85000"/>
                    <a:alpha val="50000"/>
                  </a:schemeClr>
                </a:innerShdw>
              </a:effectLst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itchFamily="50" charset="-127"/>
                  <a:ea typeface="나눔고딕" pitchFamily="50" charset="-127"/>
                </a:endParaRPr>
              </a:p>
            </p:txBody>
          </p:sp>
        </p:grpSp>
        <p:sp>
          <p:nvSpPr>
            <p:cNvPr id="125" name="TextBox 124"/>
            <p:cNvSpPr txBox="1"/>
            <p:nvPr/>
          </p:nvSpPr>
          <p:spPr>
            <a:xfrm>
              <a:off x="913259" y="2846293"/>
              <a:ext cx="906016" cy="206102"/>
            </a:xfrm>
            <a:prstGeom prst="rect">
              <a:avLst/>
            </a:prstGeom>
            <a:noFill/>
          </p:spPr>
          <p:txBody>
            <a:bodyPr wrap="none" lIns="72000" rIns="72000" rtlCol="0" anchor="ctr">
              <a:noAutofit/>
            </a:bodyPr>
            <a:lstStyle/>
            <a:p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공유받은 폴더</a:t>
              </a:r>
            </a:p>
          </p:txBody>
        </p:sp>
        <p:pic>
          <p:nvPicPr>
            <p:cNvPr id="126" name="그림 125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1603" y="2889735"/>
              <a:ext cx="120607" cy="120607"/>
            </a:xfrm>
            <a:prstGeom prst="rect">
              <a:avLst/>
            </a:prstGeom>
          </p:spPr>
        </p:pic>
        <p:cxnSp>
          <p:nvCxnSpPr>
            <p:cNvPr id="127" name="꺾인 연결선 126"/>
            <p:cNvCxnSpPr/>
            <p:nvPr/>
          </p:nvCxnSpPr>
          <p:spPr>
            <a:xfrm rot="16200000" flipH="1">
              <a:off x="1117873" y="1709306"/>
              <a:ext cx="244588" cy="268033"/>
            </a:xfrm>
            <a:prstGeom prst="bentConnector2">
              <a:avLst/>
            </a:prstGeom>
            <a:ln w="3175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8" name="그룹 127"/>
            <p:cNvGrpSpPr/>
            <p:nvPr/>
          </p:nvGrpSpPr>
          <p:grpSpPr>
            <a:xfrm>
              <a:off x="894697" y="1457699"/>
              <a:ext cx="678779" cy="1115321"/>
              <a:chOff x="894697" y="1457699"/>
              <a:chExt cx="678779" cy="1115321"/>
            </a:xfrm>
          </p:grpSpPr>
          <p:cxnSp>
            <p:nvCxnSpPr>
              <p:cNvPr id="129" name="꺾인 연결선 128"/>
              <p:cNvCxnSpPr>
                <a:stCxn id="112" idx="2"/>
                <a:endCxn id="114" idx="1"/>
              </p:cNvCxnSpPr>
              <p:nvPr/>
            </p:nvCxnSpPr>
            <p:spPr>
              <a:xfrm rot="16200000" flipH="1">
                <a:off x="863996" y="1488400"/>
                <a:ext cx="212642" cy="151239"/>
              </a:xfrm>
              <a:prstGeom prst="bentConnector2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꺾인 연결선 129"/>
              <p:cNvCxnSpPr>
                <a:stCxn id="117" idx="2"/>
                <a:endCxn id="120" idx="1"/>
              </p:cNvCxnSpPr>
              <p:nvPr/>
            </p:nvCxnSpPr>
            <p:spPr>
              <a:xfrm rot="16200000" flipH="1">
                <a:off x="1381643" y="2088110"/>
                <a:ext cx="244588" cy="139078"/>
              </a:xfrm>
              <a:prstGeom prst="bentConnector2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꺾인 연결선 130"/>
              <p:cNvCxnSpPr>
                <a:stCxn id="114" idx="2"/>
                <a:endCxn id="123" idx="1"/>
              </p:cNvCxnSpPr>
              <p:nvPr/>
            </p:nvCxnSpPr>
            <p:spPr>
              <a:xfrm rot="16200000" flipH="1">
                <a:off x="818934" y="2017770"/>
                <a:ext cx="842466" cy="268033"/>
              </a:xfrm>
              <a:prstGeom prst="bentConnector2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9" name="직선 화살표 연결선 8"/>
          <p:cNvCxnSpPr/>
          <p:nvPr/>
        </p:nvCxnSpPr>
        <p:spPr>
          <a:xfrm flipH="1">
            <a:off x="4038600" y="1469299"/>
            <a:ext cx="3400354" cy="0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/>
          <p:cNvCxnSpPr>
            <a:stCxn id="107" idx="2"/>
          </p:cNvCxnSpPr>
          <p:nvPr/>
        </p:nvCxnSpPr>
        <p:spPr>
          <a:xfrm>
            <a:off x="1418895" y="4898742"/>
            <a:ext cx="0" cy="578133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타원 149">
            <a:extLst>
              <a:ext uri="{FF2B5EF4-FFF2-40B4-BE49-F238E27FC236}">
                <a16:creationId xmlns:a16="http://schemas.microsoft.com/office/drawing/2014/main" id="{D06219D7-95BE-4FA0-B599-946426CDF694}"/>
              </a:ext>
            </a:extLst>
          </p:cNvPr>
          <p:cNvSpPr/>
          <p:nvPr/>
        </p:nvSpPr>
        <p:spPr>
          <a:xfrm>
            <a:off x="377240" y="565355"/>
            <a:ext cx="178657" cy="180000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9396932" y="5905500"/>
            <a:ext cx="2642667" cy="914400"/>
          </a:xfrm>
          <a:prstGeom prst="rect">
            <a:avLst/>
          </a:prstGeom>
          <a:noFill/>
        </p:spPr>
        <p:txBody>
          <a:bodyPr wrap="none" lIns="72000" rIns="72000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12/6 </a:t>
            </a:r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수정 내역</a:t>
            </a:r>
            <a:endParaRPr lang="en-US" altLang="ko-KR" sz="800" b="1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50000"/>
              </a:lnSpc>
              <a:buFont typeface="+mj-ea"/>
              <a:buAutoNum type="circleNumDbPlain"/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내파일 위치선택 팝업과 동기화</a:t>
            </a:r>
          </a:p>
        </p:txBody>
      </p:sp>
      <p:sp>
        <p:nvSpPr>
          <p:cNvPr id="149" name="직각 삼각형 148"/>
          <p:cNvSpPr/>
          <p:nvPr/>
        </p:nvSpPr>
        <p:spPr>
          <a:xfrm flipH="1">
            <a:off x="11353800" y="5819775"/>
            <a:ext cx="771874" cy="849585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12/06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수정</a:t>
            </a:r>
            <a:endParaRPr lang="en-US" altLang="ko-KR" sz="80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4907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내용 개체 틀 70"/>
          <p:cNvPicPr>
            <a:picLocks noGrp="1" noChangeAspect="1"/>
          </p:cNvPicPr>
          <p:nvPr>
            <p:ph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9312" y="85725"/>
            <a:ext cx="190500" cy="190500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글 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716145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438" name="그룹 437"/>
          <p:cNvGrpSpPr/>
          <p:nvPr/>
        </p:nvGrpSpPr>
        <p:grpSpPr>
          <a:xfrm>
            <a:off x="3082245" y="874668"/>
            <a:ext cx="3603039" cy="176117"/>
            <a:chOff x="4079770" y="874786"/>
            <a:chExt cx="3603039" cy="176117"/>
          </a:xfrm>
        </p:grpSpPr>
        <p:sp>
          <p:nvSpPr>
            <p:cNvPr id="454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5" name="텍스트 상자 31"/>
            <p:cNvSpPr txBox="1"/>
            <p:nvPr/>
          </p:nvSpPr>
          <p:spPr>
            <a:xfrm>
              <a:off x="4079770" y="879488"/>
              <a:ext cx="89571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56" name="직선 연결선[R] 7"/>
            <p:cNvCxnSpPr/>
            <p:nvPr/>
          </p:nvCxnSpPr>
          <p:spPr>
            <a:xfrm>
              <a:off x="5209358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457" name="텍스트 상자 31"/>
            <p:cNvSpPr txBox="1"/>
            <p:nvPr/>
          </p:nvSpPr>
          <p:spPr>
            <a:xfrm>
              <a:off x="4986756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8" name="텍스트 상자 31"/>
            <p:cNvSpPr txBox="1"/>
            <p:nvPr/>
          </p:nvSpPr>
          <p:spPr>
            <a:xfrm>
              <a:off x="5437922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9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60" name="텍스트 상자 31"/>
            <p:cNvSpPr txBox="1"/>
            <p:nvPr/>
          </p:nvSpPr>
          <p:spPr>
            <a:xfrm>
              <a:off x="6781701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61" name="텍스트 상자 31"/>
            <p:cNvSpPr txBox="1"/>
            <p:nvPr/>
          </p:nvSpPr>
          <p:spPr>
            <a:xfrm>
              <a:off x="6338538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475" name="TextBox 474"/>
          <p:cNvSpPr txBox="1"/>
          <p:nvPr/>
        </p:nvSpPr>
        <p:spPr>
          <a:xfrm>
            <a:off x="1950985" y="1962416"/>
            <a:ext cx="9126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 파일 타입 </a:t>
            </a:r>
            <a:r>
              <a:rPr lang="ko-KR" altLang="en-US" sz="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▼</a:t>
            </a:r>
            <a:endParaRPr lang="ko-KR" altLang="en-US" sz="6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68" name="모서리가 둥근 직사각형 667"/>
          <p:cNvSpPr/>
          <p:nvPr/>
        </p:nvSpPr>
        <p:spPr>
          <a:xfrm>
            <a:off x="1927187" y="1565606"/>
            <a:ext cx="796857" cy="20360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모든 멤버  </a:t>
            </a:r>
            <a:r>
              <a:rPr lang="ko-KR" altLang="en-US" sz="600" dirty="0" smtClean="0">
                <a:solidFill>
                  <a:schemeClr val="tx1"/>
                </a:solidFill>
              </a:rPr>
              <a:t>▼</a:t>
            </a:r>
          </a:p>
        </p:txBody>
      </p:sp>
      <p:cxnSp>
        <p:nvCxnSpPr>
          <p:cNvPr id="669" name="직선 연결선[R] 7"/>
          <p:cNvCxnSpPr/>
          <p:nvPr/>
        </p:nvCxnSpPr>
        <p:spPr>
          <a:xfrm>
            <a:off x="1896661" y="187090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grpSp>
        <p:nvGrpSpPr>
          <p:cNvPr id="69" name="그룹 68"/>
          <p:cNvGrpSpPr/>
          <p:nvPr/>
        </p:nvGrpSpPr>
        <p:grpSpPr>
          <a:xfrm>
            <a:off x="1932818" y="2222204"/>
            <a:ext cx="3453828" cy="513721"/>
            <a:chOff x="1932818" y="1822154"/>
            <a:chExt cx="3453828" cy="513721"/>
          </a:xfrm>
        </p:grpSpPr>
        <p:sp>
          <p:nvSpPr>
            <p:cNvPr id="245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24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17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51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8" name="그룹 57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19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19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80" name="그룹 79"/>
          <p:cNvGrpSpPr/>
          <p:nvPr/>
        </p:nvGrpSpPr>
        <p:grpSpPr>
          <a:xfrm>
            <a:off x="1932818" y="2737593"/>
            <a:ext cx="3453828" cy="513721"/>
            <a:chOff x="1932818" y="2337543"/>
            <a:chExt cx="3453828" cy="513721"/>
          </a:xfrm>
        </p:grpSpPr>
        <p:sp>
          <p:nvSpPr>
            <p:cNvPr id="524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25" name="그룹 524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539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40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28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197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198" name="그룹 1197"/>
          <p:cNvGrpSpPr/>
          <p:nvPr/>
        </p:nvGrpSpPr>
        <p:grpSpPr>
          <a:xfrm>
            <a:off x="3336060" y="2871167"/>
            <a:ext cx="1098404" cy="258332"/>
            <a:chOff x="3535531" y="1947415"/>
            <a:chExt cx="1098404" cy="258332"/>
          </a:xfrm>
        </p:grpSpPr>
        <p:sp>
          <p:nvSpPr>
            <p:cNvPr id="1199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0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75" name="그룹 1674"/>
          <p:cNvGrpSpPr/>
          <p:nvPr/>
        </p:nvGrpSpPr>
        <p:grpSpPr>
          <a:xfrm>
            <a:off x="5515604" y="2222204"/>
            <a:ext cx="3453828" cy="513721"/>
            <a:chOff x="1932818" y="1822154"/>
            <a:chExt cx="3453828" cy="513721"/>
          </a:xfrm>
        </p:grpSpPr>
        <p:sp>
          <p:nvSpPr>
            <p:cNvPr id="1676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77" name="그룹 1676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168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8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78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679" name="그룹 167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168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682" name="그룹 1681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68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68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687" name="그룹 1686"/>
          <p:cNvGrpSpPr/>
          <p:nvPr/>
        </p:nvGrpSpPr>
        <p:grpSpPr>
          <a:xfrm>
            <a:off x="5515604" y="2737593"/>
            <a:ext cx="3453828" cy="513721"/>
            <a:chOff x="1932818" y="2337543"/>
            <a:chExt cx="3453828" cy="513721"/>
          </a:xfrm>
        </p:grpSpPr>
        <p:sp>
          <p:nvSpPr>
            <p:cNvPr id="1688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89" name="그룹 1688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169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9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90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692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695" name="그룹 1694"/>
          <p:cNvGrpSpPr/>
          <p:nvPr/>
        </p:nvGrpSpPr>
        <p:grpSpPr>
          <a:xfrm>
            <a:off x="6918846" y="2871167"/>
            <a:ext cx="1098404" cy="258332"/>
            <a:chOff x="3535531" y="1947415"/>
            <a:chExt cx="1098404" cy="258332"/>
          </a:xfrm>
        </p:grpSpPr>
        <p:sp>
          <p:nvSpPr>
            <p:cNvPr id="1696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97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31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293804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622" y="242456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93804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42456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4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검색결과</a:t>
            </a:r>
            <a:endParaRPr kumimoji="0" lang="ko-KR" altLang="en-US" dirty="0"/>
          </a:p>
        </p:txBody>
      </p:sp>
      <p:sp>
        <p:nvSpPr>
          <p:cNvPr id="325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파일</a:t>
            </a:r>
            <a:endParaRPr kumimoji="0" lang="ko-KR" altLang="en-US" dirty="0"/>
          </a:p>
        </p:txBody>
      </p:sp>
      <p:sp>
        <p:nvSpPr>
          <p:cNvPr id="326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SQ5.2.3.1</a:t>
            </a:r>
            <a:endParaRPr kumimoji="0" lang="ko-KR" altLang="en-US" sz="8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5" name="TextBox 304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27" name="TextBox 326"/>
          <p:cNvSpPr txBox="1"/>
          <p:nvPr/>
        </p:nvSpPr>
        <p:spPr>
          <a:xfrm>
            <a:off x="1928614" y="1158513"/>
            <a:ext cx="1203970" cy="257176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r>
              <a:rPr lang="ko-KR" altLang="en-US" sz="10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검색 결과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ㅣ 스퀘어 </a:t>
            </a:r>
            <a:r>
              <a:rPr lang="en-US" altLang="ko-KR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파일명</a:t>
            </a:r>
            <a:r>
              <a:rPr lang="en-US" altLang="ko-KR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)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4</a:t>
            </a:r>
            <a:r>
              <a:rPr lang="ko-KR" altLang="en-US" sz="80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건</a:t>
            </a:r>
          </a:p>
        </p:txBody>
      </p:sp>
      <p:sp>
        <p:nvSpPr>
          <p:cNvPr id="328" name="직사각형 327"/>
          <p:cNvSpPr/>
          <p:nvPr/>
        </p:nvSpPr>
        <p:spPr>
          <a:xfrm>
            <a:off x="2767307" y="2320887"/>
            <a:ext cx="306399" cy="148136"/>
          </a:xfrm>
          <a:prstGeom prst="rect">
            <a:avLst/>
          </a:prstGeom>
          <a:solidFill>
            <a:srgbClr val="FFFF00">
              <a:alpha val="38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29" name="직사각형 328"/>
          <p:cNvSpPr/>
          <p:nvPr/>
        </p:nvSpPr>
        <p:spPr>
          <a:xfrm>
            <a:off x="2767307" y="2829499"/>
            <a:ext cx="306399" cy="148136"/>
          </a:xfrm>
          <a:prstGeom prst="rect">
            <a:avLst/>
          </a:prstGeom>
          <a:solidFill>
            <a:srgbClr val="FFFF00">
              <a:alpha val="38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30" name="직사각형 329"/>
          <p:cNvSpPr/>
          <p:nvPr/>
        </p:nvSpPr>
        <p:spPr>
          <a:xfrm>
            <a:off x="6320132" y="2320887"/>
            <a:ext cx="306399" cy="148136"/>
          </a:xfrm>
          <a:prstGeom prst="rect">
            <a:avLst/>
          </a:prstGeom>
          <a:solidFill>
            <a:srgbClr val="FFFF00">
              <a:alpha val="38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31" name="직사각형 330"/>
          <p:cNvSpPr/>
          <p:nvPr/>
        </p:nvSpPr>
        <p:spPr>
          <a:xfrm>
            <a:off x="6320132" y="2829499"/>
            <a:ext cx="306399" cy="148136"/>
          </a:xfrm>
          <a:prstGeom prst="rect">
            <a:avLst/>
          </a:prstGeom>
          <a:solidFill>
            <a:srgbClr val="FFFF00">
              <a:alpha val="38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332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333" name="직각 삼각형 332"/>
          <p:cNvSpPr/>
          <p:nvPr/>
        </p:nvSpPr>
        <p:spPr>
          <a:xfrm flipH="1">
            <a:off x="11404515" y="5833174"/>
            <a:ext cx="720080" cy="834728"/>
          </a:xfrm>
          <a:prstGeom prst="rtTriangle">
            <a:avLst/>
          </a:prstGeom>
          <a:solidFill>
            <a:srgbClr val="FF0000"/>
          </a:solidFill>
          <a:ln>
            <a:solidFill>
              <a:srgbClr val="C00000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12/19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추가</a:t>
            </a:r>
            <a:endParaRPr lang="ko-KR" altLang="en-US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334" name="그룹 333"/>
          <p:cNvGrpSpPr/>
          <p:nvPr/>
        </p:nvGrpSpPr>
        <p:grpSpPr>
          <a:xfrm>
            <a:off x="9409342" y="4778293"/>
            <a:ext cx="2296884" cy="1243312"/>
            <a:chOff x="2770417" y="5283118"/>
            <a:chExt cx="2296884" cy="1243312"/>
          </a:xfrm>
        </p:grpSpPr>
        <p:grpSp>
          <p:nvGrpSpPr>
            <p:cNvPr id="335" name="그룹 334"/>
            <p:cNvGrpSpPr/>
            <p:nvPr/>
          </p:nvGrpSpPr>
          <p:grpSpPr>
            <a:xfrm>
              <a:off x="2770417" y="5283118"/>
              <a:ext cx="2296884" cy="1243312"/>
              <a:chOff x="2770416" y="5283118"/>
              <a:chExt cx="3110419" cy="1243312"/>
            </a:xfrm>
          </p:grpSpPr>
          <p:sp>
            <p:nvSpPr>
              <p:cNvPr id="337" name="직사각형 336"/>
              <p:cNvSpPr/>
              <p:nvPr/>
            </p:nvSpPr>
            <p:spPr>
              <a:xfrm>
                <a:off x="2774673" y="5283118"/>
                <a:ext cx="3106162" cy="20902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>
                  <a:lnSpc>
                    <a:spcPct val="115000"/>
                  </a:lnSpc>
                  <a:spcAft>
                    <a:spcPts val="1000"/>
                  </a:spcAft>
                </a:pPr>
                <a:r>
                  <a:rPr lang="ko-KR" altLang="en-US" sz="80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</a:t>
                </a:r>
                <a:endParaRPr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38" name="직사각형 337"/>
              <p:cNvSpPr/>
              <p:nvPr/>
            </p:nvSpPr>
            <p:spPr>
              <a:xfrm>
                <a:off x="2770416" y="5492139"/>
                <a:ext cx="3110419" cy="103429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txBody>
              <a:bodyPr wrap="none" lIns="36000" tIns="36000" rIns="36000" bIns="36000" rtlCol="0" anchor="t">
                <a:noAutofit/>
              </a:bodyPr>
              <a:lstStyle/>
              <a:p>
                <a:pPr>
                  <a:lnSpc>
                    <a:spcPct val="150000"/>
                  </a:lnSpc>
                  <a:spcAft>
                    <a:spcPts val="0"/>
                  </a:spcAft>
                </a:pPr>
                <a:r>
                  <a:rPr lang="ko-KR" altLang="en-US" sz="800" smtClean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rPr>
                  <a:t>파일명 </a:t>
                </a:r>
                <a:r>
                  <a:rPr lang="en-US" altLang="ko-KR" sz="800" smtClean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rPr>
                  <a:t>: </a:t>
                </a:r>
                <a:r>
                  <a:rPr lang="ko-KR" altLang="en-US" sz="800" smtClean="0"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+mn-ea"/>
                    <a:ea typeface="+mn-ea"/>
                  </a:rPr>
                  <a:t>스퀘어</a:t>
                </a:r>
                <a:endParaRPr lang="en-US" altLang="ko-KR" sz="80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36" name="Freeform 10"/>
            <p:cNvSpPr>
              <a:spLocks noChangeAspect="1" noChangeArrowheads="1"/>
            </p:cNvSpPr>
            <p:nvPr/>
          </p:nvSpPr>
          <p:spPr bwMode="auto">
            <a:xfrm>
              <a:off x="4889315" y="5334153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340" name="모서리가 둥근 직사각형 339"/>
          <p:cNvSpPr/>
          <p:nvPr/>
        </p:nvSpPr>
        <p:spPr>
          <a:xfrm>
            <a:off x="9439275" y="5019675"/>
            <a:ext cx="790575" cy="209550"/>
          </a:xfrm>
          <a:prstGeom prst="roundRect">
            <a:avLst>
              <a:gd name="adj" fmla="val 3704"/>
            </a:avLst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3048000" y="1209675"/>
            <a:ext cx="409575" cy="209550"/>
          </a:xfrm>
          <a:prstGeom prst="roundRect">
            <a:avLst>
              <a:gd name="adj" fmla="val 3704"/>
            </a:avLst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aphicFrame>
        <p:nvGraphicFramePr>
          <p:cNvPr id="34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4757433"/>
              </p:ext>
            </p:extLst>
          </p:nvPr>
        </p:nvGraphicFramePr>
        <p:xfrm>
          <a:off x="9290533" y="786383"/>
          <a:ext cx="2835141" cy="1064600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자동완성에서 선택된 항목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파일 메뉴에서 출력되는 자동완성 항목은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파일명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으로 만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60876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※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그외 검색결과 정보 구조 및 기능은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피드 검색결과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en-US" altLang="ko-KR" sz="800" b="1" kern="12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SQ5.2.1.5)</a:t>
                      </a:r>
                      <a:r>
                        <a:rPr kumimoji="0" lang="ko-KR" altLang="en-US" sz="800" b="0" kern="12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와 동일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5999333"/>
                  </a:ext>
                </a:extLst>
              </a:tr>
            </a:tbl>
          </a:graphicData>
        </a:graphic>
      </p:graphicFrame>
      <p:sp>
        <p:nvSpPr>
          <p:cNvPr id="344" name="타원 343"/>
          <p:cNvSpPr/>
          <p:nvPr/>
        </p:nvSpPr>
        <p:spPr>
          <a:xfrm>
            <a:off x="2958671" y="1071149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5" name="타원 344"/>
          <p:cNvSpPr/>
          <p:nvPr/>
        </p:nvSpPr>
        <p:spPr>
          <a:xfrm>
            <a:off x="9235646" y="5024024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2341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0951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멤버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28835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kumimoji="1" lang="ko-KR" altLang="en-US" smtClean="0"/>
              <a:t>멤버</a:t>
            </a:r>
            <a:r>
              <a:rPr kumimoji="1" lang="en-US" altLang="ko-KR" smtClean="0"/>
              <a:t>_</a:t>
            </a:r>
            <a:r>
              <a:rPr kumimoji="1" lang="ko-KR" altLang="en-US" smtClean="0"/>
              <a:t>등급별</a:t>
            </a:r>
            <a:endParaRPr lang="ko-KR" altLang="en-US" dirty="0"/>
          </a:p>
        </p:txBody>
      </p:sp>
      <p:pic>
        <p:nvPicPr>
          <p:cNvPr id="71" name="내용 개체 틀 70"/>
          <p:cNvPicPr>
            <a:picLocks noGrp="1" noChangeAspect="1"/>
          </p:cNvPicPr>
          <p:nvPr>
            <p:ph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9312" y="85725"/>
            <a:ext cx="190500" cy="190500"/>
          </a:xfrm>
          <a:prstGeom prst="rect">
            <a:avLst/>
          </a:prstGeom>
        </p:spPr>
      </p:pic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SQ5.2.4</a:t>
            </a:r>
            <a:endParaRPr lang="ko-KR" altLang="en-US" dirty="0"/>
          </a:p>
        </p:txBody>
      </p:sp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716145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aphicFrame>
        <p:nvGraphicFramePr>
          <p:cNvPr id="50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4073670"/>
              </p:ext>
            </p:extLst>
          </p:nvPr>
        </p:nvGraphicFramePr>
        <p:xfrm>
          <a:off x="9290533" y="786383"/>
          <a:ext cx="2892502" cy="5126737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1" kern="12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</a:rPr>
                        <a:t>액션 기능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멤버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추가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멤버 추가 버튼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클릭 시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멤버 추가 팝업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lang="en-US" altLang="ko-KR" sz="800" smtClean="0"/>
                        <a:t>SQ5.2.1.1) </a:t>
                      </a:r>
                      <a:r>
                        <a:rPr lang="ko-KR" altLang="en-US" sz="800" smtClean="0"/>
                        <a:t>출력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리스트 정렬 항목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권한순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(default)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: as-is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기준으로 정렬</a:t>
                      </a:r>
                      <a:endParaRPr kumimoji="1" lang="en-US" altLang="ko-KR" sz="80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가나다순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성명 기준 가나다순으로 정렬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가입일순 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스퀘어 가입일순으로 정렬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1977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3-1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선택된 등급 조건으로 필터링 처리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8081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멤버 화면의 뷰타입을 설정하는 항목</a:t>
                      </a:r>
                      <a:r>
                        <a:rPr kumimoji="1" lang="en-US" altLang="ko-KR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(default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: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등급별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)</a:t>
                      </a:r>
                      <a:endParaRPr kumimoji="1" lang="en-US" altLang="ko-KR" sz="80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8643804"/>
                  </a:ext>
                </a:extLst>
              </a:tr>
              <a:tr h="3375321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멤버 목록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해당 그룹에 속한 연락처 목록 제공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순서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가나다순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(Default) /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최근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등록순으로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좌에서 우로 정렬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예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가장 최근은 좌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두번째는 우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세번째는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 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촤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순서로 지그재그로 표시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)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표시 정보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프로필사진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이름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회사명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소속부서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/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권한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멤버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관리자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참관인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smtClean="0">
                          <a:solidFill>
                            <a:schemeClr val="tx1"/>
                          </a:solidFill>
                          <a:latin typeface="+mn-ea"/>
                        </a:rPr>
                        <a:t>멤버 </a:t>
                      </a: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</a:rPr>
                        <a:t>권한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선택한 멤버의 그룹 권한을 설정하는 버튼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그룹 권한 옵션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멤버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참관인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관리자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-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관리자일 경우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관리자 해제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참관인 지정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</a:b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-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멤버일 경우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관리자 지정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참관인 지정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참관인일 경우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: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관리자 지정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참관인 해제</a:t>
                      </a:r>
                      <a:endParaRPr kumimoji="1" lang="en-US" altLang="ko-KR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[x]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버튼 클릭시 삭제 확인 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alert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출력 후</a:t>
                      </a: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확인 클릭시 삭제 처리</a:t>
                      </a:r>
                      <a:endParaRPr kumimoji="1" lang="en-US" altLang="ko-KR" sz="800" baseline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80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-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“X”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아이콘에 마우스 오버 시 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“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멤버에서 제외하기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＂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튤팁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제공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rgbClr val="2E6FFD"/>
                          </a:solidFill>
                          <a:latin typeface="+mn-ea"/>
                        </a:rPr>
                        <a:t>이름 마우스 오버 시 언더라인 표시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되어 링크를 제공하고 클릭 시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버드카드를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레이어 팝업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으로 오픈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2177244"/>
                  </a:ext>
                </a:extLst>
              </a:tr>
            </a:tbl>
          </a:graphicData>
        </a:graphic>
      </p:graphicFrame>
      <p:grpSp>
        <p:nvGrpSpPr>
          <p:cNvPr id="438" name="그룹 437"/>
          <p:cNvGrpSpPr/>
          <p:nvPr/>
        </p:nvGrpSpPr>
        <p:grpSpPr>
          <a:xfrm>
            <a:off x="3138231" y="874668"/>
            <a:ext cx="3603039" cy="176117"/>
            <a:chOff x="4079770" y="874786"/>
            <a:chExt cx="3603039" cy="176117"/>
          </a:xfrm>
        </p:grpSpPr>
        <p:sp>
          <p:nvSpPr>
            <p:cNvPr id="454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5" name="텍스트 상자 31"/>
            <p:cNvSpPr txBox="1"/>
            <p:nvPr/>
          </p:nvSpPr>
          <p:spPr>
            <a:xfrm>
              <a:off x="4079770" y="879488"/>
              <a:ext cx="89571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56" name="직선 연결선[R] 7"/>
            <p:cNvCxnSpPr/>
            <p:nvPr/>
          </p:nvCxnSpPr>
          <p:spPr>
            <a:xfrm>
              <a:off x="5660527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457" name="텍스트 상자 31"/>
            <p:cNvSpPr txBox="1"/>
            <p:nvPr/>
          </p:nvSpPr>
          <p:spPr>
            <a:xfrm>
              <a:off x="4986756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8" name="텍스트 상자 31"/>
            <p:cNvSpPr txBox="1"/>
            <p:nvPr/>
          </p:nvSpPr>
          <p:spPr>
            <a:xfrm>
              <a:off x="5437922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59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60" name="텍스트 상자 31"/>
            <p:cNvSpPr txBox="1"/>
            <p:nvPr/>
          </p:nvSpPr>
          <p:spPr>
            <a:xfrm>
              <a:off x="6781701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61" name="텍스트 상자 31"/>
            <p:cNvSpPr txBox="1"/>
            <p:nvPr/>
          </p:nvSpPr>
          <p:spPr>
            <a:xfrm>
              <a:off x="6338538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447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/>
              <a:t>그룹 </a:t>
            </a:r>
            <a:r>
              <a:rPr kumimoji="0" lang="en-US" altLang="ko-KR"/>
              <a:t>&gt; </a:t>
            </a:r>
            <a:r>
              <a:rPr kumimoji="0" lang="ko-KR" altLang="en-US" smtClean="0"/>
              <a:t>멤버</a:t>
            </a:r>
            <a:endParaRPr kumimoji="0" lang="ko-KR" altLang="en-US" dirty="0"/>
          </a:p>
        </p:txBody>
      </p:sp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68" name="모서리가 둥근 직사각형 667"/>
          <p:cNvSpPr/>
          <p:nvPr/>
        </p:nvSpPr>
        <p:spPr>
          <a:xfrm>
            <a:off x="1927187" y="1165556"/>
            <a:ext cx="796857" cy="203603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smtClean="0">
                <a:solidFill>
                  <a:schemeClr val="tx1"/>
                </a:solidFill>
              </a:rPr>
              <a:t>멤버 </a:t>
            </a:r>
            <a:r>
              <a:rPr lang="ko-KR" altLang="en-US" sz="800" smtClean="0">
                <a:solidFill>
                  <a:schemeClr val="tx1"/>
                </a:solidFill>
              </a:rPr>
              <a:t>관리</a:t>
            </a:r>
            <a:endParaRPr lang="ko-KR" altLang="en-US" sz="800" dirty="0" smtClean="0">
              <a:solidFill>
                <a:schemeClr val="tx1"/>
              </a:solidFill>
            </a:endParaRPr>
          </a:p>
        </p:txBody>
      </p:sp>
      <p:cxnSp>
        <p:nvCxnSpPr>
          <p:cNvPr id="669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245" name="Rectangle 432"/>
          <p:cNvSpPr/>
          <p:nvPr/>
        </p:nvSpPr>
        <p:spPr>
          <a:xfrm>
            <a:off x="1932818" y="1822155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47" name="그룹 400"/>
          <p:cNvGrpSpPr/>
          <p:nvPr/>
        </p:nvGrpSpPr>
        <p:grpSpPr>
          <a:xfrm>
            <a:off x="2136799" y="1925314"/>
            <a:ext cx="229236" cy="229194"/>
            <a:chOff x="2625629" y="3735853"/>
            <a:chExt cx="276891" cy="276839"/>
          </a:xfrm>
        </p:grpSpPr>
        <p:sp>
          <p:nvSpPr>
            <p:cNvPr id="25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</a:endParaRPr>
            </a:p>
          </p:txBody>
        </p:sp>
        <p:pic>
          <p:nvPicPr>
            <p:cNvPr id="255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48" name="텍스트 상자 31"/>
          <p:cNvSpPr txBox="1"/>
          <p:nvPr/>
        </p:nvSpPr>
        <p:spPr>
          <a:xfrm>
            <a:off x="2458071" y="1926045"/>
            <a:ext cx="126960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u="sng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강미나</a:t>
            </a:r>
            <a:endParaRPr kumimoji="1" lang="ko-KR" altLang="en-US" sz="800" u="sng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49" name="텍스트 상자 31"/>
          <p:cNvSpPr txBox="1"/>
          <p:nvPr/>
        </p:nvSpPr>
        <p:spPr>
          <a:xfrm>
            <a:off x="2458071" y="206852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제품기획팀 </a:t>
            </a:r>
            <a:r>
              <a:rPr kumimoji="1" lang="en-US" altLang="ko-KR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연구원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1" name="Rectangle 432"/>
          <p:cNvSpPr/>
          <p:nvPr/>
        </p:nvSpPr>
        <p:spPr>
          <a:xfrm>
            <a:off x="1932819" y="2234081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2136799" y="2337240"/>
            <a:ext cx="1590876" cy="250930"/>
            <a:chOff x="2303823" y="2494369"/>
            <a:chExt cx="1590876" cy="250930"/>
          </a:xfrm>
        </p:grpSpPr>
        <p:grpSp>
          <p:nvGrpSpPr>
            <p:cNvPr id="192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22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221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93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94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57" name="Rectangle 432"/>
          <p:cNvSpPr/>
          <p:nvPr/>
        </p:nvSpPr>
        <p:spPr>
          <a:xfrm>
            <a:off x="5498979" y="1817627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758" name="그룹 757"/>
          <p:cNvGrpSpPr/>
          <p:nvPr/>
        </p:nvGrpSpPr>
        <p:grpSpPr>
          <a:xfrm>
            <a:off x="5702959" y="1920786"/>
            <a:ext cx="1590876" cy="250930"/>
            <a:chOff x="2303823" y="2494369"/>
            <a:chExt cx="1590876" cy="250930"/>
          </a:xfrm>
        </p:grpSpPr>
        <p:grpSp>
          <p:nvGrpSpPr>
            <p:cNvPr id="774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77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778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75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776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80" name="Rectangle 432"/>
          <p:cNvSpPr/>
          <p:nvPr/>
        </p:nvSpPr>
        <p:spPr>
          <a:xfrm>
            <a:off x="1932819" y="264140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781" name="그룹 780"/>
          <p:cNvGrpSpPr/>
          <p:nvPr/>
        </p:nvGrpSpPr>
        <p:grpSpPr>
          <a:xfrm>
            <a:off x="2136799" y="2744563"/>
            <a:ext cx="1590876" cy="250930"/>
            <a:chOff x="2303823" y="2494369"/>
            <a:chExt cx="1590876" cy="250930"/>
          </a:xfrm>
        </p:grpSpPr>
        <p:grpSp>
          <p:nvGrpSpPr>
            <p:cNvPr id="797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80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801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98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799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803" name="Rectangle 432"/>
          <p:cNvSpPr/>
          <p:nvPr/>
        </p:nvSpPr>
        <p:spPr>
          <a:xfrm>
            <a:off x="1932819" y="3048726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804" name="그룹 803"/>
          <p:cNvGrpSpPr/>
          <p:nvPr/>
        </p:nvGrpSpPr>
        <p:grpSpPr>
          <a:xfrm>
            <a:off x="2136799" y="3151885"/>
            <a:ext cx="1590876" cy="250930"/>
            <a:chOff x="2303823" y="2494369"/>
            <a:chExt cx="1590876" cy="250930"/>
          </a:xfrm>
        </p:grpSpPr>
        <p:grpSp>
          <p:nvGrpSpPr>
            <p:cNvPr id="820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823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824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821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822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826" name="Rectangle 432"/>
          <p:cNvSpPr/>
          <p:nvPr/>
        </p:nvSpPr>
        <p:spPr>
          <a:xfrm>
            <a:off x="1932819" y="3456049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827" name="그룹 826"/>
          <p:cNvGrpSpPr/>
          <p:nvPr/>
        </p:nvGrpSpPr>
        <p:grpSpPr>
          <a:xfrm>
            <a:off x="2136799" y="3559208"/>
            <a:ext cx="1590876" cy="250930"/>
            <a:chOff x="2303823" y="2494369"/>
            <a:chExt cx="1590876" cy="250930"/>
          </a:xfrm>
        </p:grpSpPr>
        <p:grpSp>
          <p:nvGrpSpPr>
            <p:cNvPr id="843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84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847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844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845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849" name="Rectangle 432"/>
          <p:cNvSpPr/>
          <p:nvPr/>
        </p:nvSpPr>
        <p:spPr>
          <a:xfrm>
            <a:off x="1932819" y="3863372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850" name="그룹 849"/>
          <p:cNvGrpSpPr/>
          <p:nvPr/>
        </p:nvGrpSpPr>
        <p:grpSpPr>
          <a:xfrm>
            <a:off x="2136799" y="3966531"/>
            <a:ext cx="1590876" cy="250930"/>
            <a:chOff x="2303823" y="2494369"/>
            <a:chExt cx="1590876" cy="250930"/>
          </a:xfrm>
        </p:grpSpPr>
        <p:grpSp>
          <p:nvGrpSpPr>
            <p:cNvPr id="866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86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870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867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868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872" name="Rectangle 432"/>
          <p:cNvSpPr/>
          <p:nvPr/>
        </p:nvSpPr>
        <p:spPr>
          <a:xfrm>
            <a:off x="1932819" y="4270695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873" name="그룹 872"/>
          <p:cNvGrpSpPr/>
          <p:nvPr/>
        </p:nvGrpSpPr>
        <p:grpSpPr>
          <a:xfrm>
            <a:off x="2136799" y="4373854"/>
            <a:ext cx="1590876" cy="250930"/>
            <a:chOff x="2303823" y="2494369"/>
            <a:chExt cx="1590876" cy="250930"/>
          </a:xfrm>
        </p:grpSpPr>
        <p:grpSp>
          <p:nvGrpSpPr>
            <p:cNvPr id="889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892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893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890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891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895" name="Rectangle 432"/>
          <p:cNvSpPr/>
          <p:nvPr/>
        </p:nvSpPr>
        <p:spPr>
          <a:xfrm>
            <a:off x="1932819" y="4678021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896" name="그룹 895"/>
          <p:cNvGrpSpPr/>
          <p:nvPr/>
        </p:nvGrpSpPr>
        <p:grpSpPr>
          <a:xfrm>
            <a:off x="2136799" y="4781180"/>
            <a:ext cx="1590876" cy="250930"/>
            <a:chOff x="2303823" y="2494369"/>
            <a:chExt cx="1590876" cy="250930"/>
          </a:xfrm>
        </p:grpSpPr>
        <p:grpSp>
          <p:nvGrpSpPr>
            <p:cNvPr id="912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915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916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913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14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918" name="Rectangle 432"/>
          <p:cNvSpPr/>
          <p:nvPr/>
        </p:nvSpPr>
        <p:spPr>
          <a:xfrm>
            <a:off x="1932819" y="508534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919" name="그룹 918"/>
          <p:cNvGrpSpPr/>
          <p:nvPr/>
        </p:nvGrpSpPr>
        <p:grpSpPr>
          <a:xfrm>
            <a:off x="2136799" y="5188503"/>
            <a:ext cx="1590876" cy="250930"/>
            <a:chOff x="2303823" y="2494369"/>
            <a:chExt cx="1590876" cy="250930"/>
          </a:xfrm>
        </p:grpSpPr>
        <p:grpSp>
          <p:nvGrpSpPr>
            <p:cNvPr id="935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938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939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936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37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23" name="Rectangle 432"/>
          <p:cNvSpPr/>
          <p:nvPr/>
        </p:nvSpPr>
        <p:spPr>
          <a:xfrm>
            <a:off x="5498693" y="2234081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24" name="그룹 523"/>
          <p:cNvGrpSpPr/>
          <p:nvPr/>
        </p:nvGrpSpPr>
        <p:grpSpPr>
          <a:xfrm>
            <a:off x="5702673" y="2337240"/>
            <a:ext cx="1590876" cy="250930"/>
            <a:chOff x="2303823" y="2494369"/>
            <a:chExt cx="1590876" cy="250930"/>
          </a:xfrm>
        </p:grpSpPr>
        <p:grpSp>
          <p:nvGrpSpPr>
            <p:cNvPr id="530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33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34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31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32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36" name="Rectangle 432"/>
          <p:cNvSpPr/>
          <p:nvPr/>
        </p:nvSpPr>
        <p:spPr>
          <a:xfrm>
            <a:off x="5498693" y="264140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37" name="그룹 536"/>
          <p:cNvGrpSpPr/>
          <p:nvPr/>
        </p:nvGrpSpPr>
        <p:grpSpPr>
          <a:xfrm>
            <a:off x="5702673" y="2744563"/>
            <a:ext cx="1590876" cy="250930"/>
            <a:chOff x="2303823" y="2494369"/>
            <a:chExt cx="1590876" cy="250930"/>
          </a:xfrm>
        </p:grpSpPr>
        <p:grpSp>
          <p:nvGrpSpPr>
            <p:cNvPr id="543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4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47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44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45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49" name="Rectangle 432"/>
          <p:cNvSpPr/>
          <p:nvPr/>
        </p:nvSpPr>
        <p:spPr>
          <a:xfrm>
            <a:off x="5498693" y="3048726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50" name="그룹 549"/>
          <p:cNvGrpSpPr/>
          <p:nvPr/>
        </p:nvGrpSpPr>
        <p:grpSpPr>
          <a:xfrm>
            <a:off x="5702673" y="3151885"/>
            <a:ext cx="1590876" cy="250930"/>
            <a:chOff x="2303823" y="2494369"/>
            <a:chExt cx="1590876" cy="250930"/>
          </a:xfrm>
        </p:grpSpPr>
        <p:grpSp>
          <p:nvGrpSpPr>
            <p:cNvPr id="556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5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60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57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58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62" name="Rectangle 432"/>
          <p:cNvSpPr/>
          <p:nvPr/>
        </p:nvSpPr>
        <p:spPr>
          <a:xfrm>
            <a:off x="5498693" y="3456049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63" name="그룹 562"/>
          <p:cNvGrpSpPr/>
          <p:nvPr/>
        </p:nvGrpSpPr>
        <p:grpSpPr>
          <a:xfrm>
            <a:off x="5702673" y="3559208"/>
            <a:ext cx="1590876" cy="250930"/>
            <a:chOff x="2303823" y="2494369"/>
            <a:chExt cx="1590876" cy="250930"/>
          </a:xfrm>
        </p:grpSpPr>
        <p:grpSp>
          <p:nvGrpSpPr>
            <p:cNvPr id="569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72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73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70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71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75" name="Rectangle 432"/>
          <p:cNvSpPr/>
          <p:nvPr/>
        </p:nvSpPr>
        <p:spPr>
          <a:xfrm>
            <a:off x="5498693" y="3863372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76" name="그룹 575"/>
          <p:cNvGrpSpPr/>
          <p:nvPr/>
        </p:nvGrpSpPr>
        <p:grpSpPr>
          <a:xfrm>
            <a:off x="5702673" y="3966531"/>
            <a:ext cx="1590876" cy="250930"/>
            <a:chOff x="2303823" y="2494369"/>
            <a:chExt cx="1590876" cy="250930"/>
          </a:xfrm>
        </p:grpSpPr>
        <p:grpSp>
          <p:nvGrpSpPr>
            <p:cNvPr id="582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85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86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83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84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88" name="Rectangle 432"/>
          <p:cNvSpPr/>
          <p:nvPr/>
        </p:nvSpPr>
        <p:spPr>
          <a:xfrm>
            <a:off x="5498693" y="4270695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89" name="그룹 588"/>
          <p:cNvGrpSpPr/>
          <p:nvPr/>
        </p:nvGrpSpPr>
        <p:grpSpPr>
          <a:xfrm>
            <a:off x="5702673" y="4373854"/>
            <a:ext cx="1590876" cy="250930"/>
            <a:chOff x="2303823" y="2494369"/>
            <a:chExt cx="1590876" cy="250930"/>
          </a:xfrm>
        </p:grpSpPr>
        <p:grpSp>
          <p:nvGrpSpPr>
            <p:cNvPr id="595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98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99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96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97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601" name="Rectangle 432"/>
          <p:cNvSpPr/>
          <p:nvPr/>
        </p:nvSpPr>
        <p:spPr>
          <a:xfrm>
            <a:off x="5498693" y="4678021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02" name="그룹 601"/>
          <p:cNvGrpSpPr/>
          <p:nvPr/>
        </p:nvGrpSpPr>
        <p:grpSpPr>
          <a:xfrm>
            <a:off x="5702673" y="4781180"/>
            <a:ext cx="1590876" cy="250930"/>
            <a:chOff x="2303823" y="2494369"/>
            <a:chExt cx="1590876" cy="250930"/>
          </a:xfrm>
        </p:grpSpPr>
        <p:grpSp>
          <p:nvGrpSpPr>
            <p:cNvPr id="608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1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612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09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10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614" name="Rectangle 432"/>
          <p:cNvSpPr/>
          <p:nvPr/>
        </p:nvSpPr>
        <p:spPr>
          <a:xfrm>
            <a:off x="5498693" y="508534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15" name="그룹 614"/>
          <p:cNvGrpSpPr/>
          <p:nvPr/>
        </p:nvGrpSpPr>
        <p:grpSpPr>
          <a:xfrm>
            <a:off x="5702673" y="5188503"/>
            <a:ext cx="1590876" cy="250930"/>
            <a:chOff x="2303823" y="2494369"/>
            <a:chExt cx="1590876" cy="250930"/>
          </a:xfrm>
        </p:grpSpPr>
        <p:grpSp>
          <p:nvGrpSpPr>
            <p:cNvPr id="621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24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625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22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23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31" name="TextBox 330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42" name="TextBox 341"/>
          <p:cNvSpPr txBox="1"/>
          <p:nvPr/>
        </p:nvSpPr>
        <p:spPr>
          <a:xfrm>
            <a:off x="4327522" y="1161037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필터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43" name="직사각형 342"/>
          <p:cNvSpPr/>
          <p:nvPr/>
        </p:nvSpPr>
        <p:spPr>
          <a:xfrm>
            <a:off x="4631641" y="1173462"/>
            <a:ext cx="923925" cy="19050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전체              ▼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385138" y="1165556"/>
            <a:ext cx="741174" cy="206044"/>
            <a:chOff x="8194638" y="1584656"/>
            <a:chExt cx="741174" cy="206044"/>
          </a:xfrm>
        </p:grpSpPr>
        <p:sp>
          <p:nvSpPr>
            <p:cNvPr id="359" name="모서리가 둥근 직사각형 358"/>
            <p:cNvSpPr/>
            <p:nvPr/>
          </p:nvSpPr>
          <p:spPr>
            <a:xfrm>
              <a:off x="8194638" y="1584656"/>
              <a:ext cx="368338" cy="20604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smtClean="0">
                  <a:solidFill>
                    <a:schemeClr val="tx1"/>
                  </a:solidFill>
                </a:rPr>
                <a:t>등급별</a:t>
              </a:r>
              <a:endParaRPr lang="ko-KR" altLang="en-US" sz="800" dirty="0" smtClean="0">
                <a:solidFill>
                  <a:schemeClr val="tx1"/>
                </a:solidFill>
              </a:endParaRPr>
            </a:p>
          </p:txBody>
        </p:sp>
        <p:sp>
          <p:nvSpPr>
            <p:cNvPr id="360" name="모서리가 둥근 직사각형 359"/>
            <p:cNvSpPr/>
            <p:nvPr/>
          </p:nvSpPr>
          <p:spPr>
            <a:xfrm>
              <a:off x="8567474" y="1584656"/>
              <a:ext cx="368338" cy="2060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smtClean="0">
                  <a:solidFill>
                    <a:schemeClr val="tx1"/>
                  </a:solidFill>
                </a:rPr>
                <a:t>팀별</a:t>
              </a:r>
              <a:endParaRPr lang="ko-KR" altLang="en-US" sz="800" dirty="0" smtClean="0">
                <a:solidFill>
                  <a:schemeClr val="tx1"/>
                </a:solidFill>
              </a:endParaRPr>
            </a:p>
          </p:txBody>
        </p:sp>
      </p:grpSp>
      <p:sp>
        <p:nvSpPr>
          <p:cNvPr id="361" name="TextBox 360"/>
          <p:cNvSpPr txBox="1"/>
          <p:nvPr/>
        </p:nvSpPr>
        <p:spPr>
          <a:xfrm>
            <a:off x="2953431" y="1161055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정렬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62" name="직사각형 361"/>
          <p:cNvSpPr/>
          <p:nvPr/>
        </p:nvSpPr>
        <p:spPr>
          <a:xfrm>
            <a:off x="3257550" y="1163955"/>
            <a:ext cx="923925" cy="19050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권한순           ▼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1974682" y="1540085"/>
            <a:ext cx="43337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총 </a:t>
            </a: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99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명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63" name="직사각형 362"/>
          <p:cNvSpPr/>
          <p:nvPr/>
        </p:nvSpPr>
        <p:spPr>
          <a:xfrm>
            <a:off x="3257550" y="1354454"/>
            <a:ext cx="923925" cy="62674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권한순 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trike="sngStrike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직급순</a:t>
            </a:r>
            <a:endParaRPr lang="en-US" altLang="ko-KR" sz="800" strike="sngStrike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가나다순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가입일순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64" name="직사각형 363"/>
          <p:cNvSpPr/>
          <p:nvPr/>
        </p:nvSpPr>
        <p:spPr>
          <a:xfrm>
            <a:off x="4631641" y="1354454"/>
            <a:ext cx="923925" cy="62674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전체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관리자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멤버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참관인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65" name="타원 364"/>
          <p:cNvSpPr>
            <a:spLocks noChangeAspect="1"/>
          </p:cNvSpPr>
          <p:nvPr/>
        </p:nvSpPr>
        <p:spPr>
          <a:xfrm>
            <a:off x="1852756" y="1077335"/>
            <a:ext cx="141074" cy="142134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7" name="타원 366"/>
          <p:cNvSpPr>
            <a:spLocks noChangeAspect="1"/>
          </p:cNvSpPr>
          <p:nvPr/>
        </p:nvSpPr>
        <p:spPr>
          <a:xfrm>
            <a:off x="2805256" y="1191635"/>
            <a:ext cx="141074" cy="142134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8" name="타원 367"/>
          <p:cNvSpPr>
            <a:spLocks noChangeAspect="1"/>
          </p:cNvSpPr>
          <p:nvPr/>
        </p:nvSpPr>
        <p:spPr>
          <a:xfrm>
            <a:off x="4237816" y="1191635"/>
            <a:ext cx="141074" cy="142134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9" name="타원 368"/>
          <p:cNvSpPr>
            <a:spLocks noChangeAspect="1"/>
          </p:cNvSpPr>
          <p:nvPr/>
        </p:nvSpPr>
        <p:spPr>
          <a:xfrm>
            <a:off x="8238316" y="1191635"/>
            <a:ext cx="141074" cy="142134"/>
          </a:xfrm>
          <a:prstGeom prst="ellipse">
            <a:avLst/>
          </a:prstGeom>
          <a:solidFill>
            <a:srgbClr val="FF0000"/>
          </a:solidFill>
          <a:ln w="3175">
            <a:solidFill>
              <a:srgbClr val="FF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75" name="직선 화살표 연결선 74"/>
          <p:cNvCxnSpPr/>
          <p:nvPr/>
        </p:nvCxnSpPr>
        <p:spPr>
          <a:xfrm>
            <a:off x="9060873" y="1544407"/>
            <a:ext cx="0" cy="4479267"/>
          </a:xfrm>
          <a:prstGeom prst="straightConnector1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5" name="직사각형 324"/>
          <p:cNvSpPr/>
          <p:nvPr/>
        </p:nvSpPr>
        <p:spPr>
          <a:xfrm>
            <a:off x="1895475" y="361950"/>
            <a:ext cx="3371850" cy="2857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4023348"/>
              </p:ext>
            </p:extLst>
          </p:nvPr>
        </p:nvGraphicFramePr>
        <p:xfrm>
          <a:off x="9290533" y="6188075"/>
          <a:ext cx="2892502" cy="471256"/>
        </p:xfrm>
        <a:graphic>
          <a:graphicData uri="http://schemas.openxmlformats.org/drawingml/2006/table">
            <a:tbl>
              <a:tblPr/>
              <a:tblGrid>
                <a:gridCol w="2892502">
                  <a:extLst>
                    <a:ext uri="{9D8B030D-6E8A-4147-A177-3AD203B41FA5}">
                      <a16:colId xmlns:a16="http://schemas.microsoft.com/office/drawing/2014/main" val="1709627268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3/30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수정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66919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멤버 권한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설정 및 삭제 기능 삭제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106529"/>
                  </a:ext>
                </a:extLst>
              </a:tr>
            </a:tbl>
          </a:graphicData>
        </a:graphic>
      </p:graphicFrame>
      <p:sp>
        <p:nvSpPr>
          <p:cNvPr id="66" name="직사각형 65"/>
          <p:cNvSpPr/>
          <p:nvPr/>
        </p:nvSpPr>
        <p:spPr>
          <a:xfrm>
            <a:off x="9525000" y="3409950"/>
            <a:ext cx="2647950" cy="2472690"/>
          </a:xfrm>
          <a:prstGeom prst="rect">
            <a:avLst/>
          </a:prstGeom>
          <a:solidFill>
            <a:srgbClr val="0000FF">
              <a:alpha val="49000"/>
            </a:srgbClr>
          </a:solidFill>
        </p:spPr>
        <p:txBody>
          <a:bodyPr wrap="none" lIns="36000" tIns="36000" rIns="36000" bIns="36000" rtlCol="0" anchor="t">
            <a:noAutofit/>
          </a:bodyPr>
          <a:lstStyle/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현황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]</a:t>
            </a:r>
            <a:endParaRPr lang="en-US" altLang="ko-KR" sz="800" b="1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EGW 1.0 </a:t>
            </a: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기준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,</a:t>
            </a: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멤버 관리는 팝업과 페이지 양방향으로 되어 있음</a:t>
            </a:r>
            <a:endParaRPr lang="en-US" altLang="ko-KR" sz="800" b="1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endParaRPr lang="en-US" altLang="ko-KR" sz="800" b="1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문제점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]</a:t>
            </a:r>
            <a:endParaRPr lang="en-US" altLang="ko-KR" sz="800" b="1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팝업에서 부서 단위로 멤버 추가 후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 </a:t>
            </a:r>
            <a:b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</a:b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페이지</a:t>
            </a: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에서 멤버 개별 삭제 시도시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,</a:t>
            </a: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 </a:t>
            </a:r>
            <a:endParaRPr lang="en-US" altLang="ko-KR" sz="800" b="1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부서 단위로 묶인 멤버 구성이 해제되어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>, </a:t>
            </a: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이와 연관된 </a:t>
            </a:r>
            <a: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  <a:t/>
            </a:r>
            <a:br>
              <a:rPr lang="en-US" altLang="ko-KR" sz="800" b="1" smtClean="0">
                <a:solidFill>
                  <a:schemeClr val="bg1"/>
                </a:solidFill>
                <a:latin typeface="+mn-ea"/>
                <a:ea typeface="+mn-ea"/>
              </a:rPr>
            </a:b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기능도 상실 되고 있음</a:t>
            </a:r>
            <a:endParaRPr lang="en-US" altLang="ko-KR" sz="800" b="1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endParaRPr lang="en-US" altLang="ko-KR" sz="800" b="1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en-US" altLang="ko-KR" sz="800" b="1" smtClean="0">
                <a:solidFill>
                  <a:srgbClr val="FFFF00"/>
                </a:solidFill>
                <a:latin typeface="+mn-ea"/>
                <a:ea typeface="+mn-ea"/>
              </a:rPr>
              <a:t>[</a:t>
            </a: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대안</a:t>
            </a:r>
            <a:r>
              <a:rPr lang="en-US" altLang="ko-KR" sz="800" b="1" smtClean="0">
                <a:solidFill>
                  <a:srgbClr val="FFFF00"/>
                </a:solidFill>
                <a:latin typeface="+mn-ea"/>
                <a:ea typeface="+mn-ea"/>
              </a:rPr>
              <a:t>]</a:t>
            </a: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페이지는 회원 리스트 조회의 기능으로 정의하고</a:t>
            </a:r>
            <a:r>
              <a:rPr lang="en-US" altLang="ko-KR" sz="800" b="1" smtClean="0">
                <a:solidFill>
                  <a:srgbClr val="FFFF00"/>
                </a:solidFill>
                <a:latin typeface="+mn-ea"/>
                <a:ea typeface="+mn-ea"/>
              </a:rPr>
              <a:t>,</a:t>
            </a: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멤버 관리는</a:t>
            </a:r>
            <a:r>
              <a:rPr lang="en-US" altLang="ko-KR" sz="800" b="1" smtClean="0">
                <a:solidFill>
                  <a:srgbClr val="FFFF00"/>
                </a:solidFill>
                <a:latin typeface="+mn-ea"/>
                <a:ea typeface="+mn-ea"/>
              </a:rPr>
              <a:t> </a:t>
            </a: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팝업을 통해서 설정되도록 이원화</a:t>
            </a:r>
            <a:r>
              <a:rPr lang="en-US" altLang="ko-KR" sz="800" b="1" smtClean="0">
                <a:solidFill>
                  <a:srgbClr val="FFFF00"/>
                </a:solidFill>
                <a:latin typeface="+mn-ea"/>
                <a:ea typeface="+mn-ea"/>
              </a:rPr>
              <a:t>.</a:t>
            </a: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 </a:t>
            </a:r>
            <a:endParaRPr lang="en-US" altLang="ko-KR" sz="800" b="1" smtClean="0">
              <a:solidFill>
                <a:srgbClr val="FFFF00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endParaRPr lang="en-US" altLang="ko-KR" sz="800" b="1">
              <a:solidFill>
                <a:srgbClr val="FFFF00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패치를 통해서 팝업과 페이지 양방향 관리를 통해 </a:t>
            </a:r>
            <a:endParaRPr lang="en-US" altLang="ko-KR" sz="800" b="1" smtClean="0">
              <a:solidFill>
                <a:srgbClr val="FFFF00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b="1" smtClean="0">
                <a:solidFill>
                  <a:srgbClr val="FFFF00"/>
                </a:solidFill>
                <a:latin typeface="+mn-ea"/>
                <a:ea typeface="+mn-ea"/>
              </a:rPr>
              <a:t>발생되는 문제점 해결 예정 </a:t>
            </a:r>
            <a:endParaRPr lang="en-US" altLang="ko-KR" sz="800" b="1" smtClean="0">
              <a:solidFill>
                <a:srgbClr val="FFFF00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endParaRPr lang="en-US" altLang="ko-KR" sz="800" b="1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endParaRPr lang="en-US" altLang="ko-KR" sz="800" b="1">
              <a:solidFill>
                <a:schemeClr val="bg1"/>
              </a:solidFill>
              <a:latin typeface="+mn-ea"/>
              <a:ea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4602147" y="2725237"/>
            <a:ext cx="720971" cy="233616"/>
            <a:chOff x="8002572" y="3887287"/>
            <a:chExt cx="720971" cy="233616"/>
          </a:xfrm>
        </p:grpSpPr>
        <p:sp>
          <p:nvSpPr>
            <p:cNvPr id="330" name="Freeform 11"/>
            <p:cNvSpPr>
              <a:spLocks noChangeAspect="1" noChangeArrowheads="1"/>
            </p:cNvSpPr>
            <p:nvPr/>
          </p:nvSpPr>
          <p:spPr bwMode="auto">
            <a:xfrm>
              <a:off x="8633543" y="3969624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grpSp>
          <p:nvGrpSpPr>
            <p:cNvPr id="332" name="Group 18"/>
            <p:cNvGrpSpPr/>
            <p:nvPr/>
          </p:nvGrpSpPr>
          <p:grpSpPr>
            <a:xfrm>
              <a:off x="8002572" y="3887287"/>
              <a:ext cx="488199" cy="233616"/>
              <a:chOff x="606819" y="4687462"/>
              <a:chExt cx="488199" cy="233616"/>
            </a:xfrm>
          </p:grpSpPr>
          <p:sp>
            <p:nvSpPr>
              <p:cNvPr id="333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  <p:sp>
            <p:nvSpPr>
              <p:cNvPr id="334" name="Triangle 942"/>
              <p:cNvSpPr>
                <a:spLocks noChangeAspect="1"/>
              </p:cNvSpPr>
              <p:nvPr/>
            </p:nvSpPr>
            <p:spPr>
              <a:xfrm flipV="1"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boto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335" name="텍스트 상자 31"/>
              <p:cNvSpPr txBox="1"/>
              <p:nvPr/>
            </p:nvSpPr>
            <p:spPr>
              <a:xfrm>
                <a:off x="663018" y="4742716"/>
                <a:ext cx="43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멤버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68" name="모서리가 둥근 직사각형 67"/>
          <p:cNvSpPr/>
          <p:nvPr/>
        </p:nvSpPr>
        <p:spPr>
          <a:xfrm>
            <a:off x="4448175" y="2676525"/>
            <a:ext cx="977265" cy="333375"/>
          </a:xfrm>
          <a:prstGeom prst="roundRect">
            <a:avLst>
              <a:gd name="adj" fmla="val 45714"/>
            </a:avLst>
          </a:prstGeom>
          <a:noFill/>
          <a:ln w="19050">
            <a:solidFill>
              <a:srgbClr val="0000FF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4617015" y="3026003"/>
            <a:ext cx="76199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rgbClr val="0000FF"/>
                </a:solidFill>
                <a:latin typeface="+mn-ea"/>
                <a:ea typeface="+mn-ea"/>
              </a:rPr>
              <a:t>해당 기능 삭제</a:t>
            </a:r>
            <a:endParaRPr lang="ko-KR" altLang="en-US" sz="800" dirty="0" smtClean="0">
              <a:solidFill>
                <a:srgbClr val="0000FF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475227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716145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aphicFrame>
        <p:nvGraphicFramePr>
          <p:cNvPr id="50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6944097"/>
              </p:ext>
            </p:extLst>
          </p:nvPr>
        </p:nvGraphicFramePr>
        <p:xfrm>
          <a:off x="9290533" y="786383"/>
          <a:ext cx="2892502" cy="152789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b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800" b="0" kern="12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</a:rPr>
                        <a:t>클릭시 뷰타입을 팀별로 출력</a:t>
                      </a:r>
                      <a:endParaRPr kumimoji="1" lang="en-US" altLang="ko-KR" sz="800" b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1-1</a:t>
                      </a:r>
                      <a:endParaRPr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각 정렬과 필터 항목에 선택에 따른 화면 구조는</a:t>
                      </a:r>
                      <a:endParaRPr kumimoji="1" lang="en-US" altLang="ko-KR" sz="800" b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1113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팀</a:t>
                      </a:r>
                      <a:r>
                        <a:rPr kumimoji="1"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순서는 유지하되</a:t>
                      </a:r>
                      <a:r>
                        <a:rPr kumimoji="1"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팀내 멤버에만 정렬 및 필터 기능 적용</a:t>
                      </a:r>
                      <a:endParaRPr kumimoji="1" lang="en-US" altLang="ko-KR" sz="800" b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21246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b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b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기본적으로 모든 팀 그룹은 </a:t>
                      </a:r>
                      <a:r>
                        <a:rPr kumimoji="1" lang="ko-KR" altLang="en-US" sz="800" b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접기펴기로</a:t>
                      </a:r>
                      <a:r>
                        <a:rPr kumimoji="1" lang="ko-KR" altLang="en-US" sz="800" b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구현 가능하며 최초 화면 </a:t>
                      </a:r>
                      <a:r>
                        <a:rPr kumimoji="1" lang="ko-KR" altLang="en-US" sz="800" b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로딩시에는</a:t>
                      </a:r>
                      <a:r>
                        <a:rPr kumimoji="1" lang="ko-KR" altLang="en-US" sz="800" b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b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default</a:t>
                      </a:r>
                      <a:r>
                        <a:rPr kumimoji="1" lang="en-US" altLang="ko-KR" sz="800" b="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="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접혀진 상태로 노출</a:t>
                      </a:r>
                      <a:endParaRPr kumimoji="1" lang="en-US" altLang="ko-KR" sz="800" b="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b="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좌측 펴기 버튼 선택하여 구성원을 검색 할 수 있으며 다시 재 선택 시에는 </a:t>
                      </a:r>
                      <a:r>
                        <a:rPr kumimoji="1" lang="ko-KR" altLang="en-US" sz="800" b="0" baseline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숨길수</a:t>
                      </a:r>
                      <a:r>
                        <a:rPr kumimoji="1"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있음</a:t>
                      </a:r>
                      <a:endParaRPr kumimoji="1" lang="en-US" altLang="ko-KR" sz="800" b="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180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76077"/>
                  </a:ext>
                </a:extLst>
              </a:tr>
            </a:tbl>
          </a:graphicData>
        </a:graphic>
      </p:graphicFrame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68" name="모서리가 둥근 직사각형 667"/>
          <p:cNvSpPr/>
          <p:nvPr/>
        </p:nvSpPr>
        <p:spPr>
          <a:xfrm>
            <a:off x="1927187" y="1165556"/>
            <a:ext cx="796857" cy="203603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smtClean="0">
                <a:solidFill>
                  <a:schemeClr val="tx1"/>
                </a:solidFill>
              </a:rPr>
              <a:t>멤버 </a:t>
            </a:r>
            <a:r>
              <a:rPr lang="ko-KR" altLang="en-US" sz="800" smtClean="0">
                <a:solidFill>
                  <a:schemeClr val="tx1"/>
                </a:solidFill>
              </a:rPr>
              <a:t>관리</a:t>
            </a:r>
            <a:endParaRPr lang="ko-KR" altLang="en-US" sz="800" dirty="0" smtClean="0">
              <a:solidFill>
                <a:schemeClr val="tx1"/>
              </a:solidFill>
            </a:endParaRPr>
          </a:p>
        </p:txBody>
      </p:sp>
      <p:cxnSp>
        <p:nvCxnSpPr>
          <p:cNvPr id="669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734" name="Rectangle 432"/>
          <p:cNvSpPr/>
          <p:nvPr/>
        </p:nvSpPr>
        <p:spPr>
          <a:xfrm>
            <a:off x="5498979" y="2517262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735" name="그룹 734"/>
          <p:cNvGrpSpPr/>
          <p:nvPr/>
        </p:nvGrpSpPr>
        <p:grpSpPr>
          <a:xfrm>
            <a:off x="5702959" y="2620421"/>
            <a:ext cx="1590876" cy="250930"/>
            <a:chOff x="2303823" y="2494369"/>
            <a:chExt cx="1590876" cy="250930"/>
          </a:xfrm>
        </p:grpSpPr>
        <p:grpSp>
          <p:nvGrpSpPr>
            <p:cNvPr id="751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754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755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52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753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sp>
        <p:nvSpPr>
          <p:cNvPr id="757" name="Rectangle 432"/>
          <p:cNvSpPr/>
          <p:nvPr/>
        </p:nvSpPr>
        <p:spPr>
          <a:xfrm>
            <a:off x="5498979" y="2109939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758" name="그룹 757"/>
          <p:cNvGrpSpPr/>
          <p:nvPr/>
        </p:nvGrpSpPr>
        <p:grpSpPr>
          <a:xfrm>
            <a:off x="5702959" y="2213098"/>
            <a:ext cx="1590876" cy="250930"/>
            <a:chOff x="2303823" y="2494369"/>
            <a:chExt cx="1590876" cy="250930"/>
          </a:xfrm>
        </p:grpSpPr>
        <p:grpSp>
          <p:nvGrpSpPr>
            <p:cNvPr id="774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77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77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75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776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과장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964" name="Rectangle 432"/>
          <p:cNvSpPr/>
          <p:nvPr/>
        </p:nvSpPr>
        <p:spPr>
          <a:xfrm>
            <a:off x="5498979" y="292458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965" name="그룹 964"/>
          <p:cNvGrpSpPr/>
          <p:nvPr/>
        </p:nvGrpSpPr>
        <p:grpSpPr>
          <a:xfrm>
            <a:off x="5702959" y="3027743"/>
            <a:ext cx="1590876" cy="250930"/>
            <a:chOff x="2303823" y="2494369"/>
            <a:chExt cx="1590876" cy="250930"/>
          </a:xfrm>
        </p:grpSpPr>
        <p:grpSp>
          <p:nvGrpSpPr>
            <p:cNvPr id="981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984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985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982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83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sp>
        <p:nvSpPr>
          <p:cNvPr id="524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1" lang="ko-KR" altLang="en-US" smtClean="0"/>
              <a:t>멤버</a:t>
            </a:r>
            <a:r>
              <a:rPr kumimoji="1" lang="en-US" altLang="ko-KR" dirty="0" smtClean="0"/>
              <a:t>_</a:t>
            </a:r>
            <a:r>
              <a:rPr lang="ko-KR" altLang="en-US" dirty="0" err="1" smtClean="0"/>
              <a:t>팀별</a:t>
            </a:r>
            <a:endParaRPr kumimoji="0" lang="ko-KR" altLang="en-US" dirty="0"/>
          </a:p>
        </p:txBody>
      </p:sp>
      <p:sp>
        <p:nvSpPr>
          <p:cNvPr id="525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mtClean="0"/>
              <a:t>SQ5.2.5</a:t>
            </a:r>
            <a:endParaRPr lang="ko-KR" altLang="en-US" dirty="0"/>
          </a:p>
        </p:txBody>
      </p:sp>
      <p:sp>
        <p:nvSpPr>
          <p:cNvPr id="526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/>
              <a:t>그룹 </a:t>
            </a:r>
            <a:r>
              <a:rPr kumimoji="0" lang="en-US" altLang="ko-KR"/>
              <a:t>&gt; </a:t>
            </a:r>
            <a:r>
              <a:rPr kumimoji="0" lang="ko-KR" altLang="en-US" smtClean="0"/>
              <a:t>멤버</a:t>
            </a:r>
            <a:endParaRPr kumimoji="0" lang="ko-KR" altLang="en-US" dirty="0"/>
          </a:p>
        </p:txBody>
      </p:sp>
      <p:grpSp>
        <p:nvGrpSpPr>
          <p:cNvPr id="532" name="Group 5"/>
          <p:cNvGrpSpPr/>
          <p:nvPr/>
        </p:nvGrpSpPr>
        <p:grpSpPr>
          <a:xfrm>
            <a:off x="5498620" y="1821248"/>
            <a:ext cx="3453828" cy="288202"/>
            <a:chOff x="444761" y="1400721"/>
            <a:chExt cx="3437310" cy="288202"/>
          </a:xfrm>
        </p:grpSpPr>
        <p:sp>
          <p:nvSpPr>
            <p:cNvPr id="534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35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자동차 </a:t>
              </a: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</a:t>
              </a: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개선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36" name="Freeform 14"/>
            <p:cNvSpPr>
              <a:spLocks noChangeArrowheads="1"/>
            </p:cNvSpPr>
            <p:nvPr/>
          </p:nvSpPr>
          <p:spPr bwMode="auto">
            <a:xfrm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539" name="Group 5"/>
          <p:cNvGrpSpPr/>
          <p:nvPr/>
        </p:nvGrpSpPr>
        <p:grpSpPr>
          <a:xfrm>
            <a:off x="5498620" y="3459405"/>
            <a:ext cx="3453828" cy="288202"/>
            <a:chOff x="444761" y="1400721"/>
            <a:chExt cx="3437310" cy="288202"/>
          </a:xfrm>
        </p:grpSpPr>
        <p:sp>
          <p:nvSpPr>
            <p:cNvPr id="541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42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마케팅팀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43" name="Freeform 14"/>
            <p:cNvSpPr>
              <a:spLocks noChangeArrowheads="1"/>
            </p:cNvSpPr>
            <p:nvPr/>
          </p:nvSpPr>
          <p:spPr bwMode="auto">
            <a:xfrm rot="10800000"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545" name="Group 5"/>
          <p:cNvGrpSpPr/>
          <p:nvPr/>
        </p:nvGrpSpPr>
        <p:grpSpPr>
          <a:xfrm>
            <a:off x="5498620" y="3875595"/>
            <a:ext cx="3453828" cy="288202"/>
            <a:chOff x="444761" y="1400721"/>
            <a:chExt cx="3437310" cy="288202"/>
          </a:xfrm>
        </p:grpSpPr>
        <p:sp>
          <p:nvSpPr>
            <p:cNvPr id="547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48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기업금융사업부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49" name="Freeform 14"/>
            <p:cNvSpPr>
              <a:spLocks noChangeArrowheads="1"/>
            </p:cNvSpPr>
            <p:nvPr/>
          </p:nvSpPr>
          <p:spPr bwMode="auto">
            <a:xfrm rot="10800000"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557" name="Rectangle 432"/>
          <p:cNvSpPr/>
          <p:nvPr/>
        </p:nvSpPr>
        <p:spPr>
          <a:xfrm>
            <a:off x="5498979" y="4984402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58" name="그룹 557"/>
          <p:cNvGrpSpPr/>
          <p:nvPr/>
        </p:nvGrpSpPr>
        <p:grpSpPr>
          <a:xfrm>
            <a:off x="5702959" y="5087561"/>
            <a:ext cx="1590876" cy="250930"/>
            <a:chOff x="2303823" y="2494369"/>
            <a:chExt cx="1590876" cy="250930"/>
          </a:xfrm>
        </p:grpSpPr>
        <p:grpSp>
          <p:nvGrpSpPr>
            <p:cNvPr id="564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6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6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65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66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sp>
        <p:nvSpPr>
          <p:cNvPr id="570" name="Rectangle 432"/>
          <p:cNvSpPr/>
          <p:nvPr/>
        </p:nvSpPr>
        <p:spPr>
          <a:xfrm>
            <a:off x="5498979" y="4577079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71" name="그룹 570"/>
          <p:cNvGrpSpPr/>
          <p:nvPr/>
        </p:nvGrpSpPr>
        <p:grpSpPr>
          <a:xfrm>
            <a:off x="5702959" y="4680238"/>
            <a:ext cx="1590876" cy="250930"/>
            <a:chOff x="2303823" y="2494369"/>
            <a:chExt cx="1590876" cy="250930"/>
          </a:xfrm>
        </p:grpSpPr>
        <p:grpSp>
          <p:nvGrpSpPr>
            <p:cNvPr id="577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8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81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78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79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과장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83" name="Rectangle 432"/>
          <p:cNvSpPr/>
          <p:nvPr/>
        </p:nvSpPr>
        <p:spPr>
          <a:xfrm>
            <a:off x="5498979" y="539172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84" name="그룹 583"/>
          <p:cNvGrpSpPr/>
          <p:nvPr/>
        </p:nvGrpSpPr>
        <p:grpSpPr>
          <a:xfrm>
            <a:off x="5702959" y="5494883"/>
            <a:ext cx="1590876" cy="250930"/>
            <a:chOff x="2303823" y="2494369"/>
            <a:chExt cx="1590876" cy="250930"/>
          </a:xfrm>
        </p:grpSpPr>
        <p:grpSp>
          <p:nvGrpSpPr>
            <p:cNvPr id="590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593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594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591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92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grpSp>
        <p:nvGrpSpPr>
          <p:cNvPr id="596" name="Group 5"/>
          <p:cNvGrpSpPr/>
          <p:nvPr/>
        </p:nvGrpSpPr>
        <p:grpSpPr>
          <a:xfrm>
            <a:off x="5498620" y="4288388"/>
            <a:ext cx="3453828" cy="288202"/>
            <a:chOff x="444761" y="1400721"/>
            <a:chExt cx="3437310" cy="288202"/>
          </a:xfrm>
        </p:grpSpPr>
        <p:sp>
          <p:nvSpPr>
            <p:cNvPr id="598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99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컴포넌트팀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00" name="Freeform 14"/>
            <p:cNvSpPr>
              <a:spLocks noChangeArrowheads="1"/>
            </p:cNvSpPr>
            <p:nvPr/>
          </p:nvSpPr>
          <p:spPr bwMode="auto">
            <a:xfrm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602" name="Group 5"/>
          <p:cNvGrpSpPr/>
          <p:nvPr/>
        </p:nvGrpSpPr>
        <p:grpSpPr>
          <a:xfrm>
            <a:off x="1937005" y="1821248"/>
            <a:ext cx="3453828" cy="288202"/>
            <a:chOff x="444761" y="1400721"/>
            <a:chExt cx="3437310" cy="288202"/>
          </a:xfrm>
        </p:grpSpPr>
        <p:sp>
          <p:nvSpPr>
            <p:cNvPr id="604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05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UX/UI</a:t>
              </a:r>
              <a:r>
                <a:rPr kumimoji="1" lang="en-US" altLang="ko-KR" sz="700" b="1" i="0" u="none" strike="noStrike" kern="1200" cap="none" spc="0" normalizeH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 </a:t>
              </a:r>
              <a:r>
                <a:rPr kumimoji="1" lang="ko-KR" altLang="en-US" sz="700" b="1" i="0" u="none" strike="noStrike" kern="1200" cap="none" spc="0" normalizeH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06" name="Freeform 14"/>
            <p:cNvSpPr>
              <a:spLocks noChangeArrowheads="1"/>
            </p:cNvSpPr>
            <p:nvPr/>
          </p:nvSpPr>
          <p:spPr bwMode="auto">
            <a:xfrm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603" name="Freeform 11"/>
          <p:cNvSpPr>
            <a:spLocks noChangeAspect="1" noChangeArrowheads="1"/>
          </p:cNvSpPr>
          <p:nvPr/>
        </p:nvSpPr>
        <p:spPr bwMode="auto">
          <a:xfrm>
            <a:off x="5143254" y="1911210"/>
            <a:ext cx="108000" cy="108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 b="1" dirty="0">
              <a:latin typeface="+mn-ea"/>
              <a:ea typeface="+mn-ea"/>
            </a:endParaRPr>
          </a:p>
        </p:txBody>
      </p:sp>
      <p:sp>
        <p:nvSpPr>
          <p:cNvPr id="608" name="Rectangle 432"/>
          <p:cNvSpPr/>
          <p:nvPr/>
        </p:nvSpPr>
        <p:spPr>
          <a:xfrm>
            <a:off x="1937005" y="2517262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09" name="그룹 608"/>
          <p:cNvGrpSpPr/>
          <p:nvPr/>
        </p:nvGrpSpPr>
        <p:grpSpPr>
          <a:xfrm>
            <a:off x="2140985" y="2620421"/>
            <a:ext cx="1590876" cy="250930"/>
            <a:chOff x="2303823" y="2494369"/>
            <a:chExt cx="1590876" cy="250930"/>
          </a:xfrm>
        </p:grpSpPr>
        <p:grpSp>
          <p:nvGrpSpPr>
            <p:cNvPr id="615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18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619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16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17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sp>
        <p:nvSpPr>
          <p:cNvPr id="621" name="Rectangle 432"/>
          <p:cNvSpPr/>
          <p:nvPr/>
        </p:nvSpPr>
        <p:spPr>
          <a:xfrm>
            <a:off x="1937005" y="2109939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22" name="그룹 621"/>
          <p:cNvGrpSpPr/>
          <p:nvPr/>
        </p:nvGrpSpPr>
        <p:grpSpPr>
          <a:xfrm>
            <a:off x="2140985" y="2213098"/>
            <a:ext cx="1590876" cy="250930"/>
            <a:chOff x="2303823" y="2494369"/>
            <a:chExt cx="1590876" cy="250930"/>
          </a:xfrm>
        </p:grpSpPr>
        <p:grpSp>
          <p:nvGrpSpPr>
            <p:cNvPr id="628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3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632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29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30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과장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636" name="Rectangle 251"/>
          <p:cNvSpPr/>
          <p:nvPr/>
        </p:nvSpPr>
        <p:spPr>
          <a:xfrm>
            <a:off x="1937005" y="3048013"/>
            <a:ext cx="3453828" cy="2882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637" name="텍스트 상자 31"/>
          <p:cNvSpPr txBox="1"/>
          <p:nvPr/>
        </p:nvSpPr>
        <p:spPr>
          <a:xfrm>
            <a:off x="2233495" y="3138253"/>
            <a:ext cx="1913257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신뢰성기술팀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638" name="Freeform 14"/>
          <p:cNvSpPr>
            <a:spLocks noChangeArrowheads="1"/>
          </p:cNvSpPr>
          <p:nvPr/>
        </p:nvSpPr>
        <p:spPr bwMode="auto">
          <a:xfrm rot="10800000">
            <a:off x="2049517" y="3164490"/>
            <a:ext cx="91044" cy="55905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grpSp>
        <p:nvGrpSpPr>
          <p:cNvPr id="640" name="Group 5"/>
          <p:cNvGrpSpPr/>
          <p:nvPr/>
        </p:nvGrpSpPr>
        <p:grpSpPr>
          <a:xfrm>
            <a:off x="1937005" y="3458010"/>
            <a:ext cx="3453828" cy="288202"/>
            <a:chOff x="444761" y="1400721"/>
            <a:chExt cx="3437310" cy="288202"/>
          </a:xfrm>
        </p:grpSpPr>
        <p:sp>
          <p:nvSpPr>
            <p:cNvPr id="642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43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표준개발팀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44" name="Freeform 14"/>
            <p:cNvSpPr>
              <a:spLocks noChangeArrowheads="1"/>
            </p:cNvSpPr>
            <p:nvPr/>
          </p:nvSpPr>
          <p:spPr bwMode="auto">
            <a:xfrm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646" name="Rectangle 432"/>
          <p:cNvSpPr/>
          <p:nvPr/>
        </p:nvSpPr>
        <p:spPr>
          <a:xfrm>
            <a:off x="1937005" y="415402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47" name="그룹 646"/>
          <p:cNvGrpSpPr/>
          <p:nvPr/>
        </p:nvGrpSpPr>
        <p:grpSpPr>
          <a:xfrm>
            <a:off x="2140985" y="4257183"/>
            <a:ext cx="1590876" cy="250930"/>
            <a:chOff x="2303823" y="2494369"/>
            <a:chExt cx="1590876" cy="250930"/>
          </a:xfrm>
        </p:grpSpPr>
        <p:grpSp>
          <p:nvGrpSpPr>
            <p:cNvPr id="653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5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65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54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55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sp>
        <p:nvSpPr>
          <p:cNvPr id="659" name="Rectangle 432"/>
          <p:cNvSpPr/>
          <p:nvPr/>
        </p:nvSpPr>
        <p:spPr>
          <a:xfrm>
            <a:off x="1937005" y="3746701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60" name="그룹 659"/>
          <p:cNvGrpSpPr/>
          <p:nvPr/>
        </p:nvGrpSpPr>
        <p:grpSpPr>
          <a:xfrm>
            <a:off x="2140985" y="3849860"/>
            <a:ext cx="1590876" cy="250930"/>
            <a:chOff x="2303823" y="2494369"/>
            <a:chExt cx="1590876" cy="250930"/>
          </a:xfrm>
        </p:grpSpPr>
        <p:grpSp>
          <p:nvGrpSpPr>
            <p:cNvPr id="671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74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675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72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73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과장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677" name="Group 5"/>
          <p:cNvGrpSpPr/>
          <p:nvPr/>
        </p:nvGrpSpPr>
        <p:grpSpPr>
          <a:xfrm>
            <a:off x="1937005" y="4696200"/>
            <a:ext cx="3453828" cy="288202"/>
            <a:chOff x="444761" y="1400721"/>
            <a:chExt cx="3437310" cy="288202"/>
          </a:xfrm>
        </p:grpSpPr>
        <p:sp>
          <p:nvSpPr>
            <p:cNvPr id="679" name="Rectangle 251"/>
            <p:cNvSpPr/>
            <p:nvPr/>
          </p:nvSpPr>
          <p:spPr>
            <a:xfrm>
              <a:off x="444761" y="1400721"/>
              <a:ext cx="343731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80" name="텍스트 상자 31"/>
            <p:cNvSpPr txBox="1"/>
            <p:nvPr/>
          </p:nvSpPr>
          <p:spPr>
            <a:xfrm>
              <a:off x="739833" y="1490961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표준개발팀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687" name="Freeform 14"/>
            <p:cNvSpPr>
              <a:spLocks noChangeArrowheads="1"/>
            </p:cNvSpPr>
            <p:nvPr/>
          </p:nvSpPr>
          <p:spPr bwMode="auto">
            <a:xfrm>
              <a:off x="556735" y="1517198"/>
              <a:ext cx="90609" cy="55905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689" name="Rectangle 432"/>
          <p:cNvSpPr/>
          <p:nvPr/>
        </p:nvSpPr>
        <p:spPr>
          <a:xfrm>
            <a:off x="1937005" y="5392214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690" name="그룹 689"/>
          <p:cNvGrpSpPr/>
          <p:nvPr/>
        </p:nvGrpSpPr>
        <p:grpSpPr>
          <a:xfrm>
            <a:off x="2140985" y="5495373"/>
            <a:ext cx="1590876" cy="250930"/>
            <a:chOff x="2303823" y="2494369"/>
            <a:chExt cx="1590876" cy="250930"/>
          </a:xfrm>
        </p:grpSpPr>
        <p:grpSp>
          <p:nvGrpSpPr>
            <p:cNvPr id="696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69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700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97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698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과장</a:t>
              </a:r>
            </a:p>
          </p:txBody>
        </p:sp>
      </p:grpSp>
      <p:sp>
        <p:nvSpPr>
          <p:cNvPr id="702" name="Rectangle 432"/>
          <p:cNvSpPr/>
          <p:nvPr/>
        </p:nvSpPr>
        <p:spPr>
          <a:xfrm>
            <a:off x="1937005" y="4984891"/>
            <a:ext cx="3453828" cy="41293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703" name="그룹 702"/>
          <p:cNvGrpSpPr/>
          <p:nvPr/>
        </p:nvGrpSpPr>
        <p:grpSpPr>
          <a:xfrm>
            <a:off x="2140985" y="5088050"/>
            <a:ext cx="1590876" cy="250930"/>
            <a:chOff x="2303823" y="2494369"/>
            <a:chExt cx="1590876" cy="250930"/>
          </a:xfrm>
        </p:grpSpPr>
        <p:grpSp>
          <p:nvGrpSpPr>
            <p:cNvPr id="709" name="그룹 400"/>
            <p:cNvGrpSpPr/>
            <p:nvPr/>
          </p:nvGrpSpPr>
          <p:grpSpPr>
            <a:xfrm>
              <a:off x="2303823" y="2494369"/>
              <a:ext cx="229236" cy="229194"/>
              <a:chOff x="2625629" y="3735853"/>
              <a:chExt cx="276891" cy="276839"/>
            </a:xfrm>
          </p:grpSpPr>
          <p:sp>
            <p:nvSpPr>
              <p:cNvPr id="712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</a:endParaRPr>
              </a:p>
            </p:txBody>
          </p:sp>
          <p:pic>
            <p:nvPicPr>
              <p:cNvPr id="713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10" name="텍스트 상자 31"/>
            <p:cNvSpPr txBox="1"/>
            <p:nvPr/>
          </p:nvSpPr>
          <p:spPr>
            <a:xfrm>
              <a:off x="2625095" y="2495100"/>
              <a:ext cx="1269604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홍길동</a:t>
              </a:r>
              <a:endParaRPr kumimoji="1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711" name="텍스트 상자 31"/>
            <p:cNvSpPr txBox="1"/>
            <p:nvPr/>
          </p:nvSpPr>
          <p:spPr>
            <a:xfrm>
              <a:off x="2625095" y="263757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과장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14" name="타원 713"/>
          <p:cNvSpPr>
            <a:spLocks noChangeAspect="1"/>
          </p:cNvSpPr>
          <p:nvPr/>
        </p:nvSpPr>
        <p:spPr>
          <a:xfrm>
            <a:off x="1830441" y="298342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4327522" y="1161037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필터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7" name="직사각형 296"/>
          <p:cNvSpPr/>
          <p:nvPr/>
        </p:nvSpPr>
        <p:spPr>
          <a:xfrm>
            <a:off x="4631641" y="1173462"/>
            <a:ext cx="923925" cy="19050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전체              ▼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8" name="TextBox 297"/>
          <p:cNvSpPr txBox="1"/>
          <p:nvPr/>
        </p:nvSpPr>
        <p:spPr>
          <a:xfrm>
            <a:off x="2953431" y="1161055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정렬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9" name="직사각형 298"/>
          <p:cNvSpPr/>
          <p:nvPr/>
        </p:nvSpPr>
        <p:spPr>
          <a:xfrm>
            <a:off x="3257550" y="1163955"/>
            <a:ext cx="923925" cy="19050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권한순           ▼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1" name="모서리가 둥근 직사각형 300"/>
          <p:cNvSpPr/>
          <p:nvPr/>
        </p:nvSpPr>
        <p:spPr>
          <a:xfrm>
            <a:off x="8385138" y="1165556"/>
            <a:ext cx="368338" cy="2060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등급별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02" name="모서리가 둥근 직사각형 301"/>
          <p:cNvSpPr/>
          <p:nvPr/>
        </p:nvSpPr>
        <p:spPr>
          <a:xfrm>
            <a:off x="8757974" y="1165556"/>
            <a:ext cx="368338" cy="206044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팀별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03" name="TextBox 302"/>
          <p:cNvSpPr txBox="1"/>
          <p:nvPr/>
        </p:nvSpPr>
        <p:spPr>
          <a:xfrm>
            <a:off x="1974682" y="1540085"/>
            <a:ext cx="43337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총 </a:t>
            </a: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99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명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6" name="직사각형 305"/>
          <p:cNvSpPr/>
          <p:nvPr/>
        </p:nvSpPr>
        <p:spPr>
          <a:xfrm>
            <a:off x="4631641" y="1354454"/>
            <a:ext cx="923925" cy="62674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전체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관리자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멤버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참관인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7" name="직사각형 306"/>
          <p:cNvSpPr/>
          <p:nvPr/>
        </p:nvSpPr>
        <p:spPr>
          <a:xfrm>
            <a:off x="3257550" y="1354454"/>
            <a:ext cx="923925" cy="62674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권한순 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가나다순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가입일순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8" name="타원 307"/>
          <p:cNvSpPr>
            <a:spLocks noChangeAspect="1"/>
          </p:cNvSpPr>
          <p:nvPr/>
        </p:nvSpPr>
        <p:spPr>
          <a:xfrm>
            <a:off x="9034286" y="106890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모서리가 둥근 직사각형 23"/>
          <p:cNvSpPr/>
          <p:nvPr/>
        </p:nvSpPr>
        <p:spPr>
          <a:xfrm>
            <a:off x="2865120" y="1120140"/>
            <a:ext cx="2872740" cy="899160"/>
          </a:xfrm>
          <a:prstGeom prst="roundRect">
            <a:avLst>
              <a:gd name="adj" fmla="val 2267"/>
            </a:avLst>
          </a:prstGeom>
          <a:noFill/>
          <a:ln>
            <a:solidFill>
              <a:srgbClr val="FF0000"/>
            </a:solidFill>
            <a:prstDash val="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10" name="타원 309"/>
          <p:cNvSpPr>
            <a:spLocks noChangeAspect="1"/>
          </p:cNvSpPr>
          <p:nvPr/>
        </p:nvSpPr>
        <p:spPr>
          <a:xfrm>
            <a:off x="2755406" y="103842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0" name="직사각형 289"/>
          <p:cNvSpPr/>
          <p:nvPr/>
        </p:nvSpPr>
        <p:spPr>
          <a:xfrm>
            <a:off x="1895475" y="361950"/>
            <a:ext cx="3371850" cy="285750"/>
          </a:xfrm>
          <a:prstGeom prst="rect">
            <a:avLst/>
          </a:prstGeom>
          <a:solidFill>
            <a:schemeClr val="bg1">
              <a:alpha val="8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231" y="874668"/>
            <a:ext cx="3603039" cy="176117"/>
            <a:chOff x="4079770" y="874786"/>
            <a:chExt cx="3603039" cy="176117"/>
          </a:xfrm>
        </p:grpSpPr>
        <p:sp>
          <p:nvSpPr>
            <p:cNvPr id="292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94" name="텍스트 상자 31"/>
            <p:cNvSpPr txBox="1"/>
            <p:nvPr/>
          </p:nvSpPr>
          <p:spPr>
            <a:xfrm>
              <a:off x="4079770" y="879488"/>
              <a:ext cx="89571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95" name="직선 연결선[R] 7"/>
            <p:cNvCxnSpPr/>
            <p:nvPr/>
          </p:nvCxnSpPr>
          <p:spPr>
            <a:xfrm>
              <a:off x="5660527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00" name="텍스트 상자 31"/>
            <p:cNvSpPr txBox="1"/>
            <p:nvPr/>
          </p:nvSpPr>
          <p:spPr>
            <a:xfrm>
              <a:off x="4986756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4" name="텍스트 상자 31"/>
            <p:cNvSpPr txBox="1"/>
            <p:nvPr/>
          </p:nvSpPr>
          <p:spPr>
            <a:xfrm>
              <a:off x="5437922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5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6781701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1" name="텍스트 상자 31"/>
            <p:cNvSpPr txBox="1"/>
            <p:nvPr/>
          </p:nvSpPr>
          <p:spPr>
            <a:xfrm>
              <a:off x="6338538" y="874786"/>
              <a:ext cx="90110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8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312" name="표 3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2553617"/>
              </p:ext>
            </p:extLst>
          </p:nvPr>
        </p:nvGraphicFramePr>
        <p:xfrm>
          <a:off x="9290533" y="6188075"/>
          <a:ext cx="2892502" cy="471256"/>
        </p:xfrm>
        <a:graphic>
          <a:graphicData uri="http://schemas.openxmlformats.org/drawingml/2006/table">
            <a:tbl>
              <a:tblPr/>
              <a:tblGrid>
                <a:gridCol w="2892502">
                  <a:extLst>
                    <a:ext uri="{9D8B030D-6E8A-4147-A177-3AD203B41FA5}">
                      <a16:colId xmlns:a16="http://schemas.microsoft.com/office/drawing/2014/main" val="1709627268"/>
                    </a:ext>
                  </a:extLst>
                </a:gridCol>
              </a:tblGrid>
              <a:tr h="2477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3/30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화면 수정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66919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멤버 권한</a:t>
                      </a:r>
                      <a:r>
                        <a:rPr lang="ko-KR" altLang="en-US" sz="8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설정 및 삭제 기능 삭제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1065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52433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ko-KR" altLang="en-US" dirty="0" smtClean="0"/>
              <a:t>멤버 추가</a:t>
            </a:r>
            <a:endParaRPr lang="ko-KR" altLang="en-US" dirty="0"/>
          </a:p>
        </p:txBody>
      </p:sp>
      <p:sp>
        <p:nvSpPr>
          <p:cNvPr id="105" name="내용 개체 틀 104"/>
          <p:cNvSpPr>
            <a:spLocks noGrp="1"/>
          </p:cNvSpPr>
          <p:nvPr>
            <p:ph sz="quarter" idx="11"/>
          </p:nvPr>
        </p:nvSpPr>
        <p:spPr/>
        <p:txBody>
          <a:bodyPr/>
          <a:lstStyle/>
          <a:p>
            <a:r>
              <a:rPr lang="en-US" altLang="ko-KR"/>
              <a:t>SQ5.2.1.1</a:t>
            </a:r>
            <a:endParaRPr lang="ko-KR" altLang="en-US" dirty="0"/>
          </a:p>
        </p:txBody>
      </p:sp>
      <p:grpSp>
        <p:nvGrpSpPr>
          <p:cNvPr id="176" name="그룹 175"/>
          <p:cNvGrpSpPr/>
          <p:nvPr/>
        </p:nvGrpSpPr>
        <p:grpSpPr>
          <a:xfrm>
            <a:off x="5119398" y="5644966"/>
            <a:ext cx="488199" cy="707569"/>
            <a:chOff x="4879189" y="4474578"/>
            <a:chExt cx="488199" cy="707569"/>
          </a:xfrm>
        </p:grpSpPr>
        <p:grpSp>
          <p:nvGrpSpPr>
            <p:cNvPr id="177" name="Group 496"/>
            <p:cNvGrpSpPr/>
            <p:nvPr/>
          </p:nvGrpSpPr>
          <p:grpSpPr>
            <a:xfrm>
              <a:off x="4879189" y="4474578"/>
              <a:ext cx="488199" cy="233616"/>
              <a:chOff x="606819" y="4687462"/>
              <a:chExt cx="488199" cy="233616"/>
            </a:xfrm>
          </p:grpSpPr>
          <p:sp>
            <p:nvSpPr>
              <p:cNvPr id="180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  <p:sp>
            <p:nvSpPr>
              <p:cNvPr id="181" name="Triangle 942"/>
              <p:cNvSpPr>
                <a:spLocks noChangeAspect="1"/>
              </p:cNvSpPr>
              <p:nvPr/>
            </p:nvSpPr>
            <p:spPr>
              <a:xfrm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ＭＳ Ｐゴシック" charset="0"/>
                </a:endParaRPr>
              </a:p>
            </p:txBody>
          </p:sp>
          <p:sp>
            <p:nvSpPr>
              <p:cNvPr id="182" name="텍스트 상자 31"/>
              <p:cNvSpPr txBox="1"/>
              <p:nvPr/>
            </p:nvSpPr>
            <p:spPr>
              <a:xfrm>
                <a:off x="663018" y="4750410"/>
                <a:ext cx="324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멤버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78" name="Rectangle 14"/>
            <p:cNvSpPr>
              <a:spLocks/>
            </p:cNvSpPr>
            <p:nvPr/>
          </p:nvSpPr>
          <p:spPr bwMode="auto">
            <a:xfrm>
              <a:off x="4879189" y="4722167"/>
              <a:ext cx="488199" cy="45998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179" name="Rectangle 501"/>
            <p:cNvSpPr/>
            <p:nvPr/>
          </p:nvSpPr>
          <p:spPr>
            <a:xfrm>
              <a:off x="4935388" y="4785112"/>
              <a:ext cx="432000" cy="323165"/>
            </a:xfrm>
            <a:prstGeom prst="rect">
              <a:avLst/>
            </a:prstGeom>
          </p:spPr>
          <p:txBody>
            <a:bodyPr wrap="square" lIns="0" tIns="0" rIns="0" bIns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관리자</a:t>
              </a:r>
            </a:p>
            <a:p>
              <a:pPr marL="0" marR="0" lvl="0" indent="0" algn="l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참관인</a:t>
              </a:r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5926311" y="5644966"/>
            <a:ext cx="488199" cy="707569"/>
            <a:chOff x="4879189" y="4474578"/>
            <a:chExt cx="488199" cy="707569"/>
          </a:xfrm>
        </p:grpSpPr>
        <p:grpSp>
          <p:nvGrpSpPr>
            <p:cNvPr id="166" name="Group 496"/>
            <p:cNvGrpSpPr/>
            <p:nvPr/>
          </p:nvGrpSpPr>
          <p:grpSpPr>
            <a:xfrm>
              <a:off x="4879189" y="4474578"/>
              <a:ext cx="488199" cy="233616"/>
              <a:chOff x="606819" y="4687462"/>
              <a:chExt cx="488199" cy="233616"/>
            </a:xfrm>
          </p:grpSpPr>
          <p:sp>
            <p:nvSpPr>
              <p:cNvPr id="169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  <p:sp>
            <p:nvSpPr>
              <p:cNvPr id="171" name="Triangle 942"/>
              <p:cNvSpPr>
                <a:spLocks noChangeAspect="1"/>
              </p:cNvSpPr>
              <p:nvPr/>
            </p:nvSpPr>
            <p:spPr>
              <a:xfrm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ＭＳ Ｐゴシック" charset="0"/>
                </a:endParaRPr>
              </a:p>
            </p:txBody>
          </p:sp>
          <p:sp>
            <p:nvSpPr>
              <p:cNvPr id="172" name="텍스트 상자 31"/>
              <p:cNvSpPr txBox="1"/>
              <p:nvPr/>
            </p:nvSpPr>
            <p:spPr>
              <a:xfrm>
                <a:off x="663018" y="4750410"/>
                <a:ext cx="324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관리자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67" name="Rectangle 14"/>
            <p:cNvSpPr>
              <a:spLocks/>
            </p:cNvSpPr>
            <p:nvPr/>
          </p:nvSpPr>
          <p:spPr bwMode="auto">
            <a:xfrm>
              <a:off x="4879189" y="4722167"/>
              <a:ext cx="488199" cy="45998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168" name="Rectangle 501"/>
            <p:cNvSpPr/>
            <p:nvPr/>
          </p:nvSpPr>
          <p:spPr>
            <a:xfrm>
              <a:off x="4935388" y="4785112"/>
              <a:ext cx="432000" cy="323165"/>
            </a:xfrm>
            <a:prstGeom prst="rect">
              <a:avLst/>
            </a:prstGeom>
          </p:spPr>
          <p:txBody>
            <a:bodyPr wrap="square" lIns="0" tIns="0" rIns="0" bIns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멤버</a:t>
              </a:r>
            </a:p>
            <a:p>
              <a:pPr marL="0" marR="0" lvl="0" indent="0" algn="l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참관인</a:t>
              </a: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6733224" y="5644966"/>
            <a:ext cx="488199" cy="707569"/>
            <a:chOff x="4879189" y="4474578"/>
            <a:chExt cx="488199" cy="707569"/>
          </a:xfrm>
        </p:grpSpPr>
        <p:grpSp>
          <p:nvGrpSpPr>
            <p:cNvPr id="174" name="Group 496"/>
            <p:cNvGrpSpPr/>
            <p:nvPr/>
          </p:nvGrpSpPr>
          <p:grpSpPr>
            <a:xfrm>
              <a:off x="4879189" y="4474578"/>
              <a:ext cx="488199" cy="233616"/>
              <a:chOff x="606819" y="4687462"/>
              <a:chExt cx="488199" cy="233616"/>
            </a:xfrm>
          </p:grpSpPr>
          <p:sp>
            <p:nvSpPr>
              <p:cNvPr id="188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  <p:sp>
            <p:nvSpPr>
              <p:cNvPr id="189" name="Triangle 942"/>
              <p:cNvSpPr>
                <a:spLocks noChangeAspect="1"/>
              </p:cNvSpPr>
              <p:nvPr/>
            </p:nvSpPr>
            <p:spPr>
              <a:xfrm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ＭＳ Ｐゴシック" charset="0"/>
                </a:endParaRPr>
              </a:p>
            </p:txBody>
          </p:sp>
          <p:sp>
            <p:nvSpPr>
              <p:cNvPr id="190" name="텍스트 상자 31"/>
              <p:cNvSpPr txBox="1"/>
              <p:nvPr/>
            </p:nvSpPr>
            <p:spPr>
              <a:xfrm>
                <a:off x="663018" y="4750410"/>
                <a:ext cx="324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참관인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75" name="Rectangle 14"/>
            <p:cNvSpPr>
              <a:spLocks/>
            </p:cNvSpPr>
            <p:nvPr/>
          </p:nvSpPr>
          <p:spPr bwMode="auto">
            <a:xfrm>
              <a:off x="4879189" y="4722167"/>
              <a:ext cx="488199" cy="459980"/>
            </a:xfrm>
            <a:prstGeom prst="rect">
              <a:avLst/>
            </a:prstGeom>
            <a:solidFill>
              <a:schemeClr val="bg1"/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187" name="Rectangle 501"/>
            <p:cNvSpPr/>
            <p:nvPr/>
          </p:nvSpPr>
          <p:spPr>
            <a:xfrm>
              <a:off x="4935388" y="4785112"/>
              <a:ext cx="432000" cy="323165"/>
            </a:xfrm>
            <a:prstGeom prst="rect">
              <a:avLst/>
            </a:prstGeom>
          </p:spPr>
          <p:txBody>
            <a:bodyPr wrap="square" lIns="0" tIns="0" rIns="0" bIns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멤버</a:t>
              </a:r>
            </a:p>
            <a:p>
              <a:pPr marL="0" marR="0" lvl="0" indent="0" algn="l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관리자</a:t>
              </a: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8248388" y="5704302"/>
            <a:ext cx="691462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그룹 추가 시 </a:t>
            </a:r>
            <a:r>
              <a:rPr kumimoji="1" lang="en-US" altLang="ko-KR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</a:t>
            </a:r>
            <a:endParaRPr kumimoji="1" lang="ko-KR" altLang="en-US" sz="700" b="0" i="0" u="none" strike="noStrike" kern="1200" cap="none" spc="0" normalizeH="0" baseline="0" noProof="0" dirty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2" name="직사각형"/>
          <p:cNvSpPr/>
          <p:nvPr/>
        </p:nvSpPr>
        <p:spPr>
          <a:xfrm rot="5400000">
            <a:off x="7416050" y="2768593"/>
            <a:ext cx="3126061" cy="299189"/>
          </a:xfrm>
          <a:prstGeom prst="rect">
            <a:avLst/>
          </a:prstGeom>
          <a:gradFill flip="none" rotWithShape="1">
            <a:gsLst>
              <a:gs pos="69000">
                <a:srgbClr val="FFFFFF"/>
              </a:gs>
              <a:gs pos="100000">
                <a:schemeClr val="bg1">
                  <a:alpha val="0"/>
                </a:schemeClr>
              </a:gs>
            </a:gsLst>
            <a:lin ang="16200000" scaled="1"/>
            <a:tileRect/>
          </a:gra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sz="2400">
                <a:solidFill>
                  <a:srgbClr val="FFFFFF"/>
                </a:solidFill>
              </a:defRPr>
            </a:pPr>
            <a:endParaRPr kumimoji="1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sp>
        <p:nvSpPr>
          <p:cNvPr id="195" name="Rectangle 303"/>
          <p:cNvSpPr/>
          <p:nvPr/>
        </p:nvSpPr>
        <p:spPr>
          <a:xfrm>
            <a:off x="2541754" y="903385"/>
            <a:ext cx="6471668" cy="450587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03" name="Rectangle 304"/>
          <p:cNvSpPr/>
          <p:nvPr/>
        </p:nvSpPr>
        <p:spPr>
          <a:xfrm>
            <a:off x="2565985" y="923186"/>
            <a:ext cx="6447437" cy="29555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grpSp>
        <p:nvGrpSpPr>
          <p:cNvPr id="204" name="그룹 203"/>
          <p:cNvGrpSpPr/>
          <p:nvPr/>
        </p:nvGrpSpPr>
        <p:grpSpPr>
          <a:xfrm>
            <a:off x="5281782" y="4916964"/>
            <a:ext cx="991613" cy="189478"/>
            <a:chOff x="2611118" y="5246132"/>
            <a:chExt cx="991613" cy="189478"/>
          </a:xfrm>
        </p:grpSpPr>
        <p:sp>
          <p:nvSpPr>
            <p:cNvPr id="205" name="Rounded Rectangle 658"/>
            <p:cNvSpPr/>
            <p:nvPr/>
          </p:nvSpPr>
          <p:spPr>
            <a:xfrm>
              <a:off x="3125717" y="5246132"/>
              <a:ext cx="477014" cy="189478"/>
            </a:xfrm>
            <a:prstGeom prst="roundRect">
              <a:avLst>
                <a:gd name="adj" fmla="val 8420"/>
              </a:avLst>
            </a:prstGeom>
            <a:solidFill>
              <a:schemeClr val="bg1">
                <a:lumMod val="85000"/>
              </a:schemeClr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완료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206" name="Rounded Rectangle 659"/>
            <p:cNvSpPr/>
            <p:nvPr/>
          </p:nvSpPr>
          <p:spPr>
            <a:xfrm>
              <a:off x="2611118" y="5246132"/>
              <a:ext cx="477014" cy="189478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취소</a:t>
              </a: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</p:grpSp>
      <p:cxnSp>
        <p:nvCxnSpPr>
          <p:cNvPr id="292" name="직선 연결선[R] 33"/>
          <p:cNvCxnSpPr/>
          <p:nvPr/>
        </p:nvCxnSpPr>
        <p:spPr>
          <a:xfrm>
            <a:off x="2541754" y="1218282"/>
            <a:ext cx="6471668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06" name="그룹 305"/>
          <p:cNvGrpSpPr/>
          <p:nvPr/>
        </p:nvGrpSpPr>
        <p:grpSpPr>
          <a:xfrm>
            <a:off x="4403561" y="2818957"/>
            <a:ext cx="475762" cy="245965"/>
            <a:chOff x="2014436" y="3015710"/>
            <a:chExt cx="475762" cy="245965"/>
          </a:xfrm>
        </p:grpSpPr>
        <p:sp>
          <p:nvSpPr>
            <p:cNvPr id="307" name="Rounded Rectangle 422"/>
            <p:cNvSpPr/>
            <p:nvPr/>
          </p:nvSpPr>
          <p:spPr>
            <a:xfrm>
              <a:off x="2014436" y="3015710"/>
              <a:ext cx="475762" cy="245965"/>
            </a:xfrm>
            <a:prstGeom prst="roundRect">
              <a:avLst>
                <a:gd name="adj" fmla="val 1005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308" name="Freeform 10"/>
            <p:cNvSpPr>
              <a:spLocks noChangeArrowheads="1"/>
            </p:cNvSpPr>
            <p:nvPr/>
          </p:nvSpPr>
          <p:spPr bwMode="auto">
            <a:xfrm>
              <a:off x="2363774" y="3084040"/>
              <a:ext cx="92349" cy="109304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2052562" y="3069443"/>
              <a:ext cx="292826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선택</a:t>
              </a:r>
              <a:endParaRPr kumimoji="1" lang="ko-KR" altLang="de-DE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10" name="텍스트 상자 31"/>
          <p:cNvSpPr txBox="1"/>
          <p:nvPr/>
        </p:nvSpPr>
        <p:spPr>
          <a:xfrm>
            <a:off x="2624412" y="990608"/>
            <a:ext cx="306667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그룹 멤버 </a:t>
            </a:r>
            <a:r>
              <a:rPr kumimoji="1" lang="ko-KR" altLang="en-US" sz="9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선택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11" name="그룹 143"/>
          <p:cNvGrpSpPr/>
          <p:nvPr/>
        </p:nvGrpSpPr>
        <p:grpSpPr>
          <a:xfrm>
            <a:off x="4393042" y="2663802"/>
            <a:ext cx="180000" cy="216000"/>
            <a:chOff x="2704212" y="2825113"/>
            <a:chExt cx="216000" cy="252000"/>
          </a:xfrm>
        </p:grpSpPr>
        <p:sp>
          <p:nvSpPr>
            <p:cNvPr id="312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Helvetica"/>
                <a:sym typeface="Helvetica"/>
              </a:endParaRPr>
            </a:p>
          </p:txBody>
        </p:sp>
        <p:sp>
          <p:nvSpPr>
            <p:cNvPr id="313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Helvetica"/>
                  <a:sym typeface="Helvetica"/>
                </a:rPr>
                <a:t>4</a:t>
              </a:r>
              <a:endParaRPr kumimoji="1" sz="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352" name="타원 351"/>
          <p:cNvSpPr/>
          <p:nvPr/>
        </p:nvSpPr>
        <p:spPr>
          <a:xfrm>
            <a:off x="5077200" y="4868000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8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3" name="타원 352"/>
          <p:cNvSpPr/>
          <p:nvPr/>
        </p:nvSpPr>
        <p:spPr>
          <a:xfrm>
            <a:off x="2416541" y="893212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361" name="Group 3"/>
          <p:cNvGraphicFramePr>
            <a:graphicFrameLocks noGrp="1"/>
          </p:cNvGraphicFramePr>
          <p:nvPr>
            <p:extLst/>
          </p:nvPr>
        </p:nvGraphicFramePr>
        <p:xfrm>
          <a:off x="9270437" y="766287"/>
          <a:ext cx="2918421" cy="5197002"/>
        </p:xfrm>
        <a:graphic>
          <a:graphicData uri="http://schemas.openxmlformats.org/drawingml/2006/table">
            <a:tbl>
              <a:tblPr/>
              <a:tblGrid>
                <a:gridCol w="1639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544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691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05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타이틀 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구성원 선택 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</a:t>
                      </a:r>
                      <a:r>
                        <a:rPr kumimoji="1" lang="ko-KR" altLang="en-US" sz="7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버튼명과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동일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204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700" b="1" dirty="0" smtClean="0">
                          <a:latin typeface="+mn-ea"/>
                          <a:ea typeface="+mn-ea"/>
                          <a:cs typeface="Malgun Gothic" charset="0"/>
                        </a:rPr>
                        <a:t>검색 및 검색 결과</a:t>
                      </a:r>
                      <a:endParaRPr lang="en-US" altLang="ko-KR" sz="700" b="1" dirty="0" smtClean="0"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받는 사람 지정 및 결재 경로 지정 팝업 내용과 동일하게 적용</a:t>
                      </a:r>
                    </a:p>
                  </a:txBody>
                  <a:tcPr marL="0" marR="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281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 영역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받는 사람 지정 및 결재 경로 지정 팝업 내용과 동일하게 적용</a:t>
                      </a: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4507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버튼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체크박스가 선택된 항목이 있을 때 활성화</a:t>
                      </a:r>
                      <a:endParaRPr kumimoji="1" lang="en-US" altLang="ko-KR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버튼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체크박스 표시된 항목을 입력 영역에 추가함</a:t>
                      </a:r>
                      <a:endParaRPr kumimoji="1" lang="en-US" altLang="ko-KR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005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인원수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선택된 인원수 정보 표시</a:t>
                      </a:r>
                      <a:endParaRPr kumimoji="1" lang="en-US" altLang="ko-KR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1732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6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구성원 정보</a:t>
                      </a:r>
                      <a:endParaRPr kumimoji="0" lang="en-US" altLang="ko-KR" sz="7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strike="sngStrike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좌측 영역에서 선택된 </a:t>
                      </a:r>
                      <a:r>
                        <a:rPr kumimoji="1" lang="ko-KR" altLang="en-US" sz="700" strike="sngStrike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갯수만큼</a:t>
                      </a:r>
                      <a:r>
                        <a:rPr kumimoji="1" lang="ko-KR" altLang="en-US" sz="700" strike="sngStrike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순번 표시됨 </a:t>
                      </a:r>
                      <a:endParaRPr kumimoji="1" lang="en-US" altLang="ko-KR" sz="700" strike="sngStrike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strike="sngStrike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 앤 드롭으로 순서 이동 가능</a:t>
                      </a:r>
                      <a:endParaRPr kumimoji="1" lang="en-US" altLang="ko-KR" sz="700" strike="sngStrike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리스트 하단에 </a:t>
                      </a:r>
                      <a:r>
                        <a:rPr kumimoji="1" lang="ko-KR" altLang="en-US" sz="7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드롭앤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드롭을 통한 순서 이동 가능 안내 문구 표시</a:t>
                      </a:r>
                      <a:endParaRPr kumimoji="1" lang="en-US" altLang="ko-KR" sz="7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팀이나 부서 단위 </a:t>
                      </a:r>
                      <a:r>
                        <a:rPr kumimoji="1" lang="ko-KR" altLang="en-US" sz="70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kumimoji="1" lang="ko-KR" altLang="en-US" sz="7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7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6-1 </a:t>
                      </a:r>
                      <a:r>
                        <a:rPr kumimoji="1" lang="ko-KR" altLang="en-US" sz="7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영역처럼 노출 </a:t>
                      </a:r>
                      <a:r>
                        <a:rPr kumimoji="1" lang="en-US" altLang="ko-KR" sz="7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(default</a:t>
                      </a:r>
                      <a:r>
                        <a:rPr kumimoji="1" lang="en-US" altLang="ko-KR" sz="7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kumimoji="1" lang="ko-KR" altLang="en-US" sz="7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접힌상태</a:t>
                      </a:r>
                      <a:r>
                        <a:rPr kumimoji="1" lang="en-US" altLang="ko-KR" sz="7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en-US" altLang="ko-KR" sz="70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616728"/>
                  </a:ext>
                </a:extLst>
              </a:tr>
              <a:tr h="354507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7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1" lang="ko-KR" altLang="en-US" sz="7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구성원 선택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선택한 구성원의 그룹 권한을 설정하는 버튼</a:t>
                      </a:r>
                      <a:endParaRPr kumimoji="1" lang="en-US" altLang="ko-KR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권한 옵션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구성원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참관인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관리자 표시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(Default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는 구성원으로 표시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6159948"/>
                  </a:ext>
                </a:extLst>
              </a:tr>
              <a:tr h="277281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8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1" lang="ko-KR" altLang="en-US" sz="7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취소</a:t>
                      </a:r>
                      <a:r>
                        <a:rPr kumimoji="1" lang="en-US" altLang="ko-KR" sz="7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7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취소 버튼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팝업 닫힘</a:t>
                      </a:r>
                      <a:endParaRPr kumimoji="1" lang="en-US" altLang="ko-KR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완료 버튼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입력값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저장 후 팝업 닫힘</a:t>
                      </a: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2381"/>
                  </a:ext>
                </a:extLst>
              </a:tr>
              <a:tr h="277281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9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700" b="1" dirty="0" smtClean="0"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전체 알림 받기</a:t>
                      </a:r>
                      <a:endParaRPr lang="en-US" altLang="ko-KR" sz="700" b="1" dirty="0" smtClean="0"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전체 알림 받기 선택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가지 종류의 알림을 모두 제공</a:t>
                      </a: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5067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10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알림 설정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4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가지</a:t>
                      </a:r>
                      <a:r>
                        <a:rPr kumimoji="1" lang="ko-KR" altLang="en-US" sz="700" baseline="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종류의 알림 설정 가능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새 공지 등록 시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새 글 등록 시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내가 </a:t>
                      </a:r>
                      <a:r>
                        <a:rPr kumimoji="1" lang="ko-KR" altLang="en-US" sz="7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멘션된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새 글 등록 시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새 의견 등록 시  </a:t>
                      </a:r>
                      <a:endParaRPr kumimoji="1" lang="en-US" altLang="ko-KR" sz="7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4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가지 종류의 알림 항목은 멀티 선택 가능</a:t>
                      </a:r>
                      <a:endParaRPr kumimoji="1" lang="en-US" altLang="ko-KR" sz="7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전체 알림 받기 선택 시 전체 알림 받기에 체크박스가 활성화 되고 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4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가지 알림 항목에도 체크박스 처리</a:t>
                      </a:r>
                      <a:endParaRPr kumimoji="1" lang="en-US" altLang="ko-KR" sz="7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 (Default</a:t>
                      </a:r>
                      <a:r>
                        <a:rPr kumimoji="1" lang="ko-KR" altLang="en-US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로 전체 알림 받기 선택</a:t>
                      </a:r>
                      <a:r>
                        <a:rPr kumimoji="1" lang="en-US" altLang="ko-KR" sz="700" dirty="0" smtClean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7281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취소</a:t>
                      </a:r>
                      <a:r>
                        <a:rPr kumimoji="0" lang="en-US" altLang="ko-KR" sz="7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/</a:t>
                      </a:r>
                      <a:r>
                        <a:rPr kumimoji="0" lang="ko-KR" altLang="en-US" sz="700" b="1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</a:rPr>
                        <a:t>확인</a:t>
                      </a:r>
                      <a:endParaRPr kumimoji="1" lang="en-US" altLang="ko-KR" sz="7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최소 시 해당 창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Closed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확인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시 체크한 알림</a:t>
                      </a:r>
                      <a:r>
                        <a:rPr kumimoji="1" lang="ko-KR" altLang="en-US" sz="7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항목의 알림을 제공하고 해당 창 </a:t>
                      </a:r>
                      <a:r>
                        <a:rPr kumimoji="1" lang="en-US" altLang="ko-KR" sz="7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Closed</a:t>
                      </a:r>
                      <a:endParaRPr kumimoji="1" lang="ko-KR" altLang="en-US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77281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0" marR="18000" marT="18000" marB="18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700" b="1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 종료</a:t>
                      </a:r>
                      <a:endParaRPr kumimoji="1" lang="en-US" altLang="ko-KR" sz="700" b="1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 종료 시 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 그룹을 정말로 종료하시겠습니까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? (.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그룹을 종료하시면 하단 종료된 그룹에서 확인하실 수 있습니다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.”)</a:t>
                      </a:r>
                      <a:r>
                        <a:rPr kumimoji="1" lang="en-US" altLang="ko-KR" sz="7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7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라는 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안내 메시지 창을 오픈 후 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버튼 클릭 시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”</a:t>
                      </a:r>
                      <a:b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종료 처리하고 </a:t>
                      </a:r>
                      <a:r>
                        <a:rPr kumimoji="1" lang="ko-KR" altLang="en-US" sz="700" dirty="0" err="1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워크피드로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kumimoji="1" lang="en-US" altLang="ko-KR" sz="7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 숨김</a:t>
                      </a:r>
                      <a:r>
                        <a:rPr kumimoji="1" lang="en-US" altLang="ko-KR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1" lang="ko-KR" altLang="en-US" sz="7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그룹삭제 는 환경설정에서 가능</a:t>
                      </a:r>
                    </a:p>
                  </a:txBody>
                  <a:tcPr marL="0" marR="18000" marT="18000" marB="180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35" name="내용 개체 틀 2"/>
          <p:cNvSpPr>
            <a:spLocks noGrp="1"/>
          </p:cNvSpPr>
          <p:nvPr>
            <p:ph sz="quarter" idx="10"/>
          </p:nvPr>
        </p:nvSpPr>
        <p:spPr>
          <a:xfrm>
            <a:off x="5432670" y="85190"/>
            <a:ext cx="3724711" cy="190800"/>
          </a:xfrm>
        </p:spPr>
        <p:txBody>
          <a:bodyPr/>
          <a:lstStyle/>
          <a:p>
            <a:r>
              <a:rPr lang="ko-KR" altLang="en-US" dirty="0"/>
              <a:t>스퀘어 홈</a:t>
            </a:r>
            <a:r>
              <a:rPr lang="en-US" altLang="ko-KR" dirty="0"/>
              <a:t>&gt; </a:t>
            </a:r>
            <a:r>
              <a:rPr lang="ko-KR" altLang="en-US" dirty="0"/>
              <a:t>그룹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2685397" y="1296162"/>
            <a:ext cx="1666171" cy="3307118"/>
            <a:chOff x="-2392588" y="6421701"/>
            <a:chExt cx="1666171" cy="3307118"/>
          </a:xfrm>
        </p:grpSpPr>
        <p:grpSp>
          <p:nvGrpSpPr>
            <p:cNvPr id="370" name="Group 17"/>
            <p:cNvGrpSpPr/>
            <p:nvPr/>
          </p:nvGrpSpPr>
          <p:grpSpPr>
            <a:xfrm>
              <a:off x="-2391178" y="6701217"/>
              <a:ext cx="1656687" cy="162087"/>
              <a:chOff x="1664662" y="5746474"/>
              <a:chExt cx="2016000" cy="197242"/>
            </a:xfrm>
          </p:grpSpPr>
          <p:sp>
            <p:nvSpPr>
              <p:cNvPr id="487" name="Rectangle 14"/>
              <p:cNvSpPr>
                <a:spLocks/>
              </p:cNvSpPr>
              <p:nvPr/>
            </p:nvSpPr>
            <p:spPr bwMode="auto">
              <a:xfrm>
                <a:off x="1664662" y="5746474"/>
                <a:ext cx="2016000" cy="197242"/>
              </a:xfrm>
              <a:prstGeom prst="rect">
                <a:avLst/>
              </a:prstGeom>
              <a:solidFill>
                <a:schemeClr val="bg1"/>
              </a:solidFill>
              <a:ln w="1270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/>
            </p:spPr>
            <p:txBody>
              <a:bodyPr lIns="50800" tIns="50800" rIns="50800" bIns="50800" anchor="ctr"/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x-none" altLang="x-none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  <p:sp>
            <p:nvSpPr>
              <p:cNvPr id="488" name="Freeform 10"/>
              <p:cNvSpPr>
                <a:spLocks noChangeAspect="1" noChangeArrowheads="1"/>
              </p:cNvSpPr>
              <p:nvPr/>
            </p:nvSpPr>
            <p:spPr bwMode="auto">
              <a:xfrm>
                <a:off x="3530512" y="5795965"/>
                <a:ext cx="108001" cy="108000"/>
              </a:xfrm>
              <a:custGeom>
                <a:avLst/>
                <a:gdLst>
                  <a:gd name="T0" fmla="*/ 332 w 471"/>
                  <a:gd name="T1" fmla="*/ 296 h 471"/>
                  <a:gd name="T2" fmla="*/ 312 w 471"/>
                  <a:gd name="T3" fmla="*/ 296 h 471"/>
                  <a:gd name="T4" fmla="*/ 307 w 471"/>
                  <a:gd name="T5" fmla="*/ 286 h 471"/>
                  <a:gd name="T6" fmla="*/ 348 w 471"/>
                  <a:gd name="T7" fmla="*/ 173 h 471"/>
                  <a:gd name="T8" fmla="*/ 174 w 471"/>
                  <a:gd name="T9" fmla="*/ 0 h 471"/>
                  <a:gd name="T10" fmla="*/ 0 w 471"/>
                  <a:gd name="T11" fmla="*/ 173 h 471"/>
                  <a:gd name="T12" fmla="*/ 174 w 471"/>
                  <a:gd name="T13" fmla="*/ 347 h 471"/>
                  <a:gd name="T14" fmla="*/ 286 w 471"/>
                  <a:gd name="T15" fmla="*/ 306 h 471"/>
                  <a:gd name="T16" fmla="*/ 296 w 471"/>
                  <a:gd name="T17" fmla="*/ 311 h 471"/>
                  <a:gd name="T18" fmla="*/ 296 w 471"/>
                  <a:gd name="T19" fmla="*/ 337 h 471"/>
                  <a:gd name="T20" fmla="*/ 429 w 471"/>
                  <a:gd name="T21" fmla="*/ 470 h 471"/>
                  <a:gd name="T22" fmla="*/ 470 w 471"/>
                  <a:gd name="T23" fmla="*/ 429 h 471"/>
                  <a:gd name="T24" fmla="*/ 332 w 471"/>
                  <a:gd name="T25" fmla="*/ 296 h 471"/>
                  <a:gd name="T26" fmla="*/ 174 w 471"/>
                  <a:gd name="T27" fmla="*/ 296 h 471"/>
                  <a:gd name="T28" fmla="*/ 56 w 471"/>
                  <a:gd name="T29" fmla="*/ 173 h 471"/>
                  <a:gd name="T30" fmla="*/ 174 w 471"/>
                  <a:gd name="T31" fmla="*/ 56 h 471"/>
                  <a:gd name="T32" fmla="*/ 296 w 471"/>
                  <a:gd name="T33" fmla="*/ 173 h 471"/>
                  <a:gd name="T34" fmla="*/ 174 w 471"/>
                  <a:gd name="T35" fmla="*/ 29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1" h="471">
                    <a:moveTo>
                      <a:pt x="332" y="296"/>
                    </a:moveTo>
                    <a:lnTo>
                      <a:pt x="312" y="296"/>
                    </a:lnTo>
                    <a:lnTo>
                      <a:pt x="307" y="286"/>
                    </a:lnTo>
                    <a:cubicBezTo>
                      <a:pt x="332" y="255"/>
                      <a:pt x="348" y="219"/>
                      <a:pt x="348" y="173"/>
                    </a:cubicBezTo>
                    <a:cubicBezTo>
                      <a:pt x="348" y="76"/>
                      <a:pt x="271" y="0"/>
                      <a:pt x="174" y="0"/>
                    </a:cubicBezTo>
                    <a:cubicBezTo>
                      <a:pt x="77" y="0"/>
                      <a:pt x="0" y="76"/>
                      <a:pt x="0" y="173"/>
                    </a:cubicBezTo>
                    <a:cubicBezTo>
                      <a:pt x="0" y="270"/>
                      <a:pt x="77" y="347"/>
                      <a:pt x="174" y="347"/>
                    </a:cubicBezTo>
                    <a:cubicBezTo>
                      <a:pt x="215" y="347"/>
                      <a:pt x="256" y="332"/>
                      <a:pt x="286" y="306"/>
                    </a:cubicBezTo>
                    <a:lnTo>
                      <a:pt x="296" y="311"/>
                    </a:lnTo>
                    <a:lnTo>
                      <a:pt x="296" y="337"/>
                    </a:lnTo>
                    <a:lnTo>
                      <a:pt x="429" y="470"/>
                    </a:lnTo>
                    <a:lnTo>
                      <a:pt x="470" y="429"/>
                    </a:lnTo>
                    <a:lnTo>
                      <a:pt x="332" y="296"/>
                    </a:lnTo>
                    <a:close/>
                    <a:moveTo>
                      <a:pt x="174" y="296"/>
                    </a:moveTo>
                    <a:cubicBezTo>
                      <a:pt x="107" y="296"/>
                      <a:pt x="56" y="240"/>
                      <a:pt x="56" y="173"/>
                    </a:cubicBezTo>
                    <a:cubicBezTo>
                      <a:pt x="56" y="107"/>
                      <a:pt x="107" y="56"/>
                      <a:pt x="174" y="56"/>
                    </a:cubicBezTo>
                    <a:cubicBezTo>
                      <a:pt x="240" y="56"/>
                      <a:pt x="296" y="107"/>
                      <a:pt x="296" y="173"/>
                    </a:cubicBezTo>
                    <a:cubicBezTo>
                      <a:pt x="296" y="240"/>
                      <a:pt x="240" y="296"/>
                      <a:pt x="174" y="29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633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boto" charset="0"/>
                  <a:ea typeface="ＭＳ Ｐゴシック" charset="0"/>
                </a:endParaRPr>
              </a:p>
            </p:txBody>
          </p:sp>
          <p:sp>
            <p:nvSpPr>
              <p:cNvPr id="489" name="텍스트 상자 31"/>
              <p:cNvSpPr txBox="1"/>
              <p:nvPr/>
            </p:nvSpPr>
            <p:spPr>
              <a:xfrm>
                <a:off x="1753060" y="5786326"/>
                <a:ext cx="1614919" cy="11235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부서명</a:t>
                </a: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,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이름</a:t>
                </a:r>
                <a:r>
                  <a:rPr kumimoji="1" lang="en-US" altLang="ko-KR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,</a:t>
                </a:r>
                <a:r>
                  <a:rPr kumimoji="1" lang="ko-KR" altLang="en-US" sz="6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 직위 검색</a:t>
                </a:r>
                <a:endPara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373" name="Rectangle 342"/>
            <p:cNvSpPr/>
            <p:nvPr/>
          </p:nvSpPr>
          <p:spPr>
            <a:xfrm>
              <a:off x="-2391262" y="6421701"/>
              <a:ext cx="1660598" cy="3307118"/>
            </a:xfrm>
            <a:prstGeom prst="rect">
              <a:avLst/>
            </a:prstGeom>
            <a:noFill/>
            <a:ln w="190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75" name="텍스트 상자 31"/>
            <p:cNvSpPr txBox="1"/>
            <p:nvPr/>
          </p:nvSpPr>
          <p:spPr>
            <a:xfrm>
              <a:off x="-2345508" y="6508537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조직도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376" name="직선 연결선[R] 7"/>
            <p:cNvCxnSpPr/>
            <p:nvPr/>
          </p:nvCxnSpPr>
          <p:spPr>
            <a:xfrm>
              <a:off x="-2382498" y="6661008"/>
              <a:ext cx="375653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404" name="Rectangle 343"/>
            <p:cNvSpPr/>
            <p:nvPr/>
          </p:nvSpPr>
          <p:spPr>
            <a:xfrm>
              <a:off x="-2389881" y="6876428"/>
              <a:ext cx="1663464" cy="28436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5" name="텍스트 상자 31"/>
            <p:cNvSpPr txBox="1"/>
            <p:nvPr/>
          </p:nvSpPr>
          <p:spPr>
            <a:xfrm>
              <a:off x="-2093343" y="7003139"/>
              <a:ext cx="95897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영업본부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6" name="Freeform 24"/>
            <p:cNvSpPr>
              <a:spLocks noChangeArrowheads="1"/>
            </p:cNvSpPr>
            <p:nvPr/>
          </p:nvSpPr>
          <p:spPr bwMode="auto">
            <a:xfrm rot="10800000" flipV="1">
              <a:off x="-2306535" y="7030435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407" name="텍스트 상자 31"/>
            <p:cNvSpPr txBox="1"/>
            <p:nvPr/>
          </p:nvSpPr>
          <p:spPr>
            <a:xfrm>
              <a:off x="-1940001" y="7133917"/>
              <a:ext cx="1156073" cy="182819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영업 </a:t>
              </a:r>
              <a:r>
                <a:rPr kumimoji="1" lang="en-US" altLang="ko-KR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 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(9)</a:t>
              </a: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김경호  부장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박명수  본부장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김은호  대리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이민수  대리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고진수  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사원</a:t>
              </a:r>
              <a:endPara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박명수  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사원</a:t>
              </a:r>
              <a:endParaRPr kumimoji="1" lang="en-US" altLang="ko-KR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김은호  사원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이민수  </a:t>
              </a:r>
              <a:r>
                <a:rPr kumimoji="1" lang="ko-KR" altLang="en-US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사원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고진수  사원</a:t>
              </a: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34938" marR="0" lvl="1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8" name="Rounded Rectangle 256"/>
            <p:cNvSpPr/>
            <p:nvPr/>
          </p:nvSpPr>
          <p:spPr>
            <a:xfrm rot="5400000">
              <a:off x="-1071249" y="7238320"/>
              <a:ext cx="562090" cy="44376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  <a:alpha val="48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09" name="Freeform 24"/>
            <p:cNvSpPr>
              <a:spLocks noChangeArrowheads="1"/>
            </p:cNvSpPr>
            <p:nvPr/>
          </p:nvSpPr>
          <p:spPr bwMode="auto">
            <a:xfrm rot="10800000" flipV="1">
              <a:off x="-2158800" y="7203528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410" name="텍스트 상자 31"/>
            <p:cNvSpPr txBox="1"/>
            <p:nvPr/>
          </p:nvSpPr>
          <p:spPr>
            <a:xfrm>
              <a:off x="-1940001" y="8811301"/>
              <a:ext cx="1156073" cy="332399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영업 </a:t>
              </a: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2</a:t>
              </a: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 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(12)</a:t>
              </a:r>
            </a:p>
            <a:p>
              <a:pPr marL="0" marR="0" lvl="0" indent="0" algn="l" defTabSz="914400" rtl="0" eaLnBrk="1" fontAlgn="base" latinLnBrk="1" hangingPunct="1">
                <a:lnSpc>
                  <a:spcPct val="1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영업 </a:t>
              </a:r>
              <a:r>
                <a:rPr kumimoji="1" lang="en-US" altLang="ko-KR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</a:t>
              </a:r>
              <a:r>
                <a:rPr kumimoji="1" lang="ko-KR" altLang="en-US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팀 </a:t>
              </a:r>
              <a:r>
                <a:rPr kumimoji="1" lang="en-US" altLang="ko-KR" sz="6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(18)</a:t>
              </a:r>
              <a:endParaRPr kumimoji="1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1" name="Freeform 24"/>
            <p:cNvSpPr>
              <a:spLocks noChangeArrowheads="1"/>
            </p:cNvSpPr>
            <p:nvPr/>
          </p:nvSpPr>
          <p:spPr bwMode="auto">
            <a:xfrm rot="16200000" flipV="1">
              <a:off x="-2158800" y="8880912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412" name="Freeform 24"/>
            <p:cNvSpPr>
              <a:spLocks noChangeArrowheads="1"/>
            </p:cNvSpPr>
            <p:nvPr/>
          </p:nvSpPr>
          <p:spPr bwMode="auto">
            <a:xfrm rot="16200000" flipV="1">
              <a:off x="-2158800" y="9047048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sp>
          <p:nvSpPr>
            <p:cNvPr id="413" name="Rounded Rectangle 939"/>
            <p:cNvSpPr>
              <a:spLocks/>
            </p:cNvSpPr>
            <p:nvPr/>
          </p:nvSpPr>
          <p:spPr>
            <a:xfrm>
              <a:off x="-2069022" y="8851994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14" name="Rounded Rectangle 939"/>
            <p:cNvSpPr>
              <a:spLocks/>
            </p:cNvSpPr>
            <p:nvPr/>
          </p:nvSpPr>
          <p:spPr>
            <a:xfrm>
              <a:off x="-1947360" y="7343113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15" name="Rounded Rectangle 939"/>
            <p:cNvSpPr>
              <a:spLocks/>
            </p:cNvSpPr>
            <p:nvPr/>
          </p:nvSpPr>
          <p:spPr>
            <a:xfrm>
              <a:off x="-1947360" y="7509660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16" name="Rounded Rectangle 939"/>
            <p:cNvSpPr>
              <a:spLocks/>
            </p:cNvSpPr>
            <p:nvPr/>
          </p:nvSpPr>
          <p:spPr>
            <a:xfrm>
              <a:off x="-1947360" y="7676207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17" name="Rounded Rectangle 939"/>
            <p:cNvSpPr>
              <a:spLocks/>
            </p:cNvSpPr>
            <p:nvPr/>
          </p:nvSpPr>
          <p:spPr>
            <a:xfrm>
              <a:off x="-1947360" y="7842754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18" name="Rounded Rectangle 939"/>
            <p:cNvSpPr>
              <a:spLocks/>
            </p:cNvSpPr>
            <p:nvPr/>
          </p:nvSpPr>
          <p:spPr>
            <a:xfrm>
              <a:off x="-1947360" y="8009301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19" name="Rounded Rectangle 939"/>
            <p:cNvSpPr>
              <a:spLocks/>
            </p:cNvSpPr>
            <p:nvPr/>
          </p:nvSpPr>
          <p:spPr>
            <a:xfrm>
              <a:off x="-2069022" y="9031009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20" name="Rounded Rectangle 939"/>
            <p:cNvSpPr>
              <a:spLocks/>
            </p:cNvSpPr>
            <p:nvPr/>
          </p:nvSpPr>
          <p:spPr>
            <a:xfrm>
              <a:off x="-2069022" y="7180988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5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rPr>
                <a:t>V</a:t>
              </a: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21" name="Rounded Rectangle 939"/>
            <p:cNvSpPr>
              <a:spLocks/>
            </p:cNvSpPr>
            <p:nvPr/>
          </p:nvSpPr>
          <p:spPr>
            <a:xfrm>
              <a:off x="-2218227" y="6992557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22" name="텍스트 상자 31"/>
            <p:cNvSpPr txBox="1"/>
            <p:nvPr/>
          </p:nvSpPr>
          <p:spPr>
            <a:xfrm>
              <a:off x="-2211655" y="9404533"/>
              <a:ext cx="95897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마케팅본부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3" name="Freeform 24"/>
            <p:cNvSpPr>
              <a:spLocks noChangeArrowheads="1"/>
            </p:cNvSpPr>
            <p:nvPr/>
          </p:nvSpPr>
          <p:spPr bwMode="auto">
            <a:xfrm rot="16200000" flipV="1">
              <a:off x="-2298981" y="9431668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cxnSp>
          <p:nvCxnSpPr>
            <p:cNvPr id="424" name="직선 연결선[R] 33"/>
            <p:cNvCxnSpPr/>
            <p:nvPr/>
          </p:nvCxnSpPr>
          <p:spPr>
            <a:xfrm>
              <a:off x="-2391514" y="9177964"/>
              <a:ext cx="165004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25" name="텍스트 상자 31"/>
            <p:cNvSpPr txBox="1"/>
            <p:nvPr/>
          </p:nvSpPr>
          <p:spPr>
            <a:xfrm>
              <a:off x="-2211655" y="9216841"/>
              <a:ext cx="95897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디자인본부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6" name="Freeform 24"/>
            <p:cNvSpPr>
              <a:spLocks noChangeArrowheads="1"/>
            </p:cNvSpPr>
            <p:nvPr/>
          </p:nvSpPr>
          <p:spPr bwMode="auto">
            <a:xfrm rot="16200000" flipV="1">
              <a:off x="-2298981" y="9243976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cxnSp>
          <p:nvCxnSpPr>
            <p:cNvPr id="427" name="직선 연결선[R] 33"/>
            <p:cNvCxnSpPr/>
            <p:nvPr/>
          </p:nvCxnSpPr>
          <p:spPr>
            <a:xfrm>
              <a:off x="-2392588" y="9364266"/>
              <a:ext cx="165004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28" name="텍스트 상자 31"/>
            <p:cNvSpPr txBox="1"/>
            <p:nvPr/>
          </p:nvSpPr>
          <p:spPr>
            <a:xfrm>
              <a:off x="-2211655" y="9579045"/>
              <a:ext cx="95897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인사본부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9" name="Freeform 24"/>
            <p:cNvSpPr>
              <a:spLocks noChangeArrowheads="1"/>
            </p:cNvSpPr>
            <p:nvPr/>
          </p:nvSpPr>
          <p:spPr bwMode="auto">
            <a:xfrm rot="16200000" flipV="1">
              <a:off x="-2298981" y="9606180"/>
              <a:ext cx="58776" cy="5344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  <p:cxnSp>
          <p:nvCxnSpPr>
            <p:cNvPr id="430" name="직선 연결선[R] 33"/>
            <p:cNvCxnSpPr/>
            <p:nvPr/>
          </p:nvCxnSpPr>
          <p:spPr>
            <a:xfrm>
              <a:off x="-2392588" y="9538778"/>
              <a:ext cx="165004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Rounded Rectangle 939"/>
            <p:cNvSpPr>
              <a:spLocks/>
            </p:cNvSpPr>
            <p:nvPr/>
          </p:nvSpPr>
          <p:spPr>
            <a:xfrm>
              <a:off x="-1947360" y="8175848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32" name="Rounded Rectangle 939"/>
            <p:cNvSpPr>
              <a:spLocks/>
            </p:cNvSpPr>
            <p:nvPr/>
          </p:nvSpPr>
          <p:spPr>
            <a:xfrm>
              <a:off x="-1947360" y="8342395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33" name="Rounded Rectangle 939"/>
            <p:cNvSpPr>
              <a:spLocks/>
            </p:cNvSpPr>
            <p:nvPr/>
          </p:nvSpPr>
          <p:spPr>
            <a:xfrm>
              <a:off x="-1947360" y="8508942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34" name="Rounded Rectangle 939"/>
            <p:cNvSpPr>
              <a:spLocks/>
            </p:cNvSpPr>
            <p:nvPr/>
          </p:nvSpPr>
          <p:spPr>
            <a:xfrm>
              <a:off x="-1947360" y="8675487"/>
              <a:ext cx="108000" cy="108512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5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</p:grpSp>
      <p:sp>
        <p:nvSpPr>
          <p:cNvPr id="371" name="Rounded Rectangle 185"/>
          <p:cNvSpPr/>
          <p:nvPr/>
        </p:nvSpPr>
        <p:spPr>
          <a:xfrm>
            <a:off x="8824753" y="1668099"/>
            <a:ext cx="72000" cy="851169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  <a:alpha val="5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72" name="Rectangle 622"/>
          <p:cNvSpPr/>
          <p:nvPr/>
        </p:nvSpPr>
        <p:spPr>
          <a:xfrm>
            <a:off x="4902025" y="1451439"/>
            <a:ext cx="4008160" cy="302216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377" name="그룹 400"/>
          <p:cNvGrpSpPr/>
          <p:nvPr/>
        </p:nvGrpSpPr>
        <p:grpSpPr>
          <a:xfrm>
            <a:off x="5109450" y="1735603"/>
            <a:ext cx="229236" cy="229194"/>
            <a:chOff x="2625629" y="3735853"/>
            <a:chExt cx="276891" cy="276839"/>
          </a:xfrm>
        </p:grpSpPr>
        <p:sp>
          <p:nvSpPr>
            <p:cNvPr id="48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pic>
          <p:nvPicPr>
            <p:cNvPr id="486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78" name="텍스트 상자 31"/>
          <p:cNvSpPr txBox="1"/>
          <p:nvPr/>
        </p:nvSpPr>
        <p:spPr>
          <a:xfrm>
            <a:off x="6207562" y="1792859"/>
            <a:ext cx="549408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제품기획팀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9" name="Freeform 11"/>
          <p:cNvSpPr>
            <a:spLocks noChangeAspect="1" noChangeArrowheads="1"/>
          </p:cNvSpPr>
          <p:nvPr/>
        </p:nvSpPr>
        <p:spPr bwMode="auto">
          <a:xfrm>
            <a:off x="8633543" y="1801719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grpSp>
        <p:nvGrpSpPr>
          <p:cNvPr id="380" name="그룹 400"/>
          <p:cNvGrpSpPr/>
          <p:nvPr/>
        </p:nvGrpSpPr>
        <p:grpSpPr>
          <a:xfrm>
            <a:off x="5109450" y="2085347"/>
            <a:ext cx="229236" cy="229194"/>
            <a:chOff x="2625629" y="3735853"/>
            <a:chExt cx="276891" cy="276839"/>
          </a:xfrm>
        </p:grpSpPr>
        <p:sp>
          <p:nvSpPr>
            <p:cNvPr id="483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pic>
          <p:nvPicPr>
            <p:cNvPr id="484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81" name="Freeform 11"/>
          <p:cNvSpPr>
            <a:spLocks noChangeAspect="1" noChangeArrowheads="1"/>
          </p:cNvSpPr>
          <p:nvPr/>
        </p:nvSpPr>
        <p:spPr bwMode="auto">
          <a:xfrm>
            <a:off x="8633543" y="2151463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grpSp>
        <p:nvGrpSpPr>
          <p:cNvPr id="382" name="그룹 400"/>
          <p:cNvGrpSpPr/>
          <p:nvPr/>
        </p:nvGrpSpPr>
        <p:grpSpPr>
          <a:xfrm>
            <a:off x="5109450" y="2424964"/>
            <a:ext cx="229236" cy="229194"/>
            <a:chOff x="2625629" y="3735853"/>
            <a:chExt cx="276891" cy="276839"/>
          </a:xfrm>
        </p:grpSpPr>
        <p:sp>
          <p:nvSpPr>
            <p:cNvPr id="48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pic>
          <p:nvPicPr>
            <p:cNvPr id="482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83" name="텍스트 상자 31"/>
          <p:cNvSpPr txBox="1"/>
          <p:nvPr/>
        </p:nvSpPr>
        <p:spPr>
          <a:xfrm>
            <a:off x="6207562" y="2482220"/>
            <a:ext cx="549408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제품기획팀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4" name="Freeform 11"/>
          <p:cNvSpPr>
            <a:spLocks noChangeAspect="1" noChangeArrowheads="1"/>
          </p:cNvSpPr>
          <p:nvPr/>
        </p:nvSpPr>
        <p:spPr bwMode="auto">
          <a:xfrm>
            <a:off x="8633543" y="2491080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grpSp>
        <p:nvGrpSpPr>
          <p:cNvPr id="385" name="그룹 400"/>
          <p:cNvGrpSpPr/>
          <p:nvPr/>
        </p:nvGrpSpPr>
        <p:grpSpPr>
          <a:xfrm>
            <a:off x="5109450" y="3903508"/>
            <a:ext cx="229236" cy="229194"/>
            <a:chOff x="2625629" y="3735853"/>
            <a:chExt cx="276891" cy="276839"/>
          </a:xfrm>
        </p:grpSpPr>
        <p:sp>
          <p:nvSpPr>
            <p:cNvPr id="47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pic>
          <p:nvPicPr>
            <p:cNvPr id="48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86" name="텍스트 상자 31"/>
          <p:cNvSpPr txBox="1"/>
          <p:nvPr/>
        </p:nvSpPr>
        <p:spPr>
          <a:xfrm>
            <a:off x="6207562" y="3960764"/>
            <a:ext cx="549408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제품기획팀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7" name="Freeform 11"/>
          <p:cNvSpPr>
            <a:spLocks noChangeAspect="1" noChangeArrowheads="1"/>
          </p:cNvSpPr>
          <p:nvPr/>
        </p:nvSpPr>
        <p:spPr bwMode="auto">
          <a:xfrm>
            <a:off x="8633543" y="3969624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388" name="텍스트 상자 31"/>
          <p:cNvSpPr txBox="1"/>
          <p:nvPr/>
        </p:nvSpPr>
        <p:spPr>
          <a:xfrm>
            <a:off x="5384076" y="1792859"/>
            <a:ext cx="269304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박명수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9" name="텍스트 상자 31"/>
          <p:cNvSpPr txBox="1"/>
          <p:nvPr/>
        </p:nvSpPr>
        <p:spPr>
          <a:xfrm>
            <a:off x="5384076" y="2142603"/>
            <a:ext cx="269304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조명수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0" name="텍스트 상자 31"/>
          <p:cNvSpPr txBox="1"/>
          <p:nvPr/>
        </p:nvSpPr>
        <p:spPr>
          <a:xfrm>
            <a:off x="5384076" y="2482220"/>
            <a:ext cx="269304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이명수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1" name="텍스트 상자 31"/>
          <p:cNvSpPr txBox="1"/>
          <p:nvPr/>
        </p:nvSpPr>
        <p:spPr>
          <a:xfrm>
            <a:off x="5384076" y="3960764"/>
            <a:ext cx="269304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김명수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2" name="Rectangle 566"/>
          <p:cNvSpPr/>
          <p:nvPr/>
        </p:nvSpPr>
        <p:spPr>
          <a:xfrm>
            <a:off x="5010560" y="3837577"/>
            <a:ext cx="3763980" cy="343880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93" name="Rectangle 543"/>
          <p:cNvSpPr/>
          <p:nvPr/>
        </p:nvSpPr>
        <p:spPr>
          <a:xfrm>
            <a:off x="5010560" y="1674779"/>
            <a:ext cx="3763980" cy="343880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94" name="Rectangle 555"/>
          <p:cNvSpPr/>
          <p:nvPr/>
        </p:nvSpPr>
        <p:spPr>
          <a:xfrm>
            <a:off x="5010560" y="2020228"/>
            <a:ext cx="3763980" cy="343880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95" name="Rectangle 566"/>
          <p:cNvSpPr/>
          <p:nvPr/>
        </p:nvSpPr>
        <p:spPr>
          <a:xfrm>
            <a:off x="5010560" y="2365678"/>
            <a:ext cx="3763980" cy="343880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96" name="Rectangle 566"/>
          <p:cNvSpPr/>
          <p:nvPr/>
        </p:nvSpPr>
        <p:spPr>
          <a:xfrm>
            <a:off x="5010560" y="3099587"/>
            <a:ext cx="3763980" cy="3438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97" name="Rectangle 566"/>
          <p:cNvSpPr/>
          <p:nvPr/>
        </p:nvSpPr>
        <p:spPr>
          <a:xfrm>
            <a:off x="5010560" y="2756051"/>
            <a:ext cx="3763980" cy="343880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398" name="그룹 400"/>
          <p:cNvGrpSpPr/>
          <p:nvPr/>
        </p:nvGrpSpPr>
        <p:grpSpPr>
          <a:xfrm>
            <a:off x="5207082" y="3167034"/>
            <a:ext cx="229236" cy="229194"/>
            <a:chOff x="2625629" y="4400139"/>
            <a:chExt cx="276891" cy="276839"/>
          </a:xfrm>
        </p:grpSpPr>
        <p:sp>
          <p:nvSpPr>
            <p:cNvPr id="477" name="Oval 121"/>
            <p:cNvSpPr>
              <a:spLocks noChangeAspect="1"/>
            </p:cNvSpPr>
            <p:nvPr/>
          </p:nvSpPr>
          <p:spPr bwMode="auto">
            <a:xfrm>
              <a:off x="2625629" y="4400139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pic>
          <p:nvPicPr>
            <p:cNvPr id="478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4439750"/>
              <a:ext cx="179248" cy="1792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399" name="Freeform 11"/>
          <p:cNvSpPr>
            <a:spLocks noChangeAspect="1" noChangeArrowheads="1"/>
          </p:cNvSpPr>
          <p:nvPr/>
        </p:nvSpPr>
        <p:spPr bwMode="auto">
          <a:xfrm>
            <a:off x="8633543" y="3225531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400" name="텍스트 상자 31"/>
          <p:cNvSpPr txBox="1"/>
          <p:nvPr/>
        </p:nvSpPr>
        <p:spPr>
          <a:xfrm>
            <a:off x="5481708" y="3216671"/>
            <a:ext cx="269304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조병수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3" name="텍스트 상자 31"/>
          <p:cNvSpPr txBox="1"/>
          <p:nvPr/>
        </p:nvSpPr>
        <p:spPr>
          <a:xfrm>
            <a:off x="5010560" y="1497273"/>
            <a:ext cx="35127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명</a:t>
            </a:r>
            <a:endParaRPr kumimoji="1" lang="en-US" altLang="ko-KR" sz="800" b="0" i="0" u="none" strike="noStrike" kern="120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5" name="텍스트 상자 31"/>
          <p:cNvSpPr txBox="1"/>
          <p:nvPr/>
        </p:nvSpPr>
        <p:spPr>
          <a:xfrm>
            <a:off x="5873159" y="1792859"/>
            <a:ext cx="283406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본부장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6" name="텍스트 상자 31"/>
          <p:cNvSpPr txBox="1"/>
          <p:nvPr/>
        </p:nvSpPr>
        <p:spPr>
          <a:xfrm>
            <a:off x="5873159" y="2478609"/>
            <a:ext cx="283406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과장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7" name="텍스트 상자 31"/>
          <p:cNvSpPr txBox="1"/>
          <p:nvPr/>
        </p:nvSpPr>
        <p:spPr>
          <a:xfrm>
            <a:off x="5873159" y="3966370"/>
            <a:ext cx="283406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사원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8" name="텍스트 상자 31"/>
          <p:cNvSpPr txBox="1"/>
          <p:nvPr/>
        </p:nvSpPr>
        <p:spPr>
          <a:xfrm>
            <a:off x="5333253" y="2899701"/>
            <a:ext cx="480901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마케팅 본부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9" name="Freeform 10"/>
          <p:cNvSpPr>
            <a:spLocks noChangeArrowheads="1"/>
          </p:cNvSpPr>
          <p:nvPr/>
        </p:nvSpPr>
        <p:spPr bwMode="auto">
          <a:xfrm rot="16200000">
            <a:off x="5161592" y="2878501"/>
            <a:ext cx="92349" cy="142440"/>
          </a:xfrm>
          <a:custGeom>
            <a:avLst/>
            <a:gdLst>
              <a:gd name="T0" fmla="*/ 44 w 238"/>
              <a:gd name="T1" fmla="*/ 0 h 387"/>
              <a:gd name="T2" fmla="*/ 0 w 238"/>
              <a:gd name="T3" fmla="*/ 44 h 387"/>
              <a:gd name="T4" fmla="*/ 150 w 238"/>
              <a:gd name="T5" fmla="*/ 193 h 387"/>
              <a:gd name="T6" fmla="*/ 0 w 238"/>
              <a:gd name="T7" fmla="*/ 343 h 387"/>
              <a:gd name="T8" fmla="*/ 44 w 238"/>
              <a:gd name="T9" fmla="*/ 386 h 387"/>
              <a:gd name="T10" fmla="*/ 237 w 238"/>
              <a:gd name="T11" fmla="*/ 193 h 387"/>
              <a:gd name="T12" fmla="*/ 44 w 238"/>
              <a:gd name="T13" fmla="*/ 0 h 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8" h="387">
                <a:moveTo>
                  <a:pt x="44" y="0"/>
                </a:moveTo>
                <a:lnTo>
                  <a:pt x="0" y="44"/>
                </a:lnTo>
                <a:lnTo>
                  <a:pt x="150" y="193"/>
                </a:lnTo>
                <a:lnTo>
                  <a:pt x="0" y="343"/>
                </a:lnTo>
                <a:lnTo>
                  <a:pt x="44" y="386"/>
                </a:lnTo>
                <a:lnTo>
                  <a:pt x="237" y="193"/>
                </a:lnTo>
                <a:lnTo>
                  <a:pt x="44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440" name="Rectangle 566"/>
          <p:cNvSpPr/>
          <p:nvPr/>
        </p:nvSpPr>
        <p:spPr>
          <a:xfrm>
            <a:off x="5010560" y="3442133"/>
            <a:ext cx="3763980" cy="3438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41" name="그룹 400"/>
          <p:cNvGrpSpPr/>
          <p:nvPr/>
        </p:nvGrpSpPr>
        <p:grpSpPr>
          <a:xfrm>
            <a:off x="5207082" y="3509580"/>
            <a:ext cx="229236" cy="229194"/>
            <a:chOff x="2625629" y="4400139"/>
            <a:chExt cx="276891" cy="276839"/>
          </a:xfrm>
        </p:grpSpPr>
        <p:sp>
          <p:nvSpPr>
            <p:cNvPr id="472" name="Oval 121"/>
            <p:cNvSpPr>
              <a:spLocks noChangeAspect="1"/>
            </p:cNvSpPr>
            <p:nvPr/>
          </p:nvSpPr>
          <p:spPr bwMode="auto">
            <a:xfrm>
              <a:off x="2625629" y="4400139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x-none" altLang="x-none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pic>
          <p:nvPicPr>
            <p:cNvPr id="473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4439750"/>
              <a:ext cx="179248" cy="1792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442" name="Freeform 11"/>
          <p:cNvSpPr>
            <a:spLocks noChangeAspect="1" noChangeArrowheads="1"/>
          </p:cNvSpPr>
          <p:nvPr/>
        </p:nvSpPr>
        <p:spPr bwMode="auto">
          <a:xfrm>
            <a:off x="8633543" y="3568077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63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boto" charset="0"/>
              <a:ea typeface="ＭＳ Ｐゴシック" charset="0"/>
            </a:endParaRPr>
          </a:p>
        </p:txBody>
      </p:sp>
      <p:sp>
        <p:nvSpPr>
          <p:cNvPr id="443" name="텍스트 상자 31"/>
          <p:cNvSpPr txBox="1"/>
          <p:nvPr/>
        </p:nvSpPr>
        <p:spPr>
          <a:xfrm>
            <a:off x="5481708" y="3559217"/>
            <a:ext cx="269304" cy="1077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조병수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4" name="텍스트 상자 31"/>
          <p:cNvSpPr txBox="1"/>
          <p:nvPr/>
        </p:nvSpPr>
        <p:spPr>
          <a:xfrm>
            <a:off x="6207562" y="3215390"/>
            <a:ext cx="549408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제품기획팀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5" name="텍스트 상자 31"/>
          <p:cNvSpPr txBox="1"/>
          <p:nvPr/>
        </p:nvSpPr>
        <p:spPr>
          <a:xfrm>
            <a:off x="5873159" y="3214135"/>
            <a:ext cx="283406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사원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6" name="텍스트 상자 31"/>
          <p:cNvSpPr txBox="1"/>
          <p:nvPr/>
        </p:nvSpPr>
        <p:spPr>
          <a:xfrm>
            <a:off x="6207562" y="3560552"/>
            <a:ext cx="549408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제품기획팀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7" name="텍스트 상자 31"/>
          <p:cNvSpPr txBox="1"/>
          <p:nvPr/>
        </p:nvSpPr>
        <p:spPr>
          <a:xfrm>
            <a:off x="5873159" y="3559297"/>
            <a:ext cx="283406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사원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48" name="Group 18"/>
          <p:cNvGrpSpPr/>
          <p:nvPr/>
        </p:nvGrpSpPr>
        <p:grpSpPr>
          <a:xfrm>
            <a:off x="8002572" y="1730841"/>
            <a:ext cx="488199" cy="233616"/>
            <a:chOff x="606819" y="4687462"/>
            <a:chExt cx="488199" cy="233616"/>
          </a:xfrm>
        </p:grpSpPr>
        <p:sp>
          <p:nvSpPr>
            <p:cNvPr id="469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70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71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멤버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49" name="Group 18"/>
          <p:cNvGrpSpPr/>
          <p:nvPr/>
        </p:nvGrpSpPr>
        <p:grpSpPr>
          <a:xfrm>
            <a:off x="8002572" y="2071301"/>
            <a:ext cx="488199" cy="233616"/>
            <a:chOff x="606819" y="4687462"/>
            <a:chExt cx="488199" cy="233616"/>
          </a:xfrm>
        </p:grpSpPr>
        <p:sp>
          <p:nvSpPr>
            <p:cNvPr id="466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67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68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관리자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50" name="Group 18"/>
          <p:cNvGrpSpPr/>
          <p:nvPr/>
        </p:nvGrpSpPr>
        <p:grpSpPr>
          <a:xfrm>
            <a:off x="8002572" y="2424387"/>
            <a:ext cx="488199" cy="233616"/>
            <a:chOff x="606819" y="4687462"/>
            <a:chExt cx="488199" cy="233616"/>
          </a:xfrm>
        </p:grpSpPr>
        <p:sp>
          <p:nvSpPr>
            <p:cNvPr id="463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64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65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참관인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51" name="Group 18"/>
          <p:cNvGrpSpPr/>
          <p:nvPr/>
        </p:nvGrpSpPr>
        <p:grpSpPr>
          <a:xfrm>
            <a:off x="8002572" y="3155005"/>
            <a:ext cx="488199" cy="233616"/>
            <a:chOff x="606819" y="4687462"/>
            <a:chExt cx="488199" cy="233616"/>
          </a:xfrm>
        </p:grpSpPr>
        <p:sp>
          <p:nvSpPr>
            <p:cNvPr id="460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61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62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멤버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52" name="Group 18"/>
          <p:cNvGrpSpPr/>
          <p:nvPr/>
        </p:nvGrpSpPr>
        <p:grpSpPr>
          <a:xfrm>
            <a:off x="8002572" y="3495465"/>
            <a:ext cx="488199" cy="233616"/>
            <a:chOff x="606819" y="4687462"/>
            <a:chExt cx="488199" cy="233616"/>
          </a:xfrm>
        </p:grpSpPr>
        <p:sp>
          <p:nvSpPr>
            <p:cNvPr id="457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58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59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관리자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53" name="Group 18"/>
          <p:cNvGrpSpPr/>
          <p:nvPr/>
        </p:nvGrpSpPr>
        <p:grpSpPr>
          <a:xfrm>
            <a:off x="8002572" y="3887287"/>
            <a:ext cx="488199" cy="233616"/>
            <a:chOff x="606819" y="4687462"/>
            <a:chExt cx="488199" cy="233616"/>
          </a:xfrm>
        </p:grpSpPr>
        <p:sp>
          <p:nvSpPr>
            <p:cNvPr id="454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8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455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56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멤버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14" name="그룹 143"/>
          <p:cNvGrpSpPr/>
          <p:nvPr/>
        </p:nvGrpSpPr>
        <p:grpSpPr>
          <a:xfrm>
            <a:off x="4826167" y="1379251"/>
            <a:ext cx="180000" cy="216000"/>
            <a:chOff x="2704212" y="2825113"/>
            <a:chExt cx="216000" cy="252000"/>
          </a:xfrm>
        </p:grpSpPr>
        <p:sp>
          <p:nvSpPr>
            <p:cNvPr id="315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Helvetica"/>
                <a:sym typeface="Helvetica"/>
              </a:endParaRPr>
            </a:p>
          </p:txBody>
        </p:sp>
        <p:sp>
          <p:nvSpPr>
            <p:cNvPr id="316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Helvetica"/>
                  <a:sym typeface="Helvetica"/>
                </a:rPr>
                <a:t>5</a:t>
              </a:r>
              <a:endParaRPr kumimoji="1" sz="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317" name="그룹 143"/>
          <p:cNvGrpSpPr/>
          <p:nvPr/>
        </p:nvGrpSpPr>
        <p:grpSpPr>
          <a:xfrm>
            <a:off x="4969869" y="1746986"/>
            <a:ext cx="180000" cy="216000"/>
            <a:chOff x="2704212" y="2825113"/>
            <a:chExt cx="216000" cy="252000"/>
          </a:xfrm>
        </p:grpSpPr>
        <p:sp>
          <p:nvSpPr>
            <p:cNvPr id="318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Helvetica"/>
                <a:sym typeface="Helvetica"/>
              </a:endParaRPr>
            </a:p>
          </p:txBody>
        </p:sp>
        <p:sp>
          <p:nvSpPr>
            <p:cNvPr id="319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Helvetica"/>
                  <a:sym typeface="Helvetica"/>
                </a:rPr>
                <a:t>6</a:t>
              </a:r>
              <a:endParaRPr kumimoji="1" sz="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/>
                <a:ea typeface="+mn-ea"/>
                <a:cs typeface="Helvetica"/>
                <a:sym typeface="Helvetica"/>
              </a:endParaRPr>
            </a:p>
          </p:txBody>
        </p:sp>
      </p:grpSp>
      <p:grpSp>
        <p:nvGrpSpPr>
          <p:cNvPr id="322" name="그룹 143"/>
          <p:cNvGrpSpPr/>
          <p:nvPr/>
        </p:nvGrpSpPr>
        <p:grpSpPr>
          <a:xfrm>
            <a:off x="7937318" y="1570666"/>
            <a:ext cx="180000" cy="216000"/>
            <a:chOff x="2704212" y="2825113"/>
            <a:chExt cx="216000" cy="252000"/>
          </a:xfrm>
        </p:grpSpPr>
        <p:sp>
          <p:nvSpPr>
            <p:cNvPr id="323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kumimoji="1" sz="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Helvetica"/>
                <a:sym typeface="Helvetica"/>
              </a:endParaRPr>
            </a:p>
          </p:txBody>
        </p:sp>
        <p:sp>
          <p:nvSpPr>
            <p:cNvPr id="324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marL="0" marR="0" lvl="0" indent="0" algn="ctr" defTabSz="576817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kumimoji="1" lang="en-US" altLang="ko-KR" sz="600" b="1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Helvetica"/>
                  <a:sym typeface="Helvetica"/>
                </a:rPr>
                <a:t>7</a:t>
              </a:r>
              <a:endParaRPr kumimoji="1" sz="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302" name="Rectangle 566"/>
          <p:cNvSpPr/>
          <p:nvPr/>
        </p:nvSpPr>
        <p:spPr>
          <a:xfrm>
            <a:off x="2637111" y="1555304"/>
            <a:ext cx="1732375" cy="3086333"/>
          </a:xfrm>
          <a:prstGeom prst="rect">
            <a:avLst/>
          </a:prstGeom>
          <a:ln w="9525">
            <a:solidFill>
              <a:srgbClr val="FF0000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endParaRPr kumimoji="1" 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354" name="타원 353"/>
          <p:cNvSpPr/>
          <p:nvPr/>
        </p:nvSpPr>
        <p:spPr>
          <a:xfrm>
            <a:off x="2525881" y="1616929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5" name="타원 354"/>
          <p:cNvSpPr/>
          <p:nvPr/>
        </p:nvSpPr>
        <p:spPr>
          <a:xfrm>
            <a:off x="2780480" y="2351013"/>
            <a:ext cx="178657" cy="174728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5" name="타원형"/>
          <p:cNvSpPr>
            <a:spLocks noChangeAspect="1"/>
          </p:cNvSpPr>
          <p:nvPr/>
        </p:nvSpPr>
        <p:spPr>
          <a:xfrm>
            <a:off x="5969910" y="2843205"/>
            <a:ext cx="213549" cy="216000"/>
          </a:xfrm>
          <a:prstGeom prst="ellipse">
            <a:avLst/>
          </a:prstGeom>
          <a:solidFill>
            <a:srgbClr val="2E6FFD"/>
          </a:solidFill>
          <a:ln w="12700" cap="flat">
            <a:solidFill>
              <a:srgbClr val="002060"/>
            </a:solidFill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marR="0" lvl="0" indent="0" algn="ctr" defTabSz="57681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sz="700" b="1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r>
              <a:rPr kumimoji="1" 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/>
                <a:cs typeface="Helvetica"/>
                <a:sym typeface="Helvetica"/>
              </a:rPr>
              <a:t>6-1</a:t>
            </a:r>
            <a:endParaRPr kumimoji="1" sz="7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/>
              <a:ea typeface="맑은 고딕"/>
              <a:cs typeface="Helvetica"/>
              <a:sym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40057434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0951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일정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31451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TextBox 86"/>
          <p:cNvSpPr txBox="1"/>
          <p:nvPr/>
        </p:nvSpPr>
        <p:spPr>
          <a:xfrm>
            <a:off x="216309" y="167149"/>
            <a:ext cx="205561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 일정 </a:t>
            </a:r>
            <a:r>
              <a:rPr lang="ko-KR" altLang="en-US" sz="1400" b="1" smtClean="0">
                <a:solidFill>
                  <a:srgbClr val="0070C0"/>
                </a:solidFill>
                <a:latin typeface="+mn-ea"/>
                <a:ea typeface="+mn-ea"/>
              </a:rPr>
              <a:t>등록 </a:t>
            </a:r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가이드</a:t>
            </a:r>
            <a:endParaRPr lang="ko-KR" altLang="en-US" sz="14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371475" y="742899"/>
            <a:ext cx="2522092" cy="59592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[</a:t>
            </a:r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스퀘어</a:t>
            </a:r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]</a:t>
            </a:r>
          </a:p>
          <a:p>
            <a:endParaRPr lang="en-US" altLang="ko-KR" sz="1200" b="1" smtClean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피드에서 일정을 등록했을 경우</a:t>
            </a:r>
            <a:endParaRPr lang="ko-KR" altLang="en-US" sz="10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7077075" y="742899"/>
            <a:ext cx="3208177" cy="74981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[</a:t>
            </a:r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일정</a:t>
            </a:r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]</a:t>
            </a:r>
          </a:p>
          <a:p>
            <a:endParaRPr lang="en-US" altLang="ko-KR" sz="1200" b="1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ko-KR" altLang="en-US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스퀘어 피드 또는 일정 캘린더에에서 등록한 정보가</a:t>
            </a:r>
            <a:r>
              <a:rPr lang="en-US" altLang="ko-KR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/>
            </a:r>
            <a:br>
              <a:rPr lang="en-US" altLang="ko-KR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</a:br>
            <a:r>
              <a:rPr lang="ko-KR" altLang="en-US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일정 메뉴에서도 반영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cxnSp>
        <p:nvCxnSpPr>
          <p:cNvPr id="12" name="직선 연결선 11"/>
          <p:cNvCxnSpPr/>
          <p:nvPr/>
        </p:nvCxnSpPr>
        <p:spPr>
          <a:xfrm>
            <a:off x="6877050" y="924524"/>
            <a:ext cx="0" cy="553837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6" name="그림 20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11432" y="1395523"/>
            <a:ext cx="2436918" cy="996333"/>
          </a:xfrm>
          <a:prstGeom prst="rect">
            <a:avLst/>
          </a:prstGeom>
        </p:spPr>
      </p:pic>
      <p:sp>
        <p:nvSpPr>
          <p:cNvPr id="208" name="직사각형 207"/>
          <p:cNvSpPr/>
          <p:nvPr/>
        </p:nvSpPr>
        <p:spPr>
          <a:xfrm>
            <a:off x="371475" y="3693709"/>
            <a:ext cx="301877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ko-KR" altLang="en-US" sz="10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스퀘어 </a:t>
            </a:r>
            <a:r>
              <a:rPr lang="ko-KR" altLang="en-US" sz="10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일정 </a:t>
            </a:r>
            <a:r>
              <a:rPr lang="ko-KR" altLang="en-US" sz="10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캘린더에서 일정을 등록했을 경우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09" name="그룹 208"/>
          <p:cNvGrpSpPr/>
          <p:nvPr/>
        </p:nvGrpSpPr>
        <p:grpSpPr>
          <a:xfrm>
            <a:off x="422064" y="4076700"/>
            <a:ext cx="5054811" cy="2208687"/>
            <a:chOff x="2908089" y="3557019"/>
            <a:chExt cx="6205858" cy="3004593"/>
          </a:xfrm>
        </p:grpSpPr>
        <p:pic>
          <p:nvPicPr>
            <p:cNvPr id="210" name="그림 20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08089" y="3557019"/>
              <a:ext cx="3490913" cy="3004593"/>
            </a:xfrm>
            <a:prstGeom prst="rect">
              <a:avLst/>
            </a:prstGeom>
          </p:spPr>
        </p:pic>
        <p:pic>
          <p:nvPicPr>
            <p:cNvPr id="211" name="그림 210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513170" y="4725829"/>
              <a:ext cx="1611405" cy="992055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212" name="그림 21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616117" y="4342499"/>
              <a:ext cx="2497830" cy="1639201"/>
            </a:xfrm>
            <a:prstGeom prst="rect">
              <a:avLst/>
            </a:prstGeom>
          </p:spPr>
        </p:pic>
      </p:grpSp>
      <p:pic>
        <p:nvPicPr>
          <p:cNvPr id="219" name="그림 21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3693" y="1717049"/>
            <a:ext cx="4591582" cy="3580150"/>
          </a:xfrm>
          <a:prstGeom prst="rect">
            <a:avLst/>
          </a:prstGeom>
        </p:spPr>
      </p:pic>
      <p:cxnSp>
        <p:nvCxnSpPr>
          <p:cNvPr id="227" name="직선 화살표 연결선 226"/>
          <p:cNvCxnSpPr/>
          <p:nvPr/>
        </p:nvCxnSpPr>
        <p:spPr>
          <a:xfrm flipV="1">
            <a:off x="4848225" y="2456402"/>
            <a:ext cx="0" cy="2097596"/>
          </a:xfrm>
          <a:prstGeom prst="straightConnector1">
            <a:avLst/>
          </a:prstGeom>
          <a:ln>
            <a:solidFill>
              <a:schemeClr val="bg1">
                <a:lumMod val="8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직선 화살표 연결선 228"/>
          <p:cNvCxnSpPr/>
          <p:nvPr/>
        </p:nvCxnSpPr>
        <p:spPr>
          <a:xfrm flipH="1">
            <a:off x="2836417" y="2475452"/>
            <a:ext cx="548769" cy="1096423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0" name="TextBox 229"/>
          <p:cNvSpPr txBox="1"/>
          <p:nvPr/>
        </p:nvSpPr>
        <p:spPr>
          <a:xfrm>
            <a:off x="2495550" y="2962275"/>
            <a:ext cx="1924050" cy="195814"/>
          </a:xfrm>
          <a:prstGeom prst="rect">
            <a:avLst/>
          </a:prstGeom>
          <a:solidFill>
            <a:schemeClr val="bg1"/>
          </a:solidFill>
        </p:spPr>
        <p:txBody>
          <a:bodyPr wrap="square" lIns="36000" tIns="36000" rIns="36000" bIns="36000" rtlCol="0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 캘린더에도 반영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11048184" y="342900"/>
            <a:ext cx="93031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algn="r"/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UPDATE : 18.01.29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4958" y="1404658"/>
            <a:ext cx="2796392" cy="1064086"/>
          </a:xfrm>
          <a:prstGeom prst="rect">
            <a:avLst/>
          </a:prstGeom>
        </p:spPr>
      </p:pic>
      <p:cxnSp>
        <p:nvCxnSpPr>
          <p:cNvPr id="4" name="직선 화살표 연결선 3"/>
          <p:cNvCxnSpPr/>
          <p:nvPr/>
        </p:nvCxnSpPr>
        <p:spPr>
          <a:xfrm>
            <a:off x="3201551" y="1743024"/>
            <a:ext cx="169148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/>
          <p:nvPr/>
        </p:nvCxnSpPr>
        <p:spPr>
          <a:xfrm>
            <a:off x="3201551" y="5238699"/>
            <a:ext cx="169148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/>
          <p:cNvSpPr/>
          <p:nvPr/>
        </p:nvSpPr>
        <p:spPr>
          <a:xfrm>
            <a:off x="4578181" y="3387209"/>
            <a:ext cx="209884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mtClean="0">
                <a:solidFill>
                  <a:schemeClr val="bg1">
                    <a:lumMod val="65000"/>
                  </a:schemeClr>
                </a:solidFill>
                <a:latin typeface="Bradley Hand ITC" panose="03070402050302030203" pitchFamily="66" charset="0"/>
                <a:ea typeface="+mn-ea"/>
              </a:rPr>
              <a:t>X </a:t>
            </a:r>
            <a:r>
              <a:rPr lang="ko-KR" altLang="en-US" sz="800" smtClean="0">
                <a:solidFill>
                  <a:schemeClr val="bg1">
                    <a:lumMod val="65000"/>
                  </a:schemeClr>
                </a:solidFill>
                <a:latin typeface="Bradley Hand ITC" panose="03070402050302030203" pitchFamily="66" charset="0"/>
                <a:ea typeface="+mn-ea"/>
              </a:rPr>
              <a:t>피드에는 반영되지 않음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Bradley Hand ITC" panose="03070402050302030203" pitchFamily="66" charset="0"/>
              <a:ea typeface="+mn-ea"/>
            </a:endParaRPr>
          </a:p>
        </p:txBody>
      </p:sp>
      <p:cxnSp>
        <p:nvCxnSpPr>
          <p:cNvPr id="35" name="직선 화살표 연결선 34"/>
          <p:cNvCxnSpPr/>
          <p:nvPr/>
        </p:nvCxnSpPr>
        <p:spPr>
          <a:xfrm>
            <a:off x="5917804" y="1743024"/>
            <a:ext cx="1251743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/>
          <p:nvPr/>
        </p:nvCxnSpPr>
        <p:spPr>
          <a:xfrm>
            <a:off x="5503477" y="5238699"/>
            <a:ext cx="1666070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11685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TextBox 86"/>
          <p:cNvSpPr txBox="1"/>
          <p:nvPr/>
        </p:nvSpPr>
        <p:spPr>
          <a:xfrm>
            <a:off x="216309" y="167149"/>
            <a:ext cx="205561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 일정 </a:t>
            </a:r>
            <a:r>
              <a:rPr lang="ko-KR" altLang="en-US" sz="1400" b="1" smtClean="0">
                <a:solidFill>
                  <a:srgbClr val="0070C0"/>
                </a:solidFill>
                <a:latin typeface="+mn-ea"/>
                <a:ea typeface="+mn-ea"/>
              </a:rPr>
              <a:t>수정 </a:t>
            </a:r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가이드</a:t>
            </a:r>
            <a:endParaRPr lang="ko-KR" altLang="en-US" sz="14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371475" y="742899"/>
            <a:ext cx="2477208" cy="59592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[</a:t>
            </a:r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스퀘어</a:t>
            </a:r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]</a:t>
            </a:r>
          </a:p>
          <a:p>
            <a:endParaRPr lang="en-US" altLang="ko-KR" sz="1200" b="1" smtClean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피드에서 일정을 수정했을 경우</a:t>
            </a:r>
            <a:endParaRPr lang="ko-KR" altLang="en-US" sz="10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7077075" y="742899"/>
            <a:ext cx="3079937" cy="74981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[</a:t>
            </a:r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일정</a:t>
            </a:r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]</a:t>
            </a:r>
          </a:p>
          <a:p>
            <a:endParaRPr lang="en-US" altLang="ko-KR" sz="1200" b="1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ko-KR" altLang="en-US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스퀘어 피드 또는 일정 캘린더에서 수정된 정보가</a:t>
            </a:r>
            <a:r>
              <a:rPr lang="en-US" altLang="ko-KR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/>
            </a:r>
            <a:br>
              <a:rPr lang="en-US" altLang="ko-KR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</a:br>
            <a:r>
              <a:rPr lang="ko-KR" altLang="en-US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일정 메뉴에서도 반영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cxnSp>
        <p:nvCxnSpPr>
          <p:cNvPr id="12" name="직선 연결선 11"/>
          <p:cNvCxnSpPr/>
          <p:nvPr/>
        </p:nvCxnSpPr>
        <p:spPr>
          <a:xfrm>
            <a:off x="6877050" y="924524"/>
            <a:ext cx="0" cy="553837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6" name="그림 20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11432" y="1395523"/>
            <a:ext cx="2436918" cy="996333"/>
          </a:xfrm>
          <a:prstGeom prst="rect">
            <a:avLst/>
          </a:prstGeom>
        </p:spPr>
      </p:pic>
      <p:sp>
        <p:nvSpPr>
          <p:cNvPr id="208" name="직사각형 207"/>
          <p:cNvSpPr/>
          <p:nvPr/>
        </p:nvSpPr>
        <p:spPr>
          <a:xfrm>
            <a:off x="371475" y="3693709"/>
            <a:ext cx="301877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ko-KR" altLang="en-US" sz="10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스퀘어 </a:t>
            </a:r>
            <a:r>
              <a:rPr lang="ko-KR" altLang="en-US" sz="10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일정 </a:t>
            </a:r>
            <a:r>
              <a:rPr lang="ko-KR" altLang="en-US" sz="10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캘린더에서 일정을 </a:t>
            </a:r>
            <a:r>
              <a:rPr lang="ko-KR" altLang="en-US" sz="1000" b="1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수정했을 </a:t>
            </a:r>
            <a:r>
              <a:rPr lang="ko-KR" altLang="en-US" sz="10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경우</a:t>
            </a:r>
            <a:endParaRPr lang="ko-KR" altLang="en-US" sz="1000" b="1" dirty="0">
              <a:solidFill>
                <a:prstClr val="black">
                  <a:lumMod val="75000"/>
                  <a:lumOff val="25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09" name="그룹 208"/>
          <p:cNvGrpSpPr/>
          <p:nvPr/>
        </p:nvGrpSpPr>
        <p:grpSpPr>
          <a:xfrm>
            <a:off x="422064" y="4076700"/>
            <a:ext cx="5054811" cy="2208687"/>
            <a:chOff x="2908089" y="3557019"/>
            <a:chExt cx="6205858" cy="3004593"/>
          </a:xfrm>
        </p:grpSpPr>
        <p:pic>
          <p:nvPicPr>
            <p:cNvPr id="210" name="그림 20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08089" y="3557019"/>
              <a:ext cx="3490913" cy="3004593"/>
            </a:xfrm>
            <a:prstGeom prst="rect">
              <a:avLst/>
            </a:prstGeom>
          </p:spPr>
        </p:pic>
        <p:pic>
          <p:nvPicPr>
            <p:cNvPr id="211" name="그림 210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513170" y="4725829"/>
              <a:ext cx="1611405" cy="992055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212" name="그림 21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616117" y="4342499"/>
              <a:ext cx="2497830" cy="1639201"/>
            </a:xfrm>
            <a:prstGeom prst="rect">
              <a:avLst/>
            </a:prstGeom>
          </p:spPr>
        </p:pic>
      </p:grpSp>
      <p:pic>
        <p:nvPicPr>
          <p:cNvPr id="219" name="그림 21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3693" y="1717049"/>
            <a:ext cx="4591582" cy="358015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11048184" y="342900"/>
            <a:ext cx="93031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algn="r"/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UPDATE : 18.01.29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4958" y="1404658"/>
            <a:ext cx="2796392" cy="1064086"/>
          </a:xfrm>
          <a:prstGeom prst="rect">
            <a:avLst/>
          </a:prstGeom>
        </p:spPr>
      </p:pic>
      <p:cxnSp>
        <p:nvCxnSpPr>
          <p:cNvPr id="22" name="직선 화살표 연결선 21"/>
          <p:cNvCxnSpPr/>
          <p:nvPr/>
        </p:nvCxnSpPr>
        <p:spPr>
          <a:xfrm>
            <a:off x="3201551" y="1743024"/>
            <a:ext cx="169148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/>
          <p:cNvCxnSpPr/>
          <p:nvPr/>
        </p:nvCxnSpPr>
        <p:spPr>
          <a:xfrm flipH="1">
            <a:off x="2836417" y="2475452"/>
            <a:ext cx="548769" cy="1096423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2495550" y="2962275"/>
            <a:ext cx="1924050" cy="195814"/>
          </a:xfrm>
          <a:prstGeom prst="rect">
            <a:avLst/>
          </a:prstGeom>
          <a:solidFill>
            <a:schemeClr val="bg1"/>
          </a:solidFill>
        </p:spPr>
        <p:txBody>
          <a:bodyPr wrap="square" lIns="36000" tIns="36000" rIns="36000" bIns="36000" rtlCol="0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 캘린더에도 반영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5" name="직선 화살표 연결선 24"/>
          <p:cNvCxnSpPr/>
          <p:nvPr/>
        </p:nvCxnSpPr>
        <p:spPr>
          <a:xfrm>
            <a:off x="5917804" y="1743024"/>
            <a:ext cx="1251743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/>
          <p:nvPr/>
        </p:nvCxnSpPr>
        <p:spPr>
          <a:xfrm>
            <a:off x="5503477" y="5238699"/>
            <a:ext cx="1666070" cy="0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화살표 연결선 26"/>
          <p:cNvCxnSpPr/>
          <p:nvPr/>
        </p:nvCxnSpPr>
        <p:spPr>
          <a:xfrm flipV="1">
            <a:off x="4848225" y="2456402"/>
            <a:ext cx="0" cy="2097596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4295662" y="3381375"/>
            <a:ext cx="1086076" cy="195814"/>
          </a:xfrm>
          <a:prstGeom prst="rect">
            <a:avLst/>
          </a:prstGeom>
          <a:solidFill>
            <a:schemeClr val="bg1"/>
          </a:solidFill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 피드에도 반영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27355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TextBox 86"/>
          <p:cNvSpPr txBox="1"/>
          <p:nvPr/>
        </p:nvSpPr>
        <p:spPr>
          <a:xfrm>
            <a:off x="216309" y="167149"/>
            <a:ext cx="2172637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일정→스퀘어 </a:t>
            </a:r>
            <a:r>
              <a:rPr lang="ko-KR" altLang="en-US" sz="1400" b="1" smtClean="0">
                <a:solidFill>
                  <a:srgbClr val="0070C0"/>
                </a:solidFill>
                <a:latin typeface="+mn-ea"/>
                <a:ea typeface="+mn-ea"/>
              </a:rPr>
              <a:t>수정 </a:t>
            </a:r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가이드</a:t>
            </a:r>
            <a:endParaRPr lang="ko-KR" altLang="en-US" sz="14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403014" y="2072628"/>
            <a:ext cx="6205858" cy="2717334"/>
            <a:chOff x="545889" y="2110728"/>
            <a:chExt cx="6205858" cy="2717334"/>
          </a:xfrm>
        </p:grpSpPr>
        <p:pic>
          <p:nvPicPr>
            <p:cNvPr id="29" name="그림 28"/>
            <p:cNvPicPr>
              <a:picLocks noChangeAspect="1"/>
            </p:cNvPicPr>
            <p:nvPr/>
          </p:nvPicPr>
          <p:blipFill rotWithShape="1">
            <a:blip r:embed="rId2"/>
            <a:srcRect t="13492"/>
            <a:stretch/>
          </p:blipFill>
          <p:spPr>
            <a:xfrm>
              <a:off x="545889" y="2228850"/>
              <a:ext cx="3490913" cy="2599212"/>
            </a:xfrm>
            <a:prstGeom prst="rect">
              <a:avLst/>
            </a:prstGeom>
          </p:spPr>
        </p:pic>
        <p:pic>
          <p:nvPicPr>
            <p:cNvPr id="30" name="그림 2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150970" y="2992279"/>
              <a:ext cx="1611405" cy="992055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31" name="그림 30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253917" y="2608949"/>
              <a:ext cx="2497830" cy="1639201"/>
            </a:xfrm>
            <a:prstGeom prst="rect">
              <a:avLst/>
            </a:prstGeom>
          </p:spPr>
        </p:pic>
        <p:cxnSp>
          <p:nvCxnSpPr>
            <p:cNvPr id="32" name="직선 화살표 연결선 31"/>
            <p:cNvCxnSpPr/>
            <p:nvPr/>
          </p:nvCxnSpPr>
          <p:spPr>
            <a:xfrm>
              <a:off x="1819275" y="3124200"/>
              <a:ext cx="285750" cy="200025"/>
            </a:xfrm>
            <a:prstGeom prst="straightConnector1">
              <a:avLst/>
            </a:prstGeom>
            <a:ln>
              <a:solidFill>
                <a:schemeClr val="tx1">
                  <a:lumMod val="95000"/>
                  <a:lumOff val="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화살표 연결선 32"/>
            <p:cNvCxnSpPr/>
            <p:nvPr/>
          </p:nvCxnSpPr>
          <p:spPr>
            <a:xfrm>
              <a:off x="3781425" y="3352800"/>
              <a:ext cx="409575" cy="0"/>
            </a:xfrm>
            <a:prstGeom prst="straightConnector1">
              <a:avLst/>
            </a:prstGeom>
            <a:ln>
              <a:solidFill>
                <a:schemeClr val="tx1">
                  <a:lumMod val="95000"/>
                  <a:lumOff val="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" name="그림 3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84910" y="2110728"/>
              <a:ext cx="3377490" cy="131250"/>
            </a:xfrm>
            <a:prstGeom prst="rect">
              <a:avLst/>
            </a:prstGeom>
          </p:spPr>
        </p:pic>
      </p:grpSp>
      <p:pic>
        <p:nvPicPr>
          <p:cNvPr id="199" name="그림 19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86650" y="1817145"/>
            <a:ext cx="2436918" cy="996333"/>
          </a:xfrm>
          <a:prstGeom prst="rect">
            <a:avLst/>
          </a:prstGeom>
        </p:spPr>
      </p:pic>
      <p:sp>
        <p:nvSpPr>
          <p:cNvPr id="200" name="TextBox 199"/>
          <p:cNvSpPr txBox="1"/>
          <p:nvPr/>
        </p:nvSpPr>
        <p:spPr>
          <a:xfrm>
            <a:off x="371475" y="742899"/>
            <a:ext cx="2778572" cy="59592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[</a:t>
            </a:r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일정</a:t>
            </a:r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]</a:t>
            </a:r>
          </a:p>
          <a:p>
            <a:endParaRPr lang="en-US" altLang="ko-KR" sz="1200" b="1" smtClean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 메뉴에서 스퀘어 일정을 수정했을 경우</a:t>
            </a:r>
            <a:endParaRPr lang="ko-KR" altLang="en-US" sz="10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7077075" y="742899"/>
            <a:ext cx="2868340" cy="59592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[</a:t>
            </a:r>
            <a:r>
              <a:rPr lang="ko-KR" altLang="en-US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스퀘어</a:t>
            </a:r>
            <a:r>
              <a:rPr lang="en-US" altLang="ko-KR" sz="1200" b="1" smtClean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]</a:t>
            </a:r>
          </a:p>
          <a:p>
            <a:endParaRPr lang="en-US" altLang="ko-KR" sz="1200" b="1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ko-KR" altLang="en-US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스퀘어 일정 피드 및 일정 캘린더에</a:t>
            </a:r>
            <a:r>
              <a:rPr lang="en-US" altLang="ko-KR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 </a:t>
            </a:r>
            <a:r>
              <a:rPr lang="ko-KR" altLang="en-US" sz="10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/>
                <a:ea typeface="맑은 고딕"/>
              </a:rPr>
              <a:t>반영 처리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pic>
        <p:nvPicPr>
          <p:cNvPr id="202" name="그림 20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86650" y="3490356"/>
            <a:ext cx="3490913" cy="3004593"/>
          </a:xfrm>
          <a:prstGeom prst="rect">
            <a:avLst/>
          </a:prstGeom>
        </p:spPr>
      </p:pic>
      <p:cxnSp>
        <p:nvCxnSpPr>
          <p:cNvPr id="12" name="직선 연결선 11"/>
          <p:cNvCxnSpPr/>
          <p:nvPr/>
        </p:nvCxnSpPr>
        <p:spPr>
          <a:xfrm>
            <a:off x="6877050" y="924524"/>
            <a:ext cx="0" cy="553837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11048184" y="342900"/>
            <a:ext cx="93031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algn="r"/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UPDATE : 18.01.29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cxnSp>
        <p:nvCxnSpPr>
          <p:cNvPr id="21" name="직선 화살표 연결선 20"/>
          <p:cNvCxnSpPr/>
          <p:nvPr/>
        </p:nvCxnSpPr>
        <p:spPr>
          <a:xfrm flipV="1">
            <a:off x="6708379" y="2352675"/>
            <a:ext cx="635396" cy="914349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/>
          <p:cNvCxnSpPr/>
          <p:nvPr/>
        </p:nvCxnSpPr>
        <p:spPr>
          <a:xfrm>
            <a:off x="6708379" y="3295600"/>
            <a:ext cx="597296" cy="904925"/>
          </a:xfrm>
          <a:prstGeom prst="straightConnector1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23999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aphicFrame>
        <p:nvGraphicFramePr>
          <p:cNvPr id="221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5889474"/>
              </p:ext>
            </p:extLst>
          </p:nvPr>
        </p:nvGraphicFramePr>
        <p:xfrm>
          <a:off x="9290533" y="786383"/>
          <a:ext cx="2840477" cy="2462616"/>
        </p:xfrm>
        <a:graphic>
          <a:graphicData uri="http://schemas.openxmlformats.org/drawingml/2006/table">
            <a:tbl>
              <a:tblPr/>
              <a:tblGrid>
                <a:gridCol w="212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283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defRPr sz="1800"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달력내 일정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등록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수정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삭제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보기는 일정 메뉴의 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월간 뷰형태와 동일하므로 세부적 기능은 생략하였고</a:t>
                      </a:r>
                      <a: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br>
                        <a:rPr lang="en-US" altLang="ko-KR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800" b="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스퀘어 달력에만 적용되는 사항들만 정의하였음</a:t>
                      </a:r>
                      <a:endParaRPr lang="en-US" altLang="ko-KR" sz="800" b="0" baseline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endParaRPr kumimoji="1" lang="ko-KR" altLang="en-US" sz="75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222557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클릭시 일정을 등록할 수 있는 팝업 출력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en-US" altLang="ko-KR" sz="800" smtClean="0">
                          <a:solidFill>
                            <a:srgbClr val="0070C0"/>
                          </a:solidFill>
                          <a:latin typeface="HY견고딕" panose="02030600000101010101" pitchFamily="18" charset="-127"/>
                          <a:ea typeface="HY견고딕" panose="02030600000101010101" pitchFamily="18" charset="-127"/>
                        </a:rPr>
                        <a:t>&gt;</a:t>
                      </a:r>
                      <a:r>
                        <a:rPr kumimoji="1" lang="en-US" altLang="ko-KR" sz="800" smtClean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70</a:t>
                      </a:r>
                      <a:r>
                        <a:rPr kumimoji="1" lang="en-US" altLang="ko-KR" sz="800" smtClean="0">
                          <a:solidFill>
                            <a:srgbClr val="0070C0"/>
                          </a:solidFill>
                          <a:latin typeface="+mn-ea"/>
                        </a:rPr>
                        <a:t>page</a:t>
                      </a:r>
                    </a:p>
                    <a:p>
                      <a:pPr marL="182563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달력내 빈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 영역 클릭시에는 간편 등록 팝업 출력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달력뷰 형태에서 리스트 형태로 전환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스퀘어 일정 등록시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="1" smtClean="0">
                          <a:solidFill>
                            <a:schemeClr val="tx1"/>
                          </a:solidFill>
                          <a:latin typeface="+mn-ea"/>
                        </a:rPr>
                        <a:t>일정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 메뉴의 스퀘어 달력에도 해당 일정이 출력</a:t>
                      </a:r>
                      <a:endParaRPr kumimoji="1" lang="en-US" altLang="ko-KR" sz="80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일정 메뉴에서의 스퀘어 달력에서도 일정이 등록 가능하며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,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 등록시 스퀘어 달력에도 등록된 일정이 출력</a:t>
                      </a:r>
                      <a:endParaRPr kumimoji="1" lang="en-US" altLang="ko-KR" sz="80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스퀘어 달력에서 내 개인 일정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 정보는 출력하지 않음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체크시 플래그 일정만 출력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890239"/>
                  </a:ext>
                </a:extLst>
              </a:tr>
            </a:tbl>
          </a:graphicData>
        </a:graphic>
      </p:graphicFrame>
      <p:cxnSp>
        <p:nvCxnSpPr>
          <p:cNvPr id="231" name="직선 연결선[R] 7"/>
          <p:cNvCxnSpPr/>
          <p:nvPr/>
        </p:nvCxnSpPr>
        <p:spPr>
          <a:xfrm>
            <a:off x="1998965" y="1498689"/>
            <a:ext cx="667121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286" name="텍스트 상자 31"/>
          <p:cNvSpPr txBox="1"/>
          <p:nvPr/>
        </p:nvSpPr>
        <p:spPr>
          <a:xfrm>
            <a:off x="2108698" y="1274522"/>
            <a:ext cx="977361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1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2017.10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87" name="Group 532"/>
          <p:cNvGrpSpPr/>
          <p:nvPr/>
        </p:nvGrpSpPr>
        <p:grpSpPr>
          <a:xfrm>
            <a:off x="2828222" y="1286754"/>
            <a:ext cx="540610" cy="144000"/>
            <a:chOff x="3113961" y="1702107"/>
            <a:chExt cx="540610" cy="144000"/>
          </a:xfrm>
        </p:grpSpPr>
        <p:sp>
          <p:nvSpPr>
            <p:cNvPr id="289" name="Freeform 9"/>
            <p:cNvSpPr>
              <a:spLocks noChangeArrowheads="1"/>
            </p:cNvSpPr>
            <p:nvPr/>
          </p:nvSpPr>
          <p:spPr bwMode="auto">
            <a:xfrm>
              <a:off x="3113961" y="1741427"/>
              <a:ext cx="50409" cy="80656"/>
            </a:xfrm>
            <a:custGeom>
              <a:avLst/>
              <a:gdLst>
                <a:gd name="T0" fmla="*/ 243 w 244"/>
                <a:gd name="T1" fmla="*/ 44 h 387"/>
                <a:gd name="T2" fmla="*/ 199 w 244"/>
                <a:gd name="T3" fmla="*/ 0 h 387"/>
                <a:gd name="T4" fmla="*/ 0 w 244"/>
                <a:gd name="T5" fmla="*/ 193 h 387"/>
                <a:gd name="T6" fmla="*/ 199 w 244"/>
                <a:gd name="T7" fmla="*/ 386 h 387"/>
                <a:gd name="T8" fmla="*/ 243 w 244"/>
                <a:gd name="T9" fmla="*/ 343 h 387"/>
                <a:gd name="T10" fmla="*/ 94 w 244"/>
                <a:gd name="T11" fmla="*/ 193 h 387"/>
                <a:gd name="T12" fmla="*/ 243 w 244"/>
                <a:gd name="T13" fmla="*/ 44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387">
                  <a:moveTo>
                    <a:pt x="243" y="44"/>
                  </a:moveTo>
                  <a:lnTo>
                    <a:pt x="199" y="0"/>
                  </a:lnTo>
                  <a:lnTo>
                    <a:pt x="0" y="193"/>
                  </a:lnTo>
                  <a:lnTo>
                    <a:pt x="199" y="386"/>
                  </a:lnTo>
                  <a:lnTo>
                    <a:pt x="243" y="343"/>
                  </a:lnTo>
                  <a:lnTo>
                    <a:pt x="94" y="193"/>
                  </a:lnTo>
                  <a:lnTo>
                    <a:pt x="243" y="44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90" name="Freeform 10"/>
            <p:cNvSpPr>
              <a:spLocks noChangeArrowheads="1"/>
            </p:cNvSpPr>
            <p:nvPr/>
          </p:nvSpPr>
          <p:spPr bwMode="auto">
            <a:xfrm>
              <a:off x="3247594" y="1741427"/>
              <a:ext cx="49493" cy="80656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91" name="Rounded Rectangle 535"/>
            <p:cNvSpPr/>
            <p:nvPr/>
          </p:nvSpPr>
          <p:spPr>
            <a:xfrm>
              <a:off x="3373429" y="1702107"/>
              <a:ext cx="281142" cy="1440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오늘</a:t>
              </a:r>
              <a:endParaRPr 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22" name="Rounded Rectangle 944"/>
          <p:cNvSpPr/>
          <p:nvPr/>
        </p:nvSpPr>
        <p:spPr>
          <a:xfrm>
            <a:off x="7221969" y="1265041"/>
            <a:ext cx="509096" cy="180000"/>
          </a:xfrm>
          <a:prstGeom prst="roundRect">
            <a:avLst>
              <a:gd name="adj" fmla="val 8420"/>
            </a:avLst>
          </a:prstGeom>
          <a:solidFill>
            <a:schemeClr val="tx1">
              <a:lumMod val="50000"/>
              <a:lumOff val="50000"/>
            </a:schemeClr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700" b="1" dirty="0" smtClean="0">
                <a:solidFill>
                  <a:schemeClr val="bg1"/>
                </a:solidFill>
                <a:latin typeface="+mn-ea"/>
                <a:ea typeface="+mn-ea"/>
              </a:rPr>
              <a:t>    달력</a:t>
            </a:r>
            <a:endParaRPr kumimoji="1" lang="en-US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320" name="Rounded Rectangle 944"/>
          <p:cNvSpPr/>
          <p:nvPr/>
        </p:nvSpPr>
        <p:spPr>
          <a:xfrm>
            <a:off x="7731065" y="1265041"/>
            <a:ext cx="500543" cy="18000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r>
              <a:rPr kumimoji="1" lang="ko-KR" altLang="en-US" sz="700" dirty="0" smtClean="0">
                <a:latin typeface="+mn-ea"/>
                <a:ea typeface="+mn-ea"/>
              </a:rPr>
              <a:t>      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목록</a:t>
            </a:r>
            <a:endParaRPr kumimoji="1" 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17" name="Rectangle 625"/>
          <p:cNvSpPr/>
          <p:nvPr/>
        </p:nvSpPr>
        <p:spPr>
          <a:xfrm rot="16200000">
            <a:off x="7817591" y="1264412"/>
            <a:ext cx="36431" cy="1283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318" name="Rectangle 625"/>
          <p:cNvSpPr/>
          <p:nvPr/>
        </p:nvSpPr>
        <p:spPr>
          <a:xfrm rot="16200000">
            <a:off x="7817591" y="1297644"/>
            <a:ext cx="36431" cy="1283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319" name="Rectangle 625"/>
          <p:cNvSpPr/>
          <p:nvPr/>
        </p:nvSpPr>
        <p:spPr>
          <a:xfrm rot="16200000">
            <a:off x="7817591" y="1330876"/>
            <a:ext cx="36431" cy="1283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>
              <a:solidFill>
                <a:schemeClr val="tx1"/>
              </a:solidFill>
              <a:latin typeface="+mn-ea"/>
              <a:ea typeface="+mn-ea"/>
            </a:endParaRPr>
          </a:p>
        </p:txBody>
      </p:sp>
      <p:graphicFrame>
        <p:nvGraphicFramePr>
          <p:cNvPr id="326" name="Table 3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2361565"/>
              </p:ext>
            </p:extLst>
          </p:nvPr>
        </p:nvGraphicFramePr>
        <p:xfrm>
          <a:off x="2052099" y="1632341"/>
          <a:ext cx="6634698" cy="4895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8356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일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월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수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목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금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토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4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5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6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7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8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9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10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11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12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13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14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15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16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17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18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19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u="none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20</a:t>
                      </a:r>
                      <a:endParaRPr lang="en-US" sz="900" b="0" u="none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21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22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kern="120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23</a:t>
                      </a:r>
                      <a:endParaRPr lang="en-US" sz="900" b="0" kern="120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u="none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24</a:t>
                      </a:r>
                      <a:endParaRPr lang="en-US" sz="900" b="0" u="none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25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26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27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28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29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30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31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4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25" name="내용 개체 틀 24"/>
          <p:cNvPicPr>
            <a:picLocks noGrp="1" noChangeAspect="1"/>
          </p:cNvPicPr>
          <p:nvPr>
            <p:ph sz="quarter" idx="4294967295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08295" y="1295536"/>
            <a:ext cx="126000" cy="126000"/>
          </a:xfrm>
          <a:prstGeom prst="rect">
            <a:avLst/>
          </a:prstGeom>
        </p:spPr>
      </p:pic>
      <p:grpSp>
        <p:nvGrpSpPr>
          <p:cNvPr id="101" name="그룹 100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102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3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04" name="직선 연결선[R] 7"/>
            <p:cNvCxnSpPr/>
            <p:nvPr/>
          </p:nvCxnSpPr>
          <p:spPr>
            <a:xfrm>
              <a:off x="6109974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05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6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7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8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9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127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128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129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152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1" lang="ko-KR" altLang="en-US" dirty="0" smtClean="0"/>
              <a:t>일정</a:t>
            </a:r>
            <a:r>
              <a:rPr kumimoji="1" lang="en-US" altLang="ko-KR" dirty="0" smtClean="0"/>
              <a:t>_</a:t>
            </a:r>
            <a:r>
              <a:rPr kumimoji="1" lang="ko-KR" altLang="en-US" dirty="0" err="1" smtClean="0"/>
              <a:t>캘린더형</a:t>
            </a:r>
            <a:endParaRPr kumimoji="0" lang="ko-KR" altLang="en-US" dirty="0"/>
          </a:p>
        </p:txBody>
      </p:sp>
      <p:sp>
        <p:nvSpPr>
          <p:cNvPr id="153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SQ5.2.5.1</a:t>
            </a:r>
            <a:endParaRPr kumimoji="0" lang="ko-KR" altLang="en-US" dirty="0"/>
          </a:p>
        </p:txBody>
      </p:sp>
      <p:sp>
        <p:nvSpPr>
          <p:cNvPr id="154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/>
              <a:t>그룹 </a:t>
            </a:r>
            <a:r>
              <a:rPr kumimoji="0" lang="en-US" altLang="ko-KR"/>
              <a:t>&gt; </a:t>
            </a:r>
            <a:r>
              <a:rPr kumimoji="0" lang="ko-KR" altLang="en-US" smtClean="0"/>
              <a:t>일정</a:t>
            </a:r>
            <a:endParaRPr kumimoji="0" lang="ko-KR" altLang="en-US" dirty="0"/>
          </a:p>
        </p:txBody>
      </p:sp>
      <p:pic>
        <p:nvPicPr>
          <p:cNvPr id="160" name="그림 15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69684" y="1297409"/>
            <a:ext cx="126000" cy="126000"/>
          </a:xfrm>
          <a:prstGeom prst="rect">
            <a:avLst/>
          </a:prstGeom>
        </p:spPr>
      </p:pic>
      <p:grpSp>
        <p:nvGrpSpPr>
          <p:cNvPr id="2" name="그룹 1"/>
          <p:cNvGrpSpPr/>
          <p:nvPr/>
        </p:nvGrpSpPr>
        <p:grpSpPr>
          <a:xfrm>
            <a:off x="3962401" y="2984467"/>
            <a:ext cx="919386" cy="478928"/>
            <a:chOff x="3972149" y="2960650"/>
            <a:chExt cx="972000" cy="478928"/>
          </a:xfrm>
        </p:grpSpPr>
        <p:sp>
          <p:nvSpPr>
            <p:cNvPr id="151" name="Rectangle 14"/>
            <p:cNvSpPr>
              <a:spLocks/>
            </p:cNvSpPr>
            <p:nvPr/>
          </p:nvSpPr>
          <p:spPr bwMode="auto">
            <a:xfrm>
              <a:off x="3972149" y="2960650"/>
              <a:ext cx="972000" cy="14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 임원보고          오전</a:t>
              </a:r>
              <a:r>
                <a:rPr kumimoji="1" lang="en-US" altLang="ko-KR" sz="6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10</a:t>
              </a:r>
              <a:r>
                <a:rPr kumimoji="1" lang="ko-KR" altLang="en-US" sz="6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시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5" name="Rectangle 14"/>
            <p:cNvSpPr>
              <a:spLocks/>
            </p:cNvSpPr>
            <p:nvPr/>
          </p:nvSpPr>
          <p:spPr bwMode="auto">
            <a:xfrm>
              <a:off x="3972149" y="3128114"/>
              <a:ext cx="97200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고객미팅          </a:t>
              </a:r>
              <a:r>
                <a:rPr lang="ko-KR" altLang="en-US" sz="600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오후</a:t>
              </a:r>
              <a:r>
                <a:rPr lang="en-US" altLang="ko-KR" sz="600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1:30</a:t>
              </a:r>
              <a:endParaRPr lang="ko-KR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6" name="Rectangle 14"/>
            <p:cNvSpPr>
              <a:spLocks/>
            </p:cNvSpPr>
            <p:nvPr/>
          </p:nvSpPr>
          <p:spPr bwMode="auto">
            <a:xfrm>
              <a:off x="3972149" y="3295578"/>
              <a:ext cx="97200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고객영업회의      </a:t>
              </a:r>
              <a:r>
                <a:rPr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오후</a:t>
              </a:r>
              <a:r>
                <a:rPr lang="en-US" altLang="ko-KR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3:30</a:t>
              </a:r>
              <a:r>
                <a:rPr lang="ko-KR" altLang="en-US" sz="6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62" name="모서리가 둥근 직사각형 161"/>
          <p:cNvSpPr/>
          <p:nvPr/>
        </p:nvSpPr>
        <p:spPr>
          <a:xfrm>
            <a:off x="3992647" y="3529445"/>
            <a:ext cx="180000" cy="108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+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417625" y="1819697"/>
            <a:ext cx="484675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r"/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임시 공휴일</a:t>
            </a:r>
            <a:endParaRPr lang="ko-KR" altLang="en-US" sz="6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63" name="TextBox 162"/>
          <p:cNvSpPr txBox="1"/>
          <p:nvPr/>
        </p:nvSpPr>
        <p:spPr>
          <a:xfrm>
            <a:off x="4520218" y="2586459"/>
            <a:ext cx="382082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r"/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음</a:t>
            </a:r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)09.01</a:t>
            </a:r>
            <a:endParaRPr lang="ko-KR" altLang="en-US" sz="6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3437940" y="1266801"/>
            <a:ext cx="600660" cy="18099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일정 등록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9" name="타원 168"/>
          <p:cNvSpPr>
            <a:spLocks noChangeAspect="1"/>
          </p:cNvSpPr>
          <p:nvPr/>
        </p:nvSpPr>
        <p:spPr>
          <a:xfrm>
            <a:off x="3972776" y="1185316"/>
            <a:ext cx="152062" cy="153205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2" name="타원 171"/>
          <p:cNvSpPr>
            <a:spLocks noChangeAspect="1"/>
          </p:cNvSpPr>
          <p:nvPr/>
        </p:nvSpPr>
        <p:spPr>
          <a:xfrm>
            <a:off x="8135201" y="1185316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0" name="그림 59"/>
          <p:cNvPicPr>
            <a:picLocks noChangeAspect="1"/>
          </p:cNvPicPr>
          <p:nvPr/>
        </p:nvPicPr>
        <p:blipFill rotWithShape="1">
          <a:blip r:embed="rId6"/>
          <a:srcRect t="42880"/>
          <a:stretch/>
        </p:blipFill>
        <p:spPr>
          <a:xfrm>
            <a:off x="9376930" y="4529876"/>
            <a:ext cx="1207316" cy="2212855"/>
          </a:xfrm>
          <a:prstGeom prst="rect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</p:pic>
      <p:sp>
        <p:nvSpPr>
          <p:cNvPr id="61" name="TextBox 60"/>
          <p:cNvSpPr txBox="1"/>
          <p:nvPr/>
        </p:nvSpPr>
        <p:spPr>
          <a:xfrm>
            <a:off x="9338164" y="6073978"/>
            <a:ext cx="1225794" cy="2154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FF0000"/>
            </a:solidFill>
          </a:ln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■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A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통신사 서비스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3" name="타원 172"/>
          <p:cNvSpPr>
            <a:spLocks noChangeAspect="1"/>
          </p:cNvSpPr>
          <p:nvPr/>
        </p:nvSpPr>
        <p:spPr>
          <a:xfrm>
            <a:off x="9249626" y="5995441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67" name="직선 화살표 연결선 66"/>
          <p:cNvCxnSpPr/>
          <p:nvPr/>
        </p:nvCxnSpPr>
        <p:spPr>
          <a:xfrm>
            <a:off x="8505825" y="6203329"/>
            <a:ext cx="762000" cy="0"/>
          </a:xfrm>
          <a:prstGeom prst="straightConnector1">
            <a:avLst/>
          </a:prstGeom>
          <a:ln w="38100">
            <a:solidFill>
              <a:schemeClr val="tx1">
                <a:lumMod val="85000"/>
                <a:lumOff val="15000"/>
              </a:schemeClr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/>
          <p:cNvSpPr/>
          <p:nvPr/>
        </p:nvSpPr>
        <p:spPr>
          <a:xfrm>
            <a:off x="9382125" y="4656161"/>
            <a:ext cx="1181833" cy="121123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175" name="직선 화살표 연결선 174"/>
          <p:cNvCxnSpPr/>
          <p:nvPr/>
        </p:nvCxnSpPr>
        <p:spPr>
          <a:xfrm>
            <a:off x="8505825" y="5279404"/>
            <a:ext cx="762000" cy="0"/>
          </a:xfrm>
          <a:prstGeom prst="straightConnector1">
            <a:avLst/>
          </a:prstGeom>
          <a:ln w="38100">
            <a:solidFill>
              <a:schemeClr val="bg1">
                <a:lumMod val="75000"/>
              </a:schemeClr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8804190" y="5090680"/>
            <a:ext cx="212165" cy="369332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X</a:t>
            </a:r>
            <a:endParaRPr lang="ko-KR" altLang="en-US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96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"/>
            </p:custDataLst>
          </p:nvPr>
        </p:nvSpPr>
        <p:spPr>
          <a:xfrm>
            <a:off x="5792218" y="1307569"/>
            <a:ext cx="113282" cy="1116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 smtClean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7" name="Label" descr="&lt;SmartSettings&gt;&lt;SmartResize anchorLeft=&quot;Absolute&quot; anchorTop=&quot;Absolute&quot; anchorRight=&quot;Absolute&quot; anchorBottom=&quot;Absolute&quot; /&gt;&lt;/SmartSettings&gt;"/>
          <p:cNvSpPr txBox="1"/>
          <p:nvPr>
            <p:custDataLst>
              <p:tags r:id="rId2"/>
            </p:custDataLst>
          </p:nvPr>
        </p:nvSpPr>
        <p:spPr>
          <a:xfrm>
            <a:off x="5885674" y="1265333"/>
            <a:ext cx="1026178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플래그 일정만 보기</a:t>
            </a:r>
            <a:endParaRPr 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8" name="Check" descr="&lt;Tags&gt;&lt;SMARTRESIZEANCHORS&gt;None,None,Absolute,None&lt;/SMARTRESIZEANCHORS&gt;&lt;/Tags&gt;" hidden="1"/>
          <p:cNvSpPr>
            <a:spLocks noEditPoints="1"/>
          </p:cNvSpPr>
          <p:nvPr/>
        </p:nvSpPr>
        <p:spPr bwMode="auto">
          <a:xfrm>
            <a:off x="6261582" y="132856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0" name="타원 199"/>
          <p:cNvSpPr>
            <a:spLocks noChangeAspect="1"/>
          </p:cNvSpPr>
          <p:nvPr/>
        </p:nvSpPr>
        <p:spPr>
          <a:xfrm>
            <a:off x="5582501" y="1271041"/>
            <a:ext cx="152062" cy="153205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76" name="직선 화살표 연결선 75"/>
          <p:cNvCxnSpPr/>
          <p:nvPr/>
        </p:nvCxnSpPr>
        <p:spPr>
          <a:xfrm>
            <a:off x="4877273" y="3391276"/>
            <a:ext cx="809625" cy="0"/>
          </a:xfrm>
          <a:prstGeom prst="straightConnector1">
            <a:avLst/>
          </a:prstGeom>
          <a:ln w="38100">
            <a:solidFill>
              <a:schemeClr val="bg1">
                <a:lumMod val="85000"/>
              </a:schemeClr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/>
          <p:cNvSpPr txBox="1"/>
          <p:nvPr/>
        </p:nvSpPr>
        <p:spPr>
          <a:xfrm>
            <a:off x="9334500" y="4247360"/>
            <a:ext cx="717110" cy="246221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10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[</a:t>
            </a:r>
            <a:r>
              <a:rPr lang="ko-KR" altLang="en-US" sz="10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 </a:t>
            </a:r>
            <a:r>
              <a:rPr lang="en-US" altLang="ko-KR" sz="10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LNB]</a:t>
            </a:r>
            <a:endParaRPr lang="ko-KR" altLang="en-US" sz="10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249626" y="3980420"/>
            <a:ext cx="2329731" cy="307777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스퀘어에서 등록시 일정으로 데이터 전달이 실패할 경우</a:t>
            </a:r>
            <a:endParaRPr lang="en-US" altLang="ko-KR" sz="7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r>
              <a:rPr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스퀘어에서도 등록 실패 처리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07985" y="2984654"/>
            <a:ext cx="2902616" cy="1836051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191250" y="3984323"/>
            <a:ext cx="1478394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■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 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통신사 서비스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70" name="그림 6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83687" y="4320248"/>
            <a:ext cx="3011199" cy="2206175"/>
          </a:xfrm>
          <a:prstGeom prst="rect">
            <a:avLst/>
          </a:prstGeom>
        </p:spPr>
      </p:pic>
      <p:sp>
        <p:nvSpPr>
          <p:cNvPr id="71" name="직사각형 70"/>
          <p:cNvSpPr/>
          <p:nvPr/>
        </p:nvSpPr>
        <p:spPr>
          <a:xfrm>
            <a:off x="2069630" y="2773304"/>
            <a:ext cx="910637" cy="906874"/>
          </a:xfrm>
          <a:prstGeom prst="rect">
            <a:avLst/>
          </a:prstGeom>
          <a:solidFill>
            <a:srgbClr val="0070C0">
              <a:alpha val="41000"/>
            </a:srgbClr>
          </a:solidFill>
          <a:ln w="3175">
            <a:solidFill>
              <a:srgbClr val="0070C0"/>
            </a:solidFill>
            <a:prstDash val="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73" name="직선 화살표 연결선 72"/>
          <p:cNvCxnSpPr/>
          <p:nvPr/>
        </p:nvCxnSpPr>
        <p:spPr>
          <a:xfrm>
            <a:off x="2516364" y="3374637"/>
            <a:ext cx="0" cy="779214"/>
          </a:xfrm>
          <a:prstGeom prst="straightConnector1">
            <a:avLst/>
          </a:prstGeom>
          <a:ln w="3175">
            <a:solidFill>
              <a:srgbClr val="0070C0"/>
            </a:solidFill>
            <a:headEnd type="none" w="med" len="med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타원 73"/>
          <p:cNvSpPr/>
          <p:nvPr/>
        </p:nvSpPr>
        <p:spPr>
          <a:xfrm>
            <a:off x="2447925" y="3283155"/>
            <a:ext cx="137231" cy="136320"/>
          </a:xfrm>
          <a:prstGeom prst="ellipse">
            <a:avLst/>
          </a:prstGeom>
          <a:solidFill>
            <a:srgbClr val="0000FF">
              <a:alpha val="34000"/>
            </a:srgb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3286126" y="5256606"/>
            <a:ext cx="548546" cy="2004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23" name="직각 삼각형 122"/>
          <p:cNvSpPr/>
          <p:nvPr/>
        </p:nvSpPr>
        <p:spPr>
          <a:xfrm flipH="1">
            <a:off x="11280879" y="5753100"/>
            <a:ext cx="758721" cy="831984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>
                <a:solidFill>
                  <a:schemeClr val="bg1"/>
                </a:solidFill>
                <a:latin typeface="+mn-ea"/>
              </a:rPr>
              <a:t>01/22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>
                <a:solidFill>
                  <a:schemeClr val="bg1"/>
                </a:solidFill>
                <a:latin typeface="+mn-ea"/>
              </a:rPr>
              <a:t>수정</a:t>
            </a:r>
            <a:endParaRPr lang="ko-KR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9" name="직사각형 118"/>
          <p:cNvSpPr/>
          <p:nvPr/>
        </p:nvSpPr>
        <p:spPr>
          <a:xfrm>
            <a:off x="8302970" y="1261209"/>
            <a:ext cx="354278" cy="203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rgbClr val="0000FF"/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smtClean="0">
                <a:solidFill>
                  <a:schemeClr val="bg1"/>
                </a:solidFill>
                <a:latin typeface="+mn-ea"/>
                <a:ea typeface="+mn-ea"/>
              </a:rPr>
              <a:t>▼</a:t>
            </a:r>
            <a:endParaRPr lang="ko-KR" altLang="en-US" sz="6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20" name="Freeform 10"/>
          <p:cNvSpPr>
            <a:spLocks noChangeAspect="1" noChangeArrowheads="1"/>
          </p:cNvSpPr>
          <p:nvPr/>
        </p:nvSpPr>
        <p:spPr bwMode="auto">
          <a:xfrm>
            <a:off x="8375308" y="1317667"/>
            <a:ext cx="108001" cy="108000"/>
          </a:xfrm>
          <a:custGeom>
            <a:avLst/>
            <a:gdLst>
              <a:gd name="T0" fmla="*/ 332 w 471"/>
              <a:gd name="T1" fmla="*/ 296 h 471"/>
              <a:gd name="T2" fmla="*/ 312 w 471"/>
              <a:gd name="T3" fmla="*/ 296 h 471"/>
              <a:gd name="T4" fmla="*/ 307 w 471"/>
              <a:gd name="T5" fmla="*/ 286 h 471"/>
              <a:gd name="T6" fmla="*/ 348 w 471"/>
              <a:gd name="T7" fmla="*/ 173 h 471"/>
              <a:gd name="T8" fmla="*/ 174 w 471"/>
              <a:gd name="T9" fmla="*/ 0 h 471"/>
              <a:gd name="T10" fmla="*/ 0 w 471"/>
              <a:gd name="T11" fmla="*/ 173 h 471"/>
              <a:gd name="T12" fmla="*/ 174 w 471"/>
              <a:gd name="T13" fmla="*/ 347 h 471"/>
              <a:gd name="T14" fmla="*/ 286 w 471"/>
              <a:gd name="T15" fmla="*/ 306 h 471"/>
              <a:gd name="T16" fmla="*/ 296 w 471"/>
              <a:gd name="T17" fmla="*/ 311 h 471"/>
              <a:gd name="T18" fmla="*/ 296 w 471"/>
              <a:gd name="T19" fmla="*/ 337 h 471"/>
              <a:gd name="T20" fmla="*/ 429 w 471"/>
              <a:gd name="T21" fmla="*/ 470 h 471"/>
              <a:gd name="T22" fmla="*/ 470 w 471"/>
              <a:gd name="T23" fmla="*/ 429 h 471"/>
              <a:gd name="T24" fmla="*/ 332 w 471"/>
              <a:gd name="T25" fmla="*/ 296 h 471"/>
              <a:gd name="T26" fmla="*/ 174 w 471"/>
              <a:gd name="T27" fmla="*/ 296 h 471"/>
              <a:gd name="T28" fmla="*/ 56 w 471"/>
              <a:gd name="T29" fmla="*/ 173 h 471"/>
              <a:gd name="T30" fmla="*/ 174 w 471"/>
              <a:gd name="T31" fmla="*/ 56 h 471"/>
              <a:gd name="T32" fmla="*/ 296 w 471"/>
              <a:gd name="T33" fmla="*/ 173 h 471"/>
              <a:gd name="T34" fmla="*/ 174 w 471"/>
              <a:gd name="T35" fmla="*/ 296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71" h="471">
                <a:moveTo>
                  <a:pt x="332" y="296"/>
                </a:moveTo>
                <a:lnTo>
                  <a:pt x="312" y="296"/>
                </a:lnTo>
                <a:lnTo>
                  <a:pt x="307" y="286"/>
                </a:lnTo>
                <a:cubicBezTo>
                  <a:pt x="332" y="255"/>
                  <a:pt x="348" y="219"/>
                  <a:pt x="348" y="173"/>
                </a:cubicBezTo>
                <a:cubicBezTo>
                  <a:pt x="348" y="76"/>
                  <a:pt x="271" y="0"/>
                  <a:pt x="174" y="0"/>
                </a:cubicBezTo>
                <a:cubicBezTo>
                  <a:pt x="77" y="0"/>
                  <a:pt x="0" y="76"/>
                  <a:pt x="0" y="173"/>
                </a:cubicBezTo>
                <a:cubicBezTo>
                  <a:pt x="0" y="270"/>
                  <a:pt x="77" y="347"/>
                  <a:pt x="174" y="347"/>
                </a:cubicBezTo>
                <a:cubicBezTo>
                  <a:pt x="215" y="347"/>
                  <a:pt x="256" y="332"/>
                  <a:pt x="286" y="306"/>
                </a:cubicBezTo>
                <a:lnTo>
                  <a:pt x="296" y="311"/>
                </a:lnTo>
                <a:lnTo>
                  <a:pt x="296" y="337"/>
                </a:lnTo>
                <a:lnTo>
                  <a:pt x="429" y="470"/>
                </a:lnTo>
                <a:lnTo>
                  <a:pt x="470" y="429"/>
                </a:lnTo>
                <a:lnTo>
                  <a:pt x="332" y="296"/>
                </a:lnTo>
                <a:close/>
                <a:moveTo>
                  <a:pt x="174" y="296"/>
                </a:moveTo>
                <a:cubicBezTo>
                  <a:pt x="107" y="296"/>
                  <a:pt x="56" y="240"/>
                  <a:pt x="56" y="173"/>
                </a:cubicBezTo>
                <a:cubicBezTo>
                  <a:pt x="56" y="107"/>
                  <a:pt x="107" y="56"/>
                  <a:pt x="174" y="56"/>
                </a:cubicBezTo>
                <a:cubicBezTo>
                  <a:pt x="240" y="56"/>
                  <a:pt x="296" y="107"/>
                  <a:pt x="296" y="173"/>
                </a:cubicBezTo>
                <a:cubicBezTo>
                  <a:pt x="296" y="240"/>
                  <a:pt x="240" y="296"/>
                  <a:pt x="174" y="2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/>
          </a:p>
        </p:txBody>
      </p:sp>
      <p:sp>
        <p:nvSpPr>
          <p:cNvPr id="55" name="직사각형 54"/>
          <p:cNvSpPr/>
          <p:nvPr/>
        </p:nvSpPr>
        <p:spPr>
          <a:xfrm>
            <a:off x="6143625" y="3619500"/>
            <a:ext cx="1095375" cy="152400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6175630" y="3600630"/>
            <a:ext cx="407731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매일 반복</a:t>
            </a:r>
            <a:endParaRPr lang="ko-KR" altLang="en-US" sz="6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22417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89" name="그룹 88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90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91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92" name="직선 연결선[R] 7"/>
            <p:cNvCxnSpPr/>
            <p:nvPr/>
          </p:nvCxnSpPr>
          <p:spPr>
            <a:xfrm>
              <a:off x="6109974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93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94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95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96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97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01" name="모서리가 둥근 직사각형 100"/>
          <p:cNvSpPr/>
          <p:nvPr/>
        </p:nvSpPr>
        <p:spPr>
          <a:xfrm>
            <a:off x="2098985" y="3487377"/>
            <a:ext cx="6571189" cy="1500031"/>
          </a:xfrm>
          <a:prstGeom prst="roundRect">
            <a:avLst>
              <a:gd name="adj" fmla="val 6561"/>
            </a:avLst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2179595" y="3498827"/>
            <a:ext cx="380480" cy="52322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ctr"/>
            <a:r>
              <a:rPr lang="en-US" altLang="ko-KR" sz="2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12</a:t>
            </a:r>
          </a:p>
          <a:p>
            <a:pPr algn="ctr"/>
            <a:r>
              <a:rPr lang="ko-KR" altLang="en-US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목요일</a:t>
            </a:r>
            <a:endParaRPr lang="en-US" altLang="ko-KR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2828222" y="3550872"/>
            <a:ext cx="2704834" cy="40011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ts val="1200"/>
              </a:lnSpc>
            </a:pP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화면 상세 </a:t>
            </a:r>
            <a:r>
              <a: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내부 </a:t>
            </a: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회의</a:t>
            </a:r>
            <a:endParaRPr lang="en-US" altLang="ko-KR" sz="9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ts val="1200"/>
              </a:lnSpc>
            </a:pP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2017-12-12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목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10:00 ~2017-12-14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토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01:00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cxnSp>
        <p:nvCxnSpPr>
          <p:cNvPr id="233" name="직선 연결선 232"/>
          <p:cNvCxnSpPr/>
          <p:nvPr/>
        </p:nvCxnSpPr>
        <p:spPr>
          <a:xfrm>
            <a:off x="2731698" y="4004843"/>
            <a:ext cx="411995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109"/>
          <p:cNvSpPr txBox="1"/>
          <p:nvPr/>
        </p:nvSpPr>
        <p:spPr>
          <a:xfrm>
            <a:off x="2828222" y="4024747"/>
            <a:ext cx="2009131" cy="40011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ts val="1200"/>
              </a:lnSpc>
            </a:pP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 화면 상세 </a:t>
            </a:r>
            <a:r>
              <a: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내부 </a:t>
            </a: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회의 </a:t>
            </a:r>
            <a:endParaRPr lang="en-US" altLang="ko-KR" sz="9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ts val="1200"/>
              </a:lnSpc>
            </a:pP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2017-12-12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목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오전 </a:t>
            </a:r>
            <a:r>
              <a:rPr lang="en-US" altLang="ko-KR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10:00 ~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오후 </a:t>
            </a:r>
            <a:r>
              <a:rPr lang="en-US" altLang="ko-KR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01:00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cxnSp>
        <p:nvCxnSpPr>
          <p:cNvPr id="111" name="직선 연결선 110"/>
          <p:cNvCxnSpPr/>
          <p:nvPr/>
        </p:nvCxnSpPr>
        <p:spPr>
          <a:xfrm>
            <a:off x="2731698" y="4478718"/>
            <a:ext cx="411995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2828222" y="4507105"/>
            <a:ext cx="2009131" cy="40011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ts val="1200"/>
              </a:lnSpc>
            </a:pP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설비 화면 상세 </a:t>
            </a:r>
            <a:r>
              <a: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내부 </a:t>
            </a: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회의 </a:t>
            </a:r>
            <a:r>
              <a:rPr lang="en-US" altLang="ko-KR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/>
            </a:r>
            <a:br>
              <a:rPr lang="en-US" altLang="ko-KR" sz="9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</a:br>
            <a:r>
              <a:rPr lang="en-US" altLang="ko-KR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2017-12-12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목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11:00 ~ 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03:00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2098985" y="5064129"/>
            <a:ext cx="6571189" cy="5265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2179596" y="5057473"/>
            <a:ext cx="380480" cy="52322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ctr"/>
            <a:r>
              <a:rPr lang="en-US" altLang="ko-KR" sz="2000" b="1" smtClean="0">
                <a:solidFill>
                  <a:srgbClr val="0070C0"/>
                </a:solidFill>
                <a:latin typeface="+mn-ea"/>
                <a:ea typeface="+mn-ea"/>
              </a:rPr>
              <a:t>14</a:t>
            </a:r>
            <a:endParaRPr lang="en-US" altLang="ko-KR" sz="2000" b="1" dirty="0" smtClean="0">
              <a:solidFill>
                <a:srgbClr val="0070C0"/>
              </a:solidFill>
              <a:latin typeface="+mn-ea"/>
              <a:ea typeface="+mn-ea"/>
            </a:endParaRPr>
          </a:p>
          <a:p>
            <a:pPr algn="ctr"/>
            <a:r>
              <a:rPr lang="ko-KR" altLang="en-US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토요일</a:t>
            </a:r>
            <a:endParaRPr lang="en-US" altLang="ko-KR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28222" y="5136677"/>
            <a:ext cx="2704834" cy="40011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>
              <a:lnSpc>
                <a:spcPts val="1200"/>
              </a:lnSpc>
            </a:pPr>
            <a:r>
              <a:rPr lang="ko-KR" altLang="en-US" sz="9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스퀘어 화면 상세 내부 회의</a:t>
            </a:r>
            <a:endParaRPr lang="en-US" altLang="ko-KR" sz="900" b="1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lvl="0">
              <a:lnSpc>
                <a:spcPts val="1200"/>
              </a:lnSpc>
            </a:pP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2017-12-12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목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오전 </a:t>
            </a:r>
            <a:r>
              <a:rPr lang="en-US" altLang="ko-KR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10:00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~2017-12-14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토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01:00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모서리가 둥근 직사각형 120"/>
          <p:cNvSpPr/>
          <p:nvPr/>
        </p:nvSpPr>
        <p:spPr>
          <a:xfrm>
            <a:off x="2098985" y="1577896"/>
            <a:ext cx="6571189" cy="5265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22" name="TextBox 121"/>
          <p:cNvSpPr txBox="1"/>
          <p:nvPr/>
        </p:nvSpPr>
        <p:spPr>
          <a:xfrm>
            <a:off x="2207547" y="1553134"/>
            <a:ext cx="380481" cy="52322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ctr"/>
            <a:r>
              <a:rPr lang="en-US" altLang="ko-KR" sz="20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9</a:t>
            </a:r>
          </a:p>
          <a:p>
            <a:pPr algn="ctr"/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월요일</a:t>
            </a:r>
            <a:endParaRPr lang="en-US" altLang="ko-KR" sz="800" dirty="0" smtClean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828222" y="1599072"/>
            <a:ext cx="2406675" cy="484748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u="sng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스퀘어 화면 설계 마무리 </a:t>
            </a:r>
            <a:endParaRPr lang="en-US" altLang="ko-KR" sz="900" u="sng" dirty="0" smtClean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    2017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년 </a:t>
            </a: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10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월 </a:t>
            </a: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11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일 </a:t>
            </a: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월</a:t>
            </a: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)    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하루 종일 </a:t>
            </a:r>
            <a:r>
              <a:rPr lang="ko-KR" altLang="en-US" sz="800" dirty="0" err="1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ㅣ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 팔라우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098985" y="2179150"/>
            <a:ext cx="6571189" cy="1221275"/>
          </a:xfrm>
          <a:prstGeom prst="roundRect">
            <a:avLst>
              <a:gd name="adj" fmla="val 6947"/>
            </a:avLst>
          </a:prstGeom>
          <a:solidFill>
            <a:schemeClr val="bg1">
              <a:lumMod val="95000"/>
            </a:schemeClr>
          </a:solidFill>
          <a:ln w="285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2179595" y="2190600"/>
            <a:ext cx="380480" cy="52322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ctr"/>
            <a:r>
              <a:rPr lang="en-US" altLang="ko-KR" sz="2000" b="1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10</a:t>
            </a:r>
          </a:p>
          <a:p>
            <a:pPr algn="ctr"/>
            <a:r>
              <a:rPr lang="ko-KR" altLang="en-US" sz="800" dirty="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화요일</a:t>
            </a:r>
            <a:endParaRPr lang="en-US" altLang="ko-KR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2828222" y="2287910"/>
            <a:ext cx="1534642" cy="40011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>
              <a:lnSpc>
                <a:spcPts val="1200"/>
              </a:lnSpc>
            </a:pPr>
            <a:r>
              <a:rPr lang="ko-KR" altLang="en-US" sz="900" b="1" u="sng" smtClean="0">
                <a:solidFill>
                  <a:srgbClr val="0070C0"/>
                </a:solidFill>
                <a:latin typeface="+mn-ea"/>
                <a:ea typeface="+mn-ea"/>
              </a:rPr>
              <a:t>스퀘어 화면 설계 마무리</a:t>
            </a:r>
            <a:r>
              <a:rPr lang="en-US" altLang="ko-KR" sz="9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/>
            </a:r>
            <a:br>
              <a:rPr lang="en-US" altLang="ko-KR" sz="9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</a:b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2017-12-10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화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종일 ㅣ 바하마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46" name="직선 연결선 145"/>
          <p:cNvCxnSpPr/>
          <p:nvPr/>
        </p:nvCxnSpPr>
        <p:spPr>
          <a:xfrm>
            <a:off x="2731698" y="2696616"/>
            <a:ext cx="411995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2828222" y="2708302"/>
            <a:ext cx="1969056" cy="45397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설비 화면 상세 설계 </a:t>
            </a:r>
            <a:endParaRPr lang="en-US" altLang="ko-KR" sz="9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ts val="1200"/>
              </a:lnSpc>
            </a:pP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2017-12-10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화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10:00 ~ 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오후 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01:00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2098985" y="5655966"/>
            <a:ext cx="6571189" cy="5265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2179595" y="5649310"/>
            <a:ext cx="380480" cy="52322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ctr"/>
            <a:r>
              <a:rPr lang="en-US" altLang="ko-KR" sz="2000" b="1" smtClean="0">
                <a:solidFill>
                  <a:srgbClr val="FF0000"/>
                </a:solidFill>
                <a:latin typeface="+mn-ea"/>
                <a:ea typeface="+mn-ea"/>
              </a:rPr>
              <a:t>15</a:t>
            </a:r>
            <a:endParaRPr lang="en-US" altLang="ko-KR" sz="2000" b="1" dirty="0" smtClean="0">
              <a:solidFill>
                <a:srgbClr val="FF0000"/>
              </a:solidFill>
              <a:latin typeface="+mn-ea"/>
              <a:ea typeface="+mn-ea"/>
            </a:endParaRPr>
          </a:p>
          <a:p>
            <a:pPr algn="ctr"/>
            <a:r>
              <a:rPr lang="ko-KR" altLang="en-US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일요일</a:t>
            </a:r>
            <a:endParaRPr lang="en-US" altLang="ko-KR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2828222" y="5719461"/>
            <a:ext cx="1969056" cy="400110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>
              <a:lnSpc>
                <a:spcPts val="1200"/>
              </a:lnSpc>
            </a:pPr>
            <a:r>
              <a:rPr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 주간 </a:t>
            </a:r>
            <a:r>
              <a: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회의 </a:t>
            </a:r>
            <a:endParaRPr lang="en-US" altLang="ko-KR" sz="900" b="1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lvl="0">
              <a:lnSpc>
                <a:spcPts val="1200"/>
              </a:lnSpc>
            </a:pP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2017-12-15 (</a:t>
            </a:r>
            <a:r>
              <a:rPr lang="ko-KR" altLang="en-US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일</a:t>
            </a:r>
            <a:r>
              <a:rPr lang="en-US" altLang="ko-KR" sz="80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)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오전 </a:t>
            </a:r>
            <a:r>
              <a:rPr lang="en-US" altLang="ko-KR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10:00 ~ </a:t>
            </a:r>
            <a:r>
              <a:rPr lang="ko-KR" altLang="en-US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오후 </a:t>
            </a:r>
            <a:r>
              <a:rPr lang="en-US" altLang="ko-KR" sz="80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" charset="0"/>
              </a:rPr>
              <a:t>01:00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2" name="텍스트 상자 31"/>
          <p:cNvSpPr txBox="1"/>
          <p:nvPr/>
        </p:nvSpPr>
        <p:spPr>
          <a:xfrm>
            <a:off x="5178174" y="2329919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u="sng" dirty="0" err="1" smtClean="0">
                <a:solidFill>
                  <a:srgbClr val="0070C0"/>
                </a:solidFill>
                <a:latin typeface="+mn-ea"/>
                <a:ea typeface="+mn-ea"/>
              </a:rPr>
              <a:t>강미나</a:t>
            </a:r>
            <a:endParaRPr lang="ko-KR" altLang="en-US" sz="800" u="sng" dirty="0">
              <a:solidFill>
                <a:srgbClr val="0070C0"/>
              </a:solidFill>
              <a:latin typeface="+mn-ea"/>
              <a:ea typeface="+mn-ea"/>
            </a:endParaRPr>
          </a:p>
        </p:txBody>
      </p:sp>
      <p:sp>
        <p:nvSpPr>
          <p:cNvPr id="143" name="텍스트 상자 31"/>
          <p:cNvSpPr txBox="1"/>
          <p:nvPr/>
        </p:nvSpPr>
        <p:spPr>
          <a:xfrm>
            <a:off x="5178174" y="1667130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4" name="텍스트 상자 31"/>
          <p:cNvSpPr txBox="1"/>
          <p:nvPr/>
        </p:nvSpPr>
        <p:spPr>
          <a:xfrm>
            <a:off x="5178174" y="2800228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2" name="텍스트 상자 31"/>
          <p:cNvSpPr txBox="1"/>
          <p:nvPr/>
        </p:nvSpPr>
        <p:spPr>
          <a:xfrm>
            <a:off x="5178174" y="3584297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9" name="텍스트 상자 31"/>
          <p:cNvSpPr txBox="1"/>
          <p:nvPr/>
        </p:nvSpPr>
        <p:spPr>
          <a:xfrm>
            <a:off x="5178174" y="4083652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5" name="텍스트 상자 31"/>
          <p:cNvSpPr txBox="1"/>
          <p:nvPr/>
        </p:nvSpPr>
        <p:spPr>
          <a:xfrm>
            <a:off x="5178174" y="4563014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9" name="텍스트 상자 31"/>
          <p:cNvSpPr txBox="1"/>
          <p:nvPr/>
        </p:nvSpPr>
        <p:spPr>
          <a:xfrm>
            <a:off x="5178174" y="5160542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0" name="텍스트 상자 31"/>
          <p:cNvSpPr txBox="1"/>
          <p:nvPr/>
        </p:nvSpPr>
        <p:spPr>
          <a:xfrm>
            <a:off x="5178174" y="5748075"/>
            <a:ext cx="1669851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800" dirty="0" err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홍난희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63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165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166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155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1" lang="ko-KR" altLang="en-US" smtClean="0"/>
              <a:t>일정</a:t>
            </a:r>
            <a:r>
              <a:rPr kumimoji="1" lang="en-US" altLang="ko-KR" smtClean="0"/>
              <a:t>_</a:t>
            </a:r>
            <a:r>
              <a:rPr kumimoji="1" lang="ko-KR" altLang="en-US" smtClean="0"/>
              <a:t>목록형</a:t>
            </a:r>
            <a:endParaRPr kumimoji="0" lang="ko-KR" altLang="en-US" dirty="0"/>
          </a:p>
        </p:txBody>
      </p:sp>
      <p:sp>
        <p:nvSpPr>
          <p:cNvPr id="156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/>
              <a:t>그룹 </a:t>
            </a:r>
            <a:r>
              <a:rPr kumimoji="0" lang="en-US" altLang="ko-KR"/>
              <a:t>&gt; </a:t>
            </a:r>
            <a:r>
              <a:rPr kumimoji="0" lang="ko-KR" altLang="en-US" smtClean="0"/>
              <a:t>일정</a:t>
            </a:r>
            <a:endParaRPr kumimoji="0" lang="ko-KR" altLang="en-US" dirty="0"/>
          </a:p>
        </p:txBody>
      </p:sp>
      <p:sp>
        <p:nvSpPr>
          <p:cNvPr id="160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smtClean="0"/>
              <a:t>SQ5.2.5.2</a:t>
            </a:r>
            <a:endParaRPr kumimoji="0" lang="ko-KR" altLang="en-US" dirty="0"/>
          </a:p>
        </p:txBody>
      </p:sp>
      <p:sp>
        <p:nvSpPr>
          <p:cNvPr id="136" name="TextBox 135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38" name="Freeform 417"/>
          <p:cNvSpPr>
            <a:spLocks noChangeAspect="1"/>
          </p:cNvSpPr>
          <p:nvPr/>
        </p:nvSpPr>
        <p:spPr>
          <a:xfrm>
            <a:off x="2681740" y="2334140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39" name="Freeform 417"/>
          <p:cNvSpPr>
            <a:spLocks noChangeAspect="1"/>
          </p:cNvSpPr>
          <p:nvPr/>
        </p:nvSpPr>
        <p:spPr>
          <a:xfrm>
            <a:off x="2681740" y="2781815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rgbClr val="FF000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48" name="Freeform 417"/>
          <p:cNvSpPr>
            <a:spLocks noChangeAspect="1"/>
          </p:cNvSpPr>
          <p:nvPr/>
        </p:nvSpPr>
        <p:spPr>
          <a:xfrm>
            <a:off x="2681740" y="3610490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52" name="Freeform 417"/>
          <p:cNvSpPr>
            <a:spLocks noChangeAspect="1"/>
          </p:cNvSpPr>
          <p:nvPr/>
        </p:nvSpPr>
        <p:spPr>
          <a:xfrm>
            <a:off x="2681740" y="4077215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53" name="Freeform 417"/>
          <p:cNvSpPr>
            <a:spLocks noChangeAspect="1"/>
          </p:cNvSpPr>
          <p:nvPr/>
        </p:nvSpPr>
        <p:spPr>
          <a:xfrm>
            <a:off x="2681740" y="5182115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57" name="Freeform 417"/>
          <p:cNvSpPr>
            <a:spLocks noChangeAspect="1"/>
          </p:cNvSpPr>
          <p:nvPr/>
        </p:nvSpPr>
        <p:spPr>
          <a:xfrm>
            <a:off x="2681740" y="5744090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59" name="Freeform 417"/>
          <p:cNvSpPr>
            <a:spLocks noChangeAspect="1"/>
          </p:cNvSpPr>
          <p:nvPr/>
        </p:nvSpPr>
        <p:spPr>
          <a:xfrm>
            <a:off x="2681740" y="1667390"/>
            <a:ext cx="126546" cy="140162"/>
          </a:xfrm>
          <a:custGeom>
            <a:avLst/>
            <a:gdLst>
              <a:gd name="connsiteX0" fmla="*/ 117278 w 469114"/>
              <a:gd name="connsiteY0" fmla="*/ 1103 h 519583"/>
              <a:gd name="connsiteX1" fmla="*/ 469114 w 469114"/>
              <a:gd name="connsiteY1" fmla="*/ 42904 h 519583"/>
              <a:gd name="connsiteX2" fmla="*/ 469114 w 469114"/>
              <a:gd name="connsiteY2" fmla="*/ 310429 h 519583"/>
              <a:gd name="connsiteX3" fmla="*/ 58639 w 469114"/>
              <a:gd name="connsiteY3" fmla="*/ 273853 h 519583"/>
              <a:gd name="connsiteX4" fmla="*/ 51898 w 469114"/>
              <a:gd name="connsiteY4" fmla="*/ 277007 h 519583"/>
              <a:gd name="connsiteX5" fmla="*/ 51898 w 469114"/>
              <a:gd name="connsiteY5" fmla="*/ 519583 h 519583"/>
              <a:gd name="connsiteX6" fmla="*/ 6179 w 469114"/>
              <a:gd name="connsiteY6" fmla="*/ 519583 h 519583"/>
              <a:gd name="connsiteX7" fmla="*/ 6179 w 469114"/>
              <a:gd name="connsiteY7" fmla="*/ 305611 h 519583"/>
              <a:gd name="connsiteX8" fmla="*/ 0 w 469114"/>
              <a:gd name="connsiteY8" fmla="*/ 310429 h 519583"/>
              <a:gd name="connsiteX9" fmla="*/ 0 w 469114"/>
              <a:gd name="connsiteY9" fmla="*/ 42904 h 519583"/>
              <a:gd name="connsiteX10" fmla="*/ 117278 w 469114"/>
              <a:gd name="connsiteY10" fmla="*/ 1103 h 519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114" h="519583">
                <a:moveTo>
                  <a:pt x="117278" y="1103"/>
                </a:moveTo>
                <a:cubicBezTo>
                  <a:pt x="234557" y="15036"/>
                  <a:pt x="351836" y="154373"/>
                  <a:pt x="469114" y="42904"/>
                </a:cubicBezTo>
                <a:lnTo>
                  <a:pt x="469114" y="310429"/>
                </a:lnTo>
                <a:cubicBezTo>
                  <a:pt x="332289" y="440476"/>
                  <a:pt x="195464" y="229150"/>
                  <a:pt x="58639" y="273853"/>
                </a:cubicBezTo>
                <a:lnTo>
                  <a:pt x="51898" y="277007"/>
                </a:lnTo>
                <a:lnTo>
                  <a:pt x="51898" y="519583"/>
                </a:lnTo>
                <a:lnTo>
                  <a:pt x="6179" y="519583"/>
                </a:lnTo>
                <a:lnTo>
                  <a:pt x="6179" y="305611"/>
                </a:lnTo>
                <a:lnTo>
                  <a:pt x="0" y="310429"/>
                </a:lnTo>
                <a:lnTo>
                  <a:pt x="0" y="42904"/>
                </a:lnTo>
                <a:cubicBezTo>
                  <a:pt x="39093" y="5748"/>
                  <a:pt x="78186" y="-3542"/>
                  <a:pt x="117278" y="110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cxnSp>
        <p:nvCxnSpPr>
          <p:cNvPr id="176" name="직선 연결선[R] 7"/>
          <p:cNvCxnSpPr/>
          <p:nvPr/>
        </p:nvCxnSpPr>
        <p:spPr>
          <a:xfrm>
            <a:off x="1998965" y="1498689"/>
            <a:ext cx="667121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77" name="텍스트 상자 31"/>
          <p:cNvSpPr txBox="1"/>
          <p:nvPr/>
        </p:nvSpPr>
        <p:spPr>
          <a:xfrm>
            <a:off x="2108698" y="1274522"/>
            <a:ext cx="977361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1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2017.10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89" name="Group 532"/>
          <p:cNvGrpSpPr/>
          <p:nvPr/>
        </p:nvGrpSpPr>
        <p:grpSpPr>
          <a:xfrm>
            <a:off x="2828222" y="1286754"/>
            <a:ext cx="540610" cy="144000"/>
            <a:chOff x="3113961" y="1702107"/>
            <a:chExt cx="540610" cy="144000"/>
          </a:xfrm>
        </p:grpSpPr>
        <p:sp>
          <p:nvSpPr>
            <p:cNvPr id="190" name="Freeform 9"/>
            <p:cNvSpPr>
              <a:spLocks noChangeArrowheads="1"/>
            </p:cNvSpPr>
            <p:nvPr/>
          </p:nvSpPr>
          <p:spPr bwMode="auto">
            <a:xfrm>
              <a:off x="3113961" y="1741427"/>
              <a:ext cx="50409" cy="80656"/>
            </a:xfrm>
            <a:custGeom>
              <a:avLst/>
              <a:gdLst>
                <a:gd name="T0" fmla="*/ 243 w 244"/>
                <a:gd name="T1" fmla="*/ 44 h 387"/>
                <a:gd name="T2" fmla="*/ 199 w 244"/>
                <a:gd name="T3" fmla="*/ 0 h 387"/>
                <a:gd name="T4" fmla="*/ 0 w 244"/>
                <a:gd name="T5" fmla="*/ 193 h 387"/>
                <a:gd name="T6" fmla="*/ 199 w 244"/>
                <a:gd name="T7" fmla="*/ 386 h 387"/>
                <a:gd name="T8" fmla="*/ 243 w 244"/>
                <a:gd name="T9" fmla="*/ 343 h 387"/>
                <a:gd name="T10" fmla="*/ 94 w 244"/>
                <a:gd name="T11" fmla="*/ 193 h 387"/>
                <a:gd name="T12" fmla="*/ 243 w 244"/>
                <a:gd name="T13" fmla="*/ 44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387">
                  <a:moveTo>
                    <a:pt x="243" y="44"/>
                  </a:moveTo>
                  <a:lnTo>
                    <a:pt x="199" y="0"/>
                  </a:lnTo>
                  <a:lnTo>
                    <a:pt x="0" y="193"/>
                  </a:lnTo>
                  <a:lnTo>
                    <a:pt x="199" y="386"/>
                  </a:lnTo>
                  <a:lnTo>
                    <a:pt x="243" y="343"/>
                  </a:lnTo>
                  <a:lnTo>
                    <a:pt x="94" y="193"/>
                  </a:lnTo>
                  <a:lnTo>
                    <a:pt x="243" y="44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191" name="Freeform 10"/>
            <p:cNvSpPr>
              <a:spLocks noChangeArrowheads="1"/>
            </p:cNvSpPr>
            <p:nvPr/>
          </p:nvSpPr>
          <p:spPr bwMode="auto">
            <a:xfrm>
              <a:off x="3247594" y="1741427"/>
              <a:ext cx="49493" cy="80656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192" name="Rounded Rectangle 535"/>
            <p:cNvSpPr/>
            <p:nvPr/>
          </p:nvSpPr>
          <p:spPr>
            <a:xfrm>
              <a:off x="3373429" y="1702107"/>
              <a:ext cx="281142" cy="1440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오늘</a:t>
              </a:r>
              <a:endParaRPr 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202" name="모서리가 둥근 직사각형 201"/>
          <p:cNvSpPr/>
          <p:nvPr/>
        </p:nvSpPr>
        <p:spPr>
          <a:xfrm>
            <a:off x="3437940" y="1266801"/>
            <a:ext cx="600660" cy="18099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일정 등록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211" name="직선 화살표 연결선 210"/>
          <p:cNvCxnSpPr/>
          <p:nvPr/>
        </p:nvCxnSpPr>
        <p:spPr>
          <a:xfrm>
            <a:off x="8848725" y="1511802"/>
            <a:ext cx="0" cy="5062608"/>
          </a:xfrm>
          <a:prstGeom prst="straightConnector1">
            <a:avLst/>
          </a:prstGeom>
          <a:ln w="19050"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 rot="5400000">
            <a:off x="8655992" y="3822438"/>
            <a:ext cx="560016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scroll area</a:t>
            </a:r>
            <a:endParaRPr lang="ko-KR" altLang="en-US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2" name="타원 211"/>
          <p:cNvSpPr>
            <a:spLocks noChangeAspect="1"/>
          </p:cNvSpPr>
          <p:nvPr/>
        </p:nvSpPr>
        <p:spPr>
          <a:xfrm>
            <a:off x="2029676" y="1528216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3" name="타원 212"/>
          <p:cNvSpPr>
            <a:spLocks noChangeAspect="1"/>
          </p:cNvSpPr>
          <p:nvPr/>
        </p:nvSpPr>
        <p:spPr>
          <a:xfrm>
            <a:off x="2029676" y="2137816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2858410" y="3134758"/>
            <a:ext cx="1008740" cy="170417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음력 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2017-11-30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5" name="타원 214"/>
          <p:cNvSpPr>
            <a:spLocks noChangeAspect="1"/>
          </p:cNvSpPr>
          <p:nvPr/>
        </p:nvSpPr>
        <p:spPr>
          <a:xfrm>
            <a:off x="2667851" y="3137941"/>
            <a:ext cx="152062" cy="153205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2-3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직사각형 56"/>
          <p:cNvSpPr/>
          <p:nvPr/>
        </p:nvSpPr>
        <p:spPr>
          <a:xfrm>
            <a:off x="3981450" y="2482215"/>
            <a:ext cx="504825" cy="190500"/>
          </a:xfrm>
          <a:prstGeom prst="rect">
            <a:avLst/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6" name="타원 215"/>
          <p:cNvSpPr>
            <a:spLocks noChangeAspect="1"/>
          </p:cNvSpPr>
          <p:nvPr/>
        </p:nvSpPr>
        <p:spPr>
          <a:xfrm>
            <a:off x="4411561" y="2577871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7" name="직사각형 216"/>
          <p:cNvSpPr/>
          <p:nvPr/>
        </p:nvSpPr>
        <p:spPr>
          <a:xfrm>
            <a:off x="3609975" y="2482215"/>
            <a:ext cx="271145" cy="190500"/>
          </a:xfrm>
          <a:prstGeom prst="rect">
            <a:avLst/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18" name="타원 217"/>
          <p:cNvSpPr>
            <a:spLocks noChangeAspect="1"/>
          </p:cNvSpPr>
          <p:nvPr/>
        </p:nvSpPr>
        <p:spPr>
          <a:xfrm>
            <a:off x="3791801" y="2577871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2-1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9" name="직사각형 218"/>
          <p:cNvSpPr/>
          <p:nvPr/>
        </p:nvSpPr>
        <p:spPr>
          <a:xfrm>
            <a:off x="2838450" y="3558539"/>
            <a:ext cx="2790825" cy="356235"/>
          </a:xfrm>
          <a:prstGeom prst="rect">
            <a:avLst/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20" name="직사각형 219"/>
          <p:cNvSpPr/>
          <p:nvPr/>
        </p:nvSpPr>
        <p:spPr>
          <a:xfrm>
            <a:off x="2838450" y="5149214"/>
            <a:ext cx="2790825" cy="356235"/>
          </a:xfrm>
          <a:prstGeom prst="rect">
            <a:avLst/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8" name="오른쪽 중괄호 57"/>
          <p:cNvSpPr/>
          <p:nvPr/>
        </p:nvSpPr>
        <p:spPr>
          <a:xfrm>
            <a:off x="5685698" y="3620664"/>
            <a:ext cx="114159" cy="1846599"/>
          </a:xfrm>
          <a:prstGeom prst="rightBrace">
            <a:avLst>
              <a:gd name="adj1" fmla="val 61218"/>
              <a:gd name="adj2" fmla="val 50000"/>
            </a:avLst>
          </a:prstGeom>
          <a:ln w="3175">
            <a:solidFill>
              <a:srgbClr val="FF0000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2" name="타원 221"/>
          <p:cNvSpPr>
            <a:spLocks noChangeAspect="1"/>
          </p:cNvSpPr>
          <p:nvPr/>
        </p:nvSpPr>
        <p:spPr>
          <a:xfrm>
            <a:off x="5830786" y="4463821"/>
            <a:ext cx="152062" cy="153205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4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481201"/>
              </p:ext>
            </p:extLst>
          </p:nvPr>
        </p:nvGraphicFramePr>
        <p:xfrm>
          <a:off x="9290533" y="786383"/>
          <a:ext cx="2840477" cy="2767416"/>
        </p:xfrm>
        <a:graphic>
          <a:graphicData uri="http://schemas.openxmlformats.org/drawingml/2006/table">
            <a:tbl>
              <a:tblPr/>
              <a:tblGrid>
                <a:gridCol w="212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283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anose="020B0604020202020204" pitchFamily="34" charset="0"/>
                        <a:buNone/>
                        <a:tabLst/>
                        <a:defRPr sz="2000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지난 일정에는 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오늘 일정은 강조 처리 및 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 포커싱 처리</a:t>
                      </a:r>
                      <a:endParaRPr kumimoji="1" lang="en-US" altLang="ko-KR" sz="800" baseline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일정 제목 클릭시 상세 일정 정보 출력</a:t>
                      </a:r>
                      <a:endParaRPr kumimoji="1" lang="en-US" altLang="ko-KR" sz="800" baseline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정렬 기준은 종일 일정 </a:t>
                      </a:r>
                      <a: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최근 시간순으로 정렬</a:t>
                      </a:r>
                      <a:endParaRPr kumimoji="1" lang="en-US" altLang="ko-KR" sz="800" baseline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171450" indent="-171450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내가 등록한 일정외 다른 사용자</a:t>
                      </a:r>
                      <a: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스퀘어 멤버</a:t>
                      </a:r>
                      <a: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가 </a:t>
                      </a:r>
                      <a: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/>
                      </a:r>
                      <a:b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등록한 일정도 출력</a:t>
                      </a:r>
                      <a:endParaRPr kumimoji="1" lang="en-US" altLang="ko-KR" sz="800" baseline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2-1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종일 일정으로 등록됐을 경우 출력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2-2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설비가 예약 됐을 경우만 출력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890239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2-3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80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음력 날짜로 설정시 출력</a:t>
                      </a:r>
                      <a:endParaRPr kumimoji="1" lang="ko-KR" altLang="en-US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364683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24</a:t>
                      </a: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시간 이후의 일정이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 등록됐을 경우 출력 방식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88694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반복일정으로 설정됐을 경우</a:t>
                      </a:r>
                      <a:r>
                        <a:rPr kumimoji="1" lang="en-US" altLang="ko-KR" sz="800" smtClean="0">
                          <a:solidFill>
                            <a:schemeClr val="tx1"/>
                          </a:solidFill>
                          <a:latin typeface="+mn-ea"/>
                        </a:rPr>
                        <a:t>,</a:t>
                      </a:r>
                      <a: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 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목록상에서 별도 표기는 하지 않고</a:t>
                      </a:r>
                      <a:r>
                        <a:rPr kumimoji="1" lang="en-US" altLang="ko-KR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smtClean="0">
                          <a:solidFill>
                            <a:schemeClr val="tx1"/>
                          </a:solidFill>
                          <a:latin typeface="+mn-ea"/>
                        </a:rPr>
                        <a:t>반복으로 설정된 날짜에만 해당 일정정보 출력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2379676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800" smtClean="0">
                          <a:solidFill>
                            <a:schemeClr val="tx1"/>
                          </a:solidFill>
                          <a:latin typeface="+mn-ea"/>
                        </a:rPr>
                        <a:t>해당 월에 등록된 일정이 없을 경우 출력되는 안내문구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0477479"/>
                  </a:ext>
                </a:extLst>
              </a:tr>
            </a:tbl>
          </a:graphicData>
        </a:graphic>
      </p:graphicFrame>
      <p:sp>
        <p:nvSpPr>
          <p:cNvPr id="147" name="직각 삼각형 146"/>
          <p:cNvSpPr/>
          <p:nvPr/>
        </p:nvSpPr>
        <p:spPr>
          <a:xfrm flipH="1">
            <a:off x="11280879" y="5753100"/>
            <a:ext cx="758721" cy="831984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smtClean="0">
                <a:solidFill>
                  <a:schemeClr val="bg1"/>
                </a:solidFill>
                <a:latin typeface="+mn-ea"/>
                <a:ea typeface="+mn-ea"/>
              </a:rPr>
              <a:t>01/22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bg1"/>
                </a:solidFill>
                <a:latin typeface="+mn-ea"/>
                <a:ea typeface="+mn-ea"/>
              </a:rPr>
              <a:t>수정</a:t>
            </a:r>
            <a:endParaRPr lang="ko-KR" altLang="en-US" sz="8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41" name="Rounded Rectangle 944"/>
          <p:cNvSpPr/>
          <p:nvPr/>
        </p:nvSpPr>
        <p:spPr>
          <a:xfrm>
            <a:off x="7221969" y="1265041"/>
            <a:ext cx="509096" cy="180000"/>
          </a:xfrm>
          <a:prstGeom prst="roundRect">
            <a:avLst>
              <a:gd name="adj" fmla="val 8420"/>
            </a:avLst>
          </a:prstGeom>
          <a:solidFill>
            <a:schemeClr val="tx1">
              <a:lumMod val="50000"/>
              <a:lumOff val="50000"/>
            </a:schemeClr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700" b="1" dirty="0" smtClean="0">
                <a:solidFill>
                  <a:schemeClr val="bg1"/>
                </a:solidFill>
                <a:latin typeface="+mn-ea"/>
                <a:ea typeface="+mn-ea"/>
              </a:rPr>
              <a:t>    달력</a:t>
            </a:r>
            <a:endParaRPr kumimoji="1" lang="en-US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58" name="Rounded Rectangle 944"/>
          <p:cNvSpPr/>
          <p:nvPr/>
        </p:nvSpPr>
        <p:spPr>
          <a:xfrm>
            <a:off x="7731065" y="1265041"/>
            <a:ext cx="500543" cy="18000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r>
              <a:rPr kumimoji="1" lang="ko-KR" altLang="en-US" sz="700" dirty="0" smtClean="0">
                <a:latin typeface="+mn-ea"/>
                <a:ea typeface="+mn-ea"/>
              </a:rPr>
              <a:t>      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목록</a:t>
            </a:r>
            <a:endParaRPr kumimoji="1" 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1" name="Rectangle 625"/>
          <p:cNvSpPr/>
          <p:nvPr/>
        </p:nvSpPr>
        <p:spPr>
          <a:xfrm rot="16200000">
            <a:off x="7817591" y="1264412"/>
            <a:ext cx="36431" cy="1283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164" name="Rectangle 625"/>
          <p:cNvSpPr/>
          <p:nvPr/>
        </p:nvSpPr>
        <p:spPr>
          <a:xfrm rot="16200000">
            <a:off x="7817591" y="1297644"/>
            <a:ext cx="36431" cy="1283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167" name="Rectangle 625"/>
          <p:cNvSpPr/>
          <p:nvPr/>
        </p:nvSpPr>
        <p:spPr>
          <a:xfrm rot="16200000">
            <a:off x="7817591" y="1330876"/>
            <a:ext cx="36431" cy="1283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>
              <a:solidFill>
                <a:schemeClr val="tx1"/>
              </a:solidFill>
              <a:latin typeface="+mn-ea"/>
              <a:ea typeface="+mn-ea"/>
            </a:endParaRPr>
          </a:p>
        </p:txBody>
      </p:sp>
      <p:pic>
        <p:nvPicPr>
          <p:cNvPr id="168" name="내용 개체 틀 2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08295" y="1295536"/>
            <a:ext cx="126000" cy="126000"/>
          </a:xfrm>
          <a:prstGeom prst="rect">
            <a:avLst/>
          </a:prstGeom>
        </p:spPr>
      </p:pic>
      <p:pic>
        <p:nvPicPr>
          <p:cNvPr id="170" name="그림 16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69684" y="1297409"/>
            <a:ext cx="126000" cy="126000"/>
          </a:xfrm>
          <a:prstGeom prst="rect">
            <a:avLst/>
          </a:prstGeom>
        </p:spPr>
      </p:pic>
      <p:sp>
        <p:nvSpPr>
          <p:cNvPr id="171" name="타원 170"/>
          <p:cNvSpPr>
            <a:spLocks noChangeAspect="1"/>
          </p:cNvSpPr>
          <p:nvPr/>
        </p:nvSpPr>
        <p:spPr>
          <a:xfrm>
            <a:off x="8135201" y="1185316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2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"/>
            </p:custDataLst>
          </p:nvPr>
        </p:nvSpPr>
        <p:spPr>
          <a:xfrm>
            <a:off x="5792218" y="1307569"/>
            <a:ext cx="113282" cy="1116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 smtClean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Label" descr="&lt;SmartSettings&gt;&lt;SmartResize anchorLeft=&quot;Absolute&quot; anchorTop=&quot;Absolute&quot; anchorRight=&quot;Absolute&quot; anchorBottom=&quot;Absolute&quot; /&gt;&lt;/SmartSettings&gt;"/>
          <p:cNvSpPr txBox="1"/>
          <p:nvPr>
            <p:custDataLst>
              <p:tags r:id="rId2"/>
            </p:custDataLst>
          </p:nvPr>
        </p:nvSpPr>
        <p:spPr>
          <a:xfrm>
            <a:off x="5885674" y="1265333"/>
            <a:ext cx="1026178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플래그 일정만 보기</a:t>
            </a:r>
            <a:endParaRPr 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4" name="타원 173"/>
          <p:cNvSpPr>
            <a:spLocks noChangeAspect="1"/>
          </p:cNvSpPr>
          <p:nvPr/>
        </p:nvSpPr>
        <p:spPr>
          <a:xfrm>
            <a:off x="5582501" y="1271041"/>
            <a:ext cx="152062" cy="153205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smtClean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8" name="직사각형 177"/>
          <p:cNvSpPr/>
          <p:nvPr/>
        </p:nvSpPr>
        <p:spPr>
          <a:xfrm>
            <a:off x="8302970" y="1261209"/>
            <a:ext cx="354278" cy="203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smtClean="0">
                <a:solidFill>
                  <a:schemeClr val="bg1"/>
                </a:solidFill>
                <a:latin typeface="+mn-ea"/>
                <a:ea typeface="+mn-ea"/>
              </a:rPr>
              <a:t>▼</a:t>
            </a:r>
            <a:endParaRPr lang="ko-KR" altLang="en-US" sz="600" dirty="0" smtClean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81" name="Freeform 10"/>
          <p:cNvSpPr>
            <a:spLocks noChangeAspect="1" noChangeArrowheads="1"/>
          </p:cNvSpPr>
          <p:nvPr/>
        </p:nvSpPr>
        <p:spPr bwMode="auto">
          <a:xfrm>
            <a:off x="8375308" y="1317667"/>
            <a:ext cx="108001" cy="108000"/>
          </a:xfrm>
          <a:custGeom>
            <a:avLst/>
            <a:gdLst>
              <a:gd name="T0" fmla="*/ 332 w 471"/>
              <a:gd name="T1" fmla="*/ 296 h 471"/>
              <a:gd name="T2" fmla="*/ 312 w 471"/>
              <a:gd name="T3" fmla="*/ 296 h 471"/>
              <a:gd name="T4" fmla="*/ 307 w 471"/>
              <a:gd name="T5" fmla="*/ 286 h 471"/>
              <a:gd name="T6" fmla="*/ 348 w 471"/>
              <a:gd name="T7" fmla="*/ 173 h 471"/>
              <a:gd name="T8" fmla="*/ 174 w 471"/>
              <a:gd name="T9" fmla="*/ 0 h 471"/>
              <a:gd name="T10" fmla="*/ 0 w 471"/>
              <a:gd name="T11" fmla="*/ 173 h 471"/>
              <a:gd name="T12" fmla="*/ 174 w 471"/>
              <a:gd name="T13" fmla="*/ 347 h 471"/>
              <a:gd name="T14" fmla="*/ 286 w 471"/>
              <a:gd name="T15" fmla="*/ 306 h 471"/>
              <a:gd name="T16" fmla="*/ 296 w 471"/>
              <a:gd name="T17" fmla="*/ 311 h 471"/>
              <a:gd name="T18" fmla="*/ 296 w 471"/>
              <a:gd name="T19" fmla="*/ 337 h 471"/>
              <a:gd name="T20" fmla="*/ 429 w 471"/>
              <a:gd name="T21" fmla="*/ 470 h 471"/>
              <a:gd name="T22" fmla="*/ 470 w 471"/>
              <a:gd name="T23" fmla="*/ 429 h 471"/>
              <a:gd name="T24" fmla="*/ 332 w 471"/>
              <a:gd name="T25" fmla="*/ 296 h 471"/>
              <a:gd name="T26" fmla="*/ 174 w 471"/>
              <a:gd name="T27" fmla="*/ 296 h 471"/>
              <a:gd name="T28" fmla="*/ 56 w 471"/>
              <a:gd name="T29" fmla="*/ 173 h 471"/>
              <a:gd name="T30" fmla="*/ 174 w 471"/>
              <a:gd name="T31" fmla="*/ 56 h 471"/>
              <a:gd name="T32" fmla="*/ 296 w 471"/>
              <a:gd name="T33" fmla="*/ 173 h 471"/>
              <a:gd name="T34" fmla="*/ 174 w 471"/>
              <a:gd name="T35" fmla="*/ 296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71" h="471">
                <a:moveTo>
                  <a:pt x="332" y="296"/>
                </a:moveTo>
                <a:lnTo>
                  <a:pt x="312" y="296"/>
                </a:lnTo>
                <a:lnTo>
                  <a:pt x="307" y="286"/>
                </a:lnTo>
                <a:cubicBezTo>
                  <a:pt x="332" y="255"/>
                  <a:pt x="348" y="219"/>
                  <a:pt x="348" y="173"/>
                </a:cubicBezTo>
                <a:cubicBezTo>
                  <a:pt x="348" y="76"/>
                  <a:pt x="271" y="0"/>
                  <a:pt x="174" y="0"/>
                </a:cubicBezTo>
                <a:cubicBezTo>
                  <a:pt x="77" y="0"/>
                  <a:pt x="0" y="76"/>
                  <a:pt x="0" y="173"/>
                </a:cubicBezTo>
                <a:cubicBezTo>
                  <a:pt x="0" y="270"/>
                  <a:pt x="77" y="347"/>
                  <a:pt x="174" y="347"/>
                </a:cubicBezTo>
                <a:cubicBezTo>
                  <a:pt x="215" y="347"/>
                  <a:pt x="256" y="332"/>
                  <a:pt x="286" y="306"/>
                </a:cubicBezTo>
                <a:lnTo>
                  <a:pt x="296" y="311"/>
                </a:lnTo>
                <a:lnTo>
                  <a:pt x="296" y="337"/>
                </a:lnTo>
                <a:lnTo>
                  <a:pt x="429" y="470"/>
                </a:lnTo>
                <a:lnTo>
                  <a:pt x="470" y="429"/>
                </a:lnTo>
                <a:lnTo>
                  <a:pt x="332" y="296"/>
                </a:lnTo>
                <a:close/>
                <a:moveTo>
                  <a:pt x="174" y="296"/>
                </a:moveTo>
                <a:cubicBezTo>
                  <a:pt x="107" y="296"/>
                  <a:pt x="56" y="240"/>
                  <a:pt x="56" y="173"/>
                </a:cubicBezTo>
                <a:cubicBezTo>
                  <a:pt x="56" y="107"/>
                  <a:pt x="107" y="56"/>
                  <a:pt x="174" y="56"/>
                </a:cubicBezTo>
                <a:cubicBezTo>
                  <a:pt x="240" y="56"/>
                  <a:pt x="296" y="107"/>
                  <a:pt x="296" y="173"/>
                </a:cubicBezTo>
                <a:cubicBezTo>
                  <a:pt x="296" y="240"/>
                  <a:pt x="240" y="296"/>
                  <a:pt x="174" y="2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/>
          </a:p>
        </p:txBody>
      </p:sp>
      <p:sp>
        <p:nvSpPr>
          <p:cNvPr id="298" name="타원 297"/>
          <p:cNvSpPr>
            <a:spLocks noChangeAspect="1"/>
          </p:cNvSpPr>
          <p:nvPr/>
        </p:nvSpPr>
        <p:spPr>
          <a:xfrm>
            <a:off x="4849711" y="4216171"/>
            <a:ext cx="152062" cy="153205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5" name="모서리가 둥근 직사각형 234"/>
          <p:cNvSpPr/>
          <p:nvPr/>
        </p:nvSpPr>
        <p:spPr>
          <a:xfrm>
            <a:off x="2098985" y="6336589"/>
            <a:ext cx="6571189" cy="5265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등록된 일정이 없습니다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8" name="타원 237"/>
          <p:cNvSpPr>
            <a:spLocks noChangeAspect="1"/>
          </p:cNvSpPr>
          <p:nvPr/>
        </p:nvSpPr>
        <p:spPr>
          <a:xfrm>
            <a:off x="2039836" y="6254521"/>
            <a:ext cx="152062" cy="153205"/>
          </a:xfrm>
          <a:prstGeom prst="ellipse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53507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79537" y="778480"/>
            <a:ext cx="4374213" cy="2936972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5522" y="778480"/>
            <a:ext cx="2908044" cy="1835055"/>
          </a:xfrm>
          <a:prstGeom prst="rect">
            <a:avLst/>
          </a:prstGeom>
        </p:spPr>
      </p:pic>
      <p:pic>
        <p:nvPicPr>
          <p:cNvPr id="3" name="그림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79537" y="3829608"/>
            <a:ext cx="4374213" cy="2936972"/>
          </a:xfrm>
          <a:prstGeom prst="rect">
            <a:avLst/>
          </a:prstGeom>
        </p:spPr>
      </p:pic>
      <p:pic>
        <p:nvPicPr>
          <p:cNvPr id="74" name="그림 7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6710" y="4769684"/>
            <a:ext cx="4748690" cy="905137"/>
          </a:xfrm>
          <a:prstGeom prst="rect">
            <a:avLst/>
          </a:prstGeom>
        </p:spPr>
      </p:pic>
      <p:sp>
        <p:nvSpPr>
          <p:cNvPr id="75" name="모서리가 둥근 직사각형 74"/>
          <p:cNvSpPr/>
          <p:nvPr/>
        </p:nvSpPr>
        <p:spPr>
          <a:xfrm>
            <a:off x="2476500" y="857251"/>
            <a:ext cx="609600" cy="247650"/>
          </a:xfrm>
          <a:prstGeom prst="roundRect">
            <a:avLst/>
          </a:prstGeom>
          <a:solidFill>
            <a:srgbClr val="0070C0">
              <a:alpha val="41000"/>
            </a:srgbClr>
          </a:solidFill>
          <a:ln w="3175">
            <a:noFill/>
            <a:prstDash val="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904874" y="4867275"/>
            <a:ext cx="1133475" cy="161925"/>
          </a:xfrm>
          <a:prstGeom prst="roundRect">
            <a:avLst/>
          </a:prstGeom>
          <a:solidFill>
            <a:srgbClr val="0070C0">
              <a:alpha val="41000"/>
            </a:srgbClr>
          </a:solidFill>
          <a:ln w="3175">
            <a:noFill/>
            <a:prstDash val="dash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73" name="꺾인 연결선 72"/>
          <p:cNvCxnSpPr>
            <a:stCxn id="75" idx="3"/>
            <a:endCxn id="76" idx="3"/>
          </p:cNvCxnSpPr>
          <p:nvPr/>
        </p:nvCxnSpPr>
        <p:spPr>
          <a:xfrm flipH="1">
            <a:off x="2038349" y="981076"/>
            <a:ext cx="1047751" cy="3967162"/>
          </a:xfrm>
          <a:prstGeom prst="bentConnector3">
            <a:avLst>
              <a:gd name="adj1" fmla="val -79091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화살표 연결선 78"/>
          <p:cNvCxnSpPr/>
          <p:nvPr/>
        </p:nvCxnSpPr>
        <p:spPr>
          <a:xfrm>
            <a:off x="3965129" y="2209800"/>
            <a:ext cx="253547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/>
          <p:cNvSpPr txBox="1"/>
          <p:nvPr/>
        </p:nvSpPr>
        <p:spPr>
          <a:xfrm>
            <a:off x="4667250" y="2124075"/>
            <a:ext cx="120923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smtClean="0">
                <a:solidFill>
                  <a:srgbClr val="0070C0"/>
                </a:solidFill>
                <a:latin typeface="+mn-ea"/>
                <a:ea typeface="+mn-ea"/>
              </a:rPr>
              <a:t>본인 또는 관리자일 경우</a:t>
            </a:r>
            <a:endParaRPr lang="ko-KR" altLang="en-US" sz="800" b="1" dirty="0">
              <a:solidFill>
                <a:srgbClr val="0070C0"/>
              </a:solidFill>
              <a:latin typeface="+mn-ea"/>
              <a:ea typeface="+mn-ea"/>
            </a:endParaRPr>
          </a:p>
        </p:txBody>
      </p:sp>
      <p:cxnSp>
        <p:nvCxnSpPr>
          <p:cNvPr id="82" name="직선 화살표 연결선 81"/>
          <p:cNvCxnSpPr/>
          <p:nvPr/>
        </p:nvCxnSpPr>
        <p:spPr>
          <a:xfrm>
            <a:off x="3981450" y="2219325"/>
            <a:ext cx="2598087" cy="29337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4667250" y="3600450"/>
            <a:ext cx="120923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smtClean="0">
                <a:solidFill>
                  <a:srgbClr val="0070C0"/>
                </a:solidFill>
                <a:latin typeface="+mn-ea"/>
                <a:ea typeface="+mn-ea"/>
              </a:rPr>
              <a:t>멤버 또는 참관인일 경우</a:t>
            </a:r>
            <a:endParaRPr lang="ko-KR" altLang="en-US" sz="800" b="1" dirty="0">
              <a:solidFill>
                <a:srgbClr val="0070C0"/>
              </a:solidFill>
              <a:latin typeface="+mn-ea"/>
              <a:ea typeface="+mn-ea"/>
            </a:endParaRPr>
          </a:p>
        </p:txBody>
      </p:sp>
      <p:sp>
        <p:nvSpPr>
          <p:cNvPr id="84" name="직사각형 83"/>
          <p:cNvSpPr/>
          <p:nvPr/>
        </p:nvSpPr>
        <p:spPr>
          <a:xfrm>
            <a:off x="457200" y="2124075"/>
            <a:ext cx="1323975" cy="2476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5" name="그림 8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8038" y="2170166"/>
            <a:ext cx="518710" cy="182509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6630466" y="582181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371464" lvl="0" indent="-371464" eaLnBrk="0" hangingPunct="0">
              <a:spcBef>
                <a:spcPct val="20000"/>
              </a:spcBef>
            </a:pPr>
            <a:r>
              <a:rPr kumimoji="0" lang="en-US" altLang="ko-KR" sz="800" b="1" smtClean="0">
                <a:solidFill>
                  <a:srgbClr val="595959"/>
                </a:solidFill>
                <a:latin typeface="+mn-ea"/>
                <a:ea typeface="+mn-ea"/>
              </a:rPr>
              <a:t>SQ5.2.1.3.3.3</a:t>
            </a:r>
            <a:endParaRPr kumimoji="0" lang="ko-KR" altLang="en-US" sz="800" b="1" dirty="0">
              <a:solidFill>
                <a:srgbClr val="595959"/>
              </a:solidFill>
              <a:latin typeface="+mn-ea"/>
              <a:ea typeface="+mn-ea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6630466" y="3734956"/>
            <a:ext cx="995782" cy="208394"/>
          </a:xfrm>
          <a:prstGeom prst="rect">
            <a:avLst/>
          </a:prstGeom>
          <a:noFill/>
        </p:spPr>
        <p:txBody>
          <a:bodyPr wrap="none" lIns="72000" rIns="72000" rtlCol="0" anchor="ctr">
            <a:noAutofit/>
          </a:bodyPr>
          <a:lstStyle/>
          <a:p>
            <a:pPr marL="371464" lvl="0" indent="-371464" eaLnBrk="0" hangingPunct="0">
              <a:spcBef>
                <a:spcPct val="20000"/>
              </a:spcBef>
            </a:pPr>
            <a:r>
              <a:rPr kumimoji="0" lang="en-US" altLang="ko-KR" sz="800" b="1" smtClean="0">
                <a:solidFill>
                  <a:srgbClr val="595959"/>
                </a:solidFill>
                <a:latin typeface="+mn-ea"/>
                <a:ea typeface="+mn-ea"/>
              </a:rPr>
              <a:t>SQ5.2.1.3.3.4</a:t>
            </a:r>
            <a:endParaRPr kumimoji="0" lang="ko-KR" altLang="en-US" sz="800" b="1" dirty="0">
              <a:solidFill>
                <a:srgbClr val="595959"/>
              </a:solidFill>
              <a:latin typeface="+mn-ea"/>
              <a:ea typeface="+mn-ea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216309" y="167149"/>
            <a:ext cx="2784984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등급</a:t>
            </a:r>
            <a:r>
              <a:rPr lang="en-US" altLang="ko-KR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권한</a:t>
            </a:r>
            <a:r>
              <a:rPr lang="en-US" altLang="ko-KR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)</a:t>
            </a:r>
            <a:r>
              <a:rPr lang="ko-KR" altLang="en-US" sz="14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에 따른 일정 상세정보 </a:t>
            </a:r>
            <a:endParaRPr lang="ko-KR" altLang="en-US" sz="1400" b="1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700108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0951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보고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24591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5462717"/>
              </p:ext>
            </p:extLst>
          </p:nvPr>
        </p:nvGraphicFramePr>
        <p:xfrm>
          <a:off x="9290533" y="786383"/>
          <a:ext cx="2892502" cy="173109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업무보고 </a:t>
                      </a:r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피드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 영역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그룹에서 올라온 모든 업무보고를 모아서 확인하는 기능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순으로 표시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1-1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업무보고 등록 시 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제목과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등록 시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년월일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정보를 표시  </a:t>
                      </a: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등록 일자 기능 필요 유무 검토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7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7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80" name="직선 연결선[R] 7"/>
            <p:cNvCxnSpPr/>
            <p:nvPr/>
          </p:nvCxnSpPr>
          <p:spPr>
            <a:xfrm>
              <a:off x="6567101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81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1" name="Rectangle 279"/>
          <p:cNvSpPr/>
          <p:nvPr/>
        </p:nvSpPr>
        <p:spPr>
          <a:xfrm>
            <a:off x="1963754" y="1219264"/>
            <a:ext cx="4896000" cy="163709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2" name="텍스트 상자 31"/>
          <p:cNvSpPr txBox="1"/>
          <p:nvPr/>
        </p:nvSpPr>
        <p:spPr>
          <a:xfrm>
            <a:off x="2421414" y="1340278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73" name="그룹 400"/>
          <p:cNvGrpSpPr/>
          <p:nvPr/>
        </p:nvGrpSpPr>
        <p:grpSpPr>
          <a:xfrm>
            <a:off x="2078622" y="1329809"/>
            <a:ext cx="229236" cy="229194"/>
            <a:chOff x="2625629" y="3735853"/>
            <a:chExt cx="276891" cy="276839"/>
          </a:xfrm>
        </p:grpSpPr>
        <p:sp>
          <p:nvSpPr>
            <p:cNvPr id="7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7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76" name="텍스트 상자 31"/>
          <p:cNvSpPr txBox="1"/>
          <p:nvPr/>
        </p:nvSpPr>
        <p:spPr>
          <a:xfrm>
            <a:off x="2421414" y="1478135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2" name="텍스트 상자 31"/>
          <p:cNvSpPr txBox="1"/>
          <p:nvPr/>
        </p:nvSpPr>
        <p:spPr>
          <a:xfrm>
            <a:off x="2078622" y="1646715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700" b="1" dirty="0" smtClean="0">
                <a:latin typeface="+mn-ea"/>
                <a:ea typeface="+mn-ea"/>
              </a:rPr>
              <a:t>[EGW </a:t>
            </a:r>
            <a:r>
              <a:rPr lang="ko-KR" altLang="en-US" sz="700" b="1" dirty="0" err="1" smtClean="0">
                <a:latin typeface="+mn-ea"/>
                <a:ea typeface="+mn-ea"/>
              </a:rPr>
              <a:t>화면설계</a:t>
            </a:r>
            <a:r>
              <a:rPr lang="en-US" altLang="ko-KR" sz="700" b="1" dirty="0" smtClean="0">
                <a:latin typeface="+mn-ea"/>
                <a:ea typeface="+mn-ea"/>
              </a:rPr>
              <a:t> </a:t>
            </a:r>
            <a:r>
              <a:rPr lang="ko-KR" altLang="en-US" sz="700" b="1" dirty="0" smtClean="0">
                <a:latin typeface="+mn-ea"/>
                <a:ea typeface="+mn-ea"/>
              </a:rPr>
              <a:t>관련 리뷰</a:t>
            </a:r>
            <a:r>
              <a:rPr lang="en-US" altLang="ko-KR" sz="700" b="1" dirty="0">
                <a:latin typeface="+mn-ea"/>
                <a:ea typeface="+mn-ea"/>
              </a:rPr>
              <a:t> </a:t>
            </a:r>
            <a:r>
              <a:rPr lang="en-US" altLang="ko-KR" sz="700" b="1" dirty="0" smtClean="0">
                <a:latin typeface="+mn-ea"/>
                <a:ea typeface="+mn-ea"/>
              </a:rPr>
              <a:t>2017-09-25]</a:t>
            </a:r>
            <a:endParaRPr kumimoji="1" lang="ko-KR" altLang="en-US" sz="700" dirty="0">
              <a:latin typeface="+mn-ea"/>
              <a:ea typeface="+mn-ea"/>
            </a:endParaRPr>
          </a:p>
        </p:txBody>
      </p:sp>
      <p:sp>
        <p:nvSpPr>
          <p:cNvPr id="94" name="Freeform 26"/>
          <p:cNvSpPr>
            <a:spLocks noChangeAspect="1" noChangeArrowheads="1"/>
          </p:cNvSpPr>
          <p:nvPr/>
        </p:nvSpPr>
        <p:spPr bwMode="auto">
          <a:xfrm flipH="1">
            <a:off x="6726683" y="1344560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91" name="직선 연결선[R] 33"/>
          <p:cNvCxnSpPr/>
          <p:nvPr/>
        </p:nvCxnSpPr>
        <p:spPr>
          <a:xfrm>
            <a:off x="2052416" y="259839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Freeform 25"/>
          <p:cNvSpPr>
            <a:spLocks noChangeAspect="1" noEditPoints="1"/>
          </p:cNvSpPr>
          <p:nvPr/>
        </p:nvSpPr>
        <p:spPr bwMode="auto">
          <a:xfrm>
            <a:off x="6535161" y="134013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2057987" y="1776814"/>
            <a:ext cx="2800791" cy="48546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EGW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공통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component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정의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화면설계 고도화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EGW WBS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업데이트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1868022" y="6353225"/>
            <a:ext cx="7234413" cy="267813"/>
            <a:chOff x="1868022" y="6353225"/>
            <a:chExt cx="7234413" cy="267813"/>
          </a:xfrm>
        </p:grpSpPr>
        <p:grpSp>
          <p:nvGrpSpPr>
            <p:cNvPr id="157" name="그룹 156"/>
            <p:cNvGrpSpPr/>
            <p:nvPr/>
          </p:nvGrpSpPr>
          <p:grpSpPr>
            <a:xfrm>
              <a:off x="4283126" y="6436372"/>
              <a:ext cx="2126258" cy="184666"/>
              <a:chOff x="4503901" y="6414204"/>
              <a:chExt cx="2126258" cy="184666"/>
            </a:xfrm>
          </p:grpSpPr>
          <p:sp>
            <p:nvSpPr>
              <p:cNvPr id="158" name="텍스트 상자 31"/>
              <p:cNvSpPr txBox="1"/>
              <p:nvPr/>
            </p:nvSpPr>
            <p:spPr>
              <a:xfrm>
                <a:off x="4503901" y="6423886"/>
                <a:ext cx="1698799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 algn="ctr"/>
                <a:r>
                  <a:rPr kumimoji="1" lang="en-US" altLang="ko-KR" sz="1000" dirty="0" smtClean="0">
                    <a:solidFill>
                      <a:schemeClr val="bg1">
                        <a:lumMod val="85000"/>
                      </a:schemeClr>
                    </a:solidFill>
                    <a:latin typeface="+mn-ea"/>
                  </a:rPr>
                  <a:t>«</a:t>
                </a:r>
                <a:r>
                  <a:rPr kumimoji="1" lang="ko-KR" altLang="en-US" sz="8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ko-KR" altLang="en-US" sz="8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 </a:t>
                </a:r>
                <a:r>
                  <a:rPr kumimoji="1" lang="en-US" altLang="ko-KR" sz="1000" dirty="0" smtClean="0">
                    <a:solidFill>
                      <a:schemeClr val="bg1">
                        <a:lumMod val="85000"/>
                      </a:schemeClr>
                    </a:solidFill>
                    <a:latin typeface="+mn-ea"/>
                  </a:rPr>
                  <a:t>‹</a:t>
                </a:r>
                <a:r>
                  <a:rPr kumimoji="1" lang="ko-KR" altLang="en-US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  </a:t>
                </a:r>
                <a:r>
                  <a:rPr kumimoji="1" lang="en-US" altLang="ko-KR" sz="7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1</a:t>
                </a:r>
                <a:r>
                  <a:rPr kumimoji="1" lang="ko-KR" altLang="en-US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  </a:t>
                </a:r>
                <a:r>
                  <a:rPr kumimoji="1" lang="en-US" altLang="ko-KR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2</a:t>
                </a:r>
                <a:r>
                  <a:rPr kumimoji="1" lang="ko-KR" altLang="en-US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  </a:t>
                </a:r>
                <a:r>
                  <a:rPr kumimoji="1" lang="en-US" altLang="ko-KR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3</a:t>
                </a:r>
                <a:r>
                  <a:rPr kumimoji="1" lang="ko-KR" altLang="en-US" sz="7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  </a:t>
                </a:r>
                <a:r>
                  <a:rPr kumimoji="1" lang="en-US" altLang="ko-KR" sz="10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›</a:t>
                </a:r>
                <a:r>
                  <a:rPr kumimoji="1" lang="ko-KR" altLang="en-US" sz="8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  </a:t>
                </a:r>
                <a:r>
                  <a:rPr kumimoji="1" lang="en-US" altLang="ko-KR" sz="10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»</a:t>
                </a:r>
                <a:endParaRPr kumimoji="1" lang="ko-KR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59" name="Rounded Rectangle 936"/>
              <p:cNvSpPr>
                <a:spLocks noChangeAspect="1"/>
              </p:cNvSpPr>
              <p:nvPr/>
            </p:nvSpPr>
            <p:spPr>
              <a:xfrm>
                <a:off x="6181231" y="6448123"/>
                <a:ext cx="179035" cy="116828"/>
              </a:xfrm>
              <a:prstGeom prst="roundRect">
                <a:avLst>
                  <a:gd name="adj" fmla="val 8420"/>
                </a:avLst>
              </a:prstGeom>
              <a:solidFill>
                <a:srgbClr val="FFFFFF"/>
              </a:solidFill>
              <a:ln w="3175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kumimoji="1" lang="en-US" altLang="ko-KR" sz="600" b="1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1</a:t>
                </a:r>
                <a:endParaRPr kumimoji="1" lang="en-US" sz="6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6315649" y="6414204"/>
                <a:ext cx="314510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en-US" altLang="ko-KR" sz="6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/</a:t>
                </a:r>
                <a:r>
                  <a:rPr kumimoji="1" lang="ko-KR" altLang="en-US" sz="6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 </a:t>
                </a:r>
                <a:r>
                  <a:rPr kumimoji="1" lang="en-US" altLang="ko-KR" sz="6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3</a:t>
                </a:r>
                <a:endParaRPr lang="ko-KR" altLang="en-US" sz="1800" dirty="0"/>
              </a:p>
            </p:txBody>
          </p:sp>
          <p:cxnSp>
            <p:nvCxnSpPr>
              <p:cNvPr id="161" name="직선 연결선 160"/>
              <p:cNvCxnSpPr/>
              <p:nvPr/>
            </p:nvCxnSpPr>
            <p:spPr>
              <a:xfrm>
                <a:off x="6014206" y="6455085"/>
                <a:ext cx="0" cy="10800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62" name="직선 연결선[R] 7"/>
            <p:cNvCxnSpPr/>
            <p:nvPr/>
          </p:nvCxnSpPr>
          <p:spPr>
            <a:xfrm>
              <a:off x="1868022" y="6353225"/>
              <a:ext cx="72344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miter lim="400000"/>
            </a:ln>
          </p:spPr>
        </p:cxnSp>
      </p:grpSp>
      <p:sp>
        <p:nvSpPr>
          <p:cNvPr id="135" name="Rectangle 279"/>
          <p:cNvSpPr/>
          <p:nvPr/>
        </p:nvSpPr>
        <p:spPr>
          <a:xfrm>
            <a:off x="1963754" y="5174432"/>
            <a:ext cx="4896000" cy="13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36" name="텍스트 상자 31"/>
          <p:cNvSpPr txBox="1"/>
          <p:nvPr/>
        </p:nvSpPr>
        <p:spPr>
          <a:xfrm>
            <a:off x="2421414" y="529544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홍나리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37" name="그룹 400"/>
          <p:cNvGrpSpPr/>
          <p:nvPr/>
        </p:nvGrpSpPr>
        <p:grpSpPr>
          <a:xfrm>
            <a:off x="2078622" y="5284976"/>
            <a:ext cx="229236" cy="229194"/>
            <a:chOff x="2625629" y="3735853"/>
            <a:chExt cx="276891" cy="276839"/>
          </a:xfrm>
        </p:grpSpPr>
        <p:sp>
          <p:nvSpPr>
            <p:cNvPr id="138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39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40" name="텍스트 상자 31"/>
          <p:cNvSpPr txBox="1"/>
          <p:nvPr/>
        </p:nvSpPr>
        <p:spPr>
          <a:xfrm>
            <a:off x="2421414" y="543330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41" name="직선 연결선[R] 33"/>
          <p:cNvCxnSpPr/>
          <p:nvPr/>
        </p:nvCxnSpPr>
        <p:spPr>
          <a:xfrm>
            <a:off x="2052416" y="6254795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2" name="텍스트 상자 31"/>
          <p:cNvSpPr txBox="1"/>
          <p:nvPr/>
        </p:nvSpPr>
        <p:spPr>
          <a:xfrm>
            <a:off x="2078622" y="5601882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700" b="1" dirty="0">
                <a:latin typeface="+mn-ea"/>
                <a:ea typeface="+mn-ea"/>
              </a:rPr>
              <a:t>[</a:t>
            </a:r>
            <a:r>
              <a:rPr lang="ko-KR" altLang="en-US" sz="700" b="1" dirty="0">
                <a:latin typeface="+mn-ea"/>
                <a:ea typeface="+mn-ea"/>
              </a:rPr>
              <a:t>업무보고 </a:t>
            </a:r>
            <a:r>
              <a:rPr lang="ko-KR" altLang="en-US" sz="700" b="1" dirty="0" smtClean="0">
                <a:latin typeface="+mn-ea"/>
                <a:ea typeface="+mn-ea"/>
              </a:rPr>
              <a:t> </a:t>
            </a:r>
            <a:r>
              <a:rPr lang="en-US" altLang="ko-KR" sz="700" b="1" dirty="0" smtClean="0">
                <a:latin typeface="+mn-ea"/>
                <a:ea typeface="+mn-ea"/>
              </a:rPr>
              <a:t>2017-09-18]</a:t>
            </a:r>
            <a:endParaRPr kumimoji="1" lang="ko-KR" altLang="en-US" sz="700" dirty="0">
              <a:latin typeface="+mn-ea"/>
              <a:ea typeface="+mn-ea"/>
            </a:endParaRPr>
          </a:p>
        </p:txBody>
      </p:sp>
      <p:sp>
        <p:nvSpPr>
          <p:cNvPr id="143" name="Freeform 26"/>
          <p:cNvSpPr>
            <a:spLocks noChangeAspect="1" noChangeArrowheads="1"/>
          </p:cNvSpPr>
          <p:nvPr/>
        </p:nvSpPr>
        <p:spPr bwMode="auto">
          <a:xfrm flipH="1">
            <a:off x="6726683" y="5299727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55" name="Freeform 25"/>
          <p:cNvSpPr>
            <a:spLocks noChangeAspect="1" noEditPoints="1"/>
          </p:cNvSpPr>
          <p:nvPr/>
        </p:nvSpPr>
        <p:spPr bwMode="auto">
          <a:xfrm>
            <a:off x="6535161" y="5295306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56" name="텍스트 상자 31"/>
          <p:cNvSpPr txBox="1"/>
          <p:nvPr/>
        </p:nvSpPr>
        <p:spPr>
          <a:xfrm>
            <a:off x="2193239" y="5731981"/>
            <a:ext cx="2800791" cy="48546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EGW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공통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component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정의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일정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/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설비 화면설계 고도화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EGW WBS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업데이트</a:t>
            </a:r>
            <a:endParaRPr kumimoji="1" lang="ko-KR" altLang="en-US" sz="7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3" name="Rectangle 279"/>
          <p:cNvSpPr/>
          <p:nvPr/>
        </p:nvSpPr>
        <p:spPr>
          <a:xfrm>
            <a:off x="1963754" y="6570597"/>
            <a:ext cx="4896000" cy="73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64" name="텍스트 상자 31"/>
          <p:cNvSpPr txBox="1"/>
          <p:nvPr/>
        </p:nvSpPr>
        <p:spPr>
          <a:xfrm>
            <a:off x="2421414" y="669161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err="1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김마리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65" name="그룹 400"/>
          <p:cNvGrpSpPr/>
          <p:nvPr/>
        </p:nvGrpSpPr>
        <p:grpSpPr>
          <a:xfrm>
            <a:off x="2078622" y="6681142"/>
            <a:ext cx="229236" cy="229194"/>
            <a:chOff x="2625629" y="3735853"/>
            <a:chExt cx="276891" cy="276839"/>
          </a:xfrm>
        </p:grpSpPr>
        <p:sp>
          <p:nvSpPr>
            <p:cNvPr id="166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67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68" name="텍스트 상자 31"/>
          <p:cNvSpPr txBox="1"/>
          <p:nvPr/>
        </p:nvSpPr>
        <p:spPr>
          <a:xfrm>
            <a:off x="2421414" y="682946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0" name="텍스트 상자 31"/>
          <p:cNvSpPr txBox="1"/>
          <p:nvPr/>
        </p:nvSpPr>
        <p:spPr>
          <a:xfrm>
            <a:off x="2078622" y="6998048"/>
            <a:ext cx="3198684" cy="1292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700" b="1" dirty="0">
                <a:latin typeface="+mn-ea"/>
                <a:ea typeface="+mn-ea"/>
              </a:rPr>
              <a:t>[</a:t>
            </a:r>
            <a:r>
              <a:rPr lang="ko-KR" altLang="en-US" sz="700" b="1" dirty="0" smtClean="0">
                <a:latin typeface="+mn-ea"/>
                <a:ea typeface="+mn-ea"/>
              </a:rPr>
              <a:t>업무보고</a:t>
            </a:r>
            <a:r>
              <a:rPr lang="en-US" altLang="ko-KR" sz="700" b="1" dirty="0">
                <a:latin typeface="+mn-ea"/>
                <a:ea typeface="+mn-ea"/>
              </a:rPr>
              <a:t> </a:t>
            </a:r>
            <a:r>
              <a:rPr lang="en-US" altLang="ko-KR" sz="700" b="1" dirty="0" smtClean="0">
                <a:latin typeface="+mn-ea"/>
                <a:ea typeface="+mn-ea"/>
              </a:rPr>
              <a:t>2017-09-18]</a:t>
            </a:r>
            <a:endParaRPr kumimoji="1" lang="ko-KR" altLang="en-US" sz="700" dirty="0">
              <a:latin typeface="+mn-ea"/>
              <a:ea typeface="+mn-ea"/>
            </a:endParaRPr>
          </a:p>
        </p:txBody>
      </p:sp>
      <p:sp>
        <p:nvSpPr>
          <p:cNvPr id="171" name="Freeform 26"/>
          <p:cNvSpPr>
            <a:spLocks noChangeAspect="1" noChangeArrowheads="1"/>
          </p:cNvSpPr>
          <p:nvPr/>
        </p:nvSpPr>
        <p:spPr bwMode="auto">
          <a:xfrm flipH="1">
            <a:off x="6726683" y="669589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6" name="Freeform 25"/>
          <p:cNvSpPr>
            <a:spLocks noChangeAspect="1" noEditPoints="1"/>
          </p:cNvSpPr>
          <p:nvPr/>
        </p:nvSpPr>
        <p:spPr bwMode="auto">
          <a:xfrm>
            <a:off x="6535161" y="669147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88" name="텍스트 상자 31"/>
          <p:cNvSpPr txBox="1"/>
          <p:nvPr/>
        </p:nvSpPr>
        <p:spPr>
          <a:xfrm>
            <a:off x="2193239" y="7159852"/>
            <a:ext cx="2800791" cy="14874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90488" indent="-90488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EGW </a:t>
            </a:r>
            <a:r>
              <a:rPr kumimoji="1"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공통 </a:t>
            </a:r>
            <a:r>
              <a: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component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정의</a:t>
            </a:r>
            <a:endParaRPr lang="en-US" altLang="ko-KR" sz="700" dirty="0" smtClean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8" name="Rectangle 4"/>
          <p:cNvSpPr/>
          <p:nvPr/>
        </p:nvSpPr>
        <p:spPr>
          <a:xfrm>
            <a:off x="1923223" y="1199777"/>
            <a:ext cx="5071324" cy="4995001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타원 179"/>
          <p:cNvSpPr>
            <a:spLocks noChangeAspect="1"/>
          </p:cNvSpPr>
          <p:nvPr/>
        </p:nvSpPr>
        <p:spPr>
          <a:xfrm>
            <a:off x="1823958" y="1122511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9" name="Rectangle 4"/>
          <p:cNvSpPr/>
          <p:nvPr/>
        </p:nvSpPr>
        <p:spPr>
          <a:xfrm>
            <a:off x="2024813" y="1623312"/>
            <a:ext cx="4729741" cy="178979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타원 210"/>
          <p:cNvSpPr>
            <a:spLocks noChangeAspect="1"/>
          </p:cNvSpPr>
          <p:nvPr/>
        </p:nvSpPr>
        <p:spPr>
          <a:xfrm>
            <a:off x="3140556" y="151605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2065279" y="2331132"/>
            <a:ext cx="666833" cy="177213"/>
            <a:chOff x="541106" y="4019222"/>
            <a:chExt cx="666833" cy="177213"/>
          </a:xfrm>
        </p:grpSpPr>
        <p:sp>
          <p:nvSpPr>
            <p:cNvPr id="231" name="Rounded Rectangle 133"/>
            <p:cNvSpPr/>
            <p:nvPr/>
          </p:nvSpPr>
          <p:spPr>
            <a:xfrm>
              <a:off x="541106" y="4019222"/>
              <a:ext cx="648000" cy="177213"/>
            </a:xfrm>
            <a:prstGeom prst="roundRect">
              <a:avLst>
                <a:gd name="adj" fmla="val 8420"/>
              </a:avLst>
            </a:prstGeom>
            <a:noFill/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5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32" name="Group 1"/>
            <p:cNvGrpSpPr/>
            <p:nvPr/>
          </p:nvGrpSpPr>
          <p:grpSpPr>
            <a:xfrm>
              <a:off x="714374" y="4055826"/>
              <a:ext cx="493565" cy="107722"/>
              <a:chOff x="2459064" y="3489248"/>
              <a:chExt cx="493565" cy="107722"/>
            </a:xfrm>
          </p:grpSpPr>
          <p:sp>
            <p:nvSpPr>
              <p:cNvPr id="233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9064" y="3507399"/>
                <a:ext cx="130637" cy="72000"/>
              </a:xfrm>
              <a:custGeom>
                <a:avLst/>
                <a:gdLst>
                  <a:gd name="T0" fmla="*/ 214 w 774"/>
                  <a:gd name="T1" fmla="*/ 426 h 427"/>
                  <a:gd name="T2" fmla="*/ 0 w 774"/>
                  <a:gd name="T3" fmla="*/ 213 h 427"/>
                  <a:gd name="T4" fmla="*/ 214 w 774"/>
                  <a:gd name="T5" fmla="*/ 0 h 427"/>
                  <a:gd name="T6" fmla="*/ 618 w 774"/>
                  <a:gd name="T7" fmla="*/ 0 h 427"/>
                  <a:gd name="T8" fmla="*/ 773 w 774"/>
                  <a:gd name="T9" fmla="*/ 154 h 427"/>
                  <a:gd name="T10" fmla="*/ 618 w 774"/>
                  <a:gd name="T11" fmla="*/ 309 h 427"/>
                  <a:gd name="T12" fmla="*/ 287 w 774"/>
                  <a:gd name="T13" fmla="*/ 309 h 427"/>
                  <a:gd name="T14" fmla="*/ 192 w 774"/>
                  <a:gd name="T15" fmla="*/ 213 h 427"/>
                  <a:gd name="T16" fmla="*/ 287 w 774"/>
                  <a:gd name="T17" fmla="*/ 117 h 427"/>
                  <a:gd name="T18" fmla="*/ 581 w 774"/>
                  <a:gd name="T19" fmla="*/ 117 h 427"/>
                  <a:gd name="T20" fmla="*/ 581 w 774"/>
                  <a:gd name="T21" fmla="*/ 176 h 427"/>
                  <a:gd name="T22" fmla="*/ 287 w 774"/>
                  <a:gd name="T23" fmla="*/ 176 h 427"/>
                  <a:gd name="T24" fmla="*/ 250 w 774"/>
                  <a:gd name="T25" fmla="*/ 213 h 427"/>
                  <a:gd name="T26" fmla="*/ 287 w 774"/>
                  <a:gd name="T27" fmla="*/ 250 h 427"/>
                  <a:gd name="T28" fmla="*/ 618 w 774"/>
                  <a:gd name="T29" fmla="*/ 250 h 427"/>
                  <a:gd name="T30" fmla="*/ 714 w 774"/>
                  <a:gd name="T31" fmla="*/ 154 h 427"/>
                  <a:gd name="T32" fmla="*/ 618 w 774"/>
                  <a:gd name="T33" fmla="*/ 58 h 427"/>
                  <a:gd name="T34" fmla="*/ 214 w 774"/>
                  <a:gd name="T35" fmla="*/ 58 h 427"/>
                  <a:gd name="T36" fmla="*/ 59 w 774"/>
                  <a:gd name="T37" fmla="*/ 213 h 427"/>
                  <a:gd name="T38" fmla="*/ 214 w 774"/>
                  <a:gd name="T39" fmla="*/ 367 h 427"/>
                  <a:gd name="T40" fmla="*/ 581 w 774"/>
                  <a:gd name="T41" fmla="*/ 367 h 427"/>
                  <a:gd name="T42" fmla="*/ 581 w 774"/>
                  <a:gd name="T43" fmla="*/ 426 h 427"/>
                  <a:gd name="T44" fmla="*/ 214 w 774"/>
                  <a:gd name="T45" fmla="*/ 426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4" h="427">
                    <a:moveTo>
                      <a:pt x="214" y="426"/>
                    </a:moveTo>
                    <a:cubicBezTo>
                      <a:pt x="96" y="426"/>
                      <a:pt x="0" y="331"/>
                      <a:pt x="0" y="213"/>
                    </a:cubicBezTo>
                    <a:cubicBezTo>
                      <a:pt x="0" y="95"/>
                      <a:pt x="96" y="0"/>
                      <a:pt x="214" y="0"/>
                    </a:cubicBezTo>
                    <a:lnTo>
                      <a:pt x="618" y="0"/>
                    </a:lnTo>
                    <a:cubicBezTo>
                      <a:pt x="699" y="0"/>
                      <a:pt x="773" y="69"/>
                      <a:pt x="773" y="154"/>
                    </a:cubicBezTo>
                    <a:cubicBezTo>
                      <a:pt x="773" y="239"/>
                      <a:pt x="699" y="309"/>
                      <a:pt x="618" y="309"/>
                    </a:cubicBezTo>
                    <a:lnTo>
                      <a:pt x="287" y="309"/>
                    </a:lnTo>
                    <a:cubicBezTo>
                      <a:pt x="236" y="309"/>
                      <a:pt x="192" y="264"/>
                      <a:pt x="192" y="213"/>
                    </a:cubicBezTo>
                    <a:cubicBezTo>
                      <a:pt x="192" y="161"/>
                      <a:pt x="236" y="117"/>
                      <a:pt x="287" y="117"/>
                    </a:cubicBezTo>
                    <a:lnTo>
                      <a:pt x="581" y="117"/>
                    </a:lnTo>
                    <a:lnTo>
                      <a:pt x="581" y="176"/>
                    </a:lnTo>
                    <a:lnTo>
                      <a:pt x="287" y="176"/>
                    </a:lnTo>
                    <a:cubicBezTo>
                      <a:pt x="265" y="176"/>
                      <a:pt x="250" y="191"/>
                      <a:pt x="250" y="213"/>
                    </a:cubicBezTo>
                    <a:cubicBezTo>
                      <a:pt x="250" y="235"/>
                      <a:pt x="265" y="250"/>
                      <a:pt x="287" y="250"/>
                    </a:cubicBezTo>
                    <a:lnTo>
                      <a:pt x="618" y="250"/>
                    </a:lnTo>
                    <a:cubicBezTo>
                      <a:pt x="670" y="250"/>
                      <a:pt x="714" y="209"/>
                      <a:pt x="714" y="154"/>
                    </a:cubicBezTo>
                    <a:cubicBezTo>
                      <a:pt x="714" y="99"/>
                      <a:pt x="670" y="58"/>
                      <a:pt x="618" y="58"/>
                    </a:cubicBezTo>
                    <a:lnTo>
                      <a:pt x="214" y="58"/>
                    </a:lnTo>
                    <a:cubicBezTo>
                      <a:pt x="125" y="58"/>
                      <a:pt x="59" y="128"/>
                      <a:pt x="59" y="213"/>
                    </a:cubicBezTo>
                    <a:cubicBezTo>
                      <a:pt x="59" y="297"/>
                      <a:pt x="125" y="367"/>
                      <a:pt x="214" y="367"/>
                    </a:cubicBezTo>
                    <a:lnTo>
                      <a:pt x="581" y="367"/>
                    </a:lnTo>
                    <a:lnTo>
                      <a:pt x="581" y="426"/>
                    </a:lnTo>
                    <a:lnTo>
                      <a:pt x="214" y="426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/>
              </a:p>
            </p:txBody>
          </p:sp>
          <p:sp>
            <p:nvSpPr>
              <p:cNvPr id="234" name="텍스트 상자 31"/>
              <p:cNvSpPr txBox="1"/>
              <p:nvPr/>
            </p:nvSpPr>
            <p:spPr>
              <a:xfrm>
                <a:off x="2634001" y="3489248"/>
                <a:ext cx="3186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파일 </a:t>
                </a:r>
                <a:r>
                  <a:rPr kumimoji="1" lang="en-US" altLang="ko-KR" sz="7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</a:rPr>
                  <a:t>5</a:t>
                </a:r>
                <a:endParaRPr kumimoji="1" lang="ko-KR" altLang="en-US" sz="7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</a:endParaRPr>
              </a:p>
            </p:txBody>
          </p:sp>
        </p:grpSp>
        <p:sp>
          <p:nvSpPr>
            <p:cNvPr id="235" name="Freeform 24"/>
            <p:cNvSpPr>
              <a:spLocks noChangeAspect="1" noChangeArrowheads="1"/>
            </p:cNvSpPr>
            <p:nvPr/>
          </p:nvSpPr>
          <p:spPr bwMode="auto">
            <a:xfrm flipV="1">
              <a:off x="598696" y="4095936"/>
              <a:ext cx="57767" cy="36000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</a:endParaRPr>
            </a:p>
          </p:txBody>
        </p:sp>
      </p:grpSp>
      <p:sp>
        <p:nvSpPr>
          <p:cNvPr id="184" name="Rectangle 231"/>
          <p:cNvSpPr/>
          <p:nvPr/>
        </p:nvSpPr>
        <p:spPr>
          <a:xfrm>
            <a:off x="1963754" y="2862685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grpSp>
        <p:nvGrpSpPr>
          <p:cNvPr id="185" name="Group 7"/>
          <p:cNvGrpSpPr/>
          <p:nvPr/>
        </p:nvGrpSpPr>
        <p:grpSpPr>
          <a:xfrm>
            <a:off x="2078622" y="3275940"/>
            <a:ext cx="1612396" cy="227167"/>
            <a:chOff x="2478168" y="4026446"/>
            <a:chExt cx="1612396" cy="229194"/>
          </a:xfrm>
        </p:grpSpPr>
        <p:sp>
          <p:nvSpPr>
            <p:cNvPr id="222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23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25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26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24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214" name="직선 연결선[R] 33"/>
          <p:cNvCxnSpPr/>
          <p:nvPr/>
        </p:nvCxnSpPr>
        <p:spPr>
          <a:xfrm>
            <a:off x="2052416" y="3189083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5" name="Rectangle 313"/>
          <p:cNvSpPr/>
          <p:nvPr/>
        </p:nvSpPr>
        <p:spPr>
          <a:xfrm>
            <a:off x="1963755" y="3580647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216" name="텍스트 상자 31"/>
          <p:cNvSpPr txBox="1"/>
          <p:nvPr/>
        </p:nvSpPr>
        <p:spPr>
          <a:xfrm>
            <a:off x="4141390" y="3594443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4</a:t>
            </a:r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개 모두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82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1" lang="ko-KR" altLang="en-US" smtClean="0"/>
              <a:t>보고</a:t>
            </a:r>
            <a:endParaRPr kumimoji="0" lang="ko-KR" altLang="en-US" dirty="0"/>
          </a:p>
        </p:txBody>
      </p:sp>
      <p:sp>
        <p:nvSpPr>
          <p:cNvPr id="189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/>
              <a:t>그룹 </a:t>
            </a:r>
            <a:r>
              <a:rPr kumimoji="0" lang="en-US" altLang="ko-KR"/>
              <a:t>&gt; </a:t>
            </a:r>
            <a:r>
              <a:rPr kumimoji="0" lang="ko-KR" altLang="en-US" smtClean="0"/>
              <a:t>보고</a:t>
            </a:r>
            <a:endParaRPr kumimoji="0" lang="ko-KR" altLang="en-US" dirty="0"/>
          </a:p>
        </p:txBody>
      </p:sp>
      <p:sp>
        <p:nvSpPr>
          <p:cNvPr id="190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SQ5.2.6</a:t>
            </a:r>
            <a:endParaRPr kumimoji="0" lang="ko-KR" altLang="en-US" dirty="0"/>
          </a:p>
        </p:txBody>
      </p:sp>
      <p:grpSp>
        <p:nvGrpSpPr>
          <p:cNvPr id="191" name="그룹 190"/>
          <p:cNvGrpSpPr/>
          <p:nvPr/>
        </p:nvGrpSpPr>
        <p:grpSpPr>
          <a:xfrm>
            <a:off x="2064211" y="2663251"/>
            <a:ext cx="930081" cy="115755"/>
            <a:chOff x="4297396" y="1127703"/>
            <a:chExt cx="930081" cy="115755"/>
          </a:xfrm>
        </p:grpSpPr>
        <p:grpSp>
          <p:nvGrpSpPr>
            <p:cNvPr id="192" name="그룹 191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194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96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03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4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97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98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99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00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01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02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95" name="그림 194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93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1963754" y="3774379"/>
            <a:ext cx="4896000" cy="1332000"/>
            <a:chOff x="1963754" y="3774379"/>
            <a:chExt cx="4896000" cy="1332000"/>
          </a:xfrm>
        </p:grpSpPr>
        <p:sp>
          <p:nvSpPr>
            <p:cNvPr id="108" name="Rectangle 279"/>
            <p:cNvSpPr/>
            <p:nvPr/>
          </p:nvSpPr>
          <p:spPr>
            <a:xfrm>
              <a:off x="1963754" y="3774379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09" name="텍스트 상자 31"/>
            <p:cNvSpPr txBox="1"/>
            <p:nvPr/>
          </p:nvSpPr>
          <p:spPr>
            <a:xfrm>
              <a:off x="2421414" y="389539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10" name="그룹 400"/>
            <p:cNvGrpSpPr/>
            <p:nvPr/>
          </p:nvGrpSpPr>
          <p:grpSpPr>
            <a:xfrm>
              <a:off x="2078622" y="3884923"/>
              <a:ext cx="229236" cy="229194"/>
              <a:chOff x="2625629" y="3735853"/>
              <a:chExt cx="276891" cy="276839"/>
            </a:xfrm>
          </p:grpSpPr>
          <p:sp>
            <p:nvSpPr>
              <p:cNvPr id="11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12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13" name="텍스트 상자 31"/>
            <p:cNvSpPr txBox="1"/>
            <p:nvPr/>
          </p:nvSpPr>
          <p:spPr>
            <a:xfrm>
              <a:off x="2421414" y="403324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14" name="직선 연결선[R] 33"/>
            <p:cNvCxnSpPr/>
            <p:nvPr/>
          </p:nvCxnSpPr>
          <p:spPr>
            <a:xfrm>
              <a:off x="2052416" y="4854742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텍스트 상자 31"/>
            <p:cNvSpPr txBox="1"/>
            <p:nvPr/>
          </p:nvSpPr>
          <p:spPr>
            <a:xfrm>
              <a:off x="2078622" y="4201829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2017-09-25]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116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3899674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128" name="Freeform 25"/>
            <p:cNvSpPr>
              <a:spLocks noChangeAspect="1" noEditPoints="1"/>
            </p:cNvSpPr>
            <p:nvPr/>
          </p:nvSpPr>
          <p:spPr bwMode="auto">
            <a:xfrm>
              <a:off x="6535161" y="3895253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129" name="텍스트 상자 31"/>
            <p:cNvSpPr txBox="1"/>
            <p:nvPr/>
          </p:nvSpPr>
          <p:spPr>
            <a:xfrm>
              <a:off x="2065279" y="4331928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05" name="그룹 204"/>
            <p:cNvGrpSpPr/>
            <p:nvPr/>
          </p:nvGrpSpPr>
          <p:grpSpPr>
            <a:xfrm>
              <a:off x="2064211" y="4921791"/>
              <a:ext cx="930081" cy="115755"/>
              <a:chOff x="4297396" y="1127703"/>
              <a:chExt cx="930081" cy="115755"/>
            </a:xfrm>
          </p:grpSpPr>
          <p:grpSp>
            <p:nvGrpSpPr>
              <p:cNvPr id="206" name="그룹 205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228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230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242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43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236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237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238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239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40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41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229" name="그림 228"/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227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2064211" y="6313667"/>
            <a:ext cx="930081" cy="115755"/>
            <a:chOff x="4297396" y="1127703"/>
            <a:chExt cx="930081" cy="115755"/>
          </a:xfrm>
        </p:grpSpPr>
        <p:grpSp>
          <p:nvGrpSpPr>
            <p:cNvPr id="245" name="그룹 244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248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50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57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58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51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52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53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54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55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56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49" name="그림 248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47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259" name="그룹 258"/>
          <p:cNvGrpSpPr/>
          <p:nvPr/>
        </p:nvGrpSpPr>
        <p:grpSpPr>
          <a:xfrm>
            <a:off x="2065403" y="2925047"/>
            <a:ext cx="4675215" cy="198000"/>
            <a:chOff x="7341238" y="3747588"/>
            <a:chExt cx="4675215" cy="198000"/>
          </a:xfrm>
        </p:grpSpPr>
        <p:sp>
          <p:nvSpPr>
            <p:cNvPr id="260" name="Rectangle 321"/>
            <p:cNvSpPr/>
            <p:nvPr/>
          </p:nvSpPr>
          <p:spPr>
            <a:xfrm>
              <a:off x="7341238" y="3747588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의견을 입력하세요</a:t>
              </a:r>
              <a:endParaRPr 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1" name="Rounded Rectangle 616"/>
            <p:cNvSpPr/>
            <p:nvPr/>
          </p:nvSpPr>
          <p:spPr>
            <a:xfrm>
              <a:off x="11656453" y="3755850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262" name="Freeform 17"/>
            <p:cNvSpPr>
              <a:spLocks noChangeArrowheads="1"/>
            </p:cNvSpPr>
            <p:nvPr/>
          </p:nvSpPr>
          <p:spPr bwMode="auto">
            <a:xfrm>
              <a:off x="11228438" y="3790180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263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14459" y="3790180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87" name="TextBox 186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1970970" y="2865107"/>
            <a:ext cx="4888783" cy="859917"/>
          </a:xfrm>
          <a:prstGeom prst="rect">
            <a:avLst/>
          </a:prstGeom>
          <a:solidFill>
            <a:schemeClr val="tx1">
              <a:lumMod val="95000"/>
              <a:lumOff val="5000"/>
              <a:alpha val="57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67232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523875" y="1457325"/>
            <a:ext cx="281327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contents</a:t>
            </a:r>
            <a:r>
              <a:rPr lang="ko-KR" altLang="en-US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&gt;</a:t>
            </a:r>
            <a:r>
              <a:rPr lang="en-US" altLang="ko-KR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2800" b="1" smtClean="0">
                <a:latin typeface="+mn-ea"/>
                <a:ea typeface="+mn-ea"/>
              </a:rPr>
              <a:t>공지사항</a:t>
            </a:r>
            <a:endParaRPr lang="ko-KR" altLang="en-US" sz="2800" b="1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787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7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9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0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1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2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9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7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46" name="Rectangle 374"/>
            <p:cNvSpPr/>
            <p:nvPr/>
          </p:nvSpPr>
          <p:spPr>
            <a:xfrm>
              <a:off x="434472" y="235178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1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322988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aphicFrame>
        <p:nvGraphicFramePr>
          <p:cNvPr id="183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2812309"/>
              </p:ext>
            </p:extLst>
          </p:nvPr>
        </p:nvGraphicFramePr>
        <p:xfrm>
          <a:off x="9290533" y="786383"/>
          <a:ext cx="2892502" cy="221877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공지사항 </a:t>
                      </a:r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피드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 영역</a:t>
                      </a:r>
                      <a:endParaRPr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그룹 내 올라온 모든 공지를 모아서 제공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최근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등록순으로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표시 정보는 등록자 프로필 사진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시간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ㅣ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게재 기간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콘텐츠 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버튼의 수정 버튼을 클릭하여 공지 등록 시 콘텐츠 등록 창이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오픈되어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내용</a:t>
                      </a:r>
                      <a:r>
                        <a:rPr kumimoji="1" lang="en-US" altLang="ko-KR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게재 기간 수정 가능 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게재 기간이 종료된 콘텐츠는 공지 탭에서 표시하지 않고 일반 </a:t>
                      </a:r>
                      <a:r>
                        <a:rPr kumimoji="1" lang="ko-KR" altLang="en-US" sz="800" dirty="0" err="1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피드로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표시 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표준 사항 아님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다산만 적용 검토</a:t>
                      </a:r>
                      <a:r>
                        <a:rPr kumimoji="1" lang="en-US" altLang="ko-KR" sz="8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800" dirty="0" smtClean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10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7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7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80" name="직선 연결선[R] 7"/>
            <p:cNvCxnSpPr/>
            <p:nvPr/>
          </p:nvCxnSpPr>
          <p:spPr>
            <a:xfrm>
              <a:off x="701108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81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1" name="Rectangle 202"/>
          <p:cNvSpPr/>
          <p:nvPr/>
        </p:nvSpPr>
        <p:spPr>
          <a:xfrm>
            <a:off x="1963754" y="1394115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72" name="텍스트 상자 31"/>
          <p:cNvSpPr txBox="1"/>
          <p:nvPr/>
        </p:nvSpPr>
        <p:spPr>
          <a:xfrm>
            <a:off x="2421414" y="1524294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73" name="그룹 400"/>
          <p:cNvGrpSpPr/>
          <p:nvPr/>
        </p:nvGrpSpPr>
        <p:grpSpPr>
          <a:xfrm>
            <a:off x="2078622" y="1513918"/>
            <a:ext cx="229236" cy="227167"/>
            <a:chOff x="2625629" y="3735853"/>
            <a:chExt cx="276891" cy="276839"/>
          </a:xfrm>
        </p:grpSpPr>
        <p:sp>
          <p:nvSpPr>
            <p:cNvPr id="7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7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76" name="텍스트 상자 31"/>
          <p:cNvSpPr txBox="1"/>
          <p:nvPr/>
        </p:nvSpPr>
        <p:spPr>
          <a:xfrm>
            <a:off x="2421414" y="1660932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 </a:t>
            </a:r>
            <a:r>
              <a:rPr kumimoji="1" lang="ko-KR" altLang="en-US" sz="550" dirty="0" err="1" smtClean="0">
                <a:solidFill>
                  <a:schemeClr val="bg1">
                    <a:lumMod val="85000"/>
                  </a:schemeClr>
                </a:solidFill>
                <a:latin typeface="+mn-ea"/>
                <a:ea typeface="+mn-ea"/>
              </a:rPr>
              <a:t>ㅣ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</a:t>
            </a:r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2017.09.30 ~ 2017.10.31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6" name="텍스트 상자 31"/>
          <p:cNvSpPr txBox="1"/>
          <p:nvPr/>
        </p:nvSpPr>
        <p:spPr>
          <a:xfrm>
            <a:off x="2078622" y="1864191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8" name="Rounded Rectangle 245"/>
          <p:cNvSpPr/>
          <p:nvPr/>
        </p:nvSpPr>
        <p:spPr>
          <a:xfrm>
            <a:off x="2078622" y="2069367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Rounded Rectangle 246"/>
          <p:cNvSpPr/>
          <p:nvPr/>
        </p:nvSpPr>
        <p:spPr>
          <a:xfrm>
            <a:off x="2564063" y="2069367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90" name="Rounded Rectangle 247"/>
          <p:cNvSpPr/>
          <p:nvPr/>
        </p:nvSpPr>
        <p:spPr>
          <a:xfrm>
            <a:off x="2923619" y="2069367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91" name="직선 연결선[R] 33"/>
          <p:cNvCxnSpPr/>
          <p:nvPr/>
        </p:nvCxnSpPr>
        <p:spPr>
          <a:xfrm>
            <a:off x="2052416" y="2299426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텍스트 상자 31"/>
          <p:cNvSpPr txBox="1"/>
          <p:nvPr/>
        </p:nvSpPr>
        <p:spPr>
          <a:xfrm>
            <a:off x="2151793" y="1224280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7" name="Rectangle 231"/>
          <p:cNvSpPr/>
          <p:nvPr/>
        </p:nvSpPr>
        <p:spPr>
          <a:xfrm>
            <a:off x="1963754" y="2497021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grpSp>
        <p:nvGrpSpPr>
          <p:cNvPr id="93" name="Group 7"/>
          <p:cNvGrpSpPr/>
          <p:nvPr/>
        </p:nvGrpSpPr>
        <p:grpSpPr>
          <a:xfrm>
            <a:off x="2078622" y="2910276"/>
            <a:ext cx="1612396" cy="227167"/>
            <a:chOff x="2478168" y="4026446"/>
            <a:chExt cx="1612396" cy="229194"/>
          </a:xfrm>
        </p:grpSpPr>
        <p:sp>
          <p:nvSpPr>
            <p:cNvPr id="94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95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97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98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96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109" name="직선 연결선[R] 33"/>
          <p:cNvCxnSpPr/>
          <p:nvPr/>
        </p:nvCxnSpPr>
        <p:spPr>
          <a:xfrm>
            <a:off x="2052416" y="2823419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Rectangle 313"/>
          <p:cNvSpPr/>
          <p:nvPr/>
        </p:nvSpPr>
        <p:spPr>
          <a:xfrm>
            <a:off x="1963755" y="3214983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11" name="텍스트 상자 31"/>
          <p:cNvSpPr txBox="1"/>
          <p:nvPr/>
        </p:nvSpPr>
        <p:spPr>
          <a:xfrm>
            <a:off x="4141390" y="3228779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4</a:t>
            </a:r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개 모두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pic>
        <p:nvPicPr>
          <p:cNvPr id="112" name="Picture 280"/>
          <p:cNvPicPr>
            <a:picLocks noChangeAspect="1"/>
          </p:cNvPicPr>
          <p:nvPr/>
        </p:nvPicPr>
        <p:blipFill rotWithShape="1">
          <a:blip r:embed="rId3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211634"/>
            <a:ext cx="181897" cy="153335"/>
          </a:xfrm>
          <a:prstGeom prst="rect">
            <a:avLst/>
          </a:prstGeom>
          <a:effectLst/>
        </p:spPr>
      </p:pic>
      <p:sp>
        <p:nvSpPr>
          <p:cNvPr id="113" name="Freeform 26"/>
          <p:cNvSpPr>
            <a:spLocks noChangeAspect="1" noChangeArrowheads="1"/>
          </p:cNvSpPr>
          <p:nvPr/>
        </p:nvSpPr>
        <p:spPr bwMode="auto">
          <a:xfrm flipH="1">
            <a:off x="6726683" y="1522757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25" name="Freeform 25"/>
          <p:cNvSpPr>
            <a:spLocks noChangeAspect="1" noEditPoints="1"/>
          </p:cNvSpPr>
          <p:nvPr/>
        </p:nvSpPr>
        <p:spPr bwMode="auto">
          <a:xfrm>
            <a:off x="6535161" y="1515746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26" name="Rectangle 202"/>
          <p:cNvSpPr/>
          <p:nvPr/>
        </p:nvSpPr>
        <p:spPr>
          <a:xfrm>
            <a:off x="1963754" y="3392893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27" name="텍스트 상자 31"/>
          <p:cNvSpPr txBox="1"/>
          <p:nvPr/>
        </p:nvSpPr>
        <p:spPr>
          <a:xfrm>
            <a:off x="2421414" y="3523072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홍나리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28" name="그룹 400"/>
          <p:cNvGrpSpPr/>
          <p:nvPr/>
        </p:nvGrpSpPr>
        <p:grpSpPr>
          <a:xfrm>
            <a:off x="2078622" y="3512696"/>
            <a:ext cx="229236" cy="227167"/>
            <a:chOff x="2625629" y="3735853"/>
            <a:chExt cx="276891" cy="276839"/>
          </a:xfrm>
        </p:grpSpPr>
        <p:sp>
          <p:nvSpPr>
            <p:cNvPr id="12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3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31" name="텍스트 상자 31"/>
          <p:cNvSpPr txBox="1"/>
          <p:nvPr/>
        </p:nvSpPr>
        <p:spPr>
          <a:xfrm>
            <a:off x="2421414" y="3662949"/>
            <a:ext cx="1634486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2017.09.30  10:32 </a:t>
            </a:r>
            <a:r>
              <a:rPr lang="ko-KR" altLang="en-US" sz="550" dirty="0" err="1">
                <a:solidFill>
                  <a:schemeClr val="bg1">
                    <a:lumMod val="85000"/>
                  </a:schemeClr>
                </a:solidFill>
                <a:latin typeface="+mn-ea"/>
              </a:rPr>
              <a:t>ㅣ</a:t>
            </a:r>
            <a:r>
              <a:rPr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r>
              <a:rPr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2017.09.30 ~ 2017.10.31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2" name="텍스트 상자 31"/>
          <p:cNvSpPr txBox="1"/>
          <p:nvPr/>
        </p:nvSpPr>
        <p:spPr>
          <a:xfrm>
            <a:off x="2078622" y="3862969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3" name="Rounded Rectangle 245"/>
          <p:cNvSpPr/>
          <p:nvPr/>
        </p:nvSpPr>
        <p:spPr>
          <a:xfrm>
            <a:off x="2078622" y="4068145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4" name="Rounded Rectangle 246"/>
          <p:cNvSpPr/>
          <p:nvPr/>
        </p:nvSpPr>
        <p:spPr>
          <a:xfrm>
            <a:off x="2564063" y="4068145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35" name="Rounded Rectangle 247"/>
          <p:cNvSpPr/>
          <p:nvPr/>
        </p:nvSpPr>
        <p:spPr>
          <a:xfrm>
            <a:off x="2923619" y="4068145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136" name="직선 연결선[R] 33"/>
          <p:cNvCxnSpPr/>
          <p:nvPr/>
        </p:nvCxnSpPr>
        <p:spPr>
          <a:xfrm>
            <a:off x="2052416" y="4298204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Freeform 26"/>
          <p:cNvSpPr>
            <a:spLocks noChangeAspect="1" noChangeArrowheads="1"/>
          </p:cNvSpPr>
          <p:nvPr/>
        </p:nvSpPr>
        <p:spPr bwMode="auto">
          <a:xfrm flipH="1">
            <a:off x="6726683" y="3521535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50" name="Freeform 25"/>
          <p:cNvSpPr>
            <a:spLocks noChangeAspect="1" noEditPoints="1"/>
          </p:cNvSpPr>
          <p:nvPr/>
        </p:nvSpPr>
        <p:spPr bwMode="auto">
          <a:xfrm>
            <a:off x="6535161" y="3514524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51" name="Rectangle 202"/>
          <p:cNvSpPr/>
          <p:nvPr/>
        </p:nvSpPr>
        <p:spPr>
          <a:xfrm>
            <a:off x="1963754" y="456797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52" name="텍스트 상자 31"/>
          <p:cNvSpPr txBox="1"/>
          <p:nvPr/>
        </p:nvSpPr>
        <p:spPr>
          <a:xfrm>
            <a:off x="2421414" y="469815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홍나리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53" name="그룹 400"/>
          <p:cNvGrpSpPr/>
          <p:nvPr/>
        </p:nvGrpSpPr>
        <p:grpSpPr>
          <a:xfrm>
            <a:off x="2078622" y="4687774"/>
            <a:ext cx="229236" cy="227167"/>
            <a:chOff x="2625629" y="3735853"/>
            <a:chExt cx="276891" cy="276839"/>
          </a:xfrm>
        </p:grpSpPr>
        <p:sp>
          <p:nvSpPr>
            <p:cNvPr id="154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55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56" name="텍스트 상자 31"/>
          <p:cNvSpPr txBox="1"/>
          <p:nvPr/>
        </p:nvSpPr>
        <p:spPr>
          <a:xfrm>
            <a:off x="2421414" y="483478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2017.09.25  17:52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7" name="텍스트 상자 31"/>
          <p:cNvSpPr txBox="1"/>
          <p:nvPr/>
        </p:nvSpPr>
        <p:spPr>
          <a:xfrm>
            <a:off x="2078622" y="503804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8" name="Rounded Rectangle 245"/>
          <p:cNvSpPr/>
          <p:nvPr/>
        </p:nvSpPr>
        <p:spPr>
          <a:xfrm>
            <a:off x="2078622" y="524322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9" name="Rounded Rectangle 246"/>
          <p:cNvSpPr/>
          <p:nvPr/>
        </p:nvSpPr>
        <p:spPr>
          <a:xfrm>
            <a:off x="2564063" y="524322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0" name="Rounded Rectangle 247"/>
          <p:cNvSpPr/>
          <p:nvPr/>
        </p:nvSpPr>
        <p:spPr>
          <a:xfrm>
            <a:off x="2923619" y="524322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161" name="직선 연결선[R] 33"/>
          <p:cNvCxnSpPr/>
          <p:nvPr/>
        </p:nvCxnSpPr>
        <p:spPr>
          <a:xfrm>
            <a:off x="2052416" y="547328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3" name="Freeform 26"/>
          <p:cNvSpPr>
            <a:spLocks noChangeAspect="1" noChangeArrowheads="1"/>
          </p:cNvSpPr>
          <p:nvPr/>
        </p:nvSpPr>
        <p:spPr bwMode="auto">
          <a:xfrm flipH="1">
            <a:off x="6726683" y="469661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75" name="Freeform 25"/>
          <p:cNvSpPr>
            <a:spLocks noChangeAspect="1" noEditPoints="1"/>
          </p:cNvSpPr>
          <p:nvPr/>
        </p:nvSpPr>
        <p:spPr bwMode="auto">
          <a:xfrm>
            <a:off x="6535161" y="468960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86" name="Rectangle 202"/>
          <p:cNvSpPr/>
          <p:nvPr/>
        </p:nvSpPr>
        <p:spPr>
          <a:xfrm>
            <a:off x="1963754" y="5724511"/>
            <a:ext cx="4896000" cy="59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87" name="텍스트 상자 31"/>
          <p:cNvSpPr txBox="1"/>
          <p:nvPr/>
        </p:nvSpPr>
        <p:spPr>
          <a:xfrm>
            <a:off x="2421414" y="585469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박미리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88" name="그룹 400"/>
          <p:cNvGrpSpPr/>
          <p:nvPr/>
        </p:nvGrpSpPr>
        <p:grpSpPr>
          <a:xfrm>
            <a:off x="2078622" y="5844314"/>
            <a:ext cx="229236" cy="227167"/>
            <a:chOff x="2625629" y="3735853"/>
            <a:chExt cx="276891" cy="276839"/>
          </a:xfrm>
        </p:grpSpPr>
        <p:sp>
          <p:nvSpPr>
            <p:cNvPr id="18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9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91" name="텍스트 상자 31"/>
          <p:cNvSpPr txBox="1"/>
          <p:nvPr/>
        </p:nvSpPr>
        <p:spPr>
          <a:xfrm>
            <a:off x="2421414" y="599132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2017.09.11  14:05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2" name="텍스트 상자 31"/>
          <p:cNvSpPr txBox="1"/>
          <p:nvPr/>
        </p:nvSpPr>
        <p:spPr>
          <a:xfrm>
            <a:off x="2078622" y="619458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8" name="Freeform 26"/>
          <p:cNvSpPr>
            <a:spLocks noChangeAspect="1" noChangeArrowheads="1"/>
          </p:cNvSpPr>
          <p:nvPr/>
        </p:nvSpPr>
        <p:spPr bwMode="auto">
          <a:xfrm flipH="1">
            <a:off x="6726683" y="585315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11" name="Freeform 25"/>
          <p:cNvSpPr>
            <a:spLocks noChangeAspect="1" noEditPoints="1"/>
          </p:cNvSpPr>
          <p:nvPr/>
        </p:nvSpPr>
        <p:spPr bwMode="auto">
          <a:xfrm>
            <a:off x="6535161" y="584614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212" name="Rectangle 4"/>
          <p:cNvSpPr/>
          <p:nvPr/>
        </p:nvSpPr>
        <p:spPr>
          <a:xfrm>
            <a:off x="1923223" y="1358224"/>
            <a:ext cx="5071324" cy="4995001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" name="타원 212"/>
          <p:cNvSpPr>
            <a:spLocks noChangeAspect="1"/>
          </p:cNvSpPr>
          <p:nvPr/>
        </p:nvSpPr>
        <p:spPr>
          <a:xfrm>
            <a:off x="1823958" y="128095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6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1" lang="ko-KR" altLang="en-US" smtClean="0"/>
              <a:t>공지사항</a:t>
            </a:r>
            <a:endParaRPr kumimoji="0" lang="ko-KR" altLang="en-US" dirty="0"/>
          </a:p>
        </p:txBody>
      </p:sp>
      <p:sp>
        <p:nvSpPr>
          <p:cNvPr id="177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/>
              <a:t>그룹 </a:t>
            </a:r>
            <a:r>
              <a:rPr kumimoji="0" lang="en-US" altLang="ko-KR" smtClean="0"/>
              <a:t>&gt;</a:t>
            </a:r>
            <a:r>
              <a:rPr kumimoji="0" lang="ko-KR" altLang="en-US" smtClean="0"/>
              <a:t>공지사항</a:t>
            </a:r>
            <a:endParaRPr kumimoji="0" lang="ko-KR" altLang="en-US" dirty="0"/>
          </a:p>
        </p:txBody>
      </p:sp>
      <p:sp>
        <p:nvSpPr>
          <p:cNvPr id="178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smtClean="0"/>
              <a:t>SQ5.2.7</a:t>
            </a:r>
            <a:endParaRPr kumimoji="0" lang="ko-KR" altLang="en-US" dirty="0"/>
          </a:p>
        </p:txBody>
      </p:sp>
      <p:grpSp>
        <p:nvGrpSpPr>
          <p:cNvPr id="179" name="그룹 178"/>
          <p:cNvGrpSpPr/>
          <p:nvPr/>
        </p:nvGrpSpPr>
        <p:grpSpPr>
          <a:xfrm>
            <a:off x="2051963" y="2340219"/>
            <a:ext cx="930081" cy="115755"/>
            <a:chOff x="4297396" y="1127703"/>
            <a:chExt cx="930081" cy="115755"/>
          </a:xfrm>
        </p:grpSpPr>
        <p:grpSp>
          <p:nvGrpSpPr>
            <p:cNvPr id="180" name="그룹 179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184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93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01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2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94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95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96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97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99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00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85" name="그림 184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81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203" name="그룹 202"/>
          <p:cNvGrpSpPr/>
          <p:nvPr/>
        </p:nvGrpSpPr>
        <p:grpSpPr>
          <a:xfrm>
            <a:off x="2051963" y="4345861"/>
            <a:ext cx="930081" cy="115755"/>
            <a:chOff x="4297396" y="1127703"/>
            <a:chExt cx="930081" cy="115755"/>
          </a:xfrm>
        </p:grpSpPr>
        <p:grpSp>
          <p:nvGrpSpPr>
            <p:cNvPr id="204" name="그룹 203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206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08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19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20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09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14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15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16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17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18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07" name="그림 206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05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221" name="그룹 220"/>
          <p:cNvGrpSpPr/>
          <p:nvPr/>
        </p:nvGrpSpPr>
        <p:grpSpPr>
          <a:xfrm>
            <a:off x="2051963" y="5520430"/>
            <a:ext cx="930081" cy="115755"/>
            <a:chOff x="4297396" y="1127703"/>
            <a:chExt cx="930081" cy="115755"/>
          </a:xfrm>
        </p:grpSpPr>
        <p:grpSp>
          <p:nvGrpSpPr>
            <p:cNvPr id="222" name="그룹 221"/>
            <p:cNvGrpSpPr/>
            <p:nvPr/>
          </p:nvGrpSpPr>
          <p:grpSpPr>
            <a:xfrm>
              <a:off x="4431341" y="1127703"/>
              <a:ext cx="796136" cy="115755"/>
              <a:chOff x="2195181" y="2841183"/>
              <a:chExt cx="796136" cy="115755"/>
            </a:xfrm>
          </p:grpSpPr>
          <p:grpSp>
            <p:nvGrpSpPr>
              <p:cNvPr id="224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226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233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34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227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228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229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230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31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32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225" name="그림 224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223" name="Freeform 269"/>
            <p:cNvSpPr>
              <a:spLocks noChangeAspect="1"/>
            </p:cNvSpPr>
            <p:nvPr/>
          </p:nvSpPr>
          <p:spPr>
            <a:xfrm>
              <a:off x="4297396" y="1144015"/>
              <a:ext cx="80610" cy="89283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noFill/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grpSp>
        <p:nvGrpSpPr>
          <p:cNvPr id="235" name="그룹 234"/>
          <p:cNvGrpSpPr/>
          <p:nvPr/>
        </p:nvGrpSpPr>
        <p:grpSpPr>
          <a:xfrm>
            <a:off x="2065403" y="2569848"/>
            <a:ext cx="4675215" cy="198000"/>
            <a:chOff x="7341238" y="3747588"/>
            <a:chExt cx="4675215" cy="198000"/>
          </a:xfrm>
        </p:grpSpPr>
        <p:sp>
          <p:nvSpPr>
            <p:cNvPr id="236" name="Rectangle 321"/>
            <p:cNvSpPr/>
            <p:nvPr/>
          </p:nvSpPr>
          <p:spPr>
            <a:xfrm>
              <a:off x="7341238" y="3747588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의견을 입력하세요</a:t>
              </a:r>
              <a:endParaRPr 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7" name="Rounded Rectangle 616"/>
            <p:cNvSpPr/>
            <p:nvPr/>
          </p:nvSpPr>
          <p:spPr>
            <a:xfrm>
              <a:off x="11656453" y="3755850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238" name="Freeform 17"/>
            <p:cNvSpPr>
              <a:spLocks noChangeArrowheads="1"/>
            </p:cNvSpPr>
            <p:nvPr/>
          </p:nvSpPr>
          <p:spPr bwMode="auto">
            <a:xfrm>
              <a:off x="11228438" y="3790180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239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14459" y="3790180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0" name="TextBox 239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725284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공개 그룹</a:t>
            </a:r>
            <a:endParaRPr lang="ko-KR" altLang="en-US" dirty="0"/>
          </a:p>
        </p:txBody>
      </p:sp>
      <p:grpSp>
        <p:nvGrpSpPr>
          <p:cNvPr id="5" name="그룹 4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6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8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9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49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1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" name="직선 연결선[R] 33"/>
            <p:cNvCxnSpPr/>
            <p:nvPr/>
          </p:nvCxnSpPr>
          <p:spPr>
            <a:xfrm>
              <a:off x="441599" y="6118202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텍스트 상자 31"/>
            <p:cNvSpPr txBox="1"/>
            <p:nvPr/>
          </p:nvSpPr>
          <p:spPr>
            <a:xfrm>
              <a:off x="616688" y="592344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2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Freeform 24"/>
            <p:cNvSpPr>
              <a:spLocks noChangeArrowheads="1"/>
            </p:cNvSpPr>
            <p:nvPr/>
          </p:nvSpPr>
          <p:spPr bwMode="auto">
            <a:xfrm flipV="1">
              <a:off x="500676" y="595231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6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8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0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1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4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</a:t>
              </a:r>
              <a:r>
                <a:rPr lang="ko-KR" altLang="en-US"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5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6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2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4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6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7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9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2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3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5" name="Rectangle 374"/>
            <p:cNvSpPr/>
            <p:nvPr/>
          </p:nvSpPr>
          <p:spPr>
            <a:xfrm>
              <a:off x="434472" y="5346855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29" name="Freeform 24"/>
            <p:cNvSpPr>
              <a:spLocks noChangeArrowheads="1"/>
            </p:cNvSpPr>
            <p:nvPr/>
          </p:nvSpPr>
          <p:spPr bwMode="auto">
            <a:xfrm>
              <a:off x="503575" y="5258330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30" name="텍스트 상자 31"/>
            <p:cNvSpPr txBox="1"/>
            <p:nvPr/>
          </p:nvSpPr>
          <p:spPr>
            <a:xfrm>
              <a:off x="735244" y="541015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핸디 </a:t>
              </a:r>
              <a:r>
                <a:rPr kumimoji="1" lang="ko-KR" altLang="en-US" sz="600" dirty="0" err="1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공개그룹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31" name="텍스트 상자 31"/>
            <p:cNvSpPr txBox="1"/>
            <p:nvPr/>
          </p:nvSpPr>
          <p:spPr>
            <a:xfrm>
              <a:off x="735244" y="5566805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32" name="텍스트 상자 31"/>
            <p:cNvSpPr txBox="1"/>
            <p:nvPr/>
          </p:nvSpPr>
          <p:spPr>
            <a:xfrm>
              <a:off x="735244" y="573008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52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570691"/>
              </p:ext>
            </p:extLst>
          </p:nvPr>
        </p:nvGraphicFramePr>
        <p:xfrm>
          <a:off x="9290533" y="786383"/>
          <a:ext cx="2892502" cy="160917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생성한 그룹을 공개 상태로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변경시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혹은 공개 그룹에 참여했을 시 해당 그룹은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</a:rPr>
                        <a:t>공개그룹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 카테고리로 이동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</a:rPr>
                        <a:t>기존의 일반 그룹과 기능적인 부분은 동일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n-ea"/>
                          <a:ea typeface="+mn-ea"/>
                          <a:cs typeface="Nanum Gothic" charset="-127"/>
                        </a:rPr>
                        <a:t>5</a:t>
                      </a:r>
                      <a:endParaRPr sz="800" dirty="0"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5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핸디 </a:t>
            </a:r>
            <a:r>
              <a:rPr kumimoji="1" lang="ko-KR" altLang="en-US" sz="900" b="1" dirty="0" err="1" smtClean="0">
                <a:latin typeface="+mn-ea"/>
                <a:ea typeface="+mn-ea"/>
              </a:rPr>
              <a:t>공개그룹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grpSp>
        <p:nvGrpSpPr>
          <p:cNvPr id="5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5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5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60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 smtClean="0"/>
              <a:t>공개 그룹</a:t>
            </a:r>
            <a:endParaRPr kumimoji="0" lang="ko-KR" altLang="en-US" dirty="0"/>
          </a:p>
        </p:txBody>
      </p:sp>
      <p:sp>
        <p:nvSpPr>
          <p:cNvPr id="61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smtClean="0"/>
              <a:t>SQ5.3</a:t>
            </a:r>
            <a:endParaRPr kumimoji="0" lang="ko-KR" altLang="en-US" dirty="0"/>
          </a:p>
        </p:txBody>
      </p:sp>
      <p:sp>
        <p:nvSpPr>
          <p:cNvPr id="59" name="Rectangle 260"/>
          <p:cNvSpPr/>
          <p:nvPr/>
        </p:nvSpPr>
        <p:spPr>
          <a:xfrm>
            <a:off x="1963621" y="11541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2" name="텍스트 상자 31"/>
          <p:cNvSpPr txBox="1"/>
          <p:nvPr/>
        </p:nvSpPr>
        <p:spPr>
          <a:xfrm>
            <a:off x="2084201" y="11570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3" name="Rectangle 185"/>
          <p:cNvSpPr/>
          <p:nvPr/>
        </p:nvSpPr>
        <p:spPr>
          <a:xfrm>
            <a:off x="1963755" y="5975523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64" name="텍스트 상자 31"/>
          <p:cNvSpPr txBox="1"/>
          <p:nvPr/>
        </p:nvSpPr>
        <p:spPr>
          <a:xfrm>
            <a:off x="2421414" y="610686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65" name="그룹 400"/>
          <p:cNvGrpSpPr/>
          <p:nvPr/>
        </p:nvGrpSpPr>
        <p:grpSpPr>
          <a:xfrm>
            <a:off x="2078622" y="6096396"/>
            <a:ext cx="229236" cy="229194"/>
            <a:chOff x="2625629" y="3735853"/>
            <a:chExt cx="276891" cy="276839"/>
          </a:xfrm>
        </p:grpSpPr>
        <p:sp>
          <p:nvSpPr>
            <p:cNvPr id="66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67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68" name="텍스트 상자 31"/>
          <p:cNvSpPr txBox="1"/>
          <p:nvPr/>
        </p:nvSpPr>
        <p:spPr>
          <a:xfrm>
            <a:off x="2421414" y="624472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9" name="텍스트 상자 31"/>
          <p:cNvSpPr txBox="1"/>
          <p:nvPr/>
        </p:nvSpPr>
        <p:spPr>
          <a:xfrm>
            <a:off x="2078622" y="6429476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텍스트 상자 31"/>
          <p:cNvSpPr txBox="1"/>
          <p:nvPr/>
        </p:nvSpPr>
        <p:spPr>
          <a:xfrm>
            <a:off x="2131697" y="15730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 </a:t>
            </a:r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4</a:t>
            </a:r>
            <a:r>
              <a:rPr kumimoji="1" lang="ko-KR" altLang="en-US" sz="700" b="1" dirty="0" smtClean="0">
                <a:latin typeface="+mn-ea"/>
                <a:ea typeface="+mn-ea"/>
              </a:rPr>
              <a:t> </a:t>
            </a:r>
            <a:endParaRPr kumimoji="1" lang="ko-KR" altLang="en-US" sz="700" b="1" dirty="0">
              <a:latin typeface="+mn-ea"/>
              <a:ea typeface="+mn-ea"/>
            </a:endParaRPr>
          </a:p>
        </p:txBody>
      </p:sp>
      <p:sp>
        <p:nvSpPr>
          <p:cNvPr id="72" name="텍스트 상자 31"/>
          <p:cNvSpPr txBox="1"/>
          <p:nvPr/>
        </p:nvSpPr>
        <p:spPr>
          <a:xfrm>
            <a:off x="6239245" y="15748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73" name="Picture 280"/>
          <p:cNvPicPr>
            <a:picLocks noChangeAspect="1"/>
          </p:cNvPicPr>
          <p:nvPr/>
        </p:nvPicPr>
        <p:blipFill rotWithShape="1">
          <a:blip r:embed="rId3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540321"/>
            <a:ext cx="181897" cy="153335"/>
          </a:xfrm>
          <a:prstGeom prst="rect">
            <a:avLst/>
          </a:prstGeom>
          <a:effectLst/>
        </p:spPr>
      </p:pic>
      <p:sp>
        <p:nvSpPr>
          <p:cNvPr id="91" name="Freeform 26"/>
          <p:cNvSpPr>
            <a:spLocks noChangeAspect="1" noChangeArrowheads="1"/>
          </p:cNvSpPr>
          <p:nvPr/>
        </p:nvSpPr>
        <p:spPr bwMode="auto">
          <a:xfrm flipH="1">
            <a:off x="6726683" y="6109435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94" name="Freeform 25"/>
          <p:cNvSpPr>
            <a:spLocks noChangeAspect="1" noEditPoints="1"/>
          </p:cNvSpPr>
          <p:nvPr/>
        </p:nvSpPr>
        <p:spPr bwMode="auto">
          <a:xfrm>
            <a:off x="6535161" y="611019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97" name="Rectangle 202"/>
          <p:cNvSpPr/>
          <p:nvPr/>
        </p:nvSpPr>
        <p:spPr>
          <a:xfrm>
            <a:off x="1939939" y="227668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98" name="텍스트 상자 31"/>
          <p:cNvSpPr txBox="1"/>
          <p:nvPr/>
        </p:nvSpPr>
        <p:spPr>
          <a:xfrm>
            <a:off x="2397599" y="240686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99" name="그룹 400"/>
          <p:cNvGrpSpPr/>
          <p:nvPr/>
        </p:nvGrpSpPr>
        <p:grpSpPr>
          <a:xfrm>
            <a:off x="2054807" y="2396484"/>
            <a:ext cx="229236" cy="227167"/>
            <a:chOff x="2625629" y="3735853"/>
            <a:chExt cx="276891" cy="276839"/>
          </a:xfrm>
        </p:grpSpPr>
        <p:sp>
          <p:nvSpPr>
            <p:cNvPr id="14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42" name="Picture 157" descr="man-user (1).png"/>
            <p:cNvPicPr>
              <a:picLocks noChangeAspect="1"/>
            </p:cNvPicPr>
            <p:nvPr/>
          </p:nvPicPr>
          <p:blipFill>
            <a:blip r:embed="rId4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00" name="텍스트 상자 31"/>
          <p:cNvSpPr txBox="1"/>
          <p:nvPr/>
        </p:nvSpPr>
        <p:spPr>
          <a:xfrm>
            <a:off x="2397599" y="254349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1" name="텍스트 상자 31"/>
          <p:cNvSpPr txBox="1"/>
          <p:nvPr/>
        </p:nvSpPr>
        <p:spPr>
          <a:xfrm>
            <a:off x="2054807" y="274675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2" name="Rectangle 231"/>
          <p:cNvSpPr/>
          <p:nvPr/>
        </p:nvSpPr>
        <p:spPr>
          <a:xfrm>
            <a:off x="1939939" y="3379587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03" name="Rounded Rectangle 245"/>
          <p:cNvSpPr/>
          <p:nvPr/>
        </p:nvSpPr>
        <p:spPr>
          <a:xfrm>
            <a:off x="2054807" y="295193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Rounded Rectangle 246"/>
          <p:cNvSpPr/>
          <p:nvPr/>
        </p:nvSpPr>
        <p:spPr>
          <a:xfrm>
            <a:off x="2540248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05" name="Rounded Rectangle 247"/>
          <p:cNvSpPr/>
          <p:nvPr/>
        </p:nvSpPr>
        <p:spPr>
          <a:xfrm>
            <a:off x="2899804" y="29519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106" name="직선 연결선[R] 33"/>
          <p:cNvCxnSpPr/>
          <p:nvPr/>
        </p:nvCxnSpPr>
        <p:spPr>
          <a:xfrm>
            <a:off x="2028601" y="318199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07" name="Group 7"/>
          <p:cNvGrpSpPr/>
          <p:nvPr/>
        </p:nvGrpSpPr>
        <p:grpSpPr>
          <a:xfrm>
            <a:off x="2054807" y="3792842"/>
            <a:ext cx="1612396" cy="227167"/>
            <a:chOff x="2478168" y="4026446"/>
            <a:chExt cx="1612396" cy="229194"/>
          </a:xfrm>
        </p:grpSpPr>
        <p:sp>
          <p:nvSpPr>
            <p:cNvPr id="136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37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139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40" name="Picture 157" descr="man-user (1).png"/>
              <p:cNvPicPr>
                <a:picLocks noChangeAspect="1"/>
              </p:cNvPicPr>
              <p:nvPr/>
            </p:nvPicPr>
            <p:blipFill>
              <a:blip r:embed="rId4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38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112" name="직선 연결선[R] 33"/>
          <p:cNvCxnSpPr/>
          <p:nvPr/>
        </p:nvCxnSpPr>
        <p:spPr>
          <a:xfrm>
            <a:off x="2028601" y="3705985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Rectangle 313"/>
          <p:cNvSpPr/>
          <p:nvPr/>
        </p:nvSpPr>
        <p:spPr>
          <a:xfrm>
            <a:off x="1939940" y="4097549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14" name="텍스트 상자 31"/>
          <p:cNvSpPr txBox="1"/>
          <p:nvPr/>
        </p:nvSpPr>
        <p:spPr>
          <a:xfrm>
            <a:off x="4117575" y="4111345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전체 댓글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15" name="Freeform 26"/>
          <p:cNvSpPr>
            <a:spLocks noChangeAspect="1" noChangeArrowheads="1"/>
          </p:cNvSpPr>
          <p:nvPr/>
        </p:nvSpPr>
        <p:spPr bwMode="auto">
          <a:xfrm flipH="1">
            <a:off x="6702868" y="240532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16" name="Freeform 25"/>
          <p:cNvSpPr>
            <a:spLocks noChangeAspect="1" noEditPoints="1"/>
          </p:cNvSpPr>
          <p:nvPr/>
        </p:nvSpPr>
        <p:spPr bwMode="auto">
          <a:xfrm>
            <a:off x="6511346" y="239831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117" name="그룹 116"/>
          <p:cNvGrpSpPr/>
          <p:nvPr/>
        </p:nvGrpSpPr>
        <p:grpSpPr>
          <a:xfrm>
            <a:off x="2040056" y="3219147"/>
            <a:ext cx="927446" cy="115755"/>
            <a:chOff x="2063871" y="2807721"/>
            <a:chExt cx="927446" cy="115755"/>
          </a:xfrm>
        </p:grpSpPr>
        <p:grpSp>
          <p:nvGrpSpPr>
            <p:cNvPr id="118" name="그룹 117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120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22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29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30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23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24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25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26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27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28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21" name="그림 120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19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1939940" y="4350848"/>
            <a:ext cx="4896000" cy="1401523"/>
            <a:chOff x="1904114" y="4350848"/>
            <a:chExt cx="4896000" cy="1401523"/>
          </a:xfrm>
        </p:grpSpPr>
        <p:sp>
          <p:nvSpPr>
            <p:cNvPr id="70" name="Rectangle 279"/>
            <p:cNvSpPr/>
            <p:nvPr/>
          </p:nvSpPr>
          <p:spPr>
            <a:xfrm>
              <a:off x="1904114" y="4350848"/>
              <a:ext cx="4896000" cy="140152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74" name="텍스트 상자 31"/>
            <p:cNvSpPr txBox="1"/>
            <p:nvPr/>
          </p:nvSpPr>
          <p:spPr>
            <a:xfrm>
              <a:off x="2421414" y="446287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75" name="그룹 400"/>
            <p:cNvGrpSpPr/>
            <p:nvPr/>
          </p:nvGrpSpPr>
          <p:grpSpPr>
            <a:xfrm>
              <a:off x="2078622" y="4452402"/>
              <a:ext cx="229236" cy="229194"/>
              <a:chOff x="2625629" y="3735853"/>
              <a:chExt cx="276891" cy="276839"/>
            </a:xfrm>
          </p:grpSpPr>
          <p:sp>
            <p:nvSpPr>
              <p:cNvPr id="7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7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78" name="텍스트 상자 31"/>
            <p:cNvSpPr txBox="1"/>
            <p:nvPr/>
          </p:nvSpPr>
          <p:spPr>
            <a:xfrm>
              <a:off x="2421414" y="4600728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79" name="직선 연결선[R] 33"/>
            <p:cNvCxnSpPr/>
            <p:nvPr/>
          </p:nvCxnSpPr>
          <p:spPr>
            <a:xfrm>
              <a:off x="2052416" y="5512653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" name="그룹 79"/>
            <p:cNvGrpSpPr/>
            <p:nvPr/>
          </p:nvGrpSpPr>
          <p:grpSpPr>
            <a:xfrm>
              <a:off x="2067486" y="4779356"/>
              <a:ext cx="4700930" cy="644971"/>
              <a:chOff x="2067486" y="4286437"/>
              <a:chExt cx="4700930" cy="644971"/>
            </a:xfrm>
          </p:grpSpPr>
          <p:sp>
            <p:nvSpPr>
              <p:cNvPr id="81" name="Rectangle 177"/>
              <p:cNvSpPr/>
              <p:nvPr/>
            </p:nvSpPr>
            <p:spPr>
              <a:xfrm>
                <a:off x="2067486" y="4472532"/>
                <a:ext cx="4700930" cy="45887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+mn-ea"/>
                </a:endParaRPr>
              </a:p>
            </p:txBody>
          </p:sp>
          <p:grpSp>
            <p:nvGrpSpPr>
              <p:cNvPr id="82" name="Group 11"/>
              <p:cNvGrpSpPr/>
              <p:nvPr/>
            </p:nvGrpSpPr>
            <p:grpSpPr>
              <a:xfrm>
                <a:off x="2484729" y="4565835"/>
                <a:ext cx="1791250" cy="272271"/>
                <a:chOff x="2887384" y="5664055"/>
                <a:chExt cx="1791250" cy="272271"/>
              </a:xfrm>
            </p:grpSpPr>
            <p:sp>
              <p:nvSpPr>
                <p:cNvPr id="86" name="텍스트 상자 31"/>
                <p:cNvSpPr txBox="1"/>
                <p:nvPr/>
              </p:nvSpPr>
              <p:spPr>
                <a:xfrm>
                  <a:off x="2892510" y="5664055"/>
                  <a:ext cx="1786124" cy="10750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A</a:t>
                  </a:r>
                  <a:r>
                    <a:rPr kumimoji="1" lang="ko-KR" altLang="en-US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서비스 </a:t>
                  </a:r>
                  <a:r>
                    <a:rPr kumimoji="1" lang="en-US" altLang="ko-KR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TF</a:t>
                  </a:r>
                  <a:r>
                    <a:rPr kumimoji="1" lang="ko-KR" altLang="en-US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팀 중간회식</a:t>
                  </a:r>
                  <a:endParaRPr kumimoji="1" lang="ko-KR" altLang="en-US" sz="7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87" name="텍스트 상자 31"/>
                <p:cNvSpPr txBox="1"/>
                <p:nvPr/>
              </p:nvSpPr>
              <p:spPr>
                <a:xfrm>
                  <a:off x="2887384" y="5807060"/>
                  <a:ext cx="1621213" cy="1292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2017.09.30</a:t>
                  </a:r>
                  <a:r>
                    <a:rPr kumimoji="1" lang="ko-KR" altLang="en-US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(</a:t>
                  </a:r>
                  <a:r>
                    <a:rPr kumimoji="1" lang="ko-KR" altLang="en-US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금</a:t>
                  </a: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)</a:t>
                  </a:r>
                  <a:r>
                    <a:rPr kumimoji="1" lang="ko-KR" altLang="en-US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오후 </a:t>
                  </a: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7:00-8:00</a:t>
                  </a:r>
                  <a:endParaRPr kumimoji="1" lang="ko-KR" altLang="en-US" sz="7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83" name="Freeform 33"/>
              <p:cNvSpPr>
                <a:spLocks noEditPoints="1"/>
              </p:cNvSpPr>
              <p:nvPr/>
            </p:nvSpPr>
            <p:spPr bwMode="auto">
              <a:xfrm>
                <a:off x="2194138" y="4599136"/>
                <a:ext cx="182894" cy="20352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4" name="텍스트 상자 31"/>
              <p:cNvSpPr txBox="1"/>
              <p:nvPr/>
            </p:nvSpPr>
            <p:spPr>
              <a:xfrm>
                <a:off x="2078622" y="4286437"/>
                <a:ext cx="3198684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A</a:t>
                </a:r>
                <a:r>
                  <a:rPr kumimoji="1" lang="ko-KR" altLang="en-US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서비스 </a:t>
                </a:r>
                <a:r>
                  <a:rPr kumimoji="1" lang="en-US" altLang="ko-KR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TF</a:t>
                </a:r>
                <a:r>
                  <a:rPr kumimoji="1" lang="ko-KR" altLang="en-US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팀 중간회식</a:t>
                </a:r>
                <a:r>
                  <a:rPr kumimoji="1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일정을 등록했습니다</a:t>
                </a:r>
                <a:r>
                  <a:rPr kumimoji="1" lang="en-US" altLang="ko-KR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.</a:t>
                </a:r>
                <a:endPara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85" name="Freeform 14"/>
              <p:cNvSpPr>
                <a:spLocks noChangeArrowheads="1"/>
              </p:cNvSpPr>
              <p:nvPr/>
            </p:nvSpPr>
            <p:spPr bwMode="auto">
              <a:xfrm rot="5400000">
                <a:off x="6529129" y="4666775"/>
                <a:ext cx="91044" cy="55638"/>
              </a:xfrm>
              <a:custGeom>
                <a:avLst/>
                <a:gdLst>
                  <a:gd name="T0" fmla="*/ 36 w 316"/>
                  <a:gd name="T1" fmla="*/ 193 h 194"/>
                  <a:gd name="T2" fmla="*/ 158 w 316"/>
                  <a:gd name="T3" fmla="*/ 72 h 194"/>
                  <a:gd name="T4" fmla="*/ 280 w 316"/>
                  <a:gd name="T5" fmla="*/ 193 h 194"/>
                  <a:gd name="T6" fmla="*/ 315 w 316"/>
                  <a:gd name="T7" fmla="*/ 158 h 194"/>
                  <a:gd name="T8" fmla="*/ 158 w 316"/>
                  <a:gd name="T9" fmla="*/ 0 h 194"/>
                  <a:gd name="T10" fmla="*/ 0 w 316"/>
                  <a:gd name="T11" fmla="*/ 158 h 194"/>
                  <a:gd name="T12" fmla="*/ 36 w 316"/>
                  <a:gd name="T13" fmla="*/ 19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6" h="194">
                    <a:moveTo>
                      <a:pt x="36" y="193"/>
                    </a:moveTo>
                    <a:lnTo>
                      <a:pt x="158" y="72"/>
                    </a:lnTo>
                    <a:lnTo>
                      <a:pt x="280" y="193"/>
                    </a:lnTo>
                    <a:lnTo>
                      <a:pt x="315" y="158"/>
                    </a:lnTo>
                    <a:lnTo>
                      <a:pt x="158" y="0"/>
                    </a:lnTo>
                    <a:lnTo>
                      <a:pt x="0" y="158"/>
                    </a:lnTo>
                    <a:lnTo>
                      <a:pt x="36" y="193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sp>
          <p:nvSpPr>
            <p:cNvPr id="90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4467153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93" name="Freeform 25"/>
            <p:cNvSpPr>
              <a:spLocks noChangeAspect="1" noEditPoints="1"/>
            </p:cNvSpPr>
            <p:nvPr/>
          </p:nvSpPr>
          <p:spPr bwMode="auto">
            <a:xfrm>
              <a:off x="6535161" y="4462732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grpSp>
          <p:nvGrpSpPr>
            <p:cNvPr id="143" name="그룹 142"/>
            <p:cNvGrpSpPr/>
            <p:nvPr/>
          </p:nvGrpSpPr>
          <p:grpSpPr>
            <a:xfrm>
              <a:off x="2063871" y="5570697"/>
              <a:ext cx="927446" cy="115755"/>
              <a:chOff x="2063871" y="2807721"/>
              <a:chExt cx="927446" cy="115755"/>
            </a:xfrm>
          </p:grpSpPr>
          <p:grpSp>
            <p:nvGrpSpPr>
              <p:cNvPr id="144" name="그룹 143"/>
              <p:cNvGrpSpPr/>
              <p:nvPr/>
            </p:nvGrpSpPr>
            <p:grpSpPr>
              <a:xfrm>
                <a:off x="2195181" y="2807721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146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148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155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56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149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150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151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152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153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154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147" name="그림 146"/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145" name="Freeform 739"/>
              <p:cNvSpPr>
                <a:spLocks noChangeAspect="1"/>
              </p:cNvSpPr>
              <p:nvPr/>
            </p:nvSpPr>
            <p:spPr>
              <a:xfrm>
                <a:off x="2063871" y="2822987"/>
                <a:ext cx="76920" cy="85196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57" name="그룹 156"/>
          <p:cNvGrpSpPr/>
          <p:nvPr/>
        </p:nvGrpSpPr>
        <p:grpSpPr>
          <a:xfrm>
            <a:off x="5841650" y="1256584"/>
            <a:ext cx="889785" cy="145888"/>
            <a:chOff x="5763766" y="-232900"/>
            <a:chExt cx="1144429" cy="187639"/>
          </a:xfrm>
        </p:grpSpPr>
        <p:sp>
          <p:nvSpPr>
            <p:cNvPr id="158" name="Freeform 17"/>
            <p:cNvSpPr>
              <a:spLocks noChangeArrowheads="1"/>
            </p:cNvSpPr>
            <p:nvPr/>
          </p:nvSpPr>
          <p:spPr bwMode="auto">
            <a:xfrm>
              <a:off x="5763766" y="-214900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159" name="Freeform 33"/>
            <p:cNvSpPr>
              <a:spLocks noEditPoints="1"/>
            </p:cNvSpPr>
            <p:nvPr/>
          </p:nvSpPr>
          <p:spPr bwMode="auto">
            <a:xfrm>
              <a:off x="6236907" y="-214900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160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3023" y="-214900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1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3551" y="-232900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2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8195" y="-22526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63" name="Straight Connector 422"/>
          <p:cNvCxnSpPr/>
          <p:nvPr/>
        </p:nvCxnSpPr>
        <p:spPr>
          <a:xfrm>
            <a:off x="1933588" y="219167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모서리가 둥근 직사각형 163"/>
          <p:cNvSpPr/>
          <p:nvPr/>
        </p:nvSpPr>
        <p:spPr>
          <a:xfrm>
            <a:off x="1996708" y="1739169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1996708" y="1890895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1996708" y="2038266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2231181" y="1696878"/>
            <a:ext cx="166608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11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월 통신사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회식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2231181" y="1846963"/>
            <a:ext cx="4598407" cy="200055"/>
          </a:xfrm>
          <a:prstGeom prst="rect">
            <a:avLst/>
          </a:prstGeom>
          <a:noFill/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워크샵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남겨주세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2231181" y="1993619"/>
            <a:ext cx="1406402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TFT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85" name="그룹 184"/>
          <p:cNvGrpSpPr/>
          <p:nvPr/>
        </p:nvGrpSpPr>
        <p:grpSpPr>
          <a:xfrm>
            <a:off x="3834671" y="874513"/>
            <a:ext cx="3603039" cy="176117"/>
            <a:chOff x="4079770" y="874786"/>
            <a:chExt cx="3603039" cy="176117"/>
          </a:xfrm>
        </p:grpSpPr>
        <p:sp>
          <p:nvSpPr>
            <p:cNvPr id="186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87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88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89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90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91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92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93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194" name="내용 개체 틀 18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53988962"/>
              </p:ext>
            </p:extLst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5" name="Rectangle 477"/>
          <p:cNvSpPr/>
          <p:nvPr/>
        </p:nvSpPr>
        <p:spPr>
          <a:xfrm>
            <a:off x="6925831" y="5484435"/>
            <a:ext cx="2169137" cy="8520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19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19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9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20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20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20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0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0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20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0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1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1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213" name="Group 159"/>
          <p:cNvGrpSpPr/>
          <p:nvPr/>
        </p:nvGrpSpPr>
        <p:grpSpPr>
          <a:xfrm>
            <a:off x="6994207" y="5576668"/>
            <a:ext cx="2088322" cy="557327"/>
            <a:chOff x="5995939" y="5903574"/>
            <a:chExt cx="2088322" cy="557327"/>
          </a:xfrm>
        </p:grpSpPr>
        <p:sp>
          <p:nvSpPr>
            <p:cNvPr id="21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21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6" name="텍스트 상자 31"/>
            <p:cNvSpPr txBox="1"/>
            <p:nvPr/>
          </p:nvSpPr>
          <p:spPr>
            <a:xfrm>
              <a:off x="5996261" y="6115357"/>
              <a:ext cx="2088000" cy="3455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</p:txBody>
        </p:sp>
      </p:grpSp>
      <p:sp>
        <p:nvSpPr>
          <p:cNvPr id="21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핸디공개그룹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1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1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2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2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2" name="Straight Connector 514"/>
          <p:cNvCxnSpPr>
            <a:endCxn id="194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224" name="직선 연결선 223"/>
          <p:cNvCxnSpPr>
            <a:endCxn id="194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직선 연결선 224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36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grpSp>
        <p:nvGrpSpPr>
          <p:cNvPr id="237" name="그룹 236"/>
          <p:cNvGrpSpPr/>
          <p:nvPr/>
        </p:nvGrpSpPr>
        <p:grpSpPr>
          <a:xfrm>
            <a:off x="2065403" y="3441058"/>
            <a:ext cx="4675215" cy="198000"/>
            <a:chOff x="7341238" y="3747588"/>
            <a:chExt cx="4675215" cy="198000"/>
          </a:xfrm>
        </p:grpSpPr>
        <p:sp>
          <p:nvSpPr>
            <p:cNvPr id="238" name="Rectangle 321"/>
            <p:cNvSpPr/>
            <p:nvPr/>
          </p:nvSpPr>
          <p:spPr>
            <a:xfrm>
              <a:off x="7341238" y="3747588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의견을 입력하세요</a:t>
              </a:r>
              <a:endParaRPr lang="en-US" sz="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9" name="Rounded Rectangle 616"/>
            <p:cNvSpPr/>
            <p:nvPr/>
          </p:nvSpPr>
          <p:spPr>
            <a:xfrm>
              <a:off x="11656453" y="3755850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240" name="Freeform 17"/>
            <p:cNvSpPr>
              <a:spLocks noChangeArrowheads="1"/>
            </p:cNvSpPr>
            <p:nvPr/>
          </p:nvSpPr>
          <p:spPr bwMode="auto">
            <a:xfrm>
              <a:off x="11228438" y="3790180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241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14459" y="3790180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33" name="직각 삼각형 232"/>
          <p:cNvSpPr/>
          <p:nvPr/>
        </p:nvSpPr>
        <p:spPr>
          <a:xfrm flipH="1">
            <a:off x="10890354" y="5352420"/>
            <a:ext cx="1301646" cy="1508889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11/06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페이지 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추가 생성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0945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2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0543150"/>
              </p:ext>
            </p:extLst>
          </p:nvPr>
        </p:nvGraphicFramePr>
        <p:xfrm>
          <a:off x="9290533" y="786383"/>
          <a:ext cx="2892502" cy="16498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종료시점과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그룹을 종료한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사용자의 이름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,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팀을 명시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‘00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그룹을 종료했습니다</a:t>
                      </a:r>
                      <a:r>
                        <a:rPr kumimoji="1" lang="en-US" altLang="ko-KR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.’ 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문구 노출 </a:t>
                      </a:r>
                      <a:endParaRPr kumimoji="1" lang="en-US" altLang="ko-KR" sz="8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1113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그룹명에</a:t>
                      </a:r>
                      <a:r>
                        <a:rPr kumimoji="1" lang="ko-KR" altLang="en-US" sz="8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별도 링크 없음</a:t>
                      </a:r>
                      <a:endParaRPr kumimoji="1" lang="en-US" altLang="ko-KR" sz="80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kern="1200" baseline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종료된 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그룹 내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피드와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의견은 등록과 모든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추가기능이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제한 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작성자라도 삭제나 수정 불가</a:t>
                      </a:r>
                      <a:r>
                        <a:rPr lang="en-US" altLang="ko-KR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) 20171113</a:t>
                      </a:r>
                      <a:r>
                        <a:rPr lang="ko-KR" altLang="en-US" sz="800" kern="1200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Nanum Gothic" charset="-127"/>
                        </a:rPr>
                        <a:t> 반영</a:t>
                      </a:r>
                      <a:endParaRPr lang="en-US" altLang="ko-KR" sz="800" kern="1200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3</a:t>
                      </a:r>
                      <a:endParaRPr sz="8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그룹 </a:t>
                      </a:r>
                      <a:r>
                        <a:rPr kumimoji="1" lang="ko-KR" altLang="en-US" sz="800" b="1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재시작</a:t>
                      </a:r>
                      <a:r>
                        <a:rPr kumimoji="1" lang="ko-KR" altLang="en-US" sz="800" b="1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버튼</a:t>
                      </a:r>
                      <a:endParaRPr kumimoji="1" lang="en-US" altLang="ko-KR" sz="800" b="1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  <a:p>
                      <a:pPr marL="11113" indent="0" algn="l" defTabSz="914400"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선택시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그룹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재시작에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대학 확인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알럿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노출 후 </a:t>
                      </a:r>
                      <a:r>
                        <a:rPr kumimoji="1" lang="ko-KR" altLang="en-US" sz="80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선택시</a:t>
                      </a:r>
                      <a:r>
                        <a:rPr kumimoji="1" lang="ko-KR" altLang="en-US" sz="80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 그룹이 활성화되어 종료된 그룹 리스트에서 내 그룹으로 이동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53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5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5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5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58" name="제목 1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종료된 그룹</a:t>
            </a:r>
            <a:endParaRPr kumimoji="0" lang="ko-KR" altLang="en-US" dirty="0"/>
          </a:p>
        </p:txBody>
      </p:sp>
      <p:sp>
        <p:nvSpPr>
          <p:cNvPr id="59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/>
              <a:t>스퀘어 홈</a:t>
            </a:r>
            <a:r>
              <a:rPr kumimoji="0" lang="en-US" altLang="ko-KR"/>
              <a:t>&gt; </a:t>
            </a:r>
            <a:r>
              <a:rPr kumimoji="0" lang="ko-KR" altLang="en-US" smtClean="0"/>
              <a:t>종료된 그룹</a:t>
            </a:r>
            <a:endParaRPr kumimoji="0" lang="ko-KR" altLang="en-US" dirty="0"/>
          </a:p>
        </p:txBody>
      </p:sp>
      <p:sp>
        <p:nvSpPr>
          <p:cNvPr id="60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smtClean="0"/>
              <a:t>SQ5.4</a:t>
            </a:r>
            <a:endParaRPr kumimoji="0" lang="ko-KR" altLang="en-US" dirty="0"/>
          </a:p>
        </p:txBody>
      </p:sp>
      <p:grpSp>
        <p:nvGrpSpPr>
          <p:cNvPr id="62" name="그룹 61"/>
          <p:cNvGrpSpPr/>
          <p:nvPr/>
        </p:nvGrpSpPr>
        <p:grpSpPr>
          <a:xfrm>
            <a:off x="429108" y="688668"/>
            <a:ext cx="1564834" cy="5911185"/>
            <a:chOff x="429108" y="688668"/>
            <a:chExt cx="1564834" cy="5911185"/>
          </a:xfrm>
        </p:grpSpPr>
        <p:sp>
          <p:nvSpPr>
            <p:cNvPr id="63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64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65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66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109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1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111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7" name="직선 연결선[R] 33"/>
            <p:cNvCxnSpPr/>
            <p:nvPr/>
          </p:nvCxnSpPr>
          <p:spPr>
            <a:xfrm>
              <a:off x="441599" y="6118202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텍스트 상자 31"/>
            <p:cNvSpPr txBox="1"/>
            <p:nvPr/>
          </p:nvSpPr>
          <p:spPr>
            <a:xfrm>
              <a:off x="616688" y="5385452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70" name="Freeform 24"/>
            <p:cNvSpPr>
              <a:spLocks noChangeArrowheads="1"/>
            </p:cNvSpPr>
            <p:nvPr/>
          </p:nvSpPr>
          <p:spPr bwMode="auto">
            <a:xfrm flipV="1">
              <a:off x="500676" y="525226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71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72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74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76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77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텍스트 상자 31"/>
            <p:cNvSpPr txBox="1"/>
            <p:nvPr/>
          </p:nvSpPr>
          <p:spPr>
            <a:xfrm>
              <a:off x="614707" y="6176794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초대 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1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79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80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81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82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83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84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85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86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87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88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90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107" name="TextBox 106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08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92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93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4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95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96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7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8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99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00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01" name="Rectangle 374"/>
            <p:cNvSpPr/>
            <p:nvPr/>
          </p:nvSpPr>
          <p:spPr>
            <a:xfrm>
              <a:off x="434472" y="5494516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2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03" name="Freeform 24"/>
            <p:cNvSpPr>
              <a:spLocks noChangeArrowheads="1"/>
            </p:cNvSpPr>
            <p:nvPr/>
          </p:nvSpPr>
          <p:spPr bwMode="auto">
            <a:xfrm>
              <a:off x="503575" y="5414933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04" name="텍스트 상자 31"/>
            <p:cNvSpPr txBox="1"/>
            <p:nvPr/>
          </p:nvSpPr>
          <p:spPr>
            <a:xfrm>
              <a:off x="735244" y="5557814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종료된 프로젝트 그룹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05" name="텍스트 상자 31"/>
            <p:cNvSpPr txBox="1"/>
            <p:nvPr/>
          </p:nvSpPr>
          <p:spPr>
            <a:xfrm>
              <a:off x="735244" y="5714466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06" name="텍스트 상자 31"/>
            <p:cNvSpPr txBox="1"/>
            <p:nvPr/>
          </p:nvSpPr>
          <p:spPr>
            <a:xfrm>
              <a:off x="735244" y="58777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13" name="Rectangle 185"/>
          <p:cNvSpPr/>
          <p:nvPr/>
        </p:nvSpPr>
        <p:spPr>
          <a:xfrm>
            <a:off x="1963755" y="5708823"/>
            <a:ext cx="4896000" cy="1116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14" name="텍스트 상자 31"/>
          <p:cNvSpPr txBox="1"/>
          <p:nvPr/>
        </p:nvSpPr>
        <p:spPr>
          <a:xfrm>
            <a:off x="2421414" y="5840165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정종완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개발본부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15" name="그룹 400"/>
          <p:cNvGrpSpPr/>
          <p:nvPr/>
        </p:nvGrpSpPr>
        <p:grpSpPr>
          <a:xfrm>
            <a:off x="2078622" y="5829696"/>
            <a:ext cx="229236" cy="229194"/>
            <a:chOff x="2625629" y="3735853"/>
            <a:chExt cx="276891" cy="276839"/>
          </a:xfrm>
        </p:grpSpPr>
        <p:sp>
          <p:nvSpPr>
            <p:cNvPr id="116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17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18" name="텍스트 상자 31"/>
          <p:cNvSpPr txBox="1"/>
          <p:nvPr/>
        </p:nvSpPr>
        <p:spPr>
          <a:xfrm>
            <a:off x="2421414" y="5978022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3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9" name="텍스트 상자 31"/>
          <p:cNvSpPr txBox="1"/>
          <p:nvPr/>
        </p:nvSpPr>
        <p:spPr>
          <a:xfrm>
            <a:off x="2078622" y="6162776"/>
            <a:ext cx="3198684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개발 일정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아래 링크타고 들어가서 확인해주세요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더불어 몇가지 이슈가 있어 공유드립니다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kumimoji="1"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kumimoji="1"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228600" indent="-228600">
              <a:lnSpc>
                <a:spcPct val="120000"/>
              </a:lnSpc>
              <a:buFontTx/>
              <a:buAutoNum type="arabicPeriod"/>
            </a:pP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블라블라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6" name="Rectangle 202"/>
          <p:cNvSpPr/>
          <p:nvPr/>
        </p:nvSpPr>
        <p:spPr>
          <a:xfrm>
            <a:off x="1939939" y="201760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27" name="텍스트 상자 31"/>
          <p:cNvSpPr txBox="1"/>
          <p:nvPr/>
        </p:nvSpPr>
        <p:spPr>
          <a:xfrm>
            <a:off x="2397599" y="214778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28" name="그룹 400"/>
          <p:cNvGrpSpPr/>
          <p:nvPr/>
        </p:nvGrpSpPr>
        <p:grpSpPr>
          <a:xfrm>
            <a:off x="2054807" y="2137404"/>
            <a:ext cx="229236" cy="227167"/>
            <a:chOff x="2625629" y="3735853"/>
            <a:chExt cx="276891" cy="276839"/>
          </a:xfrm>
        </p:grpSpPr>
        <p:sp>
          <p:nvSpPr>
            <p:cNvPr id="170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71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29" name="텍스트 상자 31"/>
          <p:cNvSpPr txBox="1"/>
          <p:nvPr/>
        </p:nvSpPr>
        <p:spPr>
          <a:xfrm>
            <a:off x="2397599" y="228441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0" name="텍스트 상자 31"/>
          <p:cNvSpPr txBox="1"/>
          <p:nvPr/>
        </p:nvSpPr>
        <p:spPr>
          <a:xfrm>
            <a:off x="2054807" y="248767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회식날짜를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1" name="Rectangle 231"/>
          <p:cNvSpPr/>
          <p:nvPr/>
        </p:nvSpPr>
        <p:spPr>
          <a:xfrm>
            <a:off x="1939939" y="3120507"/>
            <a:ext cx="4896000" cy="850249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32" name="Rounded Rectangle 245"/>
          <p:cNvSpPr/>
          <p:nvPr/>
        </p:nvSpPr>
        <p:spPr>
          <a:xfrm>
            <a:off x="2054807" y="269285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Rounded Rectangle 246"/>
          <p:cNvSpPr/>
          <p:nvPr/>
        </p:nvSpPr>
        <p:spPr>
          <a:xfrm>
            <a:off x="2540248" y="269285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34" name="Rounded Rectangle 247"/>
          <p:cNvSpPr/>
          <p:nvPr/>
        </p:nvSpPr>
        <p:spPr>
          <a:xfrm>
            <a:off x="2899804" y="269285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135" name="직선 연결선[R] 33"/>
          <p:cNvCxnSpPr/>
          <p:nvPr/>
        </p:nvCxnSpPr>
        <p:spPr>
          <a:xfrm>
            <a:off x="2028601" y="292291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36" name="Group 7"/>
          <p:cNvGrpSpPr/>
          <p:nvPr/>
        </p:nvGrpSpPr>
        <p:grpSpPr>
          <a:xfrm>
            <a:off x="2054807" y="3533762"/>
            <a:ext cx="1612396" cy="227167"/>
            <a:chOff x="2478168" y="4026446"/>
            <a:chExt cx="1612396" cy="229194"/>
          </a:xfrm>
        </p:grpSpPr>
        <p:sp>
          <p:nvSpPr>
            <p:cNvPr id="165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66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168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169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67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141" name="직선 연결선[R] 33"/>
          <p:cNvCxnSpPr/>
          <p:nvPr/>
        </p:nvCxnSpPr>
        <p:spPr>
          <a:xfrm>
            <a:off x="2028601" y="3446905"/>
            <a:ext cx="4716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2" name="Rectangle 313"/>
          <p:cNvSpPr/>
          <p:nvPr/>
        </p:nvSpPr>
        <p:spPr>
          <a:xfrm>
            <a:off x="1939940" y="3838469"/>
            <a:ext cx="4896000" cy="12481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43" name="텍스트 상자 31"/>
          <p:cNvSpPr txBox="1"/>
          <p:nvPr/>
        </p:nvSpPr>
        <p:spPr>
          <a:xfrm>
            <a:off x="4117575" y="3852265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b="1" u="sng" dirty="0" smtClean="0">
                <a:solidFill>
                  <a:schemeClr val="bg1"/>
                </a:solidFill>
                <a:latin typeface="+mn-ea"/>
                <a:ea typeface="+mn-ea"/>
              </a:rPr>
              <a:t>전체 댓글 보기</a:t>
            </a:r>
            <a:endParaRPr kumimoji="1" lang="ko-KR" altLang="en-US" sz="600" b="1" u="sng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2040056" y="2960067"/>
            <a:ext cx="927446" cy="115755"/>
            <a:chOff x="2063871" y="2807721"/>
            <a:chExt cx="927446" cy="115755"/>
          </a:xfrm>
        </p:grpSpPr>
        <p:grpSp>
          <p:nvGrpSpPr>
            <p:cNvPr id="147" name="그룹 146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149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151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158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59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152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153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154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155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56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57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150" name="그림 149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148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2" name="그룹 171"/>
          <p:cNvGrpSpPr/>
          <p:nvPr/>
        </p:nvGrpSpPr>
        <p:grpSpPr>
          <a:xfrm>
            <a:off x="1939940" y="4084148"/>
            <a:ext cx="4896000" cy="1401523"/>
            <a:chOff x="1904114" y="4350848"/>
            <a:chExt cx="4896000" cy="1401523"/>
          </a:xfrm>
        </p:grpSpPr>
        <p:sp>
          <p:nvSpPr>
            <p:cNvPr id="173" name="Rectangle 279"/>
            <p:cNvSpPr/>
            <p:nvPr/>
          </p:nvSpPr>
          <p:spPr>
            <a:xfrm>
              <a:off x="1904114" y="4350848"/>
              <a:ext cx="4896000" cy="140152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174" name="텍스트 상자 31"/>
            <p:cNvSpPr txBox="1"/>
            <p:nvPr/>
          </p:nvSpPr>
          <p:spPr>
            <a:xfrm>
              <a:off x="2421414" y="446287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75" name="그룹 400"/>
            <p:cNvGrpSpPr/>
            <p:nvPr/>
          </p:nvGrpSpPr>
          <p:grpSpPr>
            <a:xfrm>
              <a:off x="2078622" y="4452402"/>
              <a:ext cx="229236" cy="229194"/>
              <a:chOff x="2625629" y="3735853"/>
              <a:chExt cx="276891" cy="276839"/>
            </a:xfrm>
          </p:grpSpPr>
          <p:sp>
            <p:nvSpPr>
              <p:cNvPr id="202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03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76" name="텍스트 상자 31"/>
            <p:cNvSpPr txBox="1"/>
            <p:nvPr/>
          </p:nvSpPr>
          <p:spPr>
            <a:xfrm>
              <a:off x="2421414" y="4600728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77" name="직선 연결선[R] 33"/>
            <p:cNvCxnSpPr/>
            <p:nvPr/>
          </p:nvCxnSpPr>
          <p:spPr>
            <a:xfrm>
              <a:off x="2052416" y="5512653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" name="그룹 177"/>
            <p:cNvGrpSpPr/>
            <p:nvPr/>
          </p:nvGrpSpPr>
          <p:grpSpPr>
            <a:xfrm>
              <a:off x="2067486" y="4779356"/>
              <a:ext cx="4700930" cy="644971"/>
              <a:chOff x="2067486" y="4286437"/>
              <a:chExt cx="4700930" cy="644971"/>
            </a:xfrm>
          </p:grpSpPr>
          <p:sp>
            <p:nvSpPr>
              <p:cNvPr id="195" name="Rectangle 177"/>
              <p:cNvSpPr/>
              <p:nvPr/>
            </p:nvSpPr>
            <p:spPr>
              <a:xfrm>
                <a:off x="2067486" y="4472532"/>
                <a:ext cx="4700930" cy="45887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+mn-ea"/>
                </a:endParaRPr>
              </a:p>
            </p:txBody>
          </p:sp>
          <p:grpSp>
            <p:nvGrpSpPr>
              <p:cNvPr id="196" name="Group 11"/>
              <p:cNvGrpSpPr/>
              <p:nvPr/>
            </p:nvGrpSpPr>
            <p:grpSpPr>
              <a:xfrm>
                <a:off x="2484729" y="4565835"/>
                <a:ext cx="1791250" cy="272271"/>
                <a:chOff x="2887384" y="5664055"/>
                <a:chExt cx="1791250" cy="272271"/>
              </a:xfrm>
            </p:grpSpPr>
            <p:sp>
              <p:nvSpPr>
                <p:cNvPr id="200" name="텍스트 상자 31"/>
                <p:cNvSpPr txBox="1"/>
                <p:nvPr/>
              </p:nvSpPr>
              <p:spPr>
                <a:xfrm>
                  <a:off x="2892510" y="5664055"/>
                  <a:ext cx="1786124" cy="10750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en-US" altLang="ko-KR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A</a:t>
                  </a:r>
                  <a:r>
                    <a:rPr kumimoji="1" lang="ko-KR" altLang="en-US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서비스 </a:t>
                  </a:r>
                  <a:r>
                    <a:rPr kumimoji="1" lang="en-US" altLang="ko-KR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TF</a:t>
                  </a:r>
                  <a:r>
                    <a:rPr kumimoji="1" lang="ko-KR" altLang="en-US" sz="7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팀 중간회식</a:t>
                  </a:r>
                  <a:endParaRPr kumimoji="1" lang="ko-KR" altLang="en-US" sz="7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201" name="텍스트 상자 31"/>
                <p:cNvSpPr txBox="1"/>
                <p:nvPr/>
              </p:nvSpPr>
              <p:spPr>
                <a:xfrm>
                  <a:off x="2887384" y="5807060"/>
                  <a:ext cx="1621213" cy="1292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2017.09.30</a:t>
                  </a:r>
                  <a:r>
                    <a:rPr kumimoji="1" lang="ko-KR" altLang="en-US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(</a:t>
                  </a:r>
                  <a:r>
                    <a:rPr kumimoji="1" lang="ko-KR" altLang="en-US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금</a:t>
                  </a: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)</a:t>
                  </a:r>
                  <a:r>
                    <a:rPr kumimoji="1" lang="ko-KR" altLang="en-US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 오후 </a:t>
                  </a:r>
                  <a:r>
                    <a:rPr kumimoji="1" lang="en-US" altLang="ko-KR" sz="700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ea"/>
                      <a:ea typeface="+mn-ea"/>
                    </a:rPr>
                    <a:t>7:00-8:00</a:t>
                  </a:r>
                  <a:endParaRPr kumimoji="1" lang="ko-KR" altLang="en-US" sz="7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97" name="Freeform 33"/>
              <p:cNvSpPr>
                <a:spLocks noEditPoints="1"/>
              </p:cNvSpPr>
              <p:nvPr/>
            </p:nvSpPr>
            <p:spPr bwMode="auto">
              <a:xfrm>
                <a:off x="2194138" y="4599136"/>
                <a:ext cx="182894" cy="203520"/>
              </a:xfrm>
              <a:custGeom>
                <a:avLst/>
                <a:gdLst>
                  <a:gd name="T0" fmla="*/ 338 w 450"/>
                  <a:gd name="T1" fmla="*/ 252 h 500"/>
                  <a:gd name="T2" fmla="*/ 312 w 450"/>
                  <a:gd name="T3" fmla="*/ 225 h 500"/>
                  <a:gd name="T4" fmla="*/ 190 w 450"/>
                  <a:gd name="T5" fmla="*/ 347 h 500"/>
                  <a:gd name="T6" fmla="*/ 137 w 450"/>
                  <a:gd name="T7" fmla="*/ 294 h 500"/>
                  <a:gd name="T8" fmla="*/ 110 w 450"/>
                  <a:gd name="T9" fmla="*/ 320 h 500"/>
                  <a:gd name="T10" fmla="*/ 190 w 450"/>
                  <a:gd name="T11" fmla="*/ 400 h 500"/>
                  <a:gd name="T12" fmla="*/ 338 w 450"/>
                  <a:gd name="T13" fmla="*/ 252 h 500"/>
                  <a:gd name="T14" fmla="*/ 400 w 450"/>
                  <a:gd name="T15" fmla="*/ 50 h 500"/>
                  <a:gd name="T16" fmla="*/ 375 w 450"/>
                  <a:gd name="T17" fmla="*/ 50 h 500"/>
                  <a:gd name="T18" fmla="*/ 375 w 450"/>
                  <a:gd name="T19" fmla="*/ 0 h 500"/>
                  <a:gd name="T20" fmla="*/ 325 w 450"/>
                  <a:gd name="T21" fmla="*/ 0 h 500"/>
                  <a:gd name="T22" fmla="*/ 325 w 450"/>
                  <a:gd name="T23" fmla="*/ 50 h 500"/>
                  <a:gd name="T24" fmla="*/ 125 w 450"/>
                  <a:gd name="T25" fmla="*/ 50 h 500"/>
                  <a:gd name="T26" fmla="*/ 125 w 450"/>
                  <a:gd name="T27" fmla="*/ 0 h 500"/>
                  <a:gd name="T28" fmla="*/ 75 w 450"/>
                  <a:gd name="T29" fmla="*/ 0 h 500"/>
                  <a:gd name="T30" fmla="*/ 75 w 450"/>
                  <a:gd name="T31" fmla="*/ 50 h 500"/>
                  <a:gd name="T32" fmla="*/ 50 w 450"/>
                  <a:gd name="T33" fmla="*/ 50 h 500"/>
                  <a:gd name="T34" fmla="*/ 0 w 450"/>
                  <a:gd name="T35" fmla="*/ 100 h 500"/>
                  <a:gd name="T36" fmla="*/ 0 w 450"/>
                  <a:gd name="T37" fmla="*/ 450 h 500"/>
                  <a:gd name="T38" fmla="*/ 50 w 450"/>
                  <a:gd name="T39" fmla="*/ 500 h 500"/>
                  <a:gd name="T40" fmla="*/ 400 w 450"/>
                  <a:gd name="T41" fmla="*/ 500 h 500"/>
                  <a:gd name="T42" fmla="*/ 450 w 450"/>
                  <a:gd name="T43" fmla="*/ 450 h 500"/>
                  <a:gd name="T44" fmla="*/ 450 w 450"/>
                  <a:gd name="T45" fmla="*/ 100 h 500"/>
                  <a:gd name="T46" fmla="*/ 400 w 450"/>
                  <a:gd name="T47" fmla="*/ 50 h 500"/>
                  <a:gd name="T48" fmla="*/ 400 w 450"/>
                  <a:gd name="T49" fmla="*/ 450 h 500"/>
                  <a:gd name="T50" fmla="*/ 50 w 450"/>
                  <a:gd name="T51" fmla="*/ 450 h 500"/>
                  <a:gd name="T52" fmla="*/ 50 w 450"/>
                  <a:gd name="T53" fmla="*/ 175 h 500"/>
                  <a:gd name="T54" fmla="*/ 400 w 450"/>
                  <a:gd name="T55" fmla="*/ 175 h 500"/>
                  <a:gd name="T56" fmla="*/ 400 w 450"/>
                  <a:gd name="T57" fmla="*/ 45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0" h="500">
                    <a:moveTo>
                      <a:pt x="338" y="252"/>
                    </a:moveTo>
                    <a:lnTo>
                      <a:pt x="312" y="225"/>
                    </a:lnTo>
                    <a:lnTo>
                      <a:pt x="190" y="347"/>
                    </a:lnTo>
                    <a:lnTo>
                      <a:pt x="137" y="294"/>
                    </a:lnTo>
                    <a:lnTo>
                      <a:pt x="110" y="320"/>
                    </a:lnTo>
                    <a:lnTo>
                      <a:pt x="190" y="400"/>
                    </a:lnTo>
                    <a:lnTo>
                      <a:pt x="338" y="252"/>
                    </a:lnTo>
                    <a:close/>
                    <a:moveTo>
                      <a:pt x="400" y="50"/>
                    </a:moveTo>
                    <a:lnTo>
                      <a:pt x="375" y="50"/>
                    </a:lnTo>
                    <a:lnTo>
                      <a:pt x="375" y="0"/>
                    </a:lnTo>
                    <a:lnTo>
                      <a:pt x="325" y="0"/>
                    </a:lnTo>
                    <a:lnTo>
                      <a:pt x="325" y="50"/>
                    </a:lnTo>
                    <a:lnTo>
                      <a:pt x="125" y="50"/>
                    </a:lnTo>
                    <a:lnTo>
                      <a:pt x="125" y="0"/>
                    </a:lnTo>
                    <a:lnTo>
                      <a:pt x="75" y="0"/>
                    </a:lnTo>
                    <a:lnTo>
                      <a:pt x="75" y="50"/>
                    </a:lnTo>
                    <a:lnTo>
                      <a:pt x="50" y="50"/>
                    </a:lnTo>
                    <a:cubicBezTo>
                      <a:pt x="22" y="50"/>
                      <a:pt x="0" y="73"/>
                      <a:pt x="0" y="100"/>
                    </a:cubicBezTo>
                    <a:lnTo>
                      <a:pt x="0" y="450"/>
                    </a:lnTo>
                    <a:cubicBezTo>
                      <a:pt x="0" y="478"/>
                      <a:pt x="22" y="500"/>
                      <a:pt x="50" y="500"/>
                    </a:cubicBezTo>
                    <a:lnTo>
                      <a:pt x="400" y="500"/>
                    </a:lnTo>
                    <a:cubicBezTo>
                      <a:pt x="428" y="500"/>
                      <a:pt x="450" y="478"/>
                      <a:pt x="450" y="450"/>
                    </a:cubicBezTo>
                    <a:lnTo>
                      <a:pt x="450" y="100"/>
                    </a:lnTo>
                    <a:cubicBezTo>
                      <a:pt x="450" y="73"/>
                      <a:pt x="428" y="50"/>
                      <a:pt x="400" y="50"/>
                    </a:cubicBezTo>
                    <a:close/>
                    <a:moveTo>
                      <a:pt x="400" y="450"/>
                    </a:moveTo>
                    <a:lnTo>
                      <a:pt x="50" y="450"/>
                    </a:lnTo>
                    <a:lnTo>
                      <a:pt x="50" y="175"/>
                    </a:lnTo>
                    <a:lnTo>
                      <a:pt x="400" y="175"/>
                    </a:lnTo>
                    <a:lnTo>
                      <a:pt x="400" y="45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198" name="텍스트 상자 31"/>
              <p:cNvSpPr txBox="1"/>
              <p:nvPr/>
            </p:nvSpPr>
            <p:spPr>
              <a:xfrm>
                <a:off x="2078622" y="4286437"/>
                <a:ext cx="3198684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A</a:t>
                </a:r>
                <a:r>
                  <a:rPr kumimoji="1" lang="ko-KR" altLang="en-US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서비스 </a:t>
                </a:r>
                <a:r>
                  <a:rPr kumimoji="1" lang="en-US" altLang="ko-KR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TF</a:t>
                </a:r>
                <a:r>
                  <a:rPr kumimoji="1" lang="ko-KR" altLang="en-US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팀 중간회식</a:t>
                </a:r>
                <a:r>
                  <a:rPr kumimoji="1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일정을 등록했습니다</a:t>
                </a:r>
                <a:r>
                  <a:rPr kumimoji="1" lang="en-US" altLang="ko-KR" sz="700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.</a:t>
                </a:r>
                <a:endPara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99" name="Freeform 14"/>
              <p:cNvSpPr>
                <a:spLocks noChangeArrowheads="1"/>
              </p:cNvSpPr>
              <p:nvPr/>
            </p:nvSpPr>
            <p:spPr bwMode="auto">
              <a:xfrm rot="5400000">
                <a:off x="6529129" y="4666775"/>
                <a:ext cx="91044" cy="55638"/>
              </a:xfrm>
              <a:custGeom>
                <a:avLst/>
                <a:gdLst>
                  <a:gd name="T0" fmla="*/ 36 w 316"/>
                  <a:gd name="T1" fmla="*/ 193 h 194"/>
                  <a:gd name="T2" fmla="*/ 158 w 316"/>
                  <a:gd name="T3" fmla="*/ 72 h 194"/>
                  <a:gd name="T4" fmla="*/ 280 w 316"/>
                  <a:gd name="T5" fmla="*/ 193 h 194"/>
                  <a:gd name="T6" fmla="*/ 315 w 316"/>
                  <a:gd name="T7" fmla="*/ 158 h 194"/>
                  <a:gd name="T8" fmla="*/ 158 w 316"/>
                  <a:gd name="T9" fmla="*/ 0 h 194"/>
                  <a:gd name="T10" fmla="*/ 0 w 316"/>
                  <a:gd name="T11" fmla="*/ 158 h 194"/>
                  <a:gd name="T12" fmla="*/ 36 w 316"/>
                  <a:gd name="T13" fmla="*/ 19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6" h="194">
                    <a:moveTo>
                      <a:pt x="36" y="193"/>
                    </a:moveTo>
                    <a:lnTo>
                      <a:pt x="158" y="72"/>
                    </a:lnTo>
                    <a:lnTo>
                      <a:pt x="280" y="193"/>
                    </a:lnTo>
                    <a:lnTo>
                      <a:pt x="315" y="158"/>
                    </a:lnTo>
                    <a:lnTo>
                      <a:pt x="158" y="0"/>
                    </a:lnTo>
                    <a:lnTo>
                      <a:pt x="0" y="158"/>
                    </a:lnTo>
                    <a:lnTo>
                      <a:pt x="36" y="193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</p:grpSp>
        <p:grpSp>
          <p:nvGrpSpPr>
            <p:cNvPr id="181" name="그룹 180"/>
            <p:cNvGrpSpPr/>
            <p:nvPr/>
          </p:nvGrpSpPr>
          <p:grpSpPr>
            <a:xfrm>
              <a:off x="2063871" y="5570697"/>
              <a:ext cx="927446" cy="115755"/>
              <a:chOff x="2063871" y="2807721"/>
              <a:chExt cx="927446" cy="115755"/>
            </a:xfrm>
          </p:grpSpPr>
          <p:grpSp>
            <p:nvGrpSpPr>
              <p:cNvPr id="182" name="그룹 181"/>
              <p:cNvGrpSpPr/>
              <p:nvPr/>
            </p:nvGrpSpPr>
            <p:grpSpPr>
              <a:xfrm>
                <a:off x="2195181" y="2807721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184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186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193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194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187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188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189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190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191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192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185" name="그림 184"/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183" name="Freeform 739"/>
              <p:cNvSpPr>
                <a:spLocks noChangeAspect="1"/>
              </p:cNvSpPr>
              <p:nvPr/>
            </p:nvSpPr>
            <p:spPr>
              <a:xfrm>
                <a:off x="2063871" y="2822987"/>
                <a:ext cx="76920" cy="85196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0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latin typeface="+mn-ea"/>
                <a:ea typeface="+mn-ea"/>
              </a:rPr>
              <a:t>종료된 프로젝트 그룹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grpSp>
        <p:nvGrpSpPr>
          <p:cNvPr id="20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20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20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208" name="그룹 207"/>
          <p:cNvGrpSpPr/>
          <p:nvPr/>
        </p:nvGrpSpPr>
        <p:grpSpPr>
          <a:xfrm>
            <a:off x="3834671" y="874513"/>
            <a:ext cx="3603039" cy="176117"/>
            <a:chOff x="4079770" y="874786"/>
            <a:chExt cx="3603039" cy="176117"/>
          </a:xfrm>
        </p:grpSpPr>
        <p:sp>
          <p:nvSpPr>
            <p:cNvPr id="209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10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11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212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13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14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15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16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17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1939939" y="1186507"/>
            <a:ext cx="4896000" cy="722729"/>
            <a:chOff x="1939939" y="1110357"/>
            <a:chExt cx="4896000" cy="722729"/>
          </a:xfrm>
        </p:grpSpPr>
        <p:sp>
          <p:nvSpPr>
            <p:cNvPr id="266" name="Rectangle 202"/>
            <p:cNvSpPr/>
            <p:nvPr/>
          </p:nvSpPr>
          <p:spPr>
            <a:xfrm>
              <a:off x="1939939" y="1110357"/>
              <a:ext cx="4896000" cy="7227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267" name="텍스트 상자 31"/>
            <p:cNvSpPr txBox="1"/>
            <p:nvPr/>
          </p:nvSpPr>
          <p:spPr>
            <a:xfrm>
              <a:off x="2397599" y="1240536"/>
              <a:ext cx="1269604" cy="10676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68" name="그룹 400"/>
            <p:cNvGrpSpPr/>
            <p:nvPr/>
          </p:nvGrpSpPr>
          <p:grpSpPr>
            <a:xfrm>
              <a:off x="2054807" y="1230160"/>
              <a:ext cx="229236" cy="227167"/>
              <a:chOff x="2625629" y="3735853"/>
              <a:chExt cx="276891" cy="276839"/>
            </a:xfrm>
          </p:grpSpPr>
          <p:sp>
            <p:nvSpPr>
              <p:cNvPr id="31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311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69" name="텍스트 상자 31"/>
            <p:cNvSpPr txBox="1"/>
            <p:nvPr/>
          </p:nvSpPr>
          <p:spPr>
            <a:xfrm>
              <a:off x="2397599" y="1377174"/>
              <a:ext cx="1269604" cy="8389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70" name="텍스트 상자 31"/>
            <p:cNvSpPr txBox="1"/>
            <p:nvPr/>
          </p:nvSpPr>
          <p:spPr>
            <a:xfrm>
              <a:off x="2054807" y="1580433"/>
              <a:ext cx="3198684" cy="106769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종료된 프로젝트 그룹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그룹을 종료했습니다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312" name="내용 개체 틀 18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34126620"/>
              </p:ext>
            </p:extLst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3" name="Rectangle 477"/>
          <p:cNvSpPr/>
          <p:nvPr/>
        </p:nvSpPr>
        <p:spPr>
          <a:xfrm>
            <a:off x="6925831" y="5484435"/>
            <a:ext cx="2169137" cy="8520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314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315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16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317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18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319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320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21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22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323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4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5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26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7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28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29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330" name="Group 159"/>
          <p:cNvGrpSpPr/>
          <p:nvPr/>
        </p:nvGrpSpPr>
        <p:grpSpPr>
          <a:xfrm>
            <a:off x="6994207" y="5576668"/>
            <a:ext cx="2088322" cy="557327"/>
            <a:chOff x="5995939" y="5903574"/>
            <a:chExt cx="2088322" cy="557327"/>
          </a:xfrm>
        </p:grpSpPr>
        <p:sp>
          <p:nvSpPr>
            <p:cNvPr id="331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332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3" name="텍스트 상자 31"/>
            <p:cNvSpPr txBox="1"/>
            <p:nvPr/>
          </p:nvSpPr>
          <p:spPr>
            <a:xfrm>
              <a:off x="5996261" y="6115357"/>
              <a:ext cx="2088000" cy="3455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</p:txBody>
        </p:sp>
      </p:grpSp>
      <p:sp>
        <p:nvSpPr>
          <p:cNvPr id="334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핸디공개그룹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35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6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37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38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39" name="Straight Connector 514"/>
          <p:cNvCxnSpPr>
            <a:endCxn id="312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0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341" name="직선 연결선 340"/>
          <p:cNvCxnSpPr>
            <a:endCxn id="312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연결선 341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5" name="Freeform 13"/>
          <p:cNvSpPr>
            <a:spLocks noChangeAspect="1" noChangeArrowheads="1"/>
          </p:cNvSpPr>
          <p:nvPr/>
        </p:nvSpPr>
        <p:spPr bwMode="auto">
          <a:xfrm>
            <a:off x="1666889" y="1902418"/>
            <a:ext cx="71405" cy="72000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</a:endParaRPr>
          </a:p>
        </p:txBody>
      </p:sp>
      <p:sp>
        <p:nvSpPr>
          <p:cNvPr id="346" name="Rectangle 4"/>
          <p:cNvSpPr/>
          <p:nvPr/>
        </p:nvSpPr>
        <p:spPr>
          <a:xfrm>
            <a:off x="1903650" y="1150542"/>
            <a:ext cx="4973912" cy="80783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7" name="타원 346"/>
          <p:cNvSpPr>
            <a:spLocks noChangeAspect="1"/>
          </p:cNvSpPr>
          <p:nvPr/>
        </p:nvSpPr>
        <p:spPr>
          <a:xfrm>
            <a:off x="1818102" y="1438422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8" name="타원 347"/>
          <p:cNvSpPr>
            <a:spLocks noChangeAspect="1"/>
          </p:cNvSpPr>
          <p:nvPr/>
        </p:nvSpPr>
        <p:spPr>
          <a:xfrm>
            <a:off x="5822816" y="2258673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49" name="그룹 348"/>
          <p:cNvGrpSpPr/>
          <p:nvPr/>
        </p:nvGrpSpPr>
        <p:grpSpPr>
          <a:xfrm>
            <a:off x="2035211" y="3195045"/>
            <a:ext cx="4675215" cy="198000"/>
            <a:chOff x="7341238" y="3747588"/>
            <a:chExt cx="4675215" cy="198000"/>
          </a:xfrm>
        </p:grpSpPr>
        <p:sp>
          <p:nvSpPr>
            <p:cNvPr id="350" name="Rectangle 321"/>
            <p:cNvSpPr/>
            <p:nvPr/>
          </p:nvSpPr>
          <p:spPr>
            <a:xfrm>
              <a:off x="7341238" y="3747588"/>
              <a:ext cx="4262914" cy="198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의견을 입력하세요</a:t>
              </a:r>
              <a:endParaRPr lang="en-US" sz="6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1" name="Rounded Rectangle 616"/>
            <p:cNvSpPr/>
            <p:nvPr/>
          </p:nvSpPr>
          <p:spPr>
            <a:xfrm>
              <a:off x="11656453" y="3755850"/>
              <a:ext cx="360000" cy="180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>
                  <a:solidFill>
                    <a:schemeClr val="bg1">
                      <a:lumMod val="75000"/>
                    </a:schemeClr>
                  </a:solidFill>
                </a:rPr>
                <a:t>등록</a:t>
              </a:r>
              <a:endParaRPr lang="en-US" sz="700" b="1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352" name="Freeform 17"/>
            <p:cNvSpPr>
              <a:spLocks noChangeArrowheads="1"/>
            </p:cNvSpPr>
            <p:nvPr/>
          </p:nvSpPr>
          <p:spPr bwMode="auto">
            <a:xfrm>
              <a:off x="11228438" y="3790180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353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14459" y="3790180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18" name="직각 삼각형 217"/>
          <p:cNvSpPr/>
          <p:nvPr/>
        </p:nvSpPr>
        <p:spPr>
          <a:xfrm flipH="1">
            <a:off x="10890354" y="5352420"/>
            <a:ext cx="1301646" cy="1508889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11/13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페이지 </a:t>
            </a:r>
            <a:endParaRPr lang="en-US" altLang="ko-KR" sz="800" dirty="0" smtClean="0">
              <a:solidFill>
                <a:schemeClr val="bg1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추가 생성</a:t>
            </a:r>
          </a:p>
        </p:txBody>
      </p:sp>
      <p:sp>
        <p:nvSpPr>
          <p:cNvPr id="220" name="Rectangle 14"/>
          <p:cNvSpPr>
            <a:spLocks/>
          </p:cNvSpPr>
          <p:nvPr/>
        </p:nvSpPr>
        <p:spPr bwMode="auto">
          <a:xfrm>
            <a:off x="7175100" y="2967675"/>
            <a:ext cx="1718870" cy="214942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solidFill>
              <a:schemeClr val="bg1">
                <a:lumMod val="6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r>
              <a:rPr lang="ko-KR" altLang="en-US" sz="7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 </a:t>
            </a:r>
            <a:r>
              <a:rPr lang="ko-KR" altLang="en-US" sz="7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재시작</a:t>
            </a:r>
            <a:endParaRPr lang="x-none" altLang="x-none" sz="7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1" name="타원 220"/>
          <p:cNvSpPr>
            <a:spLocks noChangeAspect="1"/>
          </p:cNvSpPr>
          <p:nvPr/>
        </p:nvSpPr>
        <p:spPr>
          <a:xfrm>
            <a:off x="8804653" y="2895822"/>
            <a:ext cx="178657" cy="180000"/>
          </a:xfrm>
          <a:prstGeom prst="ellipse">
            <a:avLst/>
          </a:prstGeom>
          <a:solidFill>
            <a:srgbClr val="2E6FFD"/>
          </a:solidFill>
          <a:ln w="3175">
            <a:solidFill>
              <a:schemeClr val="tx2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8858250" y="2247900"/>
            <a:ext cx="257175" cy="276225"/>
          </a:xfrm>
          <a:prstGeom prst="rect">
            <a:avLst/>
          </a:prstGeom>
          <a:solidFill>
            <a:schemeClr val="tx1">
              <a:lumMod val="95000"/>
              <a:lumOff val="5000"/>
              <a:alpha val="51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8934450" y="2508799"/>
            <a:ext cx="1385563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↖종료된 그룹에서는 노출시키지 않음</a:t>
            </a:r>
            <a:endParaRPr lang="ko-KR" altLang="en-US" sz="6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697629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1" name="표"/>
          <p:cNvGraphicFramePr/>
          <p:nvPr>
            <p:extLst>
              <p:ext uri="{D42A27DB-BD31-4B8C-83A1-F6EECF244321}">
                <p14:modId xmlns:p14="http://schemas.microsoft.com/office/powerpoint/2010/main" val="3717495029"/>
              </p:ext>
            </p:extLst>
          </p:nvPr>
        </p:nvGraphicFramePr>
        <p:xfrm>
          <a:off x="8109427" y="794811"/>
          <a:ext cx="4015898" cy="5710978"/>
        </p:xfrm>
        <a:graphic>
          <a:graphicData uri="http://schemas.openxmlformats.org/drawingml/2006/table">
            <a:tbl>
              <a:tblPr/>
              <a:tblGrid>
                <a:gridCol w="25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4689">
                <a:tc gridSpan="3">
                  <a:txBody>
                    <a:bodyPr/>
                    <a:lstStyle/>
                    <a:p>
                      <a:pPr algn="l" defTabSz="914400">
                        <a:defRPr sz="1800"/>
                      </a:pPr>
                      <a:r>
                        <a:rPr sz="1000" b="1" dirty="0" smtClean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  <a:endParaRPr sz="1000" b="1" dirty="0">
                        <a:latin typeface="+mj-ea"/>
                        <a:ea typeface="+mj-ea"/>
                        <a:cs typeface="Nanum Gothic" charset="-127"/>
                        <a:sym typeface="Apple SD 산돌고딕 Neo 볼드체"/>
                      </a:endParaRPr>
                    </a:p>
                  </a:txBody>
                  <a:tcPr marL="50800" marR="50800" marT="50800" marB="5080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4689">
                <a:tc gridSpan="3">
                  <a:txBody>
                    <a:bodyPr/>
                    <a:lstStyle/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ko-KR" altLang="en-US" sz="1000" dirty="0" smtClean="0">
                          <a:latin typeface="+mj-ea"/>
                          <a:ea typeface="+mj-ea"/>
                          <a:cs typeface="Nanum Gothic" charset="-127"/>
                        </a:rPr>
                        <a:t>스퀘어 그룹을 생성하는 화면 </a:t>
                      </a:r>
                      <a:r>
                        <a:rPr lang="en-US" altLang="ko-KR" sz="1000" dirty="0" smtClean="0">
                          <a:latin typeface="+mj-ea"/>
                          <a:ea typeface="+mj-ea"/>
                          <a:cs typeface="Nanum Gothic" charset="-127"/>
                        </a:rPr>
                        <a:t>(</a:t>
                      </a:r>
                      <a:r>
                        <a:rPr lang="ko-KR" altLang="en-US" sz="1000" dirty="0" err="1" smtClean="0">
                          <a:latin typeface="+mj-ea"/>
                          <a:ea typeface="+mj-ea"/>
                          <a:cs typeface="Nanum Gothic" charset="-127"/>
                        </a:rPr>
                        <a:t>모달</a:t>
                      </a:r>
                      <a:r>
                        <a:rPr lang="ko-KR" altLang="en-US" sz="1000" dirty="0" smtClean="0">
                          <a:latin typeface="+mj-ea"/>
                          <a:ea typeface="+mj-ea"/>
                          <a:cs typeface="Nanum Gothic" charset="-127"/>
                        </a:rPr>
                        <a:t> 레이어 팝업</a:t>
                      </a:r>
                      <a:r>
                        <a:rPr lang="en-US" altLang="ko-KR" sz="1000" dirty="0" smtClean="0">
                          <a:latin typeface="+mj-ea"/>
                          <a:ea typeface="+mj-ea"/>
                          <a:cs typeface="Nanum Gothic" charset="-127"/>
                        </a:rPr>
                        <a:t>)</a:t>
                      </a:r>
                      <a:endParaRPr lang="ko-KR" altLang="en-US" sz="1000" dirty="0" smtClean="0">
                        <a:latin typeface="+mj-ea"/>
                        <a:ea typeface="+mj-ea"/>
                        <a:cs typeface="Nanum Gothic" charset="-127"/>
                      </a:endParaRPr>
                    </a:p>
                    <a:p>
                      <a:pPr marL="138113" indent="-138113" algn="l" defTabSz="914400">
                        <a:buSzPct val="100000"/>
                        <a:buChar char="•"/>
                        <a:tabLst/>
                        <a:defRPr sz="2300"/>
                      </a:pPr>
                      <a:r>
                        <a:rPr lang="en-US" altLang="ko-KR" sz="1000" dirty="0" smtClean="0">
                          <a:latin typeface="+mj-ea"/>
                          <a:ea typeface="+mj-ea"/>
                          <a:cs typeface="Nanum Gothic" charset="-127"/>
                        </a:rPr>
                        <a:t>LNB</a:t>
                      </a:r>
                      <a:r>
                        <a:rPr lang="ko-KR" altLang="en-US" sz="1000" dirty="0" smtClean="0">
                          <a:latin typeface="+mj-ea"/>
                          <a:ea typeface="+mj-ea"/>
                          <a:cs typeface="Nanum Gothic" charset="-127"/>
                        </a:rPr>
                        <a:t> 그룹만들기 버튼 선택 시 제공</a:t>
                      </a:r>
                    </a:p>
                  </a:txBody>
                  <a:tcPr marL="50800" marR="50800" marT="50800" marB="50800" horzOverflow="overflow">
                    <a:lnL w="0">
                      <a:miter lim="400000"/>
                    </a:lnL>
                    <a:lnR w="0">
                      <a:miter lim="400000"/>
                    </a:lnR>
                    <a:lnT>
                      <a:solidFill>
                        <a:srgbClr val="A6AAA9"/>
                      </a:solidFill>
                      <a:miter lim="400000"/>
                    </a:lnT>
                    <a:lnB w="12700" cap="flat" cmpd="sng" algn="ctr">
                      <a:solidFill>
                        <a:srgbClr val="53585F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689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sz="95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No.</a:t>
                      </a:r>
                    </a:p>
                  </a:txBody>
                  <a:tcPr marL="18000" marR="18000" marT="50800" marB="50800" anchor="ctr" horzOverflow="overflow">
                    <a:lnL w="0"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>
                      <a:solidFill>
                        <a:srgbClr val="A6AAA9"/>
                      </a:solidFill>
                      <a:miter lim="400000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95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Name</a:t>
                      </a:r>
                    </a:p>
                  </a:txBody>
                  <a:tcPr marL="50800" marR="508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>
                      <a:solidFill>
                        <a:srgbClr val="A6AAA9"/>
                      </a:solidFill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 indent="76200" algn="l" defTabSz="914400">
                        <a:defRPr sz="1800"/>
                      </a:pPr>
                      <a:r>
                        <a:rPr sz="950" b="1" dirty="0">
                          <a:latin typeface="+mj-ea"/>
                          <a:ea typeface="+mj-ea"/>
                          <a:cs typeface="Nanum Gothic" charset="-127"/>
                          <a:sym typeface="Apple SD 산돌고딕 Neo 볼드체"/>
                        </a:rPr>
                        <a:t>Description</a:t>
                      </a:r>
                    </a:p>
                  </a:txBody>
                  <a:tcPr marL="50800" marR="50800" marT="50800" marB="50800" anchor="ctr" horzOverflow="overflow">
                    <a:lnL>
                      <a:solidFill>
                        <a:srgbClr val="A6AAA9"/>
                      </a:solidFill>
                      <a:miter lim="400000"/>
                    </a:lnL>
                    <a:lnR w="0">
                      <a:miter lim="400000"/>
                    </a:lnR>
                    <a:lnT w="12700">
                      <a:solidFill>
                        <a:srgbClr val="53585F"/>
                      </a:solidFill>
                      <a:miter lim="400000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EB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그룹 대표이미지 등록</a:t>
                      </a:r>
                      <a:endParaRPr lang="en-US" sz="7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대표이미지를 샘플이미지 선택 혹은 직접 이미지 등록하여 설정하는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대표이미지 샘플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좌우 플리킹하여 선택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이미지 불러오기 버튼 제공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디폴트로 첫번째 샘플 이미지를 선택 처리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멀티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선택 불가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원 클릭 시 이미지 선택 마우스 오버 시 이미지 </a:t>
                      </a:r>
                      <a:r>
                        <a:rPr kumimoji="1" lang="ko-KR" altLang="en-US" sz="7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테두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리에 오버 칼라 적용하고 클릭 시 선택 처리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기 선택된 이미지가 있는 경우 선택 해제 처리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이미지 버튼 선택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사용자 로컬 파일 탐색기 제공하여 이미지 첨부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그룹 생성 완료 시 그룹 기본정보 영역에 등록 이미지 표시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샘플이미지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개 초과 시 </a:t>
                      </a:r>
                      <a:r>
                        <a:rPr kumimoji="1" lang="en-US" altLang="ko-KR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1" lang="ko-KR" altLang="en-US" sz="7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인디케이터 제공하여 현재 위치 표시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그룹 정보 입력 영역</a:t>
                      </a:r>
                      <a:endParaRPr lang="en-US" sz="7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필수 항목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 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이름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필수 입력 항목이 있는 경우 필수 입력 항목 내용이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 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모두 입력되었을 때 하단의 완료 버튼 활성화 </a:t>
                      </a:r>
                      <a:endParaRPr lang="en-US" altLang="ko-KR" sz="7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그룹명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그룹소개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공개 여부 설정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그룹명 작성 입력 필드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그룹명 최대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20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자 작성 가능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중복체크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그룹명 </a:t>
                      </a:r>
                      <a:r>
                        <a:rPr lang="ko-KR" altLang="en-US" sz="7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중복여부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체크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700" kern="1200" baseline="0" dirty="0" err="1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중복체크</a:t>
                      </a: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기능 삭제 검토</a:t>
                      </a: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 </a:t>
                      </a: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우선 중복 체크 버튼은 </a:t>
                      </a: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 </a:t>
                      </a: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화면에서 삭제하고 완료 시 </a:t>
                      </a: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“ </a:t>
                      </a: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동일한</a:t>
                      </a: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r>
                        <a:rPr lang="ko-KR" altLang="en-US" sz="700" kern="1200" baseline="0" dirty="0" err="1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그룹명이</a:t>
                      </a: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이미</a:t>
                      </a: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있습니다</a:t>
                      </a:r>
                      <a:r>
                        <a:rPr lang="en-US" altLang="ko-KR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.” </a:t>
                      </a:r>
                      <a:r>
                        <a:rPr lang="ko-KR" altLang="en-US" sz="700" kern="1200" baseline="0" dirty="0" err="1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밸리데이션</a:t>
                      </a:r>
                      <a:r>
                        <a:rPr lang="ko-KR" altLang="en-US" sz="700" kern="1200" baseline="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메시지 표시 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그룹소개 입력 필드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그룹소개 최대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N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자 작성 가능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공개 설정 버튼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토글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선택 시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해당 그룹 생성 시 공개그룹 메뉴에서 모든 사용자가 확인 가능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/>
                      </a:r>
                      <a:b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</a:b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- 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디폴트로 비공개 설정</a:t>
                      </a:r>
                      <a:endParaRPr lang="en-US" altLang="ko-KR" sz="7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멤버 추가 영역</a:t>
                      </a:r>
                      <a:endParaRPr lang="en-US" sz="7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해당 그룹에 포함될 멤버를 설정하는 영역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멤버 추가 버튼 및 추가 현황 리스트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멤버 추가 선택 시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주소록 팝업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추가한 멤버 현황 정보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프로필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이름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소속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권한 설정 버튼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삭제 버튼 제공</a:t>
                      </a:r>
                      <a:endParaRPr lang="ko-KR" altLang="en-US" sz="700" baseline="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권한 설정 드롭다운 버튼 선택 시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멤버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(Default) / 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관리자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참관인 옵션 제공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삭제 버튼 선택 시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해당 멤버 삭제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멤버 추가 최대 수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50</a:t>
                      </a:r>
                      <a:r>
                        <a:rPr lang="ko-KR" altLang="en-US" sz="7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dirty="0" smtClean="0">
                          <a:latin typeface="+mn-ea"/>
                          <a:ea typeface="+mn-ea"/>
                          <a:cs typeface="Malgun Gothic" charset="0"/>
                        </a:rPr>
                        <a:t>액션 버튼 영역</a:t>
                      </a:r>
                      <a:endParaRPr lang="en-US" sz="700" dirty="0"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취소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,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완료 버튼 제공</a:t>
                      </a:r>
                    </a:p>
                    <a:p>
                      <a:pPr marL="90488" marR="0" indent="-793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취소 선택 시 취소 확인 팝업 제공 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완료 선택 시 입력한 정보로 스퀘어 그룹 생성</a:t>
                      </a:r>
                    </a:p>
                    <a:p>
                      <a:pPr marL="90488" indent="-79375" algn="l" defTabSz="914400"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생성완료 필수 조건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: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그룹명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(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중복체크 완료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),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멤버 </a:t>
                      </a:r>
                      <a:r>
                        <a:rPr lang="en-US" altLang="ko-KR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1</a:t>
                      </a:r>
                      <a:r>
                        <a:rPr lang="ko-KR" altLang="en-US" sz="7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명</a:t>
                      </a: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2926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solidFill>
                            <a:srgbClr val="2E6FFD"/>
                          </a:solidFill>
                          <a:latin typeface="+mj-ea"/>
                          <a:ea typeface="+mj-ea"/>
                          <a:cs typeface="Nanum Gothic" charset="-127"/>
                        </a:rPr>
                        <a:t>5</a:t>
                      </a:r>
                      <a:endParaRPr sz="800" dirty="0">
                        <a:solidFill>
                          <a:srgbClr val="2E6FFD"/>
                        </a:solidFill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36000" marT="50800" marB="50800" anchor="ctr" horzOverflow="overflow">
                    <a:lnL w="0">
                      <a:miter lim="400000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Malgun Gothic" charset="0"/>
                        </a:rPr>
                        <a:t>그룹 정보 수정</a:t>
                      </a:r>
                      <a:endParaRPr lang="en-US" sz="700" dirty="0">
                        <a:solidFill>
                          <a:srgbClr val="2E6FFD"/>
                        </a:solidFill>
                        <a:latin typeface="+mn-ea"/>
                        <a:ea typeface="+mn-ea"/>
                        <a:cs typeface="Malgun Gothic" charset="0"/>
                      </a:endParaRPr>
                    </a:p>
                  </a:txBody>
                  <a:tcPr marL="36000" marR="36000" marT="50800" marB="50800" anchor="ctr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lvl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Char char="•"/>
                        <a:tabLst/>
                        <a:defRPr sz="2000"/>
                      </a:pP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정보 수정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으로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레이어 팝업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호출시에는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상단의 타이틀 영역만 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 정보 수정</a:t>
                      </a:r>
                      <a:r>
                        <a:rPr lang="en-US" altLang="ko-KR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‘ 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으로 변경되어 노출되며 </a:t>
                      </a:r>
                      <a:r>
                        <a:rPr lang="ko-KR" altLang="en-US" sz="700" kern="1200" baseline="0" dirty="0" err="1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등록시</a:t>
                      </a:r>
                      <a:r>
                        <a:rPr lang="ko-KR" altLang="en-US" sz="700" kern="12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입력한 데이터를 불러옴 </a:t>
                      </a:r>
                      <a:r>
                        <a:rPr kumimoji="1" lang="en-US" altLang="ko-KR" sz="7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(20171103 </a:t>
                      </a:r>
                      <a:r>
                        <a:rPr kumimoji="1" lang="ko-KR" altLang="en-US" sz="7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1" lang="en-US" altLang="ko-KR" sz="700" baseline="0" dirty="0" smtClean="0">
                          <a:solidFill>
                            <a:srgbClr val="2E6FFD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700" dirty="0" smtClean="0">
                        <a:solidFill>
                          <a:srgbClr val="2E6FFD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0">
                      <a:miter lim="400000"/>
                    </a:lnR>
                    <a:lnT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A6AAA9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276223"/>
                  </a:ext>
                </a:extLst>
              </a:tr>
            </a:tbl>
          </a:graphicData>
        </a:graphic>
      </p:graphicFrame>
      <p:sp>
        <p:nvSpPr>
          <p:cNvPr id="152" name="직사각형"/>
          <p:cNvSpPr/>
          <p:nvPr/>
        </p:nvSpPr>
        <p:spPr>
          <a:xfrm>
            <a:off x="393098" y="710854"/>
            <a:ext cx="4055696" cy="510638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endParaRPr sz="240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153" name="Rectangle 216"/>
          <p:cNvSpPr/>
          <p:nvPr/>
        </p:nvSpPr>
        <p:spPr>
          <a:xfrm>
            <a:off x="414337" y="719526"/>
            <a:ext cx="4043363" cy="2916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54" name="텍스트 상자 31"/>
          <p:cNvSpPr txBox="1"/>
          <p:nvPr/>
        </p:nvSpPr>
        <p:spPr>
          <a:xfrm>
            <a:off x="518010" y="828063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 만들기</a:t>
            </a:r>
            <a:endParaRPr kumimoji="1" lang="ko-KR" altLang="en-US" sz="9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55" name="직선 연결선[R] 7"/>
          <p:cNvCxnSpPr/>
          <p:nvPr/>
        </p:nvCxnSpPr>
        <p:spPr>
          <a:xfrm>
            <a:off x="402456" y="1020958"/>
            <a:ext cx="4055244" cy="0"/>
          </a:xfrm>
          <a:prstGeom prst="line">
            <a:avLst/>
          </a:prstGeom>
          <a:ln w="12700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56" name="텍스트 상자 31"/>
          <p:cNvSpPr txBox="1"/>
          <p:nvPr/>
        </p:nvSpPr>
        <p:spPr>
          <a:xfrm>
            <a:off x="518009" y="2383652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그룹 이름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7" name="텍스트 상자 31"/>
          <p:cNvSpPr txBox="1"/>
          <p:nvPr/>
        </p:nvSpPr>
        <p:spPr>
          <a:xfrm>
            <a:off x="518009" y="3437521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멤버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8" name="텍스트 상자 31"/>
          <p:cNvSpPr txBox="1"/>
          <p:nvPr/>
        </p:nvSpPr>
        <p:spPr>
          <a:xfrm>
            <a:off x="518009" y="3598924"/>
            <a:ext cx="307655" cy="10772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kumimoji="1" lang="en-US" altLang="ko-KR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1/50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9" name="그룹 217"/>
          <p:cNvGrpSpPr/>
          <p:nvPr/>
        </p:nvGrpSpPr>
        <p:grpSpPr>
          <a:xfrm flipH="1">
            <a:off x="141582" y="3743131"/>
            <a:ext cx="928316" cy="1483559"/>
            <a:chOff x="7254480" y="3713164"/>
            <a:chExt cx="928316" cy="3123713"/>
          </a:xfrm>
        </p:grpSpPr>
        <p:grpSp>
          <p:nvGrpSpPr>
            <p:cNvPr id="160" name="그룹 7"/>
            <p:cNvGrpSpPr/>
            <p:nvPr/>
          </p:nvGrpSpPr>
          <p:grpSpPr>
            <a:xfrm>
              <a:off x="7254480" y="3713164"/>
              <a:ext cx="820593" cy="3123713"/>
              <a:chOff x="4556230" y="4328779"/>
              <a:chExt cx="2650904" cy="2947438"/>
            </a:xfrm>
          </p:grpSpPr>
          <p:cxnSp>
            <p:nvCxnSpPr>
              <p:cNvPr id="162" name="직선 연결선[R] 222"/>
              <p:cNvCxnSpPr/>
              <p:nvPr/>
            </p:nvCxnSpPr>
            <p:spPr>
              <a:xfrm>
                <a:off x="6952525" y="4328779"/>
                <a:ext cx="0" cy="2943905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[R] 85"/>
              <p:cNvCxnSpPr/>
              <p:nvPr/>
            </p:nvCxnSpPr>
            <p:spPr>
              <a:xfrm flipH="1">
                <a:off x="4556230" y="4328779"/>
                <a:ext cx="2592772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직선 연결선[R] 86"/>
              <p:cNvCxnSpPr/>
              <p:nvPr/>
            </p:nvCxnSpPr>
            <p:spPr>
              <a:xfrm flipH="1">
                <a:off x="4556230" y="7276217"/>
                <a:ext cx="2650904" cy="0"/>
              </a:xfrm>
              <a:prstGeom prst="line">
                <a:avLst/>
              </a:prstGeom>
              <a:ln w="12700">
                <a:solidFill>
                  <a:srgbClr val="FF2F92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TextBox 1173"/>
            <p:cNvSpPr txBox="1"/>
            <p:nvPr/>
          </p:nvSpPr>
          <p:spPr>
            <a:xfrm rot="5400000">
              <a:off x="7352441" y="5508629"/>
              <a:ext cx="144526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i="1" dirty="0" smtClean="0">
                  <a:solidFill>
                    <a:srgbClr val="FF2F92"/>
                  </a:solidFill>
                  <a:latin typeface="+mn-ea"/>
                  <a:ea typeface="+mn-ea"/>
                  <a:cs typeface="Malgun Gothic" charset="0"/>
                </a:rPr>
                <a:t>Scroll Area</a:t>
              </a:r>
              <a:endParaRPr lang="en-US" sz="800" i="1" dirty="0">
                <a:solidFill>
                  <a:srgbClr val="FF2F92"/>
                </a:solidFill>
                <a:latin typeface="+mn-ea"/>
                <a:ea typeface="+mn-ea"/>
                <a:cs typeface="Malgun Gothic" charset="0"/>
              </a:endParaRPr>
            </a:p>
          </p:txBody>
        </p:sp>
      </p:grpSp>
      <p:grpSp>
        <p:nvGrpSpPr>
          <p:cNvPr id="165" name="Group 27"/>
          <p:cNvGrpSpPr/>
          <p:nvPr/>
        </p:nvGrpSpPr>
        <p:grpSpPr>
          <a:xfrm>
            <a:off x="1826513" y="5440152"/>
            <a:ext cx="1206679" cy="230573"/>
            <a:chOff x="1535260" y="5830529"/>
            <a:chExt cx="1206679" cy="230573"/>
          </a:xfrm>
        </p:grpSpPr>
        <p:sp>
          <p:nvSpPr>
            <p:cNvPr id="166" name="Rounded Rectangle 241"/>
            <p:cNvSpPr/>
            <p:nvPr/>
          </p:nvSpPr>
          <p:spPr>
            <a:xfrm>
              <a:off x="2161468" y="5830529"/>
              <a:ext cx="580471" cy="230573"/>
            </a:xfrm>
            <a:prstGeom prst="roundRect">
              <a:avLst>
                <a:gd name="adj" fmla="val 8420"/>
              </a:avLst>
            </a:prstGeom>
            <a:solidFill>
              <a:schemeClr val="bg1">
                <a:lumMod val="85000"/>
              </a:schemeClr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20000"/>
                </a:lnSpc>
              </a:pPr>
              <a:r>
                <a:rPr lang="ko-KR" altLang="en-US" sz="8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완료</a:t>
              </a:r>
              <a:endParaRPr 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7" name="Rounded Rectangle 486"/>
            <p:cNvSpPr/>
            <p:nvPr/>
          </p:nvSpPr>
          <p:spPr>
            <a:xfrm>
              <a:off x="1535260" y="5830529"/>
              <a:ext cx="580471" cy="230573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1270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>
                <a:lnSpc>
                  <a:spcPct val="120000"/>
                </a:lnSpc>
              </a:pPr>
              <a:r>
                <a:rPr lang="ko-KR" altLang="en-US" sz="80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취소</a:t>
              </a:r>
              <a:endParaRPr lang="en-US" sz="8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68" name="Rectangle 278"/>
          <p:cNvSpPr/>
          <p:nvPr/>
        </p:nvSpPr>
        <p:spPr>
          <a:xfrm>
            <a:off x="1075243" y="2381772"/>
            <a:ext cx="2709219" cy="27079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그룹 이름을 입력해 주세요  </a:t>
            </a: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(20</a:t>
            </a:r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자 이내</a:t>
            </a:r>
            <a:r>
              <a:rPr lang="en-US" altLang="ko-KR" sz="8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69" name="Rectangle 296"/>
          <p:cNvSpPr/>
          <p:nvPr/>
        </p:nvSpPr>
        <p:spPr>
          <a:xfrm>
            <a:off x="1075242" y="2694423"/>
            <a:ext cx="2709220" cy="54314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108000" rtlCol="0" anchor="t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어떤 그룹인지 소개글을 입력해 주세요</a:t>
            </a:r>
            <a:endParaRPr 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70" name="Rectangle 432"/>
          <p:cNvSpPr/>
          <p:nvPr/>
        </p:nvSpPr>
        <p:spPr>
          <a:xfrm>
            <a:off x="1075243" y="3755253"/>
            <a:ext cx="2709219" cy="34388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 </a:t>
            </a:r>
            <a:endParaRPr 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171" name="그룹 400"/>
          <p:cNvGrpSpPr/>
          <p:nvPr/>
        </p:nvGrpSpPr>
        <p:grpSpPr>
          <a:xfrm>
            <a:off x="1174133" y="3816077"/>
            <a:ext cx="229236" cy="229194"/>
            <a:chOff x="2625629" y="3735853"/>
            <a:chExt cx="276891" cy="276839"/>
          </a:xfrm>
        </p:grpSpPr>
        <p:sp>
          <p:nvSpPr>
            <p:cNvPr id="172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173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174" name="텍스트 상자 31"/>
          <p:cNvSpPr txBox="1"/>
          <p:nvPr/>
        </p:nvSpPr>
        <p:spPr>
          <a:xfrm>
            <a:off x="1478471" y="382450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175" name="텍스트 상자 31"/>
          <p:cNvSpPr txBox="1"/>
          <p:nvPr/>
        </p:nvSpPr>
        <p:spPr>
          <a:xfrm>
            <a:off x="1478471" y="3962359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제품기획팀 </a:t>
            </a:r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|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연구원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76" name="Group 18"/>
          <p:cNvGrpSpPr/>
          <p:nvPr/>
        </p:nvGrpSpPr>
        <p:grpSpPr>
          <a:xfrm>
            <a:off x="3055947" y="3810385"/>
            <a:ext cx="488199" cy="233616"/>
            <a:chOff x="606819" y="4687462"/>
            <a:chExt cx="488199" cy="233616"/>
          </a:xfrm>
        </p:grpSpPr>
        <p:sp>
          <p:nvSpPr>
            <p:cNvPr id="177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>
                <a:lumMod val="95000"/>
              </a:schemeClr>
            </a:solidFill>
            <a:ln w="635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8" name="Triangle 942"/>
            <p:cNvSpPr>
              <a:spLocks noChangeAspect="1"/>
            </p:cNvSpPr>
            <p:nvPr/>
          </p:nvSpPr>
          <p:spPr>
            <a:xfrm flipV="1"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  <p:sp>
          <p:nvSpPr>
            <p:cNvPr id="179" name="텍스트 상자 31"/>
            <p:cNvSpPr txBox="1"/>
            <p:nvPr/>
          </p:nvSpPr>
          <p:spPr>
            <a:xfrm>
              <a:off x="663018" y="4750410"/>
              <a:ext cx="43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80" name="Freeform 11"/>
          <p:cNvSpPr>
            <a:spLocks noChangeAspect="1" noChangeArrowheads="1"/>
          </p:cNvSpPr>
          <p:nvPr/>
        </p:nvSpPr>
        <p:spPr bwMode="auto">
          <a:xfrm>
            <a:off x="3616952" y="3882193"/>
            <a:ext cx="90000" cy="90000"/>
          </a:xfrm>
          <a:custGeom>
            <a:avLst/>
            <a:gdLst>
              <a:gd name="T0" fmla="*/ 454 w 455"/>
              <a:gd name="T1" fmla="*/ 44 h 456"/>
              <a:gd name="T2" fmla="*/ 411 w 455"/>
              <a:gd name="T3" fmla="*/ 0 h 456"/>
              <a:gd name="T4" fmla="*/ 224 w 455"/>
              <a:gd name="T5" fmla="*/ 181 h 456"/>
              <a:gd name="T6" fmla="*/ 44 w 455"/>
              <a:gd name="T7" fmla="*/ 0 h 456"/>
              <a:gd name="T8" fmla="*/ 0 w 455"/>
              <a:gd name="T9" fmla="*/ 44 h 456"/>
              <a:gd name="T10" fmla="*/ 181 w 455"/>
              <a:gd name="T11" fmla="*/ 224 h 456"/>
              <a:gd name="T12" fmla="*/ 0 w 455"/>
              <a:gd name="T13" fmla="*/ 411 h 456"/>
              <a:gd name="T14" fmla="*/ 44 w 455"/>
              <a:gd name="T15" fmla="*/ 455 h 456"/>
              <a:gd name="T16" fmla="*/ 224 w 455"/>
              <a:gd name="T17" fmla="*/ 274 h 456"/>
              <a:gd name="T18" fmla="*/ 411 w 455"/>
              <a:gd name="T19" fmla="*/ 455 h 456"/>
              <a:gd name="T20" fmla="*/ 454 w 455"/>
              <a:gd name="T21" fmla="*/ 411 h 456"/>
              <a:gd name="T22" fmla="*/ 274 w 455"/>
              <a:gd name="T23" fmla="*/ 224 h 456"/>
              <a:gd name="T24" fmla="*/ 454 w 455"/>
              <a:gd name="T25" fmla="*/ 44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5" h="456">
                <a:moveTo>
                  <a:pt x="454" y="44"/>
                </a:moveTo>
                <a:lnTo>
                  <a:pt x="411" y="0"/>
                </a:lnTo>
                <a:lnTo>
                  <a:pt x="224" y="181"/>
                </a:lnTo>
                <a:lnTo>
                  <a:pt x="44" y="0"/>
                </a:lnTo>
                <a:lnTo>
                  <a:pt x="0" y="44"/>
                </a:lnTo>
                <a:lnTo>
                  <a:pt x="181" y="224"/>
                </a:lnTo>
                <a:lnTo>
                  <a:pt x="0" y="411"/>
                </a:lnTo>
                <a:lnTo>
                  <a:pt x="44" y="455"/>
                </a:lnTo>
                <a:lnTo>
                  <a:pt x="224" y="274"/>
                </a:lnTo>
                <a:lnTo>
                  <a:pt x="411" y="455"/>
                </a:lnTo>
                <a:lnTo>
                  <a:pt x="454" y="411"/>
                </a:lnTo>
                <a:lnTo>
                  <a:pt x="274" y="224"/>
                </a:lnTo>
                <a:lnTo>
                  <a:pt x="454" y="44"/>
                </a:lnTo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81" name="Rounded Rectangle 645"/>
          <p:cNvSpPr/>
          <p:nvPr/>
        </p:nvSpPr>
        <p:spPr>
          <a:xfrm>
            <a:off x="1069898" y="3430174"/>
            <a:ext cx="2714564" cy="266160"/>
          </a:xfrm>
          <a:prstGeom prst="roundRect">
            <a:avLst>
              <a:gd name="adj" fmla="val 8420"/>
            </a:avLst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추가하기</a:t>
            </a:r>
            <a:endParaRPr 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182" name="Picture 157" descr="man-user (1).png"/>
          <p:cNvPicPr>
            <a:picLocks noChangeAspect="1"/>
          </p:cNvPicPr>
          <p:nvPr/>
        </p:nvPicPr>
        <p:blipFill>
          <a:blip r:embed="rId4" cstate="print">
            <a:alphaModFix amt="31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4036" y="3487582"/>
            <a:ext cx="144026" cy="144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30589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12700" cap="flat" cmpd="sng">
                <a:solidFill>
                  <a:srgbClr val="000000"/>
                </a:solidFill>
                <a:prstDash val="solid"/>
                <a:miter lim="4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pic>
      <p:cxnSp>
        <p:nvCxnSpPr>
          <p:cNvPr id="183" name="직선 연결선[R] 33"/>
          <p:cNvCxnSpPr/>
          <p:nvPr/>
        </p:nvCxnSpPr>
        <p:spPr>
          <a:xfrm>
            <a:off x="402004" y="5355571"/>
            <a:ext cx="4055696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Rectangle 494"/>
          <p:cNvSpPr/>
          <p:nvPr/>
        </p:nvSpPr>
        <p:spPr>
          <a:xfrm>
            <a:off x="1075242" y="3759581"/>
            <a:ext cx="2709220" cy="1467109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108000" rtlCol="0" anchor="t"/>
          <a:lstStyle/>
          <a:p>
            <a:endParaRPr 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85" name="텍스트 상자 31"/>
          <p:cNvSpPr txBox="1"/>
          <p:nvPr/>
        </p:nvSpPr>
        <p:spPr>
          <a:xfrm>
            <a:off x="4757035" y="3154708"/>
            <a:ext cx="16169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* 멤버 속성 드롭다운 메뉴 </a:t>
            </a: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: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86" name="Group 496"/>
          <p:cNvGrpSpPr/>
          <p:nvPr/>
        </p:nvGrpSpPr>
        <p:grpSpPr>
          <a:xfrm>
            <a:off x="4879189" y="3329112"/>
            <a:ext cx="488199" cy="233616"/>
            <a:chOff x="606819" y="4687462"/>
            <a:chExt cx="488199" cy="233616"/>
          </a:xfrm>
        </p:grpSpPr>
        <p:sp>
          <p:nvSpPr>
            <p:cNvPr id="187" name="Rounded Rectangle 939"/>
            <p:cNvSpPr/>
            <p:nvPr/>
          </p:nvSpPr>
          <p:spPr>
            <a:xfrm>
              <a:off x="606819" y="4687462"/>
              <a:ext cx="488199" cy="233616"/>
            </a:xfrm>
            <a:prstGeom prst="roundRect">
              <a:avLst>
                <a:gd name="adj" fmla="val 8420"/>
              </a:avLst>
            </a:prstGeom>
            <a:solidFill>
              <a:schemeClr val="bg1">
                <a:lumMod val="95000"/>
              </a:schemeClr>
            </a:solidFill>
            <a:ln w="635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88" name="Triangle 942"/>
            <p:cNvSpPr>
              <a:spLocks noChangeAspect="1"/>
            </p:cNvSpPr>
            <p:nvPr/>
          </p:nvSpPr>
          <p:spPr>
            <a:xfrm>
              <a:off x="962999" y="4782670"/>
              <a:ext cx="75371" cy="43200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633">
                <a:solidFill>
                  <a:schemeClr val="tx1"/>
                </a:solidFill>
                <a:latin typeface="+mn-ea"/>
                <a:ea typeface="+mn-ea"/>
                <a:cs typeface="ＭＳ Ｐゴシック" charset="0"/>
              </a:endParaRPr>
            </a:p>
          </p:txBody>
        </p:sp>
        <p:sp>
          <p:nvSpPr>
            <p:cNvPr id="189" name="텍스트 상자 31"/>
            <p:cNvSpPr txBox="1"/>
            <p:nvPr/>
          </p:nvSpPr>
          <p:spPr>
            <a:xfrm>
              <a:off x="663018" y="4750410"/>
              <a:ext cx="324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90" name="Rectangle 14"/>
          <p:cNvSpPr>
            <a:spLocks/>
          </p:cNvSpPr>
          <p:nvPr/>
        </p:nvSpPr>
        <p:spPr bwMode="auto">
          <a:xfrm>
            <a:off x="4879189" y="3576701"/>
            <a:ext cx="488199" cy="459980"/>
          </a:xfrm>
          <a:prstGeom prst="rect">
            <a:avLst/>
          </a:prstGeom>
          <a:solidFill>
            <a:schemeClr val="bg1"/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91" name="Rectangle 501"/>
          <p:cNvSpPr/>
          <p:nvPr/>
        </p:nvSpPr>
        <p:spPr>
          <a:xfrm>
            <a:off x="4935388" y="3639646"/>
            <a:ext cx="432000" cy="323165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관리자</a:t>
            </a: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참관인</a:t>
            </a:r>
          </a:p>
        </p:txBody>
      </p:sp>
      <p:grpSp>
        <p:nvGrpSpPr>
          <p:cNvPr id="192" name="Group 171"/>
          <p:cNvGrpSpPr/>
          <p:nvPr/>
        </p:nvGrpSpPr>
        <p:grpSpPr>
          <a:xfrm>
            <a:off x="4879189" y="4606237"/>
            <a:ext cx="2709220" cy="1471437"/>
            <a:chOff x="4879189" y="5756747"/>
            <a:chExt cx="2709220" cy="1471437"/>
          </a:xfrm>
        </p:grpSpPr>
        <p:sp>
          <p:nvSpPr>
            <p:cNvPr id="193" name="Rectangle 543"/>
            <p:cNvSpPr/>
            <p:nvPr/>
          </p:nvSpPr>
          <p:spPr>
            <a:xfrm>
              <a:off x="4879190" y="5756747"/>
              <a:ext cx="2709219" cy="34388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194" name="그룹 400"/>
            <p:cNvGrpSpPr/>
            <p:nvPr/>
          </p:nvGrpSpPr>
          <p:grpSpPr>
            <a:xfrm>
              <a:off x="4978080" y="5817571"/>
              <a:ext cx="229236" cy="229194"/>
              <a:chOff x="2625629" y="3735853"/>
              <a:chExt cx="276891" cy="276839"/>
            </a:xfrm>
          </p:grpSpPr>
          <p:sp>
            <p:nvSpPr>
              <p:cNvPr id="23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37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195" name="텍스트 상자 31"/>
            <p:cNvSpPr txBox="1"/>
            <p:nvPr/>
          </p:nvSpPr>
          <p:spPr>
            <a:xfrm>
              <a:off x="5282418" y="5825996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96" name="텍스트 상자 31"/>
            <p:cNvSpPr txBox="1"/>
            <p:nvPr/>
          </p:nvSpPr>
          <p:spPr>
            <a:xfrm>
              <a:off x="5282418" y="5963853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97" name="Group 549"/>
            <p:cNvGrpSpPr/>
            <p:nvPr/>
          </p:nvGrpSpPr>
          <p:grpSpPr>
            <a:xfrm>
              <a:off x="6859894" y="5811879"/>
              <a:ext cx="488199" cy="233616"/>
              <a:chOff x="606819" y="4687462"/>
              <a:chExt cx="488199" cy="233616"/>
            </a:xfrm>
          </p:grpSpPr>
          <p:sp>
            <p:nvSpPr>
              <p:cNvPr id="233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34" name="Triangle 942"/>
              <p:cNvSpPr>
                <a:spLocks noChangeAspect="1"/>
              </p:cNvSpPr>
              <p:nvPr/>
            </p:nvSpPr>
            <p:spPr>
              <a:xfrm flipV="1"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235" name="텍스트 상자 31"/>
              <p:cNvSpPr txBox="1"/>
              <p:nvPr/>
            </p:nvSpPr>
            <p:spPr>
              <a:xfrm>
                <a:off x="663018" y="4750410"/>
                <a:ext cx="43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멤버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98" name="Freeform 11"/>
            <p:cNvSpPr>
              <a:spLocks noChangeAspect="1" noChangeArrowheads="1"/>
            </p:cNvSpPr>
            <p:nvPr/>
          </p:nvSpPr>
          <p:spPr bwMode="auto">
            <a:xfrm>
              <a:off x="7420899" y="5883687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199" name="Rectangle 554"/>
            <p:cNvSpPr/>
            <p:nvPr/>
          </p:nvSpPr>
          <p:spPr>
            <a:xfrm>
              <a:off x="4879189" y="5761075"/>
              <a:ext cx="2709220" cy="1467109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108000" rtlCol="0" anchor="t"/>
            <a:lstStyle/>
            <a:p>
              <a:endParaRPr lang="en-US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200" name="Rectangle 555"/>
            <p:cNvSpPr/>
            <p:nvPr/>
          </p:nvSpPr>
          <p:spPr>
            <a:xfrm>
              <a:off x="4879190" y="6106491"/>
              <a:ext cx="2709219" cy="34388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201" name="그룹 400"/>
            <p:cNvGrpSpPr/>
            <p:nvPr/>
          </p:nvGrpSpPr>
          <p:grpSpPr>
            <a:xfrm>
              <a:off x="4978080" y="6167315"/>
              <a:ext cx="229236" cy="229194"/>
              <a:chOff x="2625629" y="3735853"/>
              <a:chExt cx="276891" cy="276839"/>
            </a:xfrm>
          </p:grpSpPr>
          <p:sp>
            <p:nvSpPr>
              <p:cNvPr id="23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32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02" name="텍스트 상자 31"/>
            <p:cNvSpPr txBox="1"/>
            <p:nvPr/>
          </p:nvSpPr>
          <p:spPr>
            <a:xfrm>
              <a:off x="5282418" y="617574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03" name="텍스트 상자 31"/>
            <p:cNvSpPr txBox="1"/>
            <p:nvPr/>
          </p:nvSpPr>
          <p:spPr>
            <a:xfrm>
              <a:off x="5282418" y="6313597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04" name="Group 561"/>
            <p:cNvGrpSpPr/>
            <p:nvPr/>
          </p:nvGrpSpPr>
          <p:grpSpPr>
            <a:xfrm>
              <a:off x="6859894" y="6161623"/>
              <a:ext cx="488199" cy="233616"/>
              <a:chOff x="606819" y="4687462"/>
              <a:chExt cx="488199" cy="233616"/>
            </a:xfrm>
          </p:grpSpPr>
          <p:sp>
            <p:nvSpPr>
              <p:cNvPr id="228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9" name="Triangle 942"/>
              <p:cNvSpPr>
                <a:spLocks noChangeAspect="1"/>
              </p:cNvSpPr>
              <p:nvPr/>
            </p:nvSpPr>
            <p:spPr>
              <a:xfrm flipV="1"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230" name="텍스트 상자 31"/>
              <p:cNvSpPr txBox="1"/>
              <p:nvPr/>
            </p:nvSpPr>
            <p:spPr>
              <a:xfrm>
                <a:off x="663018" y="4750410"/>
                <a:ext cx="43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멤버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05" name="Freeform 11"/>
            <p:cNvSpPr>
              <a:spLocks noChangeAspect="1" noChangeArrowheads="1"/>
            </p:cNvSpPr>
            <p:nvPr/>
          </p:nvSpPr>
          <p:spPr bwMode="auto">
            <a:xfrm>
              <a:off x="7420899" y="6233431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06" name="Rectangle 566"/>
            <p:cNvSpPr/>
            <p:nvPr/>
          </p:nvSpPr>
          <p:spPr>
            <a:xfrm>
              <a:off x="4879190" y="6446108"/>
              <a:ext cx="2709219" cy="34388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207" name="그룹 400"/>
            <p:cNvGrpSpPr/>
            <p:nvPr/>
          </p:nvGrpSpPr>
          <p:grpSpPr>
            <a:xfrm>
              <a:off x="4978080" y="6506932"/>
              <a:ext cx="229236" cy="229194"/>
              <a:chOff x="2625629" y="3735853"/>
              <a:chExt cx="276891" cy="276839"/>
            </a:xfrm>
          </p:grpSpPr>
          <p:sp>
            <p:nvSpPr>
              <p:cNvPr id="22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27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08" name="텍스트 상자 31"/>
            <p:cNvSpPr txBox="1"/>
            <p:nvPr/>
          </p:nvSpPr>
          <p:spPr>
            <a:xfrm>
              <a:off x="5282418" y="65153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09" name="텍스트 상자 31"/>
            <p:cNvSpPr txBox="1"/>
            <p:nvPr/>
          </p:nvSpPr>
          <p:spPr>
            <a:xfrm>
              <a:off x="5282418" y="6653214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10" name="Group 572"/>
            <p:cNvGrpSpPr/>
            <p:nvPr/>
          </p:nvGrpSpPr>
          <p:grpSpPr>
            <a:xfrm>
              <a:off x="6859894" y="6501240"/>
              <a:ext cx="488199" cy="233616"/>
              <a:chOff x="606819" y="4687462"/>
              <a:chExt cx="488199" cy="233616"/>
            </a:xfrm>
          </p:grpSpPr>
          <p:sp>
            <p:nvSpPr>
              <p:cNvPr id="223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4" name="Triangle 942"/>
              <p:cNvSpPr>
                <a:spLocks noChangeAspect="1"/>
              </p:cNvSpPr>
              <p:nvPr/>
            </p:nvSpPr>
            <p:spPr>
              <a:xfrm flipV="1"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225" name="텍스트 상자 31"/>
              <p:cNvSpPr txBox="1"/>
              <p:nvPr/>
            </p:nvSpPr>
            <p:spPr>
              <a:xfrm>
                <a:off x="663018" y="4750410"/>
                <a:ext cx="43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멤버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11" name="Freeform 11"/>
            <p:cNvSpPr>
              <a:spLocks noChangeAspect="1" noChangeArrowheads="1"/>
            </p:cNvSpPr>
            <p:nvPr/>
          </p:nvSpPr>
          <p:spPr bwMode="auto">
            <a:xfrm>
              <a:off x="7420899" y="6573048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12" name="Rectangle 577"/>
            <p:cNvSpPr/>
            <p:nvPr/>
          </p:nvSpPr>
          <p:spPr>
            <a:xfrm>
              <a:off x="4879190" y="6798203"/>
              <a:ext cx="2709219" cy="34388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213" name="그룹 400"/>
            <p:cNvGrpSpPr/>
            <p:nvPr/>
          </p:nvGrpSpPr>
          <p:grpSpPr>
            <a:xfrm>
              <a:off x="4978080" y="6859027"/>
              <a:ext cx="229236" cy="229194"/>
              <a:chOff x="2625629" y="3735853"/>
              <a:chExt cx="276891" cy="276839"/>
            </a:xfrm>
          </p:grpSpPr>
          <p:sp>
            <p:nvSpPr>
              <p:cNvPr id="22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22" name="Picture 157" descr="man-user (1).png"/>
              <p:cNvPicPr>
                <a:picLocks noChangeAspect="1"/>
              </p:cNvPicPr>
              <p:nvPr/>
            </p:nvPicPr>
            <p:blipFill>
              <a:blip r:embed="rId3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14" name="텍스트 상자 31"/>
            <p:cNvSpPr txBox="1"/>
            <p:nvPr/>
          </p:nvSpPr>
          <p:spPr>
            <a:xfrm>
              <a:off x="5282418" y="686745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15" name="텍스트 상자 31"/>
            <p:cNvSpPr txBox="1"/>
            <p:nvPr/>
          </p:nvSpPr>
          <p:spPr>
            <a:xfrm>
              <a:off x="5282418" y="700530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제품기획팀 </a:t>
              </a:r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연구원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16" name="Group 583"/>
            <p:cNvGrpSpPr/>
            <p:nvPr/>
          </p:nvGrpSpPr>
          <p:grpSpPr>
            <a:xfrm>
              <a:off x="6859894" y="6853335"/>
              <a:ext cx="488199" cy="233616"/>
              <a:chOff x="606819" y="4687462"/>
              <a:chExt cx="488199" cy="233616"/>
            </a:xfrm>
          </p:grpSpPr>
          <p:sp>
            <p:nvSpPr>
              <p:cNvPr id="218" name="Rounded Rectangle 939"/>
              <p:cNvSpPr/>
              <p:nvPr/>
            </p:nvSpPr>
            <p:spPr>
              <a:xfrm>
                <a:off x="606819" y="4687462"/>
                <a:ext cx="488199" cy="233616"/>
              </a:xfrm>
              <a:prstGeom prst="roundRect">
                <a:avLst>
                  <a:gd name="adj" fmla="val 8420"/>
                </a:avLst>
              </a:prstGeom>
              <a:solidFill>
                <a:schemeClr val="bg1">
                  <a:lumMod val="95000"/>
                </a:schemeClr>
              </a:solidFill>
              <a:ln w="6350" cap="flat" cmpd="sng">
                <a:noFill/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19" name="Triangle 942"/>
              <p:cNvSpPr>
                <a:spLocks noChangeAspect="1"/>
              </p:cNvSpPr>
              <p:nvPr/>
            </p:nvSpPr>
            <p:spPr>
              <a:xfrm flipV="1">
                <a:off x="962999" y="4782670"/>
                <a:ext cx="75371" cy="43200"/>
              </a:xfrm>
              <a:prstGeom prst="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633">
                  <a:solidFill>
                    <a:schemeClr val="tx1"/>
                  </a:solidFill>
                  <a:latin typeface="+mn-ea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220" name="텍스트 상자 31"/>
              <p:cNvSpPr txBox="1"/>
              <p:nvPr/>
            </p:nvSpPr>
            <p:spPr>
              <a:xfrm>
                <a:off x="663018" y="4750410"/>
                <a:ext cx="4320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멤버</a:t>
                </a:r>
                <a:endParaRPr kumimoji="1"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17" name="Freeform 11"/>
            <p:cNvSpPr>
              <a:spLocks noChangeAspect="1" noChangeArrowheads="1"/>
            </p:cNvSpPr>
            <p:nvPr/>
          </p:nvSpPr>
          <p:spPr bwMode="auto">
            <a:xfrm>
              <a:off x="7420899" y="6925143"/>
              <a:ext cx="90000" cy="90000"/>
            </a:xfrm>
            <a:custGeom>
              <a:avLst/>
              <a:gdLst>
                <a:gd name="T0" fmla="*/ 454 w 455"/>
                <a:gd name="T1" fmla="*/ 44 h 456"/>
                <a:gd name="T2" fmla="*/ 411 w 455"/>
                <a:gd name="T3" fmla="*/ 0 h 456"/>
                <a:gd name="T4" fmla="*/ 224 w 455"/>
                <a:gd name="T5" fmla="*/ 181 h 456"/>
                <a:gd name="T6" fmla="*/ 44 w 455"/>
                <a:gd name="T7" fmla="*/ 0 h 456"/>
                <a:gd name="T8" fmla="*/ 0 w 455"/>
                <a:gd name="T9" fmla="*/ 44 h 456"/>
                <a:gd name="T10" fmla="*/ 181 w 455"/>
                <a:gd name="T11" fmla="*/ 224 h 456"/>
                <a:gd name="T12" fmla="*/ 0 w 455"/>
                <a:gd name="T13" fmla="*/ 411 h 456"/>
                <a:gd name="T14" fmla="*/ 44 w 455"/>
                <a:gd name="T15" fmla="*/ 455 h 456"/>
                <a:gd name="T16" fmla="*/ 224 w 455"/>
                <a:gd name="T17" fmla="*/ 274 h 456"/>
                <a:gd name="T18" fmla="*/ 411 w 455"/>
                <a:gd name="T19" fmla="*/ 455 h 456"/>
                <a:gd name="T20" fmla="*/ 454 w 455"/>
                <a:gd name="T21" fmla="*/ 411 h 456"/>
                <a:gd name="T22" fmla="*/ 274 w 455"/>
                <a:gd name="T23" fmla="*/ 224 h 456"/>
                <a:gd name="T24" fmla="*/ 454 w 455"/>
                <a:gd name="T25" fmla="*/ 4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456">
                  <a:moveTo>
                    <a:pt x="454" y="44"/>
                  </a:moveTo>
                  <a:lnTo>
                    <a:pt x="411" y="0"/>
                  </a:lnTo>
                  <a:lnTo>
                    <a:pt x="224" y="181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181" y="224"/>
                  </a:lnTo>
                  <a:lnTo>
                    <a:pt x="0" y="411"/>
                  </a:lnTo>
                  <a:lnTo>
                    <a:pt x="44" y="455"/>
                  </a:lnTo>
                  <a:lnTo>
                    <a:pt x="224" y="274"/>
                  </a:lnTo>
                  <a:lnTo>
                    <a:pt x="411" y="455"/>
                  </a:lnTo>
                  <a:lnTo>
                    <a:pt x="454" y="411"/>
                  </a:lnTo>
                  <a:lnTo>
                    <a:pt x="274" y="224"/>
                  </a:lnTo>
                  <a:lnTo>
                    <a:pt x="454" y="44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238" name="텍스트 상자 31"/>
          <p:cNvSpPr txBox="1"/>
          <p:nvPr/>
        </p:nvSpPr>
        <p:spPr>
          <a:xfrm>
            <a:off x="4757035" y="4136793"/>
            <a:ext cx="161699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* 멤버 리스트 영역 초과 시 </a:t>
            </a: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:</a:t>
            </a:r>
            <a:endParaRPr kumimoji="1"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스크롤 시 스크롤 바 생성</a:t>
            </a:r>
            <a:endParaRPr kumimoji="1"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39" name="Rounded Rectangle 185"/>
          <p:cNvSpPr/>
          <p:nvPr/>
        </p:nvSpPr>
        <p:spPr>
          <a:xfrm>
            <a:off x="7500619" y="4651350"/>
            <a:ext cx="72000" cy="851169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  <a:alpha val="5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40" name="Freeform 14"/>
          <p:cNvSpPr>
            <a:spLocks noChangeArrowheads="1"/>
          </p:cNvSpPr>
          <p:nvPr/>
        </p:nvSpPr>
        <p:spPr bwMode="auto">
          <a:xfrm rot="5400000">
            <a:off x="4292274" y="154688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41" name="Freeform 14"/>
          <p:cNvSpPr>
            <a:spLocks noChangeArrowheads="1"/>
          </p:cNvSpPr>
          <p:nvPr/>
        </p:nvSpPr>
        <p:spPr bwMode="auto">
          <a:xfrm rot="16200000" flipH="1">
            <a:off x="494646" y="154688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242" name="Group 186"/>
          <p:cNvGrpSpPr/>
          <p:nvPr/>
        </p:nvGrpSpPr>
        <p:grpSpPr>
          <a:xfrm>
            <a:off x="3467509" y="1171958"/>
            <a:ext cx="663669" cy="72000"/>
            <a:chOff x="5162852" y="3714667"/>
            <a:chExt cx="663669" cy="72000"/>
          </a:xfrm>
        </p:grpSpPr>
        <p:sp>
          <p:nvSpPr>
            <p:cNvPr id="243" name="Oval 601"/>
            <p:cNvSpPr>
              <a:spLocks noChangeAspect="1"/>
            </p:cNvSpPr>
            <p:nvPr/>
          </p:nvSpPr>
          <p:spPr>
            <a:xfrm>
              <a:off x="5162852" y="3714667"/>
              <a:ext cx="72000" cy="720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44" name="Oval 603"/>
            <p:cNvSpPr>
              <a:spLocks noChangeAspect="1"/>
            </p:cNvSpPr>
            <p:nvPr/>
          </p:nvSpPr>
          <p:spPr>
            <a:xfrm>
              <a:off x="5311708" y="3722985"/>
              <a:ext cx="55364" cy="5536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45" name="Oval 604"/>
            <p:cNvSpPr>
              <a:spLocks noChangeAspect="1"/>
            </p:cNvSpPr>
            <p:nvPr/>
          </p:nvSpPr>
          <p:spPr>
            <a:xfrm>
              <a:off x="5426170" y="3722985"/>
              <a:ext cx="55364" cy="5536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46" name="Oval 605"/>
            <p:cNvSpPr>
              <a:spLocks noChangeAspect="1"/>
            </p:cNvSpPr>
            <p:nvPr/>
          </p:nvSpPr>
          <p:spPr>
            <a:xfrm>
              <a:off x="5540632" y="3722985"/>
              <a:ext cx="55364" cy="5536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47" name="Oval 606"/>
            <p:cNvSpPr>
              <a:spLocks noChangeAspect="1"/>
            </p:cNvSpPr>
            <p:nvPr/>
          </p:nvSpPr>
          <p:spPr>
            <a:xfrm>
              <a:off x="5655093" y="3722985"/>
              <a:ext cx="55364" cy="5536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48" name="Oval 609"/>
            <p:cNvSpPr>
              <a:spLocks noChangeAspect="1"/>
            </p:cNvSpPr>
            <p:nvPr/>
          </p:nvSpPr>
          <p:spPr>
            <a:xfrm>
              <a:off x="5771157" y="3722985"/>
              <a:ext cx="55364" cy="5536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</p:grpSp>
      <p:grpSp>
        <p:nvGrpSpPr>
          <p:cNvPr id="249" name="그룹 423"/>
          <p:cNvGrpSpPr/>
          <p:nvPr/>
        </p:nvGrpSpPr>
        <p:grpSpPr>
          <a:xfrm rot="16200000">
            <a:off x="3762136" y="2910126"/>
            <a:ext cx="660184" cy="1272458"/>
            <a:chOff x="8097633" y="3335314"/>
            <a:chExt cx="660184" cy="1272458"/>
          </a:xfrm>
        </p:grpSpPr>
        <p:sp>
          <p:nvSpPr>
            <p:cNvPr id="250" name="AutoShape 133"/>
            <p:cNvSpPr>
              <a:spLocks/>
            </p:cNvSpPr>
            <p:nvPr/>
          </p:nvSpPr>
          <p:spPr bwMode="auto">
            <a:xfrm>
              <a:off x="8097633" y="3335314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endParaRPr lang="en-US" sz="1800" dirty="0">
                <a:latin typeface="+mn-ea"/>
                <a:ea typeface="+mn-ea"/>
              </a:endParaRPr>
            </a:p>
          </p:txBody>
        </p:sp>
        <p:cxnSp>
          <p:nvCxnSpPr>
            <p:cNvPr id="251" name="직선 화살표 연결선 425"/>
            <p:cNvCxnSpPr/>
            <p:nvPr/>
          </p:nvCxnSpPr>
          <p:spPr>
            <a:xfrm rot="5400000" flipV="1">
              <a:off x="7869900" y="3719854"/>
              <a:ext cx="1174074" cy="601761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2" name="그룹 423"/>
          <p:cNvGrpSpPr/>
          <p:nvPr/>
        </p:nvGrpSpPr>
        <p:grpSpPr>
          <a:xfrm rot="16200000">
            <a:off x="4048084" y="3587774"/>
            <a:ext cx="116864" cy="1301038"/>
            <a:chOff x="8726378" y="3335313"/>
            <a:chExt cx="116864" cy="1301038"/>
          </a:xfrm>
        </p:grpSpPr>
        <p:sp>
          <p:nvSpPr>
            <p:cNvPr id="253" name="AutoShape 133"/>
            <p:cNvSpPr>
              <a:spLocks/>
            </p:cNvSpPr>
            <p:nvPr/>
          </p:nvSpPr>
          <p:spPr bwMode="auto">
            <a:xfrm>
              <a:off x="8726378" y="3335313"/>
              <a:ext cx="116864" cy="116961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0000FF">
                <a:alpha val="49000"/>
              </a:srgbClr>
            </a:solidFill>
            <a:ln w="9525" cap="flat" cmpd="sng">
              <a:noFill/>
              <a:prstDash val="dash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/>
            <a:p>
              <a:endParaRPr lang="en-US" sz="1800" dirty="0">
                <a:latin typeface="+mn-ea"/>
                <a:ea typeface="+mn-ea"/>
              </a:endParaRPr>
            </a:p>
          </p:txBody>
        </p:sp>
        <p:cxnSp>
          <p:nvCxnSpPr>
            <p:cNvPr id="254" name="직선 화살표 연결선 425"/>
            <p:cNvCxnSpPr/>
            <p:nvPr/>
          </p:nvCxnSpPr>
          <p:spPr>
            <a:xfrm rot="5400000" flipV="1">
              <a:off x="8183475" y="4035023"/>
              <a:ext cx="1202655" cy="1"/>
            </a:xfrm>
            <a:prstGeom prst="straightConnector1">
              <a:avLst/>
            </a:prstGeom>
            <a:ln w="6350">
              <a:solidFill>
                <a:srgbClr val="0000FF"/>
              </a:solidFill>
              <a:prstDash val="sys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6" name="그룹 143"/>
          <p:cNvGrpSpPr/>
          <p:nvPr/>
        </p:nvGrpSpPr>
        <p:grpSpPr>
          <a:xfrm>
            <a:off x="347843" y="1154912"/>
            <a:ext cx="216000" cy="252000"/>
            <a:chOff x="2704212" y="2825113"/>
            <a:chExt cx="216000" cy="252000"/>
          </a:xfrm>
        </p:grpSpPr>
        <p:sp>
          <p:nvSpPr>
            <p:cNvPr id="257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>
                <a:latin typeface="+mn-ea"/>
                <a:ea typeface="+mn-ea"/>
              </a:endParaRPr>
            </a:p>
          </p:txBody>
        </p:sp>
        <p:sp>
          <p:nvSpPr>
            <p:cNvPr id="258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9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1</a:t>
              </a:r>
              <a:endParaRPr sz="9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259" name="Rectangle 135"/>
          <p:cNvSpPr/>
          <p:nvPr/>
        </p:nvSpPr>
        <p:spPr>
          <a:xfrm>
            <a:off x="550092" y="1100401"/>
            <a:ext cx="3813359" cy="92926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60" name="그룹 143"/>
          <p:cNvGrpSpPr/>
          <p:nvPr/>
        </p:nvGrpSpPr>
        <p:grpSpPr>
          <a:xfrm>
            <a:off x="347843" y="2151113"/>
            <a:ext cx="216000" cy="252000"/>
            <a:chOff x="2704212" y="2825113"/>
            <a:chExt cx="216000" cy="252000"/>
          </a:xfrm>
        </p:grpSpPr>
        <p:sp>
          <p:nvSpPr>
            <p:cNvPr id="261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>
                <a:latin typeface="+mn-ea"/>
                <a:ea typeface="+mn-ea"/>
              </a:endParaRPr>
            </a:p>
          </p:txBody>
        </p:sp>
        <p:sp>
          <p:nvSpPr>
            <p:cNvPr id="262" name="2"/>
            <p:cNvSpPr txBox="1"/>
            <p:nvPr/>
          </p:nvSpPr>
          <p:spPr>
            <a:xfrm>
              <a:off x="2704212" y="2825113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9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2</a:t>
              </a:r>
              <a:endParaRPr sz="9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263" name="Rectangle 140"/>
          <p:cNvSpPr/>
          <p:nvPr/>
        </p:nvSpPr>
        <p:spPr>
          <a:xfrm>
            <a:off x="550092" y="2071671"/>
            <a:ext cx="3813359" cy="1242410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64" name="그룹 143"/>
          <p:cNvGrpSpPr/>
          <p:nvPr/>
        </p:nvGrpSpPr>
        <p:grpSpPr>
          <a:xfrm>
            <a:off x="347843" y="3161865"/>
            <a:ext cx="216000" cy="252000"/>
            <a:chOff x="2704212" y="2809071"/>
            <a:chExt cx="216000" cy="252000"/>
          </a:xfrm>
        </p:grpSpPr>
        <p:sp>
          <p:nvSpPr>
            <p:cNvPr id="265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>
                <a:latin typeface="+mn-ea"/>
                <a:ea typeface="+mn-ea"/>
              </a:endParaRPr>
            </a:p>
          </p:txBody>
        </p:sp>
        <p:sp>
          <p:nvSpPr>
            <p:cNvPr id="266" name="2"/>
            <p:cNvSpPr txBox="1"/>
            <p:nvPr/>
          </p:nvSpPr>
          <p:spPr>
            <a:xfrm>
              <a:off x="2704212" y="2809071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9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3</a:t>
              </a:r>
              <a:endParaRPr sz="9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267" name="Rectangle 144"/>
          <p:cNvSpPr/>
          <p:nvPr/>
        </p:nvSpPr>
        <p:spPr>
          <a:xfrm>
            <a:off x="550092" y="3313467"/>
            <a:ext cx="3813359" cy="1957524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68" name="그룹 143"/>
          <p:cNvGrpSpPr/>
          <p:nvPr/>
        </p:nvGrpSpPr>
        <p:grpSpPr>
          <a:xfrm>
            <a:off x="443601" y="5374867"/>
            <a:ext cx="216000" cy="252000"/>
            <a:chOff x="2704212" y="2809071"/>
            <a:chExt cx="216000" cy="252000"/>
          </a:xfrm>
        </p:grpSpPr>
        <p:sp>
          <p:nvSpPr>
            <p:cNvPr id="269" name="타원형"/>
            <p:cNvSpPr>
              <a:spLocks noChangeAspect="1"/>
            </p:cNvSpPr>
            <p:nvPr/>
          </p:nvSpPr>
          <p:spPr>
            <a:xfrm>
              <a:off x="2706663" y="2843113"/>
              <a:ext cx="213549" cy="216000"/>
            </a:xfrm>
            <a:prstGeom prst="ellipse">
              <a:avLst/>
            </a:prstGeom>
            <a:solidFill>
              <a:srgbClr val="FF0000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ctr" defTabSz="576817">
                <a:defRPr sz="7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>
                <a:latin typeface="+mn-ea"/>
                <a:ea typeface="+mn-ea"/>
              </a:endParaRPr>
            </a:p>
          </p:txBody>
        </p:sp>
        <p:sp>
          <p:nvSpPr>
            <p:cNvPr id="270" name="2"/>
            <p:cNvSpPr txBox="1"/>
            <p:nvPr/>
          </p:nvSpPr>
          <p:spPr>
            <a:xfrm>
              <a:off x="2704212" y="2809071"/>
              <a:ext cx="216000" cy="252000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0" tIns="0" rIns="0" bIns="0" numCol="1" anchor="ctr">
              <a:noAutofit/>
            </a:bodyPr>
            <a:lstStyle>
              <a:lvl1pPr defTabSz="576817">
                <a:defRPr sz="2000" b="1">
                  <a:solidFill>
                    <a:srgbClr val="FFFFFF"/>
                  </a:solidFill>
                  <a:latin typeface="Helvetica"/>
                  <a:ea typeface="Helvetica"/>
                  <a:cs typeface="Helvetica"/>
                  <a:sym typeface="Helvetica"/>
                </a:defRPr>
              </a:lvl1pPr>
            </a:lstStyle>
            <a:p>
              <a:pPr algn="ctr">
                <a:defRPr b="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r>
                <a:rPr lang="en-US" altLang="ko-KR" sz="900" b="1" dirty="0" smtClean="0">
                  <a:solidFill>
                    <a:srgbClr val="FFFFFF"/>
                  </a:solidFill>
                  <a:latin typeface="+mn-ea"/>
                  <a:ea typeface="+mn-ea"/>
                  <a:cs typeface="Helvetica"/>
                  <a:sym typeface="Helvetica"/>
                </a:rPr>
                <a:t>4</a:t>
              </a:r>
              <a:endParaRPr sz="900" b="1" dirty="0">
                <a:solidFill>
                  <a:srgbClr val="FFFFFF"/>
                </a:solidFill>
                <a:latin typeface="+mn-ea"/>
                <a:ea typeface="+mn-ea"/>
                <a:cs typeface="Helvetica"/>
                <a:sym typeface="Helvetica"/>
              </a:endParaRPr>
            </a:p>
          </p:txBody>
        </p:sp>
      </p:grpSp>
      <p:sp>
        <p:nvSpPr>
          <p:cNvPr id="271" name="Rectangle 148"/>
          <p:cNvSpPr/>
          <p:nvPr/>
        </p:nvSpPr>
        <p:spPr>
          <a:xfrm>
            <a:off x="550092" y="5408908"/>
            <a:ext cx="3813359" cy="313353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272" name="Group 1"/>
          <p:cNvGrpSpPr/>
          <p:nvPr/>
        </p:nvGrpSpPr>
        <p:grpSpPr>
          <a:xfrm>
            <a:off x="618294" y="1281240"/>
            <a:ext cx="3635448" cy="612118"/>
            <a:chOff x="711931" y="1644575"/>
            <a:chExt cx="4106516" cy="691434"/>
          </a:xfrm>
        </p:grpSpPr>
        <p:sp>
          <p:nvSpPr>
            <p:cNvPr id="273" name="Rectangle 420"/>
            <p:cNvSpPr/>
            <p:nvPr/>
          </p:nvSpPr>
          <p:spPr>
            <a:xfrm>
              <a:off x="1872386" y="1644575"/>
              <a:ext cx="1127263" cy="69143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2E6FF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800" dirty="0">
                <a:latin typeface="+mn-ea"/>
              </a:endParaRPr>
            </a:p>
          </p:txBody>
        </p:sp>
        <p:cxnSp>
          <p:nvCxnSpPr>
            <p:cNvPr id="274" name="Straight Connector 160"/>
            <p:cNvCxnSpPr/>
            <p:nvPr/>
          </p:nvCxnSpPr>
          <p:spPr>
            <a:xfrm flipH="1">
              <a:off x="1872386" y="1644575"/>
              <a:ext cx="1127263" cy="691434"/>
            </a:xfrm>
            <a:prstGeom prst="line">
              <a:avLst/>
            </a:prstGeom>
            <a:ln w="9525">
              <a:solidFill>
                <a:schemeClr val="bg1"/>
              </a:solidFill>
              <a:prstDash val="sysDot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491"/>
            <p:cNvCxnSpPr/>
            <p:nvPr/>
          </p:nvCxnSpPr>
          <p:spPr>
            <a:xfrm>
              <a:off x="1872386" y="1658891"/>
              <a:ext cx="1127263" cy="674608"/>
            </a:xfrm>
            <a:prstGeom prst="line">
              <a:avLst/>
            </a:prstGeom>
            <a:ln w="9525">
              <a:solidFill>
                <a:schemeClr val="bg1"/>
              </a:solidFill>
              <a:prstDash val="sysDot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Rectangle 150"/>
            <p:cNvSpPr/>
            <p:nvPr/>
          </p:nvSpPr>
          <p:spPr>
            <a:xfrm>
              <a:off x="711931" y="1644575"/>
              <a:ext cx="1127263" cy="69143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 dirty="0" smtClean="0">
                  <a:latin typeface="+mn-ea"/>
                </a:rPr>
                <a:t>+</a:t>
              </a:r>
              <a:r>
                <a:rPr lang="ko-KR" altLang="en-US" sz="1000" dirty="0" smtClean="0">
                  <a:latin typeface="+mn-ea"/>
                </a:rPr>
                <a:t> 직접등록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77" name="Rectangle 151"/>
            <p:cNvSpPr/>
            <p:nvPr/>
          </p:nvSpPr>
          <p:spPr>
            <a:xfrm>
              <a:off x="3027479" y="1644575"/>
              <a:ext cx="1127263" cy="69143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800" dirty="0">
                <a:latin typeface="+mn-ea"/>
              </a:endParaRPr>
            </a:p>
          </p:txBody>
        </p:sp>
        <p:cxnSp>
          <p:nvCxnSpPr>
            <p:cNvPr id="278" name="Straight Connector 152"/>
            <p:cNvCxnSpPr/>
            <p:nvPr/>
          </p:nvCxnSpPr>
          <p:spPr>
            <a:xfrm flipH="1">
              <a:off x="3027479" y="1644575"/>
              <a:ext cx="1127263" cy="691434"/>
            </a:xfrm>
            <a:prstGeom prst="line">
              <a:avLst/>
            </a:prstGeom>
            <a:ln w="9525">
              <a:solidFill>
                <a:schemeClr val="bg1"/>
              </a:solidFill>
              <a:prstDash val="sysDot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153"/>
            <p:cNvCxnSpPr/>
            <p:nvPr/>
          </p:nvCxnSpPr>
          <p:spPr>
            <a:xfrm>
              <a:off x="3027479" y="1658891"/>
              <a:ext cx="1127263" cy="674608"/>
            </a:xfrm>
            <a:prstGeom prst="line">
              <a:avLst/>
            </a:prstGeom>
            <a:ln w="9525">
              <a:solidFill>
                <a:schemeClr val="bg1"/>
              </a:solidFill>
              <a:prstDash val="sysDot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80" name="Rectangle 154"/>
            <p:cNvSpPr/>
            <p:nvPr/>
          </p:nvSpPr>
          <p:spPr>
            <a:xfrm>
              <a:off x="4190169" y="1644575"/>
              <a:ext cx="628278" cy="69143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800" dirty="0">
                <a:latin typeface="+mn-ea"/>
              </a:endParaRPr>
            </a:p>
          </p:txBody>
        </p:sp>
      </p:grpSp>
      <p:sp>
        <p:nvSpPr>
          <p:cNvPr id="281" name="텍스트 상자 31"/>
          <p:cNvSpPr txBox="1"/>
          <p:nvPr/>
        </p:nvSpPr>
        <p:spPr>
          <a:xfrm>
            <a:off x="518009" y="2698449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그룹 소개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2" name="텍스트 상자 31"/>
          <p:cNvSpPr txBox="1"/>
          <p:nvPr/>
        </p:nvSpPr>
        <p:spPr>
          <a:xfrm>
            <a:off x="518009" y="2158544"/>
            <a:ext cx="454551" cy="12311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공개 설정</a:t>
            </a:r>
            <a:endParaRPr kumimoji="1" lang="ko-KR" altLang="en-US" sz="800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3" name="Freeform 29"/>
          <p:cNvSpPr>
            <a:spLocks noChangeAspect="1" noChangeArrowheads="1"/>
          </p:cNvSpPr>
          <p:nvPr/>
        </p:nvSpPr>
        <p:spPr bwMode="auto">
          <a:xfrm>
            <a:off x="1640905" y="2148017"/>
            <a:ext cx="123845" cy="125999"/>
          </a:xfrm>
          <a:custGeom>
            <a:avLst/>
            <a:gdLst>
              <a:gd name="T0" fmla="*/ 254 w 509"/>
              <a:gd name="T1" fmla="*/ 0 h 514"/>
              <a:gd name="T2" fmla="*/ 0 w 509"/>
              <a:gd name="T3" fmla="*/ 259 h 514"/>
              <a:gd name="T4" fmla="*/ 254 w 509"/>
              <a:gd name="T5" fmla="*/ 513 h 514"/>
              <a:gd name="T6" fmla="*/ 508 w 509"/>
              <a:gd name="T7" fmla="*/ 259 h 514"/>
              <a:gd name="T8" fmla="*/ 254 w 509"/>
              <a:gd name="T9" fmla="*/ 0 h 514"/>
              <a:gd name="T10" fmla="*/ 254 w 509"/>
              <a:gd name="T11" fmla="*/ 464 h 514"/>
              <a:gd name="T12" fmla="*/ 49 w 509"/>
              <a:gd name="T13" fmla="*/ 259 h 514"/>
              <a:gd name="T14" fmla="*/ 254 w 509"/>
              <a:gd name="T15" fmla="*/ 54 h 514"/>
              <a:gd name="T16" fmla="*/ 459 w 509"/>
              <a:gd name="T17" fmla="*/ 259 h 514"/>
              <a:gd name="T18" fmla="*/ 254 w 509"/>
              <a:gd name="T19" fmla="*/ 46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09" h="514">
                <a:moveTo>
                  <a:pt x="254" y="0"/>
                </a:moveTo>
                <a:cubicBezTo>
                  <a:pt x="112" y="0"/>
                  <a:pt x="0" y="118"/>
                  <a:pt x="0" y="259"/>
                </a:cubicBezTo>
                <a:cubicBezTo>
                  <a:pt x="0" y="401"/>
                  <a:pt x="112" y="513"/>
                  <a:pt x="254" y="513"/>
                </a:cubicBezTo>
                <a:cubicBezTo>
                  <a:pt x="396" y="513"/>
                  <a:pt x="508" y="401"/>
                  <a:pt x="508" y="259"/>
                </a:cubicBezTo>
                <a:cubicBezTo>
                  <a:pt x="508" y="118"/>
                  <a:pt x="396" y="0"/>
                  <a:pt x="254" y="0"/>
                </a:cubicBezTo>
                <a:close/>
                <a:moveTo>
                  <a:pt x="254" y="464"/>
                </a:moveTo>
                <a:cubicBezTo>
                  <a:pt x="142" y="464"/>
                  <a:pt x="49" y="372"/>
                  <a:pt x="49" y="259"/>
                </a:cubicBezTo>
                <a:cubicBezTo>
                  <a:pt x="49" y="147"/>
                  <a:pt x="142" y="54"/>
                  <a:pt x="254" y="54"/>
                </a:cubicBezTo>
                <a:cubicBezTo>
                  <a:pt x="366" y="54"/>
                  <a:pt x="459" y="147"/>
                  <a:pt x="459" y="259"/>
                </a:cubicBezTo>
                <a:cubicBezTo>
                  <a:pt x="459" y="372"/>
                  <a:pt x="366" y="464"/>
                  <a:pt x="254" y="46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4" name="Freeform 30"/>
          <p:cNvSpPr>
            <a:spLocks noChangeAspect="1" noChangeArrowheads="1"/>
          </p:cNvSpPr>
          <p:nvPr/>
        </p:nvSpPr>
        <p:spPr bwMode="auto">
          <a:xfrm>
            <a:off x="1072835" y="2151905"/>
            <a:ext cx="125999" cy="125999"/>
          </a:xfrm>
          <a:custGeom>
            <a:avLst/>
            <a:gdLst>
              <a:gd name="T0" fmla="*/ 259 w 514"/>
              <a:gd name="T1" fmla="*/ 132 h 514"/>
              <a:gd name="T2" fmla="*/ 127 w 514"/>
              <a:gd name="T3" fmla="*/ 259 h 514"/>
              <a:gd name="T4" fmla="*/ 259 w 514"/>
              <a:gd name="T5" fmla="*/ 386 h 514"/>
              <a:gd name="T6" fmla="*/ 386 w 514"/>
              <a:gd name="T7" fmla="*/ 259 h 514"/>
              <a:gd name="T8" fmla="*/ 259 w 514"/>
              <a:gd name="T9" fmla="*/ 132 h 514"/>
              <a:gd name="T10" fmla="*/ 259 w 514"/>
              <a:gd name="T11" fmla="*/ 0 h 514"/>
              <a:gd name="T12" fmla="*/ 0 w 514"/>
              <a:gd name="T13" fmla="*/ 259 h 514"/>
              <a:gd name="T14" fmla="*/ 259 w 514"/>
              <a:gd name="T15" fmla="*/ 513 h 514"/>
              <a:gd name="T16" fmla="*/ 513 w 514"/>
              <a:gd name="T17" fmla="*/ 259 h 514"/>
              <a:gd name="T18" fmla="*/ 259 w 514"/>
              <a:gd name="T19" fmla="*/ 0 h 514"/>
              <a:gd name="T20" fmla="*/ 259 w 514"/>
              <a:gd name="T21" fmla="*/ 464 h 514"/>
              <a:gd name="T22" fmla="*/ 54 w 514"/>
              <a:gd name="T23" fmla="*/ 259 h 514"/>
              <a:gd name="T24" fmla="*/ 259 w 514"/>
              <a:gd name="T25" fmla="*/ 54 h 514"/>
              <a:gd name="T26" fmla="*/ 459 w 514"/>
              <a:gd name="T27" fmla="*/ 259 h 514"/>
              <a:gd name="T28" fmla="*/ 259 w 514"/>
              <a:gd name="T29" fmla="*/ 46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4" h="514">
                <a:moveTo>
                  <a:pt x="259" y="132"/>
                </a:moveTo>
                <a:cubicBezTo>
                  <a:pt x="186" y="132"/>
                  <a:pt x="127" y="188"/>
                  <a:pt x="127" y="259"/>
                </a:cubicBezTo>
                <a:cubicBezTo>
                  <a:pt x="127" y="330"/>
                  <a:pt x="188" y="386"/>
                  <a:pt x="259" y="386"/>
                </a:cubicBezTo>
                <a:cubicBezTo>
                  <a:pt x="330" y="386"/>
                  <a:pt x="386" y="330"/>
                  <a:pt x="386" y="259"/>
                </a:cubicBezTo>
                <a:cubicBezTo>
                  <a:pt x="386" y="188"/>
                  <a:pt x="327" y="132"/>
                  <a:pt x="259" y="132"/>
                </a:cubicBezTo>
                <a:close/>
                <a:moveTo>
                  <a:pt x="259" y="0"/>
                </a:moveTo>
                <a:cubicBezTo>
                  <a:pt x="117" y="0"/>
                  <a:pt x="0" y="118"/>
                  <a:pt x="0" y="259"/>
                </a:cubicBezTo>
                <a:cubicBezTo>
                  <a:pt x="0" y="401"/>
                  <a:pt x="120" y="513"/>
                  <a:pt x="259" y="513"/>
                </a:cubicBezTo>
                <a:cubicBezTo>
                  <a:pt x="398" y="513"/>
                  <a:pt x="513" y="401"/>
                  <a:pt x="513" y="259"/>
                </a:cubicBezTo>
                <a:cubicBezTo>
                  <a:pt x="513" y="118"/>
                  <a:pt x="396" y="0"/>
                  <a:pt x="259" y="0"/>
                </a:cubicBezTo>
                <a:close/>
                <a:moveTo>
                  <a:pt x="259" y="464"/>
                </a:moveTo>
                <a:cubicBezTo>
                  <a:pt x="146" y="464"/>
                  <a:pt x="54" y="372"/>
                  <a:pt x="54" y="259"/>
                </a:cubicBezTo>
                <a:cubicBezTo>
                  <a:pt x="54" y="147"/>
                  <a:pt x="146" y="54"/>
                  <a:pt x="259" y="54"/>
                </a:cubicBezTo>
                <a:cubicBezTo>
                  <a:pt x="371" y="54"/>
                  <a:pt x="459" y="147"/>
                  <a:pt x="459" y="259"/>
                </a:cubicBezTo>
                <a:cubicBezTo>
                  <a:pt x="459" y="372"/>
                  <a:pt x="371" y="464"/>
                  <a:pt x="259" y="46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5" name="텍스트 상자 31"/>
          <p:cNvSpPr txBox="1"/>
          <p:nvPr/>
        </p:nvSpPr>
        <p:spPr>
          <a:xfrm>
            <a:off x="1241159" y="2153349"/>
            <a:ext cx="3108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비공개</a:t>
            </a:r>
            <a:endParaRPr kumimoji="1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6" name="텍스트 상자 31"/>
          <p:cNvSpPr txBox="1"/>
          <p:nvPr/>
        </p:nvSpPr>
        <p:spPr>
          <a:xfrm>
            <a:off x="1792296" y="2153349"/>
            <a:ext cx="3108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공개</a:t>
            </a:r>
            <a:endParaRPr kumimoji="1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4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3668059"/>
              </p:ext>
            </p:extLst>
          </p:nvPr>
        </p:nvGraphicFramePr>
        <p:xfrm>
          <a:off x="9290533" y="114662"/>
          <a:ext cx="2835141" cy="648072"/>
        </p:xfrm>
        <a:graphic>
          <a:graphicData uri="http://schemas.openxmlformats.org/drawingml/2006/table">
            <a:tbl>
              <a:tblPr/>
              <a:tblGrid>
                <a:gridCol w="824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0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PROJECT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EGW UI/UX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SQ5.6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이수진</a:t>
                      </a: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0" name="Window Body" descr="&lt;SmartSettings&gt;&lt;SmartResize anchorLeft=&quot;Absolute&quot; anchorTop=&quot;Absolute&quot; anchorRight=&quot;Absolute&quot; anchorBottom=&quot;Absolute&quot; /&gt;&lt;/SmartSettings&gt;"/>
          <p:cNvSpPr/>
          <p:nvPr>
            <p:custDataLst>
              <p:tags r:id="rId1"/>
            </p:custDataLst>
          </p:nvPr>
        </p:nvSpPr>
        <p:spPr>
          <a:xfrm>
            <a:off x="9273877" y="106242"/>
            <a:ext cx="2851448" cy="65871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나눔고딕" panose="020B0600000101010101" charset="-127"/>
              <a:ea typeface="나눔고딕" panose="020B0600000101010101" charset="-127"/>
              <a:cs typeface="Segoe UI" panose="020B0502040204020203" pitchFamily="34" charset="0"/>
            </a:endParaRPr>
          </a:p>
        </p:txBody>
      </p:sp>
      <p:sp>
        <p:nvSpPr>
          <p:cNvPr id="147" name="제목 3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dirty="0" smtClean="0"/>
              <a:t>그룹 만들기</a:t>
            </a:r>
            <a:endParaRPr kumimoji="0" lang="ko-KR" altLang="en-US" dirty="0"/>
          </a:p>
        </p:txBody>
      </p:sp>
      <p:sp>
        <p:nvSpPr>
          <p:cNvPr id="141" name="내용 개체 틀 2"/>
          <p:cNvSpPr txBox="1">
            <a:spLocks/>
          </p:cNvSpPr>
          <p:nvPr/>
        </p:nvSpPr>
        <p:spPr>
          <a:xfrm>
            <a:off x="5432670" y="8519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스퀘어 홈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그룹 만들기</a:t>
            </a:r>
            <a:endParaRPr kumimoji="0" lang="ko-KR" altLang="en-US" dirty="0"/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97480" y="653112"/>
            <a:ext cx="1850417" cy="2315727"/>
          </a:xfrm>
          <a:prstGeom prst="rect">
            <a:avLst/>
          </a:prstGeom>
        </p:spPr>
      </p:pic>
      <p:sp>
        <p:nvSpPr>
          <p:cNvPr id="348" name="타원형"/>
          <p:cNvSpPr>
            <a:spLocks noChangeAspect="1"/>
          </p:cNvSpPr>
          <p:nvPr/>
        </p:nvSpPr>
        <p:spPr>
          <a:xfrm>
            <a:off x="5862560" y="530045"/>
            <a:ext cx="213549" cy="216000"/>
          </a:xfrm>
          <a:prstGeom prst="ellipse">
            <a:avLst/>
          </a:prstGeom>
          <a:solidFill>
            <a:srgbClr val="2E6FFD"/>
          </a:solidFill>
          <a:ln w="12700" cap="flat">
            <a:solidFill>
              <a:schemeClr val="tx2"/>
            </a:solidFill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 algn="ctr" defTabSz="576817">
              <a:defRPr sz="700" b="1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r>
              <a:rPr lang="en-US" dirty="0" smtClean="0">
                <a:latin typeface="+mn-ea"/>
                <a:ea typeface="+mn-ea"/>
              </a:rPr>
              <a:t>5</a:t>
            </a:r>
            <a:endParaRPr dirty="0">
              <a:latin typeface="+mn-ea"/>
              <a:ea typeface="+mn-ea"/>
            </a:endParaRPr>
          </a:p>
        </p:txBody>
      </p:sp>
      <p:sp>
        <p:nvSpPr>
          <p:cNvPr id="350" name="직각 삼각형 349"/>
          <p:cNvSpPr/>
          <p:nvPr/>
        </p:nvSpPr>
        <p:spPr>
          <a:xfrm flipH="1">
            <a:off x="11461665" y="6023674"/>
            <a:ext cx="720080" cy="834728"/>
          </a:xfrm>
          <a:prstGeom prst="rtTriangle">
            <a:avLst/>
          </a:prstGeom>
          <a:solidFill>
            <a:srgbClr val="0000FF"/>
          </a:solidFill>
          <a:ln>
            <a:solidFill>
              <a:srgbClr val="0000FF"/>
            </a:solidFill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en-US" altLang="ko-KR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11/03</a:t>
            </a: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ko-KR" altLang="en-US" sz="8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수정</a:t>
            </a:r>
          </a:p>
        </p:txBody>
      </p:sp>
    </p:spTree>
    <p:extLst>
      <p:ext uri="{BB962C8B-B14F-4D97-AF65-F5344CB8AC3E}">
        <p14:creationId xmlns:p14="http://schemas.microsoft.com/office/powerpoint/2010/main" val="2533395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 idx="4294967295"/>
          </p:nvPr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알림설정</a:t>
            </a:r>
            <a:endParaRPr lang="ko-KR" altLang="en-US" dirty="0"/>
          </a:p>
        </p:txBody>
      </p:sp>
      <p:sp>
        <p:nvSpPr>
          <p:cNvPr id="232" name="내용 개체 틀 231"/>
          <p:cNvSpPr>
            <a:spLocks noGrp="1"/>
          </p:cNvSpPr>
          <p:nvPr>
            <p:ph sz="quarter" idx="4294967295"/>
          </p:nvPr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SQ5.7.1</a:t>
            </a:r>
            <a:endParaRPr lang="ko-KR" altLang="en-US" dirty="0"/>
          </a:p>
        </p:txBody>
      </p:sp>
      <p:grpSp>
        <p:nvGrpSpPr>
          <p:cNvPr id="7" name="그룹 6"/>
          <p:cNvGrpSpPr/>
          <p:nvPr/>
        </p:nvGrpSpPr>
        <p:grpSpPr>
          <a:xfrm>
            <a:off x="429108" y="677999"/>
            <a:ext cx="1564834" cy="5911185"/>
            <a:chOff x="429108" y="688668"/>
            <a:chExt cx="1564834" cy="5911185"/>
          </a:xfrm>
        </p:grpSpPr>
        <p:sp>
          <p:nvSpPr>
            <p:cNvPr id="8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0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1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2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2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3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374"/>
            <p:cNvSpPr/>
            <p:nvPr/>
          </p:nvSpPr>
          <p:spPr>
            <a:xfrm>
              <a:off x="434472" y="1159461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3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40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2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7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5" name="양쪽 모서리가 둥근 사각형 54"/>
          <p:cNvSpPr/>
          <p:nvPr/>
        </p:nvSpPr>
        <p:spPr>
          <a:xfrm>
            <a:off x="2032140" y="1132156"/>
            <a:ext cx="720000" cy="216000"/>
          </a:xfrm>
          <a:prstGeom prst="round2Same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b="1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알림 설정</a:t>
            </a:r>
            <a:endParaRPr lang="ko-KR" altLang="en-US" sz="7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2805814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워크피드</a:t>
            </a:r>
            <a:r>
              <a:rPr lang="ko-KR" altLang="en-US" sz="75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설정</a:t>
            </a:r>
            <a:endParaRPr lang="ko-KR" altLang="en-US" sz="75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양쪽 모서리가 둥근 사각형 56"/>
          <p:cNvSpPr/>
          <p:nvPr/>
        </p:nvSpPr>
        <p:spPr>
          <a:xfrm>
            <a:off x="3587172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종료그룹 관리</a:t>
            </a:r>
            <a:endParaRPr lang="ko-KR" altLang="en-US" sz="75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직선 연결선[R] 7"/>
          <p:cNvCxnSpPr/>
          <p:nvPr/>
        </p:nvCxnSpPr>
        <p:spPr>
          <a:xfrm>
            <a:off x="1981146" y="1006630"/>
            <a:ext cx="6840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62" name="직선 연결선[R] 7"/>
          <p:cNvCxnSpPr/>
          <p:nvPr/>
        </p:nvCxnSpPr>
        <p:spPr>
          <a:xfrm>
            <a:off x="1981146" y="1347919"/>
            <a:ext cx="684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63" name="텍스트 상자 31"/>
          <p:cNvSpPr txBox="1"/>
          <p:nvPr/>
        </p:nvSpPr>
        <p:spPr>
          <a:xfrm>
            <a:off x="2002172" y="78300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환경 설정  </a:t>
            </a:r>
            <a:r>
              <a:rPr kumimoji="1" lang="en-US" altLang="ko-KR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|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모서리가 둥근 직사각형 70"/>
          <p:cNvSpPr/>
          <p:nvPr/>
        </p:nvSpPr>
        <p:spPr>
          <a:xfrm>
            <a:off x="8047043" y="4353199"/>
            <a:ext cx="468000" cy="21600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모서리가 둥근 직사각형 71"/>
          <p:cNvSpPr/>
          <p:nvPr/>
        </p:nvSpPr>
        <p:spPr>
          <a:xfrm>
            <a:off x="7452152" y="4352773"/>
            <a:ext cx="468000" cy="216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61" name="내용 개체 틀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93320628"/>
              </p:ext>
            </p:extLst>
          </p:nvPr>
        </p:nvGraphicFramePr>
        <p:xfrm>
          <a:off x="2085033" y="1527258"/>
          <a:ext cx="6736116" cy="21920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7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96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96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96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96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96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그룹명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/>
                        <a:t>스퀘어플러스 </a:t>
                      </a:r>
                      <a:r>
                        <a:rPr lang="ko-KR" altLang="en-US" sz="700" dirty="0" err="1" smtClean="0"/>
                        <a:t>풀컨텐츠</a:t>
                      </a:r>
                      <a:endParaRPr lang="ko-KR" altLang="en-US" sz="700" dirty="0"/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자동차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UX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/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병원 서비스디자인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EGW UX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 </a:t>
                      </a:r>
                      <a:endParaRPr lang="ko-KR" altLang="en-US" sz="700" dirty="0"/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A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통신사 서비스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정부 과제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A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B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전체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공지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새글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멘션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의견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162" name="그룹 161"/>
          <p:cNvGrpSpPr/>
          <p:nvPr/>
        </p:nvGrpSpPr>
        <p:grpSpPr>
          <a:xfrm>
            <a:off x="5696836" y="1600664"/>
            <a:ext cx="2578974" cy="108000"/>
            <a:chOff x="5696836" y="1600664"/>
            <a:chExt cx="2578974" cy="108000"/>
          </a:xfrm>
        </p:grpSpPr>
        <p:sp>
          <p:nvSpPr>
            <p:cNvPr id="163" name="Rounded Rectangle 295"/>
            <p:cNvSpPr>
              <a:spLocks/>
            </p:cNvSpPr>
            <p:nvPr/>
          </p:nvSpPr>
          <p:spPr>
            <a:xfrm>
              <a:off x="5696836" y="160066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64" name="Rounded Rectangle 295"/>
            <p:cNvSpPr>
              <a:spLocks/>
            </p:cNvSpPr>
            <p:nvPr/>
          </p:nvSpPr>
          <p:spPr>
            <a:xfrm>
              <a:off x="6520494" y="160066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65" name="Rounded Rectangle 295"/>
            <p:cNvSpPr>
              <a:spLocks/>
            </p:cNvSpPr>
            <p:nvPr/>
          </p:nvSpPr>
          <p:spPr>
            <a:xfrm>
              <a:off x="7344152" y="160066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66" name="Rounded Rectangle 295"/>
            <p:cNvSpPr>
              <a:spLocks/>
            </p:cNvSpPr>
            <p:nvPr/>
          </p:nvSpPr>
          <p:spPr>
            <a:xfrm>
              <a:off x="8167810" y="160066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</p:grpSp>
      <p:grpSp>
        <p:nvGrpSpPr>
          <p:cNvPr id="167" name="그룹 166"/>
          <p:cNvGrpSpPr/>
          <p:nvPr/>
        </p:nvGrpSpPr>
        <p:grpSpPr>
          <a:xfrm>
            <a:off x="4802483" y="1844283"/>
            <a:ext cx="108000" cy="1805045"/>
            <a:chOff x="4873178" y="1844283"/>
            <a:chExt cx="108000" cy="1805045"/>
          </a:xfrm>
        </p:grpSpPr>
        <p:sp>
          <p:nvSpPr>
            <p:cNvPr id="168" name="Rounded Rectangle 295"/>
            <p:cNvSpPr>
              <a:spLocks/>
            </p:cNvSpPr>
            <p:nvPr/>
          </p:nvSpPr>
          <p:spPr>
            <a:xfrm>
              <a:off x="4873178" y="1844283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69" name="Rounded Rectangle 295"/>
            <p:cNvSpPr>
              <a:spLocks/>
            </p:cNvSpPr>
            <p:nvPr/>
          </p:nvSpPr>
          <p:spPr>
            <a:xfrm>
              <a:off x="4873178" y="2083802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0" name="Rounded Rectangle 295"/>
            <p:cNvSpPr>
              <a:spLocks/>
            </p:cNvSpPr>
            <p:nvPr/>
          </p:nvSpPr>
          <p:spPr>
            <a:xfrm>
              <a:off x="4873178" y="2333527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1" name="Rounded Rectangle 295"/>
            <p:cNvSpPr>
              <a:spLocks/>
            </p:cNvSpPr>
            <p:nvPr/>
          </p:nvSpPr>
          <p:spPr>
            <a:xfrm>
              <a:off x="4873178" y="2573046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2" name="Rounded Rectangle 295"/>
            <p:cNvSpPr>
              <a:spLocks/>
            </p:cNvSpPr>
            <p:nvPr/>
          </p:nvSpPr>
          <p:spPr>
            <a:xfrm>
              <a:off x="4873178" y="281256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3" name="Rounded Rectangle 295"/>
            <p:cNvSpPr>
              <a:spLocks/>
            </p:cNvSpPr>
            <p:nvPr/>
          </p:nvSpPr>
          <p:spPr>
            <a:xfrm>
              <a:off x="4873178" y="305208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4" name="Rounded Rectangle 295"/>
            <p:cNvSpPr>
              <a:spLocks/>
            </p:cNvSpPr>
            <p:nvPr/>
          </p:nvSpPr>
          <p:spPr>
            <a:xfrm>
              <a:off x="4873178" y="3301809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75" name="Rounded Rectangle 295"/>
            <p:cNvSpPr>
              <a:spLocks/>
            </p:cNvSpPr>
            <p:nvPr/>
          </p:nvSpPr>
          <p:spPr>
            <a:xfrm>
              <a:off x="4873178" y="3541328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5696836" y="1844283"/>
            <a:ext cx="108000" cy="1805519"/>
            <a:chOff x="5696836" y="1844283"/>
            <a:chExt cx="108000" cy="1805519"/>
          </a:xfrm>
        </p:grpSpPr>
        <p:grpSp>
          <p:nvGrpSpPr>
            <p:cNvPr id="177" name="그룹 176"/>
            <p:cNvGrpSpPr/>
            <p:nvPr/>
          </p:nvGrpSpPr>
          <p:grpSpPr>
            <a:xfrm>
              <a:off x="5696836" y="3541802"/>
              <a:ext cx="108000" cy="108000"/>
              <a:chOff x="1970838" y="2450097"/>
              <a:chExt cx="108000" cy="108000"/>
            </a:xfrm>
          </p:grpSpPr>
          <p:sp>
            <p:nvSpPr>
              <p:cNvPr id="199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00" name="자유형 199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78" name="그룹 177"/>
            <p:cNvGrpSpPr/>
            <p:nvPr/>
          </p:nvGrpSpPr>
          <p:grpSpPr>
            <a:xfrm>
              <a:off x="5696836" y="3299686"/>
              <a:ext cx="108000" cy="108000"/>
              <a:chOff x="1970838" y="2450097"/>
              <a:chExt cx="108000" cy="108000"/>
            </a:xfrm>
          </p:grpSpPr>
          <p:sp>
            <p:nvSpPr>
              <p:cNvPr id="197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98" name="자유형 197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79" name="그룹 178"/>
            <p:cNvGrpSpPr/>
            <p:nvPr/>
          </p:nvGrpSpPr>
          <p:grpSpPr>
            <a:xfrm>
              <a:off x="5696836" y="3055843"/>
              <a:ext cx="108000" cy="108000"/>
              <a:chOff x="1970838" y="2450097"/>
              <a:chExt cx="108000" cy="108000"/>
            </a:xfrm>
          </p:grpSpPr>
          <p:sp>
            <p:nvSpPr>
              <p:cNvPr id="195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96" name="자유형 195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80" name="그룹 179"/>
            <p:cNvGrpSpPr/>
            <p:nvPr/>
          </p:nvGrpSpPr>
          <p:grpSpPr>
            <a:xfrm>
              <a:off x="5696836" y="2805552"/>
              <a:ext cx="108000" cy="108000"/>
              <a:chOff x="1970838" y="2450097"/>
              <a:chExt cx="108000" cy="108000"/>
            </a:xfrm>
          </p:grpSpPr>
          <p:sp>
            <p:nvSpPr>
              <p:cNvPr id="193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94" name="자유형 193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81" name="그룹 180"/>
            <p:cNvGrpSpPr/>
            <p:nvPr/>
          </p:nvGrpSpPr>
          <p:grpSpPr>
            <a:xfrm>
              <a:off x="5696836" y="2560539"/>
              <a:ext cx="108000" cy="108000"/>
              <a:chOff x="1970838" y="2450097"/>
              <a:chExt cx="108000" cy="108000"/>
            </a:xfrm>
          </p:grpSpPr>
          <p:sp>
            <p:nvSpPr>
              <p:cNvPr id="191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92" name="자유형 191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82" name="그룹 181"/>
            <p:cNvGrpSpPr/>
            <p:nvPr/>
          </p:nvGrpSpPr>
          <p:grpSpPr>
            <a:xfrm>
              <a:off x="5696836" y="2318423"/>
              <a:ext cx="108000" cy="108000"/>
              <a:chOff x="1970838" y="2450097"/>
              <a:chExt cx="108000" cy="108000"/>
            </a:xfrm>
          </p:grpSpPr>
          <p:sp>
            <p:nvSpPr>
              <p:cNvPr id="189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90" name="자유형 189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83" name="그룹 182"/>
            <p:cNvGrpSpPr/>
            <p:nvPr/>
          </p:nvGrpSpPr>
          <p:grpSpPr>
            <a:xfrm>
              <a:off x="5696836" y="2074580"/>
              <a:ext cx="108000" cy="108000"/>
              <a:chOff x="1970838" y="2450097"/>
              <a:chExt cx="108000" cy="108000"/>
            </a:xfrm>
          </p:grpSpPr>
          <p:sp>
            <p:nvSpPr>
              <p:cNvPr id="187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88" name="자유형 187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184" name="그룹 183"/>
            <p:cNvGrpSpPr/>
            <p:nvPr/>
          </p:nvGrpSpPr>
          <p:grpSpPr>
            <a:xfrm>
              <a:off x="5696836" y="1844283"/>
              <a:ext cx="108000" cy="108000"/>
              <a:chOff x="1970838" y="2450097"/>
              <a:chExt cx="108000" cy="108000"/>
            </a:xfrm>
          </p:grpSpPr>
          <p:sp>
            <p:nvSpPr>
              <p:cNvPr id="185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186" name="자유형 185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</p:grpSp>
      <p:grpSp>
        <p:nvGrpSpPr>
          <p:cNvPr id="201" name="그룹 200"/>
          <p:cNvGrpSpPr/>
          <p:nvPr/>
        </p:nvGrpSpPr>
        <p:grpSpPr>
          <a:xfrm>
            <a:off x="8162149" y="1844283"/>
            <a:ext cx="108000" cy="1805045"/>
            <a:chOff x="4873178" y="1844283"/>
            <a:chExt cx="108000" cy="1805045"/>
          </a:xfrm>
        </p:grpSpPr>
        <p:sp>
          <p:nvSpPr>
            <p:cNvPr id="202" name="Rounded Rectangle 295"/>
            <p:cNvSpPr>
              <a:spLocks/>
            </p:cNvSpPr>
            <p:nvPr/>
          </p:nvSpPr>
          <p:spPr>
            <a:xfrm>
              <a:off x="4873178" y="1844283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3" name="Rounded Rectangle 295"/>
            <p:cNvSpPr>
              <a:spLocks/>
            </p:cNvSpPr>
            <p:nvPr/>
          </p:nvSpPr>
          <p:spPr>
            <a:xfrm>
              <a:off x="4873178" y="2083802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4" name="Rounded Rectangle 295"/>
            <p:cNvSpPr>
              <a:spLocks/>
            </p:cNvSpPr>
            <p:nvPr/>
          </p:nvSpPr>
          <p:spPr>
            <a:xfrm>
              <a:off x="4873178" y="2333527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5" name="Rounded Rectangle 295"/>
            <p:cNvSpPr>
              <a:spLocks/>
            </p:cNvSpPr>
            <p:nvPr/>
          </p:nvSpPr>
          <p:spPr>
            <a:xfrm>
              <a:off x="4873178" y="2573046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6" name="Rounded Rectangle 295"/>
            <p:cNvSpPr>
              <a:spLocks/>
            </p:cNvSpPr>
            <p:nvPr/>
          </p:nvSpPr>
          <p:spPr>
            <a:xfrm>
              <a:off x="4873178" y="281256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7" name="Rounded Rectangle 295"/>
            <p:cNvSpPr>
              <a:spLocks/>
            </p:cNvSpPr>
            <p:nvPr/>
          </p:nvSpPr>
          <p:spPr>
            <a:xfrm>
              <a:off x="4873178" y="305208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8" name="Rounded Rectangle 295"/>
            <p:cNvSpPr>
              <a:spLocks/>
            </p:cNvSpPr>
            <p:nvPr/>
          </p:nvSpPr>
          <p:spPr>
            <a:xfrm>
              <a:off x="4873178" y="3301809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209" name="Rounded Rectangle 295"/>
            <p:cNvSpPr>
              <a:spLocks/>
            </p:cNvSpPr>
            <p:nvPr/>
          </p:nvSpPr>
          <p:spPr>
            <a:xfrm>
              <a:off x="4873178" y="3541328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</p:grpSp>
      <p:grpSp>
        <p:nvGrpSpPr>
          <p:cNvPr id="210" name="그룹 209"/>
          <p:cNvGrpSpPr/>
          <p:nvPr/>
        </p:nvGrpSpPr>
        <p:grpSpPr>
          <a:xfrm>
            <a:off x="6517663" y="1844283"/>
            <a:ext cx="108000" cy="1805519"/>
            <a:chOff x="5696836" y="1844283"/>
            <a:chExt cx="108000" cy="1805519"/>
          </a:xfrm>
        </p:grpSpPr>
        <p:grpSp>
          <p:nvGrpSpPr>
            <p:cNvPr id="211" name="그룹 210"/>
            <p:cNvGrpSpPr/>
            <p:nvPr/>
          </p:nvGrpSpPr>
          <p:grpSpPr>
            <a:xfrm>
              <a:off x="5696836" y="3541802"/>
              <a:ext cx="108000" cy="108000"/>
              <a:chOff x="1970838" y="2450097"/>
              <a:chExt cx="108000" cy="108000"/>
            </a:xfrm>
          </p:grpSpPr>
          <p:sp>
            <p:nvSpPr>
              <p:cNvPr id="335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36" name="자유형 335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2" name="그룹 211"/>
            <p:cNvGrpSpPr/>
            <p:nvPr/>
          </p:nvGrpSpPr>
          <p:grpSpPr>
            <a:xfrm>
              <a:off x="5696836" y="3299686"/>
              <a:ext cx="108000" cy="108000"/>
              <a:chOff x="1970838" y="2450097"/>
              <a:chExt cx="108000" cy="108000"/>
            </a:xfrm>
          </p:grpSpPr>
          <p:sp>
            <p:nvSpPr>
              <p:cNvPr id="231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34" name="자유형 333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3" name="그룹 212"/>
            <p:cNvGrpSpPr/>
            <p:nvPr/>
          </p:nvGrpSpPr>
          <p:grpSpPr>
            <a:xfrm>
              <a:off x="5696836" y="3055843"/>
              <a:ext cx="108000" cy="108000"/>
              <a:chOff x="1970838" y="2450097"/>
              <a:chExt cx="108000" cy="108000"/>
            </a:xfrm>
          </p:grpSpPr>
          <p:sp>
            <p:nvSpPr>
              <p:cNvPr id="229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30" name="자유형 229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4" name="그룹 213"/>
            <p:cNvGrpSpPr/>
            <p:nvPr/>
          </p:nvGrpSpPr>
          <p:grpSpPr>
            <a:xfrm>
              <a:off x="5696836" y="2805552"/>
              <a:ext cx="108000" cy="108000"/>
              <a:chOff x="1970838" y="2450097"/>
              <a:chExt cx="108000" cy="108000"/>
            </a:xfrm>
          </p:grpSpPr>
          <p:sp>
            <p:nvSpPr>
              <p:cNvPr id="227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8" name="자유형 227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5" name="그룹 214"/>
            <p:cNvGrpSpPr/>
            <p:nvPr/>
          </p:nvGrpSpPr>
          <p:grpSpPr>
            <a:xfrm>
              <a:off x="5696836" y="2560539"/>
              <a:ext cx="108000" cy="108000"/>
              <a:chOff x="1970838" y="2450097"/>
              <a:chExt cx="108000" cy="108000"/>
            </a:xfrm>
          </p:grpSpPr>
          <p:sp>
            <p:nvSpPr>
              <p:cNvPr id="225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6" name="자유형 225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6" name="그룹 215"/>
            <p:cNvGrpSpPr/>
            <p:nvPr/>
          </p:nvGrpSpPr>
          <p:grpSpPr>
            <a:xfrm>
              <a:off x="5696836" y="2318423"/>
              <a:ext cx="108000" cy="108000"/>
              <a:chOff x="1970838" y="2450097"/>
              <a:chExt cx="108000" cy="108000"/>
            </a:xfrm>
          </p:grpSpPr>
          <p:sp>
            <p:nvSpPr>
              <p:cNvPr id="223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4" name="자유형 223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7" name="그룹 216"/>
            <p:cNvGrpSpPr/>
            <p:nvPr/>
          </p:nvGrpSpPr>
          <p:grpSpPr>
            <a:xfrm>
              <a:off x="5696836" y="2074580"/>
              <a:ext cx="108000" cy="108000"/>
              <a:chOff x="1970838" y="2450097"/>
              <a:chExt cx="108000" cy="108000"/>
            </a:xfrm>
          </p:grpSpPr>
          <p:sp>
            <p:nvSpPr>
              <p:cNvPr id="221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2" name="자유형 221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218" name="그룹 217"/>
            <p:cNvGrpSpPr/>
            <p:nvPr/>
          </p:nvGrpSpPr>
          <p:grpSpPr>
            <a:xfrm>
              <a:off x="5696836" y="1844283"/>
              <a:ext cx="108000" cy="108000"/>
              <a:chOff x="1970838" y="2450097"/>
              <a:chExt cx="108000" cy="108000"/>
            </a:xfrm>
          </p:grpSpPr>
          <p:sp>
            <p:nvSpPr>
              <p:cNvPr id="219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220" name="자유형 219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</p:grpSp>
      <p:grpSp>
        <p:nvGrpSpPr>
          <p:cNvPr id="337" name="그룹 336"/>
          <p:cNvGrpSpPr/>
          <p:nvPr/>
        </p:nvGrpSpPr>
        <p:grpSpPr>
          <a:xfrm>
            <a:off x="7344152" y="1844283"/>
            <a:ext cx="108000" cy="1805519"/>
            <a:chOff x="5696836" y="1844283"/>
            <a:chExt cx="108000" cy="1805519"/>
          </a:xfrm>
        </p:grpSpPr>
        <p:grpSp>
          <p:nvGrpSpPr>
            <p:cNvPr id="338" name="그룹 337"/>
            <p:cNvGrpSpPr/>
            <p:nvPr/>
          </p:nvGrpSpPr>
          <p:grpSpPr>
            <a:xfrm>
              <a:off x="5696836" y="3541802"/>
              <a:ext cx="108000" cy="108000"/>
              <a:chOff x="1970838" y="2450097"/>
              <a:chExt cx="108000" cy="108000"/>
            </a:xfrm>
          </p:grpSpPr>
          <p:sp>
            <p:nvSpPr>
              <p:cNvPr id="360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61" name="자유형 360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39" name="그룹 338"/>
            <p:cNvGrpSpPr/>
            <p:nvPr/>
          </p:nvGrpSpPr>
          <p:grpSpPr>
            <a:xfrm>
              <a:off x="5696836" y="3299686"/>
              <a:ext cx="108000" cy="108000"/>
              <a:chOff x="1970838" y="2450097"/>
              <a:chExt cx="108000" cy="108000"/>
            </a:xfrm>
          </p:grpSpPr>
          <p:sp>
            <p:nvSpPr>
              <p:cNvPr id="358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59" name="자유형 358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40" name="그룹 339"/>
            <p:cNvGrpSpPr/>
            <p:nvPr/>
          </p:nvGrpSpPr>
          <p:grpSpPr>
            <a:xfrm>
              <a:off x="5696836" y="3055843"/>
              <a:ext cx="108000" cy="108000"/>
              <a:chOff x="1970838" y="2450097"/>
              <a:chExt cx="108000" cy="108000"/>
            </a:xfrm>
          </p:grpSpPr>
          <p:sp>
            <p:nvSpPr>
              <p:cNvPr id="356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57" name="자유형 356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41" name="그룹 340"/>
            <p:cNvGrpSpPr/>
            <p:nvPr/>
          </p:nvGrpSpPr>
          <p:grpSpPr>
            <a:xfrm>
              <a:off x="5696836" y="2805552"/>
              <a:ext cx="108000" cy="108000"/>
              <a:chOff x="1970838" y="2450097"/>
              <a:chExt cx="108000" cy="108000"/>
            </a:xfrm>
          </p:grpSpPr>
          <p:sp>
            <p:nvSpPr>
              <p:cNvPr id="354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55" name="자유형 354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42" name="그룹 341"/>
            <p:cNvGrpSpPr/>
            <p:nvPr/>
          </p:nvGrpSpPr>
          <p:grpSpPr>
            <a:xfrm>
              <a:off x="5696836" y="2560539"/>
              <a:ext cx="108000" cy="108000"/>
              <a:chOff x="1970838" y="2450097"/>
              <a:chExt cx="108000" cy="108000"/>
            </a:xfrm>
          </p:grpSpPr>
          <p:sp>
            <p:nvSpPr>
              <p:cNvPr id="352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53" name="자유형 352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43" name="그룹 342"/>
            <p:cNvGrpSpPr/>
            <p:nvPr/>
          </p:nvGrpSpPr>
          <p:grpSpPr>
            <a:xfrm>
              <a:off x="5696836" y="2318423"/>
              <a:ext cx="108000" cy="108000"/>
              <a:chOff x="1970838" y="2450097"/>
              <a:chExt cx="108000" cy="108000"/>
            </a:xfrm>
          </p:grpSpPr>
          <p:sp>
            <p:nvSpPr>
              <p:cNvPr id="350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51" name="자유형 350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44" name="그룹 343"/>
            <p:cNvGrpSpPr/>
            <p:nvPr/>
          </p:nvGrpSpPr>
          <p:grpSpPr>
            <a:xfrm>
              <a:off x="5696836" y="2074580"/>
              <a:ext cx="108000" cy="108000"/>
              <a:chOff x="1970838" y="2450097"/>
              <a:chExt cx="108000" cy="108000"/>
            </a:xfrm>
          </p:grpSpPr>
          <p:sp>
            <p:nvSpPr>
              <p:cNvPr id="348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49" name="자유형 348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  <p:grpSp>
          <p:nvGrpSpPr>
            <p:cNvPr id="345" name="그룹 344"/>
            <p:cNvGrpSpPr/>
            <p:nvPr/>
          </p:nvGrpSpPr>
          <p:grpSpPr>
            <a:xfrm>
              <a:off x="5696836" y="1844283"/>
              <a:ext cx="108000" cy="108000"/>
              <a:chOff x="1970838" y="2450097"/>
              <a:chExt cx="108000" cy="108000"/>
            </a:xfrm>
          </p:grpSpPr>
          <p:sp>
            <p:nvSpPr>
              <p:cNvPr id="346" name="Rounded Rectangle 295"/>
              <p:cNvSpPr>
                <a:spLocks noChangeAspect="1"/>
              </p:cNvSpPr>
              <p:nvPr/>
            </p:nvSpPr>
            <p:spPr>
              <a:xfrm>
                <a:off x="1970838" y="2450097"/>
                <a:ext cx="108000" cy="108000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 dirty="0">
                  <a:latin typeface="+mn-ea"/>
                  <a:ea typeface="+mn-ea"/>
                </a:endParaRPr>
              </a:p>
            </p:txBody>
          </p:sp>
          <p:sp>
            <p:nvSpPr>
              <p:cNvPr id="347" name="자유형 346"/>
              <p:cNvSpPr>
                <a:spLocks noChangeAspect="1"/>
              </p:cNvSpPr>
              <p:nvPr/>
            </p:nvSpPr>
            <p:spPr>
              <a:xfrm>
                <a:off x="1979801" y="2465646"/>
                <a:ext cx="90000" cy="73034"/>
              </a:xfrm>
              <a:custGeom>
                <a:avLst/>
                <a:gdLst>
                  <a:gd name="connsiteX0" fmla="*/ 0 w 190500"/>
                  <a:gd name="connsiteY0" fmla="*/ 95250 h 209550"/>
                  <a:gd name="connsiteX1" fmla="*/ 76200 w 190500"/>
                  <a:gd name="connsiteY1" fmla="*/ 209550 h 209550"/>
                  <a:gd name="connsiteX2" fmla="*/ 190500 w 190500"/>
                  <a:gd name="connsiteY2" fmla="*/ 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0" h="209550">
                    <a:moveTo>
                      <a:pt x="0" y="95250"/>
                    </a:moveTo>
                    <a:lnTo>
                      <a:pt x="76200" y="209550"/>
                    </a:lnTo>
                    <a:lnTo>
                      <a:pt x="190500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굴림" pitchFamily="50" charset="-127"/>
                  <a:ea typeface="굴림" pitchFamily="50" charset="-127"/>
                  <a:cs typeface="+mn-cs"/>
                </a:endParaRPr>
              </a:p>
            </p:txBody>
          </p:sp>
        </p:grpSp>
      </p:grpSp>
      <p:graphicFrame>
        <p:nvGraphicFramePr>
          <p:cNvPr id="362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5264133"/>
              </p:ext>
            </p:extLst>
          </p:nvPr>
        </p:nvGraphicFramePr>
        <p:xfrm>
          <a:off x="9239749" y="745639"/>
          <a:ext cx="2892502" cy="209685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 gridSpan="2"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알림 설정</a:t>
                      </a:r>
                      <a:endParaRPr lang="en-US" altLang="ko-KR" sz="800" dirty="0" smtClean="0">
                        <a:latin typeface="+mj-ea"/>
                        <a:ea typeface="+mj-ea"/>
                        <a:cs typeface="Nanum Gothic" charset="-127"/>
                      </a:endParaRPr>
                    </a:p>
                    <a:p>
                      <a:pPr defTabSz="914400">
                        <a:defRPr sz="1800"/>
                      </a:pPr>
                      <a:r>
                        <a:rPr lang="ko-KR" alt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각 그룹별로 알림 메시지의 수신 여부를 설정할 수 있습니다</a:t>
                      </a:r>
                      <a:r>
                        <a:rPr lang="en-US" altLang="ko-KR" sz="800" dirty="0" smtClean="0">
                          <a:latin typeface="+mj-ea"/>
                          <a:ea typeface="+mj-ea"/>
                          <a:cs typeface="Nanum Gothic" charset="-127"/>
                        </a:rPr>
                        <a:t>.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b="1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그룹명</a:t>
                      </a:r>
                      <a:r>
                        <a:rPr lang="ko-KR" altLang="en-US" sz="800" b="1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endParaRPr lang="en-US" altLang="ko-KR" sz="800" b="1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그룹에 속해 있는 그룹 명 모두 노출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받기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8900" marR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선택 시 해당 그룹의 선택한 글의 종류에 한하여 알림 메시지 수신 설정 됨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8900" marR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새글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멘션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 중 하나라도 체크표시가 되지 않을 경우 전체의 체크박스는 선택되지 않음</a:t>
                      </a: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63" name="타원 362"/>
          <p:cNvSpPr>
            <a:spLocks noChangeAspect="1"/>
          </p:cNvSpPr>
          <p:nvPr/>
        </p:nvSpPr>
        <p:spPr>
          <a:xfrm>
            <a:off x="1912843" y="1667674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4" name="Rectangle 135"/>
          <p:cNvSpPr/>
          <p:nvPr/>
        </p:nvSpPr>
        <p:spPr>
          <a:xfrm>
            <a:off x="2091500" y="1736116"/>
            <a:ext cx="2458826" cy="207369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65" name="Rectangle 135"/>
          <p:cNvSpPr/>
          <p:nvPr/>
        </p:nvSpPr>
        <p:spPr>
          <a:xfrm>
            <a:off x="4718952" y="1781141"/>
            <a:ext cx="3950485" cy="23041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66" name="타원 365"/>
          <p:cNvSpPr>
            <a:spLocks noChangeAspect="1"/>
          </p:cNvSpPr>
          <p:nvPr/>
        </p:nvSpPr>
        <p:spPr>
          <a:xfrm>
            <a:off x="4629623" y="1691140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4" name="내용 개체 틀 2"/>
          <p:cNvSpPr txBox="1">
            <a:spLocks/>
          </p:cNvSpPr>
          <p:nvPr/>
        </p:nvSpPr>
        <p:spPr>
          <a:xfrm>
            <a:off x="5432670" y="8073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설정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알림설정</a:t>
            </a:r>
            <a:endParaRPr kumimoji="0" lang="ko-KR" altLang="en-US" dirty="0"/>
          </a:p>
        </p:txBody>
      </p:sp>
      <p:sp>
        <p:nvSpPr>
          <p:cNvPr id="233" name="TextBox 232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895475" y="371475"/>
            <a:ext cx="3267075" cy="266700"/>
          </a:xfrm>
          <a:prstGeom prst="rect">
            <a:avLst/>
          </a:prstGeom>
          <a:solidFill>
            <a:schemeClr val="bg1">
              <a:alpha val="88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66466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/>
          <p:cNvGrpSpPr/>
          <p:nvPr/>
        </p:nvGrpSpPr>
        <p:grpSpPr>
          <a:xfrm>
            <a:off x="429108" y="677999"/>
            <a:ext cx="1564834" cy="5911185"/>
            <a:chOff x="429108" y="688668"/>
            <a:chExt cx="1564834" cy="5911185"/>
          </a:xfrm>
        </p:grpSpPr>
        <p:sp>
          <p:nvSpPr>
            <p:cNvPr id="8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0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1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2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2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3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374"/>
            <p:cNvSpPr/>
            <p:nvPr/>
          </p:nvSpPr>
          <p:spPr>
            <a:xfrm>
              <a:off x="434472" y="1159461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3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40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2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7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5" name="양쪽 모서리가 둥근 사각형 54"/>
          <p:cNvSpPr/>
          <p:nvPr/>
        </p:nvSpPr>
        <p:spPr>
          <a:xfrm>
            <a:off x="2032140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알림 설정</a:t>
            </a:r>
            <a:endParaRPr lang="ko-KR" altLang="en-US" sz="750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2805814" y="1132156"/>
            <a:ext cx="720000" cy="216000"/>
          </a:xfrm>
          <a:prstGeom prst="round2Same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b="1" dirty="0" err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워크피드</a:t>
            </a:r>
            <a:r>
              <a:rPr lang="ko-KR" altLang="en-US" sz="750" b="1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설정</a:t>
            </a:r>
            <a:endParaRPr lang="ko-KR" altLang="en-US" sz="7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양쪽 모서리가 둥근 사각형 56"/>
          <p:cNvSpPr/>
          <p:nvPr/>
        </p:nvSpPr>
        <p:spPr>
          <a:xfrm>
            <a:off x="3587172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종료그룹 관리</a:t>
            </a:r>
            <a:endParaRPr lang="ko-KR" altLang="en-US" sz="75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직선 연결선[R] 7"/>
          <p:cNvCxnSpPr/>
          <p:nvPr/>
        </p:nvCxnSpPr>
        <p:spPr>
          <a:xfrm>
            <a:off x="1981146" y="1006630"/>
            <a:ext cx="6840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62" name="직선 연결선[R] 7"/>
          <p:cNvCxnSpPr/>
          <p:nvPr/>
        </p:nvCxnSpPr>
        <p:spPr>
          <a:xfrm>
            <a:off x="1981146" y="1347919"/>
            <a:ext cx="684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63" name="텍스트 상자 31"/>
          <p:cNvSpPr txBox="1"/>
          <p:nvPr/>
        </p:nvSpPr>
        <p:spPr>
          <a:xfrm>
            <a:off x="2002172" y="78300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환경 설정  </a:t>
            </a:r>
            <a:r>
              <a:rPr kumimoji="1" lang="en-US" altLang="ko-KR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|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모서리가 둥근 직사각형 70"/>
          <p:cNvSpPr/>
          <p:nvPr/>
        </p:nvSpPr>
        <p:spPr>
          <a:xfrm>
            <a:off x="7999909" y="5095618"/>
            <a:ext cx="468000" cy="21600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모서리가 둥근 직사각형 71"/>
          <p:cNvSpPr/>
          <p:nvPr/>
        </p:nvSpPr>
        <p:spPr>
          <a:xfrm>
            <a:off x="7405018" y="5095192"/>
            <a:ext cx="468000" cy="216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6724106" y="1533739"/>
            <a:ext cx="2097039" cy="292827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6720976" y="2728722"/>
            <a:ext cx="2158210" cy="307777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워크피드의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기본 화면은 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‘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나의 그룹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＇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의 소식입니다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</a:p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그룹을 추가하여 재설정할 수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81" name="내용 개체 틀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73081885"/>
              </p:ext>
            </p:extLst>
          </p:nvPr>
        </p:nvGraphicFramePr>
        <p:xfrm>
          <a:off x="2085033" y="1782823"/>
          <a:ext cx="4089524" cy="26791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94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44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58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197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그룹명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288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개설자</a:t>
                      </a:r>
                      <a:endParaRPr lang="en-US" altLang="ko-KR" sz="7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개설일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그룹소개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/>
                        <a:t>스퀘어플러스 </a:t>
                      </a:r>
                      <a:r>
                        <a:rPr lang="ko-KR" altLang="en-US" sz="700" dirty="0" err="1" smtClean="0"/>
                        <a:t>풀컨텐츠</a:t>
                      </a:r>
                      <a:endParaRPr lang="ko-KR" altLang="en-US" sz="700" dirty="0"/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자동차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UX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/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병원 서비스디자인</a:t>
                      </a: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EGW UX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 </a:t>
                      </a:r>
                      <a:endParaRPr lang="ko-KR" altLang="en-US" sz="700" dirty="0"/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A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통신사 서비스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정부 과제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A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B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82" name="그룹 81"/>
          <p:cNvGrpSpPr/>
          <p:nvPr/>
        </p:nvGrpSpPr>
        <p:grpSpPr>
          <a:xfrm>
            <a:off x="2149395" y="2099848"/>
            <a:ext cx="108000" cy="1805045"/>
            <a:chOff x="4873178" y="1844283"/>
            <a:chExt cx="108000" cy="1805045"/>
          </a:xfrm>
        </p:grpSpPr>
        <p:sp>
          <p:nvSpPr>
            <p:cNvPr id="83" name="Rounded Rectangle 295"/>
            <p:cNvSpPr>
              <a:spLocks/>
            </p:cNvSpPr>
            <p:nvPr/>
          </p:nvSpPr>
          <p:spPr>
            <a:xfrm>
              <a:off x="4873178" y="1844283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84" name="Rounded Rectangle 295"/>
            <p:cNvSpPr>
              <a:spLocks/>
            </p:cNvSpPr>
            <p:nvPr/>
          </p:nvSpPr>
          <p:spPr>
            <a:xfrm>
              <a:off x="4873178" y="2083802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85" name="Rounded Rectangle 295"/>
            <p:cNvSpPr>
              <a:spLocks/>
            </p:cNvSpPr>
            <p:nvPr/>
          </p:nvSpPr>
          <p:spPr>
            <a:xfrm>
              <a:off x="4873178" y="2333527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86" name="Rounded Rectangle 295"/>
            <p:cNvSpPr>
              <a:spLocks/>
            </p:cNvSpPr>
            <p:nvPr/>
          </p:nvSpPr>
          <p:spPr>
            <a:xfrm>
              <a:off x="4873178" y="2573046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87" name="Rounded Rectangle 295"/>
            <p:cNvSpPr>
              <a:spLocks/>
            </p:cNvSpPr>
            <p:nvPr/>
          </p:nvSpPr>
          <p:spPr>
            <a:xfrm>
              <a:off x="4873178" y="281256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88" name="Rounded Rectangle 295"/>
            <p:cNvSpPr>
              <a:spLocks/>
            </p:cNvSpPr>
            <p:nvPr/>
          </p:nvSpPr>
          <p:spPr>
            <a:xfrm>
              <a:off x="4873178" y="305208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89" name="Rounded Rectangle 295"/>
            <p:cNvSpPr>
              <a:spLocks/>
            </p:cNvSpPr>
            <p:nvPr/>
          </p:nvSpPr>
          <p:spPr>
            <a:xfrm>
              <a:off x="4873178" y="3301809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90" name="Rounded Rectangle 295"/>
            <p:cNvSpPr>
              <a:spLocks/>
            </p:cNvSpPr>
            <p:nvPr/>
          </p:nvSpPr>
          <p:spPr>
            <a:xfrm>
              <a:off x="4873178" y="3541328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</p:grpSp>
      <p:sp>
        <p:nvSpPr>
          <p:cNvPr id="91" name="Rounded Rectangle 295"/>
          <p:cNvSpPr>
            <a:spLocks/>
          </p:cNvSpPr>
          <p:nvPr/>
        </p:nvSpPr>
        <p:spPr>
          <a:xfrm>
            <a:off x="2149395" y="1850018"/>
            <a:ext cx="108000" cy="10800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 dirty="0">
              <a:latin typeface="+mn-ea"/>
              <a:ea typeface="+mn-ea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2077091" y="1496894"/>
            <a:ext cx="1972262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dirty="0" smtClean="0">
                <a:solidFill>
                  <a:srgbClr val="0070C0"/>
                </a:solidFill>
                <a:latin typeface="+mn-ea"/>
                <a:ea typeface="+mn-ea"/>
              </a:rPr>
              <a:t>나의 그룹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┃ 전사조직 그룹 ┃ 공개 그룹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6353004" y="2696833"/>
            <a:ext cx="197963" cy="351706"/>
          </a:xfrm>
          <a:prstGeom prst="roundRect">
            <a:avLst>
              <a:gd name="adj" fmla="val 10589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94" name="직선 연결선 93"/>
          <p:cNvCxnSpPr>
            <a:stCxn id="93" idx="1"/>
            <a:endCxn id="93" idx="3"/>
          </p:cNvCxnSpPr>
          <p:nvPr/>
        </p:nvCxnSpPr>
        <p:spPr>
          <a:xfrm>
            <a:off x="6353004" y="2872686"/>
            <a:ext cx="197963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5" name="내용 개체 틀 23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9768" y="2737239"/>
            <a:ext cx="108000" cy="108000"/>
          </a:xfrm>
          <a:prstGeom prst="rect">
            <a:avLst/>
          </a:prstGeom>
        </p:spPr>
      </p:pic>
      <p:pic>
        <p:nvPicPr>
          <p:cNvPr id="96" name="내용 개체 틀 23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6390564" y="2906613"/>
            <a:ext cx="108000" cy="108000"/>
          </a:xfrm>
          <a:prstGeom prst="rect">
            <a:avLst/>
          </a:prstGeom>
        </p:spPr>
      </p:pic>
      <p:graphicFrame>
        <p:nvGraphicFramePr>
          <p:cNvPr id="9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111300"/>
              </p:ext>
            </p:extLst>
          </p:nvPr>
        </p:nvGraphicFramePr>
        <p:xfrm>
          <a:off x="9274474" y="745639"/>
          <a:ext cx="2892502" cy="23610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설정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최신 순으로  제공 할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피드의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그룹을 분류 별로  나누어 설정 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노출 그룹 설정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88900" marR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선택 후 추가버튼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클릭 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그룹의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피드가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워크피드에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 됨  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80975" marR="0" indent="-889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Tx/>
                        <a:buChar char="–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그룹 리스트에서 그룹을 설정 하였을 경우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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삭제버튼 비활성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itchFamily="2" charset="2"/>
                      </a:endParaRPr>
                    </a:p>
                    <a:p>
                      <a:pPr marL="180975" marR="0" indent="-889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Tx/>
                        <a:buChar char="–"/>
                        <a:tabLst/>
                        <a:defRPr sz="2000"/>
                      </a:pP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노출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선택 하였을 경우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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추가버튼 비활성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Tx/>
                        <a:buNone/>
                        <a:tabLst/>
                        <a:defRPr sz="2000"/>
                      </a:pP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노출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선택 후  삭제버튼  클릭 시  삭제한 그룹의 글은 노출되지 않음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itchFamily="2" charset="2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8" name="타원 97"/>
          <p:cNvSpPr>
            <a:spLocks noChangeAspect="1"/>
          </p:cNvSpPr>
          <p:nvPr/>
        </p:nvSpPr>
        <p:spPr>
          <a:xfrm>
            <a:off x="2213483" y="176001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Rectangle 135"/>
          <p:cNvSpPr/>
          <p:nvPr/>
        </p:nvSpPr>
        <p:spPr>
          <a:xfrm>
            <a:off x="2002172" y="1489408"/>
            <a:ext cx="3950485" cy="23041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00" name="타원 99"/>
          <p:cNvSpPr>
            <a:spLocks noChangeAspect="1"/>
          </p:cNvSpPr>
          <p:nvPr/>
        </p:nvSpPr>
        <p:spPr>
          <a:xfrm>
            <a:off x="1912843" y="142461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타원 100"/>
          <p:cNvSpPr>
            <a:spLocks noChangeAspect="1"/>
          </p:cNvSpPr>
          <p:nvPr/>
        </p:nvSpPr>
        <p:spPr>
          <a:xfrm>
            <a:off x="6275111" y="2529212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제목 3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나의 그룹</a:t>
            </a:r>
            <a:endParaRPr kumimoji="0" lang="ko-KR" altLang="en-US" dirty="0"/>
          </a:p>
        </p:txBody>
      </p:sp>
      <p:sp>
        <p:nvSpPr>
          <p:cNvPr id="103" name="내용 개체 틀 231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SQ5.7.2.1</a:t>
            </a:r>
            <a:endParaRPr kumimoji="0" lang="ko-KR" altLang="en-US" dirty="0"/>
          </a:p>
        </p:txBody>
      </p:sp>
      <p:sp>
        <p:nvSpPr>
          <p:cNvPr id="104" name="내용 개체 틀 2"/>
          <p:cNvSpPr txBox="1">
            <a:spLocks/>
          </p:cNvSpPr>
          <p:nvPr/>
        </p:nvSpPr>
        <p:spPr>
          <a:xfrm>
            <a:off x="5432670" y="8073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설정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워크피드 설정</a:t>
            </a:r>
            <a:endParaRPr kumimoji="0" lang="ko-KR" altLang="en-US" dirty="0"/>
          </a:p>
        </p:txBody>
      </p:sp>
      <p:sp>
        <p:nvSpPr>
          <p:cNvPr id="105" name="TextBox 104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06" name="직사각형 105"/>
          <p:cNvSpPr/>
          <p:nvPr/>
        </p:nvSpPr>
        <p:spPr>
          <a:xfrm>
            <a:off x="2686050" y="1533525"/>
            <a:ext cx="714375" cy="142875"/>
          </a:xfrm>
          <a:prstGeom prst="rect">
            <a:avLst/>
          </a:prstGeom>
          <a:solidFill>
            <a:schemeClr val="bg1">
              <a:alpha val="84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07" name="직사각형 106"/>
          <p:cNvSpPr/>
          <p:nvPr/>
        </p:nvSpPr>
        <p:spPr>
          <a:xfrm>
            <a:off x="1895475" y="371475"/>
            <a:ext cx="3267075" cy="266700"/>
          </a:xfrm>
          <a:prstGeom prst="rect">
            <a:avLst/>
          </a:prstGeom>
          <a:solidFill>
            <a:schemeClr val="bg1">
              <a:alpha val="88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82908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/>
          <p:cNvGrpSpPr/>
          <p:nvPr/>
        </p:nvGrpSpPr>
        <p:grpSpPr>
          <a:xfrm>
            <a:off x="429108" y="677999"/>
            <a:ext cx="1564834" cy="5911185"/>
            <a:chOff x="429108" y="688668"/>
            <a:chExt cx="1564834" cy="5911185"/>
          </a:xfrm>
        </p:grpSpPr>
        <p:sp>
          <p:nvSpPr>
            <p:cNvPr id="8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0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1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2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2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3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374"/>
            <p:cNvSpPr/>
            <p:nvPr/>
          </p:nvSpPr>
          <p:spPr>
            <a:xfrm>
              <a:off x="434472" y="1159461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3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40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2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7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5" name="양쪽 모서리가 둥근 사각형 54"/>
          <p:cNvSpPr/>
          <p:nvPr/>
        </p:nvSpPr>
        <p:spPr>
          <a:xfrm>
            <a:off x="2032140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알림 설정</a:t>
            </a:r>
            <a:endParaRPr lang="ko-KR" altLang="en-US" sz="750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2805814" y="1132156"/>
            <a:ext cx="720000" cy="216000"/>
          </a:xfrm>
          <a:prstGeom prst="round2Same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b="1" dirty="0" err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워크피드</a:t>
            </a:r>
            <a:r>
              <a:rPr lang="ko-KR" altLang="en-US" sz="750" b="1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설정</a:t>
            </a:r>
            <a:endParaRPr lang="ko-KR" altLang="en-US" sz="7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양쪽 모서리가 둥근 사각형 56"/>
          <p:cNvSpPr/>
          <p:nvPr/>
        </p:nvSpPr>
        <p:spPr>
          <a:xfrm>
            <a:off x="3587172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5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종료그룹 관리</a:t>
            </a:r>
            <a:endParaRPr lang="ko-KR" altLang="en-US" sz="75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직선 연결선[R] 7"/>
          <p:cNvCxnSpPr/>
          <p:nvPr/>
        </p:nvCxnSpPr>
        <p:spPr>
          <a:xfrm>
            <a:off x="1981146" y="1006630"/>
            <a:ext cx="6840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62" name="직선 연결선[R] 7"/>
          <p:cNvCxnSpPr/>
          <p:nvPr/>
        </p:nvCxnSpPr>
        <p:spPr>
          <a:xfrm>
            <a:off x="1981146" y="1347919"/>
            <a:ext cx="684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63" name="텍스트 상자 31"/>
          <p:cNvSpPr txBox="1"/>
          <p:nvPr/>
        </p:nvSpPr>
        <p:spPr>
          <a:xfrm>
            <a:off x="2002172" y="78300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환경 설정  </a:t>
            </a:r>
            <a:r>
              <a:rPr kumimoji="1" lang="en-US" altLang="ko-KR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|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모서리가 둥근 직사각형 70"/>
          <p:cNvSpPr/>
          <p:nvPr/>
        </p:nvSpPr>
        <p:spPr>
          <a:xfrm>
            <a:off x="7999909" y="5095618"/>
            <a:ext cx="468000" cy="21600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모서리가 둥근 직사각형 71"/>
          <p:cNvSpPr/>
          <p:nvPr/>
        </p:nvSpPr>
        <p:spPr>
          <a:xfrm>
            <a:off x="7405018" y="5095192"/>
            <a:ext cx="468000" cy="216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01" name="내용 개체 틀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11829111"/>
              </p:ext>
            </p:extLst>
          </p:nvPr>
        </p:nvGraphicFramePr>
        <p:xfrm>
          <a:off x="2085033" y="1782823"/>
          <a:ext cx="4089524" cy="26791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94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44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58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197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그룹명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288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개설자</a:t>
                      </a:r>
                      <a:endParaRPr lang="en-US" altLang="ko-KR" sz="7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개설일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그룹소개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/>
                        <a:t>스퀘어플러스 </a:t>
                      </a:r>
                      <a:r>
                        <a:rPr lang="ko-KR" altLang="en-US" sz="700" dirty="0" err="1" smtClean="0"/>
                        <a:t>풀컨텐츠</a:t>
                      </a:r>
                      <a:endParaRPr lang="ko-KR" altLang="en-US" sz="700" dirty="0"/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자동차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UX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/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병원 서비스디자인</a:t>
                      </a: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EGW UX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 </a:t>
                      </a:r>
                      <a:endParaRPr lang="ko-KR" altLang="en-US" sz="700" dirty="0"/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A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통신사 서비스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정부 과제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A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B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공개 그룹</a:t>
                      </a: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구름사다리</a:t>
                      </a:r>
                    </a:p>
                  </a:txBody>
                  <a:tcPr marL="288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2" name="그룹 101"/>
          <p:cNvGrpSpPr/>
          <p:nvPr/>
        </p:nvGrpSpPr>
        <p:grpSpPr>
          <a:xfrm>
            <a:off x="2149395" y="2099848"/>
            <a:ext cx="108000" cy="2296932"/>
            <a:chOff x="4873178" y="1844283"/>
            <a:chExt cx="108000" cy="2296932"/>
          </a:xfrm>
        </p:grpSpPr>
        <p:sp>
          <p:nvSpPr>
            <p:cNvPr id="103" name="Rounded Rectangle 295"/>
            <p:cNvSpPr>
              <a:spLocks/>
            </p:cNvSpPr>
            <p:nvPr/>
          </p:nvSpPr>
          <p:spPr>
            <a:xfrm>
              <a:off x="4873178" y="1844283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04" name="Rounded Rectangle 295"/>
            <p:cNvSpPr>
              <a:spLocks/>
            </p:cNvSpPr>
            <p:nvPr/>
          </p:nvSpPr>
          <p:spPr>
            <a:xfrm>
              <a:off x="4873178" y="2083802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05" name="Rounded Rectangle 295"/>
            <p:cNvSpPr>
              <a:spLocks/>
            </p:cNvSpPr>
            <p:nvPr/>
          </p:nvSpPr>
          <p:spPr>
            <a:xfrm>
              <a:off x="4873178" y="2333527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06" name="Rounded Rectangle 295"/>
            <p:cNvSpPr>
              <a:spLocks/>
            </p:cNvSpPr>
            <p:nvPr/>
          </p:nvSpPr>
          <p:spPr>
            <a:xfrm>
              <a:off x="4873178" y="2573046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07" name="Rounded Rectangle 295"/>
            <p:cNvSpPr>
              <a:spLocks/>
            </p:cNvSpPr>
            <p:nvPr/>
          </p:nvSpPr>
          <p:spPr>
            <a:xfrm>
              <a:off x="4873178" y="281256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08" name="Rounded Rectangle 295"/>
            <p:cNvSpPr>
              <a:spLocks/>
            </p:cNvSpPr>
            <p:nvPr/>
          </p:nvSpPr>
          <p:spPr>
            <a:xfrm>
              <a:off x="4873178" y="305208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09" name="Rounded Rectangle 295"/>
            <p:cNvSpPr>
              <a:spLocks/>
            </p:cNvSpPr>
            <p:nvPr/>
          </p:nvSpPr>
          <p:spPr>
            <a:xfrm>
              <a:off x="4873178" y="3301809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10" name="Rounded Rectangle 295"/>
            <p:cNvSpPr>
              <a:spLocks/>
            </p:cNvSpPr>
            <p:nvPr/>
          </p:nvSpPr>
          <p:spPr>
            <a:xfrm>
              <a:off x="4873178" y="3541328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11" name="Rounded Rectangle 295"/>
            <p:cNvSpPr>
              <a:spLocks/>
            </p:cNvSpPr>
            <p:nvPr/>
          </p:nvSpPr>
          <p:spPr>
            <a:xfrm>
              <a:off x="4873178" y="3787637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12" name="Rounded Rectangle 295"/>
            <p:cNvSpPr>
              <a:spLocks/>
            </p:cNvSpPr>
            <p:nvPr/>
          </p:nvSpPr>
          <p:spPr>
            <a:xfrm>
              <a:off x="4873178" y="403321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</p:grpSp>
      <p:sp>
        <p:nvSpPr>
          <p:cNvPr id="113" name="Rounded Rectangle 295"/>
          <p:cNvSpPr>
            <a:spLocks/>
          </p:cNvSpPr>
          <p:nvPr/>
        </p:nvSpPr>
        <p:spPr>
          <a:xfrm>
            <a:off x="2149395" y="1850018"/>
            <a:ext cx="108000" cy="10800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 dirty="0">
              <a:latin typeface="+mn-ea"/>
              <a:ea typeface="+mn-ea"/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2077091" y="1496894"/>
            <a:ext cx="1972262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나의 그룹 ┃ 전사조직 그룹 ┃ </a:t>
            </a:r>
            <a:r>
              <a:rPr lang="ko-KR" altLang="en-US" sz="800" b="1" dirty="0" smtClean="0">
                <a:solidFill>
                  <a:srgbClr val="0070C0"/>
                </a:solidFill>
                <a:latin typeface="+mn-ea"/>
                <a:ea typeface="+mn-ea"/>
              </a:rPr>
              <a:t>공개 그룹</a:t>
            </a: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6353004" y="2696833"/>
            <a:ext cx="197963" cy="351706"/>
          </a:xfrm>
          <a:prstGeom prst="roundRect">
            <a:avLst>
              <a:gd name="adj" fmla="val 10589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cxnSp>
        <p:nvCxnSpPr>
          <p:cNvPr id="116" name="직선 연결선 115"/>
          <p:cNvCxnSpPr>
            <a:stCxn id="115" idx="1"/>
            <a:endCxn id="115" idx="3"/>
          </p:cNvCxnSpPr>
          <p:nvPr/>
        </p:nvCxnSpPr>
        <p:spPr>
          <a:xfrm>
            <a:off x="6353004" y="2872686"/>
            <a:ext cx="197963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7" name="내용 개체 틀 23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9768" y="2737239"/>
            <a:ext cx="108000" cy="108000"/>
          </a:xfrm>
          <a:prstGeom prst="rect">
            <a:avLst/>
          </a:prstGeom>
        </p:spPr>
      </p:pic>
      <p:pic>
        <p:nvPicPr>
          <p:cNvPr id="118" name="내용 개체 틀 23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6390564" y="2906613"/>
            <a:ext cx="108000" cy="108000"/>
          </a:xfrm>
          <a:prstGeom prst="rect">
            <a:avLst/>
          </a:prstGeom>
        </p:spPr>
      </p:pic>
      <p:sp>
        <p:nvSpPr>
          <p:cNvPr id="119" name="직사각형 118"/>
          <p:cNvSpPr/>
          <p:nvPr/>
        </p:nvSpPr>
        <p:spPr>
          <a:xfrm>
            <a:off x="6724106" y="1533739"/>
            <a:ext cx="2097039" cy="292827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6720976" y="2728722"/>
            <a:ext cx="2158210" cy="307777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워크피드의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기본 화면은 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‘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나의 그룹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＇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의 소식입니다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</a:p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그룹을 추가하여 재설정할 수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21" name="타원 120"/>
          <p:cNvSpPr>
            <a:spLocks noChangeAspect="1"/>
          </p:cNvSpPr>
          <p:nvPr/>
        </p:nvSpPr>
        <p:spPr>
          <a:xfrm>
            <a:off x="2213483" y="1760018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Rectangle 135"/>
          <p:cNvSpPr/>
          <p:nvPr/>
        </p:nvSpPr>
        <p:spPr>
          <a:xfrm>
            <a:off x="2002172" y="1489408"/>
            <a:ext cx="3950485" cy="230415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23" name="타원 122"/>
          <p:cNvSpPr>
            <a:spLocks noChangeAspect="1"/>
          </p:cNvSpPr>
          <p:nvPr/>
        </p:nvSpPr>
        <p:spPr>
          <a:xfrm>
            <a:off x="1912843" y="1424616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4" name="타원 123"/>
          <p:cNvSpPr>
            <a:spLocks noChangeAspect="1"/>
          </p:cNvSpPr>
          <p:nvPr/>
        </p:nvSpPr>
        <p:spPr>
          <a:xfrm>
            <a:off x="6275111" y="2529212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373220"/>
              </p:ext>
            </p:extLst>
          </p:nvPr>
        </p:nvGraphicFramePr>
        <p:xfrm>
          <a:off x="9274474" y="745639"/>
          <a:ext cx="2892502" cy="236101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설정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최신 순으로  제공 할 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피드의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그룹을 분류 별로  나누어 설정 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워크피드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노출 그룹 설정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pPr marL="88900" marR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선택 후 추가버튼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클릭 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그룹의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피드가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워크피드에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 됨  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80975" marR="0" indent="-889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Tx/>
                        <a:buChar char="–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그룹 리스트에서 그룹을 설정 하였을 경우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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삭제버튼 비활성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itchFamily="2" charset="2"/>
                      </a:endParaRPr>
                    </a:p>
                    <a:p>
                      <a:pPr marL="180975" marR="0" indent="-889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Tx/>
                        <a:buChar char="–"/>
                        <a:tabLst/>
                        <a:defRPr sz="2000"/>
                      </a:pP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노출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선택 하였을 경우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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itchFamily="2" charset="2"/>
                        </a:rPr>
                        <a:t>추가버튼 비활성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Tx/>
                        <a:buNone/>
                        <a:tabLst/>
                        <a:defRPr sz="2000"/>
                      </a:pPr>
                      <a:r>
                        <a:rPr lang="ko-KR" altLang="en-US" sz="80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피드</a:t>
                      </a:r>
                      <a:r>
                        <a:rPr lang="ko-KR" altLang="en-US" sz="80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노출 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선택 후  삭제버튼  클릭 시  삭제한 그룹의 글은 노출되지 않음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itchFamily="2" charset="2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endParaRPr 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5" name="제목 3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공개 그룹</a:t>
            </a:r>
            <a:endParaRPr kumimoji="0" lang="ko-KR" altLang="en-US" dirty="0"/>
          </a:p>
        </p:txBody>
      </p:sp>
      <p:sp>
        <p:nvSpPr>
          <p:cNvPr id="86" name="내용 개체 틀 231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smtClean="0"/>
              <a:t>SQ5.7.2.3</a:t>
            </a:r>
            <a:endParaRPr kumimoji="0" lang="ko-KR" altLang="en-US" dirty="0"/>
          </a:p>
        </p:txBody>
      </p:sp>
      <p:sp>
        <p:nvSpPr>
          <p:cNvPr id="87" name="내용 개체 틀 2"/>
          <p:cNvSpPr txBox="1">
            <a:spLocks/>
          </p:cNvSpPr>
          <p:nvPr/>
        </p:nvSpPr>
        <p:spPr>
          <a:xfrm>
            <a:off x="5432670" y="8073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설정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워크피드 설정</a:t>
            </a:r>
            <a:endParaRPr kumimoji="0" lang="ko-KR" altLang="en-US" dirty="0"/>
          </a:p>
        </p:txBody>
      </p:sp>
      <p:sp>
        <p:nvSpPr>
          <p:cNvPr id="84" name="TextBox 8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2686050" y="1533525"/>
            <a:ext cx="714375" cy="142875"/>
          </a:xfrm>
          <a:prstGeom prst="rect">
            <a:avLst/>
          </a:prstGeom>
          <a:solidFill>
            <a:schemeClr val="bg1">
              <a:alpha val="84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88" name="직사각형 87"/>
          <p:cNvSpPr/>
          <p:nvPr/>
        </p:nvSpPr>
        <p:spPr>
          <a:xfrm>
            <a:off x="1895475" y="371475"/>
            <a:ext cx="3267075" cy="266700"/>
          </a:xfrm>
          <a:prstGeom prst="rect">
            <a:avLst/>
          </a:prstGeom>
          <a:solidFill>
            <a:schemeClr val="bg1">
              <a:alpha val="88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30963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/>
          <p:cNvGrpSpPr/>
          <p:nvPr/>
        </p:nvGrpSpPr>
        <p:grpSpPr>
          <a:xfrm>
            <a:off x="429108" y="677999"/>
            <a:ext cx="1564834" cy="5911185"/>
            <a:chOff x="429108" y="688668"/>
            <a:chExt cx="1564834" cy="5911185"/>
          </a:xfrm>
        </p:grpSpPr>
        <p:sp>
          <p:nvSpPr>
            <p:cNvPr id="8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0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1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5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2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4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" name="Freeform 24"/>
            <p:cNvSpPr>
              <a:spLocks noChangeArrowheads="1"/>
            </p:cNvSpPr>
            <p:nvPr/>
          </p:nvSpPr>
          <p:spPr bwMode="auto">
            <a:xfrm flipV="1">
              <a:off x="494067" y="525660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6" name="Freeform 24"/>
            <p:cNvSpPr>
              <a:spLocks noChangeArrowheads="1"/>
            </p:cNvSpPr>
            <p:nvPr/>
          </p:nvSpPr>
          <p:spPr bwMode="auto">
            <a:xfrm flipV="1">
              <a:off x="500676" y="5457089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2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텍스트 상자 31"/>
            <p:cNvSpPr txBox="1"/>
            <p:nvPr/>
          </p:nvSpPr>
          <p:spPr>
            <a:xfrm>
              <a:off x="724338" y="2755742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텍스트 상자 31"/>
            <p:cNvSpPr txBox="1"/>
            <p:nvPr/>
          </p:nvSpPr>
          <p:spPr>
            <a:xfrm>
              <a:off x="723297" y="241714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3" name="텍스트 상자 31"/>
            <p:cNvSpPr txBox="1"/>
            <p:nvPr/>
          </p:nvSpPr>
          <p:spPr>
            <a:xfrm>
              <a:off x="724338" y="2583715"/>
              <a:ext cx="1269604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2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374"/>
            <p:cNvSpPr/>
            <p:nvPr/>
          </p:nvSpPr>
          <p:spPr>
            <a:xfrm>
              <a:off x="434472" y="1159461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7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28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9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2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3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40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41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2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5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6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7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48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5" name="양쪽 모서리가 둥근 사각형 54"/>
          <p:cNvSpPr/>
          <p:nvPr/>
        </p:nvSpPr>
        <p:spPr>
          <a:xfrm>
            <a:off x="2032140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알림 설정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2805814" y="1132156"/>
            <a:ext cx="720000" cy="2160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워크피드</a:t>
            </a:r>
            <a:r>
              <a:rPr lang="ko-KR" altLang="en-US" sz="7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설정</a:t>
            </a:r>
            <a:endParaRPr lang="ko-KR" altLang="en-US" sz="7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양쪽 모서리가 둥근 사각형 56"/>
          <p:cNvSpPr/>
          <p:nvPr/>
        </p:nvSpPr>
        <p:spPr>
          <a:xfrm>
            <a:off x="3587172" y="1132156"/>
            <a:ext cx="720000" cy="216000"/>
          </a:xfrm>
          <a:prstGeom prst="round2Same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bg1">
                <a:lumMod val="6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ko-KR" altLang="en-US" sz="7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종료그룹 관리</a:t>
            </a:r>
            <a:endParaRPr lang="ko-KR" altLang="en-US" sz="7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직선 연결선[R] 7"/>
          <p:cNvCxnSpPr/>
          <p:nvPr/>
        </p:nvCxnSpPr>
        <p:spPr>
          <a:xfrm>
            <a:off x="1981146" y="1006630"/>
            <a:ext cx="6840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62" name="직선 연결선[R] 7"/>
          <p:cNvCxnSpPr/>
          <p:nvPr/>
        </p:nvCxnSpPr>
        <p:spPr>
          <a:xfrm>
            <a:off x="1981146" y="1347919"/>
            <a:ext cx="684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63" name="텍스트 상자 31"/>
          <p:cNvSpPr txBox="1"/>
          <p:nvPr/>
        </p:nvSpPr>
        <p:spPr>
          <a:xfrm>
            <a:off x="2002172" y="78300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환경 설정  </a:t>
            </a:r>
            <a:r>
              <a:rPr kumimoji="1" lang="en-US" altLang="ko-KR" sz="9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|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1" name="모서리가 둥근 직사각형 70"/>
          <p:cNvSpPr/>
          <p:nvPr/>
        </p:nvSpPr>
        <p:spPr>
          <a:xfrm>
            <a:off x="8047043" y="4353199"/>
            <a:ext cx="468000" cy="21600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모서리가 둥근 직사각형 71"/>
          <p:cNvSpPr/>
          <p:nvPr/>
        </p:nvSpPr>
        <p:spPr>
          <a:xfrm>
            <a:off x="7452152" y="4352773"/>
            <a:ext cx="468000" cy="216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92" name="내용 개체 틀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48503932"/>
              </p:ext>
            </p:extLst>
          </p:nvPr>
        </p:nvGraphicFramePr>
        <p:xfrm>
          <a:off x="2085033" y="1527258"/>
          <a:ext cx="6736115" cy="21920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914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0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35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58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65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74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874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그룹명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개설자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개설일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종료일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그룹소개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        목록표시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관리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0" anchor="ctr"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/>
                        <a:t>스퀘어플러스 </a:t>
                      </a:r>
                      <a:r>
                        <a:rPr lang="ko-KR" altLang="en-US" sz="700" dirty="0" err="1" smtClean="0"/>
                        <a:t>풀컨텐츠</a:t>
                      </a:r>
                      <a:endParaRPr lang="ko-KR" altLang="en-US" sz="700" dirty="0"/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자동차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UX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/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병원 서비스디자인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latinLnBrk="1"/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EGW UX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개선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 </a:t>
                      </a:r>
                      <a:endParaRPr lang="ko-KR" altLang="en-US" sz="700" dirty="0"/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A </a:t>
                      </a: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통신사 서비스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정부 과제 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TF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A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김핸디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563">
                <a:tc>
                  <a:txBody>
                    <a:bodyPr/>
                    <a:lstStyle/>
                    <a:p>
                      <a:pPr marL="0" marR="0" indent="0" algn="l" defTabSz="99057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스퀘어</a:t>
                      </a:r>
                      <a:r>
                        <a:rPr kumimoji="1" lang="en-US" altLang="ko-KR" sz="700" dirty="0" smtClean="0"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latin typeface="+mn-ea"/>
                          <a:ea typeface="+mn-ea"/>
                        </a:rPr>
                        <a:t> B</a:t>
                      </a:r>
                      <a:endParaRPr kumimoji="1" lang="ko-KR" altLang="en-US" sz="700" dirty="0" smtClean="0">
                        <a:solidFill>
                          <a:prstClr val="black">
                            <a:lumMod val="65000"/>
                            <a:lumOff val="35000"/>
                          </a:prst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홍길동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2016.04.16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2017.05.21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가입 그룹의 모든 내용 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숨김</a:t>
                      </a:r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124" name="그룹 123"/>
          <p:cNvGrpSpPr/>
          <p:nvPr/>
        </p:nvGrpSpPr>
        <p:grpSpPr>
          <a:xfrm>
            <a:off x="7228896" y="1844283"/>
            <a:ext cx="108000" cy="1805045"/>
            <a:chOff x="4873178" y="1844283"/>
            <a:chExt cx="108000" cy="1805045"/>
          </a:xfrm>
        </p:grpSpPr>
        <p:sp>
          <p:nvSpPr>
            <p:cNvPr id="125" name="Rounded Rectangle 295"/>
            <p:cNvSpPr>
              <a:spLocks/>
            </p:cNvSpPr>
            <p:nvPr/>
          </p:nvSpPr>
          <p:spPr>
            <a:xfrm>
              <a:off x="4873178" y="1844283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26" name="Rounded Rectangle 295"/>
            <p:cNvSpPr>
              <a:spLocks/>
            </p:cNvSpPr>
            <p:nvPr/>
          </p:nvSpPr>
          <p:spPr>
            <a:xfrm>
              <a:off x="4873178" y="2333527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27" name="Rounded Rectangle 295"/>
            <p:cNvSpPr>
              <a:spLocks/>
            </p:cNvSpPr>
            <p:nvPr/>
          </p:nvSpPr>
          <p:spPr>
            <a:xfrm>
              <a:off x="4873178" y="2573046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28" name="Rounded Rectangle 295"/>
            <p:cNvSpPr>
              <a:spLocks/>
            </p:cNvSpPr>
            <p:nvPr/>
          </p:nvSpPr>
          <p:spPr>
            <a:xfrm>
              <a:off x="4873178" y="2812565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29" name="Rounded Rectangle 295"/>
            <p:cNvSpPr>
              <a:spLocks/>
            </p:cNvSpPr>
            <p:nvPr/>
          </p:nvSpPr>
          <p:spPr>
            <a:xfrm>
              <a:off x="4873178" y="3052084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30" name="Rounded Rectangle 295"/>
            <p:cNvSpPr>
              <a:spLocks/>
            </p:cNvSpPr>
            <p:nvPr/>
          </p:nvSpPr>
          <p:spPr>
            <a:xfrm>
              <a:off x="4873178" y="3301809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31" name="Rounded Rectangle 295"/>
            <p:cNvSpPr>
              <a:spLocks/>
            </p:cNvSpPr>
            <p:nvPr/>
          </p:nvSpPr>
          <p:spPr>
            <a:xfrm>
              <a:off x="4873178" y="3541328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7960703" y="1803752"/>
            <a:ext cx="288000" cy="16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700" dirty="0" smtClean="0">
                <a:solidFill>
                  <a:srgbClr val="FF0000"/>
                </a:solidFill>
                <a:latin typeface="+mn-ea"/>
                <a:ea typeface="+mn-ea"/>
              </a:rPr>
              <a:t>삭제</a:t>
            </a:r>
          </a:p>
        </p:txBody>
      </p:sp>
      <p:sp>
        <p:nvSpPr>
          <p:cNvPr id="133" name="직사각형 132"/>
          <p:cNvSpPr/>
          <p:nvPr/>
        </p:nvSpPr>
        <p:spPr>
          <a:xfrm>
            <a:off x="7960703" y="2064725"/>
            <a:ext cx="288000" cy="16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700" dirty="0" smtClean="0">
                <a:solidFill>
                  <a:srgbClr val="FF0000"/>
                </a:solidFill>
                <a:latin typeface="+mn-ea"/>
                <a:ea typeface="+mn-ea"/>
              </a:rPr>
              <a:t>삭제</a:t>
            </a:r>
          </a:p>
        </p:txBody>
      </p:sp>
      <p:sp>
        <p:nvSpPr>
          <p:cNvPr id="134" name="직사각형 133"/>
          <p:cNvSpPr/>
          <p:nvPr/>
        </p:nvSpPr>
        <p:spPr>
          <a:xfrm>
            <a:off x="8295628" y="1803752"/>
            <a:ext cx="396000" cy="16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700" dirty="0" err="1" smtClean="0">
                <a:latin typeface="+mn-ea"/>
                <a:ea typeface="+mn-ea"/>
              </a:rPr>
              <a:t>재시작</a:t>
            </a:r>
            <a:endParaRPr lang="ko-KR" altLang="en-US" sz="700" dirty="0" smtClean="0">
              <a:latin typeface="+mn-ea"/>
              <a:ea typeface="+mn-ea"/>
            </a:endParaRPr>
          </a:p>
        </p:txBody>
      </p:sp>
      <p:sp>
        <p:nvSpPr>
          <p:cNvPr id="135" name="직사각형 134"/>
          <p:cNvSpPr/>
          <p:nvPr/>
        </p:nvSpPr>
        <p:spPr>
          <a:xfrm>
            <a:off x="8295628" y="2056802"/>
            <a:ext cx="396000" cy="16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재시작</a:t>
            </a:r>
            <a:endParaRPr lang="ko-KR" altLang="en-US" sz="700" dirty="0" smtClean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6" name="직사각형 135"/>
          <p:cNvSpPr/>
          <p:nvPr/>
        </p:nvSpPr>
        <p:spPr>
          <a:xfrm>
            <a:off x="7960703" y="2300985"/>
            <a:ext cx="288000" cy="16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700" dirty="0" smtClean="0">
                <a:solidFill>
                  <a:srgbClr val="FF0000"/>
                </a:solidFill>
                <a:latin typeface="+mn-ea"/>
                <a:ea typeface="+mn-ea"/>
              </a:rPr>
              <a:t>삭제</a:t>
            </a:r>
          </a:p>
        </p:txBody>
      </p:sp>
      <p:sp>
        <p:nvSpPr>
          <p:cNvPr id="137" name="직사각형 136"/>
          <p:cNvSpPr/>
          <p:nvPr/>
        </p:nvSpPr>
        <p:spPr>
          <a:xfrm>
            <a:off x="8295628" y="2300985"/>
            <a:ext cx="396000" cy="16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700" dirty="0" err="1" smtClean="0">
                <a:latin typeface="+mn-ea"/>
                <a:ea typeface="+mn-ea"/>
              </a:rPr>
              <a:t>재시작</a:t>
            </a:r>
            <a:endParaRPr lang="ko-KR" altLang="en-US" sz="700" dirty="0" smtClean="0">
              <a:latin typeface="+mn-ea"/>
              <a:ea typeface="+mn-ea"/>
            </a:endParaRPr>
          </a:p>
        </p:txBody>
      </p:sp>
      <p:grpSp>
        <p:nvGrpSpPr>
          <p:cNvPr id="138" name="그룹 137"/>
          <p:cNvGrpSpPr/>
          <p:nvPr/>
        </p:nvGrpSpPr>
        <p:grpSpPr>
          <a:xfrm>
            <a:off x="7960703" y="2554035"/>
            <a:ext cx="730925" cy="162807"/>
            <a:chOff x="7960703" y="2554035"/>
            <a:chExt cx="730925" cy="162807"/>
          </a:xfrm>
        </p:grpSpPr>
        <p:sp>
          <p:nvSpPr>
            <p:cNvPr id="139" name="직사각형 138"/>
            <p:cNvSpPr/>
            <p:nvPr/>
          </p:nvSpPr>
          <p:spPr>
            <a:xfrm>
              <a:off x="7960703" y="2554842"/>
              <a:ext cx="288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삭제</a:t>
              </a:r>
            </a:p>
          </p:txBody>
        </p:sp>
        <p:sp>
          <p:nvSpPr>
            <p:cNvPr id="140" name="직사각형 139"/>
            <p:cNvSpPr/>
            <p:nvPr/>
          </p:nvSpPr>
          <p:spPr>
            <a:xfrm>
              <a:off x="8295628" y="2554035"/>
              <a:ext cx="396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err="1" smtClean="0">
                  <a:latin typeface="+mn-ea"/>
                  <a:ea typeface="+mn-ea"/>
                </a:rPr>
                <a:t>재시작</a:t>
              </a:r>
              <a:endParaRPr lang="ko-KR" altLang="en-US" sz="700" dirty="0" smtClean="0">
                <a:latin typeface="+mn-ea"/>
                <a:ea typeface="+mn-ea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60703" y="2775774"/>
            <a:ext cx="730925" cy="162807"/>
            <a:chOff x="7960703" y="2554035"/>
            <a:chExt cx="730925" cy="162807"/>
          </a:xfrm>
        </p:grpSpPr>
        <p:sp>
          <p:nvSpPr>
            <p:cNvPr id="142" name="직사각형 141"/>
            <p:cNvSpPr/>
            <p:nvPr/>
          </p:nvSpPr>
          <p:spPr>
            <a:xfrm>
              <a:off x="7960703" y="2554842"/>
              <a:ext cx="288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삭제</a:t>
              </a:r>
            </a:p>
          </p:txBody>
        </p:sp>
        <p:sp>
          <p:nvSpPr>
            <p:cNvPr id="143" name="직사각형 142"/>
            <p:cNvSpPr/>
            <p:nvPr/>
          </p:nvSpPr>
          <p:spPr>
            <a:xfrm>
              <a:off x="8295628" y="2554035"/>
              <a:ext cx="396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err="1" smtClean="0">
                  <a:latin typeface="+mn-ea"/>
                  <a:ea typeface="+mn-ea"/>
                </a:rPr>
                <a:t>재시작</a:t>
              </a:r>
              <a:endParaRPr lang="ko-KR" altLang="en-US" sz="700" dirty="0" smtClean="0">
                <a:latin typeface="+mn-ea"/>
                <a:ea typeface="+mn-ea"/>
              </a:endParaRPr>
            </a:p>
          </p:txBody>
        </p:sp>
      </p:grpSp>
      <p:grpSp>
        <p:nvGrpSpPr>
          <p:cNvPr id="144" name="그룹 143"/>
          <p:cNvGrpSpPr/>
          <p:nvPr/>
        </p:nvGrpSpPr>
        <p:grpSpPr>
          <a:xfrm>
            <a:off x="7960703" y="3021116"/>
            <a:ext cx="730925" cy="162807"/>
            <a:chOff x="7960703" y="2554035"/>
            <a:chExt cx="730925" cy="162807"/>
          </a:xfrm>
        </p:grpSpPr>
        <p:sp>
          <p:nvSpPr>
            <p:cNvPr id="145" name="직사각형 144"/>
            <p:cNvSpPr/>
            <p:nvPr/>
          </p:nvSpPr>
          <p:spPr>
            <a:xfrm>
              <a:off x="7960703" y="2554842"/>
              <a:ext cx="288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삭제</a:t>
              </a:r>
            </a:p>
          </p:txBody>
        </p:sp>
        <p:sp>
          <p:nvSpPr>
            <p:cNvPr id="146" name="직사각형 145"/>
            <p:cNvSpPr/>
            <p:nvPr/>
          </p:nvSpPr>
          <p:spPr>
            <a:xfrm>
              <a:off x="8295628" y="2554035"/>
              <a:ext cx="396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err="1" smtClean="0">
                  <a:latin typeface="+mn-ea"/>
                  <a:ea typeface="+mn-ea"/>
                </a:rPr>
                <a:t>재시작</a:t>
              </a:r>
              <a:endParaRPr lang="ko-KR" altLang="en-US" sz="700" dirty="0" smtClean="0">
                <a:latin typeface="+mn-ea"/>
                <a:ea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960703" y="3276144"/>
            <a:ext cx="730925" cy="162807"/>
            <a:chOff x="7960703" y="2554035"/>
            <a:chExt cx="730925" cy="162807"/>
          </a:xfrm>
        </p:grpSpPr>
        <p:sp>
          <p:nvSpPr>
            <p:cNvPr id="148" name="직사각형 147"/>
            <p:cNvSpPr/>
            <p:nvPr/>
          </p:nvSpPr>
          <p:spPr>
            <a:xfrm>
              <a:off x="7960703" y="2554842"/>
              <a:ext cx="288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삭제</a:t>
              </a:r>
            </a:p>
          </p:txBody>
        </p:sp>
        <p:sp>
          <p:nvSpPr>
            <p:cNvPr id="149" name="직사각형 148"/>
            <p:cNvSpPr/>
            <p:nvPr/>
          </p:nvSpPr>
          <p:spPr>
            <a:xfrm>
              <a:off x="8295628" y="2554035"/>
              <a:ext cx="396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err="1" smtClean="0">
                  <a:latin typeface="+mn-ea"/>
                  <a:ea typeface="+mn-ea"/>
                </a:rPr>
                <a:t>재시작</a:t>
              </a:r>
              <a:endParaRPr lang="ko-KR" altLang="en-US" sz="700" dirty="0" smtClean="0">
                <a:latin typeface="+mn-ea"/>
                <a:ea typeface="+mn-ea"/>
              </a:endParaRPr>
            </a:p>
          </p:txBody>
        </p:sp>
      </p:grpSp>
      <p:grpSp>
        <p:nvGrpSpPr>
          <p:cNvPr id="150" name="그룹 149"/>
          <p:cNvGrpSpPr/>
          <p:nvPr/>
        </p:nvGrpSpPr>
        <p:grpSpPr>
          <a:xfrm>
            <a:off x="7960703" y="3521486"/>
            <a:ext cx="730925" cy="162807"/>
            <a:chOff x="7960703" y="2554035"/>
            <a:chExt cx="730925" cy="162807"/>
          </a:xfrm>
        </p:grpSpPr>
        <p:sp>
          <p:nvSpPr>
            <p:cNvPr id="151" name="직사각형 150"/>
            <p:cNvSpPr/>
            <p:nvPr/>
          </p:nvSpPr>
          <p:spPr>
            <a:xfrm>
              <a:off x="7960703" y="2554842"/>
              <a:ext cx="288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smtClean="0">
                  <a:solidFill>
                    <a:srgbClr val="FF0000"/>
                  </a:solidFill>
                  <a:latin typeface="+mn-ea"/>
                  <a:ea typeface="+mn-ea"/>
                </a:rPr>
                <a:t>삭제</a:t>
              </a:r>
            </a:p>
          </p:txBody>
        </p:sp>
        <p:sp>
          <p:nvSpPr>
            <p:cNvPr id="152" name="직사각형 151"/>
            <p:cNvSpPr/>
            <p:nvPr/>
          </p:nvSpPr>
          <p:spPr>
            <a:xfrm>
              <a:off x="8295628" y="2554035"/>
              <a:ext cx="396000" cy="16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ct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700" dirty="0" err="1" smtClean="0">
                  <a:latin typeface="+mn-ea"/>
                  <a:ea typeface="+mn-ea"/>
                </a:rPr>
                <a:t>재시작</a:t>
              </a:r>
              <a:endParaRPr lang="ko-KR" altLang="en-US" sz="700" dirty="0" smtClean="0">
                <a:latin typeface="+mn-ea"/>
                <a:ea typeface="+mn-ea"/>
              </a:endParaRPr>
            </a:p>
          </p:txBody>
        </p:sp>
      </p:grpSp>
      <p:sp>
        <p:nvSpPr>
          <p:cNvPr id="153" name="Rounded Rectangle 295"/>
          <p:cNvSpPr>
            <a:spLocks/>
          </p:cNvSpPr>
          <p:nvPr/>
        </p:nvSpPr>
        <p:spPr>
          <a:xfrm>
            <a:off x="7228688" y="1594532"/>
            <a:ext cx="108000" cy="108000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700" dirty="0">
              <a:latin typeface="+mn-ea"/>
              <a:ea typeface="+mn-ea"/>
            </a:endParaRPr>
          </a:p>
        </p:txBody>
      </p:sp>
      <p:sp>
        <p:nvSpPr>
          <p:cNvPr id="154" name="타원 153"/>
          <p:cNvSpPr>
            <a:spLocks noChangeAspect="1"/>
          </p:cNvSpPr>
          <p:nvPr/>
        </p:nvSpPr>
        <p:spPr>
          <a:xfrm>
            <a:off x="1912843" y="1667674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5" name="Rectangle 135"/>
          <p:cNvSpPr/>
          <p:nvPr/>
        </p:nvSpPr>
        <p:spPr>
          <a:xfrm>
            <a:off x="2091500" y="1736116"/>
            <a:ext cx="1577675" cy="2073697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aphicFrame>
        <p:nvGraphicFramePr>
          <p:cNvPr id="156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1003151"/>
              </p:ext>
            </p:extLst>
          </p:nvPr>
        </p:nvGraphicFramePr>
        <p:xfrm>
          <a:off x="9274474" y="745639"/>
          <a:ext cx="2892502" cy="1873336"/>
        </p:xfrm>
        <a:graphic>
          <a:graphicData uri="http://schemas.openxmlformats.org/drawingml/2006/table">
            <a:tbl>
              <a:tblPr/>
              <a:tblGrid>
                <a:gridCol w="21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6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1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b="1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그룹명</a:t>
                      </a:r>
                      <a:r>
                        <a:rPr lang="ko-KR" altLang="en-US" sz="800" b="1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 </a:t>
                      </a:r>
                      <a:endParaRPr lang="en-US" altLang="ko-KR" sz="800" b="1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  <a:p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Nanum Gothic" charset="-127"/>
                        </a:rPr>
                        <a:t>내 그룹에 속해 있는 그룹 명 모두 노출</a:t>
                      </a:r>
                      <a:endParaRPr lang="en-US" altLang="ko-KR" sz="8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Nanum Gothic" charset="-127"/>
                      </a:endParaRPr>
                    </a:p>
                  </a:txBody>
                  <a:tcPr marL="18000" marR="18000" marT="50800" marB="5080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2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b="1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 그룹 목록 표시 여부</a:t>
                      </a:r>
                      <a:endParaRPr kumimoji="1" lang="en-US" altLang="ko-KR" sz="800" b="1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8900" marR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선택 시 종료된 </a:t>
                      </a:r>
                      <a:r>
                        <a:rPr kumimoji="1"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LNB</a:t>
                      </a: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숨김 처리 됨 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88900" marR="0" indent="-793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pitchFamily="34" charset="0"/>
                        <a:buChar char="•"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숨김에 선택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되어져 있을 경우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재시작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 비활성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3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kumimoji="1"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그룹을 삭제하시면 그룹 내 모든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컨텐츠도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삭제 됩니다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삭제 하시겠어요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?’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노출</a:t>
                      </a:r>
                      <a:endParaRPr kumimoji="1"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dirty="0" smtClean="0">
                          <a:latin typeface="+mj-ea"/>
                          <a:ea typeface="+mj-ea"/>
                          <a:cs typeface="Nanum Gothic" charset="-127"/>
                        </a:rPr>
                        <a:t>4</a:t>
                      </a:r>
                      <a:endParaRPr sz="800" dirty="0">
                        <a:latin typeface="+mj-ea"/>
                        <a:ea typeface="+mj-ea"/>
                        <a:cs typeface="Nanum Gothic" charset="-127"/>
                      </a:endParaRPr>
                    </a:p>
                  </a:txBody>
                  <a:tcPr marL="36000" marR="18000" marT="50800" marB="508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재시작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111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Arial" charset="0"/>
                        <a:buNone/>
                        <a:tabLst/>
                        <a:defRPr sz="2000"/>
                      </a:pPr>
                      <a:r>
                        <a:rPr kumimoji="1"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그룹을 </a:t>
                      </a:r>
                      <a:r>
                        <a:rPr kumimoji="1" lang="ko-KR" altLang="en-US" sz="8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재시작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하시겠습니까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r>
                        <a:rPr kumimoji="1" lang="en-US" altLang="ko-KR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</a:t>
                      </a:r>
                      <a:endParaRPr 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800" marR="50800" marT="50800" marB="50800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7" name="타원 156"/>
          <p:cNvSpPr>
            <a:spLocks noChangeAspect="1"/>
          </p:cNvSpPr>
          <p:nvPr/>
        </p:nvSpPr>
        <p:spPr>
          <a:xfrm>
            <a:off x="7139359" y="146844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8" name="타원 157"/>
          <p:cNvSpPr>
            <a:spLocks noChangeAspect="1"/>
          </p:cNvSpPr>
          <p:nvPr/>
        </p:nvSpPr>
        <p:spPr>
          <a:xfrm>
            <a:off x="7830823" y="172707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7228725" y="2085736"/>
            <a:ext cx="108000" cy="108000"/>
            <a:chOff x="7228725" y="2085736"/>
            <a:chExt cx="108000" cy="108000"/>
          </a:xfrm>
        </p:grpSpPr>
        <p:sp>
          <p:nvSpPr>
            <p:cNvPr id="160" name="Rounded Rectangle 295"/>
            <p:cNvSpPr>
              <a:spLocks noChangeAspect="1"/>
            </p:cNvSpPr>
            <p:nvPr/>
          </p:nvSpPr>
          <p:spPr>
            <a:xfrm>
              <a:off x="7228725" y="2085736"/>
              <a:ext cx="108000" cy="108000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>
                <a:latin typeface="+mn-ea"/>
                <a:ea typeface="+mn-ea"/>
              </a:endParaRPr>
            </a:p>
          </p:txBody>
        </p:sp>
        <p:sp>
          <p:nvSpPr>
            <p:cNvPr id="161" name="자유형 160"/>
            <p:cNvSpPr>
              <a:spLocks noChangeAspect="1"/>
            </p:cNvSpPr>
            <p:nvPr/>
          </p:nvSpPr>
          <p:spPr>
            <a:xfrm>
              <a:off x="7237688" y="2101285"/>
              <a:ext cx="90000" cy="73034"/>
            </a:xfrm>
            <a:custGeom>
              <a:avLst/>
              <a:gdLst>
                <a:gd name="connsiteX0" fmla="*/ 0 w 190500"/>
                <a:gd name="connsiteY0" fmla="*/ 95250 h 209550"/>
                <a:gd name="connsiteX1" fmla="*/ 76200 w 190500"/>
                <a:gd name="connsiteY1" fmla="*/ 209550 h 209550"/>
                <a:gd name="connsiteX2" fmla="*/ 190500 w 190500"/>
                <a:gd name="connsiteY2" fmla="*/ 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209550">
                  <a:moveTo>
                    <a:pt x="0" y="95250"/>
                  </a:moveTo>
                  <a:lnTo>
                    <a:pt x="76200" y="209550"/>
                  </a:lnTo>
                  <a:lnTo>
                    <a:pt x="190500" y="0"/>
                  </a:lnTo>
                </a:path>
              </a:pathLst>
            </a:custGeom>
            <a:noFill/>
            <a:ln w="12700">
              <a:solidFill>
                <a:schemeClr val="bg1"/>
              </a:solidFill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</p:grpSp>
      <p:sp>
        <p:nvSpPr>
          <p:cNvPr id="162" name="타원 161"/>
          <p:cNvSpPr>
            <a:spLocks noChangeAspect="1"/>
          </p:cNvSpPr>
          <p:nvPr/>
        </p:nvSpPr>
        <p:spPr>
          <a:xfrm>
            <a:off x="8642489" y="1727075"/>
            <a:ext cx="178657" cy="18000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/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제목 3"/>
          <p:cNvSpPr txBox="1">
            <a:spLocks/>
          </p:cNvSpPr>
          <p:nvPr/>
        </p:nvSpPr>
        <p:spPr>
          <a:xfrm>
            <a:off x="1229631" y="80730"/>
            <a:ext cx="3050317" cy="198000"/>
          </a:xfrm>
          <a:prstGeom prst="rect">
            <a:avLst/>
          </a:prstGeom>
        </p:spPr>
        <p:txBody>
          <a:bodyPr/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5pPr>
            <a:lvl6pPr marL="495285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6pPr>
            <a:lvl7pPr marL="990570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7pPr>
            <a:lvl8pPr marL="1485854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8pPr>
            <a:lvl9pPr marL="1981139" algn="l" rtl="0" fontAlgn="base" latinLnBrk="1">
              <a:spcBef>
                <a:spcPct val="0"/>
              </a:spcBef>
              <a:spcAft>
                <a:spcPct val="0"/>
              </a:spcAft>
              <a:defRPr sz="867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</a:defRPr>
            </a:lvl9pPr>
          </a:lstStyle>
          <a:p>
            <a:r>
              <a:rPr kumimoji="0" lang="ko-KR" altLang="en-US" smtClean="0"/>
              <a:t>종료그룹 관리</a:t>
            </a:r>
            <a:endParaRPr kumimoji="0" lang="ko-KR" altLang="en-US" dirty="0"/>
          </a:p>
        </p:txBody>
      </p:sp>
      <p:sp>
        <p:nvSpPr>
          <p:cNvPr id="101" name="내용 개체 틀 231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SQ5.7.2.1</a:t>
            </a:r>
            <a:endParaRPr kumimoji="0" lang="ko-KR" altLang="en-US" dirty="0"/>
          </a:p>
        </p:txBody>
      </p:sp>
      <p:sp>
        <p:nvSpPr>
          <p:cNvPr id="102" name="내용 개체 틀 2"/>
          <p:cNvSpPr txBox="1">
            <a:spLocks/>
          </p:cNvSpPr>
          <p:nvPr/>
        </p:nvSpPr>
        <p:spPr>
          <a:xfrm>
            <a:off x="5432670" y="80730"/>
            <a:ext cx="3724711" cy="1908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ko-KR" altLang="en-US" smtClean="0"/>
              <a:t>설정 </a:t>
            </a:r>
            <a:r>
              <a:rPr kumimoji="0" lang="en-US" altLang="ko-KR" smtClean="0"/>
              <a:t>&gt; </a:t>
            </a:r>
            <a:r>
              <a:rPr kumimoji="0" lang="ko-KR" altLang="en-US" smtClean="0"/>
              <a:t>종료그룹 관리</a:t>
            </a:r>
            <a:endParaRPr kumimoji="0" lang="ko-KR" altLang="en-US" dirty="0"/>
          </a:p>
        </p:txBody>
      </p:sp>
      <p:sp>
        <p:nvSpPr>
          <p:cNvPr id="99" name="TextBox 98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1895475" y="371475"/>
            <a:ext cx="3267075" cy="266700"/>
          </a:xfrm>
          <a:prstGeom prst="rect">
            <a:avLst/>
          </a:prstGeom>
          <a:solidFill>
            <a:schemeClr val="bg1">
              <a:alpha val="88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552975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6324" y="3800476"/>
            <a:ext cx="3638550" cy="2519866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6324" y="880560"/>
            <a:ext cx="3638550" cy="2519866"/>
          </a:xfrm>
          <a:prstGeom prst="rect">
            <a:avLst/>
          </a:prstGeom>
        </p:spPr>
      </p:pic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57801" y="1557591"/>
            <a:ext cx="5549204" cy="3843083"/>
          </a:xfrm>
          <a:prstGeom prst="rect">
            <a:avLst/>
          </a:prstGeom>
        </p:spPr>
      </p:pic>
      <p:sp>
        <p:nvSpPr>
          <p:cNvPr id="6" name="직사각형 5"/>
          <p:cNvSpPr/>
          <p:nvPr/>
        </p:nvSpPr>
        <p:spPr>
          <a:xfrm>
            <a:off x="6372225" y="1790701"/>
            <a:ext cx="4391025" cy="35623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" name="직선 연결선[R] 7"/>
          <p:cNvCxnSpPr/>
          <p:nvPr/>
        </p:nvCxnSpPr>
        <p:spPr>
          <a:xfrm>
            <a:off x="6408356" y="2043522"/>
            <a:ext cx="371321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8" name="텍스트 상자 31"/>
          <p:cNvSpPr txBox="1"/>
          <p:nvPr/>
        </p:nvSpPr>
        <p:spPr>
          <a:xfrm>
            <a:off x="6451432" y="1873642"/>
            <a:ext cx="1983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700" b="1" smtClean="0">
                <a:latin typeface="+mn-ea"/>
                <a:ea typeface="+mn-ea"/>
              </a:rPr>
              <a:t>태그 </a:t>
            </a:r>
            <a:r>
              <a:rPr kumimoji="1" lang="en-US" altLang="ko-KR" sz="700" b="1" smtClean="0">
                <a:latin typeface="+mn-ea"/>
                <a:ea typeface="+mn-ea"/>
              </a:rPr>
              <a:t>: </a:t>
            </a:r>
            <a:r>
              <a:rPr kumimoji="1" lang="ko-KR" altLang="en-US" sz="700" b="1" smtClean="0">
                <a:latin typeface="+mn-ea"/>
                <a:ea typeface="+mn-ea"/>
              </a:rPr>
              <a:t>회식 </a:t>
            </a:r>
            <a:r>
              <a:rPr kumimoji="1" lang="en-US" altLang="ko-KR" sz="7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2</a:t>
            </a:r>
            <a:r>
              <a:rPr kumimoji="1" lang="ko-KR" altLang="en-US" sz="600" b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건</a:t>
            </a:r>
            <a:endParaRPr kumimoji="1" lang="ko-KR" altLang="en-US" sz="600" b="1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495924" y="2762251"/>
            <a:ext cx="847726" cy="1650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A </a:t>
            </a:r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통신사 서비스 </a:t>
            </a:r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</a:t>
            </a:r>
            <a:endParaRPr lang="ko-KR" alt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47675" y="647700"/>
            <a:ext cx="62253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메인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447675" y="3581400"/>
            <a:ext cx="62253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스퀘어 그룹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5267325" y="5495925"/>
            <a:ext cx="3976016" cy="47281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lvl="0"/>
            <a:r>
              <a: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메인 또는 그룹별 컨텐츠내 태그 클릭시 출력되는 태그 검색 결과 화면으로 </a:t>
            </a:r>
            <a:endParaRPr lang="en-US" altLang="ko-KR" sz="900" b="1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  <a:p>
            <a:pPr lvl="0"/>
            <a:r>
              <a:rPr lang="ko-KR" altLang="en-US" sz="9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메인</a:t>
            </a: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, </a:t>
            </a:r>
            <a:r>
              <a: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그룹별 상관없이 전체에 대한 검색 결과화면으로 출력</a:t>
            </a:r>
          </a:p>
          <a:p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214750" y="158234"/>
            <a:ext cx="96532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400" b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태그 검색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3" name="직선 화살표 연결선 22"/>
          <p:cNvCxnSpPr/>
          <p:nvPr/>
        </p:nvCxnSpPr>
        <p:spPr>
          <a:xfrm>
            <a:off x="4248150" y="2333625"/>
            <a:ext cx="847725" cy="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/>
          <p:cNvCxnSpPr/>
          <p:nvPr/>
        </p:nvCxnSpPr>
        <p:spPr>
          <a:xfrm>
            <a:off x="4248150" y="4733925"/>
            <a:ext cx="847725" cy="0"/>
          </a:xfrm>
          <a:prstGeom prst="straightConnector1">
            <a:avLst/>
          </a:prstGeom>
          <a:ln>
            <a:solidFill>
              <a:schemeClr val="tx1">
                <a:lumMod val="95000"/>
                <a:lumOff val="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969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98"/>
          <p:cNvSpPr/>
          <p:nvPr/>
        </p:nvSpPr>
        <p:spPr>
          <a:xfrm>
            <a:off x="429108" y="688668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8" name="Rectangle 14"/>
          <p:cNvSpPr>
            <a:spLocks/>
          </p:cNvSpPr>
          <p:nvPr/>
        </p:nvSpPr>
        <p:spPr bwMode="auto">
          <a:xfrm>
            <a:off x="540257" y="811730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9" name="Rectangle 647"/>
          <p:cNvSpPr/>
          <p:nvPr/>
        </p:nvSpPr>
        <p:spPr>
          <a:xfrm>
            <a:off x="728031" y="820143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0" name="Group 660"/>
          <p:cNvGrpSpPr/>
          <p:nvPr/>
        </p:nvGrpSpPr>
        <p:grpSpPr>
          <a:xfrm>
            <a:off x="442136" y="6353225"/>
            <a:ext cx="1404000" cy="246628"/>
            <a:chOff x="785281" y="6952264"/>
            <a:chExt cx="1404000" cy="246628"/>
          </a:xfrm>
        </p:grpSpPr>
        <p:sp>
          <p:nvSpPr>
            <p:cNvPr id="50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1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2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직선 연결선[R] 33"/>
          <p:cNvCxnSpPr/>
          <p:nvPr/>
        </p:nvCxnSpPr>
        <p:spPr>
          <a:xfrm>
            <a:off x="441599" y="5626756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텍스트 상자 31"/>
          <p:cNvSpPr txBox="1"/>
          <p:nvPr/>
        </p:nvSpPr>
        <p:spPr>
          <a:xfrm>
            <a:off x="616688" y="5428217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3" name="텍스트 상자 31"/>
          <p:cNvSpPr txBox="1"/>
          <p:nvPr/>
        </p:nvSpPr>
        <p:spPr>
          <a:xfrm>
            <a:off x="616688" y="5227329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6" name="텍스트 상자 31"/>
          <p:cNvSpPr txBox="1"/>
          <p:nvPr/>
        </p:nvSpPr>
        <p:spPr>
          <a:xfrm>
            <a:off x="616688" y="216711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7" name="직선 연결선[R] 33"/>
          <p:cNvCxnSpPr/>
          <p:nvPr/>
        </p:nvCxnSpPr>
        <p:spPr>
          <a:xfrm>
            <a:off x="436076" y="2096373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24"/>
          <p:cNvSpPr>
            <a:spLocks noChangeArrowheads="1"/>
          </p:cNvSpPr>
          <p:nvPr/>
        </p:nvSpPr>
        <p:spPr bwMode="auto">
          <a:xfrm>
            <a:off x="503575" y="219167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9" name="직선 연결선[R] 33"/>
          <p:cNvCxnSpPr/>
          <p:nvPr/>
        </p:nvCxnSpPr>
        <p:spPr>
          <a:xfrm>
            <a:off x="436076" y="2336275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텍스트 상자 31"/>
          <p:cNvSpPr txBox="1"/>
          <p:nvPr/>
        </p:nvSpPr>
        <p:spPr>
          <a:xfrm>
            <a:off x="724338" y="2755742"/>
            <a:ext cx="8119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2" name="텍스트 상자 31"/>
          <p:cNvSpPr txBox="1"/>
          <p:nvPr/>
        </p:nvSpPr>
        <p:spPr>
          <a:xfrm>
            <a:off x="724338" y="2583715"/>
            <a:ext cx="8449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3" name="직선 연결선[R] 33"/>
          <p:cNvCxnSpPr/>
          <p:nvPr/>
        </p:nvCxnSpPr>
        <p:spPr>
          <a:xfrm>
            <a:off x="436076" y="511933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텍스트 상자 31"/>
          <p:cNvSpPr txBox="1"/>
          <p:nvPr/>
        </p:nvSpPr>
        <p:spPr>
          <a:xfrm>
            <a:off x="622748" y="1212749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436685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66062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622748" y="188455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47497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5244" y="364154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2" name="텍스트 상자 31"/>
          <p:cNvSpPr txBox="1"/>
          <p:nvPr/>
        </p:nvSpPr>
        <p:spPr>
          <a:xfrm>
            <a:off x="736967" y="326788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Freeform 24"/>
          <p:cNvSpPr>
            <a:spLocks noChangeArrowheads="1"/>
          </p:cNvSpPr>
          <p:nvPr/>
        </p:nvSpPr>
        <p:spPr bwMode="auto">
          <a:xfrm>
            <a:off x="618002" y="329888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4" name="텍스트 상자 31"/>
          <p:cNvSpPr txBox="1"/>
          <p:nvPr/>
        </p:nvSpPr>
        <p:spPr>
          <a:xfrm>
            <a:off x="616688" y="300534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5" name="직선 연결선[R] 33"/>
          <p:cNvCxnSpPr/>
          <p:nvPr/>
        </p:nvCxnSpPr>
        <p:spPr>
          <a:xfrm>
            <a:off x="436076" y="2934610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Freeform 24"/>
          <p:cNvSpPr>
            <a:spLocks noChangeArrowheads="1"/>
          </p:cNvSpPr>
          <p:nvPr/>
        </p:nvSpPr>
        <p:spPr bwMode="auto">
          <a:xfrm>
            <a:off x="503575" y="302991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7" name="직선 연결선[R] 33"/>
          <p:cNvCxnSpPr/>
          <p:nvPr/>
        </p:nvCxnSpPr>
        <p:spPr>
          <a:xfrm>
            <a:off x="436076" y="3174512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8" name="Group 404"/>
          <p:cNvGrpSpPr/>
          <p:nvPr/>
        </p:nvGrpSpPr>
        <p:grpSpPr>
          <a:xfrm>
            <a:off x="1536238" y="2965950"/>
            <a:ext cx="221965" cy="169277"/>
            <a:chOff x="1879383" y="5177290"/>
            <a:chExt cx="221965" cy="169277"/>
          </a:xfrm>
        </p:grpSpPr>
        <p:sp>
          <p:nvSpPr>
            <p:cNvPr id="48" name="TextBox 47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9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9" name="텍스트 상자 31"/>
          <p:cNvSpPr txBox="1"/>
          <p:nvPr/>
        </p:nvSpPr>
        <p:spPr>
          <a:xfrm>
            <a:off x="735244" y="402757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5244" y="419414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1" name="텍스트 상자 31"/>
          <p:cNvSpPr txBox="1"/>
          <p:nvPr/>
        </p:nvSpPr>
        <p:spPr>
          <a:xfrm>
            <a:off x="736967" y="3820482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Freeform 24"/>
          <p:cNvSpPr>
            <a:spLocks noChangeArrowheads="1"/>
          </p:cNvSpPr>
          <p:nvPr/>
        </p:nvSpPr>
        <p:spPr bwMode="auto">
          <a:xfrm>
            <a:off x="618002" y="3851484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36128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755529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5244" y="492210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6" name="텍스트 상자 31"/>
          <p:cNvSpPr txBox="1"/>
          <p:nvPr/>
        </p:nvSpPr>
        <p:spPr>
          <a:xfrm>
            <a:off x="736967" y="4548440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7" name="Freeform 24"/>
          <p:cNvSpPr>
            <a:spLocks noChangeArrowheads="1"/>
          </p:cNvSpPr>
          <p:nvPr/>
        </p:nvSpPr>
        <p:spPr bwMode="auto">
          <a:xfrm>
            <a:off x="618002" y="457944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3297" y="2403184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1946107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900" b="1" smtClean="0">
                <a:latin typeface="+mn-ea"/>
                <a:ea typeface="+mn-ea"/>
              </a:rPr>
              <a:t>태그 </a:t>
            </a:r>
            <a:r>
              <a:rPr kumimoji="1" lang="en-US" altLang="ko-KR" sz="900" b="1" smtClean="0">
                <a:latin typeface="+mn-ea"/>
                <a:ea typeface="+mn-ea"/>
              </a:rPr>
              <a:t>: </a:t>
            </a:r>
            <a:r>
              <a:rPr kumimoji="1" lang="ko-KR" altLang="en-US" sz="900" b="1" smtClean="0">
                <a:latin typeface="+mn-ea"/>
                <a:ea typeface="+mn-ea"/>
              </a:rPr>
              <a:t>회식 </a:t>
            </a:r>
            <a:r>
              <a:rPr kumimoji="1" lang="en-US" altLang="ko-KR" sz="9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2</a:t>
            </a:r>
            <a:r>
              <a:rPr kumimoji="1" lang="ko-KR" altLang="en-US" sz="800" b="1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건</a:t>
            </a:r>
            <a:endParaRPr kumimoji="1" lang="ko-KR" altLang="en-US" sz="800" b="1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25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6027000"/>
              </p:ext>
            </p:extLst>
          </p:nvPr>
        </p:nvGraphicFramePr>
        <p:xfrm>
          <a:off x="9290533" y="786383"/>
          <a:ext cx="2835141" cy="1582775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태그명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57678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건수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60876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태그 검색은 전체 피드 대상 검색이므로 정의된 화면과 같은 유형으로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59993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Wingdings" panose="05000000000000000000" pitchFamily="2" charset="2"/>
                        <a:buNone/>
                        <a:tabLst>
                          <a:tab pos="0" algn="l"/>
                        </a:tabLst>
                        <a:defRPr sz="2000"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검색된 태그명 강조 처리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9017435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※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1113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Wingdings" panose="05000000000000000000" pitchFamily="2" charset="2"/>
                        <a:buNone/>
                        <a:tabLst>
                          <a:tab pos="0" algn="l"/>
                        </a:tabLst>
                        <a:defRPr sz="2000"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태그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출력시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LNB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메뉴 선택 포커싱은 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1113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75000"/>
                        <a:buFont typeface="Wingdings" panose="05000000000000000000" pitchFamily="2" charset="2"/>
                        <a:buNone/>
                        <a:tabLst>
                          <a:tab pos="0" algn="l"/>
                        </a:tabLst>
                        <a:defRPr sz="2000"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해제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6058904"/>
                  </a:ext>
                </a:extLst>
              </a:tr>
            </a:tbl>
          </a:graphicData>
        </a:graphic>
      </p:graphicFrame>
      <p:sp>
        <p:nvSpPr>
          <p:cNvPr id="266" name="Rectangle 300"/>
          <p:cNvSpPr/>
          <p:nvPr/>
        </p:nvSpPr>
        <p:spPr>
          <a:xfrm>
            <a:off x="1963622" y="1513381"/>
            <a:ext cx="4899220" cy="112531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67" name="텍스트 상자 31"/>
          <p:cNvSpPr txBox="1"/>
          <p:nvPr/>
        </p:nvSpPr>
        <p:spPr>
          <a:xfrm>
            <a:off x="2421281" y="1644722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68" name="그룹 400"/>
          <p:cNvGrpSpPr/>
          <p:nvPr/>
        </p:nvGrpSpPr>
        <p:grpSpPr>
          <a:xfrm>
            <a:off x="2078489" y="1634253"/>
            <a:ext cx="229236" cy="229194"/>
            <a:chOff x="2625629" y="3735853"/>
            <a:chExt cx="276891" cy="276839"/>
          </a:xfrm>
        </p:grpSpPr>
        <p:sp>
          <p:nvSpPr>
            <p:cNvPr id="269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70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71" name="텍스트 상자 31"/>
          <p:cNvSpPr txBox="1"/>
          <p:nvPr/>
        </p:nvSpPr>
        <p:spPr>
          <a:xfrm>
            <a:off x="2421281" y="1782579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72" name="텍스트 상자 31"/>
          <p:cNvSpPr txBox="1"/>
          <p:nvPr/>
        </p:nvSpPr>
        <p:spPr>
          <a:xfrm>
            <a:off x="2078489" y="1987652"/>
            <a:ext cx="3198684" cy="10772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다음 달 </a:t>
            </a:r>
            <a:r>
              <a:rPr kumimoji="1" lang="ko-KR" altLang="en-US" sz="700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회식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날짜를 정하려고 합니다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r>
              <a:rPr kumimoji="1"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 확인 후 댓글로 가능여부 남겨주세요</a:t>
            </a:r>
            <a:r>
              <a:rPr kumimoji="1"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!</a:t>
            </a:r>
            <a:endParaRPr kumimoji="1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73" name="Rectangle 306"/>
          <p:cNvSpPr/>
          <p:nvPr/>
        </p:nvSpPr>
        <p:spPr>
          <a:xfrm>
            <a:off x="1963622" y="2626128"/>
            <a:ext cx="4899220" cy="846704"/>
          </a:xfrm>
          <a:prstGeom prst="rect">
            <a:avLst/>
          </a:prstGeom>
          <a:solidFill>
            <a:srgbClr val="E7E7E7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74" name="Rounded Rectangle 308"/>
          <p:cNvSpPr/>
          <p:nvPr/>
        </p:nvSpPr>
        <p:spPr>
          <a:xfrm>
            <a:off x="2073149" y="2194658"/>
            <a:ext cx="292746" cy="127504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550" dirty="0" smtClean="0">
                <a:solidFill>
                  <a:srgbClr val="0000FF"/>
                </a:solidFill>
                <a:latin typeface="+mn-ea"/>
              </a:rPr>
              <a:t>회식</a:t>
            </a:r>
            <a:endParaRPr lang="en-US" sz="55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275" name="Rounded Rectangle 309"/>
          <p:cNvSpPr/>
          <p:nvPr/>
        </p:nvSpPr>
        <p:spPr>
          <a:xfrm>
            <a:off x="2432705" y="2194658"/>
            <a:ext cx="292746" cy="12750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76" name="직선 연결선[R] 33"/>
          <p:cNvCxnSpPr/>
          <p:nvPr/>
        </p:nvCxnSpPr>
        <p:spPr>
          <a:xfrm>
            <a:off x="2052284" y="2426770"/>
            <a:ext cx="4701155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77" name="Group 314"/>
          <p:cNvGrpSpPr/>
          <p:nvPr/>
        </p:nvGrpSpPr>
        <p:grpSpPr>
          <a:xfrm>
            <a:off x="2078489" y="3043071"/>
            <a:ext cx="1612396" cy="229194"/>
            <a:chOff x="2478168" y="4026446"/>
            <a:chExt cx="1612396" cy="229194"/>
          </a:xfrm>
        </p:grpSpPr>
        <p:sp>
          <p:nvSpPr>
            <p:cNvPr id="278" name="텍스트 상자 31"/>
            <p:cNvSpPr txBox="1"/>
            <p:nvPr/>
          </p:nvSpPr>
          <p:spPr>
            <a:xfrm>
              <a:off x="2820960" y="4029438"/>
              <a:ext cx="1269604" cy="2215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박현주</a:t>
              </a:r>
            </a:p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너무 좋네요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~</a:t>
              </a:r>
              <a:r>
                <a:rPr kumimoji="1" lang="ko-KR" altLang="en-US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수고하셨어요</a:t>
              </a:r>
              <a:r>
                <a:rPr kumimoji="1" lang="en-US" altLang="ko-KR" sz="6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!</a:t>
              </a:r>
              <a:endParaRPr kumimoji="1" lang="ko-KR" altLang="en-US" sz="6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79" name="그룹 400"/>
            <p:cNvGrpSpPr/>
            <p:nvPr/>
          </p:nvGrpSpPr>
          <p:grpSpPr>
            <a:xfrm>
              <a:off x="2478168" y="4026446"/>
              <a:ext cx="229236" cy="229194"/>
              <a:chOff x="2625629" y="3735853"/>
              <a:chExt cx="276891" cy="276839"/>
            </a:xfrm>
          </p:grpSpPr>
          <p:sp>
            <p:nvSpPr>
              <p:cNvPr id="284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85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80" name="텍스트 상자 31"/>
            <p:cNvSpPr txBox="1"/>
            <p:nvPr/>
          </p:nvSpPr>
          <p:spPr>
            <a:xfrm>
              <a:off x="3102626" y="4029437"/>
              <a:ext cx="598778" cy="1108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30</a:t>
              </a:r>
              <a:r>
                <a:rPr kumimoji="1" lang="ko-KR" altLang="en-US" sz="6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분전</a:t>
              </a:r>
              <a:endParaRPr kumimoji="1" lang="ko-KR" altLang="en-US" sz="600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86" name="Rectangle 321"/>
          <p:cNvSpPr/>
          <p:nvPr/>
        </p:nvSpPr>
        <p:spPr>
          <a:xfrm>
            <a:off x="2064079" y="2702032"/>
            <a:ext cx="4262914" cy="198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88" name="텍스트 상자 31"/>
          <p:cNvSpPr txBox="1"/>
          <p:nvPr/>
        </p:nvSpPr>
        <p:spPr>
          <a:xfrm>
            <a:off x="2132955" y="2755756"/>
            <a:ext cx="767405" cy="9233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kumimoji="1" lang="ko-KR" altLang="en-US" sz="6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의견을 입력하세요</a:t>
            </a:r>
            <a:endParaRPr kumimoji="1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89" name="직선 연결선[R] 33"/>
          <p:cNvCxnSpPr/>
          <p:nvPr/>
        </p:nvCxnSpPr>
        <p:spPr>
          <a:xfrm>
            <a:off x="2052284" y="2955439"/>
            <a:ext cx="475036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0" name="Rectangle 319"/>
          <p:cNvSpPr/>
          <p:nvPr/>
        </p:nvSpPr>
        <p:spPr>
          <a:xfrm>
            <a:off x="1963622" y="3342324"/>
            <a:ext cx="4899220" cy="12592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500" b="1" u="sng" dirty="0">
                <a:solidFill>
                  <a:prstClr val="white"/>
                </a:solidFill>
                <a:latin typeface="맑은 고딕" panose="020B0503020000020004" pitchFamily="50" charset="-127"/>
              </a:rPr>
              <a:t>전체 </a:t>
            </a:r>
            <a:r>
              <a:rPr lang="ko-KR" altLang="en-US" sz="500" b="1" u="sng" dirty="0" err="1">
                <a:solidFill>
                  <a:prstClr val="white"/>
                </a:solidFill>
                <a:latin typeface="맑은 고딕" panose="020B0503020000020004" pitchFamily="50" charset="-127"/>
              </a:rPr>
              <a:t>댓글</a:t>
            </a:r>
            <a:r>
              <a:rPr lang="ko-KR" altLang="en-US" sz="500" b="1" u="sng" dirty="0">
                <a:solidFill>
                  <a:prstClr val="white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500" b="1" u="sng" dirty="0" smtClean="0">
                <a:solidFill>
                  <a:prstClr val="white"/>
                </a:solidFill>
                <a:latin typeface="맑은 고딕" panose="020B0503020000020004" pitchFamily="50" charset="-127"/>
              </a:rPr>
              <a:t>보기</a:t>
            </a:r>
            <a:endParaRPr lang="ko-KR" altLang="en-US" sz="500" b="1" u="sng" dirty="0">
              <a:solidFill>
                <a:prstClr val="white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1" name="Rectangle 439"/>
          <p:cNvSpPr/>
          <p:nvPr/>
        </p:nvSpPr>
        <p:spPr>
          <a:xfrm>
            <a:off x="1963622" y="1199722"/>
            <a:ext cx="4899220" cy="2882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03" name="텍스트 상자 31"/>
          <p:cNvSpPr txBox="1"/>
          <p:nvPr/>
        </p:nvSpPr>
        <p:spPr>
          <a:xfrm>
            <a:off x="2081677" y="1289962"/>
            <a:ext cx="1904107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UX</a:t>
            </a:r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 개선</a:t>
            </a:r>
            <a:endParaRPr kumimoji="1"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04" name="Freeform 14"/>
          <p:cNvSpPr>
            <a:spLocks noChangeArrowheads="1"/>
          </p:cNvSpPr>
          <p:nvPr/>
        </p:nvSpPr>
        <p:spPr bwMode="auto">
          <a:xfrm rot="5400000">
            <a:off x="6583585" y="1316332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05" name="Freeform 25"/>
          <p:cNvSpPr>
            <a:spLocks noChangeAspect="1" noEditPoints="1"/>
          </p:cNvSpPr>
          <p:nvPr/>
        </p:nvSpPr>
        <p:spPr bwMode="auto">
          <a:xfrm>
            <a:off x="6392128" y="1633649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06" name="Freeform 26"/>
          <p:cNvSpPr>
            <a:spLocks noChangeAspect="1" noChangeArrowheads="1"/>
          </p:cNvSpPr>
          <p:nvPr/>
        </p:nvSpPr>
        <p:spPr bwMode="auto">
          <a:xfrm flipH="1">
            <a:off x="6583650" y="1643237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316" name="Rounded Rectangle 616"/>
          <p:cNvSpPr/>
          <p:nvPr/>
        </p:nvSpPr>
        <p:spPr>
          <a:xfrm>
            <a:off x="6379294" y="2710294"/>
            <a:ext cx="360000" cy="18000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 smtClean="0"/>
              <a:t>등록</a:t>
            </a:r>
            <a:endParaRPr lang="en-US" sz="700" b="1" dirty="0"/>
          </a:p>
        </p:txBody>
      </p:sp>
      <p:sp>
        <p:nvSpPr>
          <p:cNvPr id="317" name="Freeform 17"/>
          <p:cNvSpPr>
            <a:spLocks noChangeArrowheads="1"/>
          </p:cNvSpPr>
          <p:nvPr/>
        </p:nvSpPr>
        <p:spPr bwMode="auto">
          <a:xfrm>
            <a:off x="5951279" y="2744624"/>
            <a:ext cx="125954" cy="125954"/>
          </a:xfrm>
          <a:custGeom>
            <a:avLst/>
            <a:gdLst>
              <a:gd name="T0" fmla="*/ 403 w 404"/>
              <a:gd name="T1" fmla="*/ 360 h 404"/>
              <a:gd name="T2" fmla="*/ 403 w 404"/>
              <a:gd name="T3" fmla="*/ 43 h 404"/>
              <a:gd name="T4" fmla="*/ 360 w 404"/>
              <a:gd name="T5" fmla="*/ 0 h 404"/>
              <a:gd name="T6" fmla="*/ 47 w 404"/>
              <a:gd name="T7" fmla="*/ 0 h 404"/>
              <a:gd name="T8" fmla="*/ 0 w 404"/>
              <a:gd name="T9" fmla="*/ 43 h 404"/>
              <a:gd name="T10" fmla="*/ 0 w 404"/>
              <a:gd name="T11" fmla="*/ 360 h 404"/>
              <a:gd name="T12" fmla="*/ 47 w 404"/>
              <a:gd name="T13" fmla="*/ 403 h 404"/>
              <a:gd name="T14" fmla="*/ 360 w 404"/>
              <a:gd name="T15" fmla="*/ 403 h 404"/>
              <a:gd name="T16" fmla="*/ 403 w 404"/>
              <a:gd name="T17" fmla="*/ 360 h 404"/>
              <a:gd name="T18" fmla="*/ 124 w 404"/>
              <a:gd name="T19" fmla="*/ 236 h 404"/>
              <a:gd name="T20" fmla="*/ 180 w 404"/>
              <a:gd name="T21" fmla="*/ 304 h 404"/>
              <a:gd name="T22" fmla="*/ 257 w 404"/>
              <a:gd name="T23" fmla="*/ 201 h 404"/>
              <a:gd name="T24" fmla="*/ 360 w 404"/>
              <a:gd name="T25" fmla="*/ 334 h 404"/>
              <a:gd name="T26" fmla="*/ 47 w 404"/>
              <a:gd name="T27" fmla="*/ 334 h 404"/>
              <a:gd name="T28" fmla="*/ 124 w 404"/>
              <a:gd name="T29" fmla="*/ 23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4" h="404">
                <a:moveTo>
                  <a:pt x="403" y="360"/>
                </a:moveTo>
                <a:lnTo>
                  <a:pt x="403" y="43"/>
                </a:lnTo>
                <a:cubicBezTo>
                  <a:pt x="403" y="21"/>
                  <a:pt x="386" y="0"/>
                  <a:pt x="360" y="0"/>
                </a:cubicBezTo>
                <a:lnTo>
                  <a:pt x="47" y="0"/>
                </a:lnTo>
                <a:cubicBezTo>
                  <a:pt x="22" y="0"/>
                  <a:pt x="0" y="21"/>
                  <a:pt x="0" y="43"/>
                </a:cubicBezTo>
                <a:lnTo>
                  <a:pt x="0" y="360"/>
                </a:lnTo>
                <a:cubicBezTo>
                  <a:pt x="0" y="381"/>
                  <a:pt x="22" y="403"/>
                  <a:pt x="47" y="403"/>
                </a:cubicBezTo>
                <a:lnTo>
                  <a:pt x="360" y="403"/>
                </a:lnTo>
                <a:cubicBezTo>
                  <a:pt x="386" y="403"/>
                  <a:pt x="403" y="381"/>
                  <a:pt x="403" y="360"/>
                </a:cubicBezTo>
                <a:close/>
                <a:moveTo>
                  <a:pt x="124" y="236"/>
                </a:moveTo>
                <a:lnTo>
                  <a:pt x="180" y="304"/>
                </a:lnTo>
                <a:lnTo>
                  <a:pt x="257" y="201"/>
                </a:lnTo>
                <a:lnTo>
                  <a:pt x="360" y="334"/>
                </a:lnTo>
                <a:lnTo>
                  <a:pt x="47" y="334"/>
                </a:lnTo>
                <a:lnTo>
                  <a:pt x="124" y="2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pic>
        <p:nvPicPr>
          <p:cNvPr id="318" name="Picture 2" descr="C:\Users\Administrator\Downloads\paperclip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7300" y="2744624"/>
            <a:ext cx="125954" cy="1259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0" name="그룹 319"/>
          <p:cNvGrpSpPr/>
          <p:nvPr/>
        </p:nvGrpSpPr>
        <p:grpSpPr>
          <a:xfrm>
            <a:off x="2063871" y="2462215"/>
            <a:ext cx="927446" cy="115755"/>
            <a:chOff x="2063871" y="2807721"/>
            <a:chExt cx="927446" cy="115755"/>
          </a:xfrm>
        </p:grpSpPr>
        <p:grpSp>
          <p:nvGrpSpPr>
            <p:cNvPr id="321" name="그룹 320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23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25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32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33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26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27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28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29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30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31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24" name="그림 323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22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4" name="그룹 333"/>
          <p:cNvGrpSpPr/>
          <p:nvPr/>
        </p:nvGrpSpPr>
        <p:grpSpPr>
          <a:xfrm>
            <a:off x="1963622" y="3560463"/>
            <a:ext cx="4899220" cy="2273110"/>
            <a:chOff x="1963622" y="1199722"/>
            <a:chExt cx="4899220" cy="2273110"/>
          </a:xfrm>
        </p:grpSpPr>
        <p:sp>
          <p:nvSpPr>
            <p:cNvPr id="363" name="Rectangle 300"/>
            <p:cNvSpPr/>
            <p:nvPr/>
          </p:nvSpPr>
          <p:spPr>
            <a:xfrm>
              <a:off x="1963622" y="1513381"/>
              <a:ext cx="4899220" cy="11253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64" name="텍스트 상자 31"/>
            <p:cNvSpPr txBox="1"/>
            <p:nvPr/>
          </p:nvSpPr>
          <p:spPr>
            <a:xfrm>
              <a:off x="2421281" y="164472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김민수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65" name="그룹 400"/>
            <p:cNvGrpSpPr/>
            <p:nvPr/>
          </p:nvGrpSpPr>
          <p:grpSpPr>
            <a:xfrm>
              <a:off x="2078489" y="1634253"/>
              <a:ext cx="229236" cy="229194"/>
              <a:chOff x="2625629" y="3735853"/>
              <a:chExt cx="276891" cy="276839"/>
            </a:xfrm>
          </p:grpSpPr>
          <p:sp>
            <p:nvSpPr>
              <p:cNvPr id="421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422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66" name="텍스트 상자 31"/>
            <p:cNvSpPr txBox="1"/>
            <p:nvPr/>
          </p:nvSpPr>
          <p:spPr>
            <a:xfrm>
              <a:off x="2421281" y="178257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67" name="텍스트 상자 31"/>
            <p:cNvSpPr txBox="1"/>
            <p:nvPr/>
          </p:nvSpPr>
          <p:spPr>
            <a:xfrm>
              <a:off x="2078489" y="1987652"/>
              <a:ext cx="319868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다음 달 </a:t>
              </a:r>
              <a:r>
                <a:rPr kumimoji="1" lang="ko-KR" altLang="en-US" sz="700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회식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날짜를 정하려고 합니다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일정 확인 후 댓글로 가능여부 남겨주세요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!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68" name="Rectangle 306"/>
            <p:cNvSpPr/>
            <p:nvPr/>
          </p:nvSpPr>
          <p:spPr>
            <a:xfrm>
              <a:off x="1963622" y="2626128"/>
              <a:ext cx="4899220" cy="846704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85" name="Rounded Rectangle 308"/>
            <p:cNvSpPr/>
            <p:nvPr/>
          </p:nvSpPr>
          <p:spPr>
            <a:xfrm>
              <a:off x="2073149" y="2194658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rgbClr val="FFFF00"/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550" dirty="0" smtClean="0">
                  <a:solidFill>
                    <a:srgbClr val="0000FF"/>
                  </a:solidFill>
                  <a:latin typeface="+mn-ea"/>
                </a:rPr>
                <a:t>회식</a:t>
              </a:r>
              <a:endParaRPr lang="en-US" sz="550" dirty="0">
                <a:solidFill>
                  <a:srgbClr val="0000FF"/>
                </a:solidFill>
                <a:latin typeface="+mn-ea"/>
              </a:endParaRPr>
            </a:p>
          </p:txBody>
        </p:sp>
        <p:sp>
          <p:nvSpPr>
            <p:cNvPr id="387" name="Rounded Rectangle 309"/>
            <p:cNvSpPr/>
            <p:nvPr/>
          </p:nvSpPr>
          <p:spPr>
            <a:xfrm>
              <a:off x="2432705" y="2194658"/>
              <a:ext cx="292746" cy="127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55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일정</a:t>
              </a:r>
              <a:endParaRPr lang="en-US" sz="5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cxnSp>
          <p:nvCxnSpPr>
            <p:cNvPr id="388" name="직선 연결선[R] 33"/>
            <p:cNvCxnSpPr/>
            <p:nvPr/>
          </p:nvCxnSpPr>
          <p:spPr>
            <a:xfrm>
              <a:off x="2052284" y="2426770"/>
              <a:ext cx="4701155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9" name="Group 314"/>
            <p:cNvGrpSpPr/>
            <p:nvPr/>
          </p:nvGrpSpPr>
          <p:grpSpPr>
            <a:xfrm>
              <a:off x="2078489" y="3043071"/>
              <a:ext cx="1612396" cy="229194"/>
              <a:chOff x="2478168" y="4026446"/>
              <a:chExt cx="1612396" cy="229194"/>
            </a:xfrm>
          </p:grpSpPr>
          <p:sp>
            <p:nvSpPr>
              <p:cNvPr id="416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417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419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420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418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90" name="Rectangle 321"/>
            <p:cNvSpPr/>
            <p:nvPr/>
          </p:nvSpPr>
          <p:spPr>
            <a:xfrm>
              <a:off x="2064079" y="2702032"/>
              <a:ext cx="4262914" cy="198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91" name="텍스트 상자 31"/>
            <p:cNvSpPr txBox="1"/>
            <p:nvPr/>
          </p:nvSpPr>
          <p:spPr>
            <a:xfrm>
              <a:off x="2132955" y="2755756"/>
              <a:ext cx="767405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r>
                <a:rPr kumimoji="1" lang="ko-KR" altLang="en-US" sz="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의견을 입력하세요</a:t>
              </a:r>
              <a:endParaRPr kumimoji="1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92" name="직선 연결선[R] 33"/>
            <p:cNvCxnSpPr/>
            <p:nvPr/>
          </p:nvCxnSpPr>
          <p:spPr>
            <a:xfrm>
              <a:off x="2052284" y="2955439"/>
              <a:ext cx="475036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93" name="Rectangle 319"/>
            <p:cNvSpPr/>
            <p:nvPr/>
          </p:nvSpPr>
          <p:spPr>
            <a:xfrm>
              <a:off x="1963622" y="3342324"/>
              <a:ext cx="4899220" cy="12592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500" b="1" u="sng" dirty="0">
                  <a:solidFill>
                    <a:prstClr val="white"/>
                  </a:solidFill>
                  <a:latin typeface="맑은 고딕" panose="020B0503020000020004" pitchFamily="50" charset="-127"/>
                </a:rPr>
                <a:t>전체 </a:t>
              </a:r>
              <a:r>
                <a:rPr lang="ko-KR" altLang="en-US" sz="500" b="1" u="sng" dirty="0" err="1">
                  <a:solidFill>
                    <a:prstClr val="white"/>
                  </a:solidFill>
                  <a:latin typeface="맑은 고딕" panose="020B0503020000020004" pitchFamily="50" charset="-127"/>
                </a:rPr>
                <a:t>댓글</a:t>
              </a:r>
              <a:r>
                <a:rPr lang="ko-KR" altLang="en-US" sz="500" b="1" u="sng" dirty="0">
                  <a:solidFill>
                    <a:prstClr val="white"/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500" b="1" u="sng" dirty="0" smtClean="0">
                  <a:solidFill>
                    <a:prstClr val="white"/>
                  </a:solidFill>
                  <a:latin typeface="맑은 고딕" panose="020B0503020000020004" pitchFamily="50" charset="-127"/>
                </a:rPr>
                <a:t>보기</a:t>
              </a:r>
              <a:endParaRPr lang="ko-KR" altLang="en-US" sz="500" b="1" u="sng" dirty="0">
                <a:solidFill>
                  <a:prstClr val="white"/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94" name="Rectangle 439"/>
            <p:cNvSpPr/>
            <p:nvPr/>
          </p:nvSpPr>
          <p:spPr>
            <a:xfrm>
              <a:off x="1963622" y="1199722"/>
              <a:ext cx="4899220" cy="2882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95" name="텍스트 상자 31"/>
            <p:cNvSpPr txBox="1"/>
            <p:nvPr/>
          </p:nvSpPr>
          <p:spPr>
            <a:xfrm>
              <a:off x="2081677" y="1289962"/>
              <a:ext cx="1904107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UX</a:t>
              </a:r>
              <a:r>
                <a:rPr kumimoji="1" lang="ko-KR" altLang="en-US" sz="7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 개선</a:t>
              </a:r>
              <a:endParaRPr kumimoji="1" lang="ko-KR" altLang="en-US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96" name="Freeform 14"/>
            <p:cNvSpPr>
              <a:spLocks noChangeArrowheads="1"/>
            </p:cNvSpPr>
            <p:nvPr/>
          </p:nvSpPr>
          <p:spPr bwMode="auto">
            <a:xfrm rot="5400000">
              <a:off x="6583585" y="1316332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97" name="Freeform 25"/>
            <p:cNvSpPr>
              <a:spLocks noChangeAspect="1" noEditPoints="1"/>
            </p:cNvSpPr>
            <p:nvPr/>
          </p:nvSpPr>
          <p:spPr bwMode="auto">
            <a:xfrm>
              <a:off x="6392128" y="1633649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398" name="Freeform 26"/>
            <p:cNvSpPr>
              <a:spLocks noChangeAspect="1" noChangeArrowheads="1"/>
            </p:cNvSpPr>
            <p:nvPr/>
          </p:nvSpPr>
          <p:spPr bwMode="auto">
            <a:xfrm flipH="1">
              <a:off x="6583650" y="1643237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99" name="Rounded Rectangle 616"/>
            <p:cNvSpPr/>
            <p:nvPr/>
          </p:nvSpPr>
          <p:spPr>
            <a:xfrm>
              <a:off x="6379294" y="2710294"/>
              <a:ext cx="360000" cy="180000"/>
            </a:xfrm>
            <a:prstGeom prst="round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b="1" dirty="0" smtClean="0"/>
                <a:t>등록</a:t>
              </a:r>
              <a:endParaRPr lang="en-US" sz="700" b="1" dirty="0"/>
            </a:p>
          </p:txBody>
        </p:sp>
        <p:sp>
          <p:nvSpPr>
            <p:cNvPr id="400" name="Freeform 17"/>
            <p:cNvSpPr>
              <a:spLocks noChangeArrowheads="1"/>
            </p:cNvSpPr>
            <p:nvPr/>
          </p:nvSpPr>
          <p:spPr bwMode="auto">
            <a:xfrm>
              <a:off x="5951279" y="2744624"/>
              <a:ext cx="125954" cy="125954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pic>
          <p:nvPicPr>
            <p:cNvPr id="401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300" y="2744624"/>
              <a:ext cx="125954" cy="125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02" name="그룹 401"/>
            <p:cNvGrpSpPr/>
            <p:nvPr/>
          </p:nvGrpSpPr>
          <p:grpSpPr>
            <a:xfrm>
              <a:off x="2063871" y="2462215"/>
              <a:ext cx="927446" cy="115755"/>
              <a:chOff x="2063871" y="2807721"/>
              <a:chExt cx="927446" cy="115755"/>
            </a:xfrm>
          </p:grpSpPr>
          <p:grpSp>
            <p:nvGrpSpPr>
              <p:cNvPr id="403" name="그룹 402"/>
              <p:cNvGrpSpPr/>
              <p:nvPr/>
            </p:nvGrpSpPr>
            <p:grpSpPr>
              <a:xfrm>
                <a:off x="2195181" y="2807721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405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407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414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415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408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409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410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411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412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413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406" name="그림 405"/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404" name="Freeform 739"/>
              <p:cNvSpPr>
                <a:spLocks noChangeAspect="1"/>
              </p:cNvSpPr>
              <p:nvPr/>
            </p:nvSpPr>
            <p:spPr>
              <a:xfrm>
                <a:off x="2063871" y="2822987"/>
                <a:ext cx="76920" cy="85196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2" name="TextBox 91"/>
          <p:cNvSpPr txBox="1"/>
          <p:nvPr/>
        </p:nvSpPr>
        <p:spPr>
          <a:xfrm>
            <a:off x="1247775" y="73840"/>
            <a:ext cx="784436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검색결과 </a:t>
            </a:r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: </a:t>
            </a:r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태그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5467350" y="73840"/>
            <a:ext cx="659402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검색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2276475" y="822419"/>
            <a:ext cx="238125" cy="177706"/>
          </a:xfrm>
          <a:prstGeom prst="roundRect">
            <a:avLst/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25" name="모서리가 둥근 직사각형 424"/>
          <p:cNvSpPr/>
          <p:nvPr/>
        </p:nvSpPr>
        <p:spPr>
          <a:xfrm>
            <a:off x="2542498" y="822419"/>
            <a:ext cx="238125" cy="177706"/>
          </a:xfrm>
          <a:prstGeom prst="roundRect">
            <a:avLst/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26" name="타원 425"/>
          <p:cNvSpPr>
            <a:spLocks noChangeAspect="1"/>
          </p:cNvSpPr>
          <p:nvPr/>
        </p:nvSpPr>
        <p:spPr>
          <a:xfrm>
            <a:off x="2209700" y="712282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7" name="타원 426"/>
          <p:cNvSpPr>
            <a:spLocks noChangeAspect="1"/>
          </p:cNvSpPr>
          <p:nvPr/>
        </p:nvSpPr>
        <p:spPr>
          <a:xfrm>
            <a:off x="2712890" y="712282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8" name="모서리가 둥근 직사각형 427"/>
          <p:cNvSpPr/>
          <p:nvPr/>
        </p:nvSpPr>
        <p:spPr>
          <a:xfrm>
            <a:off x="1942817" y="1169603"/>
            <a:ext cx="4944942" cy="2331088"/>
          </a:xfrm>
          <a:prstGeom prst="roundRect">
            <a:avLst>
              <a:gd name="adj" fmla="val 651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429" name="Rectangle 439"/>
          <p:cNvSpPr/>
          <p:nvPr/>
        </p:nvSpPr>
        <p:spPr>
          <a:xfrm>
            <a:off x="1963622" y="1199722"/>
            <a:ext cx="4899220" cy="288202"/>
          </a:xfrm>
          <a:prstGeom prst="rect">
            <a:avLst/>
          </a:prstGeom>
          <a:solidFill>
            <a:schemeClr val="tx1">
              <a:lumMod val="95000"/>
              <a:lumOff val="5000"/>
              <a:alpha val="51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smtClean="0">
                <a:latin typeface="+mn-ea"/>
              </a:rPr>
              <a:t>그룹명</a:t>
            </a:r>
            <a:endParaRPr lang="en-US" sz="1000">
              <a:latin typeface="+mn-ea"/>
            </a:endParaRPr>
          </a:p>
        </p:txBody>
      </p:sp>
      <p:sp>
        <p:nvSpPr>
          <p:cNvPr id="430" name="Rectangle 439"/>
          <p:cNvSpPr/>
          <p:nvPr/>
        </p:nvSpPr>
        <p:spPr>
          <a:xfrm>
            <a:off x="1963622" y="1517491"/>
            <a:ext cx="4899220" cy="1968309"/>
          </a:xfrm>
          <a:prstGeom prst="rect">
            <a:avLst/>
          </a:prstGeom>
          <a:solidFill>
            <a:schemeClr val="tx1">
              <a:lumMod val="95000"/>
              <a:lumOff val="5000"/>
              <a:alpha val="51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smtClean="0">
                <a:latin typeface="+mn-ea"/>
              </a:rPr>
              <a:t>기본 컨텐츠 정보 구조</a:t>
            </a:r>
            <a:endParaRPr lang="en-US" sz="1000">
              <a:latin typeface="+mn-ea"/>
            </a:endParaRPr>
          </a:p>
        </p:txBody>
      </p:sp>
      <p:sp>
        <p:nvSpPr>
          <p:cNvPr id="97" name="오른쪽 중괄호 96"/>
          <p:cNvSpPr/>
          <p:nvPr/>
        </p:nvSpPr>
        <p:spPr>
          <a:xfrm>
            <a:off x="6954569" y="1201310"/>
            <a:ext cx="161925" cy="4616244"/>
          </a:xfrm>
          <a:prstGeom prst="rightBrace">
            <a:avLst>
              <a:gd name="adj1" fmla="val 46197"/>
              <a:gd name="adj2" fmla="val 50000"/>
            </a:avLst>
          </a:prstGeom>
          <a:ln w="3175">
            <a:solidFill>
              <a:srgbClr val="FF0000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1" name="타원 430"/>
          <p:cNvSpPr>
            <a:spLocks noChangeAspect="1"/>
          </p:cNvSpPr>
          <p:nvPr/>
        </p:nvSpPr>
        <p:spPr>
          <a:xfrm>
            <a:off x="7151540" y="34269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2" name="타원 431"/>
          <p:cNvSpPr>
            <a:spLocks noChangeAspect="1"/>
          </p:cNvSpPr>
          <p:nvPr/>
        </p:nvSpPr>
        <p:spPr>
          <a:xfrm>
            <a:off x="1998515" y="458895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3" name="TextBox 432"/>
          <p:cNvSpPr txBox="1"/>
          <p:nvPr/>
        </p:nvSpPr>
        <p:spPr>
          <a:xfrm>
            <a:off x="10210800" y="302440"/>
            <a:ext cx="356435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SQ5.8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31860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98"/>
          <p:cNvSpPr/>
          <p:nvPr/>
        </p:nvSpPr>
        <p:spPr>
          <a:xfrm>
            <a:off x="429108" y="688668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8" name="Rectangle 14"/>
          <p:cNvSpPr>
            <a:spLocks/>
          </p:cNvSpPr>
          <p:nvPr/>
        </p:nvSpPr>
        <p:spPr bwMode="auto">
          <a:xfrm>
            <a:off x="540257" y="811730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9" name="Rectangle 647"/>
          <p:cNvSpPr/>
          <p:nvPr/>
        </p:nvSpPr>
        <p:spPr>
          <a:xfrm>
            <a:off x="728031" y="820143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0" name="Group 660"/>
          <p:cNvGrpSpPr/>
          <p:nvPr/>
        </p:nvGrpSpPr>
        <p:grpSpPr>
          <a:xfrm>
            <a:off x="442136" y="6353225"/>
            <a:ext cx="1404000" cy="246628"/>
            <a:chOff x="785281" y="6952264"/>
            <a:chExt cx="1404000" cy="246628"/>
          </a:xfrm>
        </p:grpSpPr>
        <p:sp>
          <p:nvSpPr>
            <p:cNvPr id="50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1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2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직선 연결선[R] 33"/>
          <p:cNvCxnSpPr/>
          <p:nvPr/>
        </p:nvCxnSpPr>
        <p:spPr>
          <a:xfrm>
            <a:off x="441599" y="5626756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텍스트 상자 31"/>
          <p:cNvSpPr txBox="1"/>
          <p:nvPr/>
        </p:nvSpPr>
        <p:spPr>
          <a:xfrm>
            <a:off x="616688" y="5428217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3" name="텍스트 상자 31"/>
          <p:cNvSpPr txBox="1"/>
          <p:nvPr/>
        </p:nvSpPr>
        <p:spPr>
          <a:xfrm>
            <a:off x="616688" y="5227329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6" name="텍스트 상자 31"/>
          <p:cNvSpPr txBox="1"/>
          <p:nvPr/>
        </p:nvSpPr>
        <p:spPr>
          <a:xfrm>
            <a:off x="616688" y="216711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7" name="직선 연결선[R] 33"/>
          <p:cNvCxnSpPr/>
          <p:nvPr/>
        </p:nvCxnSpPr>
        <p:spPr>
          <a:xfrm>
            <a:off x="436076" y="2096373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24"/>
          <p:cNvSpPr>
            <a:spLocks noChangeArrowheads="1"/>
          </p:cNvSpPr>
          <p:nvPr/>
        </p:nvSpPr>
        <p:spPr bwMode="auto">
          <a:xfrm>
            <a:off x="503575" y="219167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9" name="직선 연결선[R] 33"/>
          <p:cNvCxnSpPr/>
          <p:nvPr/>
        </p:nvCxnSpPr>
        <p:spPr>
          <a:xfrm>
            <a:off x="436076" y="2336275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텍스트 상자 31"/>
          <p:cNvSpPr txBox="1"/>
          <p:nvPr/>
        </p:nvSpPr>
        <p:spPr>
          <a:xfrm>
            <a:off x="724338" y="2755742"/>
            <a:ext cx="8119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2" name="텍스트 상자 31"/>
          <p:cNvSpPr txBox="1"/>
          <p:nvPr/>
        </p:nvSpPr>
        <p:spPr>
          <a:xfrm>
            <a:off x="724338" y="2583715"/>
            <a:ext cx="8449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3" name="직선 연결선[R] 33"/>
          <p:cNvCxnSpPr/>
          <p:nvPr/>
        </p:nvCxnSpPr>
        <p:spPr>
          <a:xfrm>
            <a:off x="436076" y="511933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텍스트 상자 31"/>
          <p:cNvSpPr txBox="1"/>
          <p:nvPr/>
        </p:nvSpPr>
        <p:spPr>
          <a:xfrm>
            <a:off x="622748" y="1212749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436685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66062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622748" y="188455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47497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5244" y="364154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2" name="텍스트 상자 31"/>
          <p:cNvSpPr txBox="1"/>
          <p:nvPr/>
        </p:nvSpPr>
        <p:spPr>
          <a:xfrm>
            <a:off x="736967" y="326788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Freeform 24"/>
          <p:cNvSpPr>
            <a:spLocks noChangeArrowheads="1"/>
          </p:cNvSpPr>
          <p:nvPr/>
        </p:nvSpPr>
        <p:spPr bwMode="auto">
          <a:xfrm>
            <a:off x="618002" y="329888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4" name="텍스트 상자 31"/>
          <p:cNvSpPr txBox="1"/>
          <p:nvPr/>
        </p:nvSpPr>
        <p:spPr>
          <a:xfrm>
            <a:off x="616688" y="300534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5" name="직선 연결선[R] 33"/>
          <p:cNvCxnSpPr/>
          <p:nvPr/>
        </p:nvCxnSpPr>
        <p:spPr>
          <a:xfrm>
            <a:off x="436076" y="2934610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Freeform 24"/>
          <p:cNvSpPr>
            <a:spLocks noChangeArrowheads="1"/>
          </p:cNvSpPr>
          <p:nvPr/>
        </p:nvSpPr>
        <p:spPr bwMode="auto">
          <a:xfrm>
            <a:off x="503575" y="302991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7" name="직선 연결선[R] 33"/>
          <p:cNvCxnSpPr/>
          <p:nvPr/>
        </p:nvCxnSpPr>
        <p:spPr>
          <a:xfrm>
            <a:off x="436076" y="3174512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8" name="Group 404"/>
          <p:cNvGrpSpPr/>
          <p:nvPr/>
        </p:nvGrpSpPr>
        <p:grpSpPr>
          <a:xfrm>
            <a:off x="1536238" y="2965950"/>
            <a:ext cx="221965" cy="169277"/>
            <a:chOff x="1879383" y="5177290"/>
            <a:chExt cx="221965" cy="169277"/>
          </a:xfrm>
        </p:grpSpPr>
        <p:sp>
          <p:nvSpPr>
            <p:cNvPr id="48" name="TextBox 47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9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9" name="텍스트 상자 31"/>
          <p:cNvSpPr txBox="1"/>
          <p:nvPr/>
        </p:nvSpPr>
        <p:spPr>
          <a:xfrm>
            <a:off x="735244" y="402757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5244" y="419414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1" name="텍스트 상자 31"/>
          <p:cNvSpPr txBox="1"/>
          <p:nvPr/>
        </p:nvSpPr>
        <p:spPr>
          <a:xfrm>
            <a:off x="736967" y="3820482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Freeform 24"/>
          <p:cNvSpPr>
            <a:spLocks noChangeArrowheads="1"/>
          </p:cNvSpPr>
          <p:nvPr/>
        </p:nvSpPr>
        <p:spPr bwMode="auto">
          <a:xfrm>
            <a:off x="618002" y="3851484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36128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755529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5244" y="492210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6" name="텍스트 상자 31"/>
          <p:cNvSpPr txBox="1"/>
          <p:nvPr/>
        </p:nvSpPr>
        <p:spPr>
          <a:xfrm>
            <a:off x="736967" y="4548440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7" name="Freeform 24"/>
          <p:cNvSpPr>
            <a:spLocks noChangeArrowheads="1"/>
          </p:cNvSpPr>
          <p:nvPr/>
        </p:nvSpPr>
        <p:spPr bwMode="auto">
          <a:xfrm>
            <a:off x="618002" y="457944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47" name="Rectangle 374"/>
          <p:cNvSpPr/>
          <p:nvPr/>
        </p:nvSpPr>
        <p:spPr>
          <a:xfrm>
            <a:off x="434619" y="2349862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3297" y="2403184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42127" y="86576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900203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307" name="그룹 30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0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10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11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5" name="내용 개체 틀 187"/>
          <p:cNvGraphicFramePr>
            <a:graphicFrameLocks/>
          </p:cNvGraphicFramePr>
          <p:nvPr>
            <p:extLst/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3" name="Rectangle 477"/>
          <p:cNvSpPr/>
          <p:nvPr/>
        </p:nvSpPr>
        <p:spPr>
          <a:xfrm>
            <a:off x="6925831" y="5484435"/>
            <a:ext cx="2169137" cy="8520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557327"/>
            <a:chOff x="5995939" y="5903574"/>
            <a:chExt cx="2088322" cy="55732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3455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106" name="Rectangle 260"/>
          <p:cNvSpPr/>
          <p:nvPr/>
        </p:nvSpPr>
        <p:spPr>
          <a:xfrm>
            <a:off x="1963621" y="1497011"/>
            <a:ext cx="4899221" cy="34555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07" name="텍스트 상자 31"/>
          <p:cNvSpPr txBox="1"/>
          <p:nvPr/>
        </p:nvSpPr>
        <p:spPr>
          <a:xfrm>
            <a:off x="2084201" y="1499945"/>
            <a:ext cx="1904107" cy="33873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kumimoji="1"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멤버들에게 새로운 소식을 전해보세요 </a:t>
            </a:r>
            <a:endParaRPr kumimoji="1" lang="ko-KR" altLang="en-US" sz="7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Rectangle 279"/>
          <p:cNvSpPr/>
          <p:nvPr/>
        </p:nvSpPr>
        <p:spPr>
          <a:xfrm>
            <a:off x="1904114" y="4693748"/>
            <a:ext cx="4896000" cy="14015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211" name="텍스트 상자 31"/>
          <p:cNvSpPr txBox="1"/>
          <p:nvPr/>
        </p:nvSpPr>
        <p:spPr>
          <a:xfrm>
            <a:off x="2131697" y="1915963"/>
            <a:ext cx="1904107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공지사항 </a:t>
            </a:r>
            <a:r>
              <a:rPr kumimoji="1" lang="en-US" altLang="ko-KR" sz="700" b="1" dirty="0" smtClean="0">
                <a:latin typeface="+mn-ea"/>
                <a:ea typeface="+mn-ea"/>
              </a:rPr>
              <a:t>4</a:t>
            </a:r>
            <a:r>
              <a:rPr kumimoji="1" lang="ko-KR" altLang="en-US" sz="700" b="1" dirty="0" smtClean="0">
                <a:latin typeface="+mn-ea"/>
                <a:ea typeface="+mn-ea"/>
              </a:rPr>
              <a:t> </a:t>
            </a:r>
            <a:endParaRPr kumimoji="1" lang="ko-KR" altLang="en-US" sz="700" b="1" dirty="0">
              <a:latin typeface="+mn-ea"/>
              <a:ea typeface="+mn-ea"/>
            </a:endParaRPr>
          </a:p>
        </p:txBody>
      </p:sp>
      <p:sp>
        <p:nvSpPr>
          <p:cNvPr id="212" name="텍스트 상자 31"/>
          <p:cNvSpPr txBox="1"/>
          <p:nvPr/>
        </p:nvSpPr>
        <p:spPr>
          <a:xfrm>
            <a:off x="6239245" y="1917777"/>
            <a:ext cx="5580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6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공지 더보기</a:t>
            </a:r>
            <a:endParaRPr kumimoji="1" lang="ko-KR" altLang="en-US" sz="6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pic>
        <p:nvPicPr>
          <p:cNvPr id="216" name="Picture 280"/>
          <p:cNvPicPr>
            <a:picLocks noChangeAspect="1"/>
          </p:cNvPicPr>
          <p:nvPr/>
        </p:nvPicPr>
        <p:blipFill rotWithShape="1">
          <a:blip r:embed="rId2" cstate="print">
            <a:alphaModFix amt="5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833"/>
          <a:stretch/>
        </p:blipFill>
        <p:spPr>
          <a:xfrm>
            <a:off x="1949800" y="1883221"/>
            <a:ext cx="181897" cy="153335"/>
          </a:xfrm>
          <a:prstGeom prst="rect">
            <a:avLst/>
          </a:prstGeom>
          <a:effectLst/>
        </p:spPr>
      </p:pic>
      <p:sp>
        <p:nvSpPr>
          <p:cNvPr id="233" name="텍스트 상자 31"/>
          <p:cNvSpPr txBox="1"/>
          <p:nvPr/>
        </p:nvSpPr>
        <p:spPr>
          <a:xfrm>
            <a:off x="2421414" y="480577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34" name="그룹 400"/>
          <p:cNvGrpSpPr/>
          <p:nvPr/>
        </p:nvGrpSpPr>
        <p:grpSpPr>
          <a:xfrm>
            <a:off x="2078622" y="4795302"/>
            <a:ext cx="229236" cy="229194"/>
            <a:chOff x="2625629" y="3735853"/>
            <a:chExt cx="276891" cy="276839"/>
          </a:xfrm>
        </p:grpSpPr>
        <p:sp>
          <p:nvSpPr>
            <p:cNvPr id="235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6" name="Picture 157" descr="man-user (1).png"/>
            <p:cNvPicPr>
              <a:picLocks noChangeAspect="1"/>
            </p:cNvPicPr>
            <p:nvPr/>
          </p:nvPicPr>
          <p:blipFill>
            <a:blip r:embed="rId3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37" name="텍스트 상자 31"/>
          <p:cNvSpPr txBox="1"/>
          <p:nvPr/>
        </p:nvSpPr>
        <p:spPr>
          <a:xfrm>
            <a:off x="2421414" y="4943628"/>
            <a:ext cx="1269604" cy="8463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43" name="직선 연결선[R] 33"/>
          <p:cNvCxnSpPr/>
          <p:nvPr/>
        </p:nvCxnSpPr>
        <p:spPr>
          <a:xfrm>
            <a:off x="2052416" y="5855553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그룹 24"/>
          <p:cNvGrpSpPr/>
          <p:nvPr/>
        </p:nvGrpSpPr>
        <p:grpSpPr>
          <a:xfrm>
            <a:off x="2067486" y="5122256"/>
            <a:ext cx="4700930" cy="644971"/>
            <a:chOff x="2067486" y="4286437"/>
            <a:chExt cx="4700930" cy="644971"/>
          </a:xfrm>
        </p:grpSpPr>
        <p:sp>
          <p:nvSpPr>
            <p:cNvPr id="238" name="Rectangle 177"/>
            <p:cNvSpPr/>
            <p:nvPr/>
          </p:nvSpPr>
          <p:spPr>
            <a:xfrm>
              <a:off x="2067486" y="4472532"/>
              <a:ext cx="4700930" cy="45887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grpSp>
          <p:nvGrpSpPr>
            <p:cNvPr id="239" name="Group 11"/>
            <p:cNvGrpSpPr/>
            <p:nvPr/>
          </p:nvGrpSpPr>
          <p:grpSpPr>
            <a:xfrm>
              <a:off x="2484729" y="4565835"/>
              <a:ext cx="1791250" cy="272271"/>
              <a:chOff x="2887384" y="5664055"/>
              <a:chExt cx="1791250" cy="272271"/>
            </a:xfrm>
          </p:grpSpPr>
          <p:sp>
            <p:nvSpPr>
              <p:cNvPr id="240" name="텍스트 상자 31"/>
              <p:cNvSpPr txBox="1"/>
              <p:nvPr/>
            </p:nvSpPr>
            <p:spPr>
              <a:xfrm>
                <a:off x="2892510" y="5664055"/>
                <a:ext cx="1786124" cy="1075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A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서비스 </a:t>
                </a:r>
                <a:r>
                  <a:rPr kumimoji="1" lang="en-US" altLang="ko-KR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TF</a:t>
                </a:r>
                <a:r>
                  <a:rPr kumimoji="1" lang="ko-KR" altLang="en-US" sz="7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팀 중간회식</a:t>
                </a:r>
                <a:endParaRPr kumimoji="1" lang="ko-KR" altLang="en-US" sz="7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1" name="텍스트 상자 31"/>
              <p:cNvSpPr txBox="1"/>
              <p:nvPr/>
            </p:nvSpPr>
            <p:spPr>
              <a:xfrm>
                <a:off x="2887384" y="5807060"/>
                <a:ext cx="1621213" cy="12926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2017.09.30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(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금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)</a:t>
                </a:r>
                <a:r>
                  <a:rPr kumimoji="1" lang="ko-KR" altLang="en-US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 오후 </a:t>
                </a:r>
                <a:r>
                  <a:rPr kumimoji="1" lang="en-US" altLang="ko-KR" sz="7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ea"/>
                    <a:ea typeface="+mn-ea"/>
                  </a:rPr>
                  <a:t>7:00-8:00</a:t>
                </a:r>
                <a:endParaRPr kumimoji="1"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42" name="Freeform 33"/>
            <p:cNvSpPr>
              <a:spLocks noEditPoints="1"/>
            </p:cNvSpPr>
            <p:nvPr/>
          </p:nvSpPr>
          <p:spPr bwMode="auto">
            <a:xfrm>
              <a:off x="2194138" y="4599136"/>
              <a:ext cx="182894" cy="20352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44" name="텍스트 상자 31"/>
            <p:cNvSpPr txBox="1"/>
            <p:nvPr/>
          </p:nvSpPr>
          <p:spPr>
            <a:xfrm>
              <a:off x="2078622" y="4286437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A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서비스 </a:t>
              </a:r>
              <a:r>
                <a:rPr kumimoji="1"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팀 중간회식</a:t>
              </a:r>
              <a:r>
                <a:rPr kumimoji="1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일정을 등록했습니다</a:t>
              </a:r>
              <a:r>
                <a:rPr kumimoji="1" lang="en-US" altLang="ko-KR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245" name="Freeform 14"/>
            <p:cNvSpPr>
              <a:spLocks noChangeArrowheads="1"/>
            </p:cNvSpPr>
            <p:nvPr/>
          </p:nvSpPr>
          <p:spPr bwMode="auto">
            <a:xfrm rot="5400000">
              <a:off x="6529129" y="4666775"/>
              <a:ext cx="91044" cy="55638"/>
            </a:xfrm>
            <a:custGeom>
              <a:avLst/>
              <a:gdLst>
                <a:gd name="T0" fmla="*/ 36 w 316"/>
                <a:gd name="T1" fmla="*/ 193 h 194"/>
                <a:gd name="T2" fmla="*/ 158 w 316"/>
                <a:gd name="T3" fmla="*/ 72 h 194"/>
                <a:gd name="T4" fmla="*/ 280 w 316"/>
                <a:gd name="T5" fmla="*/ 193 h 194"/>
                <a:gd name="T6" fmla="*/ 315 w 316"/>
                <a:gd name="T7" fmla="*/ 158 h 194"/>
                <a:gd name="T8" fmla="*/ 158 w 316"/>
                <a:gd name="T9" fmla="*/ 0 h 194"/>
                <a:gd name="T10" fmla="*/ 0 w 316"/>
                <a:gd name="T11" fmla="*/ 158 h 194"/>
                <a:gd name="T12" fmla="*/ 36 w 316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194">
                  <a:moveTo>
                    <a:pt x="36" y="193"/>
                  </a:moveTo>
                  <a:lnTo>
                    <a:pt x="158" y="72"/>
                  </a:lnTo>
                  <a:lnTo>
                    <a:pt x="280" y="193"/>
                  </a:lnTo>
                  <a:lnTo>
                    <a:pt x="315" y="158"/>
                  </a:lnTo>
                  <a:lnTo>
                    <a:pt x="158" y="0"/>
                  </a:lnTo>
                  <a:lnTo>
                    <a:pt x="0" y="158"/>
                  </a:lnTo>
                  <a:lnTo>
                    <a:pt x="36" y="193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sp>
        <p:nvSpPr>
          <p:cNvPr id="253" name="Freeform 26"/>
          <p:cNvSpPr>
            <a:spLocks noChangeAspect="1" noChangeArrowheads="1"/>
          </p:cNvSpPr>
          <p:nvPr/>
        </p:nvSpPr>
        <p:spPr bwMode="auto">
          <a:xfrm flipH="1">
            <a:off x="6726683" y="481005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2" name="Freeform 25"/>
          <p:cNvSpPr>
            <a:spLocks noChangeAspect="1" noEditPoints="1"/>
          </p:cNvSpPr>
          <p:nvPr/>
        </p:nvSpPr>
        <p:spPr bwMode="auto">
          <a:xfrm>
            <a:off x="6535161" y="480563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198" name="Rectangle 202"/>
          <p:cNvSpPr/>
          <p:nvPr/>
        </p:nvSpPr>
        <p:spPr>
          <a:xfrm>
            <a:off x="1939939" y="2619581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2397599" y="2749760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김민수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00" name="그룹 400"/>
          <p:cNvGrpSpPr/>
          <p:nvPr/>
        </p:nvGrpSpPr>
        <p:grpSpPr>
          <a:xfrm>
            <a:off x="2054807" y="2739384"/>
            <a:ext cx="229236" cy="227167"/>
            <a:chOff x="2625629" y="3735853"/>
            <a:chExt cx="276891" cy="276839"/>
          </a:xfrm>
        </p:grpSpPr>
        <p:sp>
          <p:nvSpPr>
            <p:cNvPr id="23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2" name="Picture 157" descr="man-user (1).png"/>
            <p:cNvPicPr>
              <a:picLocks noChangeAspect="1"/>
            </p:cNvPicPr>
            <p:nvPr/>
          </p:nvPicPr>
          <p:blipFill>
            <a:blip r:embed="rId4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01" name="텍스트 상자 31"/>
          <p:cNvSpPr txBox="1"/>
          <p:nvPr/>
        </p:nvSpPr>
        <p:spPr>
          <a:xfrm>
            <a:off x="2397599" y="2886398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2054807" y="3089657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lvl="0"/>
            <a:r>
              <a:rPr lang="en-US" altLang="ko-KR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r>
              <a:rPr lang="ko-KR" altLang="en-US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통신사 프로젝트팀 회식 있습니다</a:t>
            </a:r>
            <a:r>
              <a:rPr lang="en-US" altLang="ko-KR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Rounded Rectangle 245"/>
          <p:cNvSpPr/>
          <p:nvPr/>
        </p:nvSpPr>
        <p:spPr>
          <a:xfrm>
            <a:off x="2054807" y="3294833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5" name="Rounded Rectangle 246"/>
          <p:cNvSpPr/>
          <p:nvPr/>
        </p:nvSpPr>
        <p:spPr>
          <a:xfrm>
            <a:off x="2540248" y="32948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06" name="Rounded Rectangle 247"/>
          <p:cNvSpPr/>
          <p:nvPr/>
        </p:nvSpPr>
        <p:spPr>
          <a:xfrm>
            <a:off x="2899804" y="3294833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07" name="직선 연결선[R] 33"/>
          <p:cNvCxnSpPr/>
          <p:nvPr/>
        </p:nvCxnSpPr>
        <p:spPr>
          <a:xfrm>
            <a:off x="2028601" y="3524892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" name="Freeform 26"/>
          <p:cNvSpPr>
            <a:spLocks noChangeAspect="1" noChangeArrowheads="1"/>
          </p:cNvSpPr>
          <p:nvPr/>
        </p:nvSpPr>
        <p:spPr bwMode="auto">
          <a:xfrm flipH="1">
            <a:off x="6702868" y="2748223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1" name="Freeform 25"/>
          <p:cNvSpPr>
            <a:spLocks noChangeAspect="1" noEditPoints="1"/>
          </p:cNvSpPr>
          <p:nvPr/>
        </p:nvSpPr>
        <p:spPr bwMode="auto">
          <a:xfrm>
            <a:off x="6511346" y="2741212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2040056" y="3562047"/>
            <a:ext cx="927446" cy="115755"/>
            <a:chOff x="2063871" y="2807721"/>
            <a:chExt cx="927446" cy="115755"/>
          </a:xfrm>
        </p:grpSpPr>
        <p:grpSp>
          <p:nvGrpSpPr>
            <p:cNvPr id="336" name="그룹 335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38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40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47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48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41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42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43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44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5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6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39" name="그림 338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37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9" name="그룹 348"/>
          <p:cNvGrpSpPr/>
          <p:nvPr/>
        </p:nvGrpSpPr>
        <p:grpSpPr>
          <a:xfrm>
            <a:off x="2063871" y="5913597"/>
            <a:ext cx="927446" cy="115755"/>
            <a:chOff x="2063871" y="2807721"/>
            <a:chExt cx="927446" cy="115755"/>
          </a:xfrm>
        </p:grpSpPr>
        <p:grpSp>
          <p:nvGrpSpPr>
            <p:cNvPr id="350" name="그룹 349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52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54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61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62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55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56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57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58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59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60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53" name="그림 352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51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9" name="그룹 368"/>
          <p:cNvGrpSpPr/>
          <p:nvPr/>
        </p:nvGrpSpPr>
        <p:grpSpPr>
          <a:xfrm>
            <a:off x="5841650" y="1599484"/>
            <a:ext cx="889785" cy="145888"/>
            <a:chOff x="5763766" y="-232900"/>
            <a:chExt cx="1144429" cy="187639"/>
          </a:xfrm>
        </p:grpSpPr>
        <p:sp>
          <p:nvSpPr>
            <p:cNvPr id="370" name="Freeform 17"/>
            <p:cNvSpPr>
              <a:spLocks noChangeArrowheads="1"/>
            </p:cNvSpPr>
            <p:nvPr/>
          </p:nvSpPr>
          <p:spPr bwMode="auto">
            <a:xfrm>
              <a:off x="5763766" y="-214900"/>
              <a:ext cx="162000" cy="1620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71" name="Freeform 33"/>
            <p:cNvSpPr>
              <a:spLocks noEditPoints="1"/>
            </p:cNvSpPr>
            <p:nvPr/>
          </p:nvSpPr>
          <p:spPr bwMode="auto">
            <a:xfrm>
              <a:off x="6236907" y="-214900"/>
              <a:ext cx="162000" cy="162000"/>
            </a:xfrm>
            <a:custGeom>
              <a:avLst/>
              <a:gdLst>
                <a:gd name="T0" fmla="*/ 338 w 450"/>
                <a:gd name="T1" fmla="*/ 252 h 500"/>
                <a:gd name="T2" fmla="*/ 312 w 450"/>
                <a:gd name="T3" fmla="*/ 225 h 500"/>
                <a:gd name="T4" fmla="*/ 190 w 450"/>
                <a:gd name="T5" fmla="*/ 347 h 500"/>
                <a:gd name="T6" fmla="*/ 137 w 450"/>
                <a:gd name="T7" fmla="*/ 294 h 500"/>
                <a:gd name="T8" fmla="*/ 110 w 450"/>
                <a:gd name="T9" fmla="*/ 320 h 500"/>
                <a:gd name="T10" fmla="*/ 190 w 450"/>
                <a:gd name="T11" fmla="*/ 400 h 500"/>
                <a:gd name="T12" fmla="*/ 338 w 450"/>
                <a:gd name="T13" fmla="*/ 252 h 500"/>
                <a:gd name="T14" fmla="*/ 400 w 450"/>
                <a:gd name="T15" fmla="*/ 50 h 500"/>
                <a:gd name="T16" fmla="*/ 375 w 450"/>
                <a:gd name="T17" fmla="*/ 50 h 500"/>
                <a:gd name="T18" fmla="*/ 375 w 450"/>
                <a:gd name="T19" fmla="*/ 0 h 500"/>
                <a:gd name="T20" fmla="*/ 325 w 450"/>
                <a:gd name="T21" fmla="*/ 0 h 500"/>
                <a:gd name="T22" fmla="*/ 325 w 450"/>
                <a:gd name="T23" fmla="*/ 50 h 500"/>
                <a:gd name="T24" fmla="*/ 125 w 450"/>
                <a:gd name="T25" fmla="*/ 50 h 500"/>
                <a:gd name="T26" fmla="*/ 125 w 450"/>
                <a:gd name="T27" fmla="*/ 0 h 500"/>
                <a:gd name="T28" fmla="*/ 75 w 450"/>
                <a:gd name="T29" fmla="*/ 0 h 500"/>
                <a:gd name="T30" fmla="*/ 75 w 450"/>
                <a:gd name="T31" fmla="*/ 50 h 500"/>
                <a:gd name="T32" fmla="*/ 50 w 450"/>
                <a:gd name="T33" fmla="*/ 50 h 500"/>
                <a:gd name="T34" fmla="*/ 0 w 450"/>
                <a:gd name="T35" fmla="*/ 100 h 500"/>
                <a:gd name="T36" fmla="*/ 0 w 450"/>
                <a:gd name="T37" fmla="*/ 450 h 500"/>
                <a:gd name="T38" fmla="*/ 50 w 450"/>
                <a:gd name="T39" fmla="*/ 500 h 500"/>
                <a:gd name="T40" fmla="*/ 400 w 450"/>
                <a:gd name="T41" fmla="*/ 500 h 500"/>
                <a:gd name="T42" fmla="*/ 450 w 450"/>
                <a:gd name="T43" fmla="*/ 450 h 500"/>
                <a:gd name="T44" fmla="*/ 450 w 450"/>
                <a:gd name="T45" fmla="*/ 100 h 500"/>
                <a:gd name="T46" fmla="*/ 400 w 450"/>
                <a:gd name="T47" fmla="*/ 50 h 500"/>
                <a:gd name="T48" fmla="*/ 400 w 450"/>
                <a:gd name="T49" fmla="*/ 450 h 500"/>
                <a:gd name="T50" fmla="*/ 50 w 450"/>
                <a:gd name="T51" fmla="*/ 450 h 500"/>
                <a:gd name="T52" fmla="*/ 50 w 450"/>
                <a:gd name="T53" fmla="*/ 175 h 500"/>
                <a:gd name="T54" fmla="*/ 400 w 450"/>
                <a:gd name="T55" fmla="*/ 175 h 500"/>
                <a:gd name="T56" fmla="*/ 400 w 450"/>
                <a:gd name="T57" fmla="*/ 45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0" h="500">
                  <a:moveTo>
                    <a:pt x="338" y="252"/>
                  </a:moveTo>
                  <a:lnTo>
                    <a:pt x="312" y="225"/>
                  </a:lnTo>
                  <a:lnTo>
                    <a:pt x="190" y="347"/>
                  </a:lnTo>
                  <a:lnTo>
                    <a:pt x="137" y="294"/>
                  </a:lnTo>
                  <a:lnTo>
                    <a:pt x="110" y="320"/>
                  </a:lnTo>
                  <a:lnTo>
                    <a:pt x="190" y="400"/>
                  </a:lnTo>
                  <a:lnTo>
                    <a:pt x="338" y="252"/>
                  </a:lnTo>
                  <a:close/>
                  <a:moveTo>
                    <a:pt x="400" y="50"/>
                  </a:moveTo>
                  <a:lnTo>
                    <a:pt x="375" y="50"/>
                  </a:lnTo>
                  <a:lnTo>
                    <a:pt x="375" y="0"/>
                  </a:lnTo>
                  <a:lnTo>
                    <a:pt x="325" y="0"/>
                  </a:lnTo>
                  <a:lnTo>
                    <a:pt x="325" y="50"/>
                  </a:lnTo>
                  <a:lnTo>
                    <a:pt x="125" y="50"/>
                  </a:lnTo>
                  <a:lnTo>
                    <a:pt x="125" y="0"/>
                  </a:lnTo>
                  <a:lnTo>
                    <a:pt x="75" y="0"/>
                  </a:lnTo>
                  <a:lnTo>
                    <a:pt x="75" y="50"/>
                  </a:lnTo>
                  <a:lnTo>
                    <a:pt x="50" y="50"/>
                  </a:lnTo>
                  <a:cubicBezTo>
                    <a:pt x="22" y="50"/>
                    <a:pt x="0" y="73"/>
                    <a:pt x="0" y="100"/>
                  </a:cubicBezTo>
                  <a:lnTo>
                    <a:pt x="0" y="450"/>
                  </a:lnTo>
                  <a:cubicBezTo>
                    <a:pt x="0" y="478"/>
                    <a:pt x="22" y="500"/>
                    <a:pt x="50" y="500"/>
                  </a:cubicBezTo>
                  <a:lnTo>
                    <a:pt x="400" y="500"/>
                  </a:lnTo>
                  <a:cubicBezTo>
                    <a:pt x="428" y="500"/>
                    <a:pt x="450" y="478"/>
                    <a:pt x="450" y="450"/>
                  </a:cubicBezTo>
                  <a:lnTo>
                    <a:pt x="450" y="100"/>
                  </a:lnTo>
                  <a:cubicBezTo>
                    <a:pt x="450" y="73"/>
                    <a:pt x="428" y="50"/>
                    <a:pt x="400" y="50"/>
                  </a:cubicBezTo>
                  <a:close/>
                  <a:moveTo>
                    <a:pt x="400" y="450"/>
                  </a:moveTo>
                  <a:lnTo>
                    <a:pt x="50" y="450"/>
                  </a:lnTo>
                  <a:lnTo>
                    <a:pt x="50" y="175"/>
                  </a:lnTo>
                  <a:lnTo>
                    <a:pt x="400" y="175"/>
                  </a:lnTo>
                  <a:lnTo>
                    <a:pt x="400" y="45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pic>
          <p:nvPicPr>
            <p:cNvPr id="372" name="Picture 2" descr="C:\Users\Administrator\Downloads\paperclip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3023" y="-214900"/>
              <a:ext cx="162000" cy="16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3" name="Picture 3" descr="C:\Users\Administrator\Downloads\briefcase (1)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3551" y="-232900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4" name="Picture 5" descr="C:\Users\Administrator\Downloads\megaphone (1)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8195" y="-22526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375" name="Straight Connector 422"/>
          <p:cNvCxnSpPr/>
          <p:nvPr/>
        </p:nvCxnSpPr>
        <p:spPr>
          <a:xfrm>
            <a:off x="1933588" y="2534575"/>
            <a:ext cx="489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모서리가 둥근 직사각형 57"/>
          <p:cNvSpPr/>
          <p:nvPr/>
        </p:nvSpPr>
        <p:spPr>
          <a:xfrm>
            <a:off x="1996708" y="2082069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76" name="모서리가 둥근 직사각형 375"/>
          <p:cNvSpPr/>
          <p:nvPr/>
        </p:nvSpPr>
        <p:spPr>
          <a:xfrm>
            <a:off x="1996708" y="2233795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377" name="모서리가 둥근 직사각형 376"/>
          <p:cNvSpPr/>
          <p:nvPr/>
        </p:nvSpPr>
        <p:spPr>
          <a:xfrm>
            <a:off x="1996708" y="2381166"/>
            <a:ext cx="234473" cy="116214"/>
          </a:xfrm>
          <a:prstGeom prst="roundRect">
            <a:avLst/>
          </a:prstGeom>
          <a:solidFill>
            <a:schemeClr val="bg1">
              <a:lumMod val="75000"/>
            </a:schemeClr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ko-KR" altLang="en-US" sz="600" dirty="0" smtClean="0">
                <a:solidFill>
                  <a:schemeClr val="bg1"/>
                </a:solidFill>
                <a:latin typeface="나눔고딕" pitchFamily="50" charset="-127"/>
                <a:ea typeface="나눔고딕" pitchFamily="50" charset="-127"/>
              </a:rPr>
              <a:t>공지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231181" y="2039778"/>
            <a:ext cx="1666088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11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월 통신사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회식 있습니다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78" name="TextBox 377"/>
          <p:cNvSpPr txBox="1"/>
          <p:nvPr/>
        </p:nvSpPr>
        <p:spPr>
          <a:xfrm>
            <a:off x="2231181" y="2189863"/>
            <a:ext cx="4598407" cy="200055"/>
          </a:xfrm>
          <a:prstGeom prst="rect">
            <a:avLst/>
          </a:prstGeom>
          <a:noFill/>
        </p:spPr>
        <p:txBody>
          <a:bodyPr wrap="square" lIns="36000" rIns="36000" rtlCol="0" anchor="ctr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워크샵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남겨주세요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~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참석 </a:t>
            </a:r>
            <a:r>
              <a: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가능자</a:t>
            </a: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댓글 </a:t>
            </a:r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남겨주세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79" name="TextBox 378"/>
          <p:cNvSpPr txBox="1"/>
          <p:nvPr/>
        </p:nvSpPr>
        <p:spPr>
          <a:xfrm>
            <a:off x="2231181" y="2336519"/>
            <a:ext cx="1406402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프로젝트팀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TFT </a:t>
            </a:r>
            <a:r>
              <a:rPr lang="ko-KR" altLang="en-US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 공지합니다</a:t>
            </a:r>
            <a:r>
              <a:rPr lang="en-US" altLang="ko-KR" sz="7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7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1939939" y="3722487"/>
            <a:ext cx="4896001" cy="850249"/>
            <a:chOff x="1939939" y="3379587"/>
            <a:chExt cx="4896001" cy="850249"/>
          </a:xfrm>
        </p:grpSpPr>
        <p:sp>
          <p:nvSpPr>
            <p:cNvPr id="203" name="Rectangle 231"/>
            <p:cNvSpPr/>
            <p:nvPr/>
          </p:nvSpPr>
          <p:spPr>
            <a:xfrm>
              <a:off x="1939939" y="3379587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209" name="Group 7"/>
            <p:cNvGrpSpPr/>
            <p:nvPr/>
          </p:nvGrpSpPr>
          <p:grpSpPr>
            <a:xfrm>
              <a:off x="2054807" y="3792842"/>
              <a:ext cx="1612396" cy="227167"/>
              <a:chOff x="2478168" y="4026446"/>
              <a:chExt cx="1612396" cy="229194"/>
            </a:xfrm>
          </p:grpSpPr>
          <p:sp>
            <p:nvSpPr>
              <p:cNvPr id="226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27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229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230" name="Picture 157" descr="man-user (1).png"/>
                <p:cNvPicPr>
                  <a:picLocks noChangeAspect="1"/>
                </p:cNvPicPr>
                <p:nvPr/>
              </p:nvPicPr>
              <p:blipFill>
                <a:blip r:embed="rId4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228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13" name="직선 연결선[R] 33"/>
            <p:cNvCxnSpPr/>
            <p:nvPr/>
          </p:nvCxnSpPr>
          <p:spPr>
            <a:xfrm>
              <a:off x="2028601" y="3705985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Rectangle 313"/>
            <p:cNvSpPr/>
            <p:nvPr/>
          </p:nvSpPr>
          <p:spPr>
            <a:xfrm>
              <a:off x="1939940" y="4097549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215" name="텍스트 상자 31"/>
            <p:cNvSpPr txBox="1"/>
            <p:nvPr/>
          </p:nvSpPr>
          <p:spPr>
            <a:xfrm>
              <a:off x="4117575" y="4111345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전체 댓글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380" name="그룹 379"/>
            <p:cNvGrpSpPr/>
            <p:nvPr/>
          </p:nvGrpSpPr>
          <p:grpSpPr>
            <a:xfrm>
              <a:off x="2025177" y="3446799"/>
              <a:ext cx="4675215" cy="198000"/>
              <a:chOff x="7341238" y="3747588"/>
              <a:chExt cx="4675215" cy="198000"/>
            </a:xfrm>
          </p:grpSpPr>
          <p:sp>
            <p:nvSpPr>
              <p:cNvPr id="381" name="Rectangle 321"/>
              <p:cNvSpPr/>
              <p:nvPr/>
            </p:nvSpPr>
            <p:spPr>
              <a:xfrm>
                <a:off x="7341238" y="3747588"/>
                <a:ext cx="4262914" cy="1980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의견을 입력하세요</a:t>
                </a:r>
                <a:endParaRPr 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82" name="Rounded Rectangle 616"/>
              <p:cNvSpPr/>
              <p:nvPr/>
            </p:nvSpPr>
            <p:spPr>
              <a:xfrm>
                <a:off x="11656453" y="3755850"/>
                <a:ext cx="360000" cy="180000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b="1" dirty="0" smtClean="0"/>
                  <a:t>등록</a:t>
                </a:r>
                <a:endParaRPr lang="en-US" sz="700" b="1" dirty="0"/>
              </a:p>
            </p:txBody>
          </p:sp>
          <p:sp>
            <p:nvSpPr>
              <p:cNvPr id="383" name="Freeform 17"/>
              <p:cNvSpPr>
                <a:spLocks noChangeArrowheads="1"/>
              </p:cNvSpPr>
              <p:nvPr/>
            </p:nvSpPr>
            <p:spPr bwMode="auto">
              <a:xfrm>
                <a:off x="11228438" y="3790180"/>
                <a:ext cx="125954" cy="125954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pic>
            <p:nvPicPr>
              <p:cNvPr id="384" name="Picture 2" descr="C:\Users\Administrator\Downloads\paperclip.png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4459" y="3790180"/>
                <a:ext cx="125954" cy="12595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224" name="TextBox 22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50" name="직사각형 249"/>
          <p:cNvSpPr/>
          <p:nvPr/>
        </p:nvSpPr>
        <p:spPr>
          <a:xfrm>
            <a:off x="4646212" y="1190625"/>
            <a:ext cx="2219325" cy="2095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lvl="0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작성자 ▼ 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나눔고딕" pitchFamily="50" charset="-127"/>
                <a:ea typeface="나눔고딕" pitchFamily="50" charset="-127"/>
              </a:rPr>
              <a:t>ㅣ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51" name="Freeform 10"/>
          <p:cNvSpPr>
            <a:spLocks noChangeAspect="1" noChangeArrowheads="1"/>
          </p:cNvSpPr>
          <p:nvPr/>
        </p:nvSpPr>
        <p:spPr bwMode="auto">
          <a:xfrm>
            <a:off x="6705673" y="1243158"/>
            <a:ext cx="108001" cy="108000"/>
          </a:xfrm>
          <a:custGeom>
            <a:avLst/>
            <a:gdLst>
              <a:gd name="T0" fmla="*/ 332 w 471"/>
              <a:gd name="T1" fmla="*/ 296 h 471"/>
              <a:gd name="T2" fmla="*/ 312 w 471"/>
              <a:gd name="T3" fmla="*/ 296 h 471"/>
              <a:gd name="T4" fmla="*/ 307 w 471"/>
              <a:gd name="T5" fmla="*/ 286 h 471"/>
              <a:gd name="T6" fmla="*/ 348 w 471"/>
              <a:gd name="T7" fmla="*/ 173 h 471"/>
              <a:gd name="T8" fmla="*/ 174 w 471"/>
              <a:gd name="T9" fmla="*/ 0 h 471"/>
              <a:gd name="T10" fmla="*/ 0 w 471"/>
              <a:gd name="T11" fmla="*/ 173 h 471"/>
              <a:gd name="T12" fmla="*/ 174 w 471"/>
              <a:gd name="T13" fmla="*/ 347 h 471"/>
              <a:gd name="T14" fmla="*/ 286 w 471"/>
              <a:gd name="T15" fmla="*/ 306 h 471"/>
              <a:gd name="T16" fmla="*/ 296 w 471"/>
              <a:gd name="T17" fmla="*/ 311 h 471"/>
              <a:gd name="T18" fmla="*/ 296 w 471"/>
              <a:gd name="T19" fmla="*/ 337 h 471"/>
              <a:gd name="T20" fmla="*/ 429 w 471"/>
              <a:gd name="T21" fmla="*/ 470 h 471"/>
              <a:gd name="T22" fmla="*/ 470 w 471"/>
              <a:gd name="T23" fmla="*/ 429 h 471"/>
              <a:gd name="T24" fmla="*/ 332 w 471"/>
              <a:gd name="T25" fmla="*/ 296 h 471"/>
              <a:gd name="T26" fmla="*/ 174 w 471"/>
              <a:gd name="T27" fmla="*/ 296 h 471"/>
              <a:gd name="T28" fmla="*/ 56 w 471"/>
              <a:gd name="T29" fmla="*/ 173 h 471"/>
              <a:gd name="T30" fmla="*/ 174 w 471"/>
              <a:gd name="T31" fmla="*/ 56 h 471"/>
              <a:gd name="T32" fmla="*/ 296 w 471"/>
              <a:gd name="T33" fmla="*/ 173 h 471"/>
              <a:gd name="T34" fmla="*/ 174 w 471"/>
              <a:gd name="T35" fmla="*/ 296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71" h="471">
                <a:moveTo>
                  <a:pt x="332" y="296"/>
                </a:moveTo>
                <a:lnTo>
                  <a:pt x="312" y="296"/>
                </a:lnTo>
                <a:lnTo>
                  <a:pt x="307" y="286"/>
                </a:lnTo>
                <a:cubicBezTo>
                  <a:pt x="332" y="255"/>
                  <a:pt x="348" y="219"/>
                  <a:pt x="348" y="173"/>
                </a:cubicBezTo>
                <a:cubicBezTo>
                  <a:pt x="348" y="76"/>
                  <a:pt x="271" y="0"/>
                  <a:pt x="174" y="0"/>
                </a:cubicBezTo>
                <a:cubicBezTo>
                  <a:pt x="77" y="0"/>
                  <a:pt x="0" y="76"/>
                  <a:pt x="0" y="173"/>
                </a:cubicBezTo>
                <a:cubicBezTo>
                  <a:pt x="0" y="270"/>
                  <a:pt x="77" y="347"/>
                  <a:pt x="174" y="347"/>
                </a:cubicBezTo>
                <a:cubicBezTo>
                  <a:pt x="215" y="347"/>
                  <a:pt x="256" y="332"/>
                  <a:pt x="286" y="306"/>
                </a:cubicBezTo>
                <a:lnTo>
                  <a:pt x="296" y="311"/>
                </a:lnTo>
                <a:lnTo>
                  <a:pt x="296" y="337"/>
                </a:lnTo>
                <a:lnTo>
                  <a:pt x="429" y="470"/>
                </a:lnTo>
                <a:lnTo>
                  <a:pt x="470" y="429"/>
                </a:lnTo>
                <a:lnTo>
                  <a:pt x="332" y="296"/>
                </a:lnTo>
                <a:close/>
                <a:moveTo>
                  <a:pt x="174" y="296"/>
                </a:moveTo>
                <a:cubicBezTo>
                  <a:pt x="107" y="296"/>
                  <a:pt x="56" y="240"/>
                  <a:pt x="56" y="173"/>
                </a:cubicBezTo>
                <a:cubicBezTo>
                  <a:pt x="56" y="107"/>
                  <a:pt x="107" y="56"/>
                  <a:pt x="174" y="56"/>
                </a:cubicBezTo>
                <a:cubicBezTo>
                  <a:pt x="240" y="56"/>
                  <a:pt x="296" y="107"/>
                  <a:pt x="296" y="173"/>
                </a:cubicBezTo>
                <a:cubicBezTo>
                  <a:pt x="296" y="240"/>
                  <a:pt x="240" y="296"/>
                  <a:pt x="174" y="296"/>
                </a:cubicBez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/>
          </a:p>
        </p:txBody>
      </p:sp>
      <p:graphicFrame>
        <p:nvGraphicFramePr>
          <p:cNvPr id="25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938099"/>
              </p:ext>
            </p:extLst>
          </p:nvPr>
        </p:nvGraphicFramePr>
        <p:xfrm>
          <a:off x="9290533" y="786383"/>
          <a:ext cx="2835141" cy="4692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피드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tab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내 검색바 제공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2" name="직사각형 1"/>
          <p:cNvSpPr/>
          <p:nvPr/>
        </p:nvSpPr>
        <p:spPr>
          <a:xfrm>
            <a:off x="4643437" y="1398680"/>
            <a:ext cx="709613" cy="87779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작성자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태그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작성자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+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태그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5" name="TextBox 194"/>
          <p:cNvSpPr txBox="1"/>
          <p:nvPr/>
        </p:nvSpPr>
        <p:spPr>
          <a:xfrm>
            <a:off x="1247775" y="73840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피드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lvl="0"/>
            <a:r>
              <a:rPr lang="ko-KR" altLang="en-US" sz="8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스퀘어</a:t>
            </a:r>
            <a:r>
              <a:rPr lang="en-US" altLang="ko-KR" sz="8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</a:t>
            </a:r>
            <a:r>
              <a:rPr lang="en-US" altLang="ko-KR" sz="8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r>
              <a:rPr lang="ko-KR" altLang="en-US" sz="80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피드</a:t>
            </a:r>
            <a:endParaRPr lang="ko-KR" altLang="en-US" sz="80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8" name="타원 207"/>
          <p:cNvSpPr>
            <a:spLocks noChangeAspect="1"/>
          </p:cNvSpPr>
          <p:nvPr/>
        </p:nvSpPr>
        <p:spPr>
          <a:xfrm>
            <a:off x="4579790" y="11028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9305925" y="1311709"/>
            <a:ext cx="286673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각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스퀘어 그룹의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tab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메뉴에 공통적으로 적용되는 가이드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656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98"/>
          <p:cNvSpPr/>
          <p:nvPr/>
        </p:nvSpPr>
        <p:spPr>
          <a:xfrm>
            <a:off x="429108" y="688668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8" name="Rectangle 14"/>
          <p:cNvSpPr>
            <a:spLocks/>
          </p:cNvSpPr>
          <p:nvPr/>
        </p:nvSpPr>
        <p:spPr bwMode="auto">
          <a:xfrm>
            <a:off x="540257" y="811730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9" name="Rectangle 647"/>
          <p:cNvSpPr/>
          <p:nvPr/>
        </p:nvSpPr>
        <p:spPr>
          <a:xfrm>
            <a:off x="728031" y="820143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0" name="Group 660"/>
          <p:cNvGrpSpPr/>
          <p:nvPr/>
        </p:nvGrpSpPr>
        <p:grpSpPr>
          <a:xfrm>
            <a:off x="442136" y="6353225"/>
            <a:ext cx="1404000" cy="246628"/>
            <a:chOff x="785281" y="6952264"/>
            <a:chExt cx="1404000" cy="246628"/>
          </a:xfrm>
        </p:grpSpPr>
        <p:sp>
          <p:nvSpPr>
            <p:cNvPr id="50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1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2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직선 연결선[R] 33"/>
          <p:cNvCxnSpPr/>
          <p:nvPr/>
        </p:nvCxnSpPr>
        <p:spPr>
          <a:xfrm>
            <a:off x="441599" y="5626756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텍스트 상자 31"/>
          <p:cNvSpPr txBox="1"/>
          <p:nvPr/>
        </p:nvSpPr>
        <p:spPr>
          <a:xfrm>
            <a:off x="616688" y="5428217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3" name="텍스트 상자 31"/>
          <p:cNvSpPr txBox="1"/>
          <p:nvPr/>
        </p:nvSpPr>
        <p:spPr>
          <a:xfrm>
            <a:off x="616688" y="5227329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6" name="텍스트 상자 31"/>
          <p:cNvSpPr txBox="1"/>
          <p:nvPr/>
        </p:nvSpPr>
        <p:spPr>
          <a:xfrm>
            <a:off x="616688" y="216711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7" name="직선 연결선[R] 33"/>
          <p:cNvCxnSpPr/>
          <p:nvPr/>
        </p:nvCxnSpPr>
        <p:spPr>
          <a:xfrm>
            <a:off x="436076" y="2096373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24"/>
          <p:cNvSpPr>
            <a:spLocks noChangeArrowheads="1"/>
          </p:cNvSpPr>
          <p:nvPr/>
        </p:nvSpPr>
        <p:spPr bwMode="auto">
          <a:xfrm>
            <a:off x="503575" y="219167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9" name="직선 연결선[R] 33"/>
          <p:cNvCxnSpPr/>
          <p:nvPr/>
        </p:nvCxnSpPr>
        <p:spPr>
          <a:xfrm>
            <a:off x="436076" y="2336275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텍스트 상자 31"/>
          <p:cNvSpPr txBox="1"/>
          <p:nvPr/>
        </p:nvSpPr>
        <p:spPr>
          <a:xfrm>
            <a:off x="724338" y="2755742"/>
            <a:ext cx="8119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2" name="텍스트 상자 31"/>
          <p:cNvSpPr txBox="1"/>
          <p:nvPr/>
        </p:nvSpPr>
        <p:spPr>
          <a:xfrm>
            <a:off x="724338" y="2583715"/>
            <a:ext cx="8449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3" name="직선 연결선[R] 33"/>
          <p:cNvCxnSpPr/>
          <p:nvPr/>
        </p:nvCxnSpPr>
        <p:spPr>
          <a:xfrm>
            <a:off x="436076" y="511933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텍스트 상자 31"/>
          <p:cNvSpPr txBox="1"/>
          <p:nvPr/>
        </p:nvSpPr>
        <p:spPr>
          <a:xfrm>
            <a:off x="622748" y="1212749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436685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66062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622748" y="188455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47497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5244" y="364154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2" name="텍스트 상자 31"/>
          <p:cNvSpPr txBox="1"/>
          <p:nvPr/>
        </p:nvSpPr>
        <p:spPr>
          <a:xfrm>
            <a:off x="736967" y="326788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Freeform 24"/>
          <p:cNvSpPr>
            <a:spLocks noChangeArrowheads="1"/>
          </p:cNvSpPr>
          <p:nvPr/>
        </p:nvSpPr>
        <p:spPr bwMode="auto">
          <a:xfrm>
            <a:off x="618002" y="329888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4" name="텍스트 상자 31"/>
          <p:cNvSpPr txBox="1"/>
          <p:nvPr/>
        </p:nvSpPr>
        <p:spPr>
          <a:xfrm>
            <a:off x="616688" y="300534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5" name="직선 연결선[R] 33"/>
          <p:cNvCxnSpPr/>
          <p:nvPr/>
        </p:nvCxnSpPr>
        <p:spPr>
          <a:xfrm>
            <a:off x="436076" y="2934610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Freeform 24"/>
          <p:cNvSpPr>
            <a:spLocks noChangeArrowheads="1"/>
          </p:cNvSpPr>
          <p:nvPr/>
        </p:nvSpPr>
        <p:spPr bwMode="auto">
          <a:xfrm>
            <a:off x="503575" y="302991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7" name="직선 연결선[R] 33"/>
          <p:cNvCxnSpPr/>
          <p:nvPr/>
        </p:nvCxnSpPr>
        <p:spPr>
          <a:xfrm>
            <a:off x="436076" y="3174512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8" name="Group 404"/>
          <p:cNvGrpSpPr/>
          <p:nvPr/>
        </p:nvGrpSpPr>
        <p:grpSpPr>
          <a:xfrm>
            <a:off x="1536238" y="2965950"/>
            <a:ext cx="221965" cy="169277"/>
            <a:chOff x="1879383" y="5177290"/>
            <a:chExt cx="221965" cy="169277"/>
          </a:xfrm>
        </p:grpSpPr>
        <p:sp>
          <p:nvSpPr>
            <p:cNvPr id="48" name="TextBox 47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9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9" name="텍스트 상자 31"/>
          <p:cNvSpPr txBox="1"/>
          <p:nvPr/>
        </p:nvSpPr>
        <p:spPr>
          <a:xfrm>
            <a:off x="735244" y="402757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5244" y="419414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1" name="텍스트 상자 31"/>
          <p:cNvSpPr txBox="1"/>
          <p:nvPr/>
        </p:nvSpPr>
        <p:spPr>
          <a:xfrm>
            <a:off x="736967" y="3820482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Freeform 24"/>
          <p:cNvSpPr>
            <a:spLocks noChangeArrowheads="1"/>
          </p:cNvSpPr>
          <p:nvPr/>
        </p:nvSpPr>
        <p:spPr bwMode="auto">
          <a:xfrm>
            <a:off x="618002" y="3851484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36128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755529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5244" y="492210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6" name="텍스트 상자 31"/>
          <p:cNvSpPr txBox="1"/>
          <p:nvPr/>
        </p:nvSpPr>
        <p:spPr>
          <a:xfrm>
            <a:off x="736967" y="4548440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7" name="Freeform 24"/>
          <p:cNvSpPr>
            <a:spLocks noChangeArrowheads="1"/>
          </p:cNvSpPr>
          <p:nvPr/>
        </p:nvSpPr>
        <p:spPr bwMode="auto">
          <a:xfrm>
            <a:off x="618002" y="457944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47" name="Rectangle 374"/>
          <p:cNvSpPr/>
          <p:nvPr/>
        </p:nvSpPr>
        <p:spPr>
          <a:xfrm>
            <a:off x="434619" y="2349862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3297" y="2403184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42127" y="86576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900203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307" name="그룹 30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0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10" name="직선 연결선[R] 7"/>
            <p:cNvCxnSpPr/>
            <p:nvPr/>
          </p:nvCxnSpPr>
          <p:spPr>
            <a:xfrm>
              <a:off x="4298802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11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1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aphicFrame>
        <p:nvGraphicFramePr>
          <p:cNvPr id="5" name="내용 개체 틀 187"/>
          <p:cNvGraphicFramePr>
            <a:graphicFrameLocks/>
          </p:cNvGraphicFramePr>
          <p:nvPr>
            <p:extLst/>
          </p:nvPr>
        </p:nvGraphicFramePr>
        <p:xfrm>
          <a:off x="6931633" y="1177256"/>
          <a:ext cx="2170800" cy="20977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8889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3" name="Rectangle 477"/>
          <p:cNvSpPr/>
          <p:nvPr/>
        </p:nvSpPr>
        <p:spPr>
          <a:xfrm>
            <a:off x="6925831" y="5484435"/>
            <a:ext cx="2169137" cy="8520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7" name="Group 29"/>
          <p:cNvGrpSpPr/>
          <p:nvPr/>
        </p:nvGrpSpPr>
        <p:grpSpPr>
          <a:xfrm>
            <a:off x="6931631" y="3327072"/>
            <a:ext cx="2170800" cy="861991"/>
            <a:chOff x="5913169" y="3770122"/>
            <a:chExt cx="2170800" cy="861991"/>
          </a:xfrm>
        </p:grpSpPr>
        <p:sp>
          <p:nvSpPr>
            <p:cNvPr id="68" name="Rectangle 1"/>
            <p:cNvSpPr/>
            <p:nvPr/>
          </p:nvSpPr>
          <p:spPr>
            <a:xfrm>
              <a:off x="5913169" y="3770122"/>
              <a:ext cx="2170800" cy="861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69" name="텍스트 상자 31"/>
            <p:cNvSpPr txBox="1"/>
            <p:nvPr/>
          </p:nvSpPr>
          <p:spPr>
            <a:xfrm>
              <a:off x="5981911" y="3831531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멤버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70" name="직선 연결선[R] 33"/>
            <p:cNvCxnSpPr/>
            <p:nvPr/>
          </p:nvCxnSpPr>
          <p:spPr>
            <a:xfrm>
              <a:off x="5981589" y="3987058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텍스트 상자 31"/>
            <p:cNvSpPr txBox="1"/>
            <p:nvPr/>
          </p:nvSpPr>
          <p:spPr>
            <a:xfrm>
              <a:off x="5981589" y="4067555"/>
              <a:ext cx="525386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참여 멤버</a:t>
              </a:r>
              <a:endParaRPr kumimoji="1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생성자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72" name="텍스트 상자 31"/>
            <p:cNvSpPr txBox="1"/>
            <p:nvPr/>
          </p:nvSpPr>
          <p:spPr>
            <a:xfrm>
              <a:off x="6575392" y="4067555"/>
              <a:ext cx="1156099" cy="484748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12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김미나 사원</a:t>
              </a:r>
            </a:p>
            <a:p>
              <a:pPr>
                <a:lnSpc>
                  <a:spcPct val="150000"/>
                </a:lnSpc>
              </a:pP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김민수 연구원 외 </a:t>
              </a:r>
              <a:r>
                <a:rPr kumimoji="1" lang="en-US" altLang="ko-KR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명</a:t>
              </a:r>
            </a:p>
          </p:txBody>
        </p:sp>
        <p:sp>
          <p:nvSpPr>
            <p:cNvPr id="73" name="텍스트 상자 31"/>
            <p:cNvSpPr txBox="1"/>
            <p:nvPr/>
          </p:nvSpPr>
          <p:spPr>
            <a:xfrm>
              <a:off x="7377435" y="3860916"/>
              <a:ext cx="558006" cy="7694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ko-KR" altLang="en-US" sz="500" b="1" u="sng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전체 멤버 보기</a:t>
              </a:r>
              <a:endParaRPr kumimoji="1" lang="ko-KR" altLang="en-US" sz="500" b="1" u="sng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4" name="Rectangle 376"/>
          <p:cNvSpPr/>
          <p:nvPr/>
        </p:nvSpPr>
        <p:spPr>
          <a:xfrm>
            <a:off x="6937384" y="4244936"/>
            <a:ext cx="2170800" cy="118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5" name="텍스트 상자 31"/>
          <p:cNvSpPr txBox="1"/>
          <p:nvPr/>
        </p:nvSpPr>
        <p:spPr>
          <a:xfrm>
            <a:off x="7006124" y="4326002"/>
            <a:ext cx="86926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ko-KR" altLang="en-US" sz="8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그룹 일정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76" name="직선 연결선[R] 33"/>
          <p:cNvCxnSpPr/>
          <p:nvPr/>
        </p:nvCxnSpPr>
        <p:spPr>
          <a:xfrm>
            <a:off x="7005802" y="4481529"/>
            <a:ext cx="2052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텍스트 상자 31"/>
          <p:cNvSpPr txBox="1"/>
          <p:nvPr/>
        </p:nvSpPr>
        <p:spPr>
          <a:xfrm>
            <a:off x="8395897" y="4350344"/>
            <a:ext cx="558006" cy="769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kumimoji="1" lang="ko-KR" altLang="en-US" sz="500" b="1" u="sng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전체 일정 보기</a:t>
            </a:r>
            <a:endParaRPr kumimoji="1" lang="ko-KR" altLang="en-US" sz="500" b="1" u="sng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8" name="Rectangle 29"/>
          <p:cNvSpPr/>
          <p:nvPr/>
        </p:nvSpPr>
        <p:spPr>
          <a:xfrm>
            <a:off x="7025174" y="4558691"/>
            <a:ext cx="1998000" cy="788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79" name="직사각형 127"/>
          <p:cNvSpPr/>
          <p:nvPr/>
        </p:nvSpPr>
        <p:spPr>
          <a:xfrm>
            <a:off x="7122051" y="4593391"/>
            <a:ext cx="1807636" cy="7386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오늘   오후 </a:t>
            </a:r>
            <a:r>
              <a:rPr kumimoji="1" lang="en-US" altLang="ko-KR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일정제목</a:t>
            </a:r>
            <a:endParaRPr kumimoji="1"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08/23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kumimoji="1"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08/24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오후 </a:t>
            </a:r>
            <a:r>
              <a:rPr kumimoji="1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</a:t>
            </a:r>
            <a:r>
              <a:rPr kumimoji="1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 </a:t>
            </a:r>
            <a:r>
              <a:rPr kumimoji="1"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kumimoji="1" lang="en-US" altLang="ko-KR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08/27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08:00  </a:t>
            </a:r>
            <a:r>
              <a:rPr lang="ko-KR" altLang="en-US" sz="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일정제목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0" name="Freeform 14"/>
          <p:cNvSpPr>
            <a:spLocks noChangeArrowheads="1"/>
          </p:cNvSpPr>
          <p:nvPr/>
        </p:nvSpPr>
        <p:spPr bwMode="auto">
          <a:xfrm rot="5400000">
            <a:off x="8874281" y="4667541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1" name="Freeform 14"/>
          <p:cNvSpPr>
            <a:spLocks noChangeArrowheads="1"/>
          </p:cNvSpPr>
          <p:nvPr/>
        </p:nvSpPr>
        <p:spPr bwMode="auto">
          <a:xfrm rot="5400000">
            <a:off x="8874281" y="4842024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82" name="Freeform 14"/>
          <p:cNvSpPr>
            <a:spLocks noChangeArrowheads="1"/>
          </p:cNvSpPr>
          <p:nvPr/>
        </p:nvSpPr>
        <p:spPr bwMode="auto">
          <a:xfrm rot="5400000">
            <a:off x="8874281" y="5028527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grpSp>
        <p:nvGrpSpPr>
          <p:cNvPr id="83" name="Group 159"/>
          <p:cNvGrpSpPr/>
          <p:nvPr/>
        </p:nvGrpSpPr>
        <p:grpSpPr>
          <a:xfrm>
            <a:off x="6994207" y="5576668"/>
            <a:ext cx="2088322" cy="557327"/>
            <a:chOff x="5995939" y="5903574"/>
            <a:chExt cx="2088322" cy="557327"/>
          </a:xfrm>
        </p:grpSpPr>
        <p:sp>
          <p:nvSpPr>
            <p:cNvPr id="84" name="텍스트 상자 31"/>
            <p:cNvSpPr txBox="1"/>
            <p:nvPr/>
          </p:nvSpPr>
          <p:spPr>
            <a:xfrm>
              <a:off x="5996262" y="5903574"/>
              <a:ext cx="869265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kumimoji="1" lang="ko-KR" altLang="en-US" sz="8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그룹 인기 태그</a:t>
              </a:r>
              <a:endPara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cxnSp>
          <p:nvCxnSpPr>
            <p:cNvPr id="85" name="직선 연결선[R] 33"/>
            <p:cNvCxnSpPr/>
            <p:nvPr/>
          </p:nvCxnSpPr>
          <p:spPr>
            <a:xfrm>
              <a:off x="5995939" y="6059101"/>
              <a:ext cx="2052000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텍스트 상자 31"/>
            <p:cNvSpPr txBox="1"/>
            <p:nvPr/>
          </p:nvSpPr>
          <p:spPr>
            <a:xfrm>
              <a:off x="5996261" y="6115357"/>
              <a:ext cx="2088000" cy="3455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개발검토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#UI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회식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일정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#R&amp;R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설계서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/>
              </a:r>
              <a:b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</a:b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업데이트 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A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B #</a:t>
              </a:r>
              <a:r>
                <a:rPr kumimoji="1"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kumimoji="1"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C</a:t>
              </a:r>
              <a:r>
                <a:rPr kumimoji="1" lang="ko-KR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#</a:t>
              </a:r>
              <a:r>
                <a:rPr lang="ko-KR" altLang="en-US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태그</a:t>
              </a:r>
              <a:r>
                <a:rPr lang="en-US" altLang="ko-KR" sz="8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D</a:t>
              </a:r>
            </a:p>
          </p:txBody>
        </p:sp>
      </p:grpSp>
      <p:sp>
        <p:nvSpPr>
          <p:cNvPr id="87" name="텍스트 상자 31"/>
          <p:cNvSpPr txBox="1"/>
          <p:nvPr/>
        </p:nvSpPr>
        <p:spPr>
          <a:xfrm>
            <a:off x="7021177" y="2298420"/>
            <a:ext cx="11915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8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88" name="Freeform 13"/>
          <p:cNvSpPr>
            <a:spLocks noChangeAspect="1" noChangeArrowheads="1"/>
          </p:cNvSpPr>
          <p:nvPr/>
        </p:nvSpPr>
        <p:spPr bwMode="auto">
          <a:xfrm>
            <a:off x="8874414" y="2307886"/>
            <a:ext cx="143106" cy="144296"/>
          </a:xfrm>
          <a:custGeom>
            <a:avLst/>
            <a:gdLst>
              <a:gd name="T0" fmla="*/ 455 w 527"/>
              <a:gd name="T1" fmla="*/ 291 h 533"/>
              <a:gd name="T2" fmla="*/ 460 w 527"/>
              <a:gd name="T3" fmla="*/ 266 h 533"/>
              <a:gd name="T4" fmla="*/ 455 w 527"/>
              <a:gd name="T5" fmla="*/ 240 h 533"/>
              <a:gd name="T6" fmla="*/ 511 w 527"/>
              <a:gd name="T7" fmla="*/ 194 h 533"/>
              <a:gd name="T8" fmla="*/ 516 w 527"/>
              <a:gd name="T9" fmla="*/ 179 h 533"/>
              <a:gd name="T10" fmla="*/ 465 w 527"/>
              <a:gd name="T11" fmla="*/ 82 h 533"/>
              <a:gd name="T12" fmla="*/ 444 w 527"/>
              <a:gd name="T13" fmla="*/ 82 h 533"/>
              <a:gd name="T14" fmla="*/ 378 w 527"/>
              <a:gd name="T15" fmla="*/ 107 h 533"/>
              <a:gd name="T16" fmla="*/ 332 w 527"/>
              <a:gd name="T17" fmla="*/ 82 h 533"/>
              <a:gd name="T18" fmla="*/ 322 w 527"/>
              <a:gd name="T19" fmla="*/ 10 h 533"/>
              <a:gd name="T20" fmla="*/ 311 w 527"/>
              <a:gd name="T21" fmla="*/ 0 h 533"/>
              <a:gd name="T22" fmla="*/ 204 w 527"/>
              <a:gd name="T23" fmla="*/ 0 h 533"/>
              <a:gd name="T24" fmla="*/ 194 w 527"/>
              <a:gd name="T25" fmla="*/ 10 h 533"/>
              <a:gd name="T26" fmla="*/ 184 w 527"/>
              <a:gd name="T27" fmla="*/ 82 h 533"/>
              <a:gd name="T28" fmla="*/ 138 w 527"/>
              <a:gd name="T29" fmla="*/ 107 h 533"/>
              <a:gd name="T30" fmla="*/ 71 w 527"/>
              <a:gd name="T31" fmla="*/ 82 h 533"/>
              <a:gd name="T32" fmla="*/ 56 w 527"/>
              <a:gd name="T33" fmla="*/ 87 h 533"/>
              <a:gd name="T34" fmla="*/ 0 w 527"/>
              <a:gd name="T35" fmla="*/ 179 h 533"/>
              <a:gd name="T36" fmla="*/ 5 w 527"/>
              <a:gd name="T37" fmla="*/ 194 h 533"/>
              <a:gd name="T38" fmla="*/ 61 w 527"/>
              <a:gd name="T39" fmla="*/ 240 h 533"/>
              <a:gd name="T40" fmla="*/ 61 w 527"/>
              <a:gd name="T41" fmla="*/ 266 h 533"/>
              <a:gd name="T42" fmla="*/ 61 w 527"/>
              <a:gd name="T43" fmla="*/ 291 h 533"/>
              <a:gd name="T44" fmla="*/ 5 w 527"/>
              <a:gd name="T45" fmla="*/ 337 h 533"/>
              <a:gd name="T46" fmla="*/ 5 w 527"/>
              <a:gd name="T47" fmla="*/ 353 h 533"/>
              <a:gd name="T48" fmla="*/ 56 w 527"/>
              <a:gd name="T49" fmla="*/ 450 h 533"/>
              <a:gd name="T50" fmla="*/ 71 w 527"/>
              <a:gd name="T51" fmla="*/ 450 h 533"/>
              <a:gd name="T52" fmla="*/ 138 w 527"/>
              <a:gd name="T53" fmla="*/ 424 h 533"/>
              <a:gd name="T54" fmla="*/ 184 w 527"/>
              <a:gd name="T55" fmla="*/ 450 h 533"/>
              <a:gd name="T56" fmla="*/ 194 w 527"/>
              <a:gd name="T57" fmla="*/ 521 h 533"/>
              <a:gd name="T58" fmla="*/ 209 w 527"/>
              <a:gd name="T59" fmla="*/ 532 h 533"/>
              <a:gd name="T60" fmla="*/ 317 w 527"/>
              <a:gd name="T61" fmla="*/ 532 h 533"/>
              <a:gd name="T62" fmla="*/ 327 w 527"/>
              <a:gd name="T63" fmla="*/ 521 h 533"/>
              <a:gd name="T64" fmla="*/ 337 w 527"/>
              <a:gd name="T65" fmla="*/ 450 h 533"/>
              <a:gd name="T66" fmla="*/ 383 w 527"/>
              <a:gd name="T67" fmla="*/ 424 h 533"/>
              <a:gd name="T68" fmla="*/ 449 w 527"/>
              <a:gd name="T69" fmla="*/ 450 h 533"/>
              <a:gd name="T70" fmla="*/ 470 w 527"/>
              <a:gd name="T71" fmla="*/ 445 h 533"/>
              <a:gd name="T72" fmla="*/ 521 w 527"/>
              <a:gd name="T73" fmla="*/ 353 h 533"/>
              <a:gd name="T74" fmla="*/ 521 w 527"/>
              <a:gd name="T75" fmla="*/ 337 h 533"/>
              <a:gd name="T76" fmla="*/ 455 w 527"/>
              <a:gd name="T77" fmla="*/ 291 h 533"/>
              <a:gd name="T78" fmla="*/ 260 w 527"/>
              <a:gd name="T79" fmla="*/ 358 h 533"/>
              <a:gd name="T80" fmla="*/ 163 w 527"/>
              <a:gd name="T81" fmla="*/ 266 h 533"/>
              <a:gd name="T82" fmla="*/ 260 w 527"/>
              <a:gd name="T83" fmla="*/ 174 h 533"/>
              <a:gd name="T84" fmla="*/ 352 w 527"/>
              <a:gd name="T85" fmla="*/ 266 h 533"/>
              <a:gd name="T86" fmla="*/ 260 w 527"/>
              <a:gd name="T87" fmla="*/ 358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7" h="533">
                <a:moveTo>
                  <a:pt x="455" y="291"/>
                </a:moveTo>
                <a:cubicBezTo>
                  <a:pt x="455" y="286"/>
                  <a:pt x="460" y="276"/>
                  <a:pt x="460" y="266"/>
                </a:cubicBezTo>
                <a:cubicBezTo>
                  <a:pt x="460" y="256"/>
                  <a:pt x="460" y="245"/>
                  <a:pt x="455" y="240"/>
                </a:cubicBezTo>
                <a:lnTo>
                  <a:pt x="511" y="194"/>
                </a:lnTo>
                <a:cubicBezTo>
                  <a:pt x="521" y="189"/>
                  <a:pt x="521" y="184"/>
                  <a:pt x="516" y="179"/>
                </a:cubicBezTo>
                <a:lnTo>
                  <a:pt x="465" y="82"/>
                </a:lnTo>
                <a:cubicBezTo>
                  <a:pt x="460" y="82"/>
                  <a:pt x="455" y="77"/>
                  <a:pt x="444" y="82"/>
                </a:cubicBezTo>
                <a:lnTo>
                  <a:pt x="378" y="107"/>
                </a:lnTo>
                <a:cubicBezTo>
                  <a:pt x="368" y="97"/>
                  <a:pt x="352" y="92"/>
                  <a:pt x="332" y="82"/>
                </a:cubicBezTo>
                <a:lnTo>
                  <a:pt x="322" y="10"/>
                </a:lnTo>
                <a:cubicBezTo>
                  <a:pt x="327" y="5"/>
                  <a:pt x="317" y="0"/>
                  <a:pt x="311" y="0"/>
                </a:cubicBezTo>
                <a:lnTo>
                  <a:pt x="204" y="0"/>
                </a:lnTo>
                <a:cubicBezTo>
                  <a:pt x="199" y="0"/>
                  <a:pt x="194" y="5"/>
                  <a:pt x="194" y="10"/>
                </a:cubicBezTo>
                <a:lnTo>
                  <a:pt x="184" y="82"/>
                </a:lnTo>
                <a:cubicBezTo>
                  <a:pt x="163" y="87"/>
                  <a:pt x="153" y="97"/>
                  <a:pt x="138" y="107"/>
                </a:cubicBezTo>
                <a:lnTo>
                  <a:pt x="71" y="82"/>
                </a:lnTo>
                <a:cubicBezTo>
                  <a:pt x="66" y="77"/>
                  <a:pt x="61" y="82"/>
                  <a:pt x="56" y="87"/>
                </a:cubicBezTo>
                <a:lnTo>
                  <a:pt x="0" y="179"/>
                </a:lnTo>
                <a:cubicBezTo>
                  <a:pt x="0" y="184"/>
                  <a:pt x="0" y="189"/>
                  <a:pt x="5" y="194"/>
                </a:cubicBezTo>
                <a:lnTo>
                  <a:pt x="61" y="240"/>
                </a:lnTo>
                <a:cubicBezTo>
                  <a:pt x="61" y="245"/>
                  <a:pt x="61" y="256"/>
                  <a:pt x="61" y="266"/>
                </a:cubicBezTo>
                <a:cubicBezTo>
                  <a:pt x="61" y="276"/>
                  <a:pt x="61" y="286"/>
                  <a:pt x="61" y="291"/>
                </a:cubicBezTo>
                <a:lnTo>
                  <a:pt x="5" y="337"/>
                </a:lnTo>
                <a:cubicBezTo>
                  <a:pt x="0" y="343"/>
                  <a:pt x="0" y="348"/>
                  <a:pt x="5" y="353"/>
                </a:cubicBezTo>
                <a:lnTo>
                  <a:pt x="56" y="450"/>
                </a:lnTo>
                <a:cubicBezTo>
                  <a:pt x="61" y="450"/>
                  <a:pt x="66" y="455"/>
                  <a:pt x="71" y="450"/>
                </a:cubicBezTo>
                <a:lnTo>
                  <a:pt x="138" y="424"/>
                </a:lnTo>
                <a:cubicBezTo>
                  <a:pt x="153" y="434"/>
                  <a:pt x="168" y="445"/>
                  <a:pt x="184" y="450"/>
                </a:cubicBezTo>
                <a:lnTo>
                  <a:pt x="194" y="521"/>
                </a:lnTo>
                <a:cubicBezTo>
                  <a:pt x="194" y="526"/>
                  <a:pt x="199" y="532"/>
                  <a:pt x="209" y="532"/>
                </a:cubicBezTo>
                <a:lnTo>
                  <a:pt x="317" y="532"/>
                </a:lnTo>
                <a:cubicBezTo>
                  <a:pt x="322" y="532"/>
                  <a:pt x="327" y="526"/>
                  <a:pt x="327" y="521"/>
                </a:cubicBezTo>
                <a:lnTo>
                  <a:pt x="337" y="450"/>
                </a:lnTo>
                <a:cubicBezTo>
                  <a:pt x="357" y="445"/>
                  <a:pt x="373" y="434"/>
                  <a:pt x="383" y="424"/>
                </a:cubicBezTo>
                <a:lnTo>
                  <a:pt x="449" y="450"/>
                </a:lnTo>
                <a:cubicBezTo>
                  <a:pt x="455" y="455"/>
                  <a:pt x="465" y="450"/>
                  <a:pt x="470" y="445"/>
                </a:cubicBezTo>
                <a:lnTo>
                  <a:pt x="521" y="353"/>
                </a:lnTo>
                <a:cubicBezTo>
                  <a:pt x="526" y="348"/>
                  <a:pt x="526" y="337"/>
                  <a:pt x="521" y="337"/>
                </a:cubicBezTo>
                <a:lnTo>
                  <a:pt x="455" y="291"/>
                </a:lnTo>
                <a:close/>
                <a:moveTo>
                  <a:pt x="260" y="358"/>
                </a:moveTo>
                <a:cubicBezTo>
                  <a:pt x="209" y="358"/>
                  <a:pt x="163" y="317"/>
                  <a:pt x="163" y="266"/>
                </a:cubicBezTo>
                <a:cubicBezTo>
                  <a:pt x="163" y="215"/>
                  <a:pt x="209" y="174"/>
                  <a:pt x="260" y="174"/>
                </a:cubicBezTo>
                <a:cubicBezTo>
                  <a:pt x="311" y="174"/>
                  <a:pt x="352" y="215"/>
                  <a:pt x="352" y="266"/>
                </a:cubicBezTo>
                <a:cubicBezTo>
                  <a:pt x="352" y="317"/>
                  <a:pt x="311" y="358"/>
                  <a:pt x="260" y="3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40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89" name="텍스트 상자 31"/>
          <p:cNvSpPr txBox="1"/>
          <p:nvPr/>
        </p:nvSpPr>
        <p:spPr>
          <a:xfrm>
            <a:off x="7021177" y="2470629"/>
            <a:ext cx="420946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개설일</a:t>
            </a:r>
          </a:p>
          <a:p>
            <a:pPr>
              <a:lnSpc>
                <a:spcPct val="120000"/>
              </a:lnSpc>
            </a:pPr>
            <a:r>
              <a:rPr kumimoji="1"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소개 </a:t>
            </a:r>
            <a:endParaRPr kumimoji="1"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0" name="텍스트 상자 31"/>
          <p:cNvSpPr txBox="1"/>
          <p:nvPr/>
        </p:nvSpPr>
        <p:spPr>
          <a:xfrm>
            <a:off x="7468684" y="2470629"/>
            <a:ext cx="1531621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2017.04.01</a:t>
            </a:r>
            <a:endParaRPr kumimoji="1" lang="ko-KR" altLang="en-US" sz="700" dirty="0" smtClean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  <a:p>
            <a:pPr>
              <a:lnSpc>
                <a:spcPct val="120000"/>
              </a:lnSpc>
            </a:pP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17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년도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차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구축 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/>
            </a:r>
            <a:b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</a:b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입니다</a:t>
            </a:r>
            <a:r>
              <a:rPr kumimoji="1" lang="en-US" altLang="ko-KR" sz="7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.</a:t>
            </a:r>
            <a:endParaRPr kumimoji="1" lang="ko-KR" altLang="en-US" sz="7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91" name="Rounded Rectangle 293"/>
          <p:cNvSpPr/>
          <p:nvPr/>
        </p:nvSpPr>
        <p:spPr>
          <a:xfrm>
            <a:off x="8480653" y="2306265"/>
            <a:ext cx="324000" cy="144000"/>
          </a:xfrm>
          <a:prstGeom prst="roundRect">
            <a:avLst>
              <a:gd name="adj" fmla="val 47830"/>
            </a:avLst>
          </a:prstGeom>
          <a:noFill/>
          <a:ln w="1270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lvl="0" algn="ctr"/>
            <a:r>
              <a:rPr lang="ko-KR" altLang="en-US" sz="7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공개</a:t>
            </a:r>
            <a:endParaRPr lang="ko-KR" altLang="en-US" sz="700" b="1" dirty="0">
              <a:solidFill>
                <a:prstClr val="black">
                  <a:lumMod val="65000"/>
                  <a:lumOff val="3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3" name="Straight Connector 514"/>
          <p:cNvCxnSpPr>
            <a:endCxn id="5" idx="3"/>
          </p:cNvCxnSpPr>
          <p:nvPr/>
        </p:nvCxnSpPr>
        <p:spPr>
          <a:xfrm flipV="1">
            <a:off x="6924535" y="1134614"/>
            <a:ext cx="2230622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reeform 14"/>
          <p:cNvSpPr>
            <a:spLocks noChangeArrowheads="1"/>
          </p:cNvSpPr>
          <p:nvPr/>
        </p:nvSpPr>
        <p:spPr bwMode="auto">
          <a:xfrm rot="5400000">
            <a:off x="8874281" y="5216649"/>
            <a:ext cx="91044" cy="55638"/>
          </a:xfrm>
          <a:custGeom>
            <a:avLst/>
            <a:gdLst>
              <a:gd name="T0" fmla="*/ 36 w 316"/>
              <a:gd name="T1" fmla="*/ 193 h 194"/>
              <a:gd name="T2" fmla="*/ 158 w 316"/>
              <a:gd name="T3" fmla="*/ 72 h 194"/>
              <a:gd name="T4" fmla="*/ 280 w 316"/>
              <a:gd name="T5" fmla="*/ 193 h 194"/>
              <a:gd name="T6" fmla="*/ 315 w 316"/>
              <a:gd name="T7" fmla="*/ 158 h 194"/>
              <a:gd name="T8" fmla="*/ 158 w 316"/>
              <a:gd name="T9" fmla="*/ 0 h 194"/>
              <a:gd name="T10" fmla="*/ 0 w 316"/>
              <a:gd name="T11" fmla="*/ 158 h 194"/>
              <a:gd name="T12" fmla="*/ 36 w 316"/>
              <a:gd name="T13" fmla="*/ 19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6" h="194">
                <a:moveTo>
                  <a:pt x="36" y="193"/>
                </a:moveTo>
                <a:lnTo>
                  <a:pt x="158" y="72"/>
                </a:lnTo>
                <a:lnTo>
                  <a:pt x="280" y="193"/>
                </a:lnTo>
                <a:lnTo>
                  <a:pt x="315" y="158"/>
                </a:lnTo>
                <a:lnTo>
                  <a:pt x="158" y="0"/>
                </a:lnTo>
                <a:lnTo>
                  <a:pt x="0" y="158"/>
                </a:lnTo>
                <a:lnTo>
                  <a:pt x="36" y="193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185" name="직선 연결선 184"/>
          <p:cNvCxnSpPr>
            <a:endCxn id="5" idx="1"/>
          </p:cNvCxnSpPr>
          <p:nvPr/>
        </p:nvCxnSpPr>
        <p:spPr>
          <a:xfrm flipH="1">
            <a:off x="6931633" y="1177256"/>
            <a:ext cx="2150896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/>
          <p:cNvCxnSpPr/>
          <p:nvPr/>
        </p:nvCxnSpPr>
        <p:spPr>
          <a:xfrm flipH="1" flipV="1">
            <a:off x="6931195" y="1177256"/>
            <a:ext cx="2176989" cy="104888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Rectangle 202"/>
          <p:cNvSpPr/>
          <p:nvPr/>
        </p:nvSpPr>
        <p:spPr>
          <a:xfrm>
            <a:off x="1939939" y="1486106"/>
            <a:ext cx="4896000" cy="11153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>
              <a:latin typeface="+mn-ea"/>
            </a:endParaRPr>
          </a:p>
        </p:txBody>
      </p:sp>
      <p:sp>
        <p:nvSpPr>
          <p:cNvPr id="199" name="텍스트 상자 31"/>
          <p:cNvSpPr txBox="1"/>
          <p:nvPr/>
        </p:nvSpPr>
        <p:spPr>
          <a:xfrm>
            <a:off x="2397599" y="1616285"/>
            <a:ext cx="1269604" cy="10676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b="1" dirty="0" smtClean="0">
                <a:solidFill>
                  <a:srgbClr val="0000FF"/>
                </a:solidFill>
                <a:latin typeface="+mn-ea"/>
                <a:ea typeface="+mn-ea"/>
              </a:rPr>
              <a:t>김민수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|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UX/UI </a:t>
            </a:r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팀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00" name="그룹 400"/>
          <p:cNvGrpSpPr/>
          <p:nvPr/>
        </p:nvGrpSpPr>
        <p:grpSpPr>
          <a:xfrm>
            <a:off x="2054807" y="1605909"/>
            <a:ext cx="229236" cy="227167"/>
            <a:chOff x="2625629" y="3735853"/>
            <a:chExt cx="276891" cy="276839"/>
          </a:xfrm>
        </p:grpSpPr>
        <p:sp>
          <p:nvSpPr>
            <p:cNvPr id="231" name="Oval 121"/>
            <p:cNvSpPr>
              <a:spLocks noChangeAspect="1"/>
            </p:cNvSpPr>
            <p:nvPr/>
          </p:nvSpPr>
          <p:spPr bwMode="auto">
            <a:xfrm>
              <a:off x="2625629" y="3735853"/>
              <a:ext cx="276891" cy="27683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rgbClr val="D9D9D9"/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50800" tIns="50800" rIns="50800" bIns="50800" anchor="ctr"/>
            <a:lstStyle/>
            <a:p>
              <a:endParaRPr lang="x-none" altLang="x-none" sz="2400">
                <a:solidFill>
                  <a:srgbClr val="FFFFFF"/>
                </a:solidFill>
                <a:latin typeface="+mn-ea"/>
                <a:ea typeface="+mn-ea"/>
              </a:endParaRPr>
            </a:p>
          </p:txBody>
        </p:sp>
        <p:pic>
          <p:nvPicPr>
            <p:cNvPr id="232" name="Picture 157" descr="man-user (1).png"/>
            <p:cNvPicPr>
              <a:picLocks noChangeAspect="1"/>
            </p:cNvPicPr>
            <p:nvPr/>
          </p:nvPicPr>
          <p:blipFill>
            <a:blip r:embed="rId2" cstate="print">
              <a:alphaModFix amt="31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4451" y="3784666"/>
              <a:ext cx="179248" cy="179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30589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4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sp>
        <p:nvSpPr>
          <p:cNvPr id="201" name="텍스트 상자 31"/>
          <p:cNvSpPr txBox="1"/>
          <p:nvPr/>
        </p:nvSpPr>
        <p:spPr>
          <a:xfrm>
            <a:off x="2397599" y="1752923"/>
            <a:ext cx="1269604" cy="8389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1</a:t>
            </a:r>
            <a:r>
              <a:rPr kumimoji="1" lang="ko-KR" altLang="en-US" sz="55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시간 전</a:t>
            </a:r>
            <a:endParaRPr kumimoji="1" lang="ko-KR" altLang="en-US" sz="5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02" name="텍스트 상자 31"/>
          <p:cNvSpPr txBox="1"/>
          <p:nvPr/>
        </p:nvSpPr>
        <p:spPr>
          <a:xfrm>
            <a:off x="2054807" y="1956182"/>
            <a:ext cx="3198684" cy="10676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lvl="0"/>
            <a:r>
              <a:rPr lang="en-US" altLang="ko-KR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r>
              <a:rPr lang="ko-KR" altLang="en-US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통신사 프로젝트팀 회식 있습니다</a:t>
            </a:r>
            <a:r>
              <a:rPr lang="en-US" altLang="ko-KR" sz="7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Rounded Rectangle 245"/>
          <p:cNvSpPr/>
          <p:nvPr/>
        </p:nvSpPr>
        <p:spPr>
          <a:xfrm>
            <a:off x="2054807" y="2161358"/>
            <a:ext cx="420172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/>
                </a:solidFill>
                <a:latin typeface="+mn-ea"/>
              </a:rPr>
              <a:t>공지사항</a:t>
            </a:r>
            <a:endParaRPr lang="en-US" sz="55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5" name="Rounded Rectangle 246"/>
          <p:cNvSpPr/>
          <p:nvPr/>
        </p:nvSpPr>
        <p:spPr>
          <a:xfrm>
            <a:off x="2540248" y="2161358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회식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06" name="Rounded Rectangle 247"/>
          <p:cNvSpPr/>
          <p:nvPr/>
        </p:nvSpPr>
        <p:spPr>
          <a:xfrm>
            <a:off x="2899804" y="2161358"/>
            <a:ext cx="292746" cy="12637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550" dirty="0" smtClean="0">
                <a:solidFill>
                  <a:schemeClr val="bg1">
                    <a:lumMod val="50000"/>
                  </a:schemeClr>
                </a:solidFill>
                <a:latin typeface="+mn-ea"/>
              </a:rPr>
              <a:t>일정</a:t>
            </a:r>
            <a:endParaRPr lang="en-US" sz="55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207" name="직선 연결선[R] 33"/>
          <p:cNvCxnSpPr/>
          <p:nvPr/>
        </p:nvCxnSpPr>
        <p:spPr>
          <a:xfrm>
            <a:off x="2028601" y="2391417"/>
            <a:ext cx="471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" name="Freeform 26"/>
          <p:cNvSpPr>
            <a:spLocks noChangeAspect="1" noChangeArrowheads="1"/>
          </p:cNvSpPr>
          <p:nvPr/>
        </p:nvSpPr>
        <p:spPr bwMode="auto">
          <a:xfrm flipH="1">
            <a:off x="6702868" y="1614748"/>
            <a:ext cx="27871" cy="108000"/>
          </a:xfrm>
          <a:custGeom>
            <a:avLst/>
            <a:gdLst>
              <a:gd name="T0" fmla="*/ 49 w 104"/>
              <a:gd name="T1" fmla="*/ 103 h 411"/>
              <a:gd name="T2" fmla="*/ 103 w 104"/>
              <a:gd name="T3" fmla="*/ 49 h 411"/>
              <a:gd name="T4" fmla="*/ 49 w 104"/>
              <a:gd name="T5" fmla="*/ 0 h 411"/>
              <a:gd name="T6" fmla="*/ 0 w 104"/>
              <a:gd name="T7" fmla="*/ 49 h 411"/>
              <a:gd name="T8" fmla="*/ 49 w 104"/>
              <a:gd name="T9" fmla="*/ 103 h 411"/>
              <a:gd name="T10" fmla="*/ 49 w 104"/>
              <a:gd name="T11" fmla="*/ 152 h 411"/>
              <a:gd name="T12" fmla="*/ 0 w 104"/>
              <a:gd name="T13" fmla="*/ 205 h 411"/>
              <a:gd name="T14" fmla="*/ 49 w 104"/>
              <a:gd name="T15" fmla="*/ 254 h 411"/>
              <a:gd name="T16" fmla="*/ 103 w 104"/>
              <a:gd name="T17" fmla="*/ 205 h 411"/>
              <a:gd name="T18" fmla="*/ 49 w 104"/>
              <a:gd name="T19" fmla="*/ 152 h 411"/>
              <a:gd name="T20" fmla="*/ 49 w 104"/>
              <a:gd name="T21" fmla="*/ 308 h 411"/>
              <a:gd name="T22" fmla="*/ 0 w 104"/>
              <a:gd name="T23" fmla="*/ 357 h 411"/>
              <a:gd name="T24" fmla="*/ 49 w 104"/>
              <a:gd name="T25" fmla="*/ 410 h 411"/>
              <a:gd name="T26" fmla="*/ 103 w 104"/>
              <a:gd name="T27" fmla="*/ 357 h 411"/>
              <a:gd name="T28" fmla="*/ 49 w 104"/>
              <a:gd name="T29" fmla="*/ 308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4" h="411">
                <a:moveTo>
                  <a:pt x="49" y="103"/>
                </a:moveTo>
                <a:cubicBezTo>
                  <a:pt x="78" y="103"/>
                  <a:pt x="103" y="76"/>
                  <a:pt x="103" y="49"/>
                </a:cubicBezTo>
                <a:cubicBezTo>
                  <a:pt x="103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5" y="103"/>
                  <a:pt x="49" y="103"/>
                </a:cubicBezTo>
                <a:close/>
                <a:moveTo>
                  <a:pt x="49" y="152"/>
                </a:moveTo>
                <a:cubicBezTo>
                  <a:pt x="25" y="152"/>
                  <a:pt x="0" y="176"/>
                  <a:pt x="0" y="205"/>
                </a:cubicBezTo>
                <a:cubicBezTo>
                  <a:pt x="0" y="235"/>
                  <a:pt x="22" y="254"/>
                  <a:pt x="49" y="254"/>
                </a:cubicBezTo>
                <a:cubicBezTo>
                  <a:pt x="76" y="254"/>
                  <a:pt x="103" y="235"/>
                  <a:pt x="103" y="205"/>
                </a:cubicBezTo>
                <a:cubicBezTo>
                  <a:pt x="103" y="176"/>
                  <a:pt x="78" y="152"/>
                  <a:pt x="49" y="152"/>
                </a:cubicBezTo>
                <a:close/>
                <a:moveTo>
                  <a:pt x="49" y="308"/>
                </a:moveTo>
                <a:cubicBezTo>
                  <a:pt x="25" y="308"/>
                  <a:pt x="0" y="327"/>
                  <a:pt x="0" y="357"/>
                </a:cubicBezTo>
                <a:cubicBezTo>
                  <a:pt x="0" y="386"/>
                  <a:pt x="22" y="410"/>
                  <a:pt x="49" y="410"/>
                </a:cubicBezTo>
                <a:cubicBezTo>
                  <a:pt x="76" y="410"/>
                  <a:pt x="103" y="386"/>
                  <a:pt x="103" y="357"/>
                </a:cubicBezTo>
                <a:cubicBezTo>
                  <a:pt x="103" y="327"/>
                  <a:pt x="78" y="308"/>
                  <a:pt x="49" y="3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sp>
        <p:nvSpPr>
          <p:cNvPr id="281" name="Freeform 25"/>
          <p:cNvSpPr>
            <a:spLocks noChangeAspect="1" noEditPoints="1"/>
          </p:cNvSpPr>
          <p:nvPr/>
        </p:nvSpPr>
        <p:spPr bwMode="auto">
          <a:xfrm>
            <a:off x="6511346" y="1607737"/>
            <a:ext cx="88128" cy="108000"/>
          </a:xfrm>
          <a:custGeom>
            <a:avLst/>
            <a:gdLst>
              <a:gd name="T0" fmla="*/ 100 w 350"/>
              <a:gd name="T1" fmla="*/ 325 h 425"/>
              <a:gd name="T2" fmla="*/ 250 w 350"/>
              <a:gd name="T3" fmla="*/ 325 h 425"/>
              <a:gd name="T4" fmla="*/ 250 w 350"/>
              <a:gd name="T5" fmla="*/ 175 h 425"/>
              <a:gd name="T6" fmla="*/ 350 w 350"/>
              <a:gd name="T7" fmla="*/ 175 h 425"/>
              <a:gd name="T8" fmla="*/ 175 w 350"/>
              <a:gd name="T9" fmla="*/ 0 h 425"/>
              <a:gd name="T10" fmla="*/ 0 w 350"/>
              <a:gd name="T11" fmla="*/ 175 h 425"/>
              <a:gd name="T12" fmla="*/ 100 w 350"/>
              <a:gd name="T13" fmla="*/ 175 h 425"/>
              <a:gd name="T14" fmla="*/ 100 w 350"/>
              <a:gd name="T15" fmla="*/ 325 h 425"/>
              <a:gd name="T16" fmla="*/ 0 w 350"/>
              <a:gd name="T17" fmla="*/ 375 h 425"/>
              <a:gd name="T18" fmla="*/ 350 w 350"/>
              <a:gd name="T19" fmla="*/ 375 h 425"/>
              <a:gd name="T20" fmla="*/ 350 w 350"/>
              <a:gd name="T21" fmla="*/ 425 h 425"/>
              <a:gd name="T22" fmla="*/ 0 w 350"/>
              <a:gd name="T23" fmla="*/ 425 h 425"/>
              <a:gd name="T24" fmla="*/ 0 w 350"/>
              <a:gd name="T25" fmla="*/ 37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0" h="425">
                <a:moveTo>
                  <a:pt x="100" y="325"/>
                </a:moveTo>
                <a:lnTo>
                  <a:pt x="250" y="325"/>
                </a:lnTo>
                <a:lnTo>
                  <a:pt x="250" y="175"/>
                </a:lnTo>
                <a:lnTo>
                  <a:pt x="350" y="175"/>
                </a:lnTo>
                <a:lnTo>
                  <a:pt x="175" y="0"/>
                </a:lnTo>
                <a:lnTo>
                  <a:pt x="0" y="175"/>
                </a:lnTo>
                <a:lnTo>
                  <a:pt x="100" y="175"/>
                </a:lnTo>
                <a:lnTo>
                  <a:pt x="100" y="325"/>
                </a:lnTo>
                <a:close/>
                <a:moveTo>
                  <a:pt x="0" y="375"/>
                </a:moveTo>
                <a:lnTo>
                  <a:pt x="350" y="375"/>
                </a:lnTo>
                <a:lnTo>
                  <a:pt x="350" y="425"/>
                </a:lnTo>
                <a:lnTo>
                  <a:pt x="0" y="425"/>
                </a:lnTo>
                <a:lnTo>
                  <a:pt x="0" y="37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>
              <a:latin typeface="+mn-ea"/>
              <a:ea typeface="+mn-ea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2040056" y="2428572"/>
            <a:ext cx="927446" cy="115755"/>
            <a:chOff x="2063871" y="2807721"/>
            <a:chExt cx="927446" cy="115755"/>
          </a:xfrm>
        </p:grpSpPr>
        <p:grpSp>
          <p:nvGrpSpPr>
            <p:cNvPr id="336" name="그룹 335"/>
            <p:cNvGrpSpPr/>
            <p:nvPr/>
          </p:nvGrpSpPr>
          <p:grpSpPr>
            <a:xfrm>
              <a:off x="2195181" y="2807721"/>
              <a:ext cx="796136" cy="115755"/>
              <a:chOff x="2195181" y="2841183"/>
              <a:chExt cx="796136" cy="115755"/>
            </a:xfrm>
          </p:grpSpPr>
          <p:grpSp>
            <p:nvGrpSpPr>
              <p:cNvPr id="338" name="Group 10"/>
              <p:cNvGrpSpPr/>
              <p:nvPr/>
            </p:nvGrpSpPr>
            <p:grpSpPr>
              <a:xfrm>
                <a:off x="2195181" y="2847307"/>
                <a:ext cx="796136" cy="107722"/>
                <a:chOff x="2594860" y="3788208"/>
                <a:chExt cx="796136" cy="107722"/>
              </a:xfrm>
            </p:grpSpPr>
            <p:grpSp>
              <p:nvGrpSpPr>
                <p:cNvPr id="340" name="Group 311"/>
                <p:cNvGrpSpPr/>
                <p:nvPr/>
              </p:nvGrpSpPr>
              <p:grpSpPr>
                <a:xfrm>
                  <a:off x="3127159" y="3788208"/>
                  <a:ext cx="263837" cy="107722"/>
                  <a:chOff x="5094041" y="3121801"/>
                  <a:chExt cx="263837" cy="107722"/>
                </a:xfrm>
              </p:grpSpPr>
              <p:sp>
                <p:nvSpPr>
                  <p:cNvPr id="347" name="Freeform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4041" y="3136639"/>
                    <a:ext cx="90000" cy="89388"/>
                  </a:xfrm>
                  <a:custGeom>
                    <a:avLst/>
                    <a:gdLst>
                      <a:gd name="T0" fmla="*/ 587 w 650"/>
                      <a:gd name="T1" fmla="*/ 0 h 644"/>
                      <a:gd name="T2" fmla="*/ 68 w 650"/>
                      <a:gd name="T3" fmla="*/ 0 h 644"/>
                      <a:gd name="T4" fmla="*/ 0 w 650"/>
                      <a:gd name="T5" fmla="*/ 62 h 644"/>
                      <a:gd name="T6" fmla="*/ 0 w 650"/>
                      <a:gd name="T7" fmla="*/ 643 h 644"/>
                      <a:gd name="T8" fmla="*/ 130 w 650"/>
                      <a:gd name="T9" fmla="*/ 513 h 644"/>
                      <a:gd name="T10" fmla="*/ 587 w 650"/>
                      <a:gd name="T11" fmla="*/ 513 h 644"/>
                      <a:gd name="T12" fmla="*/ 649 w 650"/>
                      <a:gd name="T13" fmla="*/ 451 h 644"/>
                      <a:gd name="T14" fmla="*/ 649 w 650"/>
                      <a:gd name="T15" fmla="*/ 62 h 644"/>
                      <a:gd name="T16" fmla="*/ 587 w 650"/>
                      <a:gd name="T17" fmla="*/ 0 h 644"/>
                      <a:gd name="T18" fmla="*/ 229 w 650"/>
                      <a:gd name="T19" fmla="*/ 290 h 644"/>
                      <a:gd name="T20" fmla="*/ 167 w 650"/>
                      <a:gd name="T21" fmla="*/ 290 h 644"/>
                      <a:gd name="T22" fmla="*/ 167 w 650"/>
                      <a:gd name="T23" fmla="*/ 222 h 644"/>
                      <a:gd name="T24" fmla="*/ 229 w 650"/>
                      <a:gd name="T25" fmla="*/ 222 h 644"/>
                      <a:gd name="T26" fmla="*/ 229 w 650"/>
                      <a:gd name="T27" fmla="*/ 290 h 644"/>
                      <a:gd name="T28" fmla="*/ 359 w 650"/>
                      <a:gd name="T29" fmla="*/ 290 h 644"/>
                      <a:gd name="T30" fmla="*/ 297 w 650"/>
                      <a:gd name="T31" fmla="*/ 290 h 644"/>
                      <a:gd name="T32" fmla="*/ 297 w 650"/>
                      <a:gd name="T33" fmla="*/ 222 h 644"/>
                      <a:gd name="T34" fmla="*/ 359 w 650"/>
                      <a:gd name="T35" fmla="*/ 222 h 644"/>
                      <a:gd name="T36" fmla="*/ 359 w 650"/>
                      <a:gd name="T37" fmla="*/ 290 h 644"/>
                      <a:gd name="T38" fmla="*/ 488 w 650"/>
                      <a:gd name="T39" fmla="*/ 290 h 644"/>
                      <a:gd name="T40" fmla="*/ 420 w 650"/>
                      <a:gd name="T41" fmla="*/ 290 h 644"/>
                      <a:gd name="T42" fmla="*/ 420 w 650"/>
                      <a:gd name="T43" fmla="*/ 222 h 644"/>
                      <a:gd name="T44" fmla="*/ 488 w 650"/>
                      <a:gd name="T45" fmla="*/ 222 h 644"/>
                      <a:gd name="T46" fmla="*/ 488 w 650"/>
                      <a:gd name="T47" fmla="*/ 290 h 6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50" h="644">
                        <a:moveTo>
                          <a:pt x="587" y="0"/>
                        </a:moveTo>
                        <a:lnTo>
                          <a:pt x="68" y="0"/>
                        </a:lnTo>
                        <a:cubicBezTo>
                          <a:pt x="31" y="0"/>
                          <a:pt x="0" y="24"/>
                          <a:pt x="0" y="62"/>
                        </a:cubicBezTo>
                        <a:lnTo>
                          <a:pt x="0" y="643"/>
                        </a:lnTo>
                        <a:lnTo>
                          <a:pt x="130" y="513"/>
                        </a:lnTo>
                        <a:lnTo>
                          <a:pt x="587" y="513"/>
                        </a:lnTo>
                        <a:cubicBezTo>
                          <a:pt x="618" y="513"/>
                          <a:pt x="649" y="482"/>
                          <a:pt x="649" y="451"/>
                        </a:cubicBezTo>
                        <a:lnTo>
                          <a:pt x="649" y="62"/>
                        </a:lnTo>
                        <a:cubicBezTo>
                          <a:pt x="649" y="24"/>
                          <a:pt x="618" y="0"/>
                          <a:pt x="587" y="0"/>
                        </a:cubicBezTo>
                        <a:close/>
                        <a:moveTo>
                          <a:pt x="229" y="290"/>
                        </a:moveTo>
                        <a:lnTo>
                          <a:pt x="167" y="290"/>
                        </a:lnTo>
                        <a:lnTo>
                          <a:pt x="167" y="222"/>
                        </a:lnTo>
                        <a:lnTo>
                          <a:pt x="229" y="222"/>
                        </a:lnTo>
                        <a:lnTo>
                          <a:pt x="229" y="290"/>
                        </a:lnTo>
                        <a:close/>
                        <a:moveTo>
                          <a:pt x="359" y="290"/>
                        </a:moveTo>
                        <a:lnTo>
                          <a:pt x="297" y="290"/>
                        </a:lnTo>
                        <a:lnTo>
                          <a:pt x="297" y="222"/>
                        </a:lnTo>
                        <a:lnTo>
                          <a:pt x="359" y="222"/>
                        </a:lnTo>
                        <a:lnTo>
                          <a:pt x="359" y="290"/>
                        </a:lnTo>
                        <a:close/>
                        <a:moveTo>
                          <a:pt x="488" y="290"/>
                        </a:moveTo>
                        <a:lnTo>
                          <a:pt x="420" y="290"/>
                        </a:lnTo>
                        <a:lnTo>
                          <a:pt x="420" y="222"/>
                        </a:lnTo>
                        <a:lnTo>
                          <a:pt x="488" y="222"/>
                        </a:lnTo>
                        <a:lnTo>
                          <a:pt x="488" y="29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anchor="ctr"/>
                  <a:lstStyle>
                    <a:defPPr>
                      <a:defRPr lang="id-ID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5pPr>
                    <a:lvl6pPr marL="22860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6pPr>
                    <a:lvl7pPr marL="27432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7pPr>
                    <a:lvl8pPr marL="32004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8pPr>
                    <a:lvl9pPr marL="3657600" algn="l" defTabSz="457200" rtl="0" eaLnBrk="1" latinLnBrk="0" hangingPunct="1">
                      <a:defRPr kern="1200">
                        <a:solidFill>
                          <a:schemeClr val="tx1"/>
                        </a:solidFill>
                        <a:latin typeface="Roboto" charset="0"/>
                        <a:ea typeface="ＭＳ Ｐゴシック" charset="0"/>
                        <a:cs typeface="ＭＳ Ｐゴシック" charset="0"/>
                      </a:defRPr>
                    </a:lvl9pPr>
                  </a:lstStyle>
                  <a:p>
                    <a:endParaRPr lang="en-US" sz="1633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348" name="텍스트 상자 31"/>
                  <p:cNvSpPr txBox="1"/>
                  <p:nvPr/>
                </p:nvSpPr>
                <p:spPr>
                  <a:xfrm>
                    <a:off x="5240219" y="3121801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4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341" name="Group 312"/>
                <p:cNvGrpSpPr/>
                <p:nvPr/>
              </p:nvGrpSpPr>
              <p:grpSpPr>
                <a:xfrm>
                  <a:off x="2594860" y="3788208"/>
                  <a:ext cx="534081" cy="107722"/>
                  <a:chOff x="4269857" y="3799412"/>
                  <a:chExt cx="534081" cy="107722"/>
                </a:xfrm>
              </p:grpSpPr>
              <p:sp>
                <p:nvSpPr>
                  <p:cNvPr id="342" name="텍스트 상자 31"/>
                  <p:cNvSpPr txBox="1"/>
                  <p:nvPr/>
                </p:nvSpPr>
                <p:spPr>
                  <a:xfrm>
                    <a:off x="4686279" y="3799412"/>
                    <a:ext cx="117659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r>
                      <a:rPr kumimoji="1" lang="en-US" altLang="ko-KR" sz="700" dirty="0" smtClean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rPr>
                      <a:t>3</a:t>
                    </a:r>
                    <a:endParaRPr kumimoji="1" lang="ko-KR" altLang="en-US" sz="7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343" name="Group 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269857" y="3808273"/>
                    <a:ext cx="89419" cy="90000"/>
                    <a:chOff x="2178" y="1307"/>
                    <a:chExt cx="154" cy="155"/>
                  </a:xfrm>
                  <a:solidFill>
                    <a:schemeClr val="bg1">
                      <a:lumMod val="50000"/>
                    </a:schemeClr>
                  </a:solidFill>
                </p:grpSpPr>
                <p:sp>
                  <p:nvSpPr>
                    <p:cNvPr id="344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71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5" name="Oval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17" y="1354"/>
                      <a:ext cx="23" cy="23"/>
                    </a:xfrm>
                    <a:prstGeom prst="ellipse">
                      <a:avLst/>
                    </a:pr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6" name="Freeform 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2178" y="1307"/>
                      <a:ext cx="154" cy="155"/>
                    </a:xfrm>
                    <a:custGeom>
                      <a:avLst/>
                      <a:gdLst>
                        <a:gd name="T0" fmla="*/ 250 w 500"/>
                        <a:gd name="T1" fmla="*/ 0 h 500"/>
                        <a:gd name="T2" fmla="*/ 0 w 500"/>
                        <a:gd name="T3" fmla="*/ 250 h 500"/>
                        <a:gd name="T4" fmla="*/ 250 w 500"/>
                        <a:gd name="T5" fmla="*/ 500 h 500"/>
                        <a:gd name="T6" fmla="*/ 500 w 500"/>
                        <a:gd name="T7" fmla="*/ 250 h 500"/>
                        <a:gd name="T8" fmla="*/ 250 w 500"/>
                        <a:gd name="T9" fmla="*/ 0 h 500"/>
                        <a:gd name="T10" fmla="*/ 250 w 500"/>
                        <a:gd name="T11" fmla="*/ 450 h 500"/>
                        <a:gd name="T12" fmla="*/ 50 w 500"/>
                        <a:gd name="T13" fmla="*/ 250 h 500"/>
                        <a:gd name="T14" fmla="*/ 250 w 500"/>
                        <a:gd name="T15" fmla="*/ 50 h 500"/>
                        <a:gd name="T16" fmla="*/ 450 w 500"/>
                        <a:gd name="T17" fmla="*/ 250 h 500"/>
                        <a:gd name="T18" fmla="*/ 250 w 500"/>
                        <a:gd name="T19" fmla="*/ 450 h 500"/>
                        <a:gd name="T20" fmla="*/ 250 w 500"/>
                        <a:gd name="T21" fmla="*/ 350 h 500"/>
                        <a:gd name="T22" fmla="*/ 164 w 500"/>
                        <a:gd name="T23" fmla="*/ 300 h 500"/>
                        <a:gd name="T24" fmla="*/ 122 w 500"/>
                        <a:gd name="T25" fmla="*/ 300 h 500"/>
                        <a:gd name="T26" fmla="*/ 250 w 500"/>
                        <a:gd name="T27" fmla="*/ 388 h 500"/>
                        <a:gd name="T28" fmla="*/ 378 w 500"/>
                        <a:gd name="T29" fmla="*/ 300 h 500"/>
                        <a:gd name="T30" fmla="*/ 336 w 500"/>
                        <a:gd name="T31" fmla="*/ 300 h 500"/>
                        <a:gd name="T32" fmla="*/ 250 w 500"/>
                        <a:gd name="T33" fmla="*/ 350 h 5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00" h="500">
                          <a:moveTo>
                            <a:pt x="250" y="0"/>
                          </a:moveTo>
                          <a:cubicBezTo>
                            <a:pt x="112" y="0"/>
                            <a:pt x="0" y="112"/>
                            <a:pt x="0" y="250"/>
                          </a:cubicBezTo>
                          <a:cubicBezTo>
                            <a:pt x="0" y="388"/>
                            <a:pt x="112" y="500"/>
                            <a:pt x="250" y="500"/>
                          </a:cubicBezTo>
                          <a:cubicBezTo>
                            <a:pt x="388" y="500"/>
                            <a:pt x="500" y="388"/>
                            <a:pt x="500" y="250"/>
                          </a:cubicBezTo>
                          <a:cubicBezTo>
                            <a:pt x="500" y="112"/>
                            <a:pt x="388" y="0"/>
                            <a:pt x="250" y="0"/>
                          </a:cubicBezTo>
                          <a:close/>
                          <a:moveTo>
                            <a:pt x="250" y="450"/>
                          </a:moveTo>
                          <a:cubicBezTo>
                            <a:pt x="140" y="450"/>
                            <a:pt x="50" y="361"/>
                            <a:pt x="50" y="250"/>
                          </a:cubicBezTo>
                          <a:cubicBezTo>
                            <a:pt x="50" y="139"/>
                            <a:pt x="140" y="50"/>
                            <a:pt x="250" y="50"/>
                          </a:cubicBezTo>
                          <a:cubicBezTo>
                            <a:pt x="361" y="50"/>
                            <a:pt x="450" y="140"/>
                            <a:pt x="450" y="250"/>
                          </a:cubicBezTo>
                          <a:cubicBezTo>
                            <a:pt x="450" y="361"/>
                            <a:pt x="361" y="450"/>
                            <a:pt x="250" y="450"/>
                          </a:cubicBezTo>
                          <a:close/>
                          <a:moveTo>
                            <a:pt x="250" y="350"/>
                          </a:moveTo>
                          <a:cubicBezTo>
                            <a:pt x="213" y="350"/>
                            <a:pt x="181" y="330"/>
                            <a:pt x="164" y="300"/>
                          </a:cubicBezTo>
                          <a:lnTo>
                            <a:pt x="122" y="300"/>
                          </a:lnTo>
                          <a:cubicBezTo>
                            <a:pt x="142" y="351"/>
                            <a:pt x="192" y="388"/>
                            <a:pt x="250" y="388"/>
                          </a:cubicBezTo>
                          <a:cubicBezTo>
                            <a:pt x="308" y="388"/>
                            <a:pt x="358" y="351"/>
                            <a:pt x="378" y="300"/>
                          </a:cubicBezTo>
                          <a:lnTo>
                            <a:pt x="336" y="300"/>
                          </a:lnTo>
                          <a:cubicBezTo>
                            <a:pt x="319" y="330"/>
                            <a:pt x="287" y="350"/>
                            <a:pt x="250" y="350"/>
                          </a:cubicBezTo>
                          <a:close/>
                        </a:path>
                      </a:pathLst>
                    </a:custGeom>
                    <a:grpFill/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>
                        <a:latin typeface="+mn-ea"/>
                        <a:ea typeface="+mn-ea"/>
                      </a:endParaRPr>
                    </a:p>
                  </p:txBody>
                </p:sp>
              </p:grpSp>
            </p:grpSp>
          </p:grpSp>
          <p:pic>
            <p:nvPicPr>
              <p:cNvPr id="339" name="그림 338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302915" y="2841183"/>
                <a:ext cx="270094" cy="115755"/>
              </a:xfrm>
              <a:prstGeom prst="rect">
                <a:avLst/>
              </a:prstGeom>
            </p:spPr>
          </p:pic>
        </p:grpSp>
        <p:sp>
          <p:nvSpPr>
            <p:cNvPr id="337" name="Freeform 739"/>
            <p:cNvSpPr>
              <a:spLocks noChangeAspect="1"/>
            </p:cNvSpPr>
            <p:nvPr/>
          </p:nvSpPr>
          <p:spPr>
            <a:xfrm>
              <a:off x="2063871" y="2822987"/>
              <a:ext cx="76920" cy="85196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1939939" y="2589012"/>
            <a:ext cx="4896001" cy="850249"/>
            <a:chOff x="1939939" y="3379587"/>
            <a:chExt cx="4896001" cy="850249"/>
          </a:xfrm>
        </p:grpSpPr>
        <p:sp>
          <p:nvSpPr>
            <p:cNvPr id="203" name="Rectangle 231"/>
            <p:cNvSpPr/>
            <p:nvPr/>
          </p:nvSpPr>
          <p:spPr>
            <a:xfrm>
              <a:off x="1939939" y="3379587"/>
              <a:ext cx="4896000" cy="850249"/>
            </a:xfrm>
            <a:prstGeom prst="rect">
              <a:avLst/>
            </a:prstGeom>
            <a:solidFill>
              <a:srgbClr val="E7E7E7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grpSp>
          <p:nvGrpSpPr>
            <p:cNvPr id="209" name="Group 7"/>
            <p:cNvGrpSpPr/>
            <p:nvPr/>
          </p:nvGrpSpPr>
          <p:grpSpPr>
            <a:xfrm>
              <a:off x="2054807" y="3792842"/>
              <a:ext cx="1612396" cy="227167"/>
              <a:chOff x="2478168" y="4026446"/>
              <a:chExt cx="1612396" cy="229194"/>
            </a:xfrm>
          </p:grpSpPr>
          <p:sp>
            <p:nvSpPr>
              <p:cNvPr id="226" name="텍스트 상자 31"/>
              <p:cNvSpPr txBox="1"/>
              <p:nvPr/>
            </p:nvSpPr>
            <p:spPr>
              <a:xfrm>
                <a:off x="2820960" y="4029438"/>
                <a:ext cx="1269604" cy="2215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박현주</a:t>
                </a:r>
              </a:p>
              <a:p>
                <a:pPr>
                  <a:lnSpc>
                    <a:spcPct val="120000"/>
                  </a:lnSpc>
                </a:pP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너무 좋네요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~</a:t>
                </a:r>
                <a:r>
                  <a:rPr kumimoji="1" lang="ko-KR" altLang="en-US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수고하셨어요</a:t>
                </a:r>
                <a:r>
                  <a:rPr kumimoji="1" lang="en-US" altLang="ko-KR" sz="6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!</a:t>
                </a:r>
                <a:endParaRPr kumimoji="1" lang="ko-KR" altLang="en-US" sz="6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227" name="그룹 400"/>
              <p:cNvGrpSpPr/>
              <p:nvPr/>
            </p:nvGrpSpPr>
            <p:grpSpPr>
              <a:xfrm>
                <a:off x="2478168" y="4026446"/>
                <a:ext cx="229236" cy="229194"/>
                <a:chOff x="2625629" y="3735853"/>
                <a:chExt cx="276891" cy="276839"/>
              </a:xfrm>
            </p:grpSpPr>
            <p:sp>
              <p:nvSpPr>
                <p:cNvPr id="229" name="Oval 121"/>
                <p:cNvSpPr>
                  <a:spLocks noChangeAspect="1"/>
                </p:cNvSpPr>
                <p:nvPr/>
              </p:nvSpPr>
              <p:spPr bwMode="auto">
                <a:xfrm>
                  <a:off x="2625629" y="3735853"/>
                  <a:ext cx="276891" cy="276839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>
                  <a:solidFill>
                    <a:srgbClr val="D9D9D9"/>
                  </a:solidFill>
                  <a:prstDash val="solid"/>
                  <a:miter lim="4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lIns="50800" tIns="50800" rIns="50800" bIns="50800" anchor="ctr"/>
                <a:lstStyle/>
                <a:p>
                  <a:endParaRPr lang="x-none" altLang="x-none" sz="2400">
                    <a:solidFill>
                      <a:srgbClr val="FFFFFF"/>
                    </a:solidFill>
                    <a:latin typeface="+mn-ea"/>
                    <a:ea typeface="+mn-ea"/>
                  </a:endParaRPr>
                </a:p>
              </p:txBody>
            </p:sp>
            <p:pic>
              <p:nvPicPr>
                <p:cNvPr id="230" name="Picture 157" descr="man-user (1).png"/>
                <p:cNvPicPr>
                  <a:picLocks noChangeAspect="1"/>
                </p:cNvPicPr>
                <p:nvPr/>
              </p:nvPicPr>
              <p:blipFill>
                <a:blip r:embed="rId2" cstate="print">
                  <a:alphaModFix amt="31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4451" y="3784666"/>
                  <a:ext cx="179248" cy="17921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>
                          <a:alpha val="30589"/>
                        </a:srgbClr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flat" cmpd="sng">
                      <a:solidFill>
                        <a:srgbClr val="000000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</p:pic>
          </p:grpSp>
          <p:sp>
            <p:nvSpPr>
              <p:cNvPr id="228" name="텍스트 상자 31"/>
              <p:cNvSpPr txBox="1"/>
              <p:nvPr/>
            </p:nvSpPr>
            <p:spPr>
              <a:xfrm>
                <a:off x="3102626" y="4029437"/>
                <a:ext cx="598778" cy="1108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en-US" altLang="ko-KR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30</a:t>
                </a:r>
                <a:r>
                  <a:rPr kumimoji="1"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분전</a:t>
                </a:r>
                <a:endParaRPr kumimoji="1" lang="ko-KR" alt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13" name="직선 연결선[R] 33"/>
            <p:cNvCxnSpPr/>
            <p:nvPr/>
          </p:nvCxnSpPr>
          <p:spPr>
            <a:xfrm>
              <a:off x="2028601" y="3705985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Rectangle 313"/>
            <p:cNvSpPr/>
            <p:nvPr/>
          </p:nvSpPr>
          <p:spPr>
            <a:xfrm>
              <a:off x="1939940" y="4097549"/>
              <a:ext cx="4896000" cy="1248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>
                <a:latin typeface="+mn-ea"/>
              </a:endParaRPr>
            </a:p>
          </p:txBody>
        </p:sp>
        <p:sp>
          <p:nvSpPr>
            <p:cNvPr id="215" name="텍스트 상자 31"/>
            <p:cNvSpPr txBox="1"/>
            <p:nvPr/>
          </p:nvSpPr>
          <p:spPr>
            <a:xfrm>
              <a:off x="4117575" y="4111345"/>
              <a:ext cx="5580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b="1" u="sng" dirty="0" smtClean="0">
                  <a:solidFill>
                    <a:schemeClr val="bg1"/>
                  </a:solidFill>
                  <a:latin typeface="+mn-ea"/>
                  <a:ea typeface="+mn-ea"/>
                </a:rPr>
                <a:t>전체 댓글 보기</a:t>
              </a:r>
              <a:endParaRPr kumimoji="1" lang="ko-KR" altLang="en-US" sz="600" b="1" u="sng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380" name="그룹 379"/>
            <p:cNvGrpSpPr/>
            <p:nvPr/>
          </p:nvGrpSpPr>
          <p:grpSpPr>
            <a:xfrm>
              <a:off x="2025177" y="3446799"/>
              <a:ext cx="4675215" cy="198000"/>
              <a:chOff x="7341238" y="3747588"/>
              <a:chExt cx="4675215" cy="198000"/>
            </a:xfrm>
          </p:grpSpPr>
          <p:sp>
            <p:nvSpPr>
              <p:cNvPr id="381" name="Rectangle 321"/>
              <p:cNvSpPr/>
              <p:nvPr/>
            </p:nvSpPr>
            <p:spPr>
              <a:xfrm>
                <a:off x="7341238" y="3747588"/>
                <a:ext cx="4262914" cy="1980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ko-KR" altLang="en-US" sz="600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의견을 입력하세요</a:t>
                </a:r>
                <a:endParaRPr lang="en-US" sz="6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82" name="Rounded Rectangle 616"/>
              <p:cNvSpPr/>
              <p:nvPr/>
            </p:nvSpPr>
            <p:spPr>
              <a:xfrm>
                <a:off x="11656453" y="3755850"/>
                <a:ext cx="360000" cy="180000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b="1" dirty="0" smtClean="0"/>
                  <a:t>등록</a:t>
                </a:r>
                <a:endParaRPr lang="en-US" sz="700" b="1" dirty="0"/>
              </a:p>
            </p:txBody>
          </p:sp>
          <p:sp>
            <p:nvSpPr>
              <p:cNvPr id="383" name="Freeform 17"/>
              <p:cNvSpPr>
                <a:spLocks noChangeArrowheads="1"/>
              </p:cNvSpPr>
              <p:nvPr/>
            </p:nvSpPr>
            <p:spPr bwMode="auto">
              <a:xfrm>
                <a:off x="11228438" y="3790180"/>
                <a:ext cx="125954" cy="125954"/>
              </a:xfrm>
              <a:custGeom>
                <a:avLst/>
                <a:gdLst>
                  <a:gd name="T0" fmla="*/ 403 w 404"/>
                  <a:gd name="T1" fmla="*/ 360 h 404"/>
                  <a:gd name="T2" fmla="*/ 403 w 404"/>
                  <a:gd name="T3" fmla="*/ 43 h 404"/>
                  <a:gd name="T4" fmla="*/ 360 w 404"/>
                  <a:gd name="T5" fmla="*/ 0 h 404"/>
                  <a:gd name="T6" fmla="*/ 47 w 404"/>
                  <a:gd name="T7" fmla="*/ 0 h 404"/>
                  <a:gd name="T8" fmla="*/ 0 w 404"/>
                  <a:gd name="T9" fmla="*/ 43 h 404"/>
                  <a:gd name="T10" fmla="*/ 0 w 404"/>
                  <a:gd name="T11" fmla="*/ 360 h 404"/>
                  <a:gd name="T12" fmla="*/ 47 w 404"/>
                  <a:gd name="T13" fmla="*/ 403 h 404"/>
                  <a:gd name="T14" fmla="*/ 360 w 404"/>
                  <a:gd name="T15" fmla="*/ 403 h 404"/>
                  <a:gd name="T16" fmla="*/ 403 w 404"/>
                  <a:gd name="T17" fmla="*/ 360 h 404"/>
                  <a:gd name="T18" fmla="*/ 124 w 404"/>
                  <a:gd name="T19" fmla="*/ 236 h 404"/>
                  <a:gd name="T20" fmla="*/ 180 w 404"/>
                  <a:gd name="T21" fmla="*/ 304 h 404"/>
                  <a:gd name="T22" fmla="*/ 257 w 404"/>
                  <a:gd name="T23" fmla="*/ 201 h 404"/>
                  <a:gd name="T24" fmla="*/ 360 w 404"/>
                  <a:gd name="T25" fmla="*/ 334 h 404"/>
                  <a:gd name="T26" fmla="*/ 47 w 404"/>
                  <a:gd name="T27" fmla="*/ 334 h 404"/>
                  <a:gd name="T28" fmla="*/ 124 w 404"/>
                  <a:gd name="T29" fmla="*/ 236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4" h="404">
                    <a:moveTo>
                      <a:pt x="403" y="360"/>
                    </a:moveTo>
                    <a:lnTo>
                      <a:pt x="403" y="43"/>
                    </a:lnTo>
                    <a:cubicBezTo>
                      <a:pt x="403" y="21"/>
                      <a:pt x="386" y="0"/>
                      <a:pt x="360" y="0"/>
                    </a:cubicBezTo>
                    <a:lnTo>
                      <a:pt x="47" y="0"/>
                    </a:lnTo>
                    <a:cubicBezTo>
                      <a:pt x="22" y="0"/>
                      <a:pt x="0" y="21"/>
                      <a:pt x="0" y="43"/>
                    </a:cubicBezTo>
                    <a:lnTo>
                      <a:pt x="0" y="360"/>
                    </a:lnTo>
                    <a:cubicBezTo>
                      <a:pt x="0" y="381"/>
                      <a:pt x="22" y="403"/>
                      <a:pt x="47" y="403"/>
                    </a:cubicBezTo>
                    <a:lnTo>
                      <a:pt x="360" y="403"/>
                    </a:lnTo>
                    <a:cubicBezTo>
                      <a:pt x="386" y="403"/>
                      <a:pt x="403" y="381"/>
                      <a:pt x="403" y="360"/>
                    </a:cubicBezTo>
                    <a:close/>
                    <a:moveTo>
                      <a:pt x="124" y="236"/>
                    </a:moveTo>
                    <a:lnTo>
                      <a:pt x="180" y="304"/>
                    </a:lnTo>
                    <a:lnTo>
                      <a:pt x="257" y="201"/>
                    </a:lnTo>
                    <a:lnTo>
                      <a:pt x="360" y="334"/>
                    </a:lnTo>
                    <a:lnTo>
                      <a:pt x="47" y="334"/>
                    </a:lnTo>
                    <a:lnTo>
                      <a:pt x="124" y="2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pic>
            <p:nvPicPr>
              <p:cNvPr id="384" name="Picture 2" descr="C:\Users\Administrator\Downloads\paperclip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4459" y="3790180"/>
                <a:ext cx="125954" cy="12595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224" name="TextBox 22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50" name="직사각형 249"/>
          <p:cNvSpPr/>
          <p:nvPr/>
        </p:nvSpPr>
        <p:spPr>
          <a:xfrm>
            <a:off x="4646212" y="1190625"/>
            <a:ext cx="2219325" cy="2095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lvl="0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작성자 ▼</a:t>
            </a:r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ㅣ 김민수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51" name="Freeform 10"/>
          <p:cNvSpPr>
            <a:spLocks noChangeAspect="1" noChangeArrowheads="1"/>
          </p:cNvSpPr>
          <p:nvPr/>
        </p:nvSpPr>
        <p:spPr bwMode="auto">
          <a:xfrm>
            <a:off x="6705673" y="1243158"/>
            <a:ext cx="108001" cy="108000"/>
          </a:xfrm>
          <a:custGeom>
            <a:avLst/>
            <a:gdLst>
              <a:gd name="T0" fmla="*/ 332 w 471"/>
              <a:gd name="T1" fmla="*/ 296 h 471"/>
              <a:gd name="T2" fmla="*/ 312 w 471"/>
              <a:gd name="T3" fmla="*/ 296 h 471"/>
              <a:gd name="T4" fmla="*/ 307 w 471"/>
              <a:gd name="T5" fmla="*/ 286 h 471"/>
              <a:gd name="T6" fmla="*/ 348 w 471"/>
              <a:gd name="T7" fmla="*/ 173 h 471"/>
              <a:gd name="T8" fmla="*/ 174 w 471"/>
              <a:gd name="T9" fmla="*/ 0 h 471"/>
              <a:gd name="T10" fmla="*/ 0 w 471"/>
              <a:gd name="T11" fmla="*/ 173 h 471"/>
              <a:gd name="T12" fmla="*/ 174 w 471"/>
              <a:gd name="T13" fmla="*/ 347 h 471"/>
              <a:gd name="T14" fmla="*/ 286 w 471"/>
              <a:gd name="T15" fmla="*/ 306 h 471"/>
              <a:gd name="T16" fmla="*/ 296 w 471"/>
              <a:gd name="T17" fmla="*/ 311 h 471"/>
              <a:gd name="T18" fmla="*/ 296 w 471"/>
              <a:gd name="T19" fmla="*/ 337 h 471"/>
              <a:gd name="T20" fmla="*/ 429 w 471"/>
              <a:gd name="T21" fmla="*/ 470 h 471"/>
              <a:gd name="T22" fmla="*/ 470 w 471"/>
              <a:gd name="T23" fmla="*/ 429 h 471"/>
              <a:gd name="T24" fmla="*/ 332 w 471"/>
              <a:gd name="T25" fmla="*/ 296 h 471"/>
              <a:gd name="T26" fmla="*/ 174 w 471"/>
              <a:gd name="T27" fmla="*/ 296 h 471"/>
              <a:gd name="T28" fmla="*/ 56 w 471"/>
              <a:gd name="T29" fmla="*/ 173 h 471"/>
              <a:gd name="T30" fmla="*/ 174 w 471"/>
              <a:gd name="T31" fmla="*/ 56 h 471"/>
              <a:gd name="T32" fmla="*/ 296 w 471"/>
              <a:gd name="T33" fmla="*/ 173 h 471"/>
              <a:gd name="T34" fmla="*/ 174 w 471"/>
              <a:gd name="T35" fmla="*/ 296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71" h="471">
                <a:moveTo>
                  <a:pt x="332" y="296"/>
                </a:moveTo>
                <a:lnTo>
                  <a:pt x="312" y="296"/>
                </a:lnTo>
                <a:lnTo>
                  <a:pt x="307" y="286"/>
                </a:lnTo>
                <a:cubicBezTo>
                  <a:pt x="332" y="255"/>
                  <a:pt x="348" y="219"/>
                  <a:pt x="348" y="173"/>
                </a:cubicBezTo>
                <a:cubicBezTo>
                  <a:pt x="348" y="76"/>
                  <a:pt x="271" y="0"/>
                  <a:pt x="174" y="0"/>
                </a:cubicBezTo>
                <a:cubicBezTo>
                  <a:pt x="77" y="0"/>
                  <a:pt x="0" y="76"/>
                  <a:pt x="0" y="173"/>
                </a:cubicBezTo>
                <a:cubicBezTo>
                  <a:pt x="0" y="270"/>
                  <a:pt x="77" y="347"/>
                  <a:pt x="174" y="347"/>
                </a:cubicBezTo>
                <a:cubicBezTo>
                  <a:pt x="215" y="347"/>
                  <a:pt x="256" y="332"/>
                  <a:pt x="286" y="306"/>
                </a:cubicBezTo>
                <a:lnTo>
                  <a:pt x="296" y="311"/>
                </a:lnTo>
                <a:lnTo>
                  <a:pt x="296" y="337"/>
                </a:lnTo>
                <a:lnTo>
                  <a:pt x="429" y="470"/>
                </a:lnTo>
                <a:lnTo>
                  <a:pt x="470" y="429"/>
                </a:lnTo>
                <a:lnTo>
                  <a:pt x="332" y="296"/>
                </a:lnTo>
                <a:close/>
                <a:moveTo>
                  <a:pt x="174" y="296"/>
                </a:moveTo>
                <a:cubicBezTo>
                  <a:pt x="107" y="296"/>
                  <a:pt x="56" y="240"/>
                  <a:pt x="56" y="173"/>
                </a:cubicBezTo>
                <a:cubicBezTo>
                  <a:pt x="56" y="107"/>
                  <a:pt x="107" y="56"/>
                  <a:pt x="174" y="56"/>
                </a:cubicBezTo>
                <a:cubicBezTo>
                  <a:pt x="240" y="56"/>
                  <a:pt x="296" y="107"/>
                  <a:pt x="296" y="173"/>
                </a:cubicBezTo>
                <a:cubicBezTo>
                  <a:pt x="296" y="240"/>
                  <a:pt x="240" y="296"/>
                  <a:pt x="174" y="296"/>
                </a:cubicBez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/>
          </a:p>
        </p:txBody>
      </p:sp>
      <p:graphicFrame>
        <p:nvGraphicFramePr>
          <p:cNvPr id="25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5384569"/>
              </p:ext>
            </p:extLst>
          </p:nvPr>
        </p:nvGraphicFramePr>
        <p:xfrm>
          <a:off x="9290533" y="786383"/>
          <a:ext cx="2835141" cy="1247495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건수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출력시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이전에 입력된 검색 조건 및 검색어 유지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57678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본문내 검색된 검색어에 강조 처리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60876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검색결과가 없을 경우 컨텐츠 영역에 해당 문구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985227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1952625" y="1195499"/>
            <a:ext cx="71550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 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6</a:t>
            </a:r>
            <a:r>
              <a:rPr lang="ko-KR" altLang="en-US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건</a:t>
            </a:r>
            <a:endParaRPr lang="ko-KR" altLang="en-US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1951948" y="1184368"/>
            <a:ext cx="743627" cy="215807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90" name="타원 189"/>
          <p:cNvSpPr>
            <a:spLocks noChangeAspect="1"/>
          </p:cNvSpPr>
          <p:nvPr/>
        </p:nvSpPr>
        <p:spPr>
          <a:xfrm>
            <a:off x="1874690" y="11028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1247775" y="73840"/>
            <a:ext cx="76199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피드 검색 결과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2" name="TextBox 191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피드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3" name="타원 192"/>
          <p:cNvSpPr>
            <a:spLocks noChangeAspect="1"/>
          </p:cNvSpPr>
          <p:nvPr/>
        </p:nvSpPr>
        <p:spPr>
          <a:xfrm>
            <a:off x="4579790" y="11028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4" name="TextBox 193"/>
          <p:cNvSpPr txBox="1"/>
          <p:nvPr/>
        </p:nvSpPr>
        <p:spPr>
          <a:xfrm>
            <a:off x="10210800" y="302440"/>
            <a:ext cx="442997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SQ5.9.1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5" name="모서리가 둥근 직사각형 194"/>
          <p:cNvSpPr/>
          <p:nvPr/>
        </p:nvSpPr>
        <p:spPr>
          <a:xfrm>
            <a:off x="2371049" y="1612993"/>
            <a:ext cx="315002" cy="139607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97" name="타원 196"/>
          <p:cNvSpPr>
            <a:spLocks noChangeAspect="1"/>
          </p:cNvSpPr>
          <p:nvPr/>
        </p:nvSpPr>
        <p:spPr>
          <a:xfrm>
            <a:off x="2303315" y="154095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787954" y="3993837"/>
            <a:ext cx="1217247" cy="230832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결과가 없습니다</a:t>
            </a:r>
            <a:r>
              <a:rPr lang="en-US" altLang="ko-KR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9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1952625" y="3641543"/>
            <a:ext cx="4861049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/>
          <p:cNvCxnSpPr/>
          <p:nvPr/>
        </p:nvCxnSpPr>
        <p:spPr>
          <a:xfrm>
            <a:off x="1952625" y="4660718"/>
            <a:ext cx="4861049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타원 216"/>
          <p:cNvSpPr>
            <a:spLocks noChangeAspect="1"/>
          </p:cNvSpPr>
          <p:nvPr/>
        </p:nvSpPr>
        <p:spPr>
          <a:xfrm>
            <a:off x="1874690" y="35793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3657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4294967295"/>
          </p:nvPr>
        </p:nvSpPr>
        <p:spPr>
          <a:xfrm>
            <a:off x="10247313" y="298450"/>
            <a:ext cx="1944687" cy="215900"/>
          </a:xfrm>
          <a:prstGeom prst="rect">
            <a:avLst/>
          </a:prstGeom>
        </p:spPr>
        <p:txBody>
          <a:bodyPr/>
          <a:lstStyle/>
          <a:p>
            <a:r>
              <a:rPr lang="en-US" altLang="ko-KR"/>
              <a:t>SQ5.2.2.1</a:t>
            </a:r>
            <a:endParaRPr lang="ko-KR" altLang="en-US" dirty="0"/>
          </a:p>
        </p:txBody>
      </p:sp>
      <p:cxnSp>
        <p:nvCxnSpPr>
          <p:cNvPr id="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7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8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284" name="직선 연결선[R] 7"/>
          <p:cNvCxnSpPr/>
          <p:nvPr/>
        </p:nvCxnSpPr>
        <p:spPr>
          <a:xfrm>
            <a:off x="1868022" y="6353225"/>
            <a:ext cx="723441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miter lim="400000"/>
          </a:ln>
        </p:spPr>
      </p:cxnSp>
      <p:sp>
        <p:nvSpPr>
          <p:cNvPr id="301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"/>
            </p:custDataLst>
          </p:nvPr>
        </p:nvSpPr>
        <p:spPr>
          <a:xfrm>
            <a:off x="2105020" y="1160605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4" name="Rectangle 219"/>
          <p:cNvSpPr/>
          <p:nvPr/>
        </p:nvSpPr>
        <p:spPr>
          <a:xfrm>
            <a:off x="341594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95" name="Group 8"/>
          <p:cNvGrpSpPr/>
          <p:nvPr/>
        </p:nvGrpSpPr>
        <p:grpSpPr>
          <a:xfrm>
            <a:off x="3411586" y="1693373"/>
            <a:ext cx="1243746" cy="875719"/>
            <a:chOff x="4724020" y="5478057"/>
            <a:chExt cx="6056162" cy="548658"/>
          </a:xfrm>
        </p:grpSpPr>
        <p:cxnSp>
          <p:nvCxnSpPr>
            <p:cNvPr id="96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0" name="Rectangle 219"/>
          <p:cNvSpPr/>
          <p:nvPr/>
        </p:nvSpPr>
        <p:spPr>
          <a:xfrm>
            <a:off x="4740545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91" name="Group 8"/>
          <p:cNvGrpSpPr/>
          <p:nvPr/>
        </p:nvGrpSpPr>
        <p:grpSpPr>
          <a:xfrm>
            <a:off x="4736184" y="1693373"/>
            <a:ext cx="1243746" cy="875719"/>
            <a:chOff x="4724020" y="5478057"/>
            <a:chExt cx="6056162" cy="548658"/>
          </a:xfrm>
        </p:grpSpPr>
        <p:cxnSp>
          <p:nvCxnSpPr>
            <p:cNvPr id="92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6" name="Rectangle 219"/>
          <p:cNvSpPr/>
          <p:nvPr/>
        </p:nvSpPr>
        <p:spPr>
          <a:xfrm>
            <a:off x="605659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87" name="Group 8"/>
          <p:cNvGrpSpPr/>
          <p:nvPr/>
        </p:nvGrpSpPr>
        <p:grpSpPr>
          <a:xfrm>
            <a:off x="6052236" y="1693373"/>
            <a:ext cx="1243746" cy="875719"/>
            <a:chOff x="4724020" y="5478057"/>
            <a:chExt cx="6056162" cy="548658"/>
          </a:xfrm>
        </p:grpSpPr>
        <p:cxnSp>
          <p:nvCxnSpPr>
            <p:cNvPr id="88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2" name="그룹 413"/>
          <p:cNvGrpSpPr/>
          <p:nvPr/>
        </p:nvGrpSpPr>
        <p:grpSpPr>
          <a:xfrm>
            <a:off x="7368571" y="1689034"/>
            <a:ext cx="1252842" cy="880058"/>
            <a:chOff x="2503918" y="3068243"/>
            <a:chExt cx="1067259" cy="749695"/>
          </a:xfrm>
        </p:grpSpPr>
        <p:sp>
          <p:nvSpPr>
            <p:cNvPr id="173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174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175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6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6" name="그룹 413"/>
          <p:cNvGrpSpPr/>
          <p:nvPr/>
        </p:nvGrpSpPr>
        <p:grpSpPr>
          <a:xfrm>
            <a:off x="2078442" y="2652944"/>
            <a:ext cx="1252842" cy="880058"/>
            <a:chOff x="2503918" y="3068243"/>
            <a:chExt cx="1067259" cy="749695"/>
          </a:xfrm>
        </p:grpSpPr>
        <p:sp>
          <p:nvSpPr>
            <p:cNvPr id="342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43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44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45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7" name="그룹 413"/>
          <p:cNvGrpSpPr/>
          <p:nvPr/>
        </p:nvGrpSpPr>
        <p:grpSpPr>
          <a:xfrm>
            <a:off x="3411586" y="2652944"/>
            <a:ext cx="1252842" cy="880058"/>
            <a:chOff x="2503918" y="3068243"/>
            <a:chExt cx="1067259" cy="749695"/>
          </a:xfrm>
        </p:grpSpPr>
        <p:sp>
          <p:nvSpPr>
            <p:cNvPr id="338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39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40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41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8" name="그룹 413"/>
          <p:cNvGrpSpPr/>
          <p:nvPr/>
        </p:nvGrpSpPr>
        <p:grpSpPr>
          <a:xfrm>
            <a:off x="4736184" y="2652944"/>
            <a:ext cx="1252842" cy="880058"/>
            <a:chOff x="2503918" y="3068243"/>
            <a:chExt cx="1067259" cy="749695"/>
          </a:xfrm>
        </p:grpSpPr>
        <p:sp>
          <p:nvSpPr>
            <p:cNvPr id="334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35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36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7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19" name="그룹 413"/>
          <p:cNvGrpSpPr/>
          <p:nvPr/>
        </p:nvGrpSpPr>
        <p:grpSpPr>
          <a:xfrm>
            <a:off x="6052236" y="2652944"/>
            <a:ext cx="1252842" cy="880058"/>
            <a:chOff x="2503918" y="3068243"/>
            <a:chExt cx="1067259" cy="749695"/>
          </a:xfrm>
        </p:grpSpPr>
        <p:sp>
          <p:nvSpPr>
            <p:cNvPr id="330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31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32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3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20" name="그룹 413"/>
          <p:cNvGrpSpPr/>
          <p:nvPr/>
        </p:nvGrpSpPr>
        <p:grpSpPr>
          <a:xfrm>
            <a:off x="7368571" y="2652944"/>
            <a:ext cx="1252842" cy="880058"/>
            <a:chOff x="2503918" y="3068243"/>
            <a:chExt cx="1067259" cy="749695"/>
          </a:xfrm>
        </p:grpSpPr>
        <p:sp>
          <p:nvSpPr>
            <p:cNvPr id="326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27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328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9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grpSp>
        <p:nvGrpSpPr>
          <p:cNvPr id="346" name="그룹 345"/>
          <p:cNvGrpSpPr/>
          <p:nvPr/>
        </p:nvGrpSpPr>
        <p:grpSpPr>
          <a:xfrm>
            <a:off x="2078442" y="3618581"/>
            <a:ext cx="6542971" cy="880058"/>
            <a:chOff x="2078442" y="1689034"/>
            <a:chExt cx="6542971" cy="880058"/>
          </a:xfrm>
        </p:grpSpPr>
        <p:grpSp>
          <p:nvGrpSpPr>
            <p:cNvPr id="347" name="그룹 413"/>
            <p:cNvGrpSpPr/>
            <p:nvPr/>
          </p:nvGrpSpPr>
          <p:grpSpPr>
            <a:xfrm>
              <a:off x="2078442" y="1689034"/>
              <a:ext cx="1252842" cy="880058"/>
              <a:chOff x="2503918" y="3068243"/>
              <a:chExt cx="1067259" cy="749695"/>
            </a:xfrm>
          </p:grpSpPr>
          <p:sp>
            <p:nvSpPr>
              <p:cNvPr id="373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74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75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76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48" name="그룹 413"/>
            <p:cNvGrpSpPr/>
            <p:nvPr/>
          </p:nvGrpSpPr>
          <p:grpSpPr>
            <a:xfrm>
              <a:off x="3411586" y="1689034"/>
              <a:ext cx="1252842" cy="880058"/>
              <a:chOff x="2503918" y="3068243"/>
              <a:chExt cx="1067259" cy="749695"/>
            </a:xfrm>
          </p:grpSpPr>
          <p:sp>
            <p:nvSpPr>
              <p:cNvPr id="369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70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71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72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49" name="그룹 413"/>
            <p:cNvGrpSpPr/>
            <p:nvPr/>
          </p:nvGrpSpPr>
          <p:grpSpPr>
            <a:xfrm>
              <a:off x="4736184" y="1689034"/>
              <a:ext cx="1252842" cy="880058"/>
              <a:chOff x="2503918" y="3068243"/>
              <a:chExt cx="1067259" cy="749695"/>
            </a:xfrm>
          </p:grpSpPr>
          <p:sp>
            <p:nvSpPr>
              <p:cNvPr id="365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66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67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68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50" name="그룹 413"/>
            <p:cNvGrpSpPr/>
            <p:nvPr/>
          </p:nvGrpSpPr>
          <p:grpSpPr>
            <a:xfrm>
              <a:off x="6052236" y="1689034"/>
              <a:ext cx="1252842" cy="880058"/>
              <a:chOff x="2503918" y="3068243"/>
              <a:chExt cx="1067259" cy="749695"/>
            </a:xfrm>
          </p:grpSpPr>
          <p:sp>
            <p:nvSpPr>
              <p:cNvPr id="361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62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63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64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51" name="그룹 413"/>
            <p:cNvGrpSpPr/>
            <p:nvPr/>
          </p:nvGrpSpPr>
          <p:grpSpPr>
            <a:xfrm>
              <a:off x="7368571" y="1689034"/>
              <a:ext cx="1252842" cy="880058"/>
              <a:chOff x="2503918" y="3068243"/>
              <a:chExt cx="1067259" cy="749695"/>
            </a:xfrm>
          </p:grpSpPr>
          <p:sp>
            <p:nvSpPr>
              <p:cNvPr id="357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58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59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60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</p:grpSp>
      <p:grpSp>
        <p:nvGrpSpPr>
          <p:cNvPr id="377" name="그룹 376"/>
          <p:cNvGrpSpPr/>
          <p:nvPr/>
        </p:nvGrpSpPr>
        <p:grpSpPr>
          <a:xfrm>
            <a:off x="2078442" y="4582491"/>
            <a:ext cx="6542971" cy="880058"/>
            <a:chOff x="2078442" y="1689034"/>
            <a:chExt cx="6542971" cy="880058"/>
          </a:xfrm>
        </p:grpSpPr>
        <p:grpSp>
          <p:nvGrpSpPr>
            <p:cNvPr id="378" name="그룹 413"/>
            <p:cNvGrpSpPr/>
            <p:nvPr/>
          </p:nvGrpSpPr>
          <p:grpSpPr>
            <a:xfrm>
              <a:off x="2078442" y="1689034"/>
              <a:ext cx="1252842" cy="880058"/>
              <a:chOff x="2503918" y="3068243"/>
              <a:chExt cx="1067259" cy="749695"/>
            </a:xfrm>
          </p:grpSpPr>
          <p:sp>
            <p:nvSpPr>
              <p:cNvPr id="404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05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06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07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79" name="그룹 413"/>
            <p:cNvGrpSpPr/>
            <p:nvPr/>
          </p:nvGrpSpPr>
          <p:grpSpPr>
            <a:xfrm>
              <a:off x="3411586" y="1689034"/>
              <a:ext cx="1252842" cy="880058"/>
              <a:chOff x="2503918" y="3068243"/>
              <a:chExt cx="1067259" cy="749695"/>
            </a:xfrm>
          </p:grpSpPr>
          <p:sp>
            <p:nvSpPr>
              <p:cNvPr id="400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401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402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403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80" name="그룹 413"/>
            <p:cNvGrpSpPr/>
            <p:nvPr/>
          </p:nvGrpSpPr>
          <p:grpSpPr>
            <a:xfrm>
              <a:off x="4736184" y="1689034"/>
              <a:ext cx="1252842" cy="880058"/>
              <a:chOff x="2503918" y="3068243"/>
              <a:chExt cx="1067259" cy="749695"/>
            </a:xfrm>
          </p:grpSpPr>
          <p:sp>
            <p:nvSpPr>
              <p:cNvPr id="396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97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98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99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81" name="그룹 413"/>
            <p:cNvGrpSpPr/>
            <p:nvPr/>
          </p:nvGrpSpPr>
          <p:grpSpPr>
            <a:xfrm>
              <a:off x="6052236" y="1689034"/>
              <a:ext cx="1252842" cy="880058"/>
              <a:chOff x="2503918" y="3068243"/>
              <a:chExt cx="1067259" cy="749695"/>
            </a:xfrm>
          </p:grpSpPr>
          <p:sp>
            <p:nvSpPr>
              <p:cNvPr id="392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93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94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95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  <p:grpSp>
          <p:nvGrpSpPr>
            <p:cNvPr id="382" name="그룹 413"/>
            <p:cNvGrpSpPr/>
            <p:nvPr/>
          </p:nvGrpSpPr>
          <p:grpSpPr>
            <a:xfrm>
              <a:off x="7368571" y="1689034"/>
              <a:ext cx="1252842" cy="880058"/>
              <a:chOff x="2503918" y="3068243"/>
              <a:chExt cx="1067259" cy="749695"/>
            </a:xfrm>
          </p:grpSpPr>
          <p:sp>
            <p:nvSpPr>
              <p:cNvPr id="388" name="Rectangle 219"/>
              <p:cNvSpPr/>
              <p:nvPr/>
            </p:nvSpPr>
            <p:spPr>
              <a:xfrm>
                <a:off x="2507633" y="3068243"/>
                <a:ext cx="1063544" cy="74661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7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50800" tIns="50800" rIns="50800" bIns="50800" anchor="ctr"/>
              <a:lstStyle/>
              <a:p>
                <a:endParaRPr lang="en-US" sz="24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89" name="Group 8"/>
              <p:cNvGrpSpPr/>
              <p:nvPr/>
            </p:nvGrpSpPr>
            <p:grpSpPr>
              <a:xfrm>
                <a:off x="2503918" y="3071939"/>
                <a:ext cx="1059510" cy="745999"/>
                <a:chOff x="4724020" y="5478057"/>
                <a:chExt cx="6056162" cy="548658"/>
              </a:xfrm>
            </p:grpSpPr>
            <p:cxnSp>
              <p:nvCxnSpPr>
                <p:cNvPr id="390" name="직선 연결선[R] 8"/>
                <p:cNvCxnSpPr/>
                <p:nvPr/>
              </p:nvCxnSpPr>
              <p:spPr>
                <a:xfrm flipV="1">
                  <a:off x="4724020" y="5493959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391" name="직선 연결선[R] 270"/>
                <p:cNvCxnSpPr/>
                <p:nvPr/>
              </p:nvCxnSpPr>
              <p:spPr>
                <a:xfrm>
                  <a:off x="4729935" y="5478057"/>
                  <a:ext cx="6050247" cy="532756"/>
                </a:xfrm>
                <a:prstGeom prst="line">
                  <a:avLst/>
                </a:prstGeom>
                <a:solidFill>
                  <a:schemeClr val="bg1">
                    <a:lumMod val="9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</p:cxnSp>
          </p:grpSp>
        </p:grpSp>
      </p:grpSp>
      <p:sp>
        <p:nvSpPr>
          <p:cNvPr id="10" name="위로 굽은 화살표 9"/>
          <p:cNvSpPr/>
          <p:nvPr/>
        </p:nvSpPr>
        <p:spPr>
          <a:xfrm rot="16200000" flipH="1">
            <a:off x="2526744" y="2006019"/>
            <a:ext cx="281985" cy="250119"/>
          </a:xfrm>
          <a:prstGeom prst="bentUpArrow">
            <a:avLst/>
          </a:prstGeom>
          <a:solidFill>
            <a:schemeClr val="bg1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20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20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20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189" name="모서리가 둥근 직사각형 188"/>
          <p:cNvSpPr/>
          <p:nvPr/>
        </p:nvSpPr>
        <p:spPr>
          <a:xfrm>
            <a:off x="4736185" y="3114943"/>
            <a:ext cx="1252842" cy="414448"/>
          </a:xfrm>
          <a:prstGeom prst="roundRect">
            <a:avLst>
              <a:gd name="adj" fmla="val 4014"/>
            </a:avLst>
          </a:prstGeom>
          <a:solidFill>
            <a:srgbClr val="0D0D0D">
              <a:alpha val="69804"/>
            </a:srgb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smtClean="0"/>
          </a:p>
        </p:txBody>
      </p:sp>
      <p:grpSp>
        <p:nvGrpSpPr>
          <p:cNvPr id="203" name="그룹 413"/>
          <p:cNvGrpSpPr/>
          <p:nvPr/>
        </p:nvGrpSpPr>
        <p:grpSpPr>
          <a:xfrm>
            <a:off x="2078442" y="1689034"/>
            <a:ext cx="1252842" cy="880058"/>
            <a:chOff x="2503918" y="3068243"/>
            <a:chExt cx="1067259" cy="749695"/>
          </a:xfrm>
        </p:grpSpPr>
        <p:sp>
          <p:nvSpPr>
            <p:cNvPr id="208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209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210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11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70" name="TextBox 69"/>
          <p:cNvSpPr txBox="1"/>
          <p:nvPr/>
        </p:nvSpPr>
        <p:spPr>
          <a:xfrm>
            <a:off x="2025681" y="1441892"/>
            <a:ext cx="8899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smtClean="0">
                <a:latin typeface="+mn-ea"/>
                <a:ea typeface="+mn-ea"/>
              </a:rPr>
              <a:t>전체 </a:t>
            </a:r>
            <a:r>
              <a:rPr lang="ko-KR" altLang="en-US" sz="800" b="1" smtClean="0">
                <a:latin typeface="+mn-ea"/>
                <a:ea typeface="+mn-ea"/>
              </a:rPr>
              <a:t>사진 </a:t>
            </a:r>
            <a:r>
              <a:rPr lang="en-US" altLang="ko-KR" sz="800" b="1" smtClean="0">
                <a:solidFill>
                  <a:srgbClr val="E46C0A"/>
                </a:solidFill>
                <a:latin typeface="+mn-ea"/>
                <a:ea typeface="+mn-ea"/>
              </a:rPr>
              <a:t>56</a:t>
            </a:r>
            <a:r>
              <a:rPr lang="ko-KR" altLang="en-US" sz="800" b="1" smtClean="0">
                <a:solidFill>
                  <a:srgbClr val="E46C0A"/>
                </a:solidFill>
                <a:latin typeface="+mn-ea"/>
                <a:ea typeface="+mn-ea"/>
              </a:rPr>
              <a:t>건</a:t>
            </a:r>
            <a:endParaRPr lang="ko-KR" altLang="en-US" sz="800" b="1" dirty="0">
              <a:solidFill>
                <a:srgbClr val="E46C0A"/>
              </a:solidFill>
              <a:latin typeface="+mn-ea"/>
              <a:ea typeface="+mn-ea"/>
            </a:endParaRPr>
          </a:p>
        </p:txBody>
      </p:sp>
      <p:cxnSp>
        <p:nvCxnSpPr>
          <p:cNvPr id="212" name="직선 연결선[R] 7"/>
          <p:cNvCxnSpPr/>
          <p:nvPr/>
        </p:nvCxnSpPr>
        <p:spPr>
          <a:xfrm>
            <a:off x="1913287" y="1395822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92" name="TextBox 191"/>
          <p:cNvSpPr txBox="1"/>
          <p:nvPr/>
        </p:nvSpPr>
        <p:spPr bwMode="auto">
          <a:xfrm>
            <a:off x="5034858" y="3167665"/>
            <a:ext cx="978153" cy="32316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smtClean="0">
                <a:solidFill>
                  <a:schemeClr val="bg1"/>
                </a:solidFill>
                <a:latin typeface="+mn-ea"/>
                <a:ea typeface="+mn-ea"/>
              </a:rPr>
              <a:t>홍길동 </a:t>
            </a:r>
            <a:r>
              <a:rPr lang="ko-KR" altLang="en-US" sz="700" smtClean="0">
                <a:solidFill>
                  <a:schemeClr val="bg1"/>
                </a:solidFill>
                <a:latin typeface="+mn-ea"/>
                <a:ea typeface="+mn-ea"/>
              </a:rPr>
              <a:t>제품기획팀</a:t>
            </a:r>
            <a:endParaRPr lang="en-US" altLang="ko-KR" sz="700" smtClean="0">
              <a:solidFill>
                <a:schemeClr val="bg1"/>
              </a:solidFill>
              <a:latin typeface="+mn-ea"/>
              <a:ea typeface="+mn-ea"/>
            </a:endParaRPr>
          </a:p>
          <a:p>
            <a:pPr>
              <a:defRPr/>
            </a:pPr>
            <a:r>
              <a:rPr lang="en-US" altLang="ko-KR" sz="700">
                <a:solidFill>
                  <a:schemeClr val="bg1"/>
                </a:solidFill>
                <a:latin typeface="+mn-ea"/>
              </a:rPr>
              <a:t>03-17 </a:t>
            </a:r>
            <a:r>
              <a:rPr lang="en-US" altLang="ko-KR" sz="700" smtClean="0">
                <a:solidFill>
                  <a:schemeClr val="bg1"/>
                </a:solidFill>
                <a:latin typeface="+mn-ea"/>
              </a:rPr>
              <a:t>11:24</a:t>
            </a:r>
            <a:endParaRPr lang="ko-KR" altLang="en-US" sz="7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3" name="User"/>
          <p:cNvSpPr>
            <a:spLocks noChangeAspect="1" noEditPoints="1"/>
          </p:cNvSpPr>
          <p:nvPr/>
        </p:nvSpPr>
        <p:spPr bwMode="auto">
          <a:xfrm>
            <a:off x="4839232" y="3217114"/>
            <a:ext cx="198060" cy="210138"/>
          </a:xfrm>
          <a:custGeom>
            <a:avLst/>
            <a:gdLst>
              <a:gd name="T0" fmla="*/ 146 w 535"/>
              <a:gd name="T1" fmla="*/ 66 h 568"/>
              <a:gd name="T2" fmla="*/ 136 w 535"/>
              <a:gd name="T3" fmla="*/ 231 h 568"/>
              <a:gd name="T4" fmla="*/ 161 w 535"/>
              <a:gd name="T5" fmla="*/ 274 h 568"/>
              <a:gd name="T6" fmla="*/ 184 w 535"/>
              <a:gd name="T7" fmla="*/ 332 h 568"/>
              <a:gd name="T8" fmla="*/ 189 w 535"/>
              <a:gd name="T9" fmla="*/ 385 h 568"/>
              <a:gd name="T10" fmla="*/ 97 w 535"/>
              <a:gd name="T11" fmla="*/ 437 h 568"/>
              <a:gd name="T12" fmla="*/ 0 w 535"/>
              <a:gd name="T13" fmla="*/ 554 h 568"/>
              <a:gd name="T14" fmla="*/ 535 w 535"/>
              <a:gd name="T15" fmla="*/ 568 h 568"/>
              <a:gd name="T16" fmla="*/ 501 w 535"/>
              <a:gd name="T17" fmla="*/ 477 h 568"/>
              <a:gd name="T18" fmla="*/ 377 w 535"/>
              <a:gd name="T19" fmla="*/ 412 h 568"/>
              <a:gd name="T20" fmla="*/ 345 w 535"/>
              <a:gd name="T21" fmla="*/ 337 h 568"/>
              <a:gd name="T22" fmla="*/ 361 w 535"/>
              <a:gd name="T23" fmla="*/ 314 h 568"/>
              <a:gd name="T24" fmla="*/ 385 w 535"/>
              <a:gd name="T25" fmla="*/ 267 h 568"/>
              <a:gd name="T26" fmla="*/ 389 w 535"/>
              <a:gd name="T27" fmla="*/ 199 h 568"/>
              <a:gd name="T28" fmla="*/ 383 w 535"/>
              <a:gd name="T29" fmla="*/ 54 h 568"/>
              <a:gd name="T30" fmla="*/ 266 w 535"/>
              <a:gd name="T31" fmla="*/ 0 h 568"/>
              <a:gd name="T32" fmla="*/ 266 w 535"/>
              <a:gd name="T33" fmla="*/ 27 h 568"/>
              <a:gd name="T34" fmla="*/ 319 w 535"/>
              <a:gd name="T35" fmla="*/ 49 h 568"/>
              <a:gd name="T36" fmla="*/ 362 w 535"/>
              <a:gd name="T37" fmla="*/ 70 h 568"/>
              <a:gd name="T38" fmla="*/ 362 w 535"/>
              <a:gd name="T39" fmla="*/ 198 h 568"/>
              <a:gd name="T40" fmla="*/ 368 w 535"/>
              <a:gd name="T41" fmla="*/ 213 h 568"/>
              <a:gd name="T42" fmla="*/ 364 w 535"/>
              <a:gd name="T43" fmla="*/ 251 h 568"/>
              <a:gd name="T44" fmla="*/ 350 w 535"/>
              <a:gd name="T45" fmla="*/ 255 h 568"/>
              <a:gd name="T46" fmla="*/ 337 w 535"/>
              <a:gd name="T47" fmla="*/ 302 h 568"/>
              <a:gd name="T48" fmla="*/ 325 w 535"/>
              <a:gd name="T49" fmla="*/ 320 h 568"/>
              <a:gd name="T50" fmla="*/ 318 w 535"/>
              <a:gd name="T51" fmla="*/ 332 h 568"/>
              <a:gd name="T52" fmla="*/ 320 w 535"/>
              <a:gd name="T53" fmla="*/ 391 h 568"/>
              <a:gd name="T54" fmla="*/ 365 w 535"/>
              <a:gd name="T55" fmla="*/ 436 h 568"/>
              <a:gd name="T56" fmla="*/ 482 w 535"/>
              <a:gd name="T57" fmla="*/ 496 h 568"/>
              <a:gd name="T58" fmla="*/ 30 w 535"/>
              <a:gd name="T59" fmla="*/ 541 h 568"/>
              <a:gd name="T60" fmla="*/ 107 w 535"/>
              <a:gd name="T61" fmla="*/ 462 h 568"/>
              <a:gd name="T62" fmla="*/ 214 w 535"/>
              <a:gd name="T63" fmla="*/ 393 h 568"/>
              <a:gd name="T64" fmla="*/ 215 w 535"/>
              <a:gd name="T65" fmla="*/ 390 h 568"/>
              <a:gd name="T66" fmla="*/ 217 w 535"/>
              <a:gd name="T67" fmla="*/ 324 h 568"/>
              <a:gd name="T68" fmla="*/ 205 w 535"/>
              <a:gd name="T69" fmla="*/ 316 h 568"/>
              <a:gd name="T70" fmla="*/ 186 w 535"/>
              <a:gd name="T71" fmla="*/ 266 h 568"/>
              <a:gd name="T72" fmla="*/ 173 w 535"/>
              <a:gd name="T73" fmla="*/ 254 h 568"/>
              <a:gd name="T74" fmla="*/ 162 w 535"/>
              <a:gd name="T75" fmla="*/ 228 h 568"/>
              <a:gd name="T76" fmla="*/ 175 w 535"/>
              <a:gd name="T77" fmla="*/ 208 h 568"/>
              <a:gd name="T78" fmla="*/ 171 w 535"/>
              <a:gd name="T79" fmla="*/ 76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35" h="568">
                <a:moveTo>
                  <a:pt x="266" y="0"/>
                </a:moveTo>
                <a:cubicBezTo>
                  <a:pt x="203" y="1"/>
                  <a:pt x="163" y="27"/>
                  <a:pt x="146" y="66"/>
                </a:cubicBezTo>
                <a:cubicBezTo>
                  <a:pt x="130" y="103"/>
                  <a:pt x="134" y="150"/>
                  <a:pt x="145" y="199"/>
                </a:cubicBezTo>
                <a:cubicBezTo>
                  <a:pt x="139" y="206"/>
                  <a:pt x="134" y="216"/>
                  <a:pt x="136" y="231"/>
                </a:cubicBezTo>
                <a:cubicBezTo>
                  <a:pt x="137" y="245"/>
                  <a:pt x="143" y="257"/>
                  <a:pt x="149" y="267"/>
                </a:cubicBezTo>
                <a:cubicBezTo>
                  <a:pt x="152" y="272"/>
                  <a:pt x="157" y="272"/>
                  <a:pt x="161" y="274"/>
                </a:cubicBezTo>
                <a:cubicBezTo>
                  <a:pt x="163" y="288"/>
                  <a:pt x="167" y="302"/>
                  <a:pt x="173" y="314"/>
                </a:cubicBezTo>
                <a:cubicBezTo>
                  <a:pt x="177" y="321"/>
                  <a:pt x="180" y="327"/>
                  <a:pt x="184" y="332"/>
                </a:cubicBezTo>
                <a:cubicBezTo>
                  <a:pt x="186" y="334"/>
                  <a:pt x="188" y="335"/>
                  <a:pt x="190" y="337"/>
                </a:cubicBezTo>
                <a:cubicBezTo>
                  <a:pt x="190" y="354"/>
                  <a:pt x="190" y="367"/>
                  <a:pt x="189" y="385"/>
                </a:cubicBezTo>
                <a:cubicBezTo>
                  <a:pt x="184" y="395"/>
                  <a:pt x="174" y="404"/>
                  <a:pt x="158" y="412"/>
                </a:cubicBezTo>
                <a:cubicBezTo>
                  <a:pt x="141" y="420"/>
                  <a:pt x="119" y="428"/>
                  <a:pt x="97" y="437"/>
                </a:cubicBezTo>
                <a:cubicBezTo>
                  <a:pt x="74" y="447"/>
                  <a:pt x="52" y="459"/>
                  <a:pt x="33" y="477"/>
                </a:cubicBezTo>
                <a:cubicBezTo>
                  <a:pt x="15" y="495"/>
                  <a:pt x="2" y="521"/>
                  <a:pt x="0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4" y="554"/>
                </a:lnTo>
                <a:cubicBezTo>
                  <a:pt x="532" y="521"/>
                  <a:pt x="519" y="495"/>
                  <a:pt x="501" y="477"/>
                </a:cubicBezTo>
                <a:cubicBezTo>
                  <a:pt x="483" y="459"/>
                  <a:pt x="460" y="447"/>
                  <a:pt x="438" y="437"/>
                </a:cubicBezTo>
                <a:cubicBezTo>
                  <a:pt x="416" y="428"/>
                  <a:pt x="394" y="420"/>
                  <a:pt x="377" y="412"/>
                </a:cubicBezTo>
                <a:cubicBezTo>
                  <a:pt x="361" y="404"/>
                  <a:pt x="350" y="395"/>
                  <a:pt x="346" y="385"/>
                </a:cubicBezTo>
                <a:cubicBezTo>
                  <a:pt x="345" y="367"/>
                  <a:pt x="345" y="354"/>
                  <a:pt x="345" y="337"/>
                </a:cubicBezTo>
                <a:cubicBezTo>
                  <a:pt x="347" y="335"/>
                  <a:pt x="349" y="334"/>
                  <a:pt x="351" y="332"/>
                </a:cubicBezTo>
                <a:cubicBezTo>
                  <a:pt x="354" y="327"/>
                  <a:pt x="358" y="321"/>
                  <a:pt x="361" y="314"/>
                </a:cubicBezTo>
                <a:cubicBezTo>
                  <a:pt x="367" y="302"/>
                  <a:pt x="371" y="288"/>
                  <a:pt x="373" y="274"/>
                </a:cubicBezTo>
                <a:cubicBezTo>
                  <a:pt x="377" y="272"/>
                  <a:pt x="382" y="272"/>
                  <a:pt x="385" y="267"/>
                </a:cubicBezTo>
                <a:cubicBezTo>
                  <a:pt x="392" y="259"/>
                  <a:pt x="396" y="247"/>
                  <a:pt x="398" y="231"/>
                </a:cubicBezTo>
                <a:cubicBezTo>
                  <a:pt x="400" y="216"/>
                  <a:pt x="395" y="207"/>
                  <a:pt x="389" y="199"/>
                </a:cubicBezTo>
                <a:cubicBezTo>
                  <a:pt x="396" y="178"/>
                  <a:pt x="404" y="144"/>
                  <a:pt x="401" y="109"/>
                </a:cubicBezTo>
                <a:cubicBezTo>
                  <a:pt x="400" y="90"/>
                  <a:pt x="395" y="70"/>
                  <a:pt x="383" y="54"/>
                </a:cubicBezTo>
                <a:cubicBezTo>
                  <a:pt x="373" y="40"/>
                  <a:pt x="356" y="30"/>
                  <a:pt x="334" y="25"/>
                </a:cubicBezTo>
                <a:cubicBezTo>
                  <a:pt x="320" y="7"/>
                  <a:pt x="295" y="0"/>
                  <a:pt x="266" y="0"/>
                </a:cubicBezTo>
                <a:lnTo>
                  <a:pt x="266" y="0"/>
                </a:lnTo>
                <a:close/>
                <a:moveTo>
                  <a:pt x="266" y="27"/>
                </a:moveTo>
                <a:cubicBezTo>
                  <a:pt x="293" y="27"/>
                  <a:pt x="310" y="35"/>
                  <a:pt x="315" y="43"/>
                </a:cubicBezTo>
                <a:lnTo>
                  <a:pt x="319" y="49"/>
                </a:lnTo>
                <a:lnTo>
                  <a:pt x="325" y="50"/>
                </a:lnTo>
                <a:cubicBezTo>
                  <a:pt x="344" y="52"/>
                  <a:pt x="354" y="60"/>
                  <a:pt x="362" y="70"/>
                </a:cubicBezTo>
                <a:cubicBezTo>
                  <a:pt x="369" y="80"/>
                  <a:pt x="373" y="95"/>
                  <a:pt x="374" y="111"/>
                </a:cubicBezTo>
                <a:cubicBezTo>
                  <a:pt x="377" y="143"/>
                  <a:pt x="368" y="180"/>
                  <a:pt x="362" y="198"/>
                </a:cubicBezTo>
                <a:lnTo>
                  <a:pt x="359" y="208"/>
                </a:lnTo>
                <a:lnTo>
                  <a:pt x="368" y="213"/>
                </a:lnTo>
                <a:cubicBezTo>
                  <a:pt x="367" y="213"/>
                  <a:pt x="373" y="217"/>
                  <a:pt x="372" y="228"/>
                </a:cubicBezTo>
                <a:cubicBezTo>
                  <a:pt x="370" y="241"/>
                  <a:pt x="367" y="248"/>
                  <a:pt x="364" y="251"/>
                </a:cubicBezTo>
                <a:cubicBezTo>
                  <a:pt x="362" y="254"/>
                  <a:pt x="361" y="254"/>
                  <a:pt x="361" y="254"/>
                </a:cubicBezTo>
                <a:lnTo>
                  <a:pt x="350" y="255"/>
                </a:lnTo>
                <a:lnTo>
                  <a:pt x="348" y="266"/>
                </a:lnTo>
                <a:cubicBezTo>
                  <a:pt x="347" y="277"/>
                  <a:pt x="343" y="291"/>
                  <a:pt x="337" y="302"/>
                </a:cubicBezTo>
                <a:cubicBezTo>
                  <a:pt x="335" y="308"/>
                  <a:pt x="332" y="313"/>
                  <a:pt x="329" y="316"/>
                </a:cubicBezTo>
                <a:cubicBezTo>
                  <a:pt x="327" y="319"/>
                  <a:pt x="324" y="321"/>
                  <a:pt x="325" y="320"/>
                </a:cubicBezTo>
                <a:lnTo>
                  <a:pt x="318" y="324"/>
                </a:lnTo>
                <a:lnTo>
                  <a:pt x="318" y="332"/>
                </a:lnTo>
                <a:cubicBezTo>
                  <a:pt x="318" y="352"/>
                  <a:pt x="318" y="367"/>
                  <a:pt x="320" y="390"/>
                </a:cubicBezTo>
                <a:lnTo>
                  <a:pt x="320" y="391"/>
                </a:lnTo>
                <a:lnTo>
                  <a:pt x="320" y="393"/>
                </a:lnTo>
                <a:cubicBezTo>
                  <a:pt x="328" y="413"/>
                  <a:pt x="346" y="426"/>
                  <a:pt x="365" y="436"/>
                </a:cubicBezTo>
                <a:cubicBezTo>
                  <a:pt x="384" y="445"/>
                  <a:pt x="406" y="453"/>
                  <a:pt x="427" y="462"/>
                </a:cubicBezTo>
                <a:cubicBezTo>
                  <a:pt x="448" y="471"/>
                  <a:pt x="468" y="481"/>
                  <a:pt x="482" y="496"/>
                </a:cubicBezTo>
                <a:cubicBezTo>
                  <a:pt x="493" y="507"/>
                  <a:pt x="500" y="522"/>
                  <a:pt x="504" y="541"/>
                </a:cubicBezTo>
                <a:lnTo>
                  <a:pt x="30" y="541"/>
                </a:lnTo>
                <a:cubicBezTo>
                  <a:pt x="34" y="522"/>
                  <a:pt x="41" y="507"/>
                  <a:pt x="52" y="496"/>
                </a:cubicBezTo>
                <a:cubicBezTo>
                  <a:pt x="67" y="481"/>
                  <a:pt x="86" y="471"/>
                  <a:pt x="107" y="462"/>
                </a:cubicBezTo>
                <a:cubicBezTo>
                  <a:pt x="128" y="453"/>
                  <a:pt x="150" y="445"/>
                  <a:pt x="170" y="436"/>
                </a:cubicBezTo>
                <a:cubicBezTo>
                  <a:pt x="189" y="426"/>
                  <a:pt x="207" y="413"/>
                  <a:pt x="214" y="393"/>
                </a:cubicBezTo>
                <a:lnTo>
                  <a:pt x="215" y="391"/>
                </a:lnTo>
                <a:lnTo>
                  <a:pt x="215" y="390"/>
                </a:lnTo>
                <a:cubicBezTo>
                  <a:pt x="217" y="367"/>
                  <a:pt x="217" y="352"/>
                  <a:pt x="217" y="332"/>
                </a:cubicBezTo>
                <a:lnTo>
                  <a:pt x="217" y="324"/>
                </a:lnTo>
                <a:lnTo>
                  <a:pt x="209" y="320"/>
                </a:lnTo>
                <a:cubicBezTo>
                  <a:pt x="211" y="321"/>
                  <a:pt x="208" y="319"/>
                  <a:pt x="205" y="316"/>
                </a:cubicBezTo>
                <a:cubicBezTo>
                  <a:pt x="203" y="312"/>
                  <a:pt x="200" y="308"/>
                  <a:pt x="197" y="302"/>
                </a:cubicBezTo>
                <a:cubicBezTo>
                  <a:pt x="192" y="291"/>
                  <a:pt x="187" y="277"/>
                  <a:pt x="186" y="266"/>
                </a:cubicBezTo>
                <a:lnTo>
                  <a:pt x="184" y="255"/>
                </a:lnTo>
                <a:lnTo>
                  <a:pt x="173" y="254"/>
                </a:lnTo>
                <a:cubicBezTo>
                  <a:pt x="173" y="254"/>
                  <a:pt x="172" y="254"/>
                  <a:pt x="170" y="251"/>
                </a:cubicBezTo>
                <a:cubicBezTo>
                  <a:pt x="167" y="248"/>
                  <a:pt x="164" y="241"/>
                  <a:pt x="162" y="228"/>
                </a:cubicBezTo>
                <a:cubicBezTo>
                  <a:pt x="160" y="222"/>
                  <a:pt x="165" y="217"/>
                  <a:pt x="166" y="213"/>
                </a:cubicBezTo>
                <a:lnTo>
                  <a:pt x="175" y="208"/>
                </a:lnTo>
                <a:lnTo>
                  <a:pt x="172" y="199"/>
                </a:lnTo>
                <a:cubicBezTo>
                  <a:pt x="160" y="150"/>
                  <a:pt x="158" y="106"/>
                  <a:pt x="171" y="76"/>
                </a:cubicBezTo>
                <a:cubicBezTo>
                  <a:pt x="184" y="47"/>
                  <a:pt x="210" y="28"/>
                  <a:pt x="266" y="2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" name="그룹 15"/>
          <p:cNvGrpSpPr/>
          <p:nvPr/>
        </p:nvGrpSpPr>
        <p:grpSpPr>
          <a:xfrm>
            <a:off x="2150141" y="1738597"/>
            <a:ext cx="269058" cy="3024128"/>
            <a:chOff x="2150141" y="1738597"/>
            <a:chExt cx="269058" cy="3024128"/>
          </a:xfrm>
        </p:grpSpPr>
        <p:grpSp>
          <p:nvGrpSpPr>
            <p:cNvPr id="15" name="그룹 14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15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21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7" name="그룹 216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18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9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20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0" name="그룹 219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21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2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9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3" name="그룹 222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25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8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29" name="그룹 228"/>
          <p:cNvGrpSpPr/>
          <p:nvPr/>
        </p:nvGrpSpPr>
        <p:grpSpPr>
          <a:xfrm>
            <a:off x="3479588" y="1738597"/>
            <a:ext cx="269058" cy="3024128"/>
            <a:chOff x="2150141" y="1738597"/>
            <a:chExt cx="269058" cy="3024128"/>
          </a:xfrm>
        </p:grpSpPr>
        <p:grpSp>
          <p:nvGrpSpPr>
            <p:cNvPr id="230" name="그룹 229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40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1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7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1" name="그룹 230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38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9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6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2" name="그룹 231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36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7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5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34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5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4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42" name="그룹 241"/>
          <p:cNvGrpSpPr/>
          <p:nvPr/>
        </p:nvGrpSpPr>
        <p:grpSpPr>
          <a:xfrm>
            <a:off x="4841460" y="1738597"/>
            <a:ext cx="269058" cy="3024128"/>
            <a:chOff x="2150141" y="1738597"/>
            <a:chExt cx="269058" cy="3024128"/>
          </a:xfrm>
        </p:grpSpPr>
        <p:grpSp>
          <p:nvGrpSpPr>
            <p:cNvPr id="243" name="그룹 242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54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5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3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4" name="그룹 243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51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3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2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5" name="그룹 244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49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0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1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6" name="그룹 245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47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8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10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56" name="그룹 255"/>
          <p:cNvGrpSpPr/>
          <p:nvPr/>
        </p:nvGrpSpPr>
        <p:grpSpPr>
          <a:xfrm>
            <a:off x="6135238" y="1738597"/>
            <a:ext cx="269058" cy="3024128"/>
            <a:chOff x="2150141" y="1738597"/>
            <a:chExt cx="269058" cy="3024128"/>
          </a:xfrm>
        </p:grpSpPr>
        <p:grpSp>
          <p:nvGrpSpPr>
            <p:cNvPr id="257" name="그룹 256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67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8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9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58" name="그룹 257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65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6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8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59" name="그룹 258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63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4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7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60" name="그룹 259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61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6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69" name="그룹 268"/>
          <p:cNvGrpSpPr/>
          <p:nvPr/>
        </p:nvGrpSpPr>
        <p:grpSpPr>
          <a:xfrm>
            <a:off x="7467928" y="1738597"/>
            <a:ext cx="269058" cy="3024128"/>
            <a:chOff x="2150141" y="1738597"/>
            <a:chExt cx="269058" cy="3024128"/>
          </a:xfrm>
        </p:grpSpPr>
        <p:grpSp>
          <p:nvGrpSpPr>
            <p:cNvPr id="270" name="그룹 269"/>
            <p:cNvGrpSpPr/>
            <p:nvPr/>
          </p:nvGrpSpPr>
          <p:grpSpPr>
            <a:xfrm>
              <a:off x="2150141" y="1738597"/>
              <a:ext cx="269058" cy="118800"/>
              <a:chOff x="2150141" y="1738597"/>
              <a:chExt cx="269058" cy="118800"/>
            </a:xfrm>
          </p:grpSpPr>
          <p:sp>
            <p:nvSpPr>
              <p:cNvPr id="280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1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5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1" name="그룹 270"/>
            <p:cNvGrpSpPr/>
            <p:nvPr/>
          </p:nvGrpSpPr>
          <p:grpSpPr>
            <a:xfrm>
              <a:off x="2150141" y="2717848"/>
              <a:ext cx="269058" cy="118800"/>
              <a:chOff x="2150141" y="1738597"/>
              <a:chExt cx="269058" cy="118800"/>
            </a:xfrm>
          </p:grpSpPr>
          <p:sp>
            <p:nvSpPr>
              <p:cNvPr id="278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9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4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2" name="그룹 271"/>
            <p:cNvGrpSpPr/>
            <p:nvPr/>
          </p:nvGrpSpPr>
          <p:grpSpPr>
            <a:xfrm>
              <a:off x="2150141" y="3680887"/>
              <a:ext cx="269058" cy="118800"/>
              <a:chOff x="2150141" y="1738597"/>
              <a:chExt cx="269058" cy="118800"/>
            </a:xfrm>
          </p:grpSpPr>
          <p:sp>
            <p:nvSpPr>
              <p:cNvPr id="276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7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3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/>
            <p:cNvGrpSpPr/>
            <p:nvPr/>
          </p:nvGrpSpPr>
          <p:grpSpPr>
            <a:xfrm>
              <a:off x="2150141" y="4643925"/>
              <a:ext cx="269058" cy="118800"/>
              <a:chOff x="2150141" y="1738597"/>
              <a:chExt cx="269058" cy="118800"/>
            </a:xfrm>
          </p:grpSpPr>
          <p:sp>
            <p:nvSpPr>
              <p:cNvPr id="274" name="Freeform 739"/>
              <p:cNvSpPr>
                <a:spLocks noChangeAspect="1"/>
              </p:cNvSpPr>
              <p:nvPr/>
            </p:nvSpPr>
            <p:spPr>
              <a:xfrm>
                <a:off x="2311939" y="1738597"/>
                <a:ext cx="107260" cy="118800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Box" descr="&lt;SmartSettings&gt;&lt;SmartResize anchorLeft=&quot;Absolute&quot; anchorTop=&quot;None&quot; anchorRight=&quot;None&quot; anchorBottom=&quot;None&quot; /&gt;&lt;/SmartSettings&gt;"/>
              <p:cNvSpPr/>
              <p:nvPr>
                <p:custDataLst>
                  <p:tags r:id="rId2"/>
                </p:custDataLst>
              </p:nvPr>
            </p:nvSpPr>
            <p:spPr>
              <a:xfrm>
                <a:off x="2150141" y="1741848"/>
                <a:ext cx="107839" cy="10973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83" name="Rounded Rectangle 939"/>
          <p:cNvSpPr/>
          <p:nvPr/>
        </p:nvSpPr>
        <p:spPr>
          <a:xfrm>
            <a:off x="2305050" y="1114425"/>
            <a:ext cx="659971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12700" dist="38100" dir="2700000" algn="tl" rotWithShape="0">
              <a:schemeClr val="bg1">
                <a:lumMod val="65000"/>
                <a:alpha val="47000"/>
              </a:schemeClr>
            </a:outerShdw>
          </a:effectLst>
        </p:spPr>
        <p:txBody>
          <a:bodyPr lIns="0" tIns="0" rIns="0" bIns="0" anchor="ctr"/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메일로 전송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282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85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88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9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29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9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9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94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96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9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9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9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0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3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30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06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7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8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0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11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12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13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14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15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21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2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323" name="TextBox 322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24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25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52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3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4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5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6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3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4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85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86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87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08" name="TextBox 407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421" name="그룹 420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422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3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424" name="직선 연결선[R] 7"/>
            <p:cNvCxnSpPr/>
            <p:nvPr/>
          </p:nvCxnSpPr>
          <p:spPr>
            <a:xfrm>
              <a:off x="4822367" y="1050903"/>
              <a:ext cx="343446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425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6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7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8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9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430" name="그룹 429"/>
          <p:cNvGrpSpPr/>
          <p:nvPr/>
        </p:nvGrpSpPr>
        <p:grpSpPr>
          <a:xfrm>
            <a:off x="6397670" y="1138430"/>
            <a:ext cx="2219325" cy="209550"/>
            <a:chOff x="4646212" y="1190625"/>
            <a:chExt cx="2219325" cy="209550"/>
          </a:xfrm>
        </p:grpSpPr>
        <p:sp>
          <p:nvSpPr>
            <p:cNvPr id="431" name="직사각형 430"/>
            <p:cNvSpPr/>
            <p:nvPr/>
          </p:nvSpPr>
          <p:spPr>
            <a:xfrm>
              <a:off x="4646212" y="1190625"/>
              <a:ext cx="2219325" cy="20955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작성자 </a:t>
              </a: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나눔고딕" pitchFamily="50" charset="-127"/>
                  <a:ea typeface="나눔고딕" pitchFamily="50" charset="-127"/>
                </a:rPr>
                <a:t>ㅣ</a:t>
              </a:r>
              <a:endPara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432" name="Freeform 10"/>
            <p:cNvSpPr>
              <a:spLocks noChangeAspect="1" noChangeArrowheads="1"/>
            </p:cNvSpPr>
            <p:nvPr/>
          </p:nvSpPr>
          <p:spPr bwMode="auto">
            <a:xfrm>
              <a:off x="6705673" y="1243158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433" name="타원 432"/>
          <p:cNvSpPr>
            <a:spLocks noChangeAspect="1"/>
          </p:cNvSpPr>
          <p:nvPr/>
        </p:nvSpPr>
        <p:spPr>
          <a:xfrm>
            <a:off x="6313340" y="1074232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4" name="TextBox 433"/>
          <p:cNvSpPr txBox="1"/>
          <p:nvPr/>
        </p:nvSpPr>
        <p:spPr>
          <a:xfrm>
            <a:off x="1247775" y="73840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사진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35" name="TextBox 434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사진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436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4421494"/>
              </p:ext>
            </p:extLst>
          </p:nvPr>
        </p:nvGraphicFramePr>
        <p:xfrm>
          <a:off x="9290533" y="786383"/>
          <a:ext cx="2835141" cy="607400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사진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tab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내 검색바 제공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조건은 작성자로 제한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437" name="TextBox 436"/>
          <p:cNvSpPr txBox="1"/>
          <p:nvPr/>
        </p:nvSpPr>
        <p:spPr>
          <a:xfrm>
            <a:off x="9305925" y="1397434"/>
            <a:ext cx="286673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각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스퀘어 그룹의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tab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메뉴에 공통적으로 적용되는 가이드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52425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7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8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sp>
        <p:nvSpPr>
          <p:cNvPr id="301" name="Box" descr="&lt;SmartSettings&gt;&lt;SmartResize anchorLeft=&quot;Absolute&quot; anchorTop=&quot;None&quot; anchorRight=&quot;None&quot; anchorBottom=&quot;None&quot; /&gt;&lt;/SmartSettings&gt;"/>
          <p:cNvSpPr/>
          <p:nvPr>
            <p:custDataLst>
              <p:tags r:id="rId1"/>
            </p:custDataLst>
          </p:nvPr>
        </p:nvSpPr>
        <p:spPr>
          <a:xfrm>
            <a:off x="2105020" y="1160605"/>
            <a:ext cx="107839" cy="10973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4" name="Rectangle 219"/>
          <p:cNvSpPr/>
          <p:nvPr/>
        </p:nvSpPr>
        <p:spPr>
          <a:xfrm>
            <a:off x="341594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95" name="Group 8"/>
          <p:cNvGrpSpPr/>
          <p:nvPr/>
        </p:nvGrpSpPr>
        <p:grpSpPr>
          <a:xfrm>
            <a:off x="3411586" y="1693373"/>
            <a:ext cx="1243746" cy="875719"/>
            <a:chOff x="4724020" y="5478057"/>
            <a:chExt cx="6056162" cy="548658"/>
          </a:xfrm>
        </p:grpSpPr>
        <p:cxnSp>
          <p:nvCxnSpPr>
            <p:cNvPr id="96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0" name="Rectangle 219"/>
          <p:cNvSpPr/>
          <p:nvPr/>
        </p:nvSpPr>
        <p:spPr>
          <a:xfrm>
            <a:off x="4740545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91" name="Group 8"/>
          <p:cNvGrpSpPr/>
          <p:nvPr/>
        </p:nvGrpSpPr>
        <p:grpSpPr>
          <a:xfrm>
            <a:off x="4736184" y="1693373"/>
            <a:ext cx="1243746" cy="875719"/>
            <a:chOff x="4724020" y="5478057"/>
            <a:chExt cx="6056162" cy="548658"/>
          </a:xfrm>
        </p:grpSpPr>
        <p:cxnSp>
          <p:nvCxnSpPr>
            <p:cNvPr id="92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6" name="Rectangle 219"/>
          <p:cNvSpPr/>
          <p:nvPr/>
        </p:nvSpPr>
        <p:spPr>
          <a:xfrm>
            <a:off x="6056597" y="1689034"/>
            <a:ext cx="1248481" cy="8764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bg1">
                <a:lumMod val="75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50800" tIns="50800" rIns="50800" bIns="50800" anchor="ctr"/>
          <a:lstStyle/>
          <a:p>
            <a:endParaRPr lang="en-US" sz="2400">
              <a:solidFill>
                <a:srgbClr val="FFFFFF"/>
              </a:solidFill>
            </a:endParaRPr>
          </a:p>
        </p:txBody>
      </p:sp>
      <p:grpSp>
        <p:nvGrpSpPr>
          <p:cNvPr id="87" name="Group 8"/>
          <p:cNvGrpSpPr/>
          <p:nvPr/>
        </p:nvGrpSpPr>
        <p:grpSpPr>
          <a:xfrm>
            <a:off x="6052236" y="1693373"/>
            <a:ext cx="1243746" cy="875719"/>
            <a:chOff x="4724020" y="5478057"/>
            <a:chExt cx="6056162" cy="548658"/>
          </a:xfrm>
        </p:grpSpPr>
        <p:cxnSp>
          <p:nvCxnSpPr>
            <p:cNvPr id="88" name="직선 연결선[R] 8"/>
            <p:cNvCxnSpPr/>
            <p:nvPr/>
          </p:nvCxnSpPr>
          <p:spPr>
            <a:xfrm flipV="1">
              <a:off x="4724020" y="5493959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[R] 270"/>
            <p:cNvCxnSpPr/>
            <p:nvPr/>
          </p:nvCxnSpPr>
          <p:spPr>
            <a:xfrm>
              <a:off x="4729935" y="5478057"/>
              <a:ext cx="6050247" cy="532756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2" name="그룹 413"/>
          <p:cNvGrpSpPr/>
          <p:nvPr/>
        </p:nvGrpSpPr>
        <p:grpSpPr>
          <a:xfrm>
            <a:off x="7368571" y="1689034"/>
            <a:ext cx="1252842" cy="880058"/>
            <a:chOff x="2503918" y="3068243"/>
            <a:chExt cx="1067259" cy="749695"/>
          </a:xfrm>
        </p:grpSpPr>
        <p:sp>
          <p:nvSpPr>
            <p:cNvPr id="173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174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175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6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10" name="위로 굽은 화살표 9"/>
          <p:cNvSpPr/>
          <p:nvPr/>
        </p:nvSpPr>
        <p:spPr>
          <a:xfrm rot="16200000" flipH="1">
            <a:off x="2526744" y="2006019"/>
            <a:ext cx="281985" cy="250119"/>
          </a:xfrm>
          <a:prstGeom prst="bentUpArrow">
            <a:avLst/>
          </a:prstGeom>
          <a:solidFill>
            <a:schemeClr val="bg1"/>
          </a:solidFill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grpSp>
        <p:nvGrpSpPr>
          <p:cNvPr id="20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20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20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203" name="그룹 413"/>
          <p:cNvGrpSpPr/>
          <p:nvPr/>
        </p:nvGrpSpPr>
        <p:grpSpPr>
          <a:xfrm>
            <a:off x="2078442" y="1689034"/>
            <a:ext cx="1252842" cy="880058"/>
            <a:chOff x="2503918" y="3068243"/>
            <a:chExt cx="1067259" cy="749695"/>
          </a:xfrm>
        </p:grpSpPr>
        <p:sp>
          <p:nvSpPr>
            <p:cNvPr id="208" name="Rectangle 219"/>
            <p:cNvSpPr/>
            <p:nvPr/>
          </p:nvSpPr>
          <p:spPr>
            <a:xfrm>
              <a:off x="2507633" y="3068243"/>
              <a:ext cx="1063544" cy="746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50800" tIns="50800" rIns="50800" bIns="50800" anchor="ctr"/>
            <a:lstStyle/>
            <a:p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209" name="Group 8"/>
            <p:cNvGrpSpPr/>
            <p:nvPr/>
          </p:nvGrpSpPr>
          <p:grpSpPr>
            <a:xfrm>
              <a:off x="2503918" y="3071939"/>
              <a:ext cx="1059510" cy="745999"/>
              <a:chOff x="4724020" y="5478057"/>
              <a:chExt cx="6056162" cy="548658"/>
            </a:xfrm>
          </p:grpSpPr>
          <p:cxnSp>
            <p:nvCxnSpPr>
              <p:cNvPr id="210" name="직선 연결선[R] 8"/>
              <p:cNvCxnSpPr/>
              <p:nvPr/>
            </p:nvCxnSpPr>
            <p:spPr>
              <a:xfrm flipV="1">
                <a:off x="4724020" y="5493959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11" name="직선 연결선[R] 270"/>
              <p:cNvCxnSpPr/>
              <p:nvPr/>
            </p:nvCxnSpPr>
            <p:spPr>
              <a:xfrm>
                <a:off x="4729935" y="5478057"/>
                <a:ext cx="6050247" cy="532756"/>
              </a:xfrm>
              <a:prstGeom prst="line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70" name="TextBox 69"/>
          <p:cNvSpPr txBox="1"/>
          <p:nvPr/>
        </p:nvSpPr>
        <p:spPr>
          <a:xfrm>
            <a:off x="2025681" y="1441892"/>
            <a:ext cx="83067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ko-KR" altLang="en-US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lang="en-US" altLang="ko-KR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ko-KR" altLang="en-US" sz="80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80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12" name="직선 연결선[R] 7"/>
          <p:cNvCxnSpPr/>
          <p:nvPr/>
        </p:nvCxnSpPr>
        <p:spPr>
          <a:xfrm>
            <a:off x="1913287" y="1395822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grpSp>
        <p:nvGrpSpPr>
          <p:cNvPr id="15" name="그룹 14"/>
          <p:cNvGrpSpPr/>
          <p:nvPr/>
        </p:nvGrpSpPr>
        <p:grpSpPr>
          <a:xfrm>
            <a:off x="2150141" y="1738597"/>
            <a:ext cx="269058" cy="118800"/>
            <a:chOff x="2150141" y="1738597"/>
            <a:chExt cx="269058" cy="118800"/>
          </a:xfrm>
        </p:grpSpPr>
        <p:sp>
          <p:nvSpPr>
            <p:cNvPr id="215" name="Freeform 739"/>
            <p:cNvSpPr>
              <a:spLocks noChangeAspect="1"/>
            </p:cNvSpPr>
            <p:nvPr/>
          </p:nvSpPr>
          <p:spPr>
            <a:xfrm>
              <a:off x="2311939" y="1738597"/>
              <a:ext cx="107260" cy="1188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Box" descr="&lt;SmartSettings&gt;&lt;SmartResize anchorLeft=&quot;Absolute&quot; anchorTop=&quot;None&quot; anchorRight=&quot;None&quot; anchorBottom=&quot;None&quot; /&gt;&lt;/SmartSettings&gt;"/>
            <p:cNvSpPr/>
            <p:nvPr>
              <p:custDataLst>
                <p:tags r:id="rId6"/>
              </p:custDataLst>
            </p:nvPr>
          </p:nvSpPr>
          <p:spPr>
            <a:xfrm>
              <a:off x="2150141" y="1741848"/>
              <a:ext cx="107839" cy="10973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30" name="그룹 229"/>
          <p:cNvGrpSpPr/>
          <p:nvPr/>
        </p:nvGrpSpPr>
        <p:grpSpPr>
          <a:xfrm>
            <a:off x="3479588" y="1738597"/>
            <a:ext cx="269058" cy="118800"/>
            <a:chOff x="2150141" y="1738597"/>
            <a:chExt cx="269058" cy="118800"/>
          </a:xfrm>
        </p:grpSpPr>
        <p:sp>
          <p:nvSpPr>
            <p:cNvPr id="240" name="Freeform 739"/>
            <p:cNvSpPr>
              <a:spLocks noChangeAspect="1"/>
            </p:cNvSpPr>
            <p:nvPr/>
          </p:nvSpPr>
          <p:spPr>
            <a:xfrm>
              <a:off x="2311939" y="1738597"/>
              <a:ext cx="107260" cy="1188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Box" descr="&lt;SmartSettings&gt;&lt;SmartResize anchorLeft=&quot;Absolute&quot; anchorTop=&quot;None&quot; anchorRight=&quot;None&quot; anchorBottom=&quot;None&quot; /&gt;&lt;/SmartSettings&gt;"/>
            <p:cNvSpPr/>
            <p:nvPr>
              <p:custDataLst>
                <p:tags r:id="rId5"/>
              </p:custDataLst>
            </p:nvPr>
          </p:nvSpPr>
          <p:spPr>
            <a:xfrm>
              <a:off x="2150141" y="1741848"/>
              <a:ext cx="107839" cy="10973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43" name="그룹 242"/>
          <p:cNvGrpSpPr/>
          <p:nvPr/>
        </p:nvGrpSpPr>
        <p:grpSpPr>
          <a:xfrm>
            <a:off x="4841460" y="1738597"/>
            <a:ext cx="269058" cy="118800"/>
            <a:chOff x="2150141" y="1738597"/>
            <a:chExt cx="269058" cy="118800"/>
          </a:xfrm>
        </p:grpSpPr>
        <p:sp>
          <p:nvSpPr>
            <p:cNvPr id="254" name="Freeform 739"/>
            <p:cNvSpPr>
              <a:spLocks noChangeAspect="1"/>
            </p:cNvSpPr>
            <p:nvPr/>
          </p:nvSpPr>
          <p:spPr>
            <a:xfrm>
              <a:off x="2311939" y="1738597"/>
              <a:ext cx="107260" cy="1188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Box" descr="&lt;SmartSettings&gt;&lt;SmartResize anchorLeft=&quot;Absolute&quot; anchorTop=&quot;None&quot; anchorRight=&quot;None&quot; anchorBottom=&quot;None&quot; /&gt;&lt;/SmartSettings&gt;"/>
            <p:cNvSpPr/>
            <p:nvPr>
              <p:custDataLst>
                <p:tags r:id="rId4"/>
              </p:custDataLst>
            </p:nvPr>
          </p:nvSpPr>
          <p:spPr>
            <a:xfrm>
              <a:off x="2150141" y="1741848"/>
              <a:ext cx="107839" cy="10973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57" name="그룹 256"/>
          <p:cNvGrpSpPr/>
          <p:nvPr/>
        </p:nvGrpSpPr>
        <p:grpSpPr>
          <a:xfrm>
            <a:off x="6135238" y="1738597"/>
            <a:ext cx="269058" cy="118800"/>
            <a:chOff x="2150141" y="1738597"/>
            <a:chExt cx="269058" cy="118800"/>
          </a:xfrm>
        </p:grpSpPr>
        <p:sp>
          <p:nvSpPr>
            <p:cNvPr id="267" name="Freeform 739"/>
            <p:cNvSpPr>
              <a:spLocks noChangeAspect="1"/>
            </p:cNvSpPr>
            <p:nvPr/>
          </p:nvSpPr>
          <p:spPr>
            <a:xfrm>
              <a:off x="2311939" y="1738597"/>
              <a:ext cx="107260" cy="1188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" name="Box" descr="&lt;SmartSettings&gt;&lt;SmartResize anchorLeft=&quot;Absolute&quot; anchorTop=&quot;None&quot; anchorRight=&quot;None&quot; anchorBottom=&quot;None&quot; /&gt;&lt;/SmartSettings&gt;"/>
            <p:cNvSpPr/>
            <p:nvPr>
              <p:custDataLst>
                <p:tags r:id="rId3"/>
              </p:custDataLst>
            </p:nvPr>
          </p:nvSpPr>
          <p:spPr>
            <a:xfrm>
              <a:off x="2150141" y="1741848"/>
              <a:ext cx="107839" cy="10973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70" name="그룹 269"/>
          <p:cNvGrpSpPr/>
          <p:nvPr/>
        </p:nvGrpSpPr>
        <p:grpSpPr>
          <a:xfrm>
            <a:off x="7467928" y="1738597"/>
            <a:ext cx="269058" cy="118800"/>
            <a:chOff x="2150141" y="1738597"/>
            <a:chExt cx="269058" cy="118800"/>
          </a:xfrm>
        </p:grpSpPr>
        <p:sp>
          <p:nvSpPr>
            <p:cNvPr id="280" name="Freeform 739"/>
            <p:cNvSpPr>
              <a:spLocks noChangeAspect="1"/>
            </p:cNvSpPr>
            <p:nvPr/>
          </p:nvSpPr>
          <p:spPr>
            <a:xfrm>
              <a:off x="2311939" y="1738597"/>
              <a:ext cx="107260" cy="118800"/>
            </a:xfrm>
            <a:custGeom>
              <a:avLst/>
              <a:gdLst>
                <a:gd name="connsiteX0" fmla="*/ 117278 w 469114"/>
                <a:gd name="connsiteY0" fmla="*/ 1103 h 519583"/>
                <a:gd name="connsiteX1" fmla="*/ 469114 w 469114"/>
                <a:gd name="connsiteY1" fmla="*/ 42904 h 519583"/>
                <a:gd name="connsiteX2" fmla="*/ 469114 w 469114"/>
                <a:gd name="connsiteY2" fmla="*/ 310429 h 519583"/>
                <a:gd name="connsiteX3" fmla="*/ 58639 w 469114"/>
                <a:gd name="connsiteY3" fmla="*/ 273853 h 519583"/>
                <a:gd name="connsiteX4" fmla="*/ 51898 w 469114"/>
                <a:gd name="connsiteY4" fmla="*/ 277007 h 519583"/>
                <a:gd name="connsiteX5" fmla="*/ 51898 w 469114"/>
                <a:gd name="connsiteY5" fmla="*/ 519583 h 519583"/>
                <a:gd name="connsiteX6" fmla="*/ 6179 w 469114"/>
                <a:gd name="connsiteY6" fmla="*/ 519583 h 519583"/>
                <a:gd name="connsiteX7" fmla="*/ 6179 w 469114"/>
                <a:gd name="connsiteY7" fmla="*/ 305611 h 519583"/>
                <a:gd name="connsiteX8" fmla="*/ 0 w 469114"/>
                <a:gd name="connsiteY8" fmla="*/ 310429 h 519583"/>
                <a:gd name="connsiteX9" fmla="*/ 0 w 469114"/>
                <a:gd name="connsiteY9" fmla="*/ 42904 h 519583"/>
                <a:gd name="connsiteX10" fmla="*/ 117278 w 469114"/>
                <a:gd name="connsiteY10" fmla="*/ 1103 h 5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114" h="519583">
                  <a:moveTo>
                    <a:pt x="117278" y="1103"/>
                  </a:moveTo>
                  <a:cubicBezTo>
                    <a:pt x="234557" y="15036"/>
                    <a:pt x="351836" y="154373"/>
                    <a:pt x="469114" y="42904"/>
                  </a:cubicBezTo>
                  <a:lnTo>
                    <a:pt x="469114" y="310429"/>
                  </a:lnTo>
                  <a:cubicBezTo>
                    <a:pt x="332289" y="440476"/>
                    <a:pt x="195464" y="229150"/>
                    <a:pt x="58639" y="273853"/>
                  </a:cubicBezTo>
                  <a:lnTo>
                    <a:pt x="51898" y="277007"/>
                  </a:lnTo>
                  <a:lnTo>
                    <a:pt x="51898" y="519583"/>
                  </a:lnTo>
                  <a:lnTo>
                    <a:pt x="6179" y="519583"/>
                  </a:lnTo>
                  <a:lnTo>
                    <a:pt x="6179" y="305611"/>
                  </a:lnTo>
                  <a:lnTo>
                    <a:pt x="0" y="310429"/>
                  </a:lnTo>
                  <a:lnTo>
                    <a:pt x="0" y="42904"/>
                  </a:lnTo>
                  <a:cubicBezTo>
                    <a:pt x="39093" y="5748"/>
                    <a:pt x="78186" y="-3542"/>
                    <a:pt x="117278" y="1103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Box" descr="&lt;SmartSettings&gt;&lt;SmartResize anchorLeft=&quot;Absolute&quot; anchorTop=&quot;None&quot; anchorRight=&quot;None&quot; anchorBottom=&quot;None&quot; /&gt;&lt;/SmartSettings&gt;"/>
            <p:cNvSpPr/>
            <p:nvPr>
              <p:custDataLst>
                <p:tags r:id="rId2"/>
              </p:custDataLst>
            </p:nvPr>
          </p:nvSpPr>
          <p:spPr>
            <a:xfrm>
              <a:off x="2150141" y="1741848"/>
              <a:ext cx="107839" cy="10973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83" name="Rounded Rectangle 939"/>
          <p:cNvSpPr/>
          <p:nvPr/>
        </p:nvSpPr>
        <p:spPr>
          <a:xfrm>
            <a:off x="2305050" y="1114425"/>
            <a:ext cx="659971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>
            <a:outerShdw blurRad="12700" dist="38100" dir="2700000" algn="tl" rotWithShape="0">
              <a:schemeClr val="bg1">
                <a:lumMod val="65000"/>
                <a:alpha val="47000"/>
              </a:schemeClr>
            </a:outerShdw>
          </a:effectLst>
        </p:spPr>
        <p:txBody>
          <a:bodyPr lIns="0" tIns="0" rIns="0" bIns="0" anchor="ctr"/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메일로 전송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282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285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88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90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29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9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9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94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96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29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9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9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0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3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304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06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7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8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9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10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11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12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13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14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15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21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2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323" name="TextBox 322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24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25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52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3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4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5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6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3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4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85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86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87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08" name="TextBox 407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421" name="그룹 420"/>
          <p:cNvGrpSpPr/>
          <p:nvPr/>
        </p:nvGrpSpPr>
        <p:grpSpPr>
          <a:xfrm>
            <a:off x="3834671" y="874786"/>
            <a:ext cx="3603039" cy="143201"/>
            <a:chOff x="4079770" y="874786"/>
            <a:chExt cx="3603039" cy="143201"/>
          </a:xfrm>
        </p:grpSpPr>
        <p:sp>
          <p:nvSpPr>
            <p:cNvPr id="422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3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5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6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7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8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429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430" name="그룹 429"/>
          <p:cNvGrpSpPr/>
          <p:nvPr/>
        </p:nvGrpSpPr>
        <p:grpSpPr>
          <a:xfrm>
            <a:off x="6397670" y="1138430"/>
            <a:ext cx="2219325" cy="209550"/>
            <a:chOff x="4646212" y="1190625"/>
            <a:chExt cx="2219325" cy="209550"/>
          </a:xfrm>
        </p:grpSpPr>
        <p:sp>
          <p:nvSpPr>
            <p:cNvPr id="431" name="직사각형 430"/>
            <p:cNvSpPr/>
            <p:nvPr/>
          </p:nvSpPr>
          <p:spPr>
            <a:xfrm>
              <a:off x="4646212" y="1190625"/>
              <a:ext cx="2219325" cy="20955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작성자 ㅣ 홍길동</a:t>
              </a:r>
              <a:endPara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32" name="Freeform 10"/>
            <p:cNvSpPr>
              <a:spLocks noChangeAspect="1" noChangeArrowheads="1"/>
            </p:cNvSpPr>
            <p:nvPr/>
          </p:nvSpPr>
          <p:spPr bwMode="auto">
            <a:xfrm>
              <a:off x="6705673" y="1243158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433" name="타원 432"/>
          <p:cNvSpPr>
            <a:spLocks noChangeAspect="1"/>
          </p:cNvSpPr>
          <p:nvPr/>
        </p:nvSpPr>
        <p:spPr>
          <a:xfrm>
            <a:off x="6313340" y="1074232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4" name="TextBox 433"/>
          <p:cNvSpPr txBox="1"/>
          <p:nvPr/>
        </p:nvSpPr>
        <p:spPr>
          <a:xfrm>
            <a:off x="1247775" y="73840"/>
            <a:ext cx="76199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사진 검색 결과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35" name="TextBox 434"/>
          <p:cNvSpPr txBox="1"/>
          <p:nvPr/>
        </p:nvSpPr>
        <p:spPr>
          <a:xfrm>
            <a:off x="5467350" y="73840"/>
            <a:ext cx="657800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86" name="모서리가 둥근 직사각형 285"/>
          <p:cNvSpPr/>
          <p:nvPr/>
        </p:nvSpPr>
        <p:spPr>
          <a:xfrm>
            <a:off x="2075773" y="1432018"/>
            <a:ext cx="743627" cy="215807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87" name="타원 286"/>
          <p:cNvSpPr>
            <a:spLocks noChangeAspect="1"/>
          </p:cNvSpPr>
          <p:nvPr/>
        </p:nvSpPr>
        <p:spPr>
          <a:xfrm>
            <a:off x="1998515" y="13695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289" name="직선 연결선[R] 7"/>
          <p:cNvCxnSpPr/>
          <p:nvPr/>
        </p:nvCxnSpPr>
        <p:spPr>
          <a:xfrm>
            <a:off x="4577268" y="1050903"/>
            <a:ext cx="343446" cy="0"/>
          </a:xfrm>
          <a:prstGeom prst="line">
            <a:avLst/>
          </a:prstGeom>
          <a:ln w="38100">
            <a:solidFill>
              <a:schemeClr val="tx1">
                <a:lumMod val="65000"/>
                <a:lumOff val="35000"/>
              </a:schemeClr>
            </a:solidFill>
            <a:miter lim="400000"/>
          </a:ln>
        </p:spPr>
      </p:cxnSp>
      <p:graphicFrame>
        <p:nvGraphicFramePr>
          <p:cNvPr id="409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453384"/>
              </p:ext>
            </p:extLst>
          </p:nvPr>
        </p:nvGraphicFramePr>
        <p:xfrm>
          <a:off x="9290533" y="786383"/>
          <a:ext cx="2835141" cy="1026002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건수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출력시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이전에 입력된 검색 조건 및 검색어 유지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57678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검색결과가 없을 경우 컨텐츠 영역에 해당 문구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2098684"/>
                  </a:ext>
                </a:extLst>
              </a:tr>
            </a:tbl>
          </a:graphicData>
        </a:graphic>
      </p:graphicFrame>
      <p:sp>
        <p:nvSpPr>
          <p:cNvPr id="410" name="TextBox 409"/>
          <p:cNvSpPr txBox="1"/>
          <p:nvPr/>
        </p:nvSpPr>
        <p:spPr>
          <a:xfrm>
            <a:off x="10210800" y="302440"/>
            <a:ext cx="442997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SQ5.9.2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4921429" y="3450912"/>
            <a:ext cx="1217247" cy="230832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결과가 없습니다</a:t>
            </a:r>
            <a:r>
              <a:rPr lang="en-US" altLang="ko-KR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9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2085975" y="3060518"/>
            <a:ext cx="6535438" cy="1019175"/>
            <a:chOff x="2085975" y="3060518"/>
            <a:chExt cx="4861049" cy="1019175"/>
          </a:xfrm>
        </p:grpSpPr>
        <p:cxnSp>
          <p:nvCxnSpPr>
            <p:cNvPr id="412" name="직선 연결선 411"/>
            <p:cNvCxnSpPr/>
            <p:nvPr/>
          </p:nvCxnSpPr>
          <p:spPr>
            <a:xfrm>
              <a:off x="2085975" y="3060518"/>
              <a:ext cx="4861049" cy="0"/>
            </a:xfrm>
            <a:prstGeom prst="line">
              <a:avLst/>
            </a:prstGeom>
            <a:ln w="317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직선 연결선 412"/>
            <p:cNvCxnSpPr/>
            <p:nvPr/>
          </p:nvCxnSpPr>
          <p:spPr>
            <a:xfrm>
              <a:off x="2085975" y="4079693"/>
              <a:ext cx="4861049" cy="0"/>
            </a:xfrm>
            <a:prstGeom prst="line">
              <a:avLst/>
            </a:prstGeom>
            <a:ln w="317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4" name="타원 413"/>
          <p:cNvSpPr>
            <a:spLocks noChangeAspect="1"/>
          </p:cNvSpPr>
          <p:nvPr/>
        </p:nvSpPr>
        <p:spPr>
          <a:xfrm>
            <a:off x="2008040" y="2998282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9499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내용 개체 틀 70"/>
          <p:cNvPicPr>
            <a:picLocks noGrp="1" noChangeAspect="1"/>
          </p:cNvPicPr>
          <p:nvPr>
            <p:ph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9312" y="85725"/>
            <a:ext cx="190500" cy="190500"/>
          </a:xfrm>
          <a:prstGeom prst="rect">
            <a:avLst/>
          </a:prstGeom>
        </p:spPr>
      </p:pic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cxnSp>
        <p:nvCxnSpPr>
          <p:cNvPr id="669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1101" name="Rectangle 314"/>
          <p:cNvSpPr/>
          <p:nvPr/>
        </p:nvSpPr>
        <p:spPr>
          <a:xfrm flipV="1">
            <a:off x="4850101" y="2763553"/>
            <a:ext cx="529264" cy="582614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1932818" y="1822154"/>
            <a:ext cx="3453828" cy="513721"/>
            <a:chOff x="1932818" y="1822154"/>
            <a:chExt cx="3453828" cy="513721"/>
          </a:xfrm>
        </p:grpSpPr>
        <p:sp>
          <p:nvSpPr>
            <p:cNvPr id="245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24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17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51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8" name="그룹 57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19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19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80" name="그룹 79"/>
          <p:cNvGrpSpPr/>
          <p:nvPr/>
        </p:nvGrpSpPr>
        <p:grpSpPr>
          <a:xfrm>
            <a:off x="1932818" y="2337543"/>
            <a:ext cx="3453828" cy="513721"/>
            <a:chOff x="1932818" y="2337543"/>
            <a:chExt cx="3453828" cy="513721"/>
          </a:xfrm>
        </p:grpSpPr>
        <p:sp>
          <p:nvSpPr>
            <p:cNvPr id="524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25" name="그룹 524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539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40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28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197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198" name="그룹 1197"/>
          <p:cNvGrpSpPr/>
          <p:nvPr/>
        </p:nvGrpSpPr>
        <p:grpSpPr>
          <a:xfrm>
            <a:off x="3336060" y="2471117"/>
            <a:ext cx="1098404" cy="258332"/>
            <a:chOff x="3535531" y="1947415"/>
            <a:chExt cx="1098404" cy="258332"/>
          </a:xfrm>
        </p:grpSpPr>
        <p:sp>
          <p:nvSpPr>
            <p:cNvPr id="1199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0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7" name="그룹 76"/>
          <p:cNvGrpSpPr/>
          <p:nvPr/>
        </p:nvGrpSpPr>
        <p:grpSpPr>
          <a:xfrm>
            <a:off x="1932818" y="2852928"/>
            <a:ext cx="3453828" cy="513721"/>
            <a:chOff x="1932818" y="2852928"/>
            <a:chExt cx="3453828" cy="513721"/>
          </a:xfrm>
        </p:grpSpPr>
        <p:sp>
          <p:nvSpPr>
            <p:cNvPr id="120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10" name="그룹 120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22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2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205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06" name="그룹 1205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207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08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631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1932818" y="4399095"/>
            <a:ext cx="3453828" cy="513721"/>
            <a:chOff x="1932818" y="4399095"/>
            <a:chExt cx="3453828" cy="513721"/>
          </a:xfrm>
        </p:grpSpPr>
        <p:sp>
          <p:nvSpPr>
            <p:cNvPr id="1232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33" name="그룹 1232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1244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45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26" name="그룹 1225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122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29" name="그룹 1228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1230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31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632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1932818" y="3368317"/>
            <a:ext cx="3453828" cy="513721"/>
            <a:chOff x="1932818" y="3368317"/>
            <a:chExt cx="3453828" cy="513721"/>
          </a:xfrm>
        </p:grpSpPr>
        <p:sp>
          <p:nvSpPr>
            <p:cNvPr id="1254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55" name="그룹 1254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1266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67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48" name="그룹 1247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1250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51" name="그룹 1250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1252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53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268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1932818" y="3883709"/>
            <a:ext cx="3453828" cy="513721"/>
            <a:chOff x="1932818" y="3883709"/>
            <a:chExt cx="3453828" cy="513721"/>
          </a:xfrm>
        </p:grpSpPr>
        <p:sp>
          <p:nvSpPr>
            <p:cNvPr id="1277" name="Rectangle 432"/>
            <p:cNvSpPr/>
            <p:nvPr/>
          </p:nvSpPr>
          <p:spPr>
            <a:xfrm>
              <a:off x="1932818" y="3883709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78" name="그룹 1277"/>
            <p:cNvGrpSpPr/>
            <p:nvPr/>
          </p:nvGrpSpPr>
          <p:grpSpPr>
            <a:xfrm>
              <a:off x="2483223" y="3997693"/>
              <a:ext cx="2250631" cy="272624"/>
              <a:chOff x="2625094" y="2085772"/>
              <a:chExt cx="2250631" cy="272624"/>
            </a:xfrm>
          </p:grpSpPr>
          <p:sp>
            <p:nvSpPr>
              <p:cNvPr id="129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9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280" name="Rounded Rectangle 594"/>
            <p:cNvSpPr>
              <a:spLocks noChangeAspect="1"/>
            </p:cNvSpPr>
            <p:nvPr/>
          </p:nvSpPr>
          <p:spPr>
            <a:xfrm>
              <a:off x="2002991" y="3953384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273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4083814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274" name="그룹 1273"/>
          <p:cNvGrpSpPr/>
          <p:nvPr/>
        </p:nvGrpSpPr>
        <p:grpSpPr>
          <a:xfrm>
            <a:off x="3175529" y="4017283"/>
            <a:ext cx="1258935" cy="262179"/>
            <a:chOff x="3375000" y="1947415"/>
            <a:chExt cx="1258935" cy="262179"/>
          </a:xfrm>
        </p:grpSpPr>
        <p:sp>
          <p:nvSpPr>
            <p:cNvPr id="1275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76" name="텍스트 상자 31"/>
            <p:cNvSpPr txBox="1"/>
            <p:nvPr/>
          </p:nvSpPr>
          <p:spPr>
            <a:xfrm>
              <a:off x="3375000" y="2117261"/>
              <a:ext cx="1067403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 algn="r"/>
              <a:r>
                <a:rPr lang="de-DE" altLang="ko-KR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08- 22  10: 39 AM  (3MB)</a:t>
              </a:r>
            </a:p>
          </p:txBody>
        </p:sp>
      </p:grpSp>
      <p:grpSp>
        <p:nvGrpSpPr>
          <p:cNvPr id="72" name="그룹 71"/>
          <p:cNvGrpSpPr/>
          <p:nvPr/>
        </p:nvGrpSpPr>
        <p:grpSpPr>
          <a:xfrm>
            <a:off x="1932818" y="4914488"/>
            <a:ext cx="3453828" cy="513721"/>
            <a:chOff x="1932818" y="4914488"/>
            <a:chExt cx="3453828" cy="513721"/>
          </a:xfrm>
        </p:grpSpPr>
        <p:sp>
          <p:nvSpPr>
            <p:cNvPr id="1300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301" name="그룹 1300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31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31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303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294" name="그룹 1293"/>
            <p:cNvGrpSpPr/>
            <p:nvPr/>
          </p:nvGrpSpPr>
          <p:grpSpPr>
            <a:xfrm>
              <a:off x="3202058" y="5048062"/>
              <a:ext cx="2084936" cy="262179"/>
              <a:chOff x="3210371" y="1947415"/>
              <a:chExt cx="2084936" cy="262179"/>
            </a:xfrm>
          </p:grpSpPr>
          <p:sp>
            <p:nvSpPr>
              <p:cNvPr id="129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97" name="그룹 1296"/>
              <p:cNvGrpSpPr/>
              <p:nvPr/>
            </p:nvGrpSpPr>
            <p:grpSpPr>
              <a:xfrm>
                <a:off x="3210371" y="1947415"/>
                <a:ext cx="1232406" cy="262179"/>
                <a:chOff x="3276834" y="1947415"/>
                <a:chExt cx="1232406" cy="262179"/>
              </a:xfrm>
            </p:grpSpPr>
            <p:sp>
              <p:nvSpPr>
                <p:cNvPr id="1298" name="텍스트 상자 31"/>
                <p:cNvSpPr txBox="1"/>
                <p:nvPr/>
              </p:nvSpPr>
              <p:spPr>
                <a:xfrm>
                  <a:off x="4070631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99" name="텍스트 상자 31"/>
                <p:cNvSpPr txBox="1"/>
                <p:nvPr/>
              </p:nvSpPr>
              <p:spPr>
                <a:xfrm>
                  <a:off x="327683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grpSp>
        <p:nvGrpSpPr>
          <p:cNvPr id="70" name="그룹 69"/>
          <p:cNvGrpSpPr/>
          <p:nvPr/>
        </p:nvGrpSpPr>
        <p:grpSpPr>
          <a:xfrm>
            <a:off x="1932818" y="5429877"/>
            <a:ext cx="3453828" cy="513721"/>
            <a:chOff x="1932818" y="5429877"/>
            <a:chExt cx="3453828" cy="513721"/>
          </a:xfrm>
        </p:grpSpPr>
        <p:sp>
          <p:nvSpPr>
            <p:cNvPr id="1323" name="Rectangle 432"/>
            <p:cNvSpPr/>
            <p:nvPr/>
          </p:nvSpPr>
          <p:spPr>
            <a:xfrm>
              <a:off x="1932818" y="542987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8" name="그룹 67"/>
            <p:cNvGrpSpPr/>
            <p:nvPr/>
          </p:nvGrpSpPr>
          <p:grpSpPr>
            <a:xfrm>
              <a:off x="2002991" y="5499552"/>
              <a:ext cx="3284003" cy="369233"/>
              <a:chOff x="2127686" y="5499552"/>
              <a:chExt cx="3284003" cy="369233"/>
            </a:xfrm>
          </p:grpSpPr>
          <p:grpSp>
            <p:nvGrpSpPr>
              <p:cNvPr id="1324" name="그룹 1323"/>
              <p:cNvGrpSpPr/>
              <p:nvPr/>
            </p:nvGrpSpPr>
            <p:grpSpPr>
              <a:xfrm>
                <a:off x="2607918" y="5543861"/>
                <a:ext cx="2250631" cy="272624"/>
                <a:chOff x="2625094" y="2085772"/>
                <a:chExt cx="2250631" cy="272624"/>
              </a:xfrm>
            </p:grpSpPr>
            <p:sp>
              <p:nvSpPr>
                <p:cNvPr id="1336" name="텍스트 상자 31"/>
                <p:cNvSpPr txBox="1"/>
                <p:nvPr/>
              </p:nvSpPr>
              <p:spPr>
                <a:xfrm>
                  <a:off x="2625094" y="2250674"/>
                  <a:ext cx="1669851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ko-KR" altLang="en-US" sz="700" dirty="0" err="1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강미나</a:t>
                  </a:r>
                  <a:r>
                    <a:rPr kumimoji="1" lang="ko-KR" altLang="en-US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  </a:t>
                  </a:r>
                  <a:r>
                    <a:rPr lang="ko-KR" altLang="en-US" sz="700" dirty="0" err="1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  <a:ea typeface="+mn-ea"/>
                    </a:rPr>
                    <a:t>제품기획팀</a:t>
                  </a:r>
                  <a:r>
                    <a:rPr lang="ko-KR" altLang="en-US" sz="700" dirty="0" smtClean="0">
                      <a:solidFill>
                        <a:schemeClr val="bg1">
                          <a:lumMod val="7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endPara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337" name="텍스트 상자 31"/>
                <p:cNvSpPr txBox="1"/>
                <p:nvPr/>
              </p:nvSpPr>
              <p:spPr>
                <a:xfrm>
                  <a:off x="2625094" y="2085772"/>
                  <a:ext cx="2250631" cy="123111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EGW_</a:t>
                  </a:r>
                  <a:r>
                    <a:rPr lang="ko-KR" altLang="en-US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스퀘어플러스 </a:t>
                  </a:r>
                  <a:r>
                    <a:rPr lang="ko-KR" altLang="en-US" sz="800" b="1" dirty="0" err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화면설계서</a:t>
                  </a:r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_v1.0</a:t>
                  </a:r>
                  <a:endParaRPr kumimoji="1" lang="ko-KR" altLang="en-US" sz="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326" name="Rounded Rectangle 594"/>
              <p:cNvSpPr>
                <a:spLocks noChangeAspect="1"/>
              </p:cNvSpPr>
              <p:nvPr/>
            </p:nvSpPr>
            <p:spPr>
              <a:xfrm>
                <a:off x="2127686" y="5499552"/>
                <a:ext cx="369233" cy="369233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lang="en-US" sz="24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P</a:t>
                </a:r>
                <a:endParaRPr kumimoji="1" lang="en-US" sz="24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1317" name="그룹 1316"/>
              <p:cNvGrpSpPr/>
              <p:nvPr/>
            </p:nvGrpSpPr>
            <p:grpSpPr>
              <a:xfrm>
                <a:off x="3306883" y="5563451"/>
                <a:ext cx="2104806" cy="262179"/>
                <a:chOff x="3315196" y="1947415"/>
                <a:chExt cx="2104806" cy="262179"/>
              </a:xfrm>
            </p:grpSpPr>
            <p:sp>
              <p:nvSpPr>
                <p:cNvPr id="1319" name="Freeform 26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5382841" y="2013946"/>
                  <a:ext cx="37161" cy="144000"/>
                </a:xfrm>
                <a:custGeom>
                  <a:avLst/>
                  <a:gdLst>
                    <a:gd name="T0" fmla="*/ 49 w 104"/>
                    <a:gd name="T1" fmla="*/ 103 h 411"/>
                    <a:gd name="T2" fmla="*/ 103 w 104"/>
                    <a:gd name="T3" fmla="*/ 49 h 411"/>
                    <a:gd name="T4" fmla="*/ 49 w 104"/>
                    <a:gd name="T5" fmla="*/ 0 h 411"/>
                    <a:gd name="T6" fmla="*/ 0 w 104"/>
                    <a:gd name="T7" fmla="*/ 49 h 411"/>
                    <a:gd name="T8" fmla="*/ 49 w 104"/>
                    <a:gd name="T9" fmla="*/ 103 h 411"/>
                    <a:gd name="T10" fmla="*/ 49 w 104"/>
                    <a:gd name="T11" fmla="*/ 152 h 411"/>
                    <a:gd name="T12" fmla="*/ 0 w 104"/>
                    <a:gd name="T13" fmla="*/ 205 h 411"/>
                    <a:gd name="T14" fmla="*/ 49 w 104"/>
                    <a:gd name="T15" fmla="*/ 254 h 411"/>
                    <a:gd name="T16" fmla="*/ 103 w 104"/>
                    <a:gd name="T17" fmla="*/ 205 h 411"/>
                    <a:gd name="T18" fmla="*/ 49 w 104"/>
                    <a:gd name="T19" fmla="*/ 152 h 411"/>
                    <a:gd name="T20" fmla="*/ 49 w 104"/>
                    <a:gd name="T21" fmla="*/ 308 h 411"/>
                    <a:gd name="T22" fmla="*/ 0 w 104"/>
                    <a:gd name="T23" fmla="*/ 357 h 411"/>
                    <a:gd name="T24" fmla="*/ 49 w 104"/>
                    <a:gd name="T25" fmla="*/ 410 h 411"/>
                    <a:gd name="T26" fmla="*/ 103 w 104"/>
                    <a:gd name="T27" fmla="*/ 357 h 411"/>
                    <a:gd name="T28" fmla="*/ 49 w 104"/>
                    <a:gd name="T29" fmla="*/ 308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4" h="411">
                      <a:moveTo>
                        <a:pt x="49" y="103"/>
                      </a:moveTo>
                      <a:cubicBezTo>
                        <a:pt x="78" y="103"/>
                        <a:pt x="103" y="76"/>
                        <a:pt x="103" y="49"/>
                      </a:cubicBezTo>
                      <a:cubicBezTo>
                        <a:pt x="103" y="22"/>
                        <a:pt x="76" y="0"/>
                        <a:pt x="49" y="0"/>
                      </a:cubicBezTo>
                      <a:cubicBezTo>
                        <a:pt x="22" y="0"/>
                        <a:pt x="0" y="22"/>
                        <a:pt x="0" y="49"/>
                      </a:cubicBezTo>
                      <a:cubicBezTo>
                        <a:pt x="0" y="76"/>
                        <a:pt x="25" y="103"/>
                        <a:pt x="49" y="103"/>
                      </a:cubicBezTo>
                      <a:close/>
                      <a:moveTo>
                        <a:pt x="49" y="152"/>
                      </a:moveTo>
                      <a:cubicBezTo>
                        <a:pt x="25" y="152"/>
                        <a:pt x="0" y="176"/>
                        <a:pt x="0" y="205"/>
                      </a:cubicBezTo>
                      <a:cubicBezTo>
                        <a:pt x="0" y="235"/>
                        <a:pt x="22" y="254"/>
                        <a:pt x="49" y="254"/>
                      </a:cubicBezTo>
                      <a:cubicBezTo>
                        <a:pt x="76" y="254"/>
                        <a:pt x="103" y="235"/>
                        <a:pt x="103" y="205"/>
                      </a:cubicBezTo>
                      <a:cubicBezTo>
                        <a:pt x="103" y="176"/>
                        <a:pt x="78" y="152"/>
                        <a:pt x="49" y="152"/>
                      </a:cubicBezTo>
                      <a:close/>
                      <a:moveTo>
                        <a:pt x="49" y="308"/>
                      </a:moveTo>
                      <a:cubicBezTo>
                        <a:pt x="25" y="308"/>
                        <a:pt x="0" y="327"/>
                        <a:pt x="0" y="357"/>
                      </a:cubicBezTo>
                      <a:cubicBezTo>
                        <a:pt x="0" y="386"/>
                        <a:pt x="22" y="410"/>
                        <a:pt x="49" y="410"/>
                      </a:cubicBezTo>
                      <a:cubicBezTo>
                        <a:pt x="76" y="410"/>
                        <a:pt x="103" y="386"/>
                        <a:pt x="103" y="357"/>
                      </a:cubicBezTo>
                      <a:cubicBezTo>
                        <a:pt x="103" y="327"/>
                        <a:pt x="78" y="308"/>
                        <a:pt x="49" y="30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320" name="그룹 1319"/>
                <p:cNvGrpSpPr/>
                <p:nvPr/>
              </p:nvGrpSpPr>
              <p:grpSpPr>
                <a:xfrm>
                  <a:off x="3315196" y="1947415"/>
                  <a:ext cx="1252276" cy="262179"/>
                  <a:chOff x="3381659" y="1947415"/>
                  <a:chExt cx="1252276" cy="262179"/>
                </a:xfrm>
              </p:grpSpPr>
              <p:sp>
                <p:nvSpPr>
                  <p:cNvPr id="1321" name="텍스트 상자 31"/>
                  <p:cNvSpPr txBox="1"/>
                  <p:nvPr/>
                </p:nvSpPr>
                <p:spPr>
                  <a:xfrm>
                    <a:off x="4195326" y="1947415"/>
                    <a:ext cx="438609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algn="r"/>
                    <a:r>
                      <a:rPr kumimoji="1" lang="en-US" altLang="ko-KR" sz="6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rPr>
                      <a:t>5.3 KB</a:t>
                    </a:r>
                    <a:endParaRPr kumimoji="1" lang="ko-KR" altLang="en-US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322" name="텍스트 상자 31"/>
                  <p:cNvSpPr txBox="1"/>
                  <p:nvPr/>
                </p:nvSpPr>
                <p:spPr>
                  <a:xfrm>
                    <a:off x="3381659" y="2117261"/>
                    <a:ext cx="1067403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lvl="0" algn="r"/>
                    <a:r>
                      <a:rPr lang="de-DE" altLang="ko-KR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rPr>
                      <a:t> 08- 22  10: 39 AM  (3MB)</a:t>
                    </a:r>
                  </a:p>
                </p:txBody>
              </p:sp>
            </p:grpSp>
          </p:grpSp>
        </p:grpSp>
      </p:grpSp>
      <p:grpSp>
        <p:nvGrpSpPr>
          <p:cNvPr id="1528" name="그룹 1527"/>
          <p:cNvGrpSpPr/>
          <p:nvPr/>
        </p:nvGrpSpPr>
        <p:grpSpPr>
          <a:xfrm>
            <a:off x="1932818" y="5945266"/>
            <a:ext cx="3453828" cy="513721"/>
            <a:chOff x="1932818" y="4914488"/>
            <a:chExt cx="3453828" cy="513721"/>
          </a:xfrm>
        </p:grpSpPr>
        <p:sp>
          <p:nvSpPr>
            <p:cNvPr id="1529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530" name="그룹 1529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53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53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531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532" name="그룹 1531"/>
            <p:cNvGrpSpPr/>
            <p:nvPr/>
          </p:nvGrpSpPr>
          <p:grpSpPr>
            <a:xfrm>
              <a:off x="3182188" y="5048062"/>
              <a:ext cx="2104806" cy="262179"/>
              <a:chOff x="3190501" y="1947415"/>
              <a:chExt cx="2104806" cy="262179"/>
            </a:xfrm>
          </p:grpSpPr>
          <p:sp>
            <p:nvSpPr>
              <p:cNvPr id="153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535" name="그룹 1534"/>
              <p:cNvGrpSpPr/>
              <p:nvPr/>
            </p:nvGrpSpPr>
            <p:grpSpPr>
              <a:xfrm>
                <a:off x="3190501" y="1947415"/>
                <a:ext cx="1260763" cy="262179"/>
                <a:chOff x="3256964" y="1947415"/>
                <a:chExt cx="1260763" cy="262179"/>
              </a:xfrm>
            </p:grpSpPr>
            <p:sp>
              <p:nvSpPr>
                <p:cNvPr id="1536" name="텍스트 상자 31"/>
                <p:cNvSpPr txBox="1"/>
                <p:nvPr/>
              </p:nvSpPr>
              <p:spPr>
                <a:xfrm>
                  <a:off x="407911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537" name="텍스트 상자 31"/>
                <p:cNvSpPr txBox="1"/>
                <p:nvPr/>
              </p:nvSpPr>
              <p:spPr>
                <a:xfrm>
                  <a:off x="325696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sp>
        <p:nvSpPr>
          <p:cNvPr id="1673" name="Rounded Rectangle 392"/>
          <p:cNvSpPr/>
          <p:nvPr/>
        </p:nvSpPr>
        <p:spPr>
          <a:xfrm rot="5400000">
            <a:off x="7730725" y="3238881"/>
            <a:ext cx="2851121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endParaRPr kumimoji="1" lang="en-US" sz="6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675" name="그룹 1674"/>
          <p:cNvGrpSpPr/>
          <p:nvPr/>
        </p:nvGrpSpPr>
        <p:grpSpPr>
          <a:xfrm>
            <a:off x="5515604" y="1822154"/>
            <a:ext cx="3453828" cy="513721"/>
            <a:chOff x="1932818" y="1822154"/>
            <a:chExt cx="3453828" cy="513721"/>
          </a:xfrm>
        </p:grpSpPr>
        <p:sp>
          <p:nvSpPr>
            <p:cNvPr id="1676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77" name="그룹 1676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168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8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78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679" name="그룹 167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168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682" name="그룹 1681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68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68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687" name="그룹 1686"/>
          <p:cNvGrpSpPr/>
          <p:nvPr/>
        </p:nvGrpSpPr>
        <p:grpSpPr>
          <a:xfrm>
            <a:off x="5515604" y="2337543"/>
            <a:ext cx="3453828" cy="513721"/>
            <a:chOff x="1932818" y="2337543"/>
            <a:chExt cx="3453828" cy="513721"/>
          </a:xfrm>
        </p:grpSpPr>
        <p:sp>
          <p:nvSpPr>
            <p:cNvPr id="1688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89" name="그룹 1688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169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9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90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692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695" name="그룹 1694"/>
          <p:cNvGrpSpPr/>
          <p:nvPr/>
        </p:nvGrpSpPr>
        <p:grpSpPr>
          <a:xfrm>
            <a:off x="6918846" y="2471117"/>
            <a:ext cx="1098404" cy="258332"/>
            <a:chOff x="3535531" y="1947415"/>
            <a:chExt cx="1098404" cy="258332"/>
          </a:xfrm>
        </p:grpSpPr>
        <p:sp>
          <p:nvSpPr>
            <p:cNvPr id="1696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97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98" name="그룹 1697"/>
          <p:cNvGrpSpPr/>
          <p:nvPr/>
        </p:nvGrpSpPr>
        <p:grpSpPr>
          <a:xfrm>
            <a:off x="5515604" y="2852928"/>
            <a:ext cx="3453828" cy="513721"/>
            <a:chOff x="1932818" y="2852928"/>
            <a:chExt cx="3453828" cy="513721"/>
          </a:xfrm>
        </p:grpSpPr>
        <p:sp>
          <p:nvSpPr>
            <p:cNvPr id="169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00" name="그룹 169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70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0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70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05" name="그룹 1704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706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07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02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10" name="그룹 1709"/>
          <p:cNvGrpSpPr/>
          <p:nvPr/>
        </p:nvGrpSpPr>
        <p:grpSpPr>
          <a:xfrm>
            <a:off x="5515604" y="4399095"/>
            <a:ext cx="3453828" cy="513721"/>
            <a:chOff x="1932818" y="4399095"/>
            <a:chExt cx="3453828" cy="513721"/>
          </a:xfrm>
        </p:grpSpPr>
        <p:sp>
          <p:nvSpPr>
            <p:cNvPr id="1711" name="Rectangle 432"/>
            <p:cNvSpPr/>
            <p:nvPr/>
          </p:nvSpPr>
          <p:spPr>
            <a:xfrm>
              <a:off x="1932818" y="4399095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12" name="그룹 1711"/>
            <p:cNvGrpSpPr/>
            <p:nvPr/>
          </p:nvGrpSpPr>
          <p:grpSpPr>
            <a:xfrm>
              <a:off x="2483223" y="4513079"/>
              <a:ext cx="2250631" cy="272624"/>
              <a:chOff x="2625094" y="2085772"/>
              <a:chExt cx="2250631" cy="272624"/>
            </a:xfrm>
          </p:grpSpPr>
          <p:sp>
            <p:nvSpPr>
              <p:cNvPr id="172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2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13" name="그룹 1712"/>
            <p:cNvGrpSpPr/>
            <p:nvPr/>
          </p:nvGrpSpPr>
          <p:grpSpPr>
            <a:xfrm>
              <a:off x="3186405" y="4532669"/>
              <a:ext cx="2100589" cy="262179"/>
              <a:chOff x="3194718" y="1947415"/>
              <a:chExt cx="2100589" cy="262179"/>
            </a:xfrm>
          </p:grpSpPr>
          <p:sp>
            <p:nvSpPr>
              <p:cNvPr id="1716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17" name="그룹 1716"/>
              <p:cNvGrpSpPr/>
              <p:nvPr/>
            </p:nvGrpSpPr>
            <p:grpSpPr>
              <a:xfrm>
                <a:off x="3194718" y="1947415"/>
                <a:ext cx="1266226" cy="262179"/>
                <a:chOff x="3261181" y="1947415"/>
                <a:chExt cx="1266226" cy="262179"/>
              </a:xfrm>
            </p:grpSpPr>
            <p:sp>
              <p:nvSpPr>
                <p:cNvPr id="1718" name="텍스트 상자 31"/>
                <p:cNvSpPr txBox="1"/>
                <p:nvPr/>
              </p:nvSpPr>
              <p:spPr>
                <a:xfrm>
                  <a:off x="408879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19" name="텍스트 상자 31"/>
                <p:cNvSpPr txBox="1"/>
                <p:nvPr/>
              </p:nvSpPr>
              <p:spPr>
                <a:xfrm>
                  <a:off x="3261181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  <p:sp>
          <p:nvSpPr>
            <p:cNvPr id="1714" name="Freeform 15"/>
            <p:cNvSpPr>
              <a:spLocks noChangeAspect="1" noChangeArrowheads="1"/>
            </p:cNvSpPr>
            <p:nvPr/>
          </p:nvSpPr>
          <p:spPr bwMode="auto">
            <a:xfrm>
              <a:off x="2015520" y="4471548"/>
              <a:ext cx="370800" cy="370800"/>
            </a:xfrm>
            <a:custGeom>
              <a:avLst/>
              <a:gdLst>
                <a:gd name="T0" fmla="*/ 208 w 456"/>
                <a:gd name="T1" fmla="*/ 141 h 456"/>
                <a:gd name="T2" fmla="*/ 213 w 456"/>
                <a:gd name="T3" fmla="*/ 117 h 456"/>
                <a:gd name="T4" fmla="*/ 213 w 456"/>
                <a:gd name="T5" fmla="*/ 88 h 456"/>
                <a:gd name="T6" fmla="*/ 213 w 456"/>
                <a:gd name="T7" fmla="*/ 83 h 456"/>
                <a:gd name="T8" fmla="*/ 208 w 456"/>
                <a:gd name="T9" fmla="*/ 88 h 456"/>
                <a:gd name="T10" fmla="*/ 136 w 456"/>
                <a:gd name="T11" fmla="*/ 315 h 456"/>
                <a:gd name="T12" fmla="*/ 87 w 456"/>
                <a:gd name="T13" fmla="*/ 363 h 456"/>
                <a:gd name="T14" fmla="*/ 136 w 456"/>
                <a:gd name="T15" fmla="*/ 315 h 456"/>
                <a:gd name="T16" fmla="*/ 319 w 456"/>
                <a:gd name="T17" fmla="*/ 266 h 456"/>
                <a:gd name="T18" fmla="*/ 315 w 456"/>
                <a:gd name="T19" fmla="*/ 266 h 456"/>
                <a:gd name="T20" fmla="*/ 363 w 456"/>
                <a:gd name="T21" fmla="*/ 281 h 456"/>
                <a:gd name="T22" fmla="*/ 368 w 456"/>
                <a:gd name="T23" fmla="*/ 281 h 456"/>
                <a:gd name="T24" fmla="*/ 368 w 456"/>
                <a:gd name="T25" fmla="*/ 281 h 456"/>
                <a:gd name="T26" fmla="*/ 368 w 456"/>
                <a:gd name="T27" fmla="*/ 276 h 456"/>
                <a:gd name="T28" fmla="*/ 54 w 456"/>
                <a:gd name="T29" fmla="*/ 0 h 456"/>
                <a:gd name="T30" fmla="*/ 0 w 456"/>
                <a:gd name="T31" fmla="*/ 402 h 456"/>
                <a:gd name="T32" fmla="*/ 406 w 456"/>
                <a:gd name="T33" fmla="*/ 455 h 456"/>
                <a:gd name="T34" fmla="*/ 455 w 456"/>
                <a:gd name="T35" fmla="*/ 49 h 456"/>
                <a:gd name="T36" fmla="*/ 377 w 456"/>
                <a:gd name="T37" fmla="*/ 295 h 456"/>
                <a:gd name="T38" fmla="*/ 281 w 456"/>
                <a:gd name="T39" fmla="*/ 286 h 456"/>
                <a:gd name="T40" fmla="*/ 174 w 456"/>
                <a:gd name="T41" fmla="*/ 310 h 456"/>
                <a:gd name="T42" fmla="*/ 87 w 456"/>
                <a:gd name="T43" fmla="*/ 382 h 456"/>
                <a:gd name="T44" fmla="*/ 73 w 456"/>
                <a:gd name="T45" fmla="*/ 373 h 456"/>
                <a:gd name="T46" fmla="*/ 121 w 456"/>
                <a:gd name="T47" fmla="*/ 310 h 456"/>
                <a:gd name="T48" fmla="*/ 170 w 456"/>
                <a:gd name="T49" fmla="*/ 252 h 456"/>
                <a:gd name="T50" fmla="*/ 194 w 456"/>
                <a:gd name="T51" fmla="*/ 175 h 456"/>
                <a:gd name="T52" fmla="*/ 208 w 456"/>
                <a:gd name="T53" fmla="*/ 73 h 456"/>
                <a:gd name="T54" fmla="*/ 232 w 456"/>
                <a:gd name="T55" fmla="*/ 78 h 456"/>
                <a:gd name="T56" fmla="*/ 232 w 456"/>
                <a:gd name="T57" fmla="*/ 170 h 456"/>
                <a:gd name="T58" fmla="*/ 295 w 456"/>
                <a:gd name="T59" fmla="*/ 252 h 456"/>
                <a:gd name="T60" fmla="*/ 387 w 456"/>
                <a:gd name="T61" fmla="*/ 266 h 456"/>
                <a:gd name="T62" fmla="*/ 377 w 456"/>
                <a:gd name="T63" fmla="*/ 295 h 456"/>
                <a:gd name="T64" fmla="*/ 189 w 456"/>
                <a:gd name="T65" fmla="*/ 262 h 456"/>
                <a:gd name="T66" fmla="*/ 174 w 456"/>
                <a:gd name="T67" fmla="*/ 286 h 456"/>
                <a:gd name="T68" fmla="*/ 261 w 456"/>
                <a:gd name="T69" fmla="*/ 266 h 456"/>
                <a:gd name="T70" fmla="*/ 213 w 456"/>
                <a:gd name="T71" fmla="*/ 19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6" h="456">
                  <a:moveTo>
                    <a:pt x="208" y="141"/>
                  </a:moveTo>
                  <a:lnTo>
                    <a:pt x="208" y="141"/>
                  </a:lnTo>
                  <a:lnTo>
                    <a:pt x="208" y="141"/>
                  </a:lnTo>
                  <a:cubicBezTo>
                    <a:pt x="213" y="131"/>
                    <a:pt x="213" y="126"/>
                    <a:pt x="213" y="117"/>
                  </a:cubicBezTo>
                  <a:lnTo>
                    <a:pt x="213" y="112"/>
                  </a:lnTo>
                  <a:cubicBezTo>
                    <a:pt x="218" y="102"/>
                    <a:pt x="218" y="92"/>
                    <a:pt x="213" y="88"/>
                  </a:cubicBezTo>
                  <a:lnTo>
                    <a:pt x="213" y="88"/>
                  </a:lnTo>
                  <a:lnTo>
                    <a:pt x="213" y="83"/>
                  </a:lnTo>
                  <a:lnTo>
                    <a:pt x="213" y="83"/>
                  </a:lnTo>
                  <a:cubicBezTo>
                    <a:pt x="213" y="83"/>
                    <a:pt x="213" y="88"/>
                    <a:pt x="208" y="88"/>
                  </a:cubicBezTo>
                  <a:cubicBezTo>
                    <a:pt x="203" y="102"/>
                    <a:pt x="203" y="117"/>
                    <a:pt x="208" y="141"/>
                  </a:cubicBezTo>
                  <a:close/>
                  <a:moveTo>
                    <a:pt x="136" y="315"/>
                  </a:moveTo>
                  <a:cubicBezTo>
                    <a:pt x="131" y="320"/>
                    <a:pt x="126" y="320"/>
                    <a:pt x="121" y="324"/>
                  </a:cubicBezTo>
                  <a:cubicBezTo>
                    <a:pt x="102" y="339"/>
                    <a:pt x="92" y="353"/>
                    <a:pt x="87" y="363"/>
                  </a:cubicBezTo>
                  <a:lnTo>
                    <a:pt x="87" y="363"/>
                  </a:lnTo>
                  <a:cubicBezTo>
                    <a:pt x="102" y="363"/>
                    <a:pt x="121" y="344"/>
                    <a:pt x="136" y="315"/>
                  </a:cubicBezTo>
                  <a:close/>
                  <a:moveTo>
                    <a:pt x="368" y="276"/>
                  </a:moveTo>
                  <a:cubicBezTo>
                    <a:pt x="363" y="276"/>
                    <a:pt x="353" y="266"/>
                    <a:pt x="319" y="266"/>
                  </a:cubicBezTo>
                  <a:lnTo>
                    <a:pt x="315" y="266"/>
                  </a:lnTo>
                  <a:lnTo>
                    <a:pt x="315" y="266"/>
                  </a:lnTo>
                  <a:cubicBezTo>
                    <a:pt x="315" y="266"/>
                    <a:pt x="315" y="266"/>
                    <a:pt x="315" y="271"/>
                  </a:cubicBezTo>
                  <a:cubicBezTo>
                    <a:pt x="334" y="276"/>
                    <a:pt x="348" y="281"/>
                    <a:pt x="363" y="281"/>
                  </a:cubicBez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lnTo>
                    <a:pt x="368" y="281"/>
                  </a:lnTo>
                  <a:cubicBezTo>
                    <a:pt x="368" y="281"/>
                    <a:pt x="368" y="281"/>
                    <a:pt x="368" y="276"/>
                  </a:cubicBezTo>
                  <a:close/>
                  <a:moveTo>
                    <a:pt x="406" y="0"/>
                  </a:moveTo>
                  <a:lnTo>
                    <a:pt x="54" y="0"/>
                  </a:lnTo>
                  <a:cubicBezTo>
                    <a:pt x="25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25" y="455"/>
                    <a:pt x="54" y="455"/>
                  </a:cubicBezTo>
                  <a:lnTo>
                    <a:pt x="406" y="455"/>
                  </a:lnTo>
                  <a:cubicBezTo>
                    <a:pt x="431" y="455"/>
                    <a:pt x="455" y="431"/>
                    <a:pt x="455" y="402"/>
                  </a:cubicBezTo>
                  <a:lnTo>
                    <a:pt x="455" y="49"/>
                  </a:lnTo>
                  <a:cubicBezTo>
                    <a:pt x="455" y="20"/>
                    <a:pt x="431" y="0"/>
                    <a:pt x="406" y="0"/>
                  </a:cubicBezTo>
                  <a:close/>
                  <a:moveTo>
                    <a:pt x="377" y="295"/>
                  </a:moveTo>
                  <a:cubicBezTo>
                    <a:pt x="373" y="300"/>
                    <a:pt x="363" y="305"/>
                    <a:pt x="353" y="305"/>
                  </a:cubicBezTo>
                  <a:cubicBezTo>
                    <a:pt x="334" y="305"/>
                    <a:pt x="305" y="295"/>
                    <a:pt x="281" y="286"/>
                  </a:cubicBezTo>
                  <a:cubicBezTo>
                    <a:pt x="237" y="291"/>
                    <a:pt x="203" y="295"/>
                    <a:pt x="179" y="305"/>
                  </a:cubicBezTo>
                  <a:cubicBezTo>
                    <a:pt x="174" y="305"/>
                    <a:pt x="174" y="305"/>
                    <a:pt x="174" y="310"/>
                  </a:cubicBezTo>
                  <a:cubicBezTo>
                    <a:pt x="141" y="363"/>
                    <a:pt x="116" y="387"/>
                    <a:pt x="97" y="387"/>
                  </a:cubicBezTo>
                  <a:cubicBezTo>
                    <a:pt x="92" y="387"/>
                    <a:pt x="87" y="387"/>
                    <a:pt x="87" y="382"/>
                  </a:cubicBezTo>
                  <a:lnTo>
                    <a:pt x="73" y="378"/>
                  </a:lnTo>
                  <a:lnTo>
                    <a:pt x="73" y="373"/>
                  </a:lnTo>
                  <a:cubicBezTo>
                    <a:pt x="73" y="368"/>
                    <a:pt x="73" y="368"/>
                    <a:pt x="73" y="363"/>
                  </a:cubicBezTo>
                  <a:cubicBezTo>
                    <a:pt x="73" y="349"/>
                    <a:pt x="87" y="324"/>
                    <a:pt x="121" y="310"/>
                  </a:cubicBezTo>
                  <a:cubicBezTo>
                    <a:pt x="126" y="305"/>
                    <a:pt x="131" y="300"/>
                    <a:pt x="141" y="295"/>
                  </a:cubicBezTo>
                  <a:cubicBezTo>
                    <a:pt x="150" y="281"/>
                    <a:pt x="155" y="266"/>
                    <a:pt x="170" y="252"/>
                  </a:cubicBezTo>
                  <a:cubicBezTo>
                    <a:pt x="179" y="223"/>
                    <a:pt x="189" y="199"/>
                    <a:pt x="194" y="175"/>
                  </a:cubicBezTo>
                  <a:lnTo>
                    <a:pt x="194" y="175"/>
                  </a:lnTo>
                  <a:cubicBezTo>
                    <a:pt x="184" y="146"/>
                    <a:pt x="179" y="126"/>
                    <a:pt x="189" y="92"/>
                  </a:cubicBezTo>
                  <a:cubicBezTo>
                    <a:pt x="194" y="83"/>
                    <a:pt x="199" y="73"/>
                    <a:pt x="208" y="73"/>
                  </a:cubicBezTo>
                  <a:lnTo>
                    <a:pt x="213" y="73"/>
                  </a:lnTo>
                  <a:cubicBezTo>
                    <a:pt x="223" y="73"/>
                    <a:pt x="228" y="73"/>
                    <a:pt x="232" y="78"/>
                  </a:cubicBezTo>
                  <a:cubicBezTo>
                    <a:pt x="247" y="97"/>
                    <a:pt x="242" y="136"/>
                    <a:pt x="232" y="170"/>
                  </a:cubicBezTo>
                  <a:lnTo>
                    <a:pt x="232" y="170"/>
                  </a:lnTo>
                  <a:cubicBezTo>
                    <a:pt x="242" y="199"/>
                    <a:pt x="257" y="223"/>
                    <a:pt x="271" y="237"/>
                  </a:cubicBezTo>
                  <a:cubicBezTo>
                    <a:pt x="281" y="242"/>
                    <a:pt x="286" y="247"/>
                    <a:pt x="295" y="252"/>
                  </a:cubicBezTo>
                  <a:cubicBezTo>
                    <a:pt x="305" y="252"/>
                    <a:pt x="315" y="252"/>
                    <a:pt x="329" y="252"/>
                  </a:cubicBezTo>
                  <a:cubicBezTo>
                    <a:pt x="358" y="252"/>
                    <a:pt x="377" y="257"/>
                    <a:pt x="387" y="266"/>
                  </a:cubicBezTo>
                  <a:cubicBezTo>
                    <a:pt x="387" y="271"/>
                    <a:pt x="387" y="276"/>
                    <a:pt x="387" y="281"/>
                  </a:cubicBezTo>
                  <a:cubicBezTo>
                    <a:pt x="387" y="286"/>
                    <a:pt x="382" y="291"/>
                    <a:pt x="377" y="295"/>
                  </a:cubicBezTo>
                  <a:close/>
                  <a:moveTo>
                    <a:pt x="213" y="199"/>
                  </a:moveTo>
                  <a:cubicBezTo>
                    <a:pt x="208" y="218"/>
                    <a:pt x="199" y="237"/>
                    <a:pt x="189" y="262"/>
                  </a:cubicBezTo>
                  <a:cubicBezTo>
                    <a:pt x="184" y="271"/>
                    <a:pt x="179" y="276"/>
                    <a:pt x="174" y="286"/>
                  </a:cubicBezTo>
                  <a:lnTo>
                    <a:pt x="174" y="286"/>
                  </a:lnTo>
                  <a:lnTo>
                    <a:pt x="179" y="286"/>
                  </a:lnTo>
                  <a:cubicBezTo>
                    <a:pt x="208" y="276"/>
                    <a:pt x="242" y="266"/>
                    <a:pt x="261" y="266"/>
                  </a:cubicBezTo>
                  <a:cubicBezTo>
                    <a:pt x="257" y="262"/>
                    <a:pt x="252" y="262"/>
                    <a:pt x="252" y="257"/>
                  </a:cubicBezTo>
                  <a:cubicBezTo>
                    <a:pt x="237" y="242"/>
                    <a:pt x="223" y="223"/>
                    <a:pt x="213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22" name="그룹 1721"/>
          <p:cNvGrpSpPr/>
          <p:nvPr/>
        </p:nvGrpSpPr>
        <p:grpSpPr>
          <a:xfrm>
            <a:off x="5515604" y="3368317"/>
            <a:ext cx="3453828" cy="513721"/>
            <a:chOff x="1932818" y="3368317"/>
            <a:chExt cx="3453828" cy="513721"/>
          </a:xfrm>
        </p:grpSpPr>
        <p:sp>
          <p:nvSpPr>
            <p:cNvPr id="1723" name="Rectangle 432"/>
            <p:cNvSpPr/>
            <p:nvPr/>
          </p:nvSpPr>
          <p:spPr>
            <a:xfrm>
              <a:off x="1932818" y="336831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24" name="그룹 1723"/>
            <p:cNvGrpSpPr/>
            <p:nvPr/>
          </p:nvGrpSpPr>
          <p:grpSpPr>
            <a:xfrm>
              <a:off x="2483223" y="3482301"/>
              <a:ext cx="2250631" cy="272624"/>
              <a:chOff x="2625094" y="2085772"/>
              <a:chExt cx="2250631" cy="272624"/>
            </a:xfrm>
          </p:grpSpPr>
          <p:sp>
            <p:nvSpPr>
              <p:cNvPr id="173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3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25" name="그룹 1724"/>
            <p:cNvGrpSpPr/>
            <p:nvPr/>
          </p:nvGrpSpPr>
          <p:grpSpPr>
            <a:xfrm>
              <a:off x="3331589" y="3501891"/>
              <a:ext cx="1955405" cy="258332"/>
              <a:chOff x="3339902" y="1947415"/>
              <a:chExt cx="1955405" cy="258332"/>
            </a:xfrm>
          </p:grpSpPr>
          <p:sp>
            <p:nvSpPr>
              <p:cNvPr id="172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29" name="그룹 1728"/>
              <p:cNvGrpSpPr/>
              <p:nvPr/>
            </p:nvGrpSpPr>
            <p:grpSpPr>
              <a:xfrm>
                <a:off x="3339902" y="1947415"/>
                <a:ext cx="1111363" cy="258332"/>
                <a:chOff x="3406365" y="1947415"/>
                <a:chExt cx="1111363" cy="258332"/>
              </a:xfrm>
            </p:grpSpPr>
            <p:sp>
              <p:nvSpPr>
                <p:cNvPr id="1730" name="텍스트 상자 31"/>
                <p:cNvSpPr txBox="1"/>
                <p:nvPr/>
              </p:nvSpPr>
              <p:spPr>
                <a:xfrm>
                  <a:off x="407911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31" name="텍스트 상자 31"/>
                <p:cNvSpPr txBox="1"/>
                <p:nvPr/>
              </p:nvSpPr>
              <p:spPr>
                <a:xfrm>
                  <a:off x="3406365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08- 22  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26" name="Freeform 17"/>
            <p:cNvSpPr>
              <a:spLocks noChangeAspect="1" noChangeArrowheads="1"/>
            </p:cNvSpPr>
            <p:nvPr/>
          </p:nvSpPr>
          <p:spPr bwMode="auto">
            <a:xfrm>
              <a:off x="2007145" y="3444136"/>
              <a:ext cx="370800" cy="370800"/>
            </a:xfrm>
            <a:custGeom>
              <a:avLst/>
              <a:gdLst>
                <a:gd name="T0" fmla="*/ 403 w 404"/>
                <a:gd name="T1" fmla="*/ 360 h 404"/>
                <a:gd name="T2" fmla="*/ 403 w 404"/>
                <a:gd name="T3" fmla="*/ 43 h 404"/>
                <a:gd name="T4" fmla="*/ 360 w 404"/>
                <a:gd name="T5" fmla="*/ 0 h 404"/>
                <a:gd name="T6" fmla="*/ 47 w 404"/>
                <a:gd name="T7" fmla="*/ 0 h 404"/>
                <a:gd name="T8" fmla="*/ 0 w 404"/>
                <a:gd name="T9" fmla="*/ 43 h 404"/>
                <a:gd name="T10" fmla="*/ 0 w 404"/>
                <a:gd name="T11" fmla="*/ 360 h 404"/>
                <a:gd name="T12" fmla="*/ 47 w 404"/>
                <a:gd name="T13" fmla="*/ 403 h 404"/>
                <a:gd name="T14" fmla="*/ 360 w 404"/>
                <a:gd name="T15" fmla="*/ 403 h 404"/>
                <a:gd name="T16" fmla="*/ 403 w 404"/>
                <a:gd name="T17" fmla="*/ 360 h 404"/>
                <a:gd name="T18" fmla="*/ 124 w 404"/>
                <a:gd name="T19" fmla="*/ 236 h 404"/>
                <a:gd name="T20" fmla="*/ 180 w 404"/>
                <a:gd name="T21" fmla="*/ 304 h 404"/>
                <a:gd name="T22" fmla="*/ 257 w 404"/>
                <a:gd name="T23" fmla="*/ 201 h 404"/>
                <a:gd name="T24" fmla="*/ 360 w 404"/>
                <a:gd name="T25" fmla="*/ 334 h 404"/>
                <a:gd name="T26" fmla="*/ 47 w 404"/>
                <a:gd name="T27" fmla="*/ 334 h 404"/>
                <a:gd name="T28" fmla="*/ 124 w 404"/>
                <a:gd name="T29" fmla="*/ 236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04">
                  <a:moveTo>
                    <a:pt x="403" y="360"/>
                  </a:moveTo>
                  <a:lnTo>
                    <a:pt x="403" y="43"/>
                  </a:lnTo>
                  <a:cubicBezTo>
                    <a:pt x="403" y="21"/>
                    <a:pt x="386" y="0"/>
                    <a:pt x="360" y="0"/>
                  </a:cubicBezTo>
                  <a:lnTo>
                    <a:pt x="47" y="0"/>
                  </a:lnTo>
                  <a:cubicBezTo>
                    <a:pt x="22" y="0"/>
                    <a:pt x="0" y="21"/>
                    <a:pt x="0" y="43"/>
                  </a:cubicBezTo>
                  <a:lnTo>
                    <a:pt x="0" y="360"/>
                  </a:lnTo>
                  <a:cubicBezTo>
                    <a:pt x="0" y="381"/>
                    <a:pt x="22" y="403"/>
                    <a:pt x="47" y="403"/>
                  </a:cubicBezTo>
                  <a:lnTo>
                    <a:pt x="360" y="403"/>
                  </a:lnTo>
                  <a:cubicBezTo>
                    <a:pt x="386" y="403"/>
                    <a:pt x="403" y="381"/>
                    <a:pt x="403" y="360"/>
                  </a:cubicBezTo>
                  <a:close/>
                  <a:moveTo>
                    <a:pt x="124" y="236"/>
                  </a:moveTo>
                  <a:lnTo>
                    <a:pt x="180" y="304"/>
                  </a:lnTo>
                  <a:lnTo>
                    <a:pt x="257" y="201"/>
                  </a:lnTo>
                  <a:lnTo>
                    <a:pt x="360" y="334"/>
                  </a:lnTo>
                  <a:lnTo>
                    <a:pt x="47" y="334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34" name="그룹 1733"/>
          <p:cNvGrpSpPr/>
          <p:nvPr/>
        </p:nvGrpSpPr>
        <p:grpSpPr>
          <a:xfrm>
            <a:off x="5515604" y="3883709"/>
            <a:ext cx="3453828" cy="513721"/>
            <a:chOff x="1932818" y="3883709"/>
            <a:chExt cx="3453828" cy="513721"/>
          </a:xfrm>
        </p:grpSpPr>
        <p:sp>
          <p:nvSpPr>
            <p:cNvPr id="1735" name="Rectangle 432"/>
            <p:cNvSpPr/>
            <p:nvPr/>
          </p:nvSpPr>
          <p:spPr>
            <a:xfrm>
              <a:off x="1932818" y="3883709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36" name="그룹 1735"/>
            <p:cNvGrpSpPr/>
            <p:nvPr/>
          </p:nvGrpSpPr>
          <p:grpSpPr>
            <a:xfrm>
              <a:off x="2483223" y="3997693"/>
              <a:ext cx="2250631" cy="272624"/>
              <a:chOff x="2625094" y="2085772"/>
              <a:chExt cx="2250631" cy="272624"/>
            </a:xfrm>
          </p:grpSpPr>
          <p:sp>
            <p:nvSpPr>
              <p:cNvPr id="1740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41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37" name="Rounded Rectangle 594"/>
            <p:cNvSpPr>
              <a:spLocks noChangeAspect="1"/>
            </p:cNvSpPr>
            <p:nvPr/>
          </p:nvSpPr>
          <p:spPr>
            <a:xfrm>
              <a:off x="2002991" y="3953384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739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4083814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742" name="그룹 1741"/>
          <p:cNvGrpSpPr/>
          <p:nvPr/>
        </p:nvGrpSpPr>
        <p:grpSpPr>
          <a:xfrm>
            <a:off x="6758315" y="4017283"/>
            <a:ext cx="1258935" cy="262179"/>
            <a:chOff x="3375000" y="1947415"/>
            <a:chExt cx="1258935" cy="262179"/>
          </a:xfrm>
        </p:grpSpPr>
        <p:sp>
          <p:nvSpPr>
            <p:cNvPr id="1743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744" name="텍스트 상자 31"/>
            <p:cNvSpPr txBox="1"/>
            <p:nvPr/>
          </p:nvSpPr>
          <p:spPr>
            <a:xfrm>
              <a:off x="3375000" y="2117261"/>
              <a:ext cx="1067403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 algn="r"/>
              <a:r>
                <a:rPr lang="de-DE" altLang="ko-KR" sz="600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rPr>
                <a:t> 08- 22  10: 39 AM  (3MB)</a:t>
              </a:r>
            </a:p>
          </p:txBody>
        </p:sp>
      </p:grpSp>
      <p:grpSp>
        <p:nvGrpSpPr>
          <p:cNvPr id="1745" name="그룹 1744"/>
          <p:cNvGrpSpPr/>
          <p:nvPr/>
        </p:nvGrpSpPr>
        <p:grpSpPr>
          <a:xfrm>
            <a:off x="5515604" y="4914488"/>
            <a:ext cx="3453828" cy="513721"/>
            <a:chOff x="1932818" y="4914488"/>
            <a:chExt cx="3453828" cy="513721"/>
          </a:xfrm>
        </p:grpSpPr>
        <p:sp>
          <p:nvSpPr>
            <p:cNvPr id="1746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47" name="그룹 1746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75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5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48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749" name="그룹 1748"/>
            <p:cNvGrpSpPr/>
            <p:nvPr/>
          </p:nvGrpSpPr>
          <p:grpSpPr>
            <a:xfrm>
              <a:off x="3202058" y="5048062"/>
              <a:ext cx="2084936" cy="262179"/>
              <a:chOff x="3210371" y="1947415"/>
              <a:chExt cx="2084936" cy="262179"/>
            </a:xfrm>
          </p:grpSpPr>
          <p:sp>
            <p:nvSpPr>
              <p:cNvPr id="175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52" name="그룹 1751"/>
              <p:cNvGrpSpPr/>
              <p:nvPr/>
            </p:nvGrpSpPr>
            <p:grpSpPr>
              <a:xfrm>
                <a:off x="3210371" y="1947415"/>
                <a:ext cx="1232406" cy="262179"/>
                <a:chOff x="3276834" y="1947415"/>
                <a:chExt cx="1232406" cy="262179"/>
              </a:xfrm>
            </p:grpSpPr>
            <p:sp>
              <p:nvSpPr>
                <p:cNvPr id="1753" name="텍스트 상자 31"/>
                <p:cNvSpPr txBox="1"/>
                <p:nvPr/>
              </p:nvSpPr>
              <p:spPr>
                <a:xfrm>
                  <a:off x="4070631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54" name="텍스트 상자 31"/>
                <p:cNvSpPr txBox="1"/>
                <p:nvPr/>
              </p:nvSpPr>
              <p:spPr>
                <a:xfrm>
                  <a:off x="327683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grpSp>
        <p:nvGrpSpPr>
          <p:cNvPr id="1757" name="그룹 1756"/>
          <p:cNvGrpSpPr/>
          <p:nvPr/>
        </p:nvGrpSpPr>
        <p:grpSpPr>
          <a:xfrm>
            <a:off x="5515604" y="5429877"/>
            <a:ext cx="3453828" cy="513721"/>
            <a:chOff x="1932818" y="5429877"/>
            <a:chExt cx="3453828" cy="513721"/>
          </a:xfrm>
        </p:grpSpPr>
        <p:sp>
          <p:nvSpPr>
            <p:cNvPr id="1758" name="Rectangle 432"/>
            <p:cNvSpPr/>
            <p:nvPr/>
          </p:nvSpPr>
          <p:spPr>
            <a:xfrm>
              <a:off x="1932818" y="5429877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59" name="그룹 1758"/>
            <p:cNvGrpSpPr/>
            <p:nvPr/>
          </p:nvGrpSpPr>
          <p:grpSpPr>
            <a:xfrm>
              <a:off x="2002991" y="5499552"/>
              <a:ext cx="3284003" cy="369233"/>
              <a:chOff x="2127686" y="5499552"/>
              <a:chExt cx="3284003" cy="369233"/>
            </a:xfrm>
          </p:grpSpPr>
          <p:grpSp>
            <p:nvGrpSpPr>
              <p:cNvPr id="1760" name="그룹 1759"/>
              <p:cNvGrpSpPr/>
              <p:nvPr/>
            </p:nvGrpSpPr>
            <p:grpSpPr>
              <a:xfrm>
                <a:off x="2607918" y="5543861"/>
                <a:ext cx="2250631" cy="272624"/>
                <a:chOff x="2625094" y="2085772"/>
                <a:chExt cx="2250631" cy="272624"/>
              </a:xfrm>
            </p:grpSpPr>
            <p:sp>
              <p:nvSpPr>
                <p:cNvPr id="1768" name="텍스트 상자 31"/>
                <p:cNvSpPr txBox="1"/>
                <p:nvPr/>
              </p:nvSpPr>
              <p:spPr>
                <a:xfrm>
                  <a:off x="2625094" y="2250674"/>
                  <a:ext cx="1669851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kumimoji="1" lang="ko-KR" altLang="en-US" sz="700" dirty="0" err="1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강미나</a:t>
                  </a:r>
                  <a:r>
                    <a:rPr kumimoji="1" lang="ko-KR" altLang="en-US" sz="7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+mn-ea"/>
                      <a:ea typeface="+mn-ea"/>
                    </a:rPr>
                    <a:t>  </a:t>
                  </a:r>
                  <a:r>
                    <a:rPr lang="ko-KR" altLang="en-US" sz="700" dirty="0" err="1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  <a:ea typeface="+mn-ea"/>
                    </a:rPr>
                    <a:t>제품기획팀</a:t>
                  </a:r>
                  <a:r>
                    <a:rPr lang="ko-KR" altLang="en-US" sz="700" dirty="0" smtClean="0">
                      <a:solidFill>
                        <a:schemeClr val="bg1">
                          <a:lumMod val="75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endPara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69" name="텍스트 상자 31"/>
                <p:cNvSpPr txBox="1"/>
                <p:nvPr/>
              </p:nvSpPr>
              <p:spPr>
                <a:xfrm>
                  <a:off x="2625094" y="2085772"/>
                  <a:ext cx="2250631" cy="123111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EGW_</a:t>
                  </a:r>
                  <a:r>
                    <a:rPr lang="ko-KR" altLang="en-US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스퀘어플러스 </a:t>
                  </a:r>
                  <a:r>
                    <a:rPr lang="ko-KR" altLang="en-US" sz="800" b="1" dirty="0" err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화면설계서</a:t>
                  </a:r>
                  <a:r>
                    <a:rPr lang="en-US" altLang="ko-KR" sz="8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  <a:ea typeface="+mn-ea"/>
                    </a:rPr>
                    <a:t>_v1.0</a:t>
                  </a:r>
                  <a:endParaRPr kumimoji="1" lang="ko-KR" altLang="en-US" sz="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761" name="Rounded Rectangle 594"/>
              <p:cNvSpPr>
                <a:spLocks noChangeAspect="1"/>
              </p:cNvSpPr>
              <p:nvPr/>
            </p:nvSpPr>
            <p:spPr>
              <a:xfrm>
                <a:off x="2127686" y="5499552"/>
                <a:ext cx="369233" cy="369233"/>
              </a:xfrm>
              <a:prstGeom prst="roundRect">
                <a:avLst>
                  <a:gd name="adj" fmla="val 842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r>
                  <a:rPr lang="en-US" sz="24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P</a:t>
                </a:r>
                <a:endParaRPr kumimoji="1" lang="en-US" sz="2400" b="1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grpSp>
            <p:nvGrpSpPr>
              <p:cNvPr id="1762" name="그룹 1761"/>
              <p:cNvGrpSpPr/>
              <p:nvPr/>
            </p:nvGrpSpPr>
            <p:grpSpPr>
              <a:xfrm>
                <a:off x="3306883" y="5563451"/>
                <a:ext cx="2104806" cy="262179"/>
                <a:chOff x="3315196" y="1947415"/>
                <a:chExt cx="2104806" cy="262179"/>
              </a:xfrm>
            </p:grpSpPr>
            <p:sp>
              <p:nvSpPr>
                <p:cNvPr id="1764" name="Freeform 26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5382841" y="2013946"/>
                  <a:ext cx="37161" cy="144000"/>
                </a:xfrm>
                <a:custGeom>
                  <a:avLst/>
                  <a:gdLst>
                    <a:gd name="T0" fmla="*/ 49 w 104"/>
                    <a:gd name="T1" fmla="*/ 103 h 411"/>
                    <a:gd name="T2" fmla="*/ 103 w 104"/>
                    <a:gd name="T3" fmla="*/ 49 h 411"/>
                    <a:gd name="T4" fmla="*/ 49 w 104"/>
                    <a:gd name="T5" fmla="*/ 0 h 411"/>
                    <a:gd name="T6" fmla="*/ 0 w 104"/>
                    <a:gd name="T7" fmla="*/ 49 h 411"/>
                    <a:gd name="T8" fmla="*/ 49 w 104"/>
                    <a:gd name="T9" fmla="*/ 103 h 411"/>
                    <a:gd name="T10" fmla="*/ 49 w 104"/>
                    <a:gd name="T11" fmla="*/ 152 h 411"/>
                    <a:gd name="T12" fmla="*/ 0 w 104"/>
                    <a:gd name="T13" fmla="*/ 205 h 411"/>
                    <a:gd name="T14" fmla="*/ 49 w 104"/>
                    <a:gd name="T15" fmla="*/ 254 h 411"/>
                    <a:gd name="T16" fmla="*/ 103 w 104"/>
                    <a:gd name="T17" fmla="*/ 205 h 411"/>
                    <a:gd name="T18" fmla="*/ 49 w 104"/>
                    <a:gd name="T19" fmla="*/ 152 h 411"/>
                    <a:gd name="T20" fmla="*/ 49 w 104"/>
                    <a:gd name="T21" fmla="*/ 308 h 411"/>
                    <a:gd name="T22" fmla="*/ 0 w 104"/>
                    <a:gd name="T23" fmla="*/ 357 h 411"/>
                    <a:gd name="T24" fmla="*/ 49 w 104"/>
                    <a:gd name="T25" fmla="*/ 410 h 411"/>
                    <a:gd name="T26" fmla="*/ 103 w 104"/>
                    <a:gd name="T27" fmla="*/ 357 h 411"/>
                    <a:gd name="T28" fmla="*/ 49 w 104"/>
                    <a:gd name="T29" fmla="*/ 308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4" h="411">
                      <a:moveTo>
                        <a:pt x="49" y="103"/>
                      </a:moveTo>
                      <a:cubicBezTo>
                        <a:pt x="78" y="103"/>
                        <a:pt x="103" y="76"/>
                        <a:pt x="103" y="49"/>
                      </a:cubicBezTo>
                      <a:cubicBezTo>
                        <a:pt x="103" y="22"/>
                        <a:pt x="76" y="0"/>
                        <a:pt x="49" y="0"/>
                      </a:cubicBezTo>
                      <a:cubicBezTo>
                        <a:pt x="22" y="0"/>
                        <a:pt x="0" y="22"/>
                        <a:pt x="0" y="49"/>
                      </a:cubicBezTo>
                      <a:cubicBezTo>
                        <a:pt x="0" y="76"/>
                        <a:pt x="25" y="103"/>
                        <a:pt x="49" y="103"/>
                      </a:cubicBezTo>
                      <a:close/>
                      <a:moveTo>
                        <a:pt x="49" y="152"/>
                      </a:moveTo>
                      <a:cubicBezTo>
                        <a:pt x="25" y="152"/>
                        <a:pt x="0" y="176"/>
                        <a:pt x="0" y="205"/>
                      </a:cubicBezTo>
                      <a:cubicBezTo>
                        <a:pt x="0" y="235"/>
                        <a:pt x="22" y="254"/>
                        <a:pt x="49" y="254"/>
                      </a:cubicBezTo>
                      <a:cubicBezTo>
                        <a:pt x="76" y="254"/>
                        <a:pt x="103" y="235"/>
                        <a:pt x="103" y="205"/>
                      </a:cubicBezTo>
                      <a:cubicBezTo>
                        <a:pt x="103" y="176"/>
                        <a:pt x="78" y="152"/>
                        <a:pt x="49" y="152"/>
                      </a:cubicBezTo>
                      <a:close/>
                      <a:moveTo>
                        <a:pt x="49" y="308"/>
                      </a:moveTo>
                      <a:cubicBezTo>
                        <a:pt x="25" y="308"/>
                        <a:pt x="0" y="327"/>
                        <a:pt x="0" y="357"/>
                      </a:cubicBezTo>
                      <a:cubicBezTo>
                        <a:pt x="0" y="386"/>
                        <a:pt x="22" y="410"/>
                        <a:pt x="49" y="410"/>
                      </a:cubicBezTo>
                      <a:cubicBezTo>
                        <a:pt x="76" y="410"/>
                        <a:pt x="103" y="386"/>
                        <a:pt x="103" y="357"/>
                      </a:cubicBezTo>
                      <a:cubicBezTo>
                        <a:pt x="103" y="327"/>
                        <a:pt x="78" y="308"/>
                        <a:pt x="49" y="308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>
                  <a:defPPr>
                    <a:defRPr lang="id-ID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5pPr>
                  <a:lvl6pPr marL="22860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6pPr>
                  <a:lvl7pPr marL="27432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7pPr>
                  <a:lvl8pPr marL="32004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8pPr>
                  <a:lvl9pPr marL="3657600" algn="l" defTabSz="457200" rtl="0" eaLnBrk="1" latinLnBrk="0" hangingPunct="1">
                    <a:defRPr kern="1200">
                      <a:solidFill>
                        <a:schemeClr val="tx1"/>
                      </a:solidFill>
                      <a:latin typeface="Roboto" charset="0"/>
                      <a:ea typeface="ＭＳ Ｐゴシック" charset="0"/>
                      <a:cs typeface="ＭＳ Ｐゴシック" charset="0"/>
                    </a:defRPr>
                  </a:lvl9pPr>
                </a:lstStyle>
                <a:p>
                  <a:endParaRPr lang="en-US" sz="1633">
                    <a:latin typeface="+mn-ea"/>
                    <a:ea typeface="+mn-ea"/>
                  </a:endParaRPr>
                </a:p>
              </p:txBody>
            </p:sp>
            <p:grpSp>
              <p:nvGrpSpPr>
                <p:cNvPr id="1765" name="그룹 1764"/>
                <p:cNvGrpSpPr/>
                <p:nvPr/>
              </p:nvGrpSpPr>
              <p:grpSpPr>
                <a:xfrm>
                  <a:off x="3315196" y="1947415"/>
                  <a:ext cx="1252276" cy="262179"/>
                  <a:chOff x="3381659" y="1947415"/>
                  <a:chExt cx="1252276" cy="262179"/>
                </a:xfrm>
              </p:grpSpPr>
              <p:sp>
                <p:nvSpPr>
                  <p:cNvPr id="1766" name="텍스트 상자 31"/>
                  <p:cNvSpPr txBox="1"/>
                  <p:nvPr/>
                </p:nvSpPr>
                <p:spPr>
                  <a:xfrm>
                    <a:off x="4195326" y="1947415"/>
                    <a:ext cx="438609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algn="r"/>
                    <a:r>
                      <a:rPr kumimoji="1" lang="en-US" altLang="ko-KR" sz="6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rPr>
                      <a:t>5.3 KB</a:t>
                    </a:r>
                    <a:endParaRPr kumimoji="1" lang="ko-KR" altLang="en-US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1767" name="텍스트 상자 31"/>
                  <p:cNvSpPr txBox="1"/>
                  <p:nvPr/>
                </p:nvSpPr>
                <p:spPr>
                  <a:xfrm>
                    <a:off x="3381659" y="2117261"/>
                    <a:ext cx="1067403" cy="9233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>
                    <a:spAutoFit/>
                  </a:bodyPr>
                  <a:lstStyle/>
                  <a:p>
                    <a:pPr lvl="0" algn="r"/>
                    <a:r>
                      <a:rPr lang="de-DE" altLang="ko-KR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rPr>
                      <a:t> 08- 22  10: 39 AM  (3MB)</a:t>
                    </a:r>
                  </a:p>
                </p:txBody>
              </p:sp>
            </p:grpSp>
          </p:grpSp>
        </p:grpSp>
      </p:grpSp>
      <p:grpSp>
        <p:nvGrpSpPr>
          <p:cNvPr id="1778" name="그룹 1777"/>
          <p:cNvGrpSpPr/>
          <p:nvPr/>
        </p:nvGrpSpPr>
        <p:grpSpPr>
          <a:xfrm>
            <a:off x="5515604" y="5945266"/>
            <a:ext cx="3453828" cy="513721"/>
            <a:chOff x="1932818" y="4914488"/>
            <a:chExt cx="3453828" cy="513721"/>
          </a:xfrm>
        </p:grpSpPr>
        <p:sp>
          <p:nvSpPr>
            <p:cNvPr id="1779" name="Rectangle 432"/>
            <p:cNvSpPr/>
            <p:nvPr/>
          </p:nvSpPr>
          <p:spPr>
            <a:xfrm>
              <a:off x="1932818" y="491448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80" name="그룹 1779"/>
            <p:cNvGrpSpPr/>
            <p:nvPr/>
          </p:nvGrpSpPr>
          <p:grpSpPr>
            <a:xfrm>
              <a:off x="2483223" y="5028472"/>
              <a:ext cx="2250631" cy="272624"/>
              <a:chOff x="2625094" y="2085772"/>
              <a:chExt cx="2250631" cy="272624"/>
            </a:xfrm>
          </p:grpSpPr>
          <p:sp>
            <p:nvSpPr>
              <p:cNvPr id="178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8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스퀘어플러스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781" name="Rounded Rectangle 594"/>
            <p:cNvSpPr>
              <a:spLocks noChangeAspect="1"/>
            </p:cNvSpPr>
            <p:nvPr/>
          </p:nvSpPr>
          <p:spPr>
            <a:xfrm>
              <a:off x="2002991" y="4984163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782" name="그룹 1781"/>
            <p:cNvGrpSpPr/>
            <p:nvPr/>
          </p:nvGrpSpPr>
          <p:grpSpPr>
            <a:xfrm>
              <a:off x="3182188" y="5048062"/>
              <a:ext cx="2104806" cy="262179"/>
              <a:chOff x="3190501" y="1947415"/>
              <a:chExt cx="2104806" cy="262179"/>
            </a:xfrm>
          </p:grpSpPr>
          <p:sp>
            <p:nvSpPr>
              <p:cNvPr id="178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85" name="그룹 1784"/>
              <p:cNvGrpSpPr/>
              <p:nvPr/>
            </p:nvGrpSpPr>
            <p:grpSpPr>
              <a:xfrm>
                <a:off x="3190501" y="1947415"/>
                <a:ext cx="1260763" cy="262179"/>
                <a:chOff x="3256964" y="1947415"/>
                <a:chExt cx="1260763" cy="262179"/>
              </a:xfrm>
            </p:grpSpPr>
            <p:sp>
              <p:nvSpPr>
                <p:cNvPr id="1786" name="텍스트 상자 31"/>
                <p:cNvSpPr txBox="1"/>
                <p:nvPr/>
              </p:nvSpPr>
              <p:spPr>
                <a:xfrm>
                  <a:off x="407911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87" name="텍스트 상자 31"/>
                <p:cNvSpPr txBox="1"/>
                <p:nvPr/>
              </p:nvSpPr>
              <p:spPr>
                <a:xfrm>
                  <a:off x="3256964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 algn="r"/>
                  <a:r>
                    <a:rPr lang="de-DE" altLang="ko-KR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08- 22  10: 39 AM  (3MB)</a:t>
                  </a:r>
                </a:p>
              </p:txBody>
            </p:sp>
          </p:grpSp>
        </p:grpSp>
      </p:grpSp>
      <p:pic>
        <p:nvPicPr>
          <p:cNvPr id="29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614930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7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561862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8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51213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45906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0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4085555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1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57353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2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614930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561862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512137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45906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6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SQ5.2.3</a:t>
            </a:r>
            <a:endParaRPr kumimoji="0" lang="ko-KR" altLang="en-US" dirty="0"/>
          </a:p>
        </p:txBody>
      </p:sp>
      <p:grpSp>
        <p:nvGrpSpPr>
          <p:cNvPr id="329" name="그룹 328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330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31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332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33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37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7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37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34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5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6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3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4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2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34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4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45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6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7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8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9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0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1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2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3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4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55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6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369" name="TextBox 36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7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57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58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9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0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1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2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3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4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5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6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67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8" name="TextBox 367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374" name="그룹 373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75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76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77" name="직선 연결선[R] 7"/>
            <p:cNvCxnSpPr/>
            <p:nvPr/>
          </p:nvCxnSpPr>
          <p:spPr>
            <a:xfrm>
              <a:off x="5203677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78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</a:t>
              </a:r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79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80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81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82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pic>
        <p:nvPicPr>
          <p:cNvPr id="38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4095394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3571519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5" name="Rounded Rectangle 939"/>
          <p:cNvSpPr/>
          <p:nvPr/>
        </p:nvSpPr>
        <p:spPr>
          <a:xfrm>
            <a:off x="1956851" y="1159687"/>
            <a:ext cx="659971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멤버 ▼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86" name="Rounded Rectangle 939"/>
          <p:cNvSpPr/>
          <p:nvPr/>
        </p:nvSpPr>
        <p:spPr>
          <a:xfrm>
            <a:off x="2710830" y="1159687"/>
            <a:ext cx="970833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모든 파일 타입 ▼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87" name="TextBox 386"/>
          <p:cNvSpPr txBox="1"/>
          <p:nvPr/>
        </p:nvSpPr>
        <p:spPr>
          <a:xfrm>
            <a:off x="1901927" y="1538144"/>
            <a:ext cx="8899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smtClean="0">
                <a:latin typeface="+mn-ea"/>
                <a:ea typeface="+mn-ea"/>
              </a:rPr>
              <a:t>전체 파일 </a:t>
            </a:r>
            <a:r>
              <a:rPr lang="en-US" altLang="ko-KR" sz="800" b="1" smtClean="0">
                <a:solidFill>
                  <a:srgbClr val="E46C0A"/>
                </a:solidFill>
                <a:latin typeface="+mn-ea"/>
                <a:ea typeface="+mn-ea"/>
              </a:rPr>
              <a:t>56</a:t>
            </a:r>
            <a:r>
              <a:rPr lang="ko-KR" altLang="en-US" sz="800" b="1" smtClean="0">
                <a:solidFill>
                  <a:srgbClr val="E46C0A"/>
                </a:solidFill>
                <a:latin typeface="+mn-ea"/>
                <a:ea typeface="+mn-ea"/>
              </a:rPr>
              <a:t>건</a:t>
            </a:r>
            <a:endParaRPr lang="ko-KR" altLang="en-US" sz="800" b="1" dirty="0">
              <a:solidFill>
                <a:srgbClr val="E46C0A"/>
              </a:solidFill>
              <a:latin typeface="+mn-ea"/>
              <a:ea typeface="+mn-ea"/>
            </a:endParaRPr>
          </a:p>
        </p:txBody>
      </p:sp>
      <p:grpSp>
        <p:nvGrpSpPr>
          <p:cNvPr id="397" name="그룹 396"/>
          <p:cNvGrpSpPr/>
          <p:nvPr/>
        </p:nvGrpSpPr>
        <p:grpSpPr>
          <a:xfrm>
            <a:off x="6750095" y="1157480"/>
            <a:ext cx="2219325" cy="209550"/>
            <a:chOff x="4646212" y="1190625"/>
            <a:chExt cx="2219325" cy="209550"/>
          </a:xfrm>
        </p:grpSpPr>
        <p:sp>
          <p:nvSpPr>
            <p:cNvPr id="398" name="직사각형 397"/>
            <p:cNvSpPr/>
            <p:nvPr/>
          </p:nvSpPr>
          <p:spPr>
            <a:xfrm>
              <a:off x="4646212" y="1190625"/>
              <a:ext cx="2219325" cy="20955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파일명 </a:t>
              </a:r>
              <a:r>
                <a:rPr lang="ko-KR" altLang="en-US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나눔고딕" pitchFamily="50" charset="-127"/>
                  <a:ea typeface="나눔고딕" pitchFamily="50" charset="-127"/>
                </a:rPr>
                <a:t>ㅣ</a:t>
              </a:r>
              <a:endPara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399" name="Freeform 10"/>
            <p:cNvSpPr>
              <a:spLocks noChangeAspect="1" noChangeArrowheads="1"/>
            </p:cNvSpPr>
            <p:nvPr/>
          </p:nvSpPr>
          <p:spPr bwMode="auto">
            <a:xfrm>
              <a:off x="6705673" y="1243158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400" name="타원 399"/>
          <p:cNvSpPr>
            <a:spLocks noChangeAspect="1"/>
          </p:cNvSpPr>
          <p:nvPr/>
        </p:nvSpPr>
        <p:spPr>
          <a:xfrm>
            <a:off x="6656240" y="108375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1" name="TextBox 400"/>
          <p:cNvSpPr txBox="1"/>
          <p:nvPr/>
        </p:nvSpPr>
        <p:spPr>
          <a:xfrm>
            <a:off x="1247775" y="73840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파일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02" name="TextBox 401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파일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40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39077"/>
              </p:ext>
            </p:extLst>
          </p:nvPr>
        </p:nvGraphicFramePr>
        <p:xfrm>
          <a:off x="9290533" y="786383"/>
          <a:ext cx="2835141" cy="607400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사진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tab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내 검색바 제공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조건은 파일명으로 제한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405" name="TextBox 404"/>
          <p:cNvSpPr txBox="1"/>
          <p:nvPr/>
        </p:nvSpPr>
        <p:spPr>
          <a:xfrm>
            <a:off x="9305925" y="1397434"/>
            <a:ext cx="286673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각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스퀘어 그룹의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tab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메뉴에 공통적으로 적용되는 가이드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05576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내용 개체 틀 70"/>
          <p:cNvPicPr>
            <a:picLocks noGrp="1" noChangeAspect="1"/>
          </p:cNvPicPr>
          <p:nvPr>
            <p:ph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9312" y="85725"/>
            <a:ext cx="190500" cy="190500"/>
          </a:xfrm>
          <a:prstGeom prst="rect">
            <a:avLst/>
          </a:prstGeom>
        </p:spPr>
      </p:pic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65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666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667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cxnSp>
        <p:nvCxnSpPr>
          <p:cNvPr id="669" name="직선 연결선[R] 7"/>
          <p:cNvCxnSpPr/>
          <p:nvPr/>
        </p:nvCxnSpPr>
        <p:spPr>
          <a:xfrm>
            <a:off x="1896661" y="1470853"/>
            <a:ext cx="7236000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  <a:miter lim="400000"/>
          </a:ln>
        </p:spPr>
      </p:cxnSp>
      <p:sp>
        <p:nvSpPr>
          <p:cNvPr id="1101" name="Rectangle 314"/>
          <p:cNvSpPr/>
          <p:nvPr/>
        </p:nvSpPr>
        <p:spPr>
          <a:xfrm flipV="1">
            <a:off x="4850101" y="2763553"/>
            <a:ext cx="529264" cy="582614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1932818" y="1822154"/>
            <a:ext cx="3453828" cy="513721"/>
            <a:chOff x="1932818" y="1822154"/>
            <a:chExt cx="3453828" cy="513721"/>
          </a:xfrm>
        </p:grpSpPr>
        <p:sp>
          <p:nvSpPr>
            <p:cNvPr id="245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24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rgbClr val="0000FF"/>
                    </a:solidFill>
                    <a:latin typeface="+mn-ea"/>
                    <a:ea typeface="+mn-ea"/>
                  </a:rPr>
                  <a:t>스퀘어플러스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17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518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58" name="그룹 57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19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19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80" name="그룹 79"/>
          <p:cNvGrpSpPr/>
          <p:nvPr/>
        </p:nvGrpSpPr>
        <p:grpSpPr>
          <a:xfrm>
            <a:off x="1932818" y="2337543"/>
            <a:ext cx="3453828" cy="513721"/>
            <a:chOff x="1932818" y="2337543"/>
            <a:chExt cx="3453828" cy="513721"/>
          </a:xfrm>
        </p:grpSpPr>
        <p:sp>
          <p:nvSpPr>
            <p:cNvPr id="524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525" name="그룹 524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539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540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rgbClr val="0000FF"/>
                    </a:solidFill>
                    <a:latin typeface="+mn-ea"/>
                    <a:ea typeface="+mn-ea"/>
                  </a:rPr>
                  <a:t>스퀘어플러스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528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197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198" name="그룹 1197"/>
          <p:cNvGrpSpPr/>
          <p:nvPr/>
        </p:nvGrpSpPr>
        <p:grpSpPr>
          <a:xfrm>
            <a:off x="3336060" y="2471117"/>
            <a:ext cx="1098404" cy="258332"/>
            <a:chOff x="3535531" y="1947415"/>
            <a:chExt cx="1098404" cy="258332"/>
          </a:xfrm>
        </p:grpSpPr>
        <p:sp>
          <p:nvSpPr>
            <p:cNvPr id="1199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0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7" name="그룹 76"/>
          <p:cNvGrpSpPr/>
          <p:nvPr/>
        </p:nvGrpSpPr>
        <p:grpSpPr>
          <a:xfrm>
            <a:off x="1932818" y="2852928"/>
            <a:ext cx="3453828" cy="513721"/>
            <a:chOff x="1932818" y="2852928"/>
            <a:chExt cx="3453828" cy="513721"/>
          </a:xfrm>
        </p:grpSpPr>
        <p:sp>
          <p:nvSpPr>
            <p:cNvPr id="120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210" name="그룹 120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222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223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rgbClr val="0000FF"/>
                    </a:solidFill>
                    <a:latin typeface="+mn-ea"/>
                    <a:ea typeface="+mn-ea"/>
                  </a:rPr>
                  <a:t>스퀘어플러스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205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206" name="그룹 1205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207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208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631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675" name="그룹 1674"/>
          <p:cNvGrpSpPr/>
          <p:nvPr/>
        </p:nvGrpSpPr>
        <p:grpSpPr>
          <a:xfrm>
            <a:off x="5515604" y="1822154"/>
            <a:ext cx="3453828" cy="513721"/>
            <a:chOff x="1932818" y="1822154"/>
            <a:chExt cx="3453828" cy="513721"/>
          </a:xfrm>
        </p:grpSpPr>
        <p:sp>
          <p:nvSpPr>
            <p:cNvPr id="1676" name="Rectangle 432"/>
            <p:cNvSpPr/>
            <p:nvPr/>
          </p:nvSpPr>
          <p:spPr>
            <a:xfrm>
              <a:off x="1932818" y="1822154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77" name="그룹 1676"/>
            <p:cNvGrpSpPr/>
            <p:nvPr/>
          </p:nvGrpSpPr>
          <p:grpSpPr>
            <a:xfrm>
              <a:off x="2483223" y="1936138"/>
              <a:ext cx="2250631" cy="272624"/>
              <a:chOff x="2625094" y="2085772"/>
              <a:chExt cx="2250631" cy="272624"/>
            </a:xfrm>
          </p:grpSpPr>
          <p:sp>
            <p:nvSpPr>
              <p:cNvPr id="1685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86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rgbClr val="0000FF"/>
                    </a:solidFill>
                    <a:latin typeface="+mn-ea"/>
                    <a:ea typeface="+mn-ea"/>
                  </a:rPr>
                  <a:t>스퀘어플러스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78" name="Rounded Rectangle 594"/>
            <p:cNvSpPr>
              <a:spLocks noChangeAspect="1"/>
            </p:cNvSpPr>
            <p:nvPr/>
          </p:nvSpPr>
          <p:spPr>
            <a:xfrm>
              <a:off x="2002991" y="1891829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679" name="그룹 1678"/>
            <p:cNvGrpSpPr/>
            <p:nvPr/>
          </p:nvGrpSpPr>
          <p:grpSpPr>
            <a:xfrm>
              <a:off x="3317277" y="1947415"/>
              <a:ext cx="1978030" cy="262179"/>
              <a:chOff x="3317277" y="1947415"/>
              <a:chExt cx="1978030" cy="262179"/>
            </a:xfrm>
          </p:grpSpPr>
          <p:sp>
            <p:nvSpPr>
              <p:cNvPr id="1681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682" name="그룹 1681"/>
              <p:cNvGrpSpPr/>
              <p:nvPr/>
            </p:nvGrpSpPr>
            <p:grpSpPr>
              <a:xfrm>
                <a:off x="3317277" y="1947415"/>
                <a:ext cx="1143117" cy="262179"/>
                <a:chOff x="3383740" y="1947415"/>
                <a:chExt cx="1143117" cy="262179"/>
              </a:xfrm>
            </p:grpSpPr>
            <p:sp>
              <p:nvSpPr>
                <p:cNvPr id="1683" name="텍스트 상자 31"/>
                <p:cNvSpPr txBox="1"/>
                <p:nvPr/>
              </p:nvSpPr>
              <p:spPr>
                <a:xfrm>
                  <a:off x="4088248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684" name="텍스트 상자 31"/>
                <p:cNvSpPr txBox="1"/>
                <p:nvPr/>
              </p:nvSpPr>
              <p:spPr>
                <a:xfrm>
                  <a:off x="3383740" y="2117261"/>
                  <a:ext cx="1067403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kumimoji="1" lang="ko-KR" altLang="en-US" sz="600" dirty="0" smtClean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ea typeface="+mn-ea"/>
                    </a:rPr>
                    <a:t>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: 39 </a:t>
                  </a:r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AM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687" name="그룹 1686"/>
          <p:cNvGrpSpPr/>
          <p:nvPr/>
        </p:nvGrpSpPr>
        <p:grpSpPr>
          <a:xfrm>
            <a:off x="5515604" y="2337543"/>
            <a:ext cx="3453828" cy="513721"/>
            <a:chOff x="1932818" y="2337543"/>
            <a:chExt cx="3453828" cy="513721"/>
          </a:xfrm>
        </p:grpSpPr>
        <p:sp>
          <p:nvSpPr>
            <p:cNvPr id="1688" name="Rectangle 432"/>
            <p:cNvSpPr/>
            <p:nvPr/>
          </p:nvSpPr>
          <p:spPr>
            <a:xfrm>
              <a:off x="1932818" y="2337543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689" name="그룹 1688"/>
            <p:cNvGrpSpPr/>
            <p:nvPr/>
          </p:nvGrpSpPr>
          <p:grpSpPr>
            <a:xfrm>
              <a:off x="2483223" y="2451527"/>
              <a:ext cx="2250631" cy="272624"/>
              <a:chOff x="2625094" y="2085772"/>
              <a:chExt cx="2250631" cy="272624"/>
            </a:xfrm>
          </p:grpSpPr>
          <p:sp>
            <p:nvSpPr>
              <p:cNvPr id="1693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제품기획팀</a:t>
                </a:r>
                <a:r>
                  <a:rPr lang="ko-KR" altLang="en-US" sz="7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  <a:ea typeface="+mn-ea"/>
                  </a:rPr>
                  <a:t> 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694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rgbClr val="0000FF"/>
                    </a:solidFill>
                    <a:latin typeface="+mn-ea"/>
                    <a:ea typeface="+mn-ea"/>
                  </a:rPr>
                  <a:t>스퀘어플러스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90" name="Rounded Rectangle 594"/>
            <p:cNvSpPr>
              <a:spLocks noChangeAspect="1"/>
            </p:cNvSpPr>
            <p:nvPr/>
          </p:nvSpPr>
          <p:spPr>
            <a:xfrm>
              <a:off x="2002991" y="2407218"/>
              <a:ext cx="369233" cy="369233"/>
            </a:xfrm>
            <a:prstGeom prst="roundRect">
              <a:avLst>
                <a:gd name="adj" fmla="val 8420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+mn-ea"/>
                  <a:ea typeface="+mn-ea"/>
                </a:rPr>
                <a:t>P</a:t>
              </a:r>
              <a:endParaRPr kumimoji="1" lang="en-US" sz="24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692" name="Freeform 26"/>
            <p:cNvSpPr>
              <a:spLocks noChangeAspect="1" noChangeArrowheads="1"/>
            </p:cNvSpPr>
            <p:nvPr/>
          </p:nvSpPr>
          <p:spPr bwMode="auto">
            <a:xfrm flipH="1">
              <a:off x="5249833" y="2537648"/>
              <a:ext cx="37161" cy="144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grpSp>
        <p:nvGrpSpPr>
          <p:cNvPr id="1695" name="그룹 1694"/>
          <p:cNvGrpSpPr/>
          <p:nvPr/>
        </p:nvGrpSpPr>
        <p:grpSpPr>
          <a:xfrm>
            <a:off x="6918846" y="2471117"/>
            <a:ext cx="1098404" cy="258332"/>
            <a:chOff x="3535531" y="1947415"/>
            <a:chExt cx="1098404" cy="258332"/>
          </a:xfrm>
        </p:grpSpPr>
        <p:sp>
          <p:nvSpPr>
            <p:cNvPr id="1696" name="텍스트 상자 31"/>
            <p:cNvSpPr txBox="1"/>
            <p:nvPr/>
          </p:nvSpPr>
          <p:spPr>
            <a:xfrm>
              <a:off x="4195326" y="1947415"/>
              <a:ext cx="438609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r"/>
              <a:r>
                <a:rPr kumimoji="1" lang="en-US" altLang="ko-KR" sz="6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5.3 KB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697" name="텍스트 상자 31"/>
            <p:cNvSpPr txBox="1"/>
            <p:nvPr/>
          </p:nvSpPr>
          <p:spPr>
            <a:xfrm>
              <a:off x="3535531" y="2121108"/>
              <a:ext cx="1067403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lvl="0"/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55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37 </a:t>
              </a:r>
              <a:r>
                <a:rPr lang="en-US" altLang="ko-KR" sz="550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AM  </a:t>
              </a:r>
              <a:endParaRPr lang="ko-KR" altLang="en-US" sz="55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98" name="그룹 1697"/>
          <p:cNvGrpSpPr/>
          <p:nvPr/>
        </p:nvGrpSpPr>
        <p:grpSpPr>
          <a:xfrm>
            <a:off x="5515604" y="2852928"/>
            <a:ext cx="3453828" cy="513721"/>
            <a:chOff x="1932818" y="2852928"/>
            <a:chExt cx="3453828" cy="513721"/>
          </a:xfrm>
        </p:grpSpPr>
        <p:sp>
          <p:nvSpPr>
            <p:cNvPr id="1699" name="Rectangle 432"/>
            <p:cNvSpPr/>
            <p:nvPr/>
          </p:nvSpPr>
          <p:spPr>
            <a:xfrm>
              <a:off x="1932818" y="2852928"/>
              <a:ext cx="3453828" cy="5137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smtClean="0">
                  <a:solidFill>
                    <a:schemeClr val="bg1">
                      <a:lumMod val="75000"/>
                    </a:schemeClr>
                  </a:solidFill>
                </a:rPr>
                <a:t> </a:t>
              </a:r>
              <a:endParaRPr 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1700" name="그룹 1699"/>
            <p:cNvGrpSpPr/>
            <p:nvPr/>
          </p:nvGrpSpPr>
          <p:grpSpPr>
            <a:xfrm>
              <a:off x="2483223" y="2966912"/>
              <a:ext cx="2250631" cy="272624"/>
              <a:chOff x="2625094" y="2085772"/>
              <a:chExt cx="2250631" cy="272624"/>
            </a:xfrm>
          </p:grpSpPr>
          <p:sp>
            <p:nvSpPr>
              <p:cNvPr id="1708" name="텍스트 상자 31"/>
              <p:cNvSpPr txBox="1"/>
              <p:nvPr/>
            </p:nvSpPr>
            <p:spPr>
              <a:xfrm>
                <a:off x="2625094" y="2250674"/>
                <a:ext cx="1669851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ko-KR" altLang="en-US" sz="700" dirty="0" err="1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강미나</a:t>
                </a:r>
                <a:r>
                  <a:rPr kumimoji="1" lang="ko-KR" altLang="en-US" sz="700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  </a:t>
                </a:r>
                <a:r>
                  <a:rPr lang="ko-KR" altLang="en-US" sz="700" dirty="0" err="1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제품기획</a:t>
                </a:r>
                <a:r>
                  <a:rPr lang="ko-KR" altLang="en-US" sz="7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  <a:ea typeface="+mn-ea"/>
                  </a:rPr>
                  <a:t>팀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709" name="텍스트 상자 31"/>
              <p:cNvSpPr txBox="1"/>
              <p:nvPr/>
            </p:nvSpPr>
            <p:spPr>
              <a:xfrm>
                <a:off x="2625094" y="2085772"/>
                <a:ext cx="225063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EGW_</a:t>
                </a:r>
                <a:r>
                  <a:rPr lang="ko-KR" altLang="en-US" sz="800" b="1" dirty="0" smtClean="0">
                    <a:solidFill>
                      <a:srgbClr val="0000FF"/>
                    </a:solidFill>
                    <a:latin typeface="+mn-ea"/>
                    <a:ea typeface="+mn-ea"/>
                  </a:rPr>
                  <a:t>스퀘어플러스</a:t>
                </a:r>
                <a:r>
                  <a:rPr lang="ko-KR" altLang="en-US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 </a:t>
                </a:r>
                <a:r>
                  <a:rPr lang="ko-KR" altLang="en-US" sz="800" b="1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화면설계서</a:t>
                </a:r>
                <a:r>
                  <a:rPr lang="en-US" altLang="ko-KR" sz="800" b="1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rPr>
                  <a:t>_v1.0</a:t>
                </a:r>
                <a:endParaRPr kumimoji="1" lang="ko-KR" altLang="en-US" sz="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3350527" y="2986502"/>
              <a:ext cx="1936467" cy="258332"/>
              <a:chOff x="3358840" y="1947415"/>
              <a:chExt cx="1936467" cy="258332"/>
            </a:xfrm>
          </p:grpSpPr>
          <p:sp>
            <p:nvSpPr>
              <p:cNvPr id="1704" name="Freeform 26"/>
              <p:cNvSpPr>
                <a:spLocks noChangeAspect="1" noChangeArrowheads="1"/>
              </p:cNvSpPr>
              <p:nvPr/>
            </p:nvSpPr>
            <p:spPr bwMode="auto">
              <a:xfrm flipH="1">
                <a:off x="5258146" y="2013946"/>
                <a:ext cx="37161" cy="144000"/>
              </a:xfrm>
              <a:custGeom>
                <a:avLst/>
                <a:gdLst>
                  <a:gd name="T0" fmla="*/ 49 w 104"/>
                  <a:gd name="T1" fmla="*/ 103 h 411"/>
                  <a:gd name="T2" fmla="*/ 103 w 104"/>
                  <a:gd name="T3" fmla="*/ 49 h 411"/>
                  <a:gd name="T4" fmla="*/ 49 w 104"/>
                  <a:gd name="T5" fmla="*/ 0 h 411"/>
                  <a:gd name="T6" fmla="*/ 0 w 104"/>
                  <a:gd name="T7" fmla="*/ 49 h 411"/>
                  <a:gd name="T8" fmla="*/ 49 w 104"/>
                  <a:gd name="T9" fmla="*/ 103 h 411"/>
                  <a:gd name="T10" fmla="*/ 49 w 104"/>
                  <a:gd name="T11" fmla="*/ 152 h 411"/>
                  <a:gd name="T12" fmla="*/ 0 w 104"/>
                  <a:gd name="T13" fmla="*/ 205 h 411"/>
                  <a:gd name="T14" fmla="*/ 49 w 104"/>
                  <a:gd name="T15" fmla="*/ 254 h 411"/>
                  <a:gd name="T16" fmla="*/ 103 w 104"/>
                  <a:gd name="T17" fmla="*/ 205 h 411"/>
                  <a:gd name="T18" fmla="*/ 49 w 104"/>
                  <a:gd name="T19" fmla="*/ 152 h 411"/>
                  <a:gd name="T20" fmla="*/ 49 w 104"/>
                  <a:gd name="T21" fmla="*/ 308 h 411"/>
                  <a:gd name="T22" fmla="*/ 0 w 104"/>
                  <a:gd name="T23" fmla="*/ 357 h 411"/>
                  <a:gd name="T24" fmla="*/ 49 w 104"/>
                  <a:gd name="T25" fmla="*/ 410 h 411"/>
                  <a:gd name="T26" fmla="*/ 103 w 104"/>
                  <a:gd name="T27" fmla="*/ 357 h 411"/>
                  <a:gd name="T28" fmla="*/ 49 w 104"/>
                  <a:gd name="T29" fmla="*/ 30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411">
                    <a:moveTo>
                      <a:pt x="49" y="103"/>
                    </a:moveTo>
                    <a:cubicBezTo>
                      <a:pt x="78" y="103"/>
                      <a:pt x="103" y="76"/>
                      <a:pt x="103" y="49"/>
                    </a:cubicBezTo>
                    <a:cubicBezTo>
                      <a:pt x="103" y="22"/>
                      <a:pt x="76" y="0"/>
                      <a:pt x="49" y="0"/>
                    </a:cubicBezTo>
                    <a:cubicBezTo>
                      <a:pt x="22" y="0"/>
                      <a:pt x="0" y="22"/>
                      <a:pt x="0" y="49"/>
                    </a:cubicBezTo>
                    <a:cubicBezTo>
                      <a:pt x="0" y="76"/>
                      <a:pt x="25" y="103"/>
                      <a:pt x="49" y="103"/>
                    </a:cubicBezTo>
                    <a:close/>
                    <a:moveTo>
                      <a:pt x="49" y="152"/>
                    </a:moveTo>
                    <a:cubicBezTo>
                      <a:pt x="25" y="152"/>
                      <a:pt x="0" y="176"/>
                      <a:pt x="0" y="205"/>
                    </a:cubicBezTo>
                    <a:cubicBezTo>
                      <a:pt x="0" y="235"/>
                      <a:pt x="22" y="254"/>
                      <a:pt x="49" y="254"/>
                    </a:cubicBezTo>
                    <a:cubicBezTo>
                      <a:pt x="76" y="254"/>
                      <a:pt x="103" y="235"/>
                      <a:pt x="103" y="205"/>
                    </a:cubicBezTo>
                    <a:cubicBezTo>
                      <a:pt x="103" y="176"/>
                      <a:pt x="78" y="152"/>
                      <a:pt x="49" y="152"/>
                    </a:cubicBezTo>
                    <a:close/>
                    <a:moveTo>
                      <a:pt x="49" y="308"/>
                    </a:moveTo>
                    <a:cubicBezTo>
                      <a:pt x="25" y="308"/>
                      <a:pt x="0" y="327"/>
                      <a:pt x="0" y="357"/>
                    </a:cubicBezTo>
                    <a:cubicBezTo>
                      <a:pt x="0" y="386"/>
                      <a:pt x="22" y="410"/>
                      <a:pt x="49" y="410"/>
                    </a:cubicBezTo>
                    <a:cubicBezTo>
                      <a:pt x="76" y="410"/>
                      <a:pt x="103" y="386"/>
                      <a:pt x="103" y="357"/>
                    </a:cubicBezTo>
                    <a:cubicBezTo>
                      <a:pt x="103" y="327"/>
                      <a:pt x="78" y="308"/>
                      <a:pt x="4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latin typeface="+mn-ea"/>
                  <a:ea typeface="+mn-ea"/>
                </a:endParaRPr>
              </a:p>
            </p:txBody>
          </p:sp>
          <p:grpSp>
            <p:nvGrpSpPr>
              <p:cNvPr id="1705" name="그룹 1704"/>
              <p:cNvGrpSpPr/>
              <p:nvPr/>
            </p:nvGrpSpPr>
            <p:grpSpPr>
              <a:xfrm>
                <a:off x="3358840" y="1947415"/>
                <a:ext cx="1102105" cy="258332"/>
                <a:chOff x="3425303" y="1947415"/>
                <a:chExt cx="1102105" cy="258332"/>
              </a:xfrm>
            </p:grpSpPr>
            <p:sp>
              <p:nvSpPr>
                <p:cNvPr id="1706" name="텍스트 상자 31"/>
                <p:cNvSpPr txBox="1"/>
                <p:nvPr/>
              </p:nvSpPr>
              <p:spPr>
                <a:xfrm>
                  <a:off x="4088799" y="1947415"/>
                  <a:ext cx="438609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solidFill>
                        <a:schemeClr val="bg1">
                          <a:lumMod val="65000"/>
                        </a:schemeClr>
                      </a:solidFill>
                      <a:latin typeface="+mn-ea"/>
                      <a:ea typeface="+mn-ea"/>
                    </a:rPr>
                    <a:t>5.3 KB</a:t>
                  </a:r>
                  <a:endParaRPr kumimoji="1" lang="ko-KR" altLang="en-US" sz="6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707" name="텍스트 상자 31"/>
                <p:cNvSpPr txBox="1"/>
                <p:nvPr/>
              </p:nvSpPr>
              <p:spPr>
                <a:xfrm>
                  <a:off x="3425303" y="2121108"/>
                  <a:ext cx="1067403" cy="846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spAutoFit/>
                </a:bodyPr>
                <a:lstStyle/>
                <a:p>
                  <a:pPr lvl="0"/>
                  <a:r>
                    <a:rPr lang="en-US" altLang="ko-KR" sz="550" dirty="0" smtClean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08-22  </a:t>
                  </a:r>
                  <a:r>
                    <a:rPr lang="en-US" altLang="ko-KR" sz="550" dirty="0">
                      <a:solidFill>
                        <a:prstClr val="black">
                          <a:lumMod val="50000"/>
                          <a:lumOff val="50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10: 39 AM  (3MB)</a:t>
                  </a:r>
                  <a:endParaRPr lang="ko-KR" altLang="en-US" sz="55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702" name="Freeform 14"/>
            <p:cNvSpPr>
              <a:spLocks noChangeAspect="1" noChangeArrowheads="1"/>
            </p:cNvSpPr>
            <p:nvPr/>
          </p:nvSpPr>
          <p:spPr bwMode="auto">
            <a:xfrm>
              <a:off x="2002387" y="2926448"/>
              <a:ext cx="370802" cy="370800"/>
            </a:xfrm>
            <a:custGeom>
              <a:avLst/>
              <a:gdLst>
                <a:gd name="T0" fmla="*/ 401 w 455"/>
                <a:gd name="T1" fmla="*/ 0 h 456"/>
                <a:gd name="T2" fmla="*/ 48 w 455"/>
                <a:gd name="T3" fmla="*/ 0 h 456"/>
                <a:gd name="T4" fmla="*/ 0 w 455"/>
                <a:gd name="T5" fmla="*/ 49 h 456"/>
                <a:gd name="T6" fmla="*/ 0 w 455"/>
                <a:gd name="T7" fmla="*/ 402 h 456"/>
                <a:gd name="T8" fmla="*/ 48 w 455"/>
                <a:gd name="T9" fmla="*/ 455 h 456"/>
                <a:gd name="T10" fmla="*/ 401 w 455"/>
                <a:gd name="T11" fmla="*/ 455 h 456"/>
                <a:gd name="T12" fmla="*/ 454 w 455"/>
                <a:gd name="T13" fmla="*/ 402 h 456"/>
                <a:gd name="T14" fmla="*/ 454 w 455"/>
                <a:gd name="T15" fmla="*/ 49 h 456"/>
                <a:gd name="T16" fmla="*/ 401 w 455"/>
                <a:gd name="T17" fmla="*/ 0 h 456"/>
                <a:gd name="T18" fmla="*/ 314 w 455"/>
                <a:gd name="T19" fmla="*/ 353 h 456"/>
                <a:gd name="T20" fmla="*/ 275 w 455"/>
                <a:gd name="T21" fmla="*/ 353 h 456"/>
                <a:gd name="T22" fmla="*/ 227 w 455"/>
                <a:gd name="T23" fmla="*/ 165 h 456"/>
                <a:gd name="T24" fmla="*/ 174 w 455"/>
                <a:gd name="T25" fmla="*/ 353 h 456"/>
                <a:gd name="T26" fmla="*/ 135 w 455"/>
                <a:gd name="T27" fmla="*/ 353 h 456"/>
                <a:gd name="T28" fmla="*/ 77 w 455"/>
                <a:gd name="T29" fmla="*/ 102 h 456"/>
                <a:gd name="T30" fmla="*/ 120 w 455"/>
                <a:gd name="T31" fmla="*/ 102 h 456"/>
                <a:gd name="T32" fmla="*/ 159 w 455"/>
                <a:gd name="T33" fmla="*/ 291 h 456"/>
                <a:gd name="T34" fmla="*/ 207 w 455"/>
                <a:gd name="T35" fmla="*/ 102 h 456"/>
                <a:gd name="T36" fmla="*/ 241 w 455"/>
                <a:gd name="T37" fmla="*/ 102 h 456"/>
                <a:gd name="T38" fmla="*/ 294 w 455"/>
                <a:gd name="T39" fmla="*/ 291 h 456"/>
                <a:gd name="T40" fmla="*/ 333 w 455"/>
                <a:gd name="T41" fmla="*/ 102 h 456"/>
                <a:gd name="T42" fmla="*/ 377 w 455"/>
                <a:gd name="T43" fmla="*/ 102 h 456"/>
                <a:gd name="T44" fmla="*/ 314 w 455"/>
                <a:gd name="T45" fmla="*/ 35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5" h="456">
                  <a:moveTo>
                    <a:pt x="401" y="0"/>
                  </a:moveTo>
                  <a:lnTo>
                    <a:pt x="48" y="0"/>
                  </a:lnTo>
                  <a:cubicBezTo>
                    <a:pt x="19" y="0"/>
                    <a:pt x="0" y="20"/>
                    <a:pt x="0" y="49"/>
                  </a:cubicBezTo>
                  <a:lnTo>
                    <a:pt x="0" y="402"/>
                  </a:lnTo>
                  <a:cubicBezTo>
                    <a:pt x="0" y="431"/>
                    <a:pt x="19" y="455"/>
                    <a:pt x="48" y="455"/>
                  </a:cubicBezTo>
                  <a:lnTo>
                    <a:pt x="401" y="455"/>
                  </a:lnTo>
                  <a:cubicBezTo>
                    <a:pt x="430" y="455"/>
                    <a:pt x="454" y="431"/>
                    <a:pt x="454" y="402"/>
                  </a:cubicBezTo>
                  <a:lnTo>
                    <a:pt x="454" y="49"/>
                  </a:lnTo>
                  <a:cubicBezTo>
                    <a:pt x="454" y="20"/>
                    <a:pt x="430" y="0"/>
                    <a:pt x="401" y="0"/>
                  </a:cubicBezTo>
                  <a:close/>
                  <a:moveTo>
                    <a:pt x="314" y="353"/>
                  </a:moveTo>
                  <a:lnTo>
                    <a:pt x="275" y="353"/>
                  </a:lnTo>
                  <a:lnTo>
                    <a:pt x="227" y="165"/>
                  </a:lnTo>
                  <a:lnTo>
                    <a:pt x="174" y="353"/>
                  </a:lnTo>
                  <a:lnTo>
                    <a:pt x="135" y="353"/>
                  </a:lnTo>
                  <a:lnTo>
                    <a:pt x="77" y="102"/>
                  </a:lnTo>
                  <a:lnTo>
                    <a:pt x="120" y="102"/>
                  </a:lnTo>
                  <a:lnTo>
                    <a:pt x="159" y="291"/>
                  </a:lnTo>
                  <a:lnTo>
                    <a:pt x="207" y="102"/>
                  </a:lnTo>
                  <a:lnTo>
                    <a:pt x="241" y="102"/>
                  </a:lnTo>
                  <a:lnTo>
                    <a:pt x="294" y="291"/>
                  </a:lnTo>
                  <a:lnTo>
                    <a:pt x="333" y="102"/>
                  </a:lnTo>
                  <a:lnTo>
                    <a:pt x="377" y="102"/>
                  </a:lnTo>
                  <a:lnTo>
                    <a:pt x="314" y="35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</p:grpSp>
      <p:pic>
        <p:nvPicPr>
          <p:cNvPr id="302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3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088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4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3050011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5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2537993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6" name="Picture 3" descr="C:\Users\Administrator\Downloads\flag (1)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2264" y="2024517"/>
            <a:ext cx="144000" cy="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9" name="그룹 328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330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31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332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33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371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72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373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34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5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6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37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38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9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40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2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343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4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45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6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7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8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9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0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1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2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3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4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55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6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369" name="TextBox 368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70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57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58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59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0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1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2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3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4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5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6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67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8" name="TextBox 367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374" name="그룹 373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375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76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77" name="직선 연결선[R] 7"/>
            <p:cNvCxnSpPr/>
            <p:nvPr/>
          </p:nvCxnSpPr>
          <p:spPr>
            <a:xfrm>
              <a:off x="5203677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378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79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80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81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382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5" name="Rounded Rectangle 939"/>
          <p:cNvSpPr/>
          <p:nvPr/>
        </p:nvSpPr>
        <p:spPr>
          <a:xfrm>
            <a:off x="1956851" y="1159687"/>
            <a:ext cx="659971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모든 멤버 ▼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86" name="Rounded Rectangle 939"/>
          <p:cNvSpPr/>
          <p:nvPr/>
        </p:nvSpPr>
        <p:spPr>
          <a:xfrm>
            <a:off x="2710830" y="1159687"/>
            <a:ext cx="970833" cy="226847"/>
          </a:xfrm>
          <a:prstGeom prst="roundRect">
            <a:avLst>
              <a:gd name="adj" fmla="val 8420"/>
            </a:avLst>
          </a:prstGeom>
          <a:solidFill>
            <a:schemeClr val="bg1"/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r>
              <a:rPr kumimoji="1"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 모든 파일 타입 ▼</a:t>
            </a:r>
            <a:endParaRPr kumimoji="1" 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87" name="TextBox 386"/>
          <p:cNvSpPr txBox="1"/>
          <p:nvPr/>
        </p:nvSpPr>
        <p:spPr>
          <a:xfrm>
            <a:off x="1901927" y="1538144"/>
            <a:ext cx="83067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ko-KR" altLang="en-US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lang="en-US" altLang="ko-KR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ko-KR" altLang="en-US" sz="80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80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97" name="그룹 396"/>
          <p:cNvGrpSpPr/>
          <p:nvPr/>
        </p:nvGrpSpPr>
        <p:grpSpPr>
          <a:xfrm>
            <a:off x="6750095" y="1157480"/>
            <a:ext cx="2219325" cy="209550"/>
            <a:chOff x="4646212" y="1190625"/>
            <a:chExt cx="2219325" cy="209550"/>
          </a:xfrm>
        </p:grpSpPr>
        <p:sp>
          <p:nvSpPr>
            <p:cNvPr id="398" name="직사각형 397"/>
            <p:cNvSpPr/>
            <p:nvPr/>
          </p:nvSpPr>
          <p:spPr>
            <a:xfrm>
              <a:off x="4646212" y="1190625"/>
              <a:ext cx="2219325" cy="20955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파일명 </a:t>
              </a: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나눔고딕" pitchFamily="50" charset="-127"/>
                  <a:ea typeface="나눔고딕" pitchFamily="50" charset="-127"/>
                </a:rPr>
                <a:t>ㅣ </a:t>
              </a:r>
              <a:r>
                <a:rPr lang="ko-KR" altLang="en-US" sz="8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스퀘어플러스</a:t>
              </a:r>
              <a:endPara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99" name="Freeform 10"/>
            <p:cNvSpPr>
              <a:spLocks noChangeAspect="1" noChangeArrowheads="1"/>
            </p:cNvSpPr>
            <p:nvPr/>
          </p:nvSpPr>
          <p:spPr bwMode="auto">
            <a:xfrm>
              <a:off x="6705673" y="1243158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400" name="타원 399"/>
          <p:cNvSpPr>
            <a:spLocks noChangeAspect="1"/>
          </p:cNvSpPr>
          <p:nvPr/>
        </p:nvSpPr>
        <p:spPr>
          <a:xfrm>
            <a:off x="6656240" y="108375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0" name="TextBox 289"/>
          <p:cNvSpPr txBox="1"/>
          <p:nvPr/>
        </p:nvSpPr>
        <p:spPr>
          <a:xfrm>
            <a:off x="1247775" y="73840"/>
            <a:ext cx="76199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파일 검색 결과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1" name="TextBox 290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파일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10210800" y="302440"/>
            <a:ext cx="442997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SQ5.9.3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4" name="모서리가 둥근 직사각형 293"/>
          <p:cNvSpPr/>
          <p:nvPr/>
        </p:nvSpPr>
        <p:spPr>
          <a:xfrm>
            <a:off x="2751729" y="1902791"/>
            <a:ext cx="629645" cy="145084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95" name="타원 294"/>
          <p:cNvSpPr>
            <a:spLocks noChangeAspect="1"/>
          </p:cNvSpPr>
          <p:nvPr/>
        </p:nvSpPr>
        <p:spPr>
          <a:xfrm>
            <a:off x="2684315" y="18267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6" name="모서리가 둥근 직사각형 305"/>
          <p:cNvSpPr/>
          <p:nvPr/>
        </p:nvSpPr>
        <p:spPr>
          <a:xfrm>
            <a:off x="1942104" y="1512266"/>
            <a:ext cx="724896" cy="240334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307" name="타원 306"/>
          <p:cNvSpPr>
            <a:spLocks noChangeAspect="1"/>
          </p:cNvSpPr>
          <p:nvPr/>
        </p:nvSpPr>
        <p:spPr>
          <a:xfrm>
            <a:off x="1855640" y="14457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308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467898"/>
              </p:ext>
            </p:extLst>
          </p:nvPr>
        </p:nvGraphicFramePr>
        <p:xfrm>
          <a:off x="9290533" y="786383"/>
          <a:ext cx="2835141" cy="1247495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건수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출력시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이전에 입력된 검색 조건 및 검색어 유지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57678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본문내 검색된 검색어에 강조 처리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60876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검색결과가 없을 경우 컨텐츠 영역에 해당 문구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648111"/>
                  </a:ext>
                </a:extLst>
              </a:tr>
            </a:tbl>
          </a:graphicData>
        </a:graphic>
      </p:graphicFrame>
      <p:sp>
        <p:nvSpPr>
          <p:cNvPr id="317" name="TextBox 316"/>
          <p:cNvSpPr txBox="1"/>
          <p:nvPr/>
        </p:nvSpPr>
        <p:spPr>
          <a:xfrm>
            <a:off x="4906037" y="4022674"/>
            <a:ext cx="1217247" cy="230832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결과가 없습니다</a:t>
            </a:r>
            <a:r>
              <a:rPr lang="en-US" altLang="ko-KR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9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1952625" y="3641543"/>
            <a:ext cx="7022319" cy="1019175"/>
            <a:chOff x="1952625" y="3641543"/>
            <a:chExt cx="4861049" cy="1019175"/>
          </a:xfrm>
        </p:grpSpPr>
        <p:cxnSp>
          <p:nvCxnSpPr>
            <p:cNvPr id="318" name="직선 연결선 317"/>
            <p:cNvCxnSpPr/>
            <p:nvPr/>
          </p:nvCxnSpPr>
          <p:spPr>
            <a:xfrm>
              <a:off x="1952625" y="3641543"/>
              <a:ext cx="4861049" cy="0"/>
            </a:xfrm>
            <a:prstGeom prst="line">
              <a:avLst/>
            </a:prstGeom>
            <a:ln w="317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/>
            <p:cNvCxnSpPr/>
            <p:nvPr/>
          </p:nvCxnSpPr>
          <p:spPr>
            <a:xfrm>
              <a:off x="1952625" y="4660718"/>
              <a:ext cx="4861049" cy="0"/>
            </a:xfrm>
            <a:prstGeom prst="line">
              <a:avLst/>
            </a:prstGeom>
            <a:ln w="317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0" name="타원 319"/>
          <p:cNvSpPr>
            <a:spLocks noChangeAspect="1"/>
          </p:cNvSpPr>
          <p:nvPr/>
        </p:nvSpPr>
        <p:spPr>
          <a:xfrm>
            <a:off x="1874690" y="35793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65706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cxnSp>
        <p:nvCxnSpPr>
          <p:cNvPr id="231" name="직선 연결선[R] 7"/>
          <p:cNvCxnSpPr/>
          <p:nvPr/>
        </p:nvCxnSpPr>
        <p:spPr>
          <a:xfrm>
            <a:off x="1998965" y="1498689"/>
            <a:ext cx="667121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286" name="텍스트 상자 31"/>
          <p:cNvSpPr txBox="1"/>
          <p:nvPr/>
        </p:nvSpPr>
        <p:spPr>
          <a:xfrm>
            <a:off x="2108698" y="1274522"/>
            <a:ext cx="977361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1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2017.10</a:t>
            </a:r>
            <a:endParaRPr kumimoji="1" lang="ko-KR" altLang="en-US" sz="8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287" name="Group 532"/>
          <p:cNvGrpSpPr/>
          <p:nvPr/>
        </p:nvGrpSpPr>
        <p:grpSpPr>
          <a:xfrm>
            <a:off x="2828222" y="1286754"/>
            <a:ext cx="540610" cy="144000"/>
            <a:chOff x="3113961" y="1702107"/>
            <a:chExt cx="540610" cy="144000"/>
          </a:xfrm>
        </p:grpSpPr>
        <p:sp>
          <p:nvSpPr>
            <p:cNvPr id="289" name="Freeform 9"/>
            <p:cNvSpPr>
              <a:spLocks noChangeArrowheads="1"/>
            </p:cNvSpPr>
            <p:nvPr/>
          </p:nvSpPr>
          <p:spPr bwMode="auto">
            <a:xfrm>
              <a:off x="3113961" y="1741427"/>
              <a:ext cx="50409" cy="80656"/>
            </a:xfrm>
            <a:custGeom>
              <a:avLst/>
              <a:gdLst>
                <a:gd name="T0" fmla="*/ 243 w 244"/>
                <a:gd name="T1" fmla="*/ 44 h 387"/>
                <a:gd name="T2" fmla="*/ 199 w 244"/>
                <a:gd name="T3" fmla="*/ 0 h 387"/>
                <a:gd name="T4" fmla="*/ 0 w 244"/>
                <a:gd name="T5" fmla="*/ 193 h 387"/>
                <a:gd name="T6" fmla="*/ 199 w 244"/>
                <a:gd name="T7" fmla="*/ 386 h 387"/>
                <a:gd name="T8" fmla="*/ 243 w 244"/>
                <a:gd name="T9" fmla="*/ 343 h 387"/>
                <a:gd name="T10" fmla="*/ 94 w 244"/>
                <a:gd name="T11" fmla="*/ 193 h 387"/>
                <a:gd name="T12" fmla="*/ 243 w 244"/>
                <a:gd name="T13" fmla="*/ 44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387">
                  <a:moveTo>
                    <a:pt x="243" y="44"/>
                  </a:moveTo>
                  <a:lnTo>
                    <a:pt x="199" y="0"/>
                  </a:lnTo>
                  <a:lnTo>
                    <a:pt x="0" y="193"/>
                  </a:lnTo>
                  <a:lnTo>
                    <a:pt x="199" y="386"/>
                  </a:lnTo>
                  <a:lnTo>
                    <a:pt x="243" y="343"/>
                  </a:lnTo>
                  <a:lnTo>
                    <a:pt x="94" y="193"/>
                  </a:lnTo>
                  <a:lnTo>
                    <a:pt x="243" y="44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90" name="Freeform 10"/>
            <p:cNvSpPr>
              <a:spLocks noChangeArrowheads="1"/>
            </p:cNvSpPr>
            <p:nvPr/>
          </p:nvSpPr>
          <p:spPr bwMode="auto">
            <a:xfrm>
              <a:off x="3247594" y="1741427"/>
              <a:ext cx="49493" cy="80656"/>
            </a:xfrm>
            <a:custGeom>
              <a:avLst/>
              <a:gdLst>
                <a:gd name="T0" fmla="*/ 44 w 238"/>
                <a:gd name="T1" fmla="*/ 0 h 387"/>
                <a:gd name="T2" fmla="*/ 0 w 238"/>
                <a:gd name="T3" fmla="*/ 44 h 387"/>
                <a:gd name="T4" fmla="*/ 150 w 238"/>
                <a:gd name="T5" fmla="*/ 193 h 387"/>
                <a:gd name="T6" fmla="*/ 0 w 238"/>
                <a:gd name="T7" fmla="*/ 343 h 387"/>
                <a:gd name="T8" fmla="*/ 44 w 238"/>
                <a:gd name="T9" fmla="*/ 386 h 387"/>
                <a:gd name="T10" fmla="*/ 237 w 238"/>
                <a:gd name="T11" fmla="*/ 193 h 387"/>
                <a:gd name="T12" fmla="*/ 44 w 238"/>
                <a:gd name="T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387">
                  <a:moveTo>
                    <a:pt x="44" y="0"/>
                  </a:moveTo>
                  <a:lnTo>
                    <a:pt x="0" y="44"/>
                  </a:lnTo>
                  <a:lnTo>
                    <a:pt x="150" y="193"/>
                  </a:lnTo>
                  <a:lnTo>
                    <a:pt x="0" y="343"/>
                  </a:lnTo>
                  <a:lnTo>
                    <a:pt x="44" y="386"/>
                  </a:lnTo>
                  <a:lnTo>
                    <a:pt x="237" y="193"/>
                  </a:lnTo>
                  <a:lnTo>
                    <a:pt x="44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91" name="Rounded Rectangle 535"/>
            <p:cNvSpPr/>
            <p:nvPr/>
          </p:nvSpPr>
          <p:spPr>
            <a:xfrm>
              <a:off x="3373429" y="1702107"/>
              <a:ext cx="281142" cy="1440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오늘</a:t>
              </a:r>
              <a:endParaRPr 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22" name="Rounded Rectangle 944"/>
          <p:cNvSpPr/>
          <p:nvPr/>
        </p:nvSpPr>
        <p:spPr>
          <a:xfrm>
            <a:off x="7212444" y="1265041"/>
            <a:ext cx="509096" cy="180000"/>
          </a:xfrm>
          <a:prstGeom prst="roundRect">
            <a:avLst>
              <a:gd name="adj" fmla="val 8420"/>
            </a:avLst>
          </a:prstGeom>
          <a:solidFill>
            <a:schemeClr val="tx1">
              <a:lumMod val="50000"/>
              <a:lumOff val="50000"/>
            </a:schemeClr>
          </a:solidFill>
          <a:ln w="6350" cap="flat" cmpd="sng">
            <a:solidFill>
              <a:schemeClr val="bg1">
                <a:lumMod val="50000"/>
              </a:schemeClr>
            </a:solidFill>
            <a:prstDash val="solid"/>
            <a:miter lim="400000"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algn="ctr"/>
            <a:r>
              <a:rPr kumimoji="1" lang="ko-KR" altLang="en-US" sz="700" b="1" dirty="0" smtClean="0">
                <a:solidFill>
                  <a:schemeClr val="bg1"/>
                </a:solidFill>
                <a:latin typeface="+mn-ea"/>
                <a:ea typeface="+mn-ea"/>
              </a:rPr>
              <a:t>    달력</a:t>
            </a:r>
            <a:endParaRPr kumimoji="1" lang="en-US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grpSp>
        <p:nvGrpSpPr>
          <p:cNvPr id="53" name="그룹 52"/>
          <p:cNvGrpSpPr/>
          <p:nvPr/>
        </p:nvGrpSpPr>
        <p:grpSpPr>
          <a:xfrm>
            <a:off x="7721540" y="1265041"/>
            <a:ext cx="500543" cy="180000"/>
            <a:chOff x="8133979" y="1265041"/>
            <a:chExt cx="500543" cy="180000"/>
          </a:xfrm>
        </p:grpSpPr>
        <p:sp>
          <p:nvSpPr>
            <p:cNvPr id="320" name="Rounded Rectangle 944"/>
            <p:cNvSpPr/>
            <p:nvPr/>
          </p:nvSpPr>
          <p:spPr>
            <a:xfrm>
              <a:off x="8133979" y="1265041"/>
              <a:ext cx="500543" cy="180000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r>
                <a:rPr kumimoji="1" lang="ko-KR" altLang="en-US" sz="700" dirty="0" smtClean="0">
                  <a:latin typeface="+mn-ea"/>
                  <a:ea typeface="+mn-ea"/>
                </a:rPr>
                <a:t>      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목록</a:t>
              </a:r>
              <a:endParaRPr kumimoji="1" 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06" name="Group 22"/>
            <p:cNvGrpSpPr/>
            <p:nvPr/>
          </p:nvGrpSpPr>
          <p:grpSpPr>
            <a:xfrm rot="16200000">
              <a:off x="8187273" y="1297644"/>
              <a:ext cx="102895" cy="128365"/>
              <a:chOff x="7271815" y="1714887"/>
              <a:chExt cx="102895" cy="76173"/>
            </a:xfrm>
          </p:grpSpPr>
          <p:sp>
            <p:nvSpPr>
              <p:cNvPr id="317" name="Rectangle 625"/>
              <p:cNvSpPr/>
              <p:nvPr/>
            </p:nvSpPr>
            <p:spPr>
              <a:xfrm>
                <a:off x="7338279" y="1714887"/>
                <a:ext cx="36431" cy="7617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18" name="Rectangle 625"/>
              <p:cNvSpPr/>
              <p:nvPr/>
            </p:nvSpPr>
            <p:spPr>
              <a:xfrm>
                <a:off x="7305047" y="1714887"/>
                <a:ext cx="36431" cy="7617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19" name="Rectangle 625"/>
              <p:cNvSpPr/>
              <p:nvPr/>
            </p:nvSpPr>
            <p:spPr>
              <a:xfrm>
                <a:off x="7271815" y="1714887"/>
                <a:ext cx="36431" cy="7617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</p:spPr>
            <p:txBody>
              <a:bodyPr lIns="0" tIns="0" rIns="0" bIns="0" anchor="ctr"/>
              <a:lstStyle/>
              <a:p>
                <a:pPr algn="ctr"/>
                <a:endParaRPr kumimoji="1" lang="en-US" sz="70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</p:grpSp>
      </p:grpSp>
      <p:graphicFrame>
        <p:nvGraphicFramePr>
          <p:cNvPr id="326" name="Table 372"/>
          <p:cNvGraphicFramePr>
            <a:graphicFrameLocks noGrp="1"/>
          </p:cNvGraphicFramePr>
          <p:nvPr>
            <p:extLst/>
          </p:nvPr>
        </p:nvGraphicFramePr>
        <p:xfrm>
          <a:off x="2052099" y="1632341"/>
          <a:ext cx="6634698" cy="4895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478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8356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일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월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수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목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금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 dirty="0" smtClean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</a:rPr>
                        <a:t>토</a:t>
                      </a:r>
                      <a:endParaRPr 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4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5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6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7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8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9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10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11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12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13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14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15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16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17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18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19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u="none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20</a:t>
                      </a:r>
                      <a:endParaRPr lang="en-US" sz="900" b="0" u="none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21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22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kern="120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23</a:t>
                      </a:r>
                      <a:endParaRPr lang="en-US" sz="900" b="0" kern="120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u="none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24</a:t>
                      </a:r>
                      <a:endParaRPr lang="en-US" sz="900" b="0" u="none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25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26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27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28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42463"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29</a:t>
                      </a:r>
                      <a:endParaRPr lang="en-US" sz="900" b="0" dirty="0">
                        <a:solidFill>
                          <a:schemeClr val="bg1">
                            <a:lumMod val="6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30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31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1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2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3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900" b="0" dirty="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Malgun Gothic" charset="0"/>
                          <a:ea typeface="Malgun Gothic" charset="0"/>
                          <a:cs typeface="Malgun Gothic" charset="0"/>
                        </a:rPr>
                        <a:t>4</a:t>
                      </a:r>
                      <a:endParaRPr lang="en-US" sz="900" b="0" dirty="0">
                        <a:solidFill>
                          <a:schemeClr val="bg1">
                            <a:lumMod val="75000"/>
                          </a:schemeClr>
                        </a:solidFill>
                        <a:latin typeface="Malgun Gothic" charset="0"/>
                        <a:ea typeface="Malgun Gothic" charset="0"/>
                        <a:cs typeface="Malgun Gothic" charset="0"/>
                      </a:endParaRPr>
                    </a:p>
                  </a:txBody>
                  <a:tcPr marL="34384" marR="34384" marT="17192" marB="17192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25" name="내용 개체 틀 24"/>
          <p:cNvPicPr>
            <a:picLocks noGrp="1" noChangeAspect="1"/>
          </p:cNvPicPr>
          <p:nvPr>
            <p:ph sz="quarter" idx="4294967295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55970" y="1295536"/>
            <a:ext cx="126000" cy="126000"/>
          </a:xfrm>
          <a:prstGeom prst="rect">
            <a:avLst/>
          </a:prstGeom>
        </p:spPr>
      </p:pic>
      <p:grpSp>
        <p:nvGrpSpPr>
          <p:cNvPr id="101" name="그룹 100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102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3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04" name="직선 연결선[R] 7"/>
            <p:cNvCxnSpPr/>
            <p:nvPr/>
          </p:nvCxnSpPr>
          <p:spPr>
            <a:xfrm>
              <a:off x="6109974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05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6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7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8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9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127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128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129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153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SQ5.2.5.1</a:t>
            </a:r>
            <a:endParaRPr kumimoji="0" lang="ko-KR" altLang="en-US" dirty="0"/>
          </a:p>
        </p:txBody>
      </p:sp>
      <p:pic>
        <p:nvPicPr>
          <p:cNvPr id="160" name="그림 159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60159" y="1297409"/>
            <a:ext cx="126000" cy="126000"/>
          </a:xfrm>
          <a:prstGeom prst="rect">
            <a:avLst/>
          </a:prstGeom>
        </p:spPr>
      </p:pic>
      <p:grpSp>
        <p:nvGrpSpPr>
          <p:cNvPr id="2" name="그룹 1"/>
          <p:cNvGrpSpPr/>
          <p:nvPr/>
        </p:nvGrpSpPr>
        <p:grpSpPr>
          <a:xfrm>
            <a:off x="3962401" y="2984467"/>
            <a:ext cx="919386" cy="478928"/>
            <a:chOff x="3972149" y="2960650"/>
            <a:chExt cx="972000" cy="478928"/>
          </a:xfrm>
        </p:grpSpPr>
        <p:sp>
          <p:nvSpPr>
            <p:cNvPr id="151" name="Rectangle 14"/>
            <p:cNvSpPr>
              <a:spLocks/>
            </p:cNvSpPr>
            <p:nvPr/>
          </p:nvSpPr>
          <p:spPr bwMode="auto">
            <a:xfrm>
              <a:off x="3972149" y="2960650"/>
              <a:ext cx="972000" cy="14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 임원보고          오전</a:t>
              </a:r>
              <a:r>
                <a:rPr kumimoji="1" lang="en-US" altLang="ko-KR" sz="6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10</a:t>
              </a:r>
              <a:r>
                <a:rPr kumimoji="1" lang="ko-KR" altLang="en-US" sz="600" dirty="0" smtClean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시</a:t>
              </a:r>
              <a:endPara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5" name="Rectangle 14"/>
            <p:cNvSpPr>
              <a:spLocks/>
            </p:cNvSpPr>
            <p:nvPr/>
          </p:nvSpPr>
          <p:spPr bwMode="auto">
            <a:xfrm>
              <a:off x="3972149" y="3128114"/>
              <a:ext cx="97200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고객미팅          오후</a:t>
              </a:r>
              <a:r>
                <a:rPr lang="en-US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1:30</a:t>
              </a:r>
              <a:endPara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6" name="Rectangle 14"/>
            <p:cNvSpPr>
              <a:spLocks/>
            </p:cNvSpPr>
            <p:nvPr/>
          </p:nvSpPr>
          <p:spPr bwMode="auto">
            <a:xfrm>
              <a:off x="3972149" y="3295578"/>
              <a:ext cx="97200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>
                <a:lnSpc>
                  <a:spcPct val="120000"/>
                </a:lnSpc>
              </a:pPr>
              <a:r>
                <a:rPr kumimoji="1" lang="ko-KR" altLang="en-US" sz="600" smtClean="0">
                  <a:solidFill>
                    <a:schemeClr val="bg1">
                      <a:lumMod val="75000"/>
                    </a:schemeClr>
                  </a:solidFill>
                  <a:latin typeface="+mn-ea"/>
                  <a:ea typeface="+mn-ea"/>
                </a:rPr>
                <a:t>고객영업회의      </a:t>
              </a:r>
              <a:r>
                <a:rPr lang="ko-KR" altLang="en-US" sz="6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오후</a:t>
              </a:r>
              <a:r>
                <a:rPr lang="en-US" altLang="ko-KR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3</a:t>
              </a:r>
              <a:r>
                <a:rPr lang="ko-KR" altLang="en-US" sz="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시</a:t>
              </a:r>
              <a:endParaRPr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62" name="모서리가 둥근 직사각형 161"/>
          <p:cNvSpPr/>
          <p:nvPr/>
        </p:nvSpPr>
        <p:spPr>
          <a:xfrm>
            <a:off x="3992647" y="3529445"/>
            <a:ext cx="180000" cy="108000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+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417625" y="1819697"/>
            <a:ext cx="484675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r"/>
            <a:r>
              <a:rPr lang="ko-KR" altLang="en-US" sz="600" smtClean="0">
                <a:solidFill>
                  <a:srgbClr val="FF0000"/>
                </a:solidFill>
                <a:latin typeface="+mn-ea"/>
                <a:ea typeface="+mn-ea"/>
              </a:rPr>
              <a:t>임시 공휴일</a:t>
            </a:r>
            <a:endParaRPr lang="ko-KR" altLang="en-US" sz="6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63" name="TextBox 162"/>
          <p:cNvSpPr txBox="1"/>
          <p:nvPr/>
        </p:nvSpPr>
        <p:spPr>
          <a:xfrm>
            <a:off x="4520218" y="2586459"/>
            <a:ext cx="382082" cy="184666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pPr algn="r"/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음</a:t>
            </a:r>
            <a:r>
              <a:rPr lang="en-US" altLang="ko-KR" sz="6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)09.01</a:t>
            </a:r>
            <a:endParaRPr lang="ko-KR" altLang="en-US" sz="6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3437940" y="1266801"/>
            <a:ext cx="600660" cy="18099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  <a:effectLst>
            <a:outerShdw blurRad="127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15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일정 등록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9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&lt;/Code&gt;&lt;CodeSignature&gt;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&lt;/CodeSignature&gt;&lt;/SmartOptions&gt;&lt;SmartResize enabled=&quot;True&quot; minWidth=&quot;10&quot; minHeight=&quot;10&quot; /&gt;&lt;/SmartSettings&gt;"/>
          <p:cNvGrpSpPr/>
          <p:nvPr>
            <p:custDataLst>
              <p:tags r:id="rId1"/>
            </p:custDataLst>
          </p:nvPr>
        </p:nvGrpSpPr>
        <p:grpSpPr>
          <a:xfrm>
            <a:off x="5963668" y="1265333"/>
            <a:ext cx="1119634" cy="196977"/>
            <a:chOff x="554563" y="2590408"/>
            <a:chExt cx="1119634" cy="196977"/>
          </a:xfrm>
        </p:grpSpPr>
        <p:sp>
          <p:nvSpPr>
            <p:cNvPr id="196" name="Box" descr="&lt;SmartSettings&gt;&lt;SmartResize anchorLeft=&quot;Absolute&quot; anchorTop=&quot;None&quot; anchorRight=&quot;None&quot; anchorBottom=&quot;None&quot; /&gt;&lt;/SmartSettings&gt;"/>
            <p:cNvSpPr/>
            <p:nvPr>
              <p:custDataLst>
                <p:tags r:id="rId2"/>
              </p:custDataLst>
            </p:nvPr>
          </p:nvSpPr>
          <p:spPr>
            <a:xfrm>
              <a:off x="554563" y="2632644"/>
              <a:ext cx="113282" cy="1116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 smtClean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7" name="Label" descr="&lt;SmartSettings&gt;&lt;SmartResize anchorLeft=&quot;Absolute&quot; anchorTop=&quot;Absolute&quot; anchorRight=&quot;Absolute&quot; anchorBottom=&quot;Absolute&quot; /&gt;&lt;/SmartSettings&gt;"/>
            <p:cNvSpPr txBox="1"/>
            <p:nvPr>
              <p:custDataLst>
                <p:tags r:id="rId3"/>
              </p:custDataLst>
            </p:nvPr>
          </p:nvSpPr>
          <p:spPr>
            <a:xfrm>
              <a:off x="648019" y="2590408"/>
              <a:ext cx="1026178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smtClean="0">
                  <a:solidFill>
                    <a:schemeClr val="tx1">
                      <a:lumMod val="95000"/>
                      <a:lumOff val="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플래그 일정만 보기</a:t>
              </a:r>
              <a:endParaRPr lang="en-US" sz="800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8" name="Check" descr="&lt;Tags&gt;&lt;SMARTRESIZEANCHORS&gt;None,None,Absolute,None&lt;/SMARTRESIZEANCHORS&gt;&lt;/Tags&gt;" hidden="1"/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8" name="그룹 117"/>
          <p:cNvGrpSpPr/>
          <p:nvPr/>
        </p:nvGrpSpPr>
        <p:grpSpPr>
          <a:xfrm>
            <a:off x="1947387" y="393206"/>
            <a:ext cx="3106162" cy="209022"/>
            <a:chOff x="1834263" y="402633"/>
            <a:chExt cx="3106162" cy="209022"/>
          </a:xfrm>
        </p:grpSpPr>
        <p:sp>
          <p:nvSpPr>
            <p:cNvPr id="119" name="직사각형 118"/>
            <p:cNvSpPr/>
            <p:nvPr/>
          </p:nvSpPr>
          <p:spPr>
            <a:xfrm>
              <a:off x="1834263" y="402633"/>
              <a:ext cx="3106162" cy="20902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" name="Freeform 10"/>
            <p:cNvSpPr>
              <a:spLocks noChangeAspect="1" noChangeArrowheads="1"/>
            </p:cNvSpPr>
            <p:nvPr/>
          </p:nvSpPr>
          <p:spPr bwMode="auto">
            <a:xfrm>
              <a:off x="4396580" y="453668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58" name="TextBox 57"/>
          <p:cNvSpPr txBox="1"/>
          <p:nvPr/>
        </p:nvSpPr>
        <p:spPr>
          <a:xfrm>
            <a:off x="4629151" y="387369"/>
            <a:ext cx="380480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ㅣ상세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21" name="그룹 120"/>
          <p:cNvGrpSpPr/>
          <p:nvPr/>
        </p:nvGrpSpPr>
        <p:grpSpPr>
          <a:xfrm>
            <a:off x="8302970" y="1242159"/>
            <a:ext cx="354278" cy="203200"/>
            <a:chOff x="7121870" y="765909"/>
            <a:chExt cx="354278" cy="203200"/>
          </a:xfrm>
        </p:grpSpPr>
        <p:sp>
          <p:nvSpPr>
            <p:cNvPr id="122" name="직사각형 121"/>
            <p:cNvSpPr/>
            <p:nvPr/>
          </p:nvSpPr>
          <p:spPr>
            <a:xfrm>
              <a:off x="7121870" y="765909"/>
              <a:ext cx="354278" cy="2032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algn="r">
                <a:lnSpc>
                  <a:spcPct val="115000"/>
                </a:lnSpc>
                <a:spcAft>
                  <a:spcPts val="1000"/>
                </a:spcAft>
              </a:pPr>
              <a:r>
                <a:rPr lang="ko-KR" altLang="en-US" sz="600" smtClean="0">
                  <a:solidFill>
                    <a:schemeClr val="bg1"/>
                  </a:solidFill>
                  <a:latin typeface="+mn-ea"/>
                  <a:ea typeface="+mn-ea"/>
                </a:rPr>
                <a:t>▼</a:t>
              </a:r>
              <a:endParaRPr lang="ko-KR" altLang="en-US" sz="600" dirty="0" smtClean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23" name="Freeform 10"/>
            <p:cNvSpPr>
              <a:spLocks noChangeAspect="1" noChangeArrowheads="1"/>
            </p:cNvSpPr>
            <p:nvPr/>
          </p:nvSpPr>
          <p:spPr bwMode="auto">
            <a:xfrm>
              <a:off x="7194208" y="822367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125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30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31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32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185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86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187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33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5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3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3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1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142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44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5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6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7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8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49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0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7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58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59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61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183" name="TextBox 182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84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5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66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67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0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1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7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76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77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8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80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81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88" name="타원 187"/>
          <p:cNvSpPr>
            <a:spLocks noChangeAspect="1"/>
          </p:cNvSpPr>
          <p:nvPr/>
        </p:nvSpPr>
        <p:spPr>
          <a:xfrm>
            <a:off x="8246915" y="115995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9" name="TextBox 188"/>
          <p:cNvSpPr txBox="1"/>
          <p:nvPr/>
        </p:nvSpPr>
        <p:spPr>
          <a:xfrm>
            <a:off x="1247775" y="73840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0" name="TextBox 189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91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8546896"/>
              </p:ext>
            </p:extLst>
          </p:nvPr>
        </p:nvGraphicFramePr>
        <p:xfrm>
          <a:off x="9290533" y="786383"/>
          <a:ext cx="2835141" cy="4692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일정은 일정 메뉴내 검색과 동일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192" name="모서리가 둥근 직사각형 191"/>
          <p:cNvSpPr/>
          <p:nvPr/>
        </p:nvSpPr>
        <p:spPr>
          <a:xfrm>
            <a:off x="1942104" y="1102690"/>
            <a:ext cx="7201896" cy="5507659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5629275" y="679148"/>
            <a:ext cx="1028093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rgbClr val="FF0000"/>
                </a:solidFill>
                <a:latin typeface="+mn-ea"/>
                <a:ea typeface="+mn-ea"/>
              </a:rPr>
              <a:t>↙멤버는 검색 제공</a:t>
            </a:r>
            <a:r>
              <a:rPr lang="en-US" altLang="ko-KR" sz="800" smtClean="0">
                <a:solidFill>
                  <a:srgbClr val="FF0000"/>
                </a:solidFill>
                <a:latin typeface="+mn-ea"/>
                <a:ea typeface="+mn-ea"/>
              </a:rPr>
              <a:t>X</a:t>
            </a:r>
            <a:endParaRPr lang="ko-KR" altLang="en-US" sz="8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0793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102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3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04" name="직선 연결선[R] 7"/>
            <p:cNvCxnSpPr/>
            <p:nvPr/>
          </p:nvCxnSpPr>
          <p:spPr>
            <a:xfrm>
              <a:off x="6109974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05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6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7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8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09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127" name="Group 173"/>
          <p:cNvGrpSpPr/>
          <p:nvPr/>
        </p:nvGrpSpPr>
        <p:grpSpPr>
          <a:xfrm>
            <a:off x="8974944" y="844942"/>
            <a:ext cx="157246" cy="170099"/>
            <a:chOff x="7681409" y="2293429"/>
            <a:chExt cx="157246" cy="170099"/>
          </a:xfrm>
        </p:grpSpPr>
        <p:sp>
          <p:nvSpPr>
            <p:cNvPr id="128" name="Rounded Rectangle 174"/>
            <p:cNvSpPr/>
            <p:nvPr/>
          </p:nvSpPr>
          <p:spPr>
            <a:xfrm>
              <a:off x="7681409" y="2293429"/>
              <a:ext cx="157246" cy="170099"/>
            </a:xfrm>
            <a:prstGeom prst="roundRect">
              <a:avLst>
                <a:gd name="adj" fmla="val 8420"/>
              </a:avLst>
            </a:prstGeom>
            <a:solidFill>
              <a:schemeClr val="bg1"/>
            </a:solid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algn="ctr"/>
              <a:endParaRPr kumimoji="1" lang="en-US" sz="700" dirty="0"/>
            </a:p>
          </p:txBody>
        </p:sp>
        <p:sp>
          <p:nvSpPr>
            <p:cNvPr id="129" name="Freeform 32"/>
            <p:cNvSpPr>
              <a:spLocks noChangeAspect="1" noChangeArrowheads="1"/>
            </p:cNvSpPr>
            <p:nvPr/>
          </p:nvSpPr>
          <p:spPr bwMode="auto">
            <a:xfrm>
              <a:off x="7714542" y="2340397"/>
              <a:ext cx="90979" cy="90000"/>
            </a:xfrm>
            <a:custGeom>
              <a:avLst/>
              <a:gdLst>
                <a:gd name="T0" fmla="*/ 347 w 411"/>
                <a:gd name="T1" fmla="*/ 59 h 407"/>
                <a:gd name="T2" fmla="*/ 205 w 411"/>
                <a:gd name="T3" fmla="*/ 0 h 407"/>
                <a:gd name="T4" fmla="*/ 0 w 411"/>
                <a:gd name="T5" fmla="*/ 205 h 407"/>
                <a:gd name="T6" fmla="*/ 205 w 411"/>
                <a:gd name="T7" fmla="*/ 406 h 407"/>
                <a:gd name="T8" fmla="*/ 401 w 411"/>
                <a:gd name="T9" fmla="*/ 254 h 407"/>
                <a:gd name="T10" fmla="*/ 347 w 411"/>
                <a:gd name="T11" fmla="*/ 254 h 407"/>
                <a:gd name="T12" fmla="*/ 205 w 411"/>
                <a:gd name="T13" fmla="*/ 357 h 407"/>
                <a:gd name="T14" fmla="*/ 49 w 411"/>
                <a:gd name="T15" fmla="*/ 205 h 407"/>
                <a:gd name="T16" fmla="*/ 205 w 411"/>
                <a:gd name="T17" fmla="*/ 49 h 407"/>
                <a:gd name="T18" fmla="*/ 313 w 411"/>
                <a:gd name="T19" fmla="*/ 98 h 407"/>
                <a:gd name="T20" fmla="*/ 230 w 411"/>
                <a:gd name="T21" fmla="*/ 176 h 407"/>
                <a:gd name="T22" fmla="*/ 410 w 411"/>
                <a:gd name="T23" fmla="*/ 176 h 407"/>
                <a:gd name="T24" fmla="*/ 410 w 411"/>
                <a:gd name="T25" fmla="*/ 0 h 407"/>
                <a:gd name="T26" fmla="*/ 347 w 411"/>
                <a:gd name="T27" fmla="*/ 5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1" h="407">
                  <a:moveTo>
                    <a:pt x="347" y="59"/>
                  </a:moveTo>
                  <a:cubicBezTo>
                    <a:pt x="313" y="20"/>
                    <a:pt x="259" y="0"/>
                    <a:pt x="205" y="0"/>
                  </a:cubicBezTo>
                  <a:cubicBezTo>
                    <a:pt x="93" y="0"/>
                    <a:pt x="0" y="93"/>
                    <a:pt x="0" y="205"/>
                  </a:cubicBezTo>
                  <a:cubicBezTo>
                    <a:pt x="0" y="318"/>
                    <a:pt x="93" y="406"/>
                    <a:pt x="205" y="406"/>
                  </a:cubicBezTo>
                  <a:cubicBezTo>
                    <a:pt x="298" y="406"/>
                    <a:pt x="376" y="342"/>
                    <a:pt x="401" y="254"/>
                  </a:cubicBezTo>
                  <a:lnTo>
                    <a:pt x="347" y="254"/>
                  </a:lnTo>
                  <a:cubicBezTo>
                    <a:pt x="327" y="313"/>
                    <a:pt x="269" y="357"/>
                    <a:pt x="205" y="357"/>
                  </a:cubicBezTo>
                  <a:cubicBezTo>
                    <a:pt x="122" y="357"/>
                    <a:pt x="49" y="291"/>
                    <a:pt x="49" y="205"/>
                  </a:cubicBezTo>
                  <a:cubicBezTo>
                    <a:pt x="49" y="120"/>
                    <a:pt x="122" y="49"/>
                    <a:pt x="205" y="49"/>
                  </a:cubicBezTo>
                  <a:cubicBezTo>
                    <a:pt x="249" y="49"/>
                    <a:pt x="283" y="69"/>
                    <a:pt x="313" y="98"/>
                  </a:cubicBezTo>
                  <a:lnTo>
                    <a:pt x="230" y="176"/>
                  </a:lnTo>
                  <a:lnTo>
                    <a:pt x="410" y="176"/>
                  </a:lnTo>
                  <a:lnTo>
                    <a:pt x="410" y="0"/>
                  </a:lnTo>
                  <a:lnTo>
                    <a:pt x="347" y="59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153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SQ5.2.5.1</a:t>
            </a:r>
            <a:endParaRPr kumimoji="0" lang="ko-KR" altLang="en-US" dirty="0"/>
          </a:p>
        </p:txBody>
      </p:sp>
      <p:grpSp>
        <p:nvGrpSpPr>
          <p:cNvPr id="118" name="그룹 117"/>
          <p:cNvGrpSpPr/>
          <p:nvPr/>
        </p:nvGrpSpPr>
        <p:grpSpPr>
          <a:xfrm>
            <a:off x="1947387" y="393206"/>
            <a:ext cx="3106162" cy="209022"/>
            <a:chOff x="1834263" y="402633"/>
            <a:chExt cx="3106162" cy="209022"/>
          </a:xfrm>
        </p:grpSpPr>
        <p:sp>
          <p:nvSpPr>
            <p:cNvPr id="119" name="직사각형 118"/>
            <p:cNvSpPr/>
            <p:nvPr/>
          </p:nvSpPr>
          <p:spPr>
            <a:xfrm>
              <a:off x="1834263" y="402633"/>
              <a:ext cx="3106162" cy="20902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>
                <a:lnSpc>
                  <a:spcPct val="115000"/>
                </a:lnSpc>
                <a:spcAft>
                  <a:spcPts val="1000"/>
                </a:spcAft>
              </a:pPr>
              <a:endParaRPr lang="ko-KR" altLang="en-US" sz="800" dirty="0" smtClean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20" name="Freeform 10"/>
            <p:cNvSpPr>
              <a:spLocks noChangeAspect="1" noChangeArrowheads="1"/>
            </p:cNvSpPr>
            <p:nvPr/>
          </p:nvSpPr>
          <p:spPr bwMode="auto">
            <a:xfrm>
              <a:off x="4396580" y="453668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/>
            </a:p>
          </p:txBody>
        </p:sp>
      </p:grpSp>
      <p:sp>
        <p:nvSpPr>
          <p:cNvPr id="58" name="TextBox 57"/>
          <p:cNvSpPr txBox="1"/>
          <p:nvPr/>
        </p:nvSpPr>
        <p:spPr>
          <a:xfrm>
            <a:off x="4629151" y="387369"/>
            <a:ext cx="380480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ㅣ상세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24" name="그룹 123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125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30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131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132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185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86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187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33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5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36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37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39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1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142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44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5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6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7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48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49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0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57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58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59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161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183" name="TextBox 182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84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165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166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67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0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1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74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76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77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78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180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81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cxnSp>
        <p:nvCxnSpPr>
          <p:cNvPr id="110" name="직선 연결선[R] 7"/>
          <p:cNvCxnSpPr/>
          <p:nvPr/>
        </p:nvCxnSpPr>
        <p:spPr>
          <a:xfrm>
            <a:off x="2019038" y="1463459"/>
            <a:ext cx="552412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cxnSp>
        <p:nvCxnSpPr>
          <p:cNvPr id="111" name="직선 연결선[R] 7"/>
          <p:cNvCxnSpPr/>
          <p:nvPr/>
        </p:nvCxnSpPr>
        <p:spPr>
          <a:xfrm>
            <a:off x="1971413" y="1463459"/>
            <a:ext cx="705035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112" name="텍스트 상자 31"/>
          <p:cNvSpPr txBox="1"/>
          <p:nvPr/>
        </p:nvSpPr>
        <p:spPr>
          <a:xfrm>
            <a:off x="2076471" y="1259158"/>
            <a:ext cx="78817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결과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3" name="그룹 112"/>
          <p:cNvGrpSpPr/>
          <p:nvPr/>
        </p:nvGrpSpPr>
        <p:grpSpPr>
          <a:xfrm>
            <a:off x="8645870" y="1213584"/>
            <a:ext cx="354278" cy="203200"/>
            <a:chOff x="7121870" y="765909"/>
            <a:chExt cx="354278" cy="203200"/>
          </a:xfrm>
        </p:grpSpPr>
        <p:sp>
          <p:nvSpPr>
            <p:cNvPr id="114" name="직사각형 113"/>
            <p:cNvSpPr/>
            <p:nvPr/>
          </p:nvSpPr>
          <p:spPr>
            <a:xfrm>
              <a:off x="7121870" y="765909"/>
              <a:ext cx="354278" cy="2032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base" latinLnBrk="1" hangingPunct="1">
                <a:lnSpc>
                  <a:spcPct val="115000"/>
                </a:lnSpc>
                <a:spcBef>
                  <a:spcPct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6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▼</a:t>
              </a:r>
              <a:endParaRPr kumimoji="1" lang="ko-KR" altLang="en-US" sz="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0"/>
            <p:cNvSpPr>
              <a:spLocks noChangeAspect="1" noChangeArrowheads="1"/>
            </p:cNvSpPr>
            <p:nvPr/>
          </p:nvSpPr>
          <p:spPr bwMode="auto">
            <a:xfrm>
              <a:off x="7194208" y="822367"/>
              <a:ext cx="108001" cy="108000"/>
            </a:xfrm>
            <a:custGeom>
              <a:avLst/>
              <a:gdLst>
                <a:gd name="T0" fmla="*/ 332 w 471"/>
                <a:gd name="T1" fmla="*/ 296 h 471"/>
                <a:gd name="T2" fmla="*/ 312 w 471"/>
                <a:gd name="T3" fmla="*/ 296 h 471"/>
                <a:gd name="T4" fmla="*/ 307 w 471"/>
                <a:gd name="T5" fmla="*/ 286 h 471"/>
                <a:gd name="T6" fmla="*/ 348 w 471"/>
                <a:gd name="T7" fmla="*/ 173 h 471"/>
                <a:gd name="T8" fmla="*/ 174 w 471"/>
                <a:gd name="T9" fmla="*/ 0 h 471"/>
                <a:gd name="T10" fmla="*/ 0 w 471"/>
                <a:gd name="T11" fmla="*/ 173 h 471"/>
                <a:gd name="T12" fmla="*/ 174 w 471"/>
                <a:gd name="T13" fmla="*/ 347 h 471"/>
                <a:gd name="T14" fmla="*/ 286 w 471"/>
                <a:gd name="T15" fmla="*/ 306 h 471"/>
                <a:gd name="T16" fmla="*/ 296 w 471"/>
                <a:gd name="T17" fmla="*/ 311 h 471"/>
                <a:gd name="T18" fmla="*/ 296 w 471"/>
                <a:gd name="T19" fmla="*/ 337 h 471"/>
                <a:gd name="T20" fmla="*/ 429 w 471"/>
                <a:gd name="T21" fmla="*/ 470 h 471"/>
                <a:gd name="T22" fmla="*/ 470 w 471"/>
                <a:gd name="T23" fmla="*/ 429 h 471"/>
                <a:gd name="T24" fmla="*/ 332 w 471"/>
                <a:gd name="T25" fmla="*/ 296 h 471"/>
                <a:gd name="T26" fmla="*/ 174 w 471"/>
                <a:gd name="T27" fmla="*/ 296 h 471"/>
                <a:gd name="T28" fmla="*/ 56 w 471"/>
                <a:gd name="T29" fmla="*/ 173 h 471"/>
                <a:gd name="T30" fmla="*/ 174 w 471"/>
                <a:gd name="T31" fmla="*/ 56 h 471"/>
                <a:gd name="T32" fmla="*/ 296 w 471"/>
                <a:gd name="T33" fmla="*/ 173 h 471"/>
                <a:gd name="T34" fmla="*/ 174 w 471"/>
                <a:gd name="T35" fmla="*/ 29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1" h="471">
                  <a:moveTo>
                    <a:pt x="332" y="296"/>
                  </a:moveTo>
                  <a:lnTo>
                    <a:pt x="312" y="296"/>
                  </a:lnTo>
                  <a:lnTo>
                    <a:pt x="307" y="286"/>
                  </a:lnTo>
                  <a:cubicBezTo>
                    <a:pt x="332" y="255"/>
                    <a:pt x="348" y="219"/>
                    <a:pt x="348" y="173"/>
                  </a:cubicBezTo>
                  <a:cubicBezTo>
                    <a:pt x="348" y="76"/>
                    <a:pt x="271" y="0"/>
                    <a:pt x="174" y="0"/>
                  </a:cubicBezTo>
                  <a:cubicBezTo>
                    <a:pt x="77" y="0"/>
                    <a:pt x="0" y="76"/>
                    <a:pt x="0" y="173"/>
                  </a:cubicBezTo>
                  <a:cubicBezTo>
                    <a:pt x="0" y="270"/>
                    <a:pt x="77" y="347"/>
                    <a:pt x="174" y="347"/>
                  </a:cubicBezTo>
                  <a:cubicBezTo>
                    <a:pt x="215" y="347"/>
                    <a:pt x="256" y="332"/>
                    <a:pt x="286" y="306"/>
                  </a:cubicBezTo>
                  <a:lnTo>
                    <a:pt x="296" y="311"/>
                  </a:lnTo>
                  <a:lnTo>
                    <a:pt x="296" y="337"/>
                  </a:lnTo>
                  <a:lnTo>
                    <a:pt x="429" y="470"/>
                  </a:lnTo>
                  <a:lnTo>
                    <a:pt x="470" y="429"/>
                  </a:lnTo>
                  <a:lnTo>
                    <a:pt x="332" y="296"/>
                  </a:lnTo>
                  <a:close/>
                  <a:moveTo>
                    <a:pt x="174" y="296"/>
                  </a:moveTo>
                  <a:cubicBezTo>
                    <a:pt x="107" y="296"/>
                    <a:pt x="56" y="240"/>
                    <a:pt x="56" y="173"/>
                  </a:cubicBezTo>
                  <a:cubicBezTo>
                    <a:pt x="56" y="107"/>
                    <a:pt x="107" y="56"/>
                    <a:pt x="174" y="56"/>
                  </a:cubicBezTo>
                  <a:cubicBezTo>
                    <a:pt x="240" y="56"/>
                    <a:pt x="296" y="107"/>
                    <a:pt x="296" y="173"/>
                  </a:cubicBezTo>
                  <a:cubicBezTo>
                    <a:pt x="296" y="240"/>
                    <a:pt x="240" y="296"/>
                    <a:pt x="174" y="29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sz="1633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" charset="0"/>
                <a:ea typeface="ＭＳ Ｐゴシック" charset="0"/>
              </a:endParaRPr>
            </a:p>
          </p:txBody>
        </p:sp>
      </p:grpSp>
      <p:graphicFrame>
        <p:nvGraphicFramePr>
          <p:cNvPr id="116" name="표 1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643050"/>
              </p:ext>
            </p:extLst>
          </p:nvPr>
        </p:nvGraphicFramePr>
        <p:xfrm>
          <a:off x="1976282" y="1480769"/>
          <a:ext cx="7045482" cy="3354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8177">
                  <a:extLst>
                    <a:ext uri="{9D8B030D-6E8A-4147-A177-3AD203B41FA5}">
                      <a16:colId xmlns:a16="http://schemas.microsoft.com/office/drawing/2014/main" val="2455209323"/>
                    </a:ext>
                  </a:extLst>
                </a:gridCol>
                <a:gridCol w="3239141">
                  <a:extLst>
                    <a:ext uri="{9D8B030D-6E8A-4147-A177-3AD203B41FA5}">
                      <a16:colId xmlns:a16="http://schemas.microsoft.com/office/drawing/2014/main" val="1527648760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val="3231801258"/>
                    </a:ext>
                  </a:extLst>
                </a:gridCol>
                <a:gridCol w="1139032">
                  <a:extLst>
                    <a:ext uri="{9D8B030D-6E8A-4147-A177-3AD203B41FA5}">
                      <a16:colId xmlns:a16="http://schemas.microsoft.com/office/drawing/2014/main" val="3954956524"/>
                    </a:ext>
                  </a:extLst>
                </a:gridCol>
                <a:gridCol w="1139032">
                  <a:extLst>
                    <a:ext uri="{9D8B030D-6E8A-4147-A177-3AD203B41FA5}">
                      <a16:colId xmlns:a16="http://schemas.microsoft.com/office/drawing/2014/main" val="557283381"/>
                    </a:ext>
                  </a:extLst>
                </a:gridCol>
              </a:tblGrid>
              <a:tr h="30497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작성자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시작일시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종료일시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7651868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개인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0385041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공유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306640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스퀘어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5481431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개인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6707145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공유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218671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스퀘어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7575809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개인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6431274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공유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6936497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스퀘어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5276746"/>
                  </a:ext>
                </a:extLst>
              </a:tr>
              <a:tr h="304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개인 달력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EGW </a:t>
                      </a:r>
                      <a:r>
                        <a:rPr kumimoji="1" lang="ko-KR" altLang="en-US" sz="800" b="0" i="0" u="sng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업무회의</a:t>
                      </a:r>
                      <a:endParaRPr kumimoji="1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2018-01-15 15:00</a:t>
                      </a:r>
                      <a:endParaRPr kumimoji="0" lang="ko-KR" altLang="en-US" sz="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4657768"/>
                  </a:ext>
                </a:extLst>
              </a:tr>
            </a:tbl>
          </a:graphicData>
        </a:graphic>
      </p:graphicFrame>
      <p:grpSp>
        <p:nvGrpSpPr>
          <p:cNvPr id="117" name="그룹 116"/>
          <p:cNvGrpSpPr/>
          <p:nvPr/>
        </p:nvGrpSpPr>
        <p:grpSpPr>
          <a:xfrm>
            <a:off x="7273885" y="1216283"/>
            <a:ext cx="866095" cy="205990"/>
            <a:chOff x="8129256" y="1219200"/>
            <a:chExt cx="866095" cy="205990"/>
          </a:xfrm>
        </p:grpSpPr>
        <p:sp>
          <p:nvSpPr>
            <p:cNvPr id="126" name="모서리가 둥근 직사각형 125"/>
            <p:cNvSpPr/>
            <p:nvPr/>
          </p:nvSpPr>
          <p:spPr>
            <a:xfrm>
              <a:off x="8129256" y="1219200"/>
              <a:ext cx="866095" cy="205990"/>
            </a:xfrm>
            <a:prstGeom prst="roundRect">
              <a:avLst>
                <a:gd name="adj" fmla="val 0"/>
              </a:avLst>
            </a:prstGeom>
            <a:solidFill>
              <a:sysClr val="window" lastClr="FFFFFF"/>
            </a:solidFill>
            <a:ln w="3175" cap="flat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576818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libri"/>
                  <a:ea typeface="맑은 고딕" panose="020B0503020000020004" pitchFamily="50" charset="-127"/>
                  <a:cs typeface="+mn-cs"/>
                </a:rPr>
                <a:t>   달력보기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69" name="그림 168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97165" y="1253440"/>
              <a:ext cx="141069" cy="141069"/>
            </a:xfrm>
            <a:prstGeom prst="rect">
              <a:avLst/>
            </a:prstGeom>
          </p:spPr>
        </p:pic>
      </p:grpSp>
      <p:grpSp>
        <p:nvGrpSpPr>
          <p:cNvPr id="172" name="그룹 171"/>
          <p:cNvGrpSpPr/>
          <p:nvPr/>
        </p:nvGrpSpPr>
        <p:grpSpPr>
          <a:xfrm>
            <a:off x="8182047" y="1215997"/>
            <a:ext cx="457017" cy="209550"/>
            <a:chOff x="6935345" y="1198923"/>
            <a:chExt cx="457017" cy="209550"/>
          </a:xfrm>
        </p:grpSpPr>
        <p:sp>
          <p:nvSpPr>
            <p:cNvPr id="173" name="직사각형 172"/>
            <p:cNvSpPr/>
            <p:nvPr/>
          </p:nvSpPr>
          <p:spPr>
            <a:xfrm>
              <a:off x="6935345" y="1198923"/>
              <a:ext cx="421005" cy="209550"/>
            </a:xfrm>
            <a:prstGeom prst="rect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tlCol="0" anchor="ctr"/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15</a:t>
              </a: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개</a:t>
              </a:r>
              <a:endPara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5" name="TextBox 174"/>
            <p:cNvSpPr txBox="1"/>
            <p:nvPr/>
          </p:nvSpPr>
          <p:spPr>
            <a:xfrm rot="5400000">
              <a:off x="7195363" y="1196328"/>
              <a:ext cx="155817" cy="238180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HY견고딕" panose="02030600000101010101" pitchFamily="18" charset="-127"/>
                  <a:ea typeface="HY견고딕" panose="02030600000101010101" pitchFamily="18" charset="-127"/>
                  <a:cs typeface="+mn-cs"/>
                </a:rPr>
                <a:t>&gt;</a:t>
              </a:r>
              <a:endParaRPr kumimoji="1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HY견고딕" panose="02030600000101010101" pitchFamily="18" charset="-127"/>
                <a:ea typeface="HY견고딕" panose="02030600000101010101" pitchFamily="18" charset="-127"/>
                <a:cs typeface="+mn-cs"/>
              </a:endParaRPr>
            </a:p>
          </p:txBody>
        </p:sp>
      </p:grpSp>
      <p:grpSp>
        <p:nvGrpSpPr>
          <p:cNvPr id="179" name="그룹 178"/>
          <p:cNvGrpSpPr/>
          <p:nvPr/>
        </p:nvGrpSpPr>
        <p:grpSpPr>
          <a:xfrm>
            <a:off x="4295800" y="4905374"/>
            <a:ext cx="2199772" cy="157041"/>
            <a:chOff x="4513478" y="6457949"/>
            <a:chExt cx="2199772" cy="157041"/>
          </a:xfrm>
        </p:grpSpPr>
        <p:sp>
          <p:nvSpPr>
            <p:cNvPr id="189" name="텍스트 상자 31"/>
            <p:cNvSpPr txBox="1"/>
            <p:nvPr/>
          </p:nvSpPr>
          <p:spPr>
            <a:xfrm>
              <a:off x="4513478" y="6476915"/>
              <a:ext cx="1698799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HY견고딕" panose="02030600000101010101" pitchFamily="18" charset="-127"/>
                  <a:ea typeface="HY견고딕" panose="02030600000101010101" pitchFamily="18" charset="-127"/>
                  <a:cs typeface="+mn-cs"/>
                </a:rPr>
                <a:t>&lt;&lt;   &lt;   </a:t>
              </a: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 </a:t>
              </a: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2</a:t>
              </a:r>
              <a:r>
                <a:rPr kumimoji="1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  </a:t>
              </a: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    </a:t>
              </a: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HY견고딕" panose="02030600000101010101" pitchFamily="18" charset="-127"/>
                  <a:ea typeface="HY견고딕" panose="02030600000101010101" pitchFamily="18" charset="-127"/>
                  <a:cs typeface="+mn-cs"/>
                </a:rPr>
                <a:t>&gt;   &gt;&gt;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HY견고딕" panose="02030600000101010101" pitchFamily="18" charset="-127"/>
                <a:ea typeface="HY견고딕" panose="02030600000101010101" pitchFamily="18" charset="-127"/>
                <a:cs typeface="+mn-cs"/>
              </a:endParaRPr>
            </a:p>
          </p:txBody>
        </p:sp>
        <p:sp>
          <p:nvSpPr>
            <p:cNvPr id="190" name="직사각형 189"/>
            <p:cNvSpPr/>
            <p:nvPr/>
          </p:nvSpPr>
          <p:spPr>
            <a:xfrm>
              <a:off x="6150902" y="6457949"/>
              <a:ext cx="321114" cy="157041"/>
            </a:xfrm>
            <a:prstGeom prst="rect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15000"/>
                </a:lnSpc>
                <a:spcBef>
                  <a:spcPct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  <a:cs typeface="+mn-cs"/>
              </a:endParaRPr>
            </a:p>
          </p:txBody>
        </p:sp>
        <p:sp>
          <p:nvSpPr>
            <p:cNvPr id="191" name="텍스트 상자 31"/>
            <p:cNvSpPr txBox="1"/>
            <p:nvPr/>
          </p:nvSpPr>
          <p:spPr>
            <a:xfrm>
              <a:off x="6460735" y="6471999"/>
              <a:ext cx="252515" cy="12311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/ 3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94" name="TextBox 193"/>
          <p:cNvSpPr txBox="1"/>
          <p:nvPr/>
        </p:nvSpPr>
        <p:spPr>
          <a:xfrm>
            <a:off x="1247775" y="73840"/>
            <a:ext cx="76199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 검색 결과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일정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200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793312"/>
              </p:ext>
            </p:extLst>
          </p:nvPr>
        </p:nvGraphicFramePr>
        <p:xfrm>
          <a:off x="9290533" y="786383"/>
          <a:ext cx="2835141" cy="4692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일정 검색 결과는 일정 메뉴내 검색과 동일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201" name="모서리가 둥근 직사각형 200"/>
          <p:cNvSpPr/>
          <p:nvPr/>
        </p:nvSpPr>
        <p:spPr>
          <a:xfrm>
            <a:off x="1942104" y="1102690"/>
            <a:ext cx="7201896" cy="5507659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02" name="타원 201"/>
          <p:cNvSpPr>
            <a:spLocks noChangeAspect="1"/>
          </p:cNvSpPr>
          <p:nvPr/>
        </p:nvSpPr>
        <p:spPr>
          <a:xfrm>
            <a:off x="1865165" y="10647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787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65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78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79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80" name="직선 연결선[R] 7"/>
            <p:cNvCxnSpPr/>
            <p:nvPr/>
          </p:nvCxnSpPr>
          <p:spPr>
            <a:xfrm>
              <a:off x="6567101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81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2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3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4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85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90" name="내용 개체 틀 3"/>
          <p:cNvSpPr txBox="1">
            <a:spLocks/>
          </p:cNvSpPr>
          <p:nvPr/>
        </p:nvSpPr>
        <p:spPr>
          <a:xfrm>
            <a:off x="10140000" y="298292"/>
            <a:ext cx="1944000" cy="216000"/>
          </a:xfrm>
          <a:prstGeom prst="rect">
            <a:avLst/>
          </a:prstGeom>
        </p:spPr>
        <p:txBody>
          <a:bodyPr/>
          <a:lstStyle>
            <a:lvl1pPr marL="371464" indent="-371464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867" kern="1200">
                <a:solidFill>
                  <a:srgbClr val="595959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804838" indent="-309553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2pPr>
            <a:lvl3pPr marL="1238212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3pPr>
            <a:lvl4pPr marL="1733497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4pPr>
            <a:lvl5pPr marL="2228781" indent="-247642" algn="l" rtl="0" eaLnBrk="0" fontAlgn="base" latinLnBrk="1" hangingPunct="0">
              <a:spcBef>
                <a:spcPct val="20000"/>
              </a:spcBef>
              <a:spcAft>
                <a:spcPct val="0"/>
              </a:spcAft>
              <a:defRPr sz="975" kern="120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5pPr>
            <a:lvl6pPr marL="272406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19351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14636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09920" indent="-247642" algn="l" defTabSz="99057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1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/>
              <a:t>SQ5.2.6</a:t>
            </a:r>
            <a:endParaRPr kumimoji="0" lang="ko-KR" altLang="en-US" dirty="0"/>
          </a:p>
        </p:txBody>
      </p:sp>
      <p:sp>
        <p:nvSpPr>
          <p:cNvPr id="217" name="TextBox 216"/>
          <p:cNvSpPr txBox="1"/>
          <p:nvPr/>
        </p:nvSpPr>
        <p:spPr>
          <a:xfrm>
            <a:off x="1247775" y="73840"/>
            <a:ext cx="27788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보고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보고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9" name="직사각형 218"/>
          <p:cNvSpPr/>
          <p:nvPr/>
        </p:nvSpPr>
        <p:spPr>
          <a:xfrm>
            <a:off x="4646212" y="1190625"/>
            <a:ext cx="2219325" cy="2095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lvl="0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작성자 ▼ </a:t>
            </a: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나눔고딕" pitchFamily="50" charset="-127"/>
                <a:ea typeface="나눔고딕" pitchFamily="50" charset="-127"/>
              </a:rPr>
              <a:t>ㅣ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20" name="Freeform 10"/>
          <p:cNvSpPr>
            <a:spLocks noChangeAspect="1" noChangeArrowheads="1"/>
          </p:cNvSpPr>
          <p:nvPr/>
        </p:nvSpPr>
        <p:spPr bwMode="auto">
          <a:xfrm>
            <a:off x="6705673" y="1243158"/>
            <a:ext cx="108001" cy="108000"/>
          </a:xfrm>
          <a:custGeom>
            <a:avLst/>
            <a:gdLst>
              <a:gd name="T0" fmla="*/ 332 w 471"/>
              <a:gd name="T1" fmla="*/ 296 h 471"/>
              <a:gd name="T2" fmla="*/ 312 w 471"/>
              <a:gd name="T3" fmla="*/ 296 h 471"/>
              <a:gd name="T4" fmla="*/ 307 w 471"/>
              <a:gd name="T5" fmla="*/ 286 h 471"/>
              <a:gd name="T6" fmla="*/ 348 w 471"/>
              <a:gd name="T7" fmla="*/ 173 h 471"/>
              <a:gd name="T8" fmla="*/ 174 w 471"/>
              <a:gd name="T9" fmla="*/ 0 h 471"/>
              <a:gd name="T10" fmla="*/ 0 w 471"/>
              <a:gd name="T11" fmla="*/ 173 h 471"/>
              <a:gd name="T12" fmla="*/ 174 w 471"/>
              <a:gd name="T13" fmla="*/ 347 h 471"/>
              <a:gd name="T14" fmla="*/ 286 w 471"/>
              <a:gd name="T15" fmla="*/ 306 h 471"/>
              <a:gd name="T16" fmla="*/ 296 w 471"/>
              <a:gd name="T17" fmla="*/ 311 h 471"/>
              <a:gd name="T18" fmla="*/ 296 w 471"/>
              <a:gd name="T19" fmla="*/ 337 h 471"/>
              <a:gd name="T20" fmla="*/ 429 w 471"/>
              <a:gd name="T21" fmla="*/ 470 h 471"/>
              <a:gd name="T22" fmla="*/ 470 w 471"/>
              <a:gd name="T23" fmla="*/ 429 h 471"/>
              <a:gd name="T24" fmla="*/ 332 w 471"/>
              <a:gd name="T25" fmla="*/ 296 h 471"/>
              <a:gd name="T26" fmla="*/ 174 w 471"/>
              <a:gd name="T27" fmla="*/ 296 h 471"/>
              <a:gd name="T28" fmla="*/ 56 w 471"/>
              <a:gd name="T29" fmla="*/ 173 h 471"/>
              <a:gd name="T30" fmla="*/ 174 w 471"/>
              <a:gd name="T31" fmla="*/ 56 h 471"/>
              <a:gd name="T32" fmla="*/ 296 w 471"/>
              <a:gd name="T33" fmla="*/ 173 h 471"/>
              <a:gd name="T34" fmla="*/ 174 w 471"/>
              <a:gd name="T35" fmla="*/ 296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71" h="471">
                <a:moveTo>
                  <a:pt x="332" y="296"/>
                </a:moveTo>
                <a:lnTo>
                  <a:pt x="312" y="296"/>
                </a:lnTo>
                <a:lnTo>
                  <a:pt x="307" y="286"/>
                </a:lnTo>
                <a:cubicBezTo>
                  <a:pt x="332" y="255"/>
                  <a:pt x="348" y="219"/>
                  <a:pt x="348" y="173"/>
                </a:cubicBezTo>
                <a:cubicBezTo>
                  <a:pt x="348" y="76"/>
                  <a:pt x="271" y="0"/>
                  <a:pt x="174" y="0"/>
                </a:cubicBezTo>
                <a:cubicBezTo>
                  <a:pt x="77" y="0"/>
                  <a:pt x="0" y="76"/>
                  <a:pt x="0" y="173"/>
                </a:cubicBezTo>
                <a:cubicBezTo>
                  <a:pt x="0" y="270"/>
                  <a:pt x="77" y="347"/>
                  <a:pt x="174" y="347"/>
                </a:cubicBezTo>
                <a:cubicBezTo>
                  <a:pt x="215" y="347"/>
                  <a:pt x="256" y="332"/>
                  <a:pt x="286" y="306"/>
                </a:cubicBezTo>
                <a:lnTo>
                  <a:pt x="296" y="311"/>
                </a:lnTo>
                <a:lnTo>
                  <a:pt x="296" y="337"/>
                </a:lnTo>
                <a:lnTo>
                  <a:pt x="429" y="470"/>
                </a:lnTo>
                <a:lnTo>
                  <a:pt x="470" y="429"/>
                </a:lnTo>
                <a:lnTo>
                  <a:pt x="332" y="296"/>
                </a:lnTo>
                <a:close/>
                <a:moveTo>
                  <a:pt x="174" y="296"/>
                </a:moveTo>
                <a:cubicBezTo>
                  <a:pt x="107" y="296"/>
                  <a:pt x="56" y="240"/>
                  <a:pt x="56" y="173"/>
                </a:cubicBezTo>
                <a:cubicBezTo>
                  <a:pt x="56" y="107"/>
                  <a:pt x="107" y="56"/>
                  <a:pt x="174" y="56"/>
                </a:cubicBezTo>
                <a:cubicBezTo>
                  <a:pt x="240" y="56"/>
                  <a:pt x="296" y="107"/>
                  <a:pt x="296" y="173"/>
                </a:cubicBezTo>
                <a:cubicBezTo>
                  <a:pt x="296" y="240"/>
                  <a:pt x="240" y="296"/>
                  <a:pt x="174" y="296"/>
                </a:cubicBez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/>
          </a:p>
        </p:txBody>
      </p:sp>
      <p:sp>
        <p:nvSpPr>
          <p:cNvPr id="213" name="타원 212"/>
          <p:cNvSpPr>
            <a:spLocks noChangeAspect="1"/>
          </p:cNvSpPr>
          <p:nvPr/>
        </p:nvSpPr>
        <p:spPr>
          <a:xfrm>
            <a:off x="4570265" y="1112332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64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8033445"/>
              </p:ext>
            </p:extLst>
          </p:nvPr>
        </p:nvGraphicFramePr>
        <p:xfrm>
          <a:off x="9290533" y="786383"/>
          <a:ext cx="2835141" cy="469229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피드 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tab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내 검색바 제공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</a:tbl>
          </a:graphicData>
        </a:graphic>
      </p:graphicFrame>
      <p:sp>
        <p:nvSpPr>
          <p:cNvPr id="265" name="TextBox 264"/>
          <p:cNvSpPr txBox="1"/>
          <p:nvPr/>
        </p:nvSpPr>
        <p:spPr>
          <a:xfrm>
            <a:off x="9305925" y="1297779"/>
            <a:ext cx="2866738" cy="33855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각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스퀘어 그룹의 </a:t>
            </a:r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tab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메뉴에 공통적으로 적용되는 가이드</a:t>
            </a:r>
            <a:endParaRPr lang="en-US" altLang="ko-KR" sz="800" b="1" smtClean="0">
              <a:solidFill>
                <a:srgbClr val="FF0000"/>
              </a:solidFill>
              <a:latin typeface="+mn-ea"/>
              <a:ea typeface="+mn-ea"/>
            </a:endParaRPr>
          </a:p>
          <a:p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공지사항은 보고와 동일하므로 화면 생략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grpSp>
        <p:nvGrpSpPr>
          <p:cNvPr id="266" name="그룹 265"/>
          <p:cNvGrpSpPr/>
          <p:nvPr/>
        </p:nvGrpSpPr>
        <p:grpSpPr>
          <a:xfrm>
            <a:off x="1963754" y="1555054"/>
            <a:ext cx="4896000" cy="1332000"/>
            <a:chOff x="1963754" y="3774379"/>
            <a:chExt cx="4896000" cy="1332000"/>
          </a:xfrm>
        </p:grpSpPr>
        <p:sp>
          <p:nvSpPr>
            <p:cNvPr id="267" name="Rectangle 279"/>
            <p:cNvSpPr/>
            <p:nvPr/>
          </p:nvSpPr>
          <p:spPr>
            <a:xfrm>
              <a:off x="1963754" y="3774379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68" name="텍스트 상자 31"/>
            <p:cNvSpPr txBox="1"/>
            <p:nvPr/>
          </p:nvSpPr>
          <p:spPr>
            <a:xfrm>
              <a:off x="2421414" y="389539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69" name="그룹 400"/>
            <p:cNvGrpSpPr/>
            <p:nvPr/>
          </p:nvGrpSpPr>
          <p:grpSpPr>
            <a:xfrm>
              <a:off x="2078622" y="3884923"/>
              <a:ext cx="229236" cy="229194"/>
              <a:chOff x="2625629" y="3735853"/>
              <a:chExt cx="276891" cy="276839"/>
            </a:xfrm>
          </p:grpSpPr>
          <p:sp>
            <p:nvSpPr>
              <p:cNvPr id="290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91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70" name="텍스트 상자 31"/>
            <p:cNvSpPr txBox="1"/>
            <p:nvPr/>
          </p:nvSpPr>
          <p:spPr>
            <a:xfrm>
              <a:off x="2421414" y="403324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71" name="직선 연결선[R] 33"/>
            <p:cNvCxnSpPr/>
            <p:nvPr/>
          </p:nvCxnSpPr>
          <p:spPr>
            <a:xfrm>
              <a:off x="2052416" y="4854742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2" name="텍스트 상자 31"/>
            <p:cNvSpPr txBox="1"/>
            <p:nvPr/>
          </p:nvSpPr>
          <p:spPr>
            <a:xfrm>
              <a:off x="2078622" y="4201829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2017-09-25]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73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3899674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74" name="Freeform 25"/>
            <p:cNvSpPr>
              <a:spLocks noChangeAspect="1" noEditPoints="1"/>
            </p:cNvSpPr>
            <p:nvPr/>
          </p:nvSpPr>
          <p:spPr bwMode="auto">
            <a:xfrm>
              <a:off x="6535161" y="3895253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275" name="텍스트 상자 31"/>
            <p:cNvSpPr txBox="1"/>
            <p:nvPr/>
          </p:nvSpPr>
          <p:spPr>
            <a:xfrm>
              <a:off x="2065279" y="4331928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76" name="그룹 275"/>
            <p:cNvGrpSpPr/>
            <p:nvPr/>
          </p:nvGrpSpPr>
          <p:grpSpPr>
            <a:xfrm>
              <a:off x="2064211" y="4921791"/>
              <a:ext cx="930081" cy="115755"/>
              <a:chOff x="4297396" y="1127703"/>
              <a:chExt cx="930081" cy="115755"/>
            </a:xfrm>
          </p:grpSpPr>
          <p:grpSp>
            <p:nvGrpSpPr>
              <p:cNvPr id="277" name="그룹 276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279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281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288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89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282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283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284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285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86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87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280" name="그림 279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278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grpSp>
        <p:nvGrpSpPr>
          <p:cNvPr id="292" name="그룹 291"/>
          <p:cNvGrpSpPr/>
          <p:nvPr/>
        </p:nvGrpSpPr>
        <p:grpSpPr>
          <a:xfrm>
            <a:off x="1963754" y="2954659"/>
            <a:ext cx="4896000" cy="1332000"/>
            <a:chOff x="1963754" y="3774379"/>
            <a:chExt cx="4896000" cy="1332000"/>
          </a:xfrm>
        </p:grpSpPr>
        <p:sp>
          <p:nvSpPr>
            <p:cNvPr id="293" name="Rectangle 279"/>
            <p:cNvSpPr/>
            <p:nvPr/>
          </p:nvSpPr>
          <p:spPr>
            <a:xfrm>
              <a:off x="1963754" y="3774379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94" name="텍스트 상자 31"/>
            <p:cNvSpPr txBox="1"/>
            <p:nvPr/>
          </p:nvSpPr>
          <p:spPr>
            <a:xfrm>
              <a:off x="2421414" y="389539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95" name="그룹 400"/>
            <p:cNvGrpSpPr/>
            <p:nvPr/>
          </p:nvGrpSpPr>
          <p:grpSpPr>
            <a:xfrm>
              <a:off x="2078622" y="3884923"/>
              <a:ext cx="229236" cy="229194"/>
              <a:chOff x="2625629" y="3735853"/>
              <a:chExt cx="276891" cy="276839"/>
            </a:xfrm>
          </p:grpSpPr>
          <p:sp>
            <p:nvSpPr>
              <p:cNvPr id="316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317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96" name="텍스트 상자 31"/>
            <p:cNvSpPr txBox="1"/>
            <p:nvPr/>
          </p:nvSpPr>
          <p:spPr>
            <a:xfrm>
              <a:off x="2421414" y="403324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97" name="직선 연결선[R] 33"/>
            <p:cNvCxnSpPr/>
            <p:nvPr/>
          </p:nvCxnSpPr>
          <p:spPr>
            <a:xfrm>
              <a:off x="2052416" y="4854742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98" name="텍스트 상자 31"/>
            <p:cNvSpPr txBox="1"/>
            <p:nvPr/>
          </p:nvSpPr>
          <p:spPr>
            <a:xfrm>
              <a:off x="2078622" y="4201829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2017-09-25]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99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3899674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00" name="Freeform 25"/>
            <p:cNvSpPr>
              <a:spLocks noChangeAspect="1" noEditPoints="1"/>
            </p:cNvSpPr>
            <p:nvPr/>
          </p:nvSpPr>
          <p:spPr bwMode="auto">
            <a:xfrm>
              <a:off x="6535161" y="3895253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301" name="텍스트 상자 31"/>
            <p:cNvSpPr txBox="1"/>
            <p:nvPr/>
          </p:nvSpPr>
          <p:spPr>
            <a:xfrm>
              <a:off x="2065279" y="4331928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02" name="그룹 301"/>
            <p:cNvGrpSpPr/>
            <p:nvPr/>
          </p:nvGrpSpPr>
          <p:grpSpPr>
            <a:xfrm>
              <a:off x="2064211" y="4921791"/>
              <a:ext cx="930081" cy="115755"/>
              <a:chOff x="4297396" y="1127703"/>
              <a:chExt cx="930081" cy="115755"/>
            </a:xfrm>
          </p:grpSpPr>
          <p:grpSp>
            <p:nvGrpSpPr>
              <p:cNvPr id="303" name="그룹 302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305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307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314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15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308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309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310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311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312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313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306" name="그림 305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304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grpSp>
        <p:nvGrpSpPr>
          <p:cNvPr id="318" name="그룹 317"/>
          <p:cNvGrpSpPr/>
          <p:nvPr/>
        </p:nvGrpSpPr>
        <p:grpSpPr>
          <a:xfrm>
            <a:off x="1963754" y="4364821"/>
            <a:ext cx="4896000" cy="1332000"/>
            <a:chOff x="1963754" y="3774379"/>
            <a:chExt cx="4896000" cy="1332000"/>
          </a:xfrm>
        </p:grpSpPr>
        <p:sp>
          <p:nvSpPr>
            <p:cNvPr id="319" name="Rectangle 279"/>
            <p:cNvSpPr/>
            <p:nvPr/>
          </p:nvSpPr>
          <p:spPr>
            <a:xfrm>
              <a:off x="1963754" y="3774379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320" name="텍스트 상자 31"/>
            <p:cNvSpPr txBox="1"/>
            <p:nvPr/>
          </p:nvSpPr>
          <p:spPr>
            <a:xfrm>
              <a:off x="2421414" y="389539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21" name="그룹 400"/>
            <p:cNvGrpSpPr/>
            <p:nvPr/>
          </p:nvGrpSpPr>
          <p:grpSpPr>
            <a:xfrm>
              <a:off x="2078622" y="3884923"/>
              <a:ext cx="229236" cy="229194"/>
              <a:chOff x="2625629" y="3735853"/>
              <a:chExt cx="276891" cy="276839"/>
            </a:xfrm>
          </p:grpSpPr>
          <p:sp>
            <p:nvSpPr>
              <p:cNvPr id="342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343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322" name="텍스트 상자 31"/>
            <p:cNvSpPr txBox="1"/>
            <p:nvPr/>
          </p:nvSpPr>
          <p:spPr>
            <a:xfrm>
              <a:off x="2421414" y="403324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23" name="직선 연결선[R] 33"/>
            <p:cNvCxnSpPr/>
            <p:nvPr/>
          </p:nvCxnSpPr>
          <p:spPr>
            <a:xfrm>
              <a:off x="2052416" y="4854742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텍스트 상자 31"/>
            <p:cNvSpPr txBox="1"/>
            <p:nvPr/>
          </p:nvSpPr>
          <p:spPr>
            <a:xfrm>
              <a:off x="2078622" y="4201829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2017-09-25]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325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3899674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326" name="Freeform 25"/>
            <p:cNvSpPr>
              <a:spLocks noChangeAspect="1" noEditPoints="1"/>
            </p:cNvSpPr>
            <p:nvPr/>
          </p:nvSpPr>
          <p:spPr bwMode="auto">
            <a:xfrm>
              <a:off x="6535161" y="3895253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327" name="텍스트 상자 31"/>
            <p:cNvSpPr txBox="1"/>
            <p:nvPr/>
          </p:nvSpPr>
          <p:spPr>
            <a:xfrm>
              <a:off x="2065279" y="4331928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28" name="그룹 327"/>
            <p:cNvGrpSpPr/>
            <p:nvPr/>
          </p:nvGrpSpPr>
          <p:grpSpPr>
            <a:xfrm>
              <a:off x="2064211" y="4921791"/>
              <a:ext cx="930081" cy="115755"/>
              <a:chOff x="4297396" y="1127703"/>
              <a:chExt cx="930081" cy="115755"/>
            </a:xfrm>
          </p:grpSpPr>
          <p:grpSp>
            <p:nvGrpSpPr>
              <p:cNvPr id="329" name="그룹 328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331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333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340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341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334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335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336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337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338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339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332" name="그림 331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330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grpSp>
        <p:nvGrpSpPr>
          <p:cNvPr id="344" name="그룹 343"/>
          <p:cNvGrpSpPr/>
          <p:nvPr/>
        </p:nvGrpSpPr>
        <p:grpSpPr>
          <a:xfrm>
            <a:off x="429108" y="688668"/>
            <a:ext cx="1463244" cy="5911185"/>
            <a:chOff x="429108" y="688668"/>
            <a:chExt cx="1463244" cy="5911185"/>
          </a:xfrm>
        </p:grpSpPr>
        <p:sp>
          <p:nvSpPr>
            <p:cNvPr id="345" name="직사각형 98"/>
            <p:cNvSpPr/>
            <p:nvPr/>
          </p:nvSpPr>
          <p:spPr>
            <a:xfrm>
              <a:off x="429108" y="688668"/>
              <a:ext cx="1422685" cy="56979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6" name="Rectangle 14"/>
            <p:cNvSpPr>
              <a:spLocks/>
            </p:cNvSpPr>
            <p:nvPr/>
          </p:nvSpPr>
          <p:spPr bwMode="auto">
            <a:xfrm>
              <a:off x="540257" y="811730"/>
              <a:ext cx="1195982" cy="26744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12700" cap="flat" cmpd="sng">
              <a:noFill/>
              <a:prstDash val="solid"/>
              <a:miter lim="400000"/>
              <a:headEnd type="none" w="med" len="med"/>
              <a:tailEnd type="none" w="med" len="med"/>
            </a:ln>
            <a:effectLst/>
            <a:extLst/>
          </p:spPr>
          <p:txBody>
            <a:bodyPr lIns="0" tIns="0" rIns="0" bIns="0" anchor="ctr"/>
            <a:lstStyle/>
            <a:p>
              <a:pPr algn="ctr">
                <a:lnSpc>
                  <a:spcPct val="130000"/>
                </a:lnSpc>
              </a:pPr>
              <a:endParaRPr lang="x-none" altLang="x-none" sz="7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347" name="Rectangle 647"/>
            <p:cNvSpPr/>
            <p:nvPr/>
          </p:nvSpPr>
          <p:spPr>
            <a:xfrm>
              <a:off x="728031" y="820143"/>
              <a:ext cx="734496" cy="2523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그룹 만들기</a:t>
              </a:r>
              <a:endParaRPr lang="x-none" altLang="x-none" sz="800" b="1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348" name="Group 660"/>
            <p:cNvGrpSpPr/>
            <p:nvPr/>
          </p:nvGrpSpPr>
          <p:grpSpPr>
            <a:xfrm>
              <a:off x="442136" y="6353225"/>
              <a:ext cx="1404000" cy="246628"/>
              <a:chOff x="785281" y="6952264"/>
              <a:chExt cx="1404000" cy="246628"/>
            </a:xfrm>
          </p:grpSpPr>
          <p:sp>
            <p:nvSpPr>
              <p:cNvPr id="386" name="텍스트 상자 31"/>
              <p:cNvSpPr txBox="1"/>
              <p:nvPr/>
            </p:nvSpPr>
            <p:spPr>
              <a:xfrm>
                <a:off x="965893" y="7014226"/>
                <a:ext cx="1171015" cy="184666"/>
              </a:xfrm>
              <a:prstGeom prst="rect">
                <a:avLst/>
              </a:prstGeom>
              <a:noFill/>
            </p:spPr>
            <p:txBody>
              <a:bodyPr wrap="square" lIns="0" rtlCol="0">
                <a:spAutoFit/>
              </a:bodyPr>
              <a:lstStyle/>
              <a:p>
                <a:r>
                  <a:rPr kumimoji="1" lang="ko-KR" altLang="en-US" sz="600" b="1" dirty="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n-ea"/>
                    <a:ea typeface="+mn-ea"/>
                  </a:rPr>
                  <a:t>설정  </a:t>
                </a:r>
                <a:endParaRPr kumimoji="1" lang="ko-KR" altLang="en-US" sz="600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87" name="Freeform 13"/>
              <p:cNvSpPr>
                <a:spLocks noChangeAspect="1" noChangeArrowheads="1"/>
              </p:cNvSpPr>
              <p:nvPr/>
            </p:nvSpPr>
            <p:spPr bwMode="auto">
              <a:xfrm>
                <a:off x="837212" y="7057163"/>
                <a:ext cx="89257" cy="90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400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388" name="직선 연결선[R] 33"/>
              <p:cNvCxnSpPr/>
              <p:nvPr/>
            </p:nvCxnSpPr>
            <p:spPr>
              <a:xfrm>
                <a:off x="785281" y="6952264"/>
                <a:ext cx="140400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9" name="직선 연결선[R] 33"/>
            <p:cNvCxnSpPr/>
            <p:nvPr/>
          </p:nvCxnSpPr>
          <p:spPr>
            <a:xfrm>
              <a:off x="441599" y="5626756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0" name="텍스트 상자 31"/>
            <p:cNvSpPr txBox="1"/>
            <p:nvPr/>
          </p:nvSpPr>
          <p:spPr>
            <a:xfrm>
              <a:off x="616688" y="5428217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종료된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1" name="텍스트 상자 31"/>
            <p:cNvSpPr txBox="1"/>
            <p:nvPr/>
          </p:nvSpPr>
          <p:spPr>
            <a:xfrm>
              <a:off x="616688" y="5227329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공개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52" name="텍스트 상자 31"/>
            <p:cNvSpPr txBox="1"/>
            <p:nvPr/>
          </p:nvSpPr>
          <p:spPr>
            <a:xfrm>
              <a:off x="616688" y="2167110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즐겨찾는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53" name="직선 연결선[R] 33"/>
            <p:cNvCxnSpPr/>
            <p:nvPr/>
          </p:nvCxnSpPr>
          <p:spPr>
            <a:xfrm>
              <a:off x="436076" y="2096373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4" name="Freeform 24"/>
            <p:cNvSpPr>
              <a:spLocks noChangeArrowheads="1"/>
            </p:cNvSpPr>
            <p:nvPr/>
          </p:nvSpPr>
          <p:spPr bwMode="auto">
            <a:xfrm>
              <a:off x="503575" y="219167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55" name="직선 연결선[R] 33"/>
            <p:cNvCxnSpPr/>
            <p:nvPr/>
          </p:nvCxnSpPr>
          <p:spPr>
            <a:xfrm>
              <a:off x="436076" y="2336275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6" name="텍스트 상자 31"/>
            <p:cNvSpPr txBox="1"/>
            <p:nvPr/>
          </p:nvSpPr>
          <p:spPr>
            <a:xfrm>
              <a:off x="724338" y="2755742"/>
              <a:ext cx="8119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57" name="텍스트 상자 31"/>
            <p:cNvSpPr txBox="1"/>
            <p:nvPr/>
          </p:nvSpPr>
          <p:spPr>
            <a:xfrm>
              <a:off x="724338" y="2583715"/>
              <a:ext cx="844906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cxnSp>
          <p:nvCxnSpPr>
            <p:cNvPr id="358" name="직선 연결선[R] 33"/>
            <p:cNvCxnSpPr/>
            <p:nvPr/>
          </p:nvCxnSpPr>
          <p:spPr>
            <a:xfrm>
              <a:off x="436076" y="5119331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9" name="텍스트 상자 31"/>
            <p:cNvSpPr txBox="1"/>
            <p:nvPr/>
          </p:nvSpPr>
          <p:spPr>
            <a:xfrm>
              <a:off x="622748" y="1212749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워크피드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0" name="텍스트 상자 31"/>
            <p:cNvSpPr txBox="1"/>
            <p:nvPr/>
          </p:nvSpPr>
          <p:spPr>
            <a:xfrm>
              <a:off x="622748" y="1436685"/>
              <a:ext cx="820269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플래그 글</a:t>
              </a:r>
              <a:endParaRPr kumimoji="1" lang="ko-KR" altLang="en-US" sz="700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61" name="텍스트 상자 31"/>
            <p:cNvSpPr txBox="1"/>
            <p:nvPr/>
          </p:nvSpPr>
          <p:spPr>
            <a:xfrm>
              <a:off x="622748" y="1660621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멘션 글 </a:t>
              </a:r>
              <a:r>
                <a:rPr kumimoji="1" lang="en-US" altLang="ko-KR" sz="7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62" name="텍스트 상자 31"/>
            <p:cNvSpPr txBox="1"/>
            <p:nvPr/>
          </p:nvSpPr>
          <p:spPr>
            <a:xfrm>
              <a:off x="622748" y="188455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VIP</a:t>
              </a:r>
              <a:r>
                <a:rPr kumimoji="1" lang="ko-KR" altLang="en-US" sz="70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글</a:t>
              </a:r>
              <a:endParaRPr kumimoji="1" lang="ko-KR" altLang="en-US" sz="7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63" name="텍스트 상자 31"/>
            <p:cNvSpPr txBox="1"/>
            <p:nvPr/>
          </p:nvSpPr>
          <p:spPr>
            <a:xfrm>
              <a:off x="735244" y="347497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자동차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UX </a:t>
              </a:r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64" name="텍스트 상자 31"/>
            <p:cNvSpPr txBox="1"/>
            <p:nvPr/>
          </p:nvSpPr>
          <p:spPr>
            <a:xfrm>
              <a:off x="735244" y="364154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병원 서비스디자인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65" name="텍스트 상자 31"/>
            <p:cNvSpPr txBox="1"/>
            <p:nvPr/>
          </p:nvSpPr>
          <p:spPr>
            <a:xfrm>
              <a:off x="736967" y="326788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기본 그룹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6" name="Freeform 24"/>
            <p:cNvSpPr>
              <a:spLocks noChangeArrowheads="1"/>
            </p:cNvSpPr>
            <p:nvPr/>
          </p:nvSpPr>
          <p:spPr bwMode="auto">
            <a:xfrm>
              <a:off x="618002" y="3298885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67" name="텍스트 상자 31"/>
            <p:cNvSpPr txBox="1"/>
            <p:nvPr/>
          </p:nvSpPr>
          <p:spPr>
            <a:xfrm>
              <a:off x="616688" y="3005347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내 그룹</a:t>
              </a:r>
              <a:endParaRPr kumimoji="1"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368" name="직선 연결선[R] 33"/>
            <p:cNvCxnSpPr/>
            <p:nvPr/>
          </p:nvCxnSpPr>
          <p:spPr>
            <a:xfrm>
              <a:off x="436076" y="2934610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Freeform 24"/>
            <p:cNvSpPr>
              <a:spLocks noChangeArrowheads="1"/>
            </p:cNvSpPr>
            <p:nvPr/>
          </p:nvSpPr>
          <p:spPr bwMode="auto">
            <a:xfrm>
              <a:off x="503575" y="302991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370" name="직선 연결선[R] 33"/>
            <p:cNvCxnSpPr/>
            <p:nvPr/>
          </p:nvCxnSpPr>
          <p:spPr>
            <a:xfrm>
              <a:off x="436076" y="3174512"/>
              <a:ext cx="141138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1" name="Group 404"/>
            <p:cNvGrpSpPr/>
            <p:nvPr/>
          </p:nvGrpSpPr>
          <p:grpSpPr>
            <a:xfrm>
              <a:off x="1536238" y="2965950"/>
              <a:ext cx="221965" cy="169277"/>
              <a:chOff x="1879383" y="5177290"/>
              <a:chExt cx="221965" cy="169277"/>
            </a:xfrm>
          </p:grpSpPr>
          <p:sp>
            <p:nvSpPr>
              <p:cNvPr id="384" name="TextBox 383"/>
              <p:cNvSpPr txBox="1"/>
              <p:nvPr/>
            </p:nvSpPr>
            <p:spPr>
              <a:xfrm>
                <a:off x="1879383" y="5177290"/>
                <a:ext cx="100990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r>
                  <a:rPr lang="en-US" altLang="ko-KR" sz="1100" b="1" dirty="0" smtClean="0">
                    <a:solidFill>
                      <a:prstClr val="white">
                        <a:lumMod val="50000"/>
                      </a:prstClr>
                    </a:solidFill>
                    <a:latin typeface="+mn-ea"/>
                    <a:ea typeface="+mn-ea"/>
                  </a:rPr>
                  <a:t>+</a:t>
                </a:r>
                <a:endParaRPr lang="en-US" sz="1100" b="1" dirty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85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29943" y="5230634"/>
                <a:ext cx="71405" cy="72000"/>
              </a:xfrm>
              <a:custGeom>
                <a:avLst/>
                <a:gdLst>
                  <a:gd name="T0" fmla="*/ 455 w 527"/>
                  <a:gd name="T1" fmla="*/ 291 h 533"/>
                  <a:gd name="T2" fmla="*/ 460 w 527"/>
                  <a:gd name="T3" fmla="*/ 266 h 533"/>
                  <a:gd name="T4" fmla="*/ 455 w 527"/>
                  <a:gd name="T5" fmla="*/ 240 h 533"/>
                  <a:gd name="T6" fmla="*/ 511 w 527"/>
                  <a:gd name="T7" fmla="*/ 194 h 533"/>
                  <a:gd name="T8" fmla="*/ 516 w 527"/>
                  <a:gd name="T9" fmla="*/ 179 h 533"/>
                  <a:gd name="T10" fmla="*/ 465 w 527"/>
                  <a:gd name="T11" fmla="*/ 82 h 533"/>
                  <a:gd name="T12" fmla="*/ 444 w 527"/>
                  <a:gd name="T13" fmla="*/ 82 h 533"/>
                  <a:gd name="T14" fmla="*/ 378 w 527"/>
                  <a:gd name="T15" fmla="*/ 107 h 533"/>
                  <a:gd name="T16" fmla="*/ 332 w 527"/>
                  <a:gd name="T17" fmla="*/ 82 h 533"/>
                  <a:gd name="T18" fmla="*/ 322 w 527"/>
                  <a:gd name="T19" fmla="*/ 10 h 533"/>
                  <a:gd name="T20" fmla="*/ 311 w 527"/>
                  <a:gd name="T21" fmla="*/ 0 h 533"/>
                  <a:gd name="T22" fmla="*/ 204 w 527"/>
                  <a:gd name="T23" fmla="*/ 0 h 533"/>
                  <a:gd name="T24" fmla="*/ 194 w 527"/>
                  <a:gd name="T25" fmla="*/ 10 h 533"/>
                  <a:gd name="T26" fmla="*/ 184 w 527"/>
                  <a:gd name="T27" fmla="*/ 82 h 533"/>
                  <a:gd name="T28" fmla="*/ 138 w 527"/>
                  <a:gd name="T29" fmla="*/ 107 h 533"/>
                  <a:gd name="T30" fmla="*/ 71 w 527"/>
                  <a:gd name="T31" fmla="*/ 82 h 533"/>
                  <a:gd name="T32" fmla="*/ 56 w 527"/>
                  <a:gd name="T33" fmla="*/ 87 h 533"/>
                  <a:gd name="T34" fmla="*/ 0 w 527"/>
                  <a:gd name="T35" fmla="*/ 179 h 533"/>
                  <a:gd name="T36" fmla="*/ 5 w 527"/>
                  <a:gd name="T37" fmla="*/ 194 h 533"/>
                  <a:gd name="T38" fmla="*/ 61 w 527"/>
                  <a:gd name="T39" fmla="*/ 240 h 533"/>
                  <a:gd name="T40" fmla="*/ 61 w 527"/>
                  <a:gd name="T41" fmla="*/ 266 h 533"/>
                  <a:gd name="T42" fmla="*/ 61 w 527"/>
                  <a:gd name="T43" fmla="*/ 291 h 533"/>
                  <a:gd name="T44" fmla="*/ 5 w 527"/>
                  <a:gd name="T45" fmla="*/ 337 h 533"/>
                  <a:gd name="T46" fmla="*/ 5 w 527"/>
                  <a:gd name="T47" fmla="*/ 353 h 533"/>
                  <a:gd name="T48" fmla="*/ 56 w 527"/>
                  <a:gd name="T49" fmla="*/ 450 h 533"/>
                  <a:gd name="T50" fmla="*/ 71 w 527"/>
                  <a:gd name="T51" fmla="*/ 450 h 533"/>
                  <a:gd name="T52" fmla="*/ 138 w 527"/>
                  <a:gd name="T53" fmla="*/ 424 h 533"/>
                  <a:gd name="T54" fmla="*/ 184 w 527"/>
                  <a:gd name="T55" fmla="*/ 450 h 533"/>
                  <a:gd name="T56" fmla="*/ 194 w 527"/>
                  <a:gd name="T57" fmla="*/ 521 h 533"/>
                  <a:gd name="T58" fmla="*/ 209 w 527"/>
                  <a:gd name="T59" fmla="*/ 532 h 533"/>
                  <a:gd name="T60" fmla="*/ 317 w 527"/>
                  <a:gd name="T61" fmla="*/ 532 h 533"/>
                  <a:gd name="T62" fmla="*/ 327 w 527"/>
                  <a:gd name="T63" fmla="*/ 521 h 533"/>
                  <a:gd name="T64" fmla="*/ 337 w 527"/>
                  <a:gd name="T65" fmla="*/ 450 h 533"/>
                  <a:gd name="T66" fmla="*/ 383 w 527"/>
                  <a:gd name="T67" fmla="*/ 424 h 533"/>
                  <a:gd name="T68" fmla="*/ 449 w 527"/>
                  <a:gd name="T69" fmla="*/ 450 h 533"/>
                  <a:gd name="T70" fmla="*/ 470 w 527"/>
                  <a:gd name="T71" fmla="*/ 445 h 533"/>
                  <a:gd name="T72" fmla="*/ 521 w 527"/>
                  <a:gd name="T73" fmla="*/ 353 h 533"/>
                  <a:gd name="T74" fmla="*/ 521 w 527"/>
                  <a:gd name="T75" fmla="*/ 337 h 533"/>
                  <a:gd name="T76" fmla="*/ 455 w 527"/>
                  <a:gd name="T77" fmla="*/ 291 h 533"/>
                  <a:gd name="T78" fmla="*/ 260 w 527"/>
                  <a:gd name="T79" fmla="*/ 358 h 533"/>
                  <a:gd name="T80" fmla="*/ 163 w 527"/>
                  <a:gd name="T81" fmla="*/ 266 h 533"/>
                  <a:gd name="T82" fmla="*/ 260 w 527"/>
                  <a:gd name="T83" fmla="*/ 174 h 533"/>
                  <a:gd name="T84" fmla="*/ 352 w 527"/>
                  <a:gd name="T85" fmla="*/ 266 h 533"/>
                  <a:gd name="T86" fmla="*/ 260 w 527"/>
                  <a:gd name="T87" fmla="*/ 358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7" h="533">
                    <a:moveTo>
                      <a:pt x="455" y="291"/>
                    </a:moveTo>
                    <a:cubicBezTo>
                      <a:pt x="455" y="286"/>
                      <a:pt x="460" y="276"/>
                      <a:pt x="460" y="266"/>
                    </a:cubicBezTo>
                    <a:cubicBezTo>
                      <a:pt x="460" y="256"/>
                      <a:pt x="460" y="245"/>
                      <a:pt x="455" y="240"/>
                    </a:cubicBezTo>
                    <a:lnTo>
                      <a:pt x="511" y="194"/>
                    </a:lnTo>
                    <a:cubicBezTo>
                      <a:pt x="521" y="189"/>
                      <a:pt x="521" y="184"/>
                      <a:pt x="516" y="179"/>
                    </a:cubicBezTo>
                    <a:lnTo>
                      <a:pt x="465" y="82"/>
                    </a:lnTo>
                    <a:cubicBezTo>
                      <a:pt x="460" y="82"/>
                      <a:pt x="455" y="77"/>
                      <a:pt x="444" y="82"/>
                    </a:cubicBezTo>
                    <a:lnTo>
                      <a:pt x="378" y="107"/>
                    </a:lnTo>
                    <a:cubicBezTo>
                      <a:pt x="368" y="97"/>
                      <a:pt x="352" y="92"/>
                      <a:pt x="332" y="82"/>
                    </a:cubicBezTo>
                    <a:lnTo>
                      <a:pt x="322" y="10"/>
                    </a:lnTo>
                    <a:cubicBezTo>
                      <a:pt x="327" y="5"/>
                      <a:pt x="317" y="0"/>
                      <a:pt x="311" y="0"/>
                    </a:cubicBezTo>
                    <a:lnTo>
                      <a:pt x="204" y="0"/>
                    </a:lnTo>
                    <a:cubicBezTo>
                      <a:pt x="199" y="0"/>
                      <a:pt x="194" y="5"/>
                      <a:pt x="194" y="10"/>
                    </a:cubicBezTo>
                    <a:lnTo>
                      <a:pt x="184" y="82"/>
                    </a:lnTo>
                    <a:cubicBezTo>
                      <a:pt x="163" y="87"/>
                      <a:pt x="153" y="97"/>
                      <a:pt x="138" y="107"/>
                    </a:cubicBezTo>
                    <a:lnTo>
                      <a:pt x="71" y="82"/>
                    </a:lnTo>
                    <a:cubicBezTo>
                      <a:pt x="66" y="77"/>
                      <a:pt x="61" y="82"/>
                      <a:pt x="56" y="87"/>
                    </a:cubicBezTo>
                    <a:lnTo>
                      <a:pt x="0" y="179"/>
                    </a:lnTo>
                    <a:cubicBezTo>
                      <a:pt x="0" y="184"/>
                      <a:pt x="0" y="189"/>
                      <a:pt x="5" y="194"/>
                    </a:cubicBezTo>
                    <a:lnTo>
                      <a:pt x="61" y="240"/>
                    </a:lnTo>
                    <a:cubicBezTo>
                      <a:pt x="61" y="245"/>
                      <a:pt x="61" y="256"/>
                      <a:pt x="61" y="266"/>
                    </a:cubicBezTo>
                    <a:cubicBezTo>
                      <a:pt x="61" y="276"/>
                      <a:pt x="61" y="286"/>
                      <a:pt x="61" y="291"/>
                    </a:cubicBezTo>
                    <a:lnTo>
                      <a:pt x="5" y="337"/>
                    </a:lnTo>
                    <a:cubicBezTo>
                      <a:pt x="0" y="343"/>
                      <a:pt x="0" y="348"/>
                      <a:pt x="5" y="353"/>
                    </a:cubicBezTo>
                    <a:lnTo>
                      <a:pt x="56" y="450"/>
                    </a:lnTo>
                    <a:cubicBezTo>
                      <a:pt x="61" y="450"/>
                      <a:pt x="66" y="455"/>
                      <a:pt x="71" y="450"/>
                    </a:cubicBezTo>
                    <a:lnTo>
                      <a:pt x="138" y="424"/>
                    </a:lnTo>
                    <a:cubicBezTo>
                      <a:pt x="153" y="434"/>
                      <a:pt x="168" y="445"/>
                      <a:pt x="184" y="450"/>
                    </a:cubicBezTo>
                    <a:lnTo>
                      <a:pt x="194" y="521"/>
                    </a:lnTo>
                    <a:cubicBezTo>
                      <a:pt x="194" y="526"/>
                      <a:pt x="199" y="532"/>
                      <a:pt x="209" y="532"/>
                    </a:cubicBezTo>
                    <a:lnTo>
                      <a:pt x="317" y="532"/>
                    </a:lnTo>
                    <a:cubicBezTo>
                      <a:pt x="322" y="532"/>
                      <a:pt x="327" y="526"/>
                      <a:pt x="327" y="521"/>
                    </a:cubicBezTo>
                    <a:lnTo>
                      <a:pt x="337" y="450"/>
                    </a:lnTo>
                    <a:cubicBezTo>
                      <a:pt x="357" y="445"/>
                      <a:pt x="373" y="434"/>
                      <a:pt x="383" y="424"/>
                    </a:cubicBezTo>
                    <a:lnTo>
                      <a:pt x="449" y="450"/>
                    </a:lnTo>
                    <a:cubicBezTo>
                      <a:pt x="455" y="455"/>
                      <a:pt x="465" y="450"/>
                      <a:pt x="470" y="445"/>
                    </a:cubicBezTo>
                    <a:lnTo>
                      <a:pt x="521" y="353"/>
                    </a:lnTo>
                    <a:cubicBezTo>
                      <a:pt x="526" y="348"/>
                      <a:pt x="526" y="337"/>
                      <a:pt x="521" y="337"/>
                    </a:cubicBezTo>
                    <a:lnTo>
                      <a:pt x="455" y="291"/>
                    </a:lnTo>
                    <a:close/>
                    <a:moveTo>
                      <a:pt x="260" y="358"/>
                    </a:moveTo>
                    <a:cubicBezTo>
                      <a:pt x="209" y="358"/>
                      <a:pt x="163" y="317"/>
                      <a:pt x="163" y="266"/>
                    </a:cubicBezTo>
                    <a:cubicBezTo>
                      <a:pt x="163" y="215"/>
                      <a:pt x="209" y="174"/>
                      <a:pt x="260" y="174"/>
                    </a:cubicBezTo>
                    <a:cubicBezTo>
                      <a:pt x="311" y="174"/>
                      <a:pt x="352" y="215"/>
                      <a:pt x="352" y="266"/>
                    </a:cubicBezTo>
                    <a:cubicBezTo>
                      <a:pt x="352" y="317"/>
                      <a:pt x="311" y="358"/>
                      <a:pt x="260" y="3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>
                <a:defPPr>
                  <a:defRPr lang="id-ID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5pPr>
                <a:lvl6pPr marL="22860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6pPr>
                <a:lvl7pPr marL="27432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7pPr>
                <a:lvl8pPr marL="32004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8pPr>
                <a:lvl9pPr marL="3657600" algn="l" defTabSz="457200" rtl="0" eaLnBrk="1" latinLnBrk="0" hangingPunct="1">
                  <a:defRPr kern="1200">
                    <a:solidFill>
                      <a:schemeClr val="tx1"/>
                    </a:solidFill>
                    <a:latin typeface="Roboto" charset="0"/>
                    <a:ea typeface="ＭＳ Ｐゴシック" charset="0"/>
                    <a:cs typeface="ＭＳ Ｐゴシック" charset="0"/>
                  </a:defRPr>
                </a:lvl9pPr>
              </a:lstStyle>
              <a:p>
                <a:endParaRPr lang="en-US" sz="1633">
                  <a:solidFill>
                    <a:prstClr val="black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372" name="텍스트 상자 31"/>
            <p:cNvSpPr txBox="1"/>
            <p:nvPr/>
          </p:nvSpPr>
          <p:spPr>
            <a:xfrm>
              <a:off x="735244" y="4027571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EGW UX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개선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 </a:t>
              </a:r>
              <a:r>
                <a:rPr kumimoji="1" lang="en-US" altLang="ko-KR" sz="600" b="1" dirty="0" smtClean="0">
                  <a:solidFill>
                    <a:srgbClr val="FF0000"/>
                  </a:solidFill>
                  <a:latin typeface="+mn-ea"/>
                  <a:ea typeface="+mn-ea"/>
                </a:rPr>
                <a:t>3</a:t>
              </a:r>
              <a:endParaRPr kumimoji="1" lang="ko-KR" altLang="en-US" sz="600" b="1" dirty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73" name="텍스트 상자 31"/>
            <p:cNvSpPr txBox="1"/>
            <p:nvPr/>
          </p:nvSpPr>
          <p:spPr>
            <a:xfrm>
              <a:off x="735244" y="4194142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74" name="텍스트 상자 31"/>
            <p:cNvSpPr txBox="1"/>
            <p:nvPr/>
          </p:nvSpPr>
          <p:spPr>
            <a:xfrm>
              <a:off x="736967" y="38204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4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75" name="Freeform 24"/>
            <p:cNvSpPr>
              <a:spLocks noChangeArrowheads="1"/>
            </p:cNvSpPr>
            <p:nvPr/>
          </p:nvSpPr>
          <p:spPr bwMode="auto">
            <a:xfrm>
              <a:off x="618002" y="3851484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76" name="텍스트 상자 31"/>
            <p:cNvSpPr txBox="1"/>
            <p:nvPr/>
          </p:nvSpPr>
          <p:spPr>
            <a:xfrm>
              <a:off x="735244" y="4361283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정부 과제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77" name="텍스트 상자 31"/>
            <p:cNvSpPr txBox="1"/>
            <p:nvPr/>
          </p:nvSpPr>
          <p:spPr>
            <a:xfrm>
              <a:off x="735244" y="4755529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78" name="텍스트 상자 31"/>
            <p:cNvSpPr txBox="1"/>
            <p:nvPr/>
          </p:nvSpPr>
          <p:spPr>
            <a:xfrm>
              <a:off x="735244" y="4922100"/>
              <a:ext cx="792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스퀘어</a:t>
              </a:r>
              <a:r>
                <a:rPr kumimoji="1" lang="en-US" altLang="ko-KR" sz="6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60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B</a:t>
              </a:r>
              <a:endPara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79" name="텍스트 상자 31"/>
            <p:cNvSpPr txBox="1"/>
            <p:nvPr/>
          </p:nvSpPr>
          <p:spPr>
            <a:xfrm>
              <a:off x="736967" y="454844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2017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3</a:t>
              </a:r>
              <a:r>
                <a:rPr kumimoji="1" lang="ko-KR" altLang="en-US" sz="700" dirty="0" smtClean="0">
                  <a:solidFill>
                    <a:prstClr val="black"/>
                  </a:solidFill>
                  <a:latin typeface="+mn-ea"/>
                  <a:ea typeface="+mn-ea"/>
                </a:rPr>
                <a:t>분기</a:t>
              </a:r>
              <a:endParaRPr kumimoji="1" lang="ko-KR" altLang="en-US" sz="700" dirty="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80" name="Freeform 24"/>
            <p:cNvSpPr>
              <a:spLocks noChangeArrowheads="1"/>
            </p:cNvSpPr>
            <p:nvPr/>
          </p:nvSpPr>
          <p:spPr bwMode="auto">
            <a:xfrm>
              <a:off x="618002" y="4579442"/>
              <a:ext cx="73363" cy="45719"/>
            </a:xfrm>
            <a:custGeom>
              <a:avLst/>
              <a:gdLst>
                <a:gd name="T0" fmla="*/ 155 w 306"/>
                <a:gd name="T1" fmla="*/ 0 h 190"/>
                <a:gd name="T2" fmla="*/ 0 w 306"/>
                <a:gd name="T3" fmla="*/ 155 h 190"/>
                <a:gd name="T4" fmla="*/ 39 w 306"/>
                <a:gd name="T5" fmla="*/ 189 h 190"/>
                <a:gd name="T6" fmla="*/ 155 w 306"/>
                <a:gd name="T7" fmla="*/ 73 h 190"/>
                <a:gd name="T8" fmla="*/ 271 w 306"/>
                <a:gd name="T9" fmla="*/ 189 h 190"/>
                <a:gd name="T10" fmla="*/ 305 w 306"/>
                <a:gd name="T11" fmla="*/ 155 h 190"/>
                <a:gd name="T12" fmla="*/ 155 w 306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190">
                  <a:moveTo>
                    <a:pt x="155" y="0"/>
                  </a:moveTo>
                  <a:lnTo>
                    <a:pt x="0" y="155"/>
                  </a:lnTo>
                  <a:lnTo>
                    <a:pt x="39" y="189"/>
                  </a:lnTo>
                  <a:lnTo>
                    <a:pt x="155" y="73"/>
                  </a:lnTo>
                  <a:lnTo>
                    <a:pt x="271" y="189"/>
                  </a:lnTo>
                  <a:lnTo>
                    <a:pt x="305" y="155"/>
                  </a:lnTo>
                  <a:lnTo>
                    <a:pt x="155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sp>
          <p:nvSpPr>
            <p:cNvPr id="381" name="Rectangle 374"/>
            <p:cNvSpPr/>
            <p:nvPr/>
          </p:nvSpPr>
          <p:spPr>
            <a:xfrm>
              <a:off x="434619" y="2349862"/>
              <a:ext cx="1417183" cy="208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82" name="텍스트 상자 31"/>
            <p:cNvSpPr txBox="1"/>
            <p:nvPr/>
          </p:nvSpPr>
          <p:spPr>
            <a:xfrm>
              <a:off x="723297" y="2403184"/>
              <a:ext cx="1044000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A </a:t>
              </a:r>
              <a:r>
                <a:rPr kumimoji="1" lang="ko-KR" altLang="en-US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통신사 서비스 </a:t>
              </a:r>
              <a:r>
                <a:rPr kumimoji="1" lang="en-US" altLang="ko-KR" sz="600" b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  <a:ea typeface="+mn-ea"/>
                </a:rPr>
                <a:t>TF</a:t>
              </a:r>
              <a:endParaRPr kumimoji="1" lang="ko-KR" altLang="en-US" sz="600" b="1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383" name="TextBox 382"/>
            <p:cNvSpPr txBox="1"/>
            <p:nvPr/>
          </p:nvSpPr>
          <p:spPr>
            <a:xfrm>
              <a:off x="847361" y="1843072"/>
              <a:ext cx="122397" cy="200055"/>
            </a:xfrm>
            <a:prstGeom prst="rect">
              <a:avLst/>
            </a:prstGeom>
            <a:noFill/>
          </p:spPr>
          <p:txBody>
            <a:bodyPr wrap="none" lIns="36000" rIns="36000" rtlCol="0" anchor="ctr">
              <a:spAutoFit/>
            </a:bodyPr>
            <a:lstStyle/>
            <a:p>
              <a:r>
                <a:rPr lang="en-US" altLang="ko-KR" sz="700" smtClean="0">
                  <a:solidFill>
                    <a:srgbClr val="FF0000"/>
                  </a:solidFill>
                  <a:latin typeface="+mn-ea"/>
                  <a:ea typeface="+mn-ea"/>
                </a:rPr>
                <a:t>5</a:t>
              </a:r>
              <a:endParaRPr lang="ko-KR" altLang="en-US" sz="700" dirty="0" smtClean="0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89" name="직사각형 388"/>
          <p:cNvSpPr/>
          <p:nvPr/>
        </p:nvSpPr>
        <p:spPr>
          <a:xfrm>
            <a:off x="4643437" y="1398680"/>
            <a:ext cx="709613" cy="87779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작성자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태그</a:t>
            </a:r>
            <a:endParaRPr lang="en-US" altLang="ko-KR" sz="80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  <a:spcAft>
                <a:spcPts val="0"/>
              </a:spcAft>
            </a:pP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작성자</a:t>
            </a:r>
            <a:r>
              <a:rPr lang="en-US" altLang="ko-KR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+</a:t>
            </a:r>
            <a:r>
              <a:rPr lang="ko-KR" altLang="en-US" sz="8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태그</a:t>
            </a: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5261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98"/>
          <p:cNvSpPr/>
          <p:nvPr/>
        </p:nvSpPr>
        <p:spPr>
          <a:xfrm>
            <a:off x="429108" y="688668"/>
            <a:ext cx="1422685" cy="56979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8" name="Rectangle 14"/>
          <p:cNvSpPr>
            <a:spLocks/>
          </p:cNvSpPr>
          <p:nvPr/>
        </p:nvSpPr>
        <p:spPr bwMode="auto">
          <a:xfrm>
            <a:off x="540257" y="811730"/>
            <a:ext cx="1195982" cy="267440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>
            <a:noFill/>
            <a:prstDash val="solid"/>
            <a:miter lim="400000"/>
            <a:headEnd type="none" w="med" len="med"/>
            <a:tailEnd type="none" w="med" len="med"/>
          </a:ln>
          <a:effectLst/>
          <a:extLst/>
        </p:spPr>
        <p:txBody>
          <a:bodyPr lIns="0" tIns="0" rIns="0" bIns="0" anchor="ctr"/>
          <a:lstStyle/>
          <a:p>
            <a:pPr algn="ctr">
              <a:lnSpc>
                <a:spcPct val="130000"/>
              </a:lnSpc>
            </a:pPr>
            <a:endParaRPr lang="x-none" altLang="x-none" sz="7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9" name="Rectangle 647"/>
          <p:cNvSpPr/>
          <p:nvPr/>
        </p:nvSpPr>
        <p:spPr>
          <a:xfrm>
            <a:off x="728031" y="820143"/>
            <a:ext cx="734496" cy="2523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8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그룹 만들기</a:t>
            </a:r>
            <a:endParaRPr lang="x-none" altLang="x-none" sz="800" b="1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grpSp>
        <p:nvGrpSpPr>
          <p:cNvPr id="10" name="Group 660"/>
          <p:cNvGrpSpPr/>
          <p:nvPr/>
        </p:nvGrpSpPr>
        <p:grpSpPr>
          <a:xfrm>
            <a:off x="442136" y="6353225"/>
            <a:ext cx="1404000" cy="246628"/>
            <a:chOff x="785281" y="6952264"/>
            <a:chExt cx="1404000" cy="246628"/>
          </a:xfrm>
        </p:grpSpPr>
        <p:sp>
          <p:nvSpPr>
            <p:cNvPr id="50" name="텍스트 상자 31"/>
            <p:cNvSpPr txBox="1"/>
            <p:nvPr/>
          </p:nvSpPr>
          <p:spPr>
            <a:xfrm>
              <a:off x="965893" y="7014226"/>
              <a:ext cx="1171015" cy="184666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kumimoji="1" lang="ko-KR" altLang="en-US" sz="600" b="1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설정  </a:t>
              </a:r>
              <a:endParaRPr kumimoji="1" lang="ko-KR" altLang="en-US" sz="600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51" name="Freeform 13"/>
            <p:cNvSpPr>
              <a:spLocks noChangeAspect="1" noChangeArrowheads="1"/>
            </p:cNvSpPr>
            <p:nvPr/>
          </p:nvSpPr>
          <p:spPr bwMode="auto">
            <a:xfrm>
              <a:off x="837212" y="7057163"/>
              <a:ext cx="89257" cy="90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400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  <p:cxnSp>
          <p:nvCxnSpPr>
            <p:cNvPr id="52" name="직선 연결선[R] 33"/>
            <p:cNvCxnSpPr/>
            <p:nvPr/>
          </p:nvCxnSpPr>
          <p:spPr>
            <a:xfrm>
              <a:off x="785281" y="6952264"/>
              <a:ext cx="140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직선 연결선[R] 33"/>
          <p:cNvCxnSpPr/>
          <p:nvPr/>
        </p:nvCxnSpPr>
        <p:spPr>
          <a:xfrm>
            <a:off x="441599" y="5626756"/>
            <a:ext cx="1404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텍스트 상자 31"/>
          <p:cNvSpPr txBox="1"/>
          <p:nvPr/>
        </p:nvSpPr>
        <p:spPr>
          <a:xfrm>
            <a:off x="616688" y="5428217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종료된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3" name="텍스트 상자 31"/>
          <p:cNvSpPr txBox="1"/>
          <p:nvPr/>
        </p:nvSpPr>
        <p:spPr>
          <a:xfrm>
            <a:off x="616688" y="5227329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공개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16" name="텍스트 상자 31"/>
          <p:cNvSpPr txBox="1"/>
          <p:nvPr/>
        </p:nvSpPr>
        <p:spPr>
          <a:xfrm>
            <a:off x="616688" y="2167110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즐겨찾는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7" name="직선 연결선[R] 33"/>
          <p:cNvCxnSpPr/>
          <p:nvPr/>
        </p:nvCxnSpPr>
        <p:spPr>
          <a:xfrm>
            <a:off x="436076" y="2096373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24"/>
          <p:cNvSpPr>
            <a:spLocks noChangeArrowheads="1"/>
          </p:cNvSpPr>
          <p:nvPr/>
        </p:nvSpPr>
        <p:spPr bwMode="auto">
          <a:xfrm>
            <a:off x="503575" y="219167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19" name="직선 연결선[R] 33"/>
          <p:cNvCxnSpPr/>
          <p:nvPr/>
        </p:nvCxnSpPr>
        <p:spPr>
          <a:xfrm>
            <a:off x="436076" y="2336275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텍스트 상자 31"/>
          <p:cNvSpPr txBox="1"/>
          <p:nvPr/>
        </p:nvSpPr>
        <p:spPr>
          <a:xfrm>
            <a:off x="724338" y="2755742"/>
            <a:ext cx="8119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2" name="텍스트 상자 31"/>
          <p:cNvSpPr txBox="1"/>
          <p:nvPr/>
        </p:nvSpPr>
        <p:spPr>
          <a:xfrm>
            <a:off x="724338" y="2583715"/>
            <a:ext cx="844906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3" name="직선 연결선[R] 33"/>
          <p:cNvCxnSpPr/>
          <p:nvPr/>
        </p:nvCxnSpPr>
        <p:spPr>
          <a:xfrm>
            <a:off x="436076" y="5119331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텍스트 상자 31"/>
          <p:cNvSpPr txBox="1"/>
          <p:nvPr/>
        </p:nvSpPr>
        <p:spPr>
          <a:xfrm>
            <a:off x="622748" y="1212749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워크피드</a:t>
            </a:r>
            <a:endParaRPr kumimoji="1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7" name="텍스트 상자 31"/>
          <p:cNvSpPr txBox="1"/>
          <p:nvPr/>
        </p:nvSpPr>
        <p:spPr>
          <a:xfrm>
            <a:off x="622748" y="1436685"/>
            <a:ext cx="820269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플래그 글</a:t>
            </a:r>
            <a:endParaRPr kumimoji="1"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8" name="텍스트 상자 31"/>
          <p:cNvSpPr txBox="1"/>
          <p:nvPr/>
        </p:nvSpPr>
        <p:spPr>
          <a:xfrm>
            <a:off x="622748" y="1660621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멘션 글 </a:t>
            </a:r>
            <a:r>
              <a:rPr kumimoji="1" lang="en-US" altLang="ko-KR" sz="7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9" name="텍스트 상자 31"/>
          <p:cNvSpPr txBox="1"/>
          <p:nvPr/>
        </p:nvSpPr>
        <p:spPr>
          <a:xfrm>
            <a:off x="622748" y="188455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VIP</a:t>
            </a:r>
            <a:r>
              <a:rPr kumimoji="1" lang="ko-KR" altLang="en-US" sz="7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글</a:t>
            </a:r>
            <a:endParaRPr kumimoji="1" lang="ko-KR" altLang="en-US" sz="7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0" name="텍스트 상자 31"/>
          <p:cNvSpPr txBox="1"/>
          <p:nvPr/>
        </p:nvSpPr>
        <p:spPr>
          <a:xfrm>
            <a:off x="735244" y="347497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자동차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UX </a:t>
            </a:r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31" name="텍스트 상자 31"/>
          <p:cNvSpPr txBox="1"/>
          <p:nvPr/>
        </p:nvSpPr>
        <p:spPr>
          <a:xfrm>
            <a:off x="735244" y="364154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병원 서비스디자인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32" name="텍스트 상자 31"/>
          <p:cNvSpPr txBox="1"/>
          <p:nvPr/>
        </p:nvSpPr>
        <p:spPr>
          <a:xfrm>
            <a:off x="736967" y="3267883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기본 그룹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3" name="Freeform 24"/>
          <p:cNvSpPr>
            <a:spLocks noChangeArrowheads="1"/>
          </p:cNvSpPr>
          <p:nvPr/>
        </p:nvSpPr>
        <p:spPr bwMode="auto">
          <a:xfrm>
            <a:off x="618002" y="3298885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34" name="텍스트 상자 31"/>
          <p:cNvSpPr txBox="1"/>
          <p:nvPr/>
        </p:nvSpPr>
        <p:spPr>
          <a:xfrm>
            <a:off x="616688" y="3005347"/>
            <a:ext cx="1269604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내 그룹</a:t>
            </a:r>
            <a:endParaRPr kumimoji="1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35" name="직선 연결선[R] 33"/>
          <p:cNvCxnSpPr/>
          <p:nvPr/>
        </p:nvCxnSpPr>
        <p:spPr>
          <a:xfrm>
            <a:off x="436076" y="2934610"/>
            <a:ext cx="1411382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Freeform 24"/>
          <p:cNvSpPr>
            <a:spLocks noChangeArrowheads="1"/>
          </p:cNvSpPr>
          <p:nvPr/>
        </p:nvSpPr>
        <p:spPr bwMode="auto">
          <a:xfrm>
            <a:off x="503575" y="302991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cxnSp>
        <p:nvCxnSpPr>
          <p:cNvPr id="37" name="직선 연결선[R] 33"/>
          <p:cNvCxnSpPr/>
          <p:nvPr/>
        </p:nvCxnSpPr>
        <p:spPr>
          <a:xfrm>
            <a:off x="436076" y="3174512"/>
            <a:ext cx="141138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8" name="Group 404"/>
          <p:cNvGrpSpPr/>
          <p:nvPr/>
        </p:nvGrpSpPr>
        <p:grpSpPr>
          <a:xfrm>
            <a:off x="1536238" y="2965950"/>
            <a:ext cx="221965" cy="169277"/>
            <a:chOff x="1879383" y="5177290"/>
            <a:chExt cx="221965" cy="169277"/>
          </a:xfrm>
        </p:grpSpPr>
        <p:sp>
          <p:nvSpPr>
            <p:cNvPr id="48" name="TextBox 47"/>
            <p:cNvSpPr txBox="1"/>
            <p:nvPr/>
          </p:nvSpPr>
          <p:spPr>
            <a:xfrm>
              <a:off x="1879383" y="5177290"/>
              <a:ext cx="100990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r>
                <a:rPr lang="en-US" altLang="ko-KR" sz="1100" b="1" dirty="0" smtClean="0">
                  <a:solidFill>
                    <a:prstClr val="white">
                      <a:lumMod val="50000"/>
                    </a:prstClr>
                  </a:solidFill>
                  <a:latin typeface="+mn-ea"/>
                  <a:ea typeface="+mn-ea"/>
                </a:rPr>
                <a:t>+</a:t>
              </a:r>
              <a:endParaRPr lang="en-US" sz="1100" b="1" dirty="0">
                <a:solidFill>
                  <a:prstClr val="white">
                    <a:lumMod val="50000"/>
                  </a:prstClr>
                </a:solidFill>
                <a:latin typeface="+mn-ea"/>
                <a:ea typeface="+mn-ea"/>
              </a:endParaRPr>
            </a:p>
          </p:txBody>
        </p:sp>
        <p:sp>
          <p:nvSpPr>
            <p:cNvPr id="49" name="Freeform 13"/>
            <p:cNvSpPr>
              <a:spLocks noChangeAspect="1" noChangeArrowheads="1"/>
            </p:cNvSpPr>
            <p:nvPr/>
          </p:nvSpPr>
          <p:spPr bwMode="auto">
            <a:xfrm>
              <a:off x="2029943" y="5230634"/>
              <a:ext cx="71405" cy="72000"/>
            </a:xfrm>
            <a:custGeom>
              <a:avLst/>
              <a:gdLst>
                <a:gd name="T0" fmla="*/ 455 w 527"/>
                <a:gd name="T1" fmla="*/ 291 h 533"/>
                <a:gd name="T2" fmla="*/ 460 w 527"/>
                <a:gd name="T3" fmla="*/ 266 h 533"/>
                <a:gd name="T4" fmla="*/ 455 w 527"/>
                <a:gd name="T5" fmla="*/ 240 h 533"/>
                <a:gd name="T6" fmla="*/ 511 w 527"/>
                <a:gd name="T7" fmla="*/ 194 h 533"/>
                <a:gd name="T8" fmla="*/ 516 w 527"/>
                <a:gd name="T9" fmla="*/ 179 h 533"/>
                <a:gd name="T10" fmla="*/ 465 w 527"/>
                <a:gd name="T11" fmla="*/ 82 h 533"/>
                <a:gd name="T12" fmla="*/ 444 w 527"/>
                <a:gd name="T13" fmla="*/ 82 h 533"/>
                <a:gd name="T14" fmla="*/ 378 w 527"/>
                <a:gd name="T15" fmla="*/ 107 h 533"/>
                <a:gd name="T16" fmla="*/ 332 w 527"/>
                <a:gd name="T17" fmla="*/ 82 h 533"/>
                <a:gd name="T18" fmla="*/ 322 w 527"/>
                <a:gd name="T19" fmla="*/ 10 h 533"/>
                <a:gd name="T20" fmla="*/ 311 w 527"/>
                <a:gd name="T21" fmla="*/ 0 h 533"/>
                <a:gd name="T22" fmla="*/ 204 w 527"/>
                <a:gd name="T23" fmla="*/ 0 h 533"/>
                <a:gd name="T24" fmla="*/ 194 w 527"/>
                <a:gd name="T25" fmla="*/ 10 h 533"/>
                <a:gd name="T26" fmla="*/ 184 w 527"/>
                <a:gd name="T27" fmla="*/ 82 h 533"/>
                <a:gd name="T28" fmla="*/ 138 w 527"/>
                <a:gd name="T29" fmla="*/ 107 h 533"/>
                <a:gd name="T30" fmla="*/ 71 w 527"/>
                <a:gd name="T31" fmla="*/ 82 h 533"/>
                <a:gd name="T32" fmla="*/ 56 w 527"/>
                <a:gd name="T33" fmla="*/ 87 h 533"/>
                <a:gd name="T34" fmla="*/ 0 w 527"/>
                <a:gd name="T35" fmla="*/ 179 h 533"/>
                <a:gd name="T36" fmla="*/ 5 w 527"/>
                <a:gd name="T37" fmla="*/ 194 h 533"/>
                <a:gd name="T38" fmla="*/ 61 w 527"/>
                <a:gd name="T39" fmla="*/ 240 h 533"/>
                <a:gd name="T40" fmla="*/ 61 w 527"/>
                <a:gd name="T41" fmla="*/ 266 h 533"/>
                <a:gd name="T42" fmla="*/ 61 w 527"/>
                <a:gd name="T43" fmla="*/ 291 h 533"/>
                <a:gd name="T44" fmla="*/ 5 w 527"/>
                <a:gd name="T45" fmla="*/ 337 h 533"/>
                <a:gd name="T46" fmla="*/ 5 w 527"/>
                <a:gd name="T47" fmla="*/ 353 h 533"/>
                <a:gd name="T48" fmla="*/ 56 w 527"/>
                <a:gd name="T49" fmla="*/ 450 h 533"/>
                <a:gd name="T50" fmla="*/ 71 w 527"/>
                <a:gd name="T51" fmla="*/ 450 h 533"/>
                <a:gd name="T52" fmla="*/ 138 w 527"/>
                <a:gd name="T53" fmla="*/ 424 h 533"/>
                <a:gd name="T54" fmla="*/ 184 w 527"/>
                <a:gd name="T55" fmla="*/ 450 h 533"/>
                <a:gd name="T56" fmla="*/ 194 w 527"/>
                <a:gd name="T57" fmla="*/ 521 h 533"/>
                <a:gd name="T58" fmla="*/ 209 w 527"/>
                <a:gd name="T59" fmla="*/ 532 h 533"/>
                <a:gd name="T60" fmla="*/ 317 w 527"/>
                <a:gd name="T61" fmla="*/ 532 h 533"/>
                <a:gd name="T62" fmla="*/ 327 w 527"/>
                <a:gd name="T63" fmla="*/ 521 h 533"/>
                <a:gd name="T64" fmla="*/ 337 w 527"/>
                <a:gd name="T65" fmla="*/ 450 h 533"/>
                <a:gd name="T66" fmla="*/ 383 w 527"/>
                <a:gd name="T67" fmla="*/ 424 h 533"/>
                <a:gd name="T68" fmla="*/ 449 w 527"/>
                <a:gd name="T69" fmla="*/ 450 h 533"/>
                <a:gd name="T70" fmla="*/ 470 w 527"/>
                <a:gd name="T71" fmla="*/ 445 h 533"/>
                <a:gd name="T72" fmla="*/ 521 w 527"/>
                <a:gd name="T73" fmla="*/ 353 h 533"/>
                <a:gd name="T74" fmla="*/ 521 w 527"/>
                <a:gd name="T75" fmla="*/ 337 h 533"/>
                <a:gd name="T76" fmla="*/ 455 w 527"/>
                <a:gd name="T77" fmla="*/ 291 h 533"/>
                <a:gd name="T78" fmla="*/ 260 w 527"/>
                <a:gd name="T79" fmla="*/ 358 h 533"/>
                <a:gd name="T80" fmla="*/ 163 w 527"/>
                <a:gd name="T81" fmla="*/ 266 h 533"/>
                <a:gd name="T82" fmla="*/ 260 w 527"/>
                <a:gd name="T83" fmla="*/ 174 h 533"/>
                <a:gd name="T84" fmla="*/ 352 w 527"/>
                <a:gd name="T85" fmla="*/ 266 h 533"/>
                <a:gd name="T86" fmla="*/ 260 w 527"/>
                <a:gd name="T87" fmla="*/ 35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7" h="533">
                  <a:moveTo>
                    <a:pt x="455" y="291"/>
                  </a:moveTo>
                  <a:cubicBezTo>
                    <a:pt x="455" y="286"/>
                    <a:pt x="460" y="276"/>
                    <a:pt x="460" y="266"/>
                  </a:cubicBezTo>
                  <a:cubicBezTo>
                    <a:pt x="460" y="256"/>
                    <a:pt x="460" y="245"/>
                    <a:pt x="455" y="240"/>
                  </a:cubicBezTo>
                  <a:lnTo>
                    <a:pt x="511" y="194"/>
                  </a:lnTo>
                  <a:cubicBezTo>
                    <a:pt x="521" y="189"/>
                    <a:pt x="521" y="184"/>
                    <a:pt x="516" y="179"/>
                  </a:cubicBezTo>
                  <a:lnTo>
                    <a:pt x="465" y="82"/>
                  </a:lnTo>
                  <a:cubicBezTo>
                    <a:pt x="460" y="82"/>
                    <a:pt x="455" y="77"/>
                    <a:pt x="444" y="82"/>
                  </a:cubicBezTo>
                  <a:lnTo>
                    <a:pt x="378" y="107"/>
                  </a:lnTo>
                  <a:cubicBezTo>
                    <a:pt x="368" y="97"/>
                    <a:pt x="352" y="92"/>
                    <a:pt x="332" y="82"/>
                  </a:cubicBezTo>
                  <a:lnTo>
                    <a:pt x="322" y="10"/>
                  </a:lnTo>
                  <a:cubicBezTo>
                    <a:pt x="327" y="5"/>
                    <a:pt x="317" y="0"/>
                    <a:pt x="311" y="0"/>
                  </a:cubicBezTo>
                  <a:lnTo>
                    <a:pt x="204" y="0"/>
                  </a:lnTo>
                  <a:cubicBezTo>
                    <a:pt x="199" y="0"/>
                    <a:pt x="194" y="5"/>
                    <a:pt x="194" y="10"/>
                  </a:cubicBezTo>
                  <a:lnTo>
                    <a:pt x="184" y="82"/>
                  </a:lnTo>
                  <a:cubicBezTo>
                    <a:pt x="163" y="87"/>
                    <a:pt x="153" y="97"/>
                    <a:pt x="138" y="107"/>
                  </a:cubicBezTo>
                  <a:lnTo>
                    <a:pt x="71" y="82"/>
                  </a:lnTo>
                  <a:cubicBezTo>
                    <a:pt x="66" y="77"/>
                    <a:pt x="61" y="82"/>
                    <a:pt x="56" y="87"/>
                  </a:cubicBezTo>
                  <a:lnTo>
                    <a:pt x="0" y="179"/>
                  </a:lnTo>
                  <a:cubicBezTo>
                    <a:pt x="0" y="184"/>
                    <a:pt x="0" y="189"/>
                    <a:pt x="5" y="194"/>
                  </a:cubicBezTo>
                  <a:lnTo>
                    <a:pt x="61" y="240"/>
                  </a:lnTo>
                  <a:cubicBezTo>
                    <a:pt x="61" y="245"/>
                    <a:pt x="61" y="256"/>
                    <a:pt x="61" y="266"/>
                  </a:cubicBezTo>
                  <a:cubicBezTo>
                    <a:pt x="61" y="276"/>
                    <a:pt x="61" y="286"/>
                    <a:pt x="61" y="291"/>
                  </a:cubicBezTo>
                  <a:lnTo>
                    <a:pt x="5" y="337"/>
                  </a:lnTo>
                  <a:cubicBezTo>
                    <a:pt x="0" y="343"/>
                    <a:pt x="0" y="348"/>
                    <a:pt x="5" y="353"/>
                  </a:cubicBezTo>
                  <a:lnTo>
                    <a:pt x="56" y="450"/>
                  </a:lnTo>
                  <a:cubicBezTo>
                    <a:pt x="61" y="450"/>
                    <a:pt x="66" y="455"/>
                    <a:pt x="71" y="450"/>
                  </a:cubicBezTo>
                  <a:lnTo>
                    <a:pt x="138" y="424"/>
                  </a:lnTo>
                  <a:cubicBezTo>
                    <a:pt x="153" y="434"/>
                    <a:pt x="168" y="445"/>
                    <a:pt x="184" y="450"/>
                  </a:cubicBezTo>
                  <a:lnTo>
                    <a:pt x="194" y="521"/>
                  </a:lnTo>
                  <a:cubicBezTo>
                    <a:pt x="194" y="526"/>
                    <a:pt x="199" y="532"/>
                    <a:pt x="209" y="532"/>
                  </a:cubicBezTo>
                  <a:lnTo>
                    <a:pt x="317" y="532"/>
                  </a:lnTo>
                  <a:cubicBezTo>
                    <a:pt x="322" y="532"/>
                    <a:pt x="327" y="526"/>
                    <a:pt x="327" y="521"/>
                  </a:cubicBezTo>
                  <a:lnTo>
                    <a:pt x="337" y="450"/>
                  </a:lnTo>
                  <a:cubicBezTo>
                    <a:pt x="357" y="445"/>
                    <a:pt x="373" y="434"/>
                    <a:pt x="383" y="424"/>
                  </a:cubicBezTo>
                  <a:lnTo>
                    <a:pt x="449" y="450"/>
                  </a:lnTo>
                  <a:cubicBezTo>
                    <a:pt x="455" y="455"/>
                    <a:pt x="465" y="450"/>
                    <a:pt x="470" y="445"/>
                  </a:cubicBezTo>
                  <a:lnTo>
                    <a:pt x="521" y="353"/>
                  </a:lnTo>
                  <a:cubicBezTo>
                    <a:pt x="526" y="348"/>
                    <a:pt x="526" y="337"/>
                    <a:pt x="521" y="337"/>
                  </a:cubicBezTo>
                  <a:lnTo>
                    <a:pt x="455" y="291"/>
                  </a:lnTo>
                  <a:close/>
                  <a:moveTo>
                    <a:pt x="260" y="358"/>
                  </a:moveTo>
                  <a:cubicBezTo>
                    <a:pt x="209" y="358"/>
                    <a:pt x="163" y="317"/>
                    <a:pt x="163" y="266"/>
                  </a:cubicBezTo>
                  <a:cubicBezTo>
                    <a:pt x="163" y="215"/>
                    <a:pt x="209" y="174"/>
                    <a:pt x="260" y="174"/>
                  </a:cubicBezTo>
                  <a:cubicBezTo>
                    <a:pt x="311" y="174"/>
                    <a:pt x="352" y="215"/>
                    <a:pt x="352" y="266"/>
                  </a:cubicBezTo>
                  <a:cubicBezTo>
                    <a:pt x="352" y="317"/>
                    <a:pt x="311" y="358"/>
                    <a:pt x="260" y="3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solidFill>
                  <a:prstClr val="black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39" name="텍스트 상자 31"/>
          <p:cNvSpPr txBox="1"/>
          <p:nvPr/>
        </p:nvSpPr>
        <p:spPr>
          <a:xfrm>
            <a:off x="735244" y="4027571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EGW UX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개선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 </a:t>
            </a:r>
            <a:r>
              <a:rPr kumimoji="1" lang="en-US" altLang="ko-KR" sz="600" b="1" dirty="0" smtClean="0">
                <a:solidFill>
                  <a:srgbClr val="FF0000"/>
                </a:solidFill>
                <a:latin typeface="+mn-ea"/>
                <a:ea typeface="+mn-ea"/>
              </a:rPr>
              <a:t>3</a:t>
            </a:r>
            <a:endParaRPr kumimoji="1" lang="ko-KR" altLang="en-US" sz="6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40" name="텍스트 상자 31"/>
          <p:cNvSpPr txBox="1"/>
          <p:nvPr/>
        </p:nvSpPr>
        <p:spPr>
          <a:xfrm>
            <a:off x="735244" y="4194142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1" name="텍스트 상자 31"/>
          <p:cNvSpPr txBox="1"/>
          <p:nvPr/>
        </p:nvSpPr>
        <p:spPr>
          <a:xfrm>
            <a:off x="736967" y="3820482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4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2" name="Freeform 24"/>
          <p:cNvSpPr>
            <a:spLocks noChangeArrowheads="1"/>
          </p:cNvSpPr>
          <p:nvPr/>
        </p:nvSpPr>
        <p:spPr bwMode="auto">
          <a:xfrm>
            <a:off x="618002" y="3851484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3" name="텍스트 상자 31"/>
          <p:cNvSpPr txBox="1"/>
          <p:nvPr/>
        </p:nvSpPr>
        <p:spPr>
          <a:xfrm>
            <a:off x="735244" y="4361283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정부 과제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4" name="텍스트 상자 31"/>
          <p:cNvSpPr txBox="1"/>
          <p:nvPr/>
        </p:nvSpPr>
        <p:spPr>
          <a:xfrm>
            <a:off x="735244" y="4755529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5" name="텍스트 상자 31"/>
          <p:cNvSpPr txBox="1"/>
          <p:nvPr/>
        </p:nvSpPr>
        <p:spPr>
          <a:xfrm>
            <a:off x="735244" y="4922100"/>
            <a:ext cx="792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스퀘어</a:t>
            </a:r>
            <a:r>
              <a:rPr kumimoji="1"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 </a:t>
            </a:r>
            <a:r>
              <a:rPr kumimoji="1" lang="en-US" altLang="ko-KR" sz="60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B</a:t>
            </a:r>
            <a:endParaRPr kumimoji="1" lang="ko-KR" altLang="en-US" sz="600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46" name="텍스트 상자 31"/>
          <p:cNvSpPr txBox="1"/>
          <p:nvPr/>
        </p:nvSpPr>
        <p:spPr>
          <a:xfrm>
            <a:off x="736967" y="4548440"/>
            <a:ext cx="792000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2017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en-US" altLang="ko-KR" sz="700" dirty="0" smtClean="0">
                <a:solidFill>
                  <a:prstClr val="black"/>
                </a:solidFill>
                <a:latin typeface="+mn-ea"/>
                <a:ea typeface="+mn-ea"/>
              </a:rPr>
              <a:t>3</a:t>
            </a:r>
            <a:r>
              <a:rPr kumimoji="1" lang="ko-KR" altLang="en-US" sz="700" dirty="0" smtClean="0">
                <a:solidFill>
                  <a:prstClr val="black"/>
                </a:solidFill>
                <a:latin typeface="+mn-ea"/>
                <a:ea typeface="+mn-ea"/>
              </a:rPr>
              <a:t>분기</a:t>
            </a:r>
            <a:endParaRPr kumimoji="1" lang="ko-KR" altLang="en-US" sz="7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47" name="Freeform 24"/>
          <p:cNvSpPr>
            <a:spLocks noChangeArrowheads="1"/>
          </p:cNvSpPr>
          <p:nvPr/>
        </p:nvSpPr>
        <p:spPr bwMode="auto">
          <a:xfrm>
            <a:off x="618002" y="4579442"/>
            <a:ext cx="73363" cy="45719"/>
          </a:xfrm>
          <a:custGeom>
            <a:avLst/>
            <a:gdLst>
              <a:gd name="T0" fmla="*/ 155 w 306"/>
              <a:gd name="T1" fmla="*/ 0 h 190"/>
              <a:gd name="T2" fmla="*/ 0 w 306"/>
              <a:gd name="T3" fmla="*/ 155 h 190"/>
              <a:gd name="T4" fmla="*/ 39 w 306"/>
              <a:gd name="T5" fmla="*/ 189 h 190"/>
              <a:gd name="T6" fmla="*/ 155 w 306"/>
              <a:gd name="T7" fmla="*/ 73 h 190"/>
              <a:gd name="T8" fmla="*/ 271 w 306"/>
              <a:gd name="T9" fmla="*/ 189 h 190"/>
              <a:gd name="T10" fmla="*/ 305 w 306"/>
              <a:gd name="T11" fmla="*/ 155 h 190"/>
              <a:gd name="T12" fmla="*/ 155 w 30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6" h="190">
                <a:moveTo>
                  <a:pt x="155" y="0"/>
                </a:moveTo>
                <a:lnTo>
                  <a:pt x="0" y="155"/>
                </a:lnTo>
                <a:lnTo>
                  <a:pt x="39" y="189"/>
                </a:lnTo>
                <a:lnTo>
                  <a:pt x="155" y="73"/>
                </a:lnTo>
                <a:lnTo>
                  <a:pt x="271" y="189"/>
                </a:lnTo>
                <a:lnTo>
                  <a:pt x="305" y="155"/>
                </a:lnTo>
                <a:lnTo>
                  <a:pt x="155" y="0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solidFill>
                <a:prstClr val="black"/>
              </a:solidFill>
              <a:latin typeface="+mn-ea"/>
              <a:ea typeface="+mn-ea"/>
            </a:endParaRPr>
          </a:p>
        </p:txBody>
      </p:sp>
      <p:sp>
        <p:nvSpPr>
          <p:cNvPr id="247" name="Rectangle 374"/>
          <p:cNvSpPr/>
          <p:nvPr/>
        </p:nvSpPr>
        <p:spPr>
          <a:xfrm>
            <a:off x="434619" y="2349862"/>
            <a:ext cx="1417183" cy="2088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21" name="텍스트 상자 31"/>
          <p:cNvSpPr txBox="1"/>
          <p:nvPr/>
        </p:nvSpPr>
        <p:spPr>
          <a:xfrm>
            <a:off x="723297" y="2403184"/>
            <a:ext cx="1044000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A </a:t>
            </a:r>
            <a:r>
              <a:rPr kumimoji="1" lang="ko-KR" altLang="en-US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통신사 서비스 </a:t>
            </a:r>
            <a:r>
              <a:rPr kumimoji="1" lang="en-US" altLang="ko-KR" sz="6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ea"/>
                <a:ea typeface="+mn-ea"/>
              </a:rPr>
              <a:t>TF</a:t>
            </a:r>
            <a:endParaRPr kumimoji="1" lang="ko-KR" altLang="en-US" sz="600" b="1" dirty="0">
              <a:solidFill>
                <a:prstClr val="black">
                  <a:lumMod val="65000"/>
                  <a:lumOff val="35000"/>
                </a:prstClr>
              </a:solidFill>
              <a:latin typeface="+mn-ea"/>
              <a:ea typeface="+mn-ea"/>
            </a:endParaRPr>
          </a:p>
        </p:txBody>
      </p:sp>
      <p:cxnSp>
        <p:nvCxnSpPr>
          <p:cNvPr id="56" name="직선 연결선[R] 7"/>
          <p:cNvCxnSpPr/>
          <p:nvPr/>
        </p:nvCxnSpPr>
        <p:spPr>
          <a:xfrm>
            <a:off x="1913287" y="1062447"/>
            <a:ext cx="7236000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miter lim="400000"/>
          </a:ln>
        </p:spPr>
      </p:cxnSp>
      <p:sp>
        <p:nvSpPr>
          <p:cNvPr id="64" name="텍스트 상자 31"/>
          <p:cNvSpPr txBox="1"/>
          <p:nvPr/>
        </p:nvSpPr>
        <p:spPr>
          <a:xfrm>
            <a:off x="2127082" y="844942"/>
            <a:ext cx="198347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ko-KR" sz="900" b="1" dirty="0">
                <a:latin typeface="+mn-ea"/>
                <a:ea typeface="+mn-ea"/>
              </a:rPr>
              <a:t>A </a:t>
            </a:r>
            <a:r>
              <a:rPr kumimoji="1" lang="ko-KR" altLang="en-US" sz="900" b="1" dirty="0">
                <a:latin typeface="+mn-ea"/>
                <a:ea typeface="+mn-ea"/>
              </a:rPr>
              <a:t>통신사 서비스 </a:t>
            </a:r>
            <a:r>
              <a:rPr kumimoji="1" lang="en-US" altLang="ko-KR" sz="900" b="1" dirty="0">
                <a:latin typeface="+mn-ea"/>
                <a:ea typeface="+mn-ea"/>
              </a:rPr>
              <a:t>TF</a:t>
            </a:r>
            <a:endParaRPr kumimoji="1" lang="ko-KR" altLang="en-US" sz="900" b="1" dirty="0">
              <a:latin typeface="+mn-ea"/>
              <a:ea typeface="+mn-ea"/>
            </a:endParaRPr>
          </a:p>
        </p:txBody>
      </p:sp>
      <p:sp>
        <p:nvSpPr>
          <p:cNvPr id="182" name="Freeform 32"/>
          <p:cNvSpPr>
            <a:spLocks noChangeAspect="1" noChangeArrowheads="1"/>
          </p:cNvSpPr>
          <p:nvPr/>
        </p:nvSpPr>
        <p:spPr bwMode="auto">
          <a:xfrm>
            <a:off x="9002035" y="844827"/>
            <a:ext cx="126000" cy="126000"/>
          </a:xfrm>
          <a:custGeom>
            <a:avLst/>
            <a:gdLst>
              <a:gd name="T0" fmla="*/ 347 w 411"/>
              <a:gd name="T1" fmla="*/ 59 h 407"/>
              <a:gd name="T2" fmla="*/ 205 w 411"/>
              <a:gd name="T3" fmla="*/ 0 h 407"/>
              <a:gd name="T4" fmla="*/ 0 w 411"/>
              <a:gd name="T5" fmla="*/ 205 h 407"/>
              <a:gd name="T6" fmla="*/ 205 w 411"/>
              <a:gd name="T7" fmla="*/ 406 h 407"/>
              <a:gd name="T8" fmla="*/ 401 w 411"/>
              <a:gd name="T9" fmla="*/ 254 h 407"/>
              <a:gd name="T10" fmla="*/ 347 w 411"/>
              <a:gd name="T11" fmla="*/ 254 h 407"/>
              <a:gd name="T12" fmla="*/ 205 w 411"/>
              <a:gd name="T13" fmla="*/ 357 h 407"/>
              <a:gd name="T14" fmla="*/ 49 w 411"/>
              <a:gd name="T15" fmla="*/ 205 h 407"/>
              <a:gd name="T16" fmla="*/ 205 w 411"/>
              <a:gd name="T17" fmla="*/ 49 h 407"/>
              <a:gd name="T18" fmla="*/ 313 w 411"/>
              <a:gd name="T19" fmla="*/ 98 h 407"/>
              <a:gd name="T20" fmla="*/ 230 w 411"/>
              <a:gd name="T21" fmla="*/ 176 h 407"/>
              <a:gd name="T22" fmla="*/ 410 w 411"/>
              <a:gd name="T23" fmla="*/ 176 h 407"/>
              <a:gd name="T24" fmla="*/ 410 w 411"/>
              <a:gd name="T25" fmla="*/ 0 h 407"/>
              <a:gd name="T26" fmla="*/ 347 w 411"/>
              <a:gd name="T27" fmla="*/ 59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11" h="407">
                <a:moveTo>
                  <a:pt x="347" y="59"/>
                </a:moveTo>
                <a:cubicBezTo>
                  <a:pt x="313" y="20"/>
                  <a:pt x="259" y="0"/>
                  <a:pt x="205" y="0"/>
                </a:cubicBezTo>
                <a:cubicBezTo>
                  <a:pt x="93" y="0"/>
                  <a:pt x="0" y="93"/>
                  <a:pt x="0" y="205"/>
                </a:cubicBezTo>
                <a:cubicBezTo>
                  <a:pt x="0" y="318"/>
                  <a:pt x="93" y="406"/>
                  <a:pt x="205" y="406"/>
                </a:cubicBezTo>
                <a:cubicBezTo>
                  <a:pt x="298" y="406"/>
                  <a:pt x="376" y="342"/>
                  <a:pt x="401" y="254"/>
                </a:cubicBezTo>
                <a:lnTo>
                  <a:pt x="347" y="254"/>
                </a:lnTo>
                <a:cubicBezTo>
                  <a:pt x="327" y="313"/>
                  <a:pt x="269" y="357"/>
                  <a:pt x="205" y="357"/>
                </a:cubicBezTo>
                <a:cubicBezTo>
                  <a:pt x="122" y="357"/>
                  <a:pt x="49" y="291"/>
                  <a:pt x="49" y="205"/>
                </a:cubicBezTo>
                <a:cubicBezTo>
                  <a:pt x="49" y="120"/>
                  <a:pt x="122" y="49"/>
                  <a:pt x="205" y="49"/>
                </a:cubicBezTo>
                <a:cubicBezTo>
                  <a:pt x="249" y="49"/>
                  <a:pt x="283" y="69"/>
                  <a:pt x="313" y="98"/>
                </a:cubicBezTo>
                <a:lnTo>
                  <a:pt x="230" y="176"/>
                </a:lnTo>
                <a:lnTo>
                  <a:pt x="410" y="176"/>
                </a:lnTo>
                <a:lnTo>
                  <a:pt x="410" y="0"/>
                </a:lnTo>
                <a:lnTo>
                  <a:pt x="347" y="59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>
              <a:latin typeface="+mn-ea"/>
              <a:ea typeface="+mn-ea"/>
            </a:endParaRPr>
          </a:p>
        </p:txBody>
      </p:sp>
      <p:cxnSp>
        <p:nvCxnSpPr>
          <p:cNvPr id="94" name="Straight Connector 513"/>
          <p:cNvCxnSpPr>
            <a:endCxn id="5" idx="1"/>
          </p:cNvCxnSpPr>
          <p:nvPr/>
        </p:nvCxnSpPr>
        <p:spPr>
          <a:xfrm flipH="1" flipV="1">
            <a:off x="5432425" y="1134614"/>
            <a:ext cx="3670010" cy="42642"/>
          </a:xfrm>
          <a:prstGeom prst="line">
            <a:avLst/>
          </a:prstGeom>
          <a:ln w="9525">
            <a:solidFill>
              <a:schemeClr val="bg1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4" name="TextBox 223"/>
          <p:cNvSpPr txBox="1"/>
          <p:nvPr/>
        </p:nvSpPr>
        <p:spPr>
          <a:xfrm>
            <a:off x="847361" y="1843072"/>
            <a:ext cx="122397" cy="200055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700" smtClean="0">
                <a:solidFill>
                  <a:srgbClr val="FF0000"/>
                </a:solidFill>
                <a:latin typeface="+mn-ea"/>
                <a:ea typeface="+mn-ea"/>
              </a:rPr>
              <a:t>5</a:t>
            </a:r>
            <a:endParaRPr lang="ko-KR" altLang="en-US" sz="700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250" name="직사각형 249"/>
          <p:cNvSpPr/>
          <p:nvPr/>
        </p:nvSpPr>
        <p:spPr>
          <a:xfrm>
            <a:off x="4646212" y="1190625"/>
            <a:ext cx="2219325" cy="2095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36000" tIns="36000" rIns="36000" bIns="36000" rtlCol="0" anchor="ctr">
            <a:noAutofit/>
          </a:bodyPr>
          <a:lstStyle/>
          <a:p>
            <a:pPr lvl="0">
              <a:lnSpc>
                <a:spcPct val="115000"/>
              </a:lnSpc>
              <a:spcAft>
                <a:spcPts val="1000"/>
              </a:spcAft>
            </a:pP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작성자 ▼</a:t>
            </a:r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rPr>
              <a:t> ㅣ 홍나리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251" name="Freeform 10"/>
          <p:cNvSpPr>
            <a:spLocks noChangeAspect="1" noChangeArrowheads="1"/>
          </p:cNvSpPr>
          <p:nvPr/>
        </p:nvSpPr>
        <p:spPr bwMode="auto">
          <a:xfrm>
            <a:off x="6705673" y="1243158"/>
            <a:ext cx="108001" cy="108000"/>
          </a:xfrm>
          <a:custGeom>
            <a:avLst/>
            <a:gdLst>
              <a:gd name="T0" fmla="*/ 332 w 471"/>
              <a:gd name="T1" fmla="*/ 296 h 471"/>
              <a:gd name="T2" fmla="*/ 312 w 471"/>
              <a:gd name="T3" fmla="*/ 296 h 471"/>
              <a:gd name="T4" fmla="*/ 307 w 471"/>
              <a:gd name="T5" fmla="*/ 286 h 471"/>
              <a:gd name="T6" fmla="*/ 348 w 471"/>
              <a:gd name="T7" fmla="*/ 173 h 471"/>
              <a:gd name="T8" fmla="*/ 174 w 471"/>
              <a:gd name="T9" fmla="*/ 0 h 471"/>
              <a:gd name="T10" fmla="*/ 0 w 471"/>
              <a:gd name="T11" fmla="*/ 173 h 471"/>
              <a:gd name="T12" fmla="*/ 174 w 471"/>
              <a:gd name="T13" fmla="*/ 347 h 471"/>
              <a:gd name="T14" fmla="*/ 286 w 471"/>
              <a:gd name="T15" fmla="*/ 306 h 471"/>
              <a:gd name="T16" fmla="*/ 296 w 471"/>
              <a:gd name="T17" fmla="*/ 311 h 471"/>
              <a:gd name="T18" fmla="*/ 296 w 471"/>
              <a:gd name="T19" fmla="*/ 337 h 471"/>
              <a:gd name="T20" fmla="*/ 429 w 471"/>
              <a:gd name="T21" fmla="*/ 470 h 471"/>
              <a:gd name="T22" fmla="*/ 470 w 471"/>
              <a:gd name="T23" fmla="*/ 429 h 471"/>
              <a:gd name="T24" fmla="*/ 332 w 471"/>
              <a:gd name="T25" fmla="*/ 296 h 471"/>
              <a:gd name="T26" fmla="*/ 174 w 471"/>
              <a:gd name="T27" fmla="*/ 296 h 471"/>
              <a:gd name="T28" fmla="*/ 56 w 471"/>
              <a:gd name="T29" fmla="*/ 173 h 471"/>
              <a:gd name="T30" fmla="*/ 174 w 471"/>
              <a:gd name="T31" fmla="*/ 56 h 471"/>
              <a:gd name="T32" fmla="*/ 296 w 471"/>
              <a:gd name="T33" fmla="*/ 173 h 471"/>
              <a:gd name="T34" fmla="*/ 174 w 471"/>
              <a:gd name="T35" fmla="*/ 296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71" h="471">
                <a:moveTo>
                  <a:pt x="332" y="296"/>
                </a:moveTo>
                <a:lnTo>
                  <a:pt x="312" y="296"/>
                </a:lnTo>
                <a:lnTo>
                  <a:pt x="307" y="286"/>
                </a:lnTo>
                <a:cubicBezTo>
                  <a:pt x="332" y="255"/>
                  <a:pt x="348" y="219"/>
                  <a:pt x="348" y="173"/>
                </a:cubicBezTo>
                <a:cubicBezTo>
                  <a:pt x="348" y="76"/>
                  <a:pt x="271" y="0"/>
                  <a:pt x="174" y="0"/>
                </a:cubicBezTo>
                <a:cubicBezTo>
                  <a:pt x="77" y="0"/>
                  <a:pt x="0" y="76"/>
                  <a:pt x="0" y="173"/>
                </a:cubicBezTo>
                <a:cubicBezTo>
                  <a:pt x="0" y="270"/>
                  <a:pt x="77" y="347"/>
                  <a:pt x="174" y="347"/>
                </a:cubicBezTo>
                <a:cubicBezTo>
                  <a:pt x="215" y="347"/>
                  <a:pt x="256" y="332"/>
                  <a:pt x="286" y="306"/>
                </a:cubicBezTo>
                <a:lnTo>
                  <a:pt x="296" y="311"/>
                </a:lnTo>
                <a:lnTo>
                  <a:pt x="296" y="337"/>
                </a:lnTo>
                <a:lnTo>
                  <a:pt x="429" y="470"/>
                </a:lnTo>
                <a:lnTo>
                  <a:pt x="470" y="429"/>
                </a:lnTo>
                <a:lnTo>
                  <a:pt x="332" y="296"/>
                </a:lnTo>
                <a:close/>
                <a:moveTo>
                  <a:pt x="174" y="296"/>
                </a:moveTo>
                <a:cubicBezTo>
                  <a:pt x="107" y="296"/>
                  <a:pt x="56" y="240"/>
                  <a:pt x="56" y="173"/>
                </a:cubicBezTo>
                <a:cubicBezTo>
                  <a:pt x="56" y="107"/>
                  <a:pt x="107" y="56"/>
                  <a:pt x="174" y="56"/>
                </a:cubicBezTo>
                <a:cubicBezTo>
                  <a:pt x="240" y="56"/>
                  <a:pt x="296" y="107"/>
                  <a:pt x="296" y="173"/>
                </a:cubicBezTo>
                <a:cubicBezTo>
                  <a:pt x="296" y="240"/>
                  <a:pt x="240" y="296"/>
                  <a:pt x="174" y="296"/>
                </a:cubicBez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id-ID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kern="1200">
                <a:solidFill>
                  <a:schemeClr val="tx1"/>
                </a:solidFill>
                <a:latin typeface="Roboto" charset="0"/>
                <a:ea typeface="ＭＳ Ｐゴシック" charset="0"/>
                <a:cs typeface="ＭＳ Ｐゴシック" charset="0"/>
              </a:defRPr>
            </a:lvl9pPr>
          </a:lstStyle>
          <a:p>
            <a:endParaRPr lang="en-US" sz="1633"/>
          </a:p>
        </p:txBody>
      </p:sp>
      <p:sp>
        <p:nvSpPr>
          <p:cNvPr id="2" name="TextBox 1"/>
          <p:cNvSpPr txBox="1"/>
          <p:nvPr/>
        </p:nvSpPr>
        <p:spPr>
          <a:xfrm>
            <a:off x="1952625" y="1195499"/>
            <a:ext cx="715508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 </a:t>
            </a:r>
            <a:r>
              <a:rPr lang="en-US" altLang="ko-KR" sz="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</a:t>
            </a:r>
            <a:r>
              <a:rPr lang="ko-KR" altLang="en-US" sz="800" smtClean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건</a:t>
            </a:r>
            <a:endParaRPr lang="ko-KR" altLang="en-US" sz="800" dirty="0" smtClean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1951948" y="1184368"/>
            <a:ext cx="743627" cy="215807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90" name="타원 189"/>
          <p:cNvSpPr>
            <a:spLocks noChangeAspect="1"/>
          </p:cNvSpPr>
          <p:nvPr/>
        </p:nvSpPr>
        <p:spPr>
          <a:xfrm>
            <a:off x="1874690" y="11028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3" name="타원 192"/>
          <p:cNvSpPr>
            <a:spLocks noChangeAspect="1"/>
          </p:cNvSpPr>
          <p:nvPr/>
        </p:nvSpPr>
        <p:spPr>
          <a:xfrm>
            <a:off x="4579790" y="11028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3" name="5-Point Star 277"/>
          <p:cNvSpPr>
            <a:spLocks noChangeAspect="1"/>
          </p:cNvSpPr>
          <p:nvPr/>
        </p:nvSpPr>
        <p:spPr>
          <a:xfrm>
            <a:off x="1963067" y="858788"/>
            <a:ext cx="108000" cy="108000"/>
          </a:xfrm>
          <a:prstGeom prst="star5">
            <a:avLst>
              <a:gd name="adj" fmla="val 29243"/>
              <a:gd name="hf" fmla="val 105146"/>
              <a:gd name="vf" fmla="val 110557"/>
            </a:avLst>
          </a:prstGeom>
          <a:solidFill>
            <a:srgbClr val="0066FF"/>
          </a:solidFill>
          <a:ln w="6350">
            <a:solidFill>
              <a:srgbClr val="006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+mn-ea"/>
            </a:endParaRPr>
          </a:p>
        </p:txBody>
      </p:sp>
      <p:grpSp>
        <p:nvGrpSpPr>
          <p:cNvPr id="144" name="그룹 143"/>
          <p:cNvGrpSpPr/>
          <p:nvPr/>
        </p:nvGrpSpPr>
        <p:grpSpPr>
          <a:xfrm>
            <a:off x="3834671" y="874786"/>
            <a:ext cx="3603039" cy="176117"/>
            <a:chOff x="4079770" y="874786"/>
            <a:chExt cx="3603039" cy="176117"/>
          </a:xfrm>
        </p:grpSpPr>
        <p:sp>
          <p:nvSpPr>
            <p:cNvPr id="145" name="텍스트 상자 31"/>
            <p:cNvSpPr txBox="1"/>
            <p:nvPr/>
          </p:nvSpPr>
          <p:spPr>
            <a:xfrm>
              <a:off x="4535589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사진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46" name="텍스트 상자 31"/>
            <p:cNvSpPr txBox="1"/>
            <p:nvPr/>
          </p:nvSpPr>
          <p:spPr>
            <a:xfrm>
              <a:off x="4079770" y="879488"/>
              <a:ext cx="895711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피드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147" name="직선 연결선[R] 7"/>
            <p:cNvCxnSpPr/>
            <p:nvPr/>
          </p:nvCxnSpPr>
          <p:spPr>
            <a:xfrm>
              <a:off x="6567101" y="1050903"/>
              <a:ext cx="457127" cy="0"/>
            </a:xfrm>
            <a:prstGeom prst="line">
              <a:avLst/>
            </a:prstGeom>
            <a:ln w="38100">
              <a:solidFill>
                <a:schemeClr val="tx1">
                  <a:lumMod val="65000"/>
                  <a:lumOff val="35000"/>
                </a:schemeClr>
              </a:solidFill>
              <a:miter lim="400000"/>
            </a:ln>
          </p:spPr>
        </p:cxnSp>
        <p:sp>
          <p:nvSpPr>
            <p:cNvPr id="148" name="텍스트 상자 31"/>
            <p:cNvSpPr txBox="1"/>
            <p:nvPr/>
          </p:nvSpPr>
          <p:spPr>
            <a:xfrm>
              <a:off x="4986756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49" name="텍스트 상자 31"/>
            <p:cNvSpPr txBox="1"/>
            <p:nvPr/>
          </p:nvSpPr>
          <p:spPr>
            <a:xfrm>
              <a:off x="5437922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멤버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0" name="텍스트 상자 31"/>
            <p:cNvSpPr txBox="1"/>
            <p:nvPr/>
          </p:nvSpPr>
          <p:spPr>
            <a:xfrm>
              <a:off x="588909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일정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1" name="텍스트 상자 31"/>
            <p:cNvSpPr txBox="1"/>
            <p:nvPr/>
          </p:nvSpPr>
          <p:spPr>
            <a:xfrm>
              <a:off x="6781701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공지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sp>
          <p:nvSpPr>
            <p:cNvPr id="152" name="텍스트 상자 31"/>
            <p:cNvSpPr txBox="1"/>
            <p:nvPr/>
          </p:nvSpPr>
          <p:spPr>
            <a:xfrm>
              <a:off x="6338538" y="874786"/>
              <a:ext cx="90110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kumimoji="1" lang="ko-KR" altLang="en-US" sz="9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보고</a:t>
              </a:r>
              <a:endParaRPr kumimoji="1"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53" name="TextBox 152"/>
          <p:cNvSpPr txBox="1"/>
          <p:nvPr/>
        </p:nvSpPr>
        <p:spPr>
          <a:xfrm>
            <a:off x="1247775" y="73840"/>
            <a:ext cx="761994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보고 검색 결과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5467350" y="73840"/>
            <a:ext cx="93511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스퀘어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그룹</a:t>
            </a:r>
            <a:r>
              <a:rPr lang="en-US" altLang="ko-KR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&gt;</a:t>
            </a:r>
            <a:r>
              <a:rPr lang="ko-KR" altLang="en-US" sz="800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보고</a:t>
            </a:r>
            <a:endParaRPr lang="ko-KR" altLang="en-US" sz="800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5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3727407"/>
              </p:ext>
            </p:extLst>
          </p:nvPr>
        </p:nvGraphicFramePr>
        <p:xfrm>
          <a:off x="9290533" y="786383"/>
          <a:ext cx="2835141" cy="1247495"/>
        </p:xfrm>
        <a:graphic>
          <a:graphicData uri="http://schemas.openxmlformats.org/drawingml/2006/table">
            <a:tbl>
              <a:tblPr/>
              <a:tblGrid>
                <a:gridCol w="333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1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773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rebuchet MS" panose="020B0603020202020204" pitchFamily="34" charset="0"/>
                          <a:ea typeface="+mn-ea"/>
                        </a:rPr>
                        <a:t>Description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rebuchet MS" panose="020B0603020202020204" pitchFamily="34" charset="0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38580" marR="138580" anchor="ctr" horzOverflow="overflow">
                    <a:lnL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건수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736587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 결과 출력시</a:t>
                      </a: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이전에 입력된 검색 조건 및 검색어 유지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5767833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본문내 검색된 검색어에 강조 처리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608761"/>
                  </a:ext>
                </a:extLst>
              </a:tr>
              <a:tr h="2214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검색결과가 없을 경우 컨텐츠 영역에 해당 문구 출력</a:t>
                      </a:r>
                      <a:endParaRPr kumimoji="1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985227"/>
                  </a:ext>
                </a:extLst>
              </a:tr>
            </a:tbl>
          </a:graphicData>
        </a:graphic>
      </p:graphicFrame>
      <p:sp>
        <p:nvSpPr>
          <p:cNvPr id="158" name="TextBox 157"/>
          <p:cNvSpPr txBox="1"/>
          <p:nvPr/>
        </p:nvSpPr>
        <p:spPr>
          <a:xfrm>
            <a:off x="3787954" y="3993837"/>
            <a:ext cx="1217247" cy="230832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ko-KR" altLang="en-US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검색 결과가 없습니다</a:t>
            </a:r>
            <a:r>
              <a:rPr lang="en-US" altLang="ko-KR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900" dirty="0" smtClean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59" name="직선 연결선 158"/>
          <p:cNvCxnSpPr/>
          <p:nvPr/>
        </p:nvCxnSpPr>
        <p:spPr>
          <a:xfrm>
            <a:off x="1952625" y="3641543"/>
            <a:ext cx="4861049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직선 연결선 159"/>
          <p:cNvCxnSpPr/>
          <p:nvPr/>
        </p:nvCxnSpPr>
        <p:spPr>
          <a:xfrm>
            <a:off x="1952625" y="4660718"/>
            <a:ext cx="4861049" cy="0"/>
          </a:xfrm>
          <a:prstGeom prst="line">
            <a:avLst/>
          </a:prstGeom>
          <a:ln w="3175"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타원 160"/>
          <p:cNvSpPr>
            <a:spLocks noChangeAspect="1"/>
          </p:cNvSpPr>
          <p:nvPr/>
        </p:nvSpPr>
        <p:spPr>
          <a:xfrm>
            <a:off x="1874690" y="3579307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2" name="TextBox 161"/>
          <p:cNvSpPr txBox="1"/>
          <p:nvPr/>
        </p:nvSpPr>
        <p:spPr>
          <a:xfrm>
            <a:off x="10210800" y="302440"/>
            <a:ext cx="442997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SQ5.9.4</a:t>
            </a:r>
            <a:endParaRPr lang="ko-KR" altLang="en-US" sz="800" b="1" dirty="0" smtClean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97" name="그룹 196"/>
          <p:cNvGrpSpPr/>
          <p:nvPr/>
        </p:nvGrpSpPr>
        <p:grpSpPr>
          <a:xfrm>
            <a:off x="1963754" y="1555054"/>
            <a:ext cx="4896000" cy="1332000"/>
            <a:chOff x="1963754" y="3774379"/>
            <a:chExt cx="4896000" cy="1332000"/>
          </a:xfrm>
        </p:grpSpPr>
        <p:sp>
          <p:nvSpPr>
            <p:cNvPr id="208" name="Rectangle 279"/>
            <p:cNvSpPr/>
            <p:nvPr/>
          </p:nvSpPr>
          <p:spPr>
            <a:xfrm>
              <a:off x="1963754" y="3774379"/>
              <a:ext cx="4896000" cy="13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+mn-ea"/>
              </a:endParaRPr>
            </a:p>
          </p:txBody>
        </p:sp>
        <p:sp>
          <p:nvSpPr>
            <p:cNvPr id="210" name="텍스트 상자 31"/>
            <p:cNvSpPr txBox="1"/>
            <p:nvPr/>
          </p:nvSpPr>
          <p:spPr>
            <a:xfrm>
              <a:off x="2421414" y="3895392"/>
              <a:ext cx="1269604" cy="10772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홍나리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|</a:t>
              </a:r>
              <a:r>
                <a:rPr kumimoji="1" lang="ko-KR" altLang="en-US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 </a:t>
              </a:r>
              <a:r>
                <a:rPr kumimoji="1" lang="en-US" altLang="ko-KR" sz="7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UX/UI </a:t>
              </a:r>
              <a:r>
                <a:rPr kumimoji="1" lang="ko-KR" altLang="en-US" sz="700" dirty="0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+mn-ea"/>
                  <a:ea typeface="+mn-ea"/>
                </a:rPr>
                <a:t>팀</a:t>
              </a:r>
              <a:endParaRPr kumimoji="1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+mn-ea"/>
                <a:ea typeface="+mn-ea"/>
              </a:endParaRPr>
            </a:p>
          </p:txBody>
        </p:sp>
        <p:grpSp>
          <p:nvGrpSpPr>
            <p:cNvPr id="211" name="그룹 400"/>
            <p:cNvGrpSpPr/>
            <p:nvPr/>
          </p:nvGrpSpPr>
          <p:grpSpPr>
            <a:xfrm>
              <a:off x="2078622" y="3884923"/>
              <a:ext cx="229236" cy="229194"/>
              <a:chOff x="2625629" y="3735853"/>
              <a:chExt cx="276891" cy="276839"/>
            </a:xfrm>
          </p:grpSpPr>
          <p:sp>
            <p:nvSpPr>
              <p:cNvPr id="243" name="Oval 121"/>
              <p:cNvSpPr>
                <a:spLocks noChangeAspect="1"/>
              </p:cNvSpPr>
              <p:nvPr/>
            </p:nvSpPr>
            <p:spPr bwMode="auto">
              <a:xfrm>
                <a:off x="2625629" y="3735853"/>
                <a:ext cx="276891" cy="27683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6350" cap="flat" cmpd="sng">
                <a:solidFill>
                  <a:srgbClr val="D9D9D9"/>
                </a:solidFill>
                <a:prstDash val="solid"/>
                <a:miter lim="4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50800" tIns="50800" rIns="50800" bIns="50800" anchor="ctr"/>
              <a:lstStyle/>
              <a:p>
                <a:endParaRPr lang="x-none" altLang="x-none" sz="2400">
                  <a:solidFill>
                    <a:srgbClr val="FFFFFF"/>
                  </a:solidFill>
                  <a:latin typeface="+mn-ea"/>
                  <a:ea typeface="+mn-ea"/>
                </a:endParaRPr>
              </a:p>
            </p:txBody>
          </p:sp>
          <p:pic>
            <p:nvPicPr>
              <p:cNvPr id="244" name="Picture 157" descr="man-user (1).png"/>
              <p:cNvPicPr>
                <a:picLocks noChangeAspect="1"/>
              </p:cNvPicPr>
              <p:nvPr/>
            </p:nvPicPr>
            <p:blipFill>
              <a:blip r:embed="rId2" cstate="print">
                <a:alphaModFix amt="31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74451" y="3784666"/>
                <a:ext cx="179248" cy="1792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>
                        <a:alpha val="30589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4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212" name="텍스트 상자 31"/>
            <p:cNvSpPr txBox="1"/>
            <p:nvPr/>
          </p:nvSpPr>
          <p:spPr>
            <a:xfrm>
              <a:off x="2421414" y="4033249"/>
              <a:ext cx="1269604" cy="846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kumimoji="1" lang="en-US" altLang="ko-KR" sz="5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1</a:t>
              </a:r>
              <a:r>
                <a:rPr kumimoji="1" lang="ko-KR" altLang="en-US" sz="55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  <a:ea typeface="+mn-ea"/>
                </a:rPr>
                <a:t>시간 전</a:t>
              </a:r>
              <a:endParaRPr kumimoji="1" lang="ko-KR" altLang="en-US" sz="55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endParaRPr>
            </a:p>
          </p:txBody>
        </p:sp>
        <p:cxnSp>
          <p:nvCxnSpPr>
            <p:cNvPr id="216" name="직선 연결선[R] 33"/>
            <p:cNvCxnSpPr/>
            <p:nvPr/>
          </p:nvCxnSpPr>
          <p:spPr>
            <a:xfrm>
              <a:off x="2052416" y="4854742"/>
              <a:ext cx="4716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텍스트 상자 31"/>
            <p:cNvSpPr txBox="1"/>
            <p:nvPr/>
          </p:nvSpPr>
          <p:spPr>
            <a:xfrm>
              <a:off x="2078622" y="4201829"/>
              <a:ext cx="3198684" cy="129266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ko-KR" sz="700" b="1" dirty="0">
                  <a:latin typeface="+mn-ea"/>
                  <a:ea typeface="+mn-ea"/>
                </a:rPr>
                <a:t>[</a:t>
              </a:r>
              <a:r>
                <a:rPr lang="ko-KR" altLang="en-US" sz="700" b="1" dirty="0" smtClean="0">
                  <a:latin typeface="+mn-ea"/>
                  <a:ea typeface="+mn-ea"/>
                </a:rPr>
                <a:t>업무보고</a:t>
              </a:r>
              <a:r>
                <a:rPr lang="en-US" altLang="ko-KR" sz="700" b="1" dirty="0">
                  <a:latin typeface="+mn-ea"/>
                  <a:ea typeface="+mn-ea"/>
                </a:rPr>
                <a:t> </a:t>
              </a:r>
              <a:r>
                <a:rPr lang="en-US" altLang="ko-KR" sz="700" b="1" dirty="0" smtClean="0">
                  <a:latin typeface="+mn-ea"/>
                  <a:ea typeface="+mn-ea"/>
                </a:rPr>
                <a:t>2017-09-25]</a:t>
              </a:r>
              <a:endParaRPr kumimoji="1"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18" name="Freeform 26"/>
            <p:cNvSpPr>
              <a:spLocks noChangeAspect="1" noChangeArrowheads="1"/>
            </p:cNvSpPr>
            <p:nvPr/>
          </p:nvSpPr>
          <p:spPr bwMode="auto">
            <a:xfrm flipH="1">
              <a:off x="6726683" y="3899674"/>
              <a:ext cx="27871" cy="108000"/>
            </a:xfrm>
            <a:custGeom>
              <a:avLst/>
              <a:gdLst>
                <a:gd name="T0" fmla="*/ 49 w 104"/>
                <a:gd name="T1" fmla="*/ 103 h 411"/>
                <a:gd name="T2" fmla="*/ 103 w 104"/>
                <a:gd name="T3" fmla="*/ 49 h 411"/>
                <a:gd name="T4" fmla="*/ 49 w 104"/>
                <a:gd name="T5" fmla="*/ 0 h 411"/>
                <a:gd name="T6" fmla="*/ 0 w 104"/>
                <a:gd name="T7" fmla="*/ 49 h 411"/>
                <a:gd name="T8" fmla="*/ 49 w 104"/>
                <a:gd name="T9" fmla="*/ 103 h 411"/>
                <a:gd name="T10" fmla="*/ 49 w 104"/>
                <a:gd name="T11" fmla="*/ 152 h 411"/>
                <a:gd name="T12" fmla="*/ 0 w 104"/>
                <a:gd name="T13" fmla="*/ 205 h 411"/>
                <a:gd name="T14" fmla="*/ 49 w 104"/>
                <a:gd name="T15" fmla="*/ 254 h 411"/>
                <a:gd name="T16" fmla="*/ 103 w 104"/>
                <a:gd name="T17" fmla="*/ 205 h 411"/>
                <a:gd name="T18" fmla="*/ 49 w 104"/>
                <a:gd name="T19" fmla="*/ 152 h 411"/>
                <a:gd name="T20" fmla="*/ 49 w 104"/>
                <a:gd name="T21" fmla="*/ 308 h 411"/>
                <a:gd name="T22" fmla="*/ 0 w 104"/>
                <a:gd name="T23" fmla="*/ 357 h 411"/>
                <a:gd name="T24" fmla="*/ 49 w 104"/>
                <a:gd name="T25" fmla="*/ 410 h 411"/>
                <a:gd name="T26" fmla="*/ 103 w 104"/>
                <a:gd name="T27" fmla="*/ 357 h 411"/>
                <a:gd name="T28" fmla="*/ 49 w 104"/>
                <a:gd name="T29" fmla="*/ 30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411">
                  <a:moveTo>
                    <a:pt x="49" y="103"/>
                  </a:moveTo>
                  <a:cubicBezTo>
                    <a:pt x="78" y="103"/>
                    <a:pt x="103" y="76"/>
                    <a:pt x="103" y="49"/>
                  </a:cubicBezTo>
                  <a:cubicBezTo>
                    <a:pt x="103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5" y="103"/>
                    <a:pt x="49" y="103"/>
                  </a:cubicBezTo>
                  <a:close/>
                  <a:moveTo>
                    <a:pt x="49" y="152"/>
                  </a:moveTo>
                  <a:cubicBezTo>
                    <a:pt x="25" y="152"/>
                    <a:pt x="0" y="176"/>
                    <a:pt x="0" y="205"/>
                  </a:cubicBezTo>
                  <a:cubicBezTo>
                    <a:pt x="0" y="235"/>
                    <a:pt x="22" y="254"/>
                    <a:pt x="49" y="254"/>
                  </a:cubicBezTo>
                  <a:cubicBezTo>
                    <a:pt x="76" y="254"/>
                    <a:pt x="103" y="235"/>
                    <a:pt x="103" y="205"/>
                  </a:cubicBezTo>
                  <a:cubicBezTo>
                    <a:pt x="103" y="176"/>
                    <a:pt x="78" y="152"/>
                    <a:pt x="49" y="152"/>
                  </a:cubicBezTo>
                  <a:close/>
                  <a:moveTo>
                    <a:pt x="49" y="308"/>
                  </a:moveTo>
                  <a:cubicBezTo>
                    <a:pt x="25" y="308"/>
                    <a:pt x="0" y="327"/>
                    <a:pt x="0" y="357"/>
                  </a:cubicBezTo>
                  <a:cubicBezTo>
                    <a:pt x="0" y="386"/>
                    <a:pt x="22" y="410"/>
                    <a:pt x="49" y="410"/>
                  </a:cubicBezTo>
                  <a:cubicBezTo>
                    <a:pt x="76" y="410"/>
                    <a:pt x="103" y="386"/>
                    <a:pt x="103" y="357"/>
                  </a:cubicBezTo>
                  <a:cubicBezTo>
                    <a:pt x="103" y="327"/>
                    <a:pt x="78" y="308"/>
                    <a:pt x="49" y="3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id-ID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5pPr>
              <a:lvl6pPr marL="22860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6pPr>
              <a:lvl7pPr marL="27432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7pPr>
              <a:lvl8pPr marL="32004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8pPr>
              <a:lvl9pPr marL="3657600" algn="l" defTabSz="457200" rtl="0" eaLnBrk="1" latinLnBrk="0" hangingPunct="1">
                <a:defRPr kern="1200">
                  <a:solidFill>
                    <a:schemeClr val="tx1"/>
                  </a:solidFill>
                  <a:latin typeface="Roboto" charset="0"/>
                  <a:ea typeface="ＭＳ Ｐゴシック" charset="0"/>
                  <a:cs typeface="ＭＳ Ｐゴシック" charset="0"/>
                </a:defRPr>
              </a:lvl9pPr>
            </a:lstStyle>
            <a:p>
              <a:endParaRPr lang="en-US" sz="1633">
                <a:latin typeface="+mn-ea"/>
                <a:ea typeface="+mn-ea"/>
              </a:endParaRPr>
            </a:p>
          </p:txBody>
        </p:sp>
        <p:sp>
          <p:nvSpPr>
            <p:cNvPr id="219" name="Freeform 25"/>
            <p:cNvSpPr>
              <a:spLocks noChangeAspect="1" noEditPoints="1"/>
            </p:cNvSpPr>
            <p:nvPr/>
          </p:nvSpPr>
          <p:spPr bwMode="auto">
            <a:xfrm>
              <a:off x="6535161" y="3895253"/>
              <a:ext cx="88128" cy="108000"/>
            </a:xfrm>
            <a:custGeom>
              <a:avLst/>
              <a:gdLst>
                <a:gd name="T0" fmla="*/ 100 w 350"/>
                <a:gd name="T1" fmla="*/ 325 h 425"/>
                <a:gd name="T2" fmla="*/ 250 w 350"/>
                <a:gd name="T3" fmla="*/ 325 h 425"/>
                <a:gd name="T4" fmla="*/ 250 w 350"/>
                <a:gd name="T5" fmla="*/ 175 h 425"/>
                <a:gd name="T6" fmla="*/ 350 w 350"/>
                <a:gd name="T7" fmla="*/ 175 h 425"/>
                <a:gd name="T8" fmla="*/ 175 w 350"/>
                <a:gd name="T9" fmla="*/ 0 h 425"/>
                <a:gd name="T10" fmla="*/ 0 w 350"/>
                <a:gd name="T11" fmla="*/ 175 h 425"/>
                <a:gd name="T12" fmla="*/ 100 w 350"/>
                <a:gd name="T13" fmla="*/ 175 h 425"/>
                <a:gd name="T14" fmla="*/ 100 w 350"/>
                <a:gd name="T15" fmla="*/ 325 h 425"/>
                <a:gd name="T16" fmla="*/ 0 w 350"/>
                <a:gd name="T17" fmla="*/ 375 h 425"/>
                <a:gd name="T18" fmla="*/ 350 w 350"/>
                <a:gd name="T19" fmla="*/ 375 h 425"/>
                <a:gd name="T20" fmla="*/ 350 w 350"/>
                <a:gd name="T21" fmla="*/ 425 h 425"/>
                <a:gd name="T22" fmla="*/ 0 w 350"/>
                <a:gd name="T23" fmla="*/ 425 h 425"/>
                <a:gd name="T24" fmla="*/ 0 w 350"/>
                <a:gd name="T25" fmla="*/ 37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0" h="425">
                  <a:moveTo>
                    <a:pt x="100" y="325"/>
                  </a:moveTo>
                  <a:lnTo>
                    <a:pt x="250" y="325"/>
                  </a:lnTo>
                  <a:lnTo>
                    <a:pt x="250" y="175"/>
                  </a:lnTo>
                  <a:lnTo>
                    <a:pt x="350" y="175"/>
                  </a:lnTo>
                  <a:lnTo>
                    <a:pt x="175" y="0"/>
                  </a:lnTo>
                  <a:lnTo>
                    <a:pt x="0" y="175"/>
                  </a:lnTo>
                  <a:lnTo>
                    <a:pt x="100" y="175"/>
                  </a:lnTo>
                  <a:lnTo>
                    <a:pt x="100" y="325"/>
                  </a:lnTo>
                  <a:close/>
                  <a:moveTo>
                    <a:pt x="0" y="375"/>
                  </a:moveTo>
                  <a:lnTo>
                    <a:pt x="350" y="375"/>
                  </a:lnTo>
                  <a:lnTo>
                    <a:pt x="350" y="425"/>
                  </a:lnTo>
                  <a:lnTo>
                    <a:pt x="0" y="425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+mn-ea"/>
                <a:ea typeface="+mn-ea"/>
              </a:endParaRPr>
            </a:p>
          </p:txBody>
        </p:sp>
        <p:sp>
          <p:nvSpPr>
            <p:cNvPr id="220" name="텍스트 상자 31"/>
            <p:cNvSpPr txBox="1"/>
            <p:nvPr/>
          </p:nvSpPr>
          <p:spPr>
            <a:xfrm>
              <a:off x="2065279" y="4331928"/>
              <a:ext cx="2800791" cy="48546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kumimoji="1"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EGW </a:t>
              </a:r>
              <a:r>
                <a:rPr kumimoji="1"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공통 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component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정의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일정</a:t>
              </a: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/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설비 화면설계 고도화</a:t>
              </a:r>
              <a:endParaRPr lang="en-US" altLang="ko-KR" sz="7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  <a:p>
              <a:pPr marL="90488" indent="-90488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EGW WBS </a:t>
              </a:r>
              <a:r>
                <a:rPr lang="ko-KR" altLang="en-US" sz="7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  <a:ea typeface="+mn-ea"/>
                </a:rPr>
                <a:t>업데이트</a:t>
              </a:r>
              <a:endParaRPr kumimoji="1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21" name="그룹 220"/>
            <p:cNvGrpSpPr/>
            <p:nvPr/>
          </p:nvGrpSpPr>
          <p:grpSpPr>
            <a:xfrm>
              <a:off x="2064211" y="4921791"/>
              <a:ext cx="930081" cy="115755"/>
              <a:chOff x="4297396" y="1127703"/>
              <a:chExt cx="930081" cy="115755"/>
            </a:xfrm>
          </p:grpSpPr>
          <p:grpSp>
            <p:nvGrpSpPr>
              <p:cNvPr id="222" name="그룹 221"/>
              <p:cNvGrpSpPr/>
              <p:nvPr/>
            </p:nvGrpSpPr>
            <p:grpSpPr>
              <a:xfrm>
                <a:off x="4431341" y="1127703"/>
                <a:ext cx="796136" cy="115755"/>
                <a:chOff x="2195181" y="2841183"/>
                <a:chExt cx="796136" cy="115755"/>
              </a:xfrm>
            </p:grpSpPr>
            <p:grpSp>
              <p:nvGrpSpPr>
                <p:cNvPr id="225" name="Group 10"/>
                <p:cNvGrpSpPr/>
                <p:nvPr/>
              </p:nvGrpSpPr>
              <p:grpSpPr>
                <a:xfrm>
                  <a:off x="2195181" y="2847307"/>
                  <a:ext cx="796136" cy="107722"/>
                  <a:chOff x="2594860" y="3788208"/>
                  <a:chExt cx="796136" cy="107722"/>
                </a:xfrm>
              </p:grpSpPr>
              <p:grpSp>
                <p:nvGrpSpPr>
                  <p:cNvPr id="234" name="Group 311"/>
                  <p:cNvGrpSpPr/>
                  <p:nvPr/>
                </p:nvGrpSpPr>
                <p:grpSpPr>
                  <a:xfrm>
                    <a:off x="3127159" y="3788208"/>
                    <a:ext cx="263837" cy="107722"/>
                    <a:chOff x="5094041" y="3121801"/>
                    <a:chExt cx="263837" cy="107722"/>
                  </a:xfrm>
                </p:grpSpPr>
                <p:sp>
                  <p:nvSpPr>
                    <p:cNvPr id="241" name="Freeform 2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94041" y="3136639"/>
                      <a:ext cx="90000" cy="89388"/>
                    </a:xfrm>
                    <a:custGeom>
                      <a:avLst/>
                      <a:gdLst>
                        <a:gd name="T0" fmla="*/ 587 w 650"/>
                        <a:gd name="T1" fmla="*/ 0 h 644"/>
                        <a:gd name="T2" fmla="*/ 68 w 650"/>
                        <a:gd name="T3" fmla="*/ 0 h 644"/>
                        <a:gd name="T4" fmla="*/ 0 w 650"/>
                        <a:gd name="T5" fmla="*/ 62 h 644"/>
                        <a:gd name="T6" fmla="*/ 0 w 650"/>
                        <a:gd name="T7" fmla="*/ 643 h 644"/>
                        <a:gd name="T8" fmla="*/ 130 w 650"/>
                        <a:gd name="T9" fmla="*/ 513 h 644"/>
                        <a:gd name="T10" fmla="*/ 587 w 650"/>
                        <a:gd name="T11" fmla="*/ 513 h 644"/>
                        <a:gd name="T12" fmla="*/ 649 w 650"/>
                        <a:gd name="T13" fmla="*/ 451 h 644"/>
                        <a:gd name="T14" fmla="*/ 649 w 650"/>
                        <a:gd name="T15" fmla="*/ 62 h 644"/>
                        <a:gd name="T16" fmla="*/ 587 w 650"/>
                        <a:gd name="T17" fmla="*/ 0 h 644"/>
                        <a:gd name="T18" fmla="*/ 229 w 650"/>
                        <a:gd name="T19" fmla="*/ 290 h 644"/>
                        <a:gd name="T20" fmla="*/ 167 w 650"/>
                        <a:gd name="T21" fmla="*/ 290 h 644"/>
                        <a:gd name="T22" fmla="*/ 167 w 650"/>
                        <a:gd name="T23" fmla="*/ 222 h 644"/>
                        <a:gd name="T24" fmla="*/ 229 w 650"/>
                        <a:gd name="T25" fmla="*/ 222 h 644"/>
                        <a:gd name="T26" fmla="*/ 229 w 650"/>
                        <a:gd name="T27" fmla="*/ 290 h 644"/>
                        <a:gd name="T28" fmla="*/ 359 w 650"/>
                        <a:gd name="T29" fmla="*/ 290 h 644"/>
                        <a:gd name="T30" fmla="*/ 297 w 650"/>
                        <a:gd name="T31" fmla="*/ 290 h 644"/>
                        <a:gd name="T32" fmla="*/ 297 w 650"/>
                        <a:gd name="T33" fmla="*/ 222 h 644"/>
                        <a:gd name="T34" fmla="*/ 359 w 650"/>
                        <a:gd name="T35" fmla="*/ 222 h 644"/>
                        <a:gd name="T36" fmla="*/ 359 w 650"/>
                        <a:gd name="T37" fmla="*/ 290 h 644"/>
                        <a:gd name="T38" fmla="*/ 488 w 650"/>
                        <a:gd name="T39" fmla="*/ 290 h 644"/>
                        <a:gd name="T40" fmla="*/ 420 w 650"/>
                        <a:gd name="T41" fmla="*/ 290 h 644"/>
                        <a:gd name="T42" fmla="*/ 420 w 650"/>
                        <a:gd name="T43" fmla="*/ 222 h 644"/>
                        <a:gd name="T44" fmla="*/ 488 w 650"/>
                        <a:gd name="T45" fmla="*/ 222 h 644"/>
                        <a:gd name="T46" fmla="*/ 488 w 650"/>
                        <a:gd name="T47" fmla="*/ 290 h 6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650" h="644">
                          <a:moveTo>
                            <a:pt x="587" y="0"/>
                          </a:moveTo>
                          <a:lnTo>
                            <a:pt x="68" y="0"/>
                          </a:lnTo>
                          <a:cubicBezTo>
                            <a:pt x="31" y="0"/>
                            <a:pt x="0" y="24"/>
                            <a:pt x="0" y="62"/>
                          </a:cubicBezTo>
                          <a:lnTo>
                            <a:pt x="0" y="643"/>
                          </a:lnTo>
                          <a:lnTo>
                            <a:pt x="130" y="513"/>
                          </a:lnTo>
                          <a:lnTo>
                            <a:pt x="587" y="513"/>
                          </a:lnTo>
                          <a:cubicBezTo>
                            <a:pt x="618" y="513"/>
                            <a:pt x="649" y="482"/>
                            <a:pt x="649" y="451"/>
                          </a:cubicBezTo>
                          <a:lnTo>
                            <a:pt x="649" y="62"/>
                          </a:lnTo>
                          <a:cubicBezTo>
                            <a:pt x="649" y="24"/>
                            <a:pt x="618" y="0"/>
                            <a:pt x="587" y="0"/>
                          </a:cubicBezTo>
                          <a:close/>
                          <a:moveTo>
                            <a:pt x="229" y="290"/>
                          </a:moveTo>
                          <a:lnTo>
                            <a:pt x="167" y="290"/>
                          </a:lnTo>
                          <a:lnTo>
                            <a:pt x="167" y="222"/>
                          </a:lnTo>
                          <a:lnTo>
                            <a:pt x="229" y="222"/>
                          </a:lnTo>
                          <a:lnTo>
                            <a:pt x="229" y="290"/>
                          </a:lnTo>
                          <a:close/>
                          <a:moveTo>
                            <a:pt x="359" y="290"/>
                          </a:moveTo>
                          <a:lnTo>
                            <a:pt x="297" y="290"/>
                          </a:lnTo>
                          <a:lnTo>
                            <a:pt x="297" y="222"/>
                          </a:lnTo>
                          <a:lnTo>
                            <a:pt x="359" y="222"/>
                          </a:lnTo>
                          <a:lnTo>
                            <a:pt x="359" y="290"/>
                          </a:lnTo>
                          <a:close/>
                          <a:moveTo>
                            <a:pt x="488" y="290"/>
                          </a:moveTo>
                          <a:lnTo>
                            <a:pt x="420" y="290"/>
                          </a:lnTo>
                          <a:lnTo>
                            <a:pt x="420" y="222"/>
                          </a:lnTo>
                          <a:lnTo>
                            <a:pt x="488" y="222"/>
                          </a:lnTo>
                          <a:lnTo>
                            <a:pt x="488" y="29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>
                      <a:noFill/>
                    </a:ln>
                    <a:effectLst/>
                  </p:spPr>
                  <p:txBody>
                    <a:bodyPr wrap="none" anchor="ctr"/>
                    <a:lstStyle>
                      <a:defPPr>
                        <a:defRPr lang="id-ID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5pPr>
                      <a:lvl6pPr marL="22860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6pPr>
                      <a:lvl7pPr marL="27432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7pPr>
                      <a:lvl8pPr marL="32004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8pPr>
                      <a:lvl9pPr marL="3657600" algn="l" defTabSz="4572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Roboto" charset="0"/>
                          <a:ea typeface="ＭＳ Ｐゴシック" charset="0"/>
                          <a:cs typeface="ＭＳ Ｐゴシック" charset="0"/>
                        </a:defRPr>
                      </a:lvl9pPr>
                    </a:lstStyle>
                    <a:p>
                      <a:endParaRPr lang="en-US" sz="1633">
                        <a:latin typeface="+mn-ea"/>
                        <a:ea typeface="+mn-ea"/>
                      </a:endParaRPr>
                    </a:p>
                  </p:txBody>
                </p:sp>
                <p:sp>
                  <p:nvSpPr>
                    <p:cNvPr id="242" name="텍스트 상자 31"/>
                    <p:cNvSpPr txBox="1"/>
                    <p:nvPr/>
                  </p:nvSpPr>
                  <p:spPr>
                    <a:xfrm>
                      <a:off x="5240219" y="3121801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235" name="Group 312"/>
                  <p:cNvGrpSpPr/>
                  <p:nvPr/>
                </p:nvGrpSpPr>
                <p:grpSpPr>
                  <a:xfrm>
                    <a:off x="2594860" y="3788208"/>
                    <a:ext cx="534081" cy="107722"/>
                    <a:chOff x="4269857" y="3799412"/>
                    <a:chExt cx="534081" cy="107722"/>
                  </a:xfrm>
                </p:grpSpPr>
                <p:sp>
                  <p:nvSpPr>
                    <p:cNvPr id="236" name="텍스트 상자 31"/>
                    <p:cNvSpPr txBox="1"/>
                    <p:nvPr/>
                  </p:nvSpPr>
                  <p:spPr>
                    <a:xfrm>
                      <a:off x="4686279" y="3799412"/>
                      <a:ext cx="117659" cy="10772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>
                      <a:spAutoFit/>
                    </a:bodyPr>
                    <a:lstStyle/>
                    <a:p>
                      <a:r>
                        <a:rPr kumimoji="1" lang="en-US" altLang="ko-KR" sz="700" dirty="0" smtClean="0"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kumimoji="1" lang="ko-KR" altLang="en-US" sz="700" dirty="0"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latin typeface="+mn-ea"/>
                        <a:ea typeface="+mn-ea"/>
                      </a:endParaRPr>
                    </a:p>
                  </p:txBody>
                </p:sp>
                <p:grpSp>
                  <p:nvGrpSpPr>
                    <p:cNvPr id="237" name="Group 50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4269857" y="3808273"/>
                      <a:ext cx="89419" cy="90000"/>
                      <a:chOff x="2178" y="1307"/>
                      <a:chExt cx="154" cy="155"/>
                    </a:xfrm>
                    <a:solidFill>
                      <a:schemeClr val="bg1">
                        <a:lumMod val="50000"/>
                      </a:schemeClr>
                    </a:solidFill>
                  </p:grpSpPr>
                  <p:sp>
                    <p:nvSpPr>
                      <p:cNvPr id="238" name="Oval 5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71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39" name="Oval 5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217" y="1354"/>
                        <a:ext cx="23" cy="23"/>
                      </a:xfrm>
                      <a:prstGeom prst="ellipse">
                        <a:avLst/>
                      </a:pr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  <p:sp>
                    <p:nvSpPr>
                      <p:cNvPr id="240" name="Freeform 53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2178" y="1307"/>
                        <a:ext cx="154" cy="155"/>
                      </a:xfrm>
                      <a:custGeom>
                        <a:avLst/>
                        <a:gdLst>
                          <a:gd name="T0" fmla="*/ 250 w 500"/>
                          <a:gd name="T1" fmla="*/ 0 h 500"/>
                          <a:gd name="T2" fmla="*/ 0 w 500"/>
                          <a:gd name="T3" fmla="*/ 250 h 500"/>
                          <a:gd name="T4" fmla="*/ 250 w 500"/>
                          <a:gd name="T5" fmla="*/ 500 h 500"/>
                          <a:gd name="T6" fmla="*/ 500 w 500"/>
                          <a:gd name="T7" fmla="*/ 250 h 500"/>
                          <a:gd name="T8" fmla="*/ 250 w 500"/>
                          <a:gd name="T9" fmla="*/ 0 h 500"/>
                          <a:gd name="T10" fmla="*/ 250 w 500"/>
                          <a:gd name="T11" fmla="*/ 450 h 500"/>
                          <a:gd name="T12" fmla="*/ 50 w 500"/>
                          <a:gd name="T13" fmla="*/ 250 h 500"/>
                          <a:gd name="T14" fmla="*/ 250 w 500"/>
                          <a:gd name="T15" fmla="*/ 50 h 500"/>
                          <a:gd name="T16" fmla="*/ 450 w 500"/>
                          <a:gd name="T17" fmla="*/ 250 h 500"/>
                          <a:gd name="T18" fmla="*/ 250 w 500"/>
                          <a:gd name="T19" fmla="*/ 450 h 500"/>
                          <a:gd name="T20" fmla="*/ 250 w 500"/>
                          <a:gd name="T21" fmla="*/ 350 h 500"/>
                          <a:gd name="T22" fmla="*/ 164 w 500"/>
                          <a:gd name="T23" fmla="*/ 300 h 500"/>
                          <a:gd name="T24" fmla="*/ 122 w 500"/>
                          <a:gd name="T25" fmla="*/ 300 h 500"/>
                          <a:gd name="T26" fmla="*/ 250 w 500"/>
                          <a:gd name="T27" fmla="*/ 388 h 500"/>
                          <a:gd name="T28" fmla="*/ 378 w 500"/>
                          <a:gd name="T29" fmla="*/ 300 h 500"/>
                          <a:gd name="T30" fmla="*/ 336 w 500"/>
                          <a:gd name="T31" fmla="*/ 300 h 500"/>
                          <a:gd name="T32" fmla="*/ 250 w 500"/>
                          <a:gd name="T33" fmla="*/ 350 h 50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500" h="500">
                            <a:moveTo>
                              <a:pt x="250" y="0"/>
                            </a:moveTo>
                            <a:cubicBezTo>
                              <a:pt x="112" y="0"/>
                              <a:pt x="0" y="112"/>
                              <a:pt x="0" y="250"/>
                            </a:cubicBezTo>
                            <a:cubicBezTo>
                              <a:pt x="0" y="388"/>
                              <a:pt x="112" y="500"/>
                              <a:pt x="250" y="500"/>
                            </a:cubicBezTo>
                            <a:cubicBezTo>
                              <a:pt x="388" y="500"/>
                              <a:pt x="500" y="388"/>
                              <a:pt x="500" y="250"/>
                            </a:cubicBezTo>
                            <a:cubicBezTo>
                              <a:pt x="500" y="112"/>
                              <a:pt x="388" y="0"/>
                              <a:pt x="250" y="0"/>
                            </a:cubicBezTo>
                            <a:close/>
                            <a:moveTo>
                              <a:pt x="250" y="450"/>
                            </a:moveTo>
                            <a:cubicBezTo>
                              <a:pt x="140" y="450"/>
                              <a:pt x="50" y="361"/>
                              <a:pt x="50" y="250"/>
                            </a:cubicBezTo>
                            <a:cubicBezTo>
                              <a:pt x="50" y="139"/>
                              <a:pt x="140" y="50"/>
                              <a:pt x="250" y="50"/>
                            </a:cubicBezTo>
                            <a:cubicBezTo>
                              <a:pt x="361" y="50"/>
                              <a:pt x="450" y="140"/>
                              <a:pt x="450" y="250"/>
                            </a:cubicBezTo>
                            <a:cubicBezTo>
                              <a:pt x="450" y="361"/>
                              <a:pt x="361" y="450"/>
                              <a:pt x="250" y="450"/>
                            </a:cubicBezTo>
                            <a:close/>
                            <a:moveTo>
                              <a:pt x="250" y="350"/>
                            </a:moveTo>
                            <a:cubicBezTo>
                              <a:pt x="213" y="350"/>
                              <a:pt x="181" y="330"/>
                              <a:pt x="164" y="300"/>
                            </a:cubicBezTo>
                            <a:lnTo>
                              <a:pt x="122" y="300"/>
                            </a:lnTo>
                            <a:cubicBezTo>
                              <a:pt x="142" y="351"/>
                              <a:pt x="192" y="388"/>
                              <a:pt x="250" y="388"/>
                            </a:cubicBezTo>
                            <a:cubicBezTo>
                              <a:pt x="308" y="388"/>
                              <a:pt x="358" y="351"/>
                              <a:pt x="378" y="300"/>
                            </a:cubicBezTo>
                            <a:lnTo>
                              <a:pt x="336" y="300"/>
                            </a:lnTo>
                            <a:cubicBezTo>
                              <a:pt x="319" y="330"/>
                              <a:pt x="287" y="350"/>
                              <a:pt x="250" y="350"/>
                            </a:cubicBezTo>
                            <a:close/>
                          </a:path>
                        </a:pathLst>
                      </a:custGeom>
                      <a:grpFill/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ko-KR" altLang="en-US">
                          <a:latin typeface="+mn-ea"/>
                          <a:ea typeface="+mn-ea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233" name="그림 232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02915" y="2841183"/>
                  <a:ext cx="270094" cy="115755"/>
                </a:xfrm>
                <a:prstGeom prst="rect">
                  <a:avLst/>
                </a:prstGeom>
              </p:spPr>
            </p:pic>
          </p:grpSp>
          <p:sp>
            <p:nvSpPr>
              <p:cNvPr id="223" name="Freeform 269"/>
              <p:cNvSpPr>
                <a:spLocks noChangeAspect="1"/>
              </p:cNvSpPr>
              <p:nvPr/>
            </p:nvSpPr>
            <p:spPr>
              <a:xfrm>
                <a:off x="4297396" y="1144015"/>
                <a:ext cx="80610" cy="89283"/>
              </a:xfrm>
              <a:custGeom>
                <a:avLst/>
                <a:gdLst>
                  <a:gd name="connsiteX0" fmla="*/ 117278 w 469114"/>
                  <a:gd name="connsiteY0" fmla="*/ 1103 h 519583"/>
                  <a:gd name="connsiteX1" fmla="*/ 469114 w 469114"/>
                  <a:gd name="connsiteY1" fmla="*/ 42904 h 519583"/>
                  <a:gd name="connsiteX2" fmla="*/ 469114 w 469114"/>
                  <a:gd name="connsiteY2" fmla="*/ 310429 h 519583"/>
                  <a:gd name="connsiteX3" fmla="*/ 58639 w 469114"/>
                  <a:gd name="connsiteY3" fmla="*/ 273853 h 519583"/>
                  <a:gd name="connsiteX4" fmla="*/ 51898 w 469114"/>
                  <a:gd name="connsiteY4" fmla="*/ 277007 h 519583"/>
                  <a:gd name="connsiteX5" fmla="*/ 51898 w 469114"/>
                  <a:gd name="connsiteY5" fmla="*/ 519583 h 519583"/>
                  <a:gd name="connsiteX6" fmla="*/ 6179 w 469114"/>
                  <a:gd name="connsiteY6" fmla="*/ 519583 h 519583"/>
                  <a:gd name="connsiteX7" fmla="*/ 6179 w 469114"/>
                  <a:gd name="connsiteY7" fmla="*/ 305611 h 519583"/>
                  <a:gd name="connsiteX8" fmla="*/ 0 w 469114"/>
                  <a:gd name="connsiteY8" fmla="*/ 310429 h 519583"/>
                  <a:gd name="connsiteX9" fmla="*/ 0 w 469114"/>
                  <a:gd name="connsiteY9" fmla="*/ 42904 h 519583"/>
                  <a:gd name="connsiteX10" fmla="*/ 117278 w 469114"/>
                  <a:gd name="connsiteY10" fmla="*/ 1103 h 5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114" h="519583">
                    <a:moveTo>
                      <a:pt x="117278" y="1103"/>
                    </a:moveTo>
                    <a:cubicBezTo>
                      <a:pt x="234557" y="15036"/>
                      <a:pt x="351836" y="154373"/>
                      <a:pt x="469114" y="42904"/>
                    </a:cubicBezTo>
                    <a:lnTo>
                      <a:pt x="469114" y="310429"/>
                    </a:lnTo>
                    <a:cubicBezTo>
                      <a:pt x="332289" y="440476"/>
                      <a:pt x="195464" y="229150"/>
                      <a:pt x="58639" y="273853"/>
                    </a:cubicBezTo>
                    <a:lnTo>
                      <a:pt x="51898" y="277007"/>
                    </a:lnTo>
                    <a:lnTo>
                      <a:pt x="51898" y="519583"/>
                    </a:lnTo>
                    <a:lnTo>
                      <a:pt x="6179" y="519583"/>
                    </a:lnTo>
                    <a:lnTo>
                      <a:pt x="6179" y="305611"/>
                    </a:lnTo>
                    <a:lnTo>
                      <a:pt x="0" y="310429"/>
                    </a:lnTo>
                    <a:lnTo>
                      <a:pt x="0" y="42904"/>
                    </a:lnTo>
                    <a:cubicBezTo>
                      <a:pt x="39093" y="5748"/>
                      <a:pt x="78186" y="-3542"/>
                      <a:pt x="117278" y="11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</p:grpSp>
      <p:sp>
        <p:nvSpPr>
          <p:cNvPr id="245" name="모서리가 둥근 직사각형 244"/>
          <p:cNvSpPr/>
          <p:nvPr/>
        </p:nvSpPr>
        <p:spPr>
          <a:xfrm>
            <a:off x="2371049" y="1654692"/>
            <a:ext cx="315002" cy="139607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FF0000"/>
            </a:solidFill>
            <a:prstDash val="sysDot"/>
          </a:ln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lnSpc>
                <a:spcPct val="115000"/>
              </a:lnSpc>
              <a:spcAft>
                <a:spcPts val="1000"/>
              </a:spcAft>
            </a:pPr>
            <a:endParaRPr lang="ko-KR" altLang="en-US" sz="800" dirty="0" smtClean="0">
              <a:solidFill>
                <a:schemeClr val="tx1">
                  <a:lumMod val="75000"/>
                  <a:lumOff val="25000"/>
                </a:schemeClr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246" name="타원 245"/>
          <p:cNvSpPr>
            <a:spLocks noChangeAspect="1"/>
          </p:cNvSpPr>
          <p:nvPr/>
        </p:nvSpPr>
        <p:spPr>
          <a:xfrm>
            <a:off x="2303315" y="1582656"/>
            <a:ext cx="145451" cy="148760"/>
          </a:xfrm>
          <a:prstGeom prst="ellipse">
            <a:avLst/>
          </a:prstGeom>
          <a:solidFill>
            <a:srgbClr val="FF0000"/>
          </a:solidFill>
          <a:ln w="31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9305925" y="2149909"/>
            <a:ext cx="2082869" cy="215444"/>
          </a:xfrm>
          <a:prstGeom prst="rect">
            <a:avLst/>
          </a:prstGeom>
          <a:noFill/>
        </p:spPr>
        <p:txBody>
          <a:bodyPr wrap="none" lIns="36000" rIns="36000" rtlCol="0" anchor="ctr">
            <a:spAutoFit/>
          </a:bodyPr>
          <a:lstStyle/>
          <a:p>
            <a:r>
              <a:rPr lang="en-US" altLang="ko-KR" sz="800" b="1" smtClean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b="1" smtClean="0">
                <a:solidFill>
                  <a:srgbClr val="FF0000"/>
                </a:solidFill>
                <a:latin typeface="+mn-ea"/>
                <a:ea typeface="+mn-ea"/>
              </a:rPr>
              <a:t>공지사항은 보고와 동일하므로 화면 생략</a:t>
            </a:r>
            <a:endParaRPr lang="ko-KR" altLang="en-US" sz="800" b="1" dirty="0" smtClean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2600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c0n8q8OTDWbeCEFVBtR+HYFLWKeTcIyKrVOywWjiD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O0u/sYg5gU3JG0Yo3+5g7s0ym1OuYKAZj4zMZ406Ik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O0u/sYg5gU3JG0Yo3+5g7s0ym1OuYKAZj4zMZ406Ik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O0u/sYg5gU3JG0Yo3+5g7s0ym1OuYKAZj4zMZ406Ik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c0n8q8OTDWbeCEFVBtR+HYFLWKeTcIyKrVOywWjiD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oFvHBE0DSHbpkvebRIgEbzMi2hInHW/XCMQAmcRuFU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O0u/sYg5gU3JG0Yo3+5g7s0ym1OuYKAZj4zMZ406Ik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heme/theme1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0066"/>
        </a:solidFill>
      </a:spPr>
      <a:bodyPr wrap="none" lIns="36000" tIns="36000" rIns="36000" bIns="36000" rtlCol="0" anchor="ctr">
        <a:noAutofit/>
      </a:bodyPr>
      <a:lstStyle>
        <a:defPPr algn="ctr">
          <a:lnSpc>
            <a:spcPct val="115000"/>
          </a:lnSpc>
          <a:spcAft>
            <a:spcPts val="1000"/>
          </a:spcAft>
          <a:defRPr sz="800" dirty="0" smtClean="0">
            <a:solidFill>
              <a:schemeClr val="tx1">
                <a:lumMod val="75000"/>
                <a:lumOff val="25000"/>
              </a:schemeClr>
            </a:solidFill>
            <a:latin typeface="나눔고딕" pitchFamily="50" charset="-127"/>
            <a:ea typeface="나눔고딕" pitchFamily="50" charset="-127"/>
          </a:defRPr>
        </a:defPPr>
      </a:lstStyle>
    </a:spDef>
    <a:lnDef>
      <a:spPr>
        <a:ln w="3175">
          <a:solidFill>
            <a:schemeClr val="tx1">
              <a:lumMod val="95000"/>
              <a:lumOff val="5000"/>
            </a:schemeClr>
          </a:solidFill>
          <a:headEnd type="none" w="med" len="med"/>
          <a:tailEnd type="none" w="med" len="med"/>
        </a:ln>
        <a:effectLst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72000" rIns="72000" rtlCol="0" anchor="ctr">
        <a:noAutofit/>
      </a:bodyPr>
      <a:lstStyle>
        <a:defPPr>
          <a:defRPr sz="800" smtClean="0">
            <a:solidFill>
              <a:schemeClr val="tx1">
                <a:lumMod val="75000"/>
                <a:lumOff val="25000"/>
              </a:schemeClr>
            </a:solidFill>
            <a:latin typeface="+mn-ea"/>
            <a:ea typeface="+mn-ea"/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2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사용자 지정 2">
      <a:majorFont>
        <a:latin typeface="Trebuchet MS"/>
        <a:ea typeface="맑은 고딕"/>
        <a:cs typeface=""/>
      </a:majorFont>
      <a:minorFont>
        <a:latin typeface="Tahoma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lIns="36000" tIns="36000" rIns="36000" bIns="36000" rtlCol="0">
        <a:spAutoFit/>
      </a:bodyPr>
      <a:lstStyle>
        <a:defPPr>
          <a:defRPr sz="600" dirty="0">
            <a:solidFill>
              <a:schemeClr val="tx1">
                <a:lumMod val="75000"/>
                <a:lumOff val="25000"/>
              </a:schemeClr>
            </a:solidFill>
            <a:latin typeface="+mn-ea"/>
            <a:ea typeface="+mn-ea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5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0066"/>
        </a:solidFill>
      </a:spPr>
      <a:bodyPr wrap="none" lIns="36000" tIns="36000" rIns="36000" bIns="36000" rtlCol="0" anchor="ctr">
        <a:noAutofit/>
      </a:bodyPr>
      <a:lstStyle>
        <a:defPPr algn="ctr">
          <a:lnSpc>
            <a:spcPct val="115000"/>
          </a:lnSpc>
          <a:spcAft>
            <a:spcPts val="1000"/>
          </a:spcAft>
          <a:defRPr sz="800" dirty="0" smtClean="0">
            <a:solidFill>
              <a:schemeClr val="tx1">
                <a:lumMod val="75000"/>
                <a:lumOff val="25000"/>
              </a:schemeClr>
            </a:solidFill>
            <a:latin typeface="나눔고딕" pitchFamily="50" charset="-127"/>
            <a:ea typeface="나눔고딕" pitchFamily="50" charset="-127"/>
          </a:defRPr>
        </a:defPPr>
      </a:lstStyle>
    </a:spDef>
    <a:lnDef>
      <a:spPr>
        <a:ln w="3175">
          <a:solidFill>
            <a:schemeClr val="tx1">
              <a:lumMod val="95000"/>
              <a:lumOff val="5000"/>
            </a:schemeClr>
          </a:solidFill>
          <a:headEnd type="none" w="med" len="med"/>
          <a:tailEnd type="none" w="med" len="med"/>
        </a:ln>
        <a:effectLst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rIns="36000" rtlCol="0" anchor="ctr">
        <a:spAutoFit/>
      </a:bodyPr>
      <a:lstStyle>
        <a:defPPr>
          <a:defRPr sz="700" dirty="0" smtClean="0">
            <a:solidFill>
              <a:schemeClr val="tx1">
                <a:lumMod val="75000"/>
                <a:lumOff val="25000"/>
              </a:schemeClr>
            </a:solidFill>
            <a:latin typeface="+mn-ea"/>
            <a:ea typeface="+mn-ea"/>
          </a:defRPr>
        </a:defPPr>
      </a:lstStyle>
    </a:txDef>
  </a:objectDefaults>
  <a:extraClrSchemeLst/>
</a:theme>
</file>

<file path=ppt/theme/theme6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62337</TotalTime>
  <Words>20326</Words>
  <Application>Microsoft Office PowerPoint</Application>
  <PresentationFormat>와이드스크린</PresentationFormat>
  <Paragraphs>6527</Paragraphs>
  <Slides>102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24</vt:i4>
      </vt:variant>
      <vt:variant>
        <vt:lpstr>테마</vt:lpstr>
      </vt:variant>
      <vt:variant>
        <vt:i4>5</vt:i4>
      </vt:variant>
      <vt:variant>
        <vt:lpstr>슬라이드 제목</vt:lpstr>
      </vt:variant>
      <vt:variant>
        <vt:i4>102</vt:i4>
      </vt:variant>
    </vt:vector>
  </HeadingPairs>
  <TitlesOfParts>
    <vt:vector size="131" baseType="lpstr">
      <vt:lpstr>Apple SD 산돌고딕 Neo 볼드체</vt:lpstr>
      <vt:lpstr>HY견고딕</vt:lpstr>
      <vt:lpstr>Mangal</vt:lpstr>
      <vt:lpstr>ＭＳ Ｐゴシック</vt:lpstr>
      <vt:lpstr>Nanum Gothic</vt:lpstr>
      <vt:lpstr>Roboto</vt:lpstr>
      <vt:lpstr>굴림</vt:lpstr>
      <vt:lpstr>나눔고딕</vt:lpstr>
      <vt:lpstr>나눔고딕 ExtraBold</vt:lpstr>
      <vt:lpstr>나눔고딕코딩</vt:lpstr>
      <vt:lpstr>나눔스퀘어 Bold</vt:lpstr>
      <vt:lpstr>맑은 고딕</vt:lpstr>
      <vt:lpstr>맑은 고딕</vt:lpstr>
      <vt:lpstr>Arial</vt:lpstr>
      <vt:lpstr>Bradley Hand ITC</vt:lpstr>
      <vt:lpstr>Calibri</vt:lpstr>
      <vt:lpstr>Franklin Gothic Demi Cond</vt:lpstr>
      <vt:lpstr>Helvetica</vt:lpstr>
      <vt:lpstr>Segoe UI</vt:lpstr>
      <vt:lpstr>Tahoma</vt:lpstr>
      <vt:lpstr>Trebuchet MS</vt:lpstr>
      <vt:lpstr>Tw Cen MT</vt:lpstr>
      <vt:lpstr>Verdana</vt:lpstr>
      <vt:lpstr>Wingdings</vt:lpstr>
      <vt:lpstr>디자인 사용자 지정</vt:lpstr>
      <vt:lpstr>3_디자인 사용자 지정</vt:lpstr>
      <vt:lpstr>2_디자인 사용자 지정</vt:lpstr>
      <vt:lpstr>1_디자인 사용자 지정</vt:lpstr>
      <vt:lpstr>5_디자인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5. 스퀘어</vt:lpstr>
      <vt:lpstr>5. 스퀘어</vt:lpstr>
      <vt:lpstr>5. 스퀘어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스퀘어 Main</vt:lpstr>
      <vt:lpstr>플래그 글</vt:lpstr>
      <vt:lpstr>플래그 글 – 사진 탭</vt:lpstr>
      <vt:lpstr>플래그 글 – 파일 탭</vt:lpstr>
      <vt:lpstr>플래그 글 – 보고 탭</vt:lpstr>
      <vt:lpstr>플래그 글 – 공지 탭</vt:lpstr>
      <vt:lpstr>PowerPoint 프레젠테이션</vt:lpstr>
      <vt:lpstr>멘션 글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5. 스퀘어</vt:lpstr>
      <vt:lpstr>FLOW : 컨텐츠 등록 후 그룹 변경시도시</vt:lpstr>
      <vt:lpstr>PowerPoint 프레젠테이션</vt:lpstr>
      <vt:lpstr>워크피드(1/3)</vt:lpstr>
      <vt:lpstr>워크피드(2/3)</vt:lpstr>
      <vt:lpstr>워크피드(3/3)</vt:lpstr>
      <vt:lpstr>멤버 추가</vt:lpstr>
      <vt:lpstr>5. 스퀘어</vt:lpstr>
      <vt:lpstr>5. 스퀘어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글쓰기_기본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글쓰기_보고서 등록</vt:lpstr>
      <vt:lpstr>PowerPoint 프레젠테이션</vt:lpstr>
      <vt:lpstr>PowerPoint 프레젠테이션</vt:lpstr>
      <vt:lpstr>PowerPoint 프레젠테이션</vt:lpstr>
      <vt:lpstr>이미지 뷰어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멤버_등급별</vt:lpstr>
      <vt:lpstr>PowerPoint 프레젠테이션</vt:lpstr>
      <vt:lpstr>멤버 추가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공개 그룹</vt:lpstr>
      <vt:lpstr>PowerPoint 프레젠테이션</vt:lpstr>
      <vt:lpstr>PowerPoint 프레젠테이션</vt:lpstr>
      <vt:lpstr>알림설정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vinyl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HSK-rbdyd</dc:creator>
  <cp:lastModifiedBy>HSK-rbdyd</cp:lastModifiedBy>
  <cp:revision>2984</cp:revision>
  <cp:lastPrinted>2018-03-19T06:25:37Z</cp:lastPrinted>
  <dcterms:created xsi:type="dcterms:W3CDTF">2011-02-01T05:54:11Z</dcterms:created>
  <dcterms:modified xsi:type="dcterms:W3CDTF">2018-03-30T02:10:44Z</dcterms:modified>
</cp:coreProperties>
</file>